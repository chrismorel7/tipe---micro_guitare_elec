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7" r:id="rId1"/>
  </p:sldMasterIdLst>
  <p:notesMasterIdLst>
    <p:notesMasterId r:id="rId35"/>
  </p:notesMasterIdLst>
  <p:sldIdLst>
    <p:sldId id="387" r:id="rId2"/>
    <p:sldId id="340" r:id="rId3"/>
    <p:sldId id="338" r:id="rId4"/>
    <p:sldId id="380" r:id="rId5"/>
    <p:sldId id="335" r:id="rId6"/>
    <p:sldId id="337" r:id="rId7"/>
    <p:sldId id="336" r:id="rId8"/>
    <p:sldId id="403" r:id="rId9"/>
    <p:sldId id="404" r:id="rId10"/>
    <p:sldId id="356" r:id="rId11"/>
    <p:sldId id="345" r:id="rId12"/>
    <p:sldId id="346" r:id="rId13"/>
    <p:sldId id="401" r:id="rId14"/>
    <p:sldId id="329" r:id="rId15"/>
    <p:sldId id="393" r:id="rId16"/>
    <p:sldId id="394" r:id="rId17"/>
    <p:sldId id="333" r:id="rId18"/>
    <p:sldId id="402" r:id="rId19"/>
    <p:sldId id="313" r:id="rId20"/>
    <p:sldId id="397" r:id="rId21"/>
    <p:sldId id="378" r:id="rId22"/>
    <p:sldId id="398" r:id="rId23"/>
    <p:sldId id="303" r:id="rId24"/>
    <p:sldId id="271" r:id="rId25"/>
    <p:sldId id="348" r:id="rId26"/>
    <p:sldId id="277" r:id="rId27"/>
    <p:sldId id="305" r:id="rId28"/>
    <p:sldId id="365" r:id="rId29"/>
    <p:sldId id="370" r:id="rId30"/>
    <p:sldId id="368" r:id="rId31"/>
    <p:sldId id="372" r:id="rId32"/>
    <p:sldId id="373" r:id="rId33"/>
    <p:sldId id="384" r:id="rId3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F200"/>
    <a:srgbClr val="38903A"/>
    <a:srgbClr val="4A66AC"/>
    <a:srgbClr val="014095"/>
    <a:srgbClr val="629DD1"/>
    <a:srgbClr val="559AD7"/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076" autoAdjust="0"/>
    <p:restoredTop sz="95975" autoAdjust="0"/>
  </p:normalViewPr>
  <p:slideViewPr>
    <p:cSldViewPr snapToGrid="0">
      <p:cViewPr varScale="1">
        <p:scale>
          <a:sx n="119" d="100"/>
          <a:sy n="119" d="100"/>
        </p:scale>
        <p:origin x="1152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38B8181-43EA-4C6C-8C7F-7942035F0720}" type="doc">
      <dgm:prSet loTypeId="urn:microsoft.com/office/officeart/2005/8/layout/lProcess2" loCatId="list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fr-FR"/>
        </a:p>
      </dgm:t>
    </dgm:pt>
    <dgm:pt modelId="{91212D5D-B364-44BA-9771-63E526DCA0A1}">
      <dgm:prSet phldrT="[Text]" phldr="0" custT="1"/>
      <dgm:spPr/>
      <dgm:t>
        <a:bodyPr/>
        <a:lstStyle/>
        <a:p>
          <a:r>
            <a:rPr lang="fr-FR" sz="4800" dirty="0">
              <a:latin typeface="Arial Black" panose="020B0A04020102020204" pitchFamily="34" charset="0"/>
            </a:rPr>
            <a:t>50M</a:t>
          </a:r>
          <a:endParaRPr lang="fr-FR" sz="5400" dirty="0">
            <a:latin typeface="Arial Black" panose="020B0A04020102020204" pitchFamily="34" charset="0"/>
          </a:endParaRPr>
        </a:p>
      </dgm:t>
    </dgm:pt>
    <dgm:pt modelId="{FC78DAE6-83E5-4BC1-AC49-428A15180E75}" type="parTrans" cxnId="{0485C7B9-46CA-4C0E-96B3-8FFF5F37DD6A}">
      <dgm:prSet/>
      <dgm:spPr/>
      <dgm:t>
        <a:bodyPr/>
        <a:lstStyle/>
        <a:p>
          <a:endParaRPr lang="fr-FR"/>
        </a:p>
      </dgm:t>
    </dgm:pt>
    <dgm:pt modelId="{D781E287-DBE3-4186-9876-37AE3B390319}" type="sibTrans" cxnId="{0485C7B9-46CA-4C0E-96B3-8FFF5F37DD6A}">
      <dgm:prSet/>
      <dgm:spPr/>
      <dgm:t>
        <a:bodyPr/>
        <a:lstStyle/>
        <a:p>
          <a:endParaRPr lang="fr-FR"/>
        </a:p>
      </dgm:t>
    </dgm:pt>
    <dgm:pt modelId="{E5137407-CC18-4373-B384-F7A66AF869B6}">
      <dgm:prSet phldrT="[Text]" phldr="0" custT="1"/>
      <dgm:spPr/>
      <dgm:t>
        <a:bodyPr/>
        <a:lstStyle/>
        <a:p>
          <a:r>
            <a:rPr lang="fr-FR" sz="1800" dirty="0"/>
            <a:t>Nombre de guitare estimé dans le monde</a:t>
          </a:r>
        </a:p>
      </dgm:t>
    </dgm:pt>
    <dgm:pt modelId="{F5863376-7605-42DC-B58D-060041DC79FF}" type="parTrans" cxnId="{AD0029D9-5E4E-4AD7-A0EC-A4368455A356}">
      <dgm:prSet/>
      <dgm:spPr/>
      <dgm:t>
        <a:bodyPr/>
        <a:lstStyle/>
        <a:p>
          <a:endParaRPr lang="fr-FR"/>
        </a:p>
      </dgm:t>
    </dgm:pt>
    <dgm:pt modelId="{504827BD-EDE8-4FEA-B41A-5C51374DAF4F}" type="sibTrans" cxnId="{AD0029D9-5E4E-4AD7-A0EC-A4368455A356}">
      <dgm:prSet/>
      <dgm:spPr/>
      <dgm:t>
        <a:bodyPr/>
        <a:lstStyle/>
        <a:p>
          <a:endParaRPr lang="fr-FR"/>
        </a:p>
      </dgm:t>
    </dgm:pt>
    <dgm:pt modelId="{AB389A4B-81CD-47F4-AC53-77C6CCDA77CA}">
      <dgm:prSet phldrT="[Text]" phldr="0" custT="1"/>
      <dgm:spPr/>
      <dgm:t>
        <a:bodyPr/>
        <a:lstStyle/>
        <a:p>
          <a:r>
            <a:rPr lang="fr-FR" sz="4800" dirty="0">
              <a:latin typeface="Arial Black" panose="020B0A04020102020204" pitchFamily="34" charset="0"/>
            </a:rPr>
            <a:t>10,3B</a:t>
          </a:r>
        </a:p>
      </dgm:t>
    </dgm:pt>
    <dgm:pt modelId="{1957A227-B175-4033-8F1D-F1C3A49DEBE5}" type="parTrans" cxnId="{C1AEFF4B-406F-4617-A89D-BA61E379F596}">
      <dgm:prSet/>
      <dgm:spPr/>
      <dgm:t>
        <a:bodyPr/>
        <a:lstStyle/>
        <a:p>
          <a:endParaRPr lang="fr-FR"/>
        </a:p>
      </dgm:t>
    </dgm:pt>
    <dgm:pt modelId="{BFD4BD52-26B4-4D78-A8D4-0D5AE83B8561}" type="sibTrans" cxnId="{C1AEFF4B-406F-4617-A89D-BA61E379F596}">
      <dgm:prSet/>
      <dgm:spPr/>
      <dgm:t>
        <a:bodyPr/>
        <a:lstStyle/>
        <a:p>
          <a:endParaRPr lang="fr-FR"/>
        </a:p>
      </dgm:t>
    </dgm:pt>
    <dgm:pt modelId="{5DFF8D2C-FF16-4189-959A-DA8AF237818F}">
      <dgm:prSet phldrT="[Text]" phldr="0" custT="1"/>
      <dgm:spPr/>
      <dgm:t>
        <a:bodyPr/>
        <a:lstStyle/>
        <a:p>
          <a:r>
            <a:rPr lang="fr-FR" sz="1800" dirty="0"/>
            <a:t>Valeur du marché de la guitare en 2024</a:t>
          </a:r>
        </a:p>
      </dgm:t>
    </dgm:pt>
    <dgm:pt modelId="{E4367BA8-3CA9-4C87-B29D-AC36939C7927}" type="parTrans" cxnId="{5523898E-814B-4613-82CF-8AC3888E263E}">
      <dgm:prSet/>
      <dgm:spPr/>
      <dgm:t>
        <a:bodyPr/>
        <a:lstStyle/>
        <a:p>
          <a:endParaRPr lang="fr-FR"/>
        </a:p>
      </dgm:t>
    </dgm:pt>
    <dgm:pt modelId="{B5808FB2-8ED5-48B7-94C9-85E33B53CEFA}" type="sibTrans" cxnId="{5523898E-814B-4613-82CF-8AC3888E263E}">
      <dgm:prSet/>
      <dgm:spPr/>
      <dgm:t>
        <a:bodyPr/>
        <a:lstStyle/>
        <a:p>
          <a:endParaRPr lang="fr-FR"/>
        </a:p>
      </dgm:t>
    </dgm:pt>
    <dgm:pt modelId="{D947A9E2-2E97-41F2-A0A4-BF4BF3FB2559}">
      <dgm:prSet phldrT="[Text]" phldr="0" custT="1"/>
      <dgm:spPr/>
      <dgm:t>
        <a:bodyPr/>
        <a:lstStyle/>
        <a:p>
          <a:r>
            <a:rPr lang="fr-FR" sz="4800" dirty="0">
              <a:latin typeface="Arial Black" panose="020B0A04020102020204" pitchFamily="34" charset="0"/>
            </a:rPr>
            <a:t>48%</a:t>
          </a:r>
        </a:p>
      </dgm:t>
    </dgm:pt>
    <dgm:pt modelId="{F31CB54F-5BC7-406C-A91B-50C08608D24C}" type="parTrans" cxnId="{8FE87FC7-AC18-4165-B440-4AA7AC67A8D9}">
      <dgm:prSet/>
      <dgm:spPr/>
      <dgm:t>
        <a:bodyPr/>
        <a:lstStyle/>
        <a:p>
          <a:endParaRPr lang="fr-FR"/>
        </a:p>
      </dgm:t>
    </dgm:pt>
    <dgm:pt modelId="{45F2920D-B956-4AA8-9189-A759A3BF2F00}" type="sibTrans" cxnId="{8FE87FC7-AC18-4165-B440-4AA7AC67A8D9}">
      <dgm:prSet/>
      <dgm:spPr/>
      <dgm:t>
        <a:bodyPr/>
        <a:lstStyle/>
        <a:p>
          <a:endParaRPr lang="fr-FR"/>
        </a:p>
      </dgm:t>
    </dgm:pt>
    <dgm:pt modelId="{1D647303-1950-49A3-B3E3-511B5EAB22C1}">
      <dgm:prSet phldrT="[Text]" custT="1"/>
      <dgm:spPr/>
      <dgm:t>
        <a:bodyPr/>
        <a:lstStyle/>
        <a:p>
          <a:r>
            <a:rPr lang="fr-FR" sz="1800" dirty="0"/>
            <a:t>Part de marché des guitares électriques </a:t>
          </a:r>
        </a:p>
      </dgm:t>
    </dgm:pt>
    <dgm:pt modelId="{D66D6EFC-F33F-49A7-81CA-B602591CF869}" type="parTrans" cxnId="{201120F7-9B21-4830-87D4-34EE8C2CC62D}">
      <dgm:prSet/>
      <dgm:spPr/>
      <dgm:t>
        <a:bodyPr/>
        <a:lstStyle/>
        <a:p>
          <a:endParaRPr lang="fr-FR"/>
        </a:p>
      </dgm:t>
    </dgm:pt>
    <dgm:pt modelId="{85CCCEDD-0FA1-4E6A-8302-32155D37CF8E}" type="sibTrans" cxnId="{201120F7-9B21-4830-87D4-34EE8C2CC62D}">
      <dgm:prSet/>
      <dgm:spPr/>
      <dgm:t>
        <a:bodyPr/>
        <a:lstStyle/>
        <a:p>
          <a:endParaRPr lang="fr-FR"/>
        </a:p>
      </dgm:t>
    </dgm:pt>
    <dgm:pt modelId="{B8929512-66CE-4E69-82E8-652F86CC7F13}" type="pres">
      <dgm:prSet presAssocID="{E38B8181-43EA-4C6C-8C7F-7942035F0720}" presName="theList" presStyleCnt="0">
        <dgm:presLayoutVars>
          <dgm:dir/>
          <dgm:animLvl val="lvl"/>
          <dgm:resizeHandles val="exact"/>
        </dgm:presLayoutVars>
      </dgm:prSet>
      <dgm:spPr/>
    </dgm:pt>
    <dgm:pt modelId="{8AD1CDE0-660F-41C6-A232-AB49A944F4B1}" type="pres">
      <dgm:prSet presAssocID="{91212D5D-B364-44BA-9771-63E526DCA0A1}" presName="compNode" presStyleCnt="0"/>
      <dgm:spPr/>
    </dgm:pt>
    <dgm:pt modelId="{A122FDB8-4E52-4F24-924C-55B39B5EEF83}" type="pres">
      <dgm:prSet presAssocID="{91212D5D-B364-44BA-9771-63E526DCA0A1}" presName="aNode" presStyleLbl="bgShp" presStyleIdx="0" presStyleCnt="3"/>
      <dgm:spPr/>
    </dgm:pt>
    <dgm:pt modelId="{EE092F6B-38EB-47CC-973C-37F9D2288AA3}" type="pres">
      <dgm:prSet presAssocID="{91212D5D-B364-44BA-9771-63E526DCA0A1}" presName="textNode" presStyleLbl="bgShp" presStyleIdx="0" presStyleCnt="3"/>
      <dgm:spPr/>
    </dgm:pt>
    <dgm:pt modelId="{0448C864-2F82-4625-BA73-B4FC84AC036D}" type="pres">
      <dgm:prSet presAssocID="{91212D5D-B364-44BA-9771-63E526DCA0A1}" presName="compChildNode" presStyleCnt="0"/>
      <dgm:spPr/>
    </dgm:pt>
    <dgm:pt modelId="{28883B9D-21D9-4368-977E-4B0BD2C2A37C}" type="pres">
      <dgm:prSet presAssocID="{91212D5D-B364-44BA-9771-63E526DCA0A1}" presName="theInnerList" presStyleCnt="0"/>
      <dgm:spPr/>
    </dgm:pt>
    <dgm:pt modelId="{332FF867-5FFB-469C-995E-0CBE678B8048}" type="pres">
      <dgm:prSet presAssocID="{E5137407-CC18-4373-B384-F7A66AF869B6}" presName="childNode" presStyleLbl="node1" presStyleIdx="0" presStyleCnt="3" custScaleY="70691">
        <dgm:presLayoutVars>
          <dgm:bulletEnabled val="1"/>
        </dgm:presLayoutVars>
      </dgm:prSet>
      <dgm:spPr/>
    </dgm:pt>
    <dgm:pt modelId="{A9B3C3CC-83A5-44FD-8337-23960E5C80F6}" type="pres">
      <dgm:prSet presAssocID="{91212D5D-B364-44BA-9771-63E526DCA0A1}" presName="aSpace" presStyleCnt="0"/>
      <dgm:spPr/>
    </dgm:pt>
    <dgm:pt modelId="{51288686-012E-497C-AA23-CFA1CCA57442}" type="pres">
      <dgm:prSet presAssocID="{AB389A4B-81CD-47F4-AC53-77C6CCDA77CA}" presName="compNode" presStyleCnt="0"/>
      <dgm:spPr/>
    </dgm:pt>
    <dgm:pt modelId="{D876CD57-D8B0-4B1D-8A27-4B504FE0CFD4}" type="pres">
      <dgm:prSet presAssocID="{AB389A4B-81CD-47F4-AC53-77C6CCDA77CA}" presName="aNode" presStyleLbl="bgShp" presStyleIdx="1" presStyleCnt="3"/>
      <dgm:spPr/>
    </dgm:pt>
    <dgm:pt modelId="{753AE736-51A9-4ACF-85CA-A535BD91B08A}" type="pres">
      <dgm:prSet presAssocID="{AB389A4B-81CD-47F4-AC53-77C6CCDA77CA}" presName="textNode" presStyleLbl="bgShp" presStyleIdx="1" presStyleCnt="3"/>
      <dgm:spPr/>
    </dgm:pt>
    <dgm:pt modelId="{2037BDEE-75EB-46C8-AD3A-65B225526994}" type="pres">
      <dgm:prSet presAssocID="{AB389A4B-81CD-47F4-AC53-77C6CCDA77CA}" presName="compChildNode" presStyleCnt="0"/>
      <dgm:spPr/>
    </dgm:pt>
    <dgm:pt modelId="{051F6D2A-97B8-4664-A450-ADDEC308F567}" type="pres">
      <dgm:prSet presAssocID="{AB389A4B-81CD-47F4-AC53-77C6CCDA77CA}" presName="theInnerList" presStyleCnt="0"/>
      <dgm:spPr/>
    </dgm:pt>
    <dgm:pt modelId="{212315B0-941C-424E-9FB8-A723AE83E221}" type="pres">
      <dgm:prSet presAssocID="{5DFF8D2C-FF16-4189-959A-DA8AF237818F}" presName="childNode" presStyleLbl="node1" presStyleIdx="1" presStyleCnt="3" custScaleY="70691">
        <dgm:presLayoutVars>
          <dgm:bulletEnabled val="1"/>
        </dgm:presLayoutVars>
      </dgm:prSet>
      <dgm:spPr/>
    </dgm:pt>
    <dgm:pt modelId="{A06D310C-D4D5-42FB-BF30-8EB821EF41B8}" type="pres">
      <dgm:prSet presAssocID="{AB389A4B-81CD-47F4-AC53-77C6CCDA77CA}" presName="aSpace" presStyleCnt="0"/>
      <dgm:spPr/>
    </dgm:pt>
    <dgm:pt modelId="{72FABE35-4F33-4B5B-B72B-CE129740AEE7}" type="pres">
      <dgm:prSet presAssocID="{D947A9E2-2E97-41F2-A0A4-BF4BF3FB2559}" presName="compNode" presStyleCnt="0"/>
      <dgm:spPr/>
    </dgm:pt>
    <dgm:pt modelId="{3D118472-EB36-44B0-9CAB-89E96EDD8635}" type="pres">
      <dgm:prSet presAssocID="{D947A9E2-2E97-41F2-A0A4-BF4BF3FB2559}" presName="aNode" presStyleLbl="bgShp" presStyleIdx="2" presStyleCnt="3"/>
      <dgm:spPr/>
    </dgm:pt>
    <dgm:pt modelId="{D4961126-1C1B-4F88-A93F-D46D2428CFA2}" type="pres">
      <dgm:prSet presAssocID="{D947A9E2-2E97-41F2-A0A4-BF4BF3FB2559}" presName="textNode" presStyleLbl="bgShp" presStyleIdx="2" presStyleCnt="3"/>
      <dgm:spPr/>
    </dgm:pt>
    <dgm:pt modelId="{5B693B72-B78F-4290-A233-520D95F4748A}" type="pres">
      <dgm:prSet presAssocID="{D947A9E2-2E97-41F2-A0A4-BF4BF3FB2559}" presName="compChildNode" presStyleCnt="0"/>
      <dgm:spPr/>
    </dgm:pt>
    <dgm:pt modelId="{3DB0FDFE-0615-4995-85DF-314DBB0DEE15}" type="pres">
      <dgm:prSet presAssocID="{D947A9E2-2E97-41F2-A0A4-BF4BF3FB2559}" presName="theInnerList" presStyleCnt="0"/>
      <dgm:spPr/>
    </dgm:pt>
    <dgm:pt modelId="{522A87F0-0F3E-418E-844F-50D37BC18AE4}" type="pres">
      <dgm:prSet presAssocID="{1D647303-1950-49A3-B3E3-511B5EAB22C1}" presName="childNode" presStyleLbl="node1" presStyleIdx="2" presStyleCnt="3" custScaleY="70691">
        <dgm:presLayoutVars>
          <dgm:bulletEnabled val="1"/>
        </dgm:presLayoutVars>
      </dgm:prSet>
      <dgm:spPr/>
    </dgm:pt>
  </dgm:ptLst>
  <dgm:cxnLst>
    <dgm:cxn modelId="{94D40702-587D-4465-BCBA-552514180BBE}" type="presOf" srcId="{E38B8181-43EA-4C6C-8C7F-7942035F0720}" destId="{B8929512-66CE-4E69-82E8-652F86CC7F13}" srcOrd="0" destOrd="0" presId="urn:microsoft.com/office/officeart/2005/8/layout/lProcess2"/>
    <dgm:cxn modelId="{8F245E04-8DF9-4548-92D1-3655024527CF}" type="presOf" srcId="{D947A9E2-2E97-41F2-A0A4-BF4BF3FB2559}" destId="{D4961126-1C1B-4F88-A93F-D46D2428CFA2}" srcOrd="1" destOrd="0" presId="urn:microsoft.com/office/officeart/2005/8/layout/lProcess2"/>
    <dgm:cxn modelId="{7A5F6A19-7DAC-460E-BBA6-B384A077D6FF}" type="presOf" srcId="{1D647303-1950-49A3-B3E3-511B5EAB22C1}" destId="{522A87F0-0F3E-418E-844F-50D37BC18AE4}" srcOrd="0" destOrd="0" presId="urn:microsoft.com/office/officeart/2005/8/layout/lProcess2"/>
    <dgm:cxn modelId="{299ABB28-1B39-4096-812E-C6AA0CDDD8DA}" type="presOf" srcId="{AB389A4B-81CD-47F4-AC53-77C6CCDA77CA}" destId="{D876CD57-D8B0-4B1D-8A27-4B504FE0CFD4}" srcOrd="0" destOrd="0" presId="urn:microsoft.com/office/officeart/2005/8/layout/lProcess2"/>
    <dgm:cxn modelId="{C1AEFF4B-406F-4617-A89D-BA61E379F596}" srcId="{E38B8181-43EA-4C6C-8C7F-7942035F0720}" destId="{AB389A4B-81CD-47F4-AC53-77C6CCDA77CA}" srcOrd="1" destOrd="0" parTransId="{1957A227-B175-4033-8F1D-F1C3A49DEBE5}" sibTransId="{BFD4BD52-26B4-4D78-A8D4-0D5AE83B8561}"/>
    <dgm:cxn modelId="{A32FD154-FA1F-42EC-A904-99D643BC5003}" type="presOf" srcId="{E5137407-CC18-4373-B384-F7A66AF869B6}" destId="{332FF867-5FFB-469C-995E-0CBE678B8048}" srcOrd="0" destOrd="0" presId="urn:microsoft.com/office/officeart/2005/8/layout/lProcess2"/>
    <dgm:cxn modelId="{5191207E-417E-46C7-B34A-8DDB7C623194}" type="presOf" srcId="{5DFF8D2C-FF16-4189-959A-DA8AF237818F}" destId="{212315B0-941C-424E-9FB8-A723AE83E221}" srcOrd="0" destOrd="0" presId="urn:microsoft.com/office/officeart/2005/8/layout/lProcess2"/>
    <dgm:cxn modelId="{46AA8580-CB6C-47DD-A72E-6CB4DBC796AE}" type="presOf" srcId="{D947A9E2-2E97-41F2-A0A4-BF4BF3FB2559}" destId="{3D118472-EB36-44B0-9CAB-89E96EDD8635}" srcOrd="0" destOrd="0" presId="urn:microsoft.com/office/officeart/2005/8/layout/lProcess2"/>
    <dgm:cxn modelId="{5523898E-814B-4613-82CF-8AC3888E263E}" srcId="{AB389A4B-81CD-47F4-AC53-77C6CCDA77CA}" destId="{5DFF8D2C-FF16-4189-959A-DA8AF237818F}" srcOrd="0" destOrd="0" parTransId="{E4367BA8-3CA9-4C87-B29D-AC36939C7927}" sibTransId="{B5808FB2-8ED5-48B7-94C9-85E33B53CEFA}"/>
    <dgm:cxn modelId="{A75A9195-F7D7-468F-9696-A77A26B18F76}" type="presOf" srcId="{AB389A4B-81CD-47F4-AC53-77C6CCDA77CA}" destId="{753AE736-51A9-4ACF-85CA-A535BD91B08A}" srcOrd="1" destOrd="0" presId="urn:microsoft.com/office/officeart/2005/8/layout/lProcess2"/>
    <dgm:cxn modelId="{209C9C9E-C3F8-4D27-8697-A6FB0C80B67F}" type="presOf" srcId="{91212D5D-B364-44BA-9771-63E526DCA0A1}" destId="{EE092F6B-38EB-47CC-973C-37F9D2288AA3}" srcOrd="1" destOrd="0" presId="urn:microsoft.com/office/officeart/2005/8/layout/lProcess2"/>
    <dgm:cxn modelId="{1D029AA6-958D-47DB-9F92-AA3342059FCC}" type="presOf" srcId="{91212D5D-B364-44BA-9771-63E526DCA0A1}" destId="{A122FDB8-4E52-4F24-924C-55B39B5EEF83}" srcOrd="0" destOrd="0" presId="urn:microsoft.com/office/officeart/2005/8/layout/lProcess2"/>
    <dgm:cxn modelId="{0485C7B9-46CA-4C0E-96B3-8FFF5F37DD6A}" srcId="{E38B8181-43EA-4C6C-8C7F-7942035F0720}" destId="{91212D5D-B364-44BA-9771-63E526DCA0A1}" srcOrd="0" destOrd="0" parTransId="{FC78DAE6-83E5-4BC1-AC49-428A15180E75}" sibTransId="{D781E287-DBE3-4186-9876-37AE3B390319}"/>
    <dgm:cxn modelId="{8FE87FC7-AC18-4165-B440-4AA7AC67A8D9}" srcId="{E38B8181-43EA-4C6C-8C7F-7942035F0720}" destId="{D947A9E2-2E97-41F2-A0A4-BF4BF3FB2559}" srcOrd="2" destOrd="0" parTransId="{F31CB54F-5BC7-406C-A91B-50C08608D24C}" sibTransId="{45F2920D-B956-4AA8-9189-A759A3BF2F00}"/>
    <dgm:cxn modelId="{AD0029D9-5E4E-4AD7-A0EC-A4368455A356}" srcId="{91212D5D-B364-44BA-9771-63E526DCA0A1}" destId="{E5137407-CC18-4373-B384-F7A66AF869B6}" srcOrd="0" destOrd="0" parTransId="{F5863376-7605-42DC-B58D-060041DC79FF}" sibTransId="{504827BD-EDE8-4FEA-B41A-5C51374DAF4F}"/>
    <dgm:cxn modelId="{201120F7-9B21-4830-87D4-34EE8C2CC62D}" srcId="{D947A9E2-2E97-41F2-A0A4-BF4BF3FB2559}" destId="{1D647303-1950-49A3-B3E3-511B5EAB22C1}" srcOrd="0" destOrd="0" parTransId="{D66D6EFC-F33F-49A7-81CA-B602591CF869}" sibTransId="{85CCCEDD-0FA1-4E6A-8302-32155D37CF8E}"/>
    <dgm:cxn modelId="{08E6926F-999E-4517-BB1A-F96A0310265E}" type="presParOf" srcId="{B8929512-66CE-4E69-82E8-652F86CC7F13}" destId="{8AD1CDE0-660F-41C6-A232-AB49A944F4B1}" srcOrd="0" destOrd="0" presId="urn:microsoft.com/office/officeart/2005/8/layout/lProcess2"/>
    <dgm:cxn modelId="{CE9A049D-E141-4083-9323-2C683065397A}" type="presParOf" srcId="{8AD1CDE0-660F-41C6-A232-AB49A944F4B1}" destId="{A122FDB8-4E52-4F24-924C-55B39B5EEF83}" srcOrd="0" destOrd="0" presId="urn:microsoft.com/office/officeart/2005/8/layout/lProcess2"/>
    <dgm:cxn modelId="{C0BB5914-70D5-4110-8C04-9D450E2EDFE8}" type="presParOf" srcId="{8AD1CDE0-660F-41C6-A232-AB49A944F4B1}" destId="{EE092F6B-38EB-47CC-973C-37F9D2288AA3}" srcOrd="1" destOrd="0" presId="urn:microsoft.com/office/officeart/2005/8/layout/lProcess2"/>
    <dgm:cxn modelId="{05DBDA82-E4F4-4AB8-A1EB-7EC172ABBE02}" type="presParOf" srcId="{8AD1CDE0-660F-41C6-A232-AB49A944F4B1}" destId="{0448C864-2F82-4625-BA73-B4FC84AC036D}" srcOrd="2" destOrd="0" presId="urn:microsoft.com/office/officeart/2005/8/layout/lProcess2"/>
    <dgm:cxn modelId="{28C03247-E7BF-4132-B9B5-AA28D4CE75CE}" type="presParOf" srcId="{0448C864-2F82-4625-BA73-B4FC84AC036D}" destId="{28883B9D-21D9-4368-977E-4B0BD2C2A37C}" srcOrd="0" destOrd="0" presId="urn:microsoft.com/office/officeart/2005/8/layout/lProcess2"/>
    <dgm:cxn modelId="{4C34A2E8-D3DD-48CD-96F1-BD14E8265A75}" type="presParOf" srcId="{28883B9D-21D9-4368-977E-4B0BD2C2A37C}" destId="{332FF867-5FFB-469C-995E-0CBE678B8048}" srcOrd="0" destOrd="0" presId="urn:microsoft.com/office/officeart/2005/8/layout/lProcess2"/>
    <dgm:cxn modelId="{250EF62A-AEFF-40E0-A39A-E8780120EB6A}" type="presParOf" srcId="{B8929512-66CE-4E69-82E8-652F86CC7F13}" destId="{A9B3C3CC-83A5-44FD-8337-23960E5C80F6}" srcOrd="1" destOrd="0" presId="urn:microsoft.com/office/officeart/2005/8/layout/lProcess2"/>
    <dgm:cxn modelId="{6C4A4D70-C1C2-4D21-8A99-B71DCD27BB33}" type="presParOf" srcId="{B8929512-66CE-4E69-82E8-652F86CC7F13}" destId="{51288686-012E-497C-AA23-CFA1CCA57442}" srcOrd="2" destOrd="0" presId="urn:microsoft.com/office/officeart/2005/8/layout/lProcess2"/>
    <dgm:cxn modelId="{E09CE3DD-1A3E-4D7A-8D02-75EDE870DD29}" type="presParOf" srcId="{51288686-012E-497C-AA23-CFA1CCA57442}" destId="{D876CD57-D8B0-4B1D-8A27-4B504FE0CFD4}" srcOrd="0" destOrd="0" presId="urn:microsoft.com/office/officeart/2005/8/layout/lProcess2"/>
    <dgm:cxn modelId="{74F7B8D7-D1E3-4561-93EF-FF9712C205DD}" type="presParOf" srcId="{51288686-012E-497C-AA23-CFA1CCA57442}" destId="{753AE736-51A9-4ACF-85CA-A535BD91B08A}" srcOrd="1" destOrd="0" presId="urn:microsoft.com/office/officeart/2005/8/layout/lProcess2"/>
    <dgm:cxn modelId="{56898C8E-CBB4-464E-A05A-A938E6EF7C6F}" type="presParOf" srcId="{51288686-012E-497C-AA23-CFA1CCA57442}" destId="{2037BDEE-75EB-46C8-AD3A-65B225526994}" srcOrd="2" destOrd="0" presId="urn:microsoft.com/office/officeart/2005/8/layout/lProcess2"/>
    <dgm:cxn modelId="{7474C88F-B077-4E52-9389-DB71FE1EE583}" type="presParOf" srcId="{2037BDEE-75EB-46C8-AD3A-65B225526994}" destId="{051F6D2A-97B8-4664-A450-ADDEC308F567}" srcOrd="0" destOrd="0" presId="urn:microsoft.com/office/officeart/2005/8/layout/lProcess2"/>
    <dgm:cxn modelId="{D51C9842-0333-42F3-B1B8-70BB34EF5298}" type="presParOf" srcId="{051F6D2A-97B8-4664-A450-ADDEC308F567}" destId="{212315B0-941C-424E-9FB8-A723AE83E221}" srcOrd="0" destOrd="0" presId="urn:microsoft.com/office/officeart/2005/8/layout/lProcess2"/>
    <dgm:cxn modelId="{D41932D7-DB46-4904-88C2-4968B0EE258B}" type="presParOf" srcId="{B8929512-66CE-4E69-82E8-652F86CC7F13}" destId="{A06D310C-D4D5-42FB-BF30-8EB821EF41B8}" srcOrd="3" destOrd="0" presId="urn:microsoft.com/office/officeart/2005/8/layout/lProcess2"/>
    <dgm:cxn modelId="{AC37D594-B731-481B-B6FC-DF8BB7CC3EEF}" type="presParOf" srcId="{B8929512-66CE-4E69-82E8-652F86CC7F13}" destId="{72FABE35-4F33-4B5B-B72B-CE129740AEE7}" srcOrd="4" destOrd="0" presId="urn:microsoft.com/office/officeart/2005/8/layout/lProcess2"/>
    <dgm:cxn modelId="{20205CCD-3134-441A-BEAF-7C5A6E3D5EC9}" type="presParOf" srcId="{72FABE35-4F33-4B5B-B72B-CE129740AEE7}" destId="{3D118472-EB36-44B0-9CAB-89E96EDD8635}" srcOrd="0" destOrd="0" presId="urn:microsoft.com/office/officeart/2005/8/layout/lProcess2"/>
    <dgm:cxn modelId="{BCB07279-88EC-40FB-BCB3-BF071DDA10B8}" type="presParOf" srcId="{72FABE35-4F33-4B5B-B72B-CE129740AEE7}" destId="{D4961126-1C1B-4F88-A93F-D46D2428CFA2}" srcOrd="1" destOrd="0" presId="urn:microsoft.com/office/officeart/2005/8/layout/lProcess2"/>
    <dgm:cxn modelId="{134B4711-562A-4E32-92F8-7638FD2C4840}" type="presParOf" srcId="{72FABE35-4F33-4B5B-B72B-CE129740AEE7}" destId="{5B693B72-B78F-4290-A233-520D95F4748A}" srcOrd="2" destOrd="0" presId="urn:microsoft.com/office/officeart/2005/8/layout/lProcess2"/>
    <dgm:cxn modelId="{5A6E1D6A-410F-44A8-8D1F-830954F79DCD}" type="presParOf" srcId="{5B693B72-B78F-4290-A233-520D95F4748A}" destId="{3DB0FDFE-0615-4995-85DF-314DBB0DEE15}" srcOrd="0" destOrd="0" presId="urn:microsoft.com/office/officeart/2005/8/layout/lProcess2"/>
    <dgm:cxn modelId="{EC0504A7-74B3-4A45-A806-56DC9387496F}" type="presParOf" srcId="{3DB0FDFE-0615-4995-85DF-314DBB0DEE15}" destId="{522A87F0-0F3E-418E-844F-50D37BC18AE4}" srcOrd="0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122FDB8-4E52-4F24-924C-55B39B5EEF83}">
      <dsp:nvSpPr>
        <dsp:cNvPr id="0" name=""/>
        <dsp:cNvSpPr/>
      </dsp:nvSpPr>
      <dsp:spPr>
        <a:xfrm>
          <a:off x="964" y="0"/>
          <a:ext cx="2507184" cy="3133914"/>
        </a:xfrm>
        <a:prstGeom prst="roundRect">
          <a:avLst>
            <a:gd name="adj" fmla="val 10000"/>
          </a:avLst>
        </a:prstGeom>
        <a:solidFill>
          <a:schemeClr val="dk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4800" kern="1200" dirty="0">
              <a:latin typeface="Arial Black" panose="020B0A04020102020204" pitchFamily="34" charset="0"/>
            </a:rPr>
            <a:t>50M</a:t>
          </a:r>
          <a:endParaRPr lang="fr-FR" sz="5400" kern="1200" dirty="0">
            <a:latin typeface="Arial Black" panose="020B0A04020102020204" pitchFamily="34" charset="0"/>
          </a:endParaRPr>
        </a:p>
      </dsp:txBody>
      <dsp:txXfrm>
        <a:off x="964" y="0"/>
        <a:ext cx="2507184" cy="940174"/>
      </dsp:txXfrm>
    </dsp:sp>
    <dsp:sp modelId="{332FF867-5FFB-469C-995E-0CBE678B8048}">
      <dsp:nvSpPr>
        <dsp:cNvPr id="0" name=""/>
        <dsp:cNvSpPr/>
      </dsp:nvSpPr>
      <dsp:spPr>
        <a:xfrm>
          <a:off x="251682" y="1238692"/>
          <a:ext cx="2005747" cy="144000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34290" rIns="4572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 dirty="0"/>
            <a:t>Nombre de guitare estimé dans le monde</a:t>
          </a:r>
        </a:p>
      </dsp:txBody>
      <dsp:txXfrm>
        <a:off x="293858" y="1280868"/>
        <a:ext cx="1921395" cy="1355654"/>
      </dsp:txXfrm>
    </dsp:sp>
    <dsp:sp modelId="{D876CD57-D8B0-4B1D-8A27-4B504FE0CFD4}">
      <dsp:nvSpPr>
        <dsp:cNvPr id="0" name=""/>
        <dsp:cNvSpPr/>
      </dsp:nvSpPr>
      <dsp:spPr>
        <a:xfrm>
          <a:off x="2696188" y="0"/>
          <a:ext cx="2507184" cy="3133914"/>
        </a:xfrm>
        <a:prstGeom prst="roundRect">
          <a:avLst>
            <a:gd name="adj" fmla="val 10000"/>
          </a:avLst>
        </a:prstGeom>
        <a:solidFill>
          <a:schemeClr val="dk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4800" kern="1200" dirty="0">
              <a:latin typeface="Arial Black" panose="020B0A04020102020204" pitchFamily="34" charset="0"/>
            </a:rPr>
            <a:t>10,3B</a:t>
          </a:r>
        </a:p>
      </dsp:txBody>
      <dsp:txXfrm>
        <a:off x="2696188" y="0"/>
        <a:ext cx="2507184" cy="940174"/>
      </dsp:txXfrm>
    </dsp:sp>
    <dsp:sp modelId="{212315B0-941C-424E-9FB8-A723AE83E221}">
      <dsp:nvSpPr>
        <dsp:cNvPr id="0" name=""/>
        <dsp:cNvSpPr/>
      </dsp:nvSpPr>
      <dsp:spPr>
        <a:xfrm>
          <a:off x="2946906" y="1238692"/>
          <a:ext cx="2005747" cy="144000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34290" rIns="4572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 dirty="0"/>
            <a:t>Valeur du marché de la guitare en 2024</a:t>
          </a:r>
        </a:p>
      </dsp:txBody>
      <dsp:txXfrm>
        <a:off x="2989082" y="1280868"/>
        <a:ext cx="1921395" cy="1355654"/>
      </dsp:txXfrm>
    </dsp:sp>
    <dsp:sp modelId="{3D118472-EB36-44B0-9CAB-89E96EDD8635}">
      <dsp:nvSpPr>
        <dsp:cNvPr id="0" name=""/>
        <dsp:cNvSpPr/>
      </dsp:nvSpPr>
      <dsp:spPr>
        <a:xfrm>
          <a:off x="5391411" y="0"/>
          <a:ext cx="2507184" cy="3133914"/>
        </a:xfrm>
        <a:prstGeom prst="roundRect">
          <a:avLst>
            <a:gd name="adj" fmla="val 10000"/>
          </a:avLst>
        </a:prstGeom>
        <a:solidFill>
          <a:schemeClr val="dk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4800" kern="1200" dirty="0">
              <a:latin typeface="Arial Black" panose="020B0A04020102020204" pitchFamily="34" charset="0"/>
            </a:rPr>
            <a:t>48%</a:t>
          </a:r>
        </a:p>
      </dsp:txBody>
      <dsp:txXfrm>
        <a:off x="5391411" y="0"/>
        <a:ext cx="2507184" cy="940174"/>
      </dsp:txXfrm>
    </dsp:sp>
    <dsp:sp modelId="{522A87F0-0F3E-418E-844F-50D37BC18AE4}">
      <dsp:nvSpPr>
        <dsp:cNvPr id="0" name=""/>
        <dsp:cNvSpPr/>
      </dsp:nvSpPr>
      <dsp:spPr>
        <a:xfrm>
          <a:off x="5642130" y="1238692"/>
          <a:ext cx="2005747" cy="144000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34290" rIns="4572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 dirty="0"/>
            <a:t>Part de marché des guitares électriques </a:t>
          </a:r>
        </a:p>
      </dsp:txBody>
      <dsp:txXfrm>
        <a:off x="5684306" y="1280868"/>
        <a:ext cx="1921395" cy="135565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E8646E-8D3C-430C-BFA9-96BAF70313EA}" type="datetimeFigureOut">
              <a:rPr lang="fr-FR" smtClean="0"/>
              <a:t>17/05/2026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29F9D8-59C4-4910-A7AD-28D3BB517C72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158940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4460C5-B86F-D3A7-9ADA-FE71CF9748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438F1B-2B45-3780-15CD-865A9F7E59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BAA60B-6559-980F-7FA4-1F7CFAD654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9E360E-9150-85F9-DFE7-118450DA5D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29F9D8-59C4-4910-A7AD-28D3BB517C72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473780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E376C9-2125-A9B2-8374-6EE283455A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6BEBB7-C6A9-F035-C798-5E939F3A41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AD1DC4-D857-6ABF-3DDC-E4E7A09225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Micro assimilé filtre coupe bande </a:t>
            </a:r>
            <a:r>
              <a:rPr lang="fr-FR" dirty="0" err="1"/>
              <a:t>fc</a:t>
            </a:r>
            <a:r>
              <a:rPr lang="fr-FR" dirty="0"/>
              <a:t> environ 4800Hz. MAIS plus la résistance de l’ampli </a:t>
            </a:r>
            <a:r>
              <a:rPr lang="fr-FR" dirty="0" err="1"/>
              <a:t>Ramp</a:t>
            </a:r>
            <a:r>
              <a:rPr lang="fr-FR" dirty="0"/>
              <a:t> est grande, plus la perte est négligeable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1B737E-2622-AA4F-316B-3548DE8623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29F9D8-59C4-4910-A7AD-28D3BB517C72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726285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0D5DC8-F1D2-F48F-5144-29C93AD3FE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93ED31-35E2-A213-E2DC-4297676221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80960C-93AA-3EA5-8A9A-E9404EC97A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Micro assimilé filtre coupe bande </a:t>
            </a:r>
            <a:r>
              <a:rPr lang="fr-FR" dirty="0" err="1"/>
              <a:t>fc</a:t>
            </a:r>
            <a:r>
              <a:rPr lang="fr-FR" dirty="0"/>
              <a:t> environ 4800Hz. MAIS plus la résistance de l’ampli </a:t>
            </a:r>
            <a:r>
              <a:rPr lang="fr-FR" dirty="0" err="1"/>
              <a:t>Ramp</a:t>
            </a:r>
            <a:r>
              <a:rPr lang="fr-FR" dirty="0"/>
              <a:t> est grande, plus la perte est négligeable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EC1EA0-8E19-54B2-AF8F-8662106079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29F9D8-59C4-4910-A7AD-28D3BB517C72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800956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8FF5D8-B5ED-3A5C-25AA-355EA5002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BB50A7-9125-FF61-C35A-0BAAB77874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5A70C6-EF27-F3BA-F99C-2D1A0396CC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95F1CD-8CD2-A36F-E4D6-6DC1E0CE9B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29F9D8-59C4-4910-A7AD-28D3BB517C72}" type="slidenum">
              <a:rPr lang="fr-FR" smtClean="0"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511832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65F695-4E49-870A-29E7-C511751B66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D64BC5-1BB3-FFE7-EC85-E200E94427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5F961D-1039-9AE2-52D5-0A1669232B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210549-939F-B010-DB99-3739C13F25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29F9D8-59C4-4910-A7AD-28D3BB517C72}" type="slidenum">
              <a:rPr lang="fr-FR" smtClean="0"/>
              <a:t>21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196906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B9C0FC-4B23-C77D-909C-EB608CE56D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D2F030-0C12-3582-3DB2-9E259F5301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7B7B4B-AE32-9530-A187-40C0045B6D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30C1BB-4E2B-DE55-18E9-70B9A677F0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29F9D8-59C4-4910-A7AD-28D3BB517C72}" type="slidenum">
              <a:rPr lang="fr-FR" smtClean="0"/>
              <a:t>22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313867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1 : Equation de mouvement de la corde</a:t>
            </a:r>
          </a:p>
          <a:p>
            <a:r>
              <a:rPr lang="fr-FR" dirty="0"/>
              <a:t>2 : Idée Maquette</a:t>
            </a:r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29F9D8-59C4-4910-A7AD-28D3BB517C72}" type="slidenum">
              <a:rPr lang="fr-FR" smtClean="0"/>
              <a:t>24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335619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29F9D8-59C4-4910-A7AD-28D3BB517C72}" type="slidenum">
              <a:rPr lang="fr-FR" smtClean="0"/>
              <a:t>27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394188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TIPE 39662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F8A04-938D-4CBF-A3DC-6CB925B6FC34}" type="slidenum">
              <a:rPr lang="fr-FR" smtClean="0"/>
              <a:t>‹#›</a:t>
            </a:fld>
            <a:endParaRPr lang="fr-FR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96889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TIPE 39662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F8A04-938D-4CBF-A3DC-6CB925B6FC3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522484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TIPE 39662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F8A04-938D-4CBF-A3DC-6CB925B6FC34}" type="slidenum">
              <a:rPr lang="fr-FR" smtClean="0"/>
              <a:t>‹#›</a:t>
            </a:fld>
            <a:endParaRPr lang="fr-FR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00188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TIPE 39662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F8A04-938D-4CBF-A3DC-6CB925B6FC3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697287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TIPE 39662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F8A04-938D-4CBF-A3DC-6CB925B6FC3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57571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TIPE 39662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F8A04-938D-4CBF-A3DC-6CB925B6FC3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332317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fr-FR"/>
              <a:t>TIPE 39662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F8A04-938D-4CBF-A3DC-6CB925B6FC3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910952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r>
              <a:rPr lang="fr-FR"/>
              <a:t>2026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fr-FR"/>
              <a:t>TIPE 39662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77F8A04-938D-4CBF-A3DC-6CB925B6FC3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242983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TIPE 39662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F8A04-938D-4CBF-A3DC-6CB925B6FC3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155730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TIPE 39662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F8A04-938D-4CBF-A3DC-6CB925B6FC3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213228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TIPE 39662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F8A04-938D-4CBF-A3DC-6CB925B6FC3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652258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r>
              <a:rPr lang="fr-FR"/>
              <a:t>2026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fr-FR"/>
              <a:t>TIPE 39662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77F8A04-938D-4CBF-A3DC-6CB925B6FC34}" type="slidenum">
              <a:rPr lang="fr-FR" smtClean="0"/>
              <a:t>‹#›</a:t>
            </a:fld>
            <a:endParaRPr lang="fr-FR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7912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</p:sldLayoutIdLst>
  <p:hf hd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3" Type="http://schemas.openxmlformats.org/officeDocument/2006/relationships/diagramLayout" Target="../diagrams/layout1.xml"/><Relationship Id="rId7" Type="http://schemas.openxmlformats.org/officeDocument/2006/relationships/image" Target="../media/image3.sv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16.png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microsoft.com/office/2007/relationships/hdphoto" Target="../media/hdphoto2.wd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0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6" Type="http://schemas.microsoft.com/office/2007/relationships/hdphoto" Target="../media/hdphoto4.wdp"/><Relationship Id="rId5" Type="http://schemas.openxmlformats.org/officeDocument/2006/relationships/image" Target="../media/image25.png"/><Relationship Id="rId4" Type="http://schemas.microsoft.com/office/2007/relationships/hdphoto" Target="../media/hdphoto3.wdp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13" Type="http://schemas.openxmlformats.org/officeDocument/2006/relationships/image" Target="../media/image29.jpeg"/><Relationship Id="rId3" Type="http://schemas.openxmlformats.org/officeDocument/2006/relationships/image" Target="../media/image26.png"/><Relationship Id="rId7" Type="http://schemas.openxmlformats.org/officeDocument/2006/relationships/image" Target="../media/image35.png"/><Relationship Id="rId12" Type="http://schemas.microsoft.com/office/2007/relationships/hdphoto" Target="../media/hdphoto5.wdp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11" Type="http://schemas.openxmlformats.org/officeDocument/2006/relationships/image" Target="../media/image28.png"/><Relationship Id="rId5" Type="http://schemas.openxmlformats.org/officeDocument/2006/relationships/image" Target="../media/image33.png"/><Relationship Id="rId10" Type="http://schemas.openxmlformats.org/officeDocument/2006/relationships/image" Target="../media/image11.png"/><Relationship Id="rId4" Type="http://schemas.openxmlformats.org/officeDocument/2006/relationships/image" Target="../media/image27.png"/><Relationship Id="rId9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jpeg"/><Relationship Id="rId4" Type="http://schemas.openxmlformats.org/officeDocument/2006/relationships/image" Target="../media/image37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.png"/><Relationship Id="rId7" Type="http://schemas.openxmlformats.org/officeDocument/2006/relationships/image" Target="../media/image45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png"/><Relationship Id="rId11" Type="http://schemas.openxmlformats.org/officeDocument/2006/relationships/image" Target="../media/image371.png"/><Relationship Id="rId5" Type="http://schemas.openxmlformats.org/officeDocument/2006/relationships/image" Target="../media/image43.png"/><Relationship Id="rId10" Type="http://schemas.openxmlformats.org/officeDocument/2006/relationships/image" Target="../media/image320.png"/><Relationship Id="rId9" Type="http://schemas.openxmlformats.org/officeDocument/2006/relationships/image" Target="../media/image38.png"/></Relationships>
</file>

<file path=ppt/slides/_rels/slide14.xml.rels><?xml version="1.0" encoding="UTF-8" standalone="yes"?>
<Relationships xmlns="http://schemas.openxmlformats.org/package/2006/relationships"><Relationship Id="rId8" Type="http://schemas.microsoft.com/office/2007/relationships/hdphoto" Target="../media/hdphoto8.wdp"/><Relationship Id="rId3" Type="http://schemas.openxmlformats.org/officeDocument/2006/relationships/image" Target="../media/image39.png"/><Relationship Id="rId7" Type="http://schemas.openxmlformats.org/officeDocument/2006/relationships/image" Target="../media/image41.png"/><Relationship Id="rId12" Type="http://schemas.openxmlformats.org/officeDocument/2006/relationships/image" Target="../media/image20.png"/><Relationship Id="rId2" Type="http://schemas.openxmlformats.org/officeDocument/2006/relationships/image" Target="../media/image380.png"/><Relationship Id="rId1" Type="http://schemas.openxmlformats.org/officeDocument/2006/relationships/slideLayout" Target="../slideLayouts/slideLayout1.xml"/><Relationship Id="rId6" Type="http://schemas.microsoft.com/office/2007/relationships/hdphoto" Target="../media/hdphoto7.wdp"/><Relationship Id="rId11" Type="http://schemas.openxmlformats.org/officeDocument/2006/relationships/image" Target="../media/image46.png"/><Relationship Id="rId5" Type="http://schemas.openxmlformats.org/officeDocument/2006/relationships/image" Target="../media/image40.png"/><Relationship Id="rId10" Type="http://schemas.microsoft.com/office/2007/relationships/hdphoto" Target="../media/hdphoto9.wdp"/><Relationship Id="rId4" Type="http://schemas.microsoft.com/office/2007/relationships/hdphoto" Target="../media/hdphoto6.wdp"/><Relationship Id="rId9" Type="http://schemas.openxmlformats.org/officeDocument/2006/relationships/image" Target="../media/image4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jpeg"/><Relationship Id="rId5" Type="http://schemas.openxmlformats.org/officeDocument/2006/relationships/image" Target="../media/image48.png"/><Relationship Id="rId4" Type="http://schemas.openxmlformats.org/officeDocument/2006/relationships/image" Target="../media/image5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jpeg"/><Relationship Id="rId5" Type="http://schemas.openxmlformats.org/officeDocument/2006/relationships/image" Target="../media/image52.png"/><Relationship Id="rId4" Type="http://schemas.openxmlformats.org/officeDocument/2006/relationships/image" Target="../media/image49.png"/></Relationships>
</file>

<file path=ppt/slides/_rels/slide17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13" Type="http://schemas.openxmlformats.org/officeDocument/2006/relationships/image" Target="../media/image59.png"/><Relationship Id="rId3" Type="http://schemas.openxmlformats.org/officeDocument/2006/relationships/image" Target="../media/image560.png"/><Relationship Id="rId7" Type="http://schemas.openxmlformats.org/officeDocument/2006/relationships/image" Target="../media/image15.png"/><Relationship Id="rId12" Type="http://schemas.openxmlformats.org/officeDocument/2006/relationships/image" Target="../media/image29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11" Type="http://schemas.openxmlformats.org/officeDocument/2006/relationships/image" Target="../media/image58.png"/><Relationship Id="rId5" Type="http://schemas.microsoft.com/office/2007/relationships/hdphoto" Target="../media/hdphoto9.wdp"/><Relationship Id="rId10" Type="http://schemas.openxmlformats.org/officeDocument/2006/relationships/image" Target="../media/image63.png"/><Relationship Id="rId4" Type="http://schemas.openxmlformats.org/officeDocument/2006/relationships/image" Target="../media/image42.png"/><Relationship Id="rId9" Type="http://schemas.openxmlformats.org/officeDocument/2006/relationships/image" Target="../media/image55.png"/></Relationships>
</file>

<file path=ppt/slides/_rels/slide18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60.png"/><Relationship Id="rId7" Type="http://schemas.openxmlformats.org/officeDocument/2006/relationships/image" Target="../media/image15.png"/><Relationship Id="rId2" Type="http://schemas.openxmlformats.org/officeDocument/2006/relationships/image" Target="../media/image58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62.png"/><Relationship Id="rId10" Type="http://schemas.openxmlformats.org/officeDocument/2006/relationships/image" Target="../media/image57.png"/><Relationship Id="rId4" Type="http://schemas.openxmlformats.org/officeDocument/2006/relationships/image" Target="../media/image61.png"/><Relationship Id="rId9" Type="http://schemas.openxmlformats.org/officeDocument/2006/relationships/image" Target="../media/image56.png"/></Relationships>
</file>

<file path=ppt/slides/_rels/slide19.xml.rels><?xml version="1.0" encoding="UTF-8" standalone="yes"?>
<Relationships xmlns="http://schemas.openxmlformats.org/package/2006/relationships"><Relationship Id="rId3" Type="http://schemas.microsoft.com/office/2007/relationships/hdphoto" Target="../media/hdphoto10.wdp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microsoft.com/office/2007/relationships/hdphoto" Target="../media/hdphoto11.wdp"/><Relationship Id="rId4" Type="http://schemas.openxmlformats.org/officeDocument/2006/relationships/image" Target="../media/image6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jpe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3" Type="http://schemas.openxmlformats.org/officeDocument/2006/relationships/image" Target="../media/image68.png"/><Relationship Id="rId7" Type="http://schemas.openxmlformats.org/officeDocument/2006/relationships/image" Target="../media/image7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jpeg"/><Relationship Id="rId5" Type="http://schemas.openxmlformats.org/officeDocument/2006/relationships/image" Target="../media/image690.png"/><Relationship Id="rId10" Type="http://schemas.openxmlformats.org/officeDocument/2006/relationships/image" Target="../media/image73.png"/><Relationship Id="rId4" Type="http://schemas.openxmlformats.org/officeDocument/2006/relationships/image" Target="../media/image69.png"/><Relationship Id="rId9" Type="http://schemas.openxmlformats.org/officeDocument/2006/relationships/image" Target="../media/image7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8.png"/><Relationship Id="rId5" Type="http://schemas.openxmlformats.org/officeDocument/2006/relationships/image" Target="../media/image55.png"/><Relationship Id="rId4" Type="http://schemas.openxmlformats.org/officeDocument/2006/relationships/image" Target="../media/image75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eymourduncan.com/blog/latest-updates/seymour-w-duncans-interview-with-seth-lover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3.png"/><Relationship Id="rId4" Type="http://schemas.openxmlformats.org/officeDocument/2006/relationships/image" Target="../media/image92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9.png"/><Relationship Id="rId3" Type="http://schemas.openxmlformats.org/officeDocument/2006/relationships/image" Target="../media/image96.png"/><Relationship Id="rId7" Type="http://schemas.openxmlformats.org/officeDocument/2006/relationships/image" Target="../media/image300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0.png"/><Relationship Id="rId5" Type="http://schemas.openxmlformats.org/officeDocument/2006/relationships/image" Target="../media/image280.png"/><Relationship Id="rId4" Type="http://schemas.openxmlformats.org/officeDocument/2006/relationships/image" Target="../media/image7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90.png"/><Relationship Id="rId4" Type="http://schemas.openxmlformats.org/officeDocument/2006/relationships/image" Target="../media/image9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png"/><Relationship Id="rId3" Type="http://schemas.openxmlformats.org/officeDocument/2006/relationships/image" Target="../media/image80.png"/><Relationship Id="rId7" Type="http://schemas.openxmlformats.org/officeDocument/2006/relationships/image" Target="../media/image114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3.png"/><Relationship Id="rId5" Type="http://schemas.openxmlformats.org/officeDocument/2006/relationships/image" Target="../media/image103.png"/><Relationship Id="rId10" Type="http://schemas.openxmlformats.org/officeDocument/2006/relationships/image" Target="../media/image117.png"/><Relationship Id="rId4" Type="http://schemas.openxmlformats.org/officeDocument/2006/relationships/image" Target="../media/image111.png"/><Relationship Id="rId9" Type="http://schemas.openxmlformats.org/officeDocument/2006/relationships/image" Target="../media/image11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0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microsoft.com/office/2007/relationships/hdphoto" Target="../media/hdphoto12.wdp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jpe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microsoft.com/office/2007/relationships/hdphoto" Target="../media/hdphoto13.wdp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6.png"/><Relationship Id="rId5" Type="http://schemas.microsoft.com/office/2007/relationships/hdphoto" Target="../media/hdphoto14.wdp"/><Relationship Id="rId4" Type="http://schemas.openxmlformats.org/officeDocument/2006/relationships/image" Target="../media/image8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D5AC26-A7A2-65B6-7B29-11EC07A68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latin typeface="Arial Black" panose="020B0A04020102020204" pitchFamily="34" charset="0"/>
              </a:rPr>
              <a:t>Guitare électrique</a:t>
            </a:r>
            <a:endParaRPr lang="fr-FR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140984-6D77-4428-740A-A1707BD7F50D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fr-FR" dirty="0"/>
              <a:t>Etude de l’influence du type de bobinage dans le micro</a:t>
            </a:r>
          </a:p>
        </p:txBody>
      </p:sp>
      <p:pic>
        <p:nvPicPr>
          <p:cNvPr id="8" name="Picture 2" descr="Guitare, La Musique, Guitare Électrique">
            <a:extLst>
              <a:ext uri="{FF2B5EF4-FFF2-40B4-BE49-F238E27FC236}">
                <a16:creationId xmlns:a16="http://schemas.microsoft.com/office/drawing/2014/main" id="{89657AC2-F3D9-A8C8-AAAD-B6D3F242C614}"/>
              </a:ext>
            </a:extLst>
          </p:cNvPr>
          <p:cNvPicPr>
            <a:picLocks noGrp="1" noChangeAspect="1" noChangeArrowheads="1"/>
          </p:cNvPicPr>
          <p:nvPr>
            <p:ph type="pic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72" b="9672"/>
          <a:stretch>
            <a:fillRect/>
          </a:stretch>
        </p:blipFill>
        <p:spPr bwMode="auto">
          <a:xfrm>
            <a:off x="0" y="0"/>
            <a:ext cx="9144000" cy="4914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F2DC964-7FE6-9F87-25A2-2DE66A959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425344" y="6459786"/>
            <a:ext cx="984019" cy="365125"/>
          </a:xfrm>
        </p:spPr>
        <p:txBody>
          <a:bodyPr/>
          <a:lstStyle/>
          <a:p>
            <a:fld id="{477F8A04-938D-4CBF-A3DC-6CB925B6FC34}" type="slidenum">
              <a:rPr lang="fr-FR" sz="1400" b="1" smtClean="0"/>
              <a:t>1</a:t>
            </a:fld>
            <a:endParaRPr lang="fr-FR" sz="1400" b="1" dirty="0"/>
          </a:p>
        </p:txBody>
      </p:sp>
    </p:spTree>
    <p:extLst>
      <p:ext uri="{BB962C8B-B14F-4D97-AF65-F5344CB8AC3E}">
        <p14:creationId xmlns:p14="http://schemas.microsoft.com/office/powerpoint/2010/main" val="25963663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666559-264F-60FB-1D37-320CA1D94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C1EE70EB-793F-4DE4-5CD3-06C1970A54E3}"/>
              </a:ext>
            </a:extLst>
          </p:cNvPr>
          <p:cNvSpPr/>
          <p:nvPr/>
        </p:nvSpPr>
        <p:spPr>
          <a:xfrm>
            <a:off x="322686" y="4268850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03404F2-95E1-6C3C-2AC8-4C3EA8AF8028}"/>
              </a:ext>
            </a:extLst>
          </p:cNvPr>
          <p:cNvSpPr/>
          <p:nvPr/>
        </p:nvSpPr>
        <p:spPr>
          <a:xfrm>
            <a:off x="622219" y="5089938"/>
            <a:ext cx="490254" cy="194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aphicFrame>
        <p:nvGraphicFramePr>
          <p:cNvPr id="13" name="Diagram 12">
            <a:extLst>
              <a:ext uri="{FF2B5EF4-FFF2-40B4-BE49-F238E27FC236}">
                <a16:creationId xmlns:a16="http://schemas.microsoft.com/office/drawing/2014/main" id="{67685325-6DB0-D00D-F7AE-FBD7499B9A9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50177681"/>
              </p:ext>
            </p:extLst>
          </p:nvPr>
        </p:nvGraphicFramePr>
        <p:xfrm>
          <a:off x="622219" y="1557243"/>
          <a:ext cx="7899561" cy="31339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5" name="Graphic 14" descr="Bank with solid fill">
            <a:extLst>
              <a:ext uri="{FF2B5EF4-FFF2-40B4-BE49-F238E27FC236}">
                <a16:creationId xmlns:a16="http://schemas.microsoft.com/office/drawing/2014/main" id="{0A05600E-BBED-713B-0765-F9FC4C8B4F5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111043" y="4687846"/>
            <a:ext cx="914400" cy="914400"/>
          </a:xfrm>
          <a:prstGeom prst="rect">
            <a:avLst/>
          </a:prstGeom>
        </p:spPr>
      </p:pic>
      <p:pic>
        <p:nvPicPr>
          <p:cNvPr id="19" name="Graphic 18" descr="Earth globe: Africa and Europe with solid fill">
            <a:extLst>
              <a:ext uri="{FF2B5EF4-FFF2-40B4-BE49-F238E27FC236}">
                <a16:creationId xmlns:a16="http://schemas.microsoft.com/office/drawing/2014/main" id="{18E70CB9-42FE-B71F-A1C8-24CE93E3324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376203" y="4735221"/>
            <a:ext cx="914400" cy="914400"/>
          </a:xfrm>
          <a:prstGeom prst="rect">
            <a:avLst/>
          </a:prstGeom>
        </p:spPr>
      </p:pic>
      <p:pic>
        <p:nvPicPr>
          <p:cNvPr id="21" name="Graphic 20" descr="Music note with solid fill">
            <a:extLst>
              <a:ext uri="{FF2B5EF4-FFF2-40B4-BE49-F238E27FC236}">
                <a16:creationId xmlns:a16="http://schemas.microsoft.com/office/drawing/2014/main" id="{84DFF8B1-F884-2B2A-7E80-9BC9C2825C2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853397" y="4729977"/>
            <a:ext cx="914400" cy="9144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7C7AD5E-8D0B-A100-8BC7-8968AFC40EF4}"/>
              </a:ext>
            </a:extLst>
          </p:cNvPr>
          <p:cNvSpPr txBox="1"/>
          <p:nvPr/>
        </p:nvSpPr>
        <p:spPr>
          <a:xfrm>
            <a:off x="5921829" y="6071016"/>
            <a:ext cx="32815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/>
              <a:t>[1] </a:t>
            </a:r>
            <a:r>
              <a:rPr lang="en-GB" sz="1100" dirty="0" err="1"/>
              <a:t>WiseGuy</a:t>
            </a:r>
            <a:r>
              <a:rPr lang="en-GB" sz="1100" dirty="0"/>
              <a:t> Research Consultants</a:t>
            </a:r>
            <a:endParaRPr lang="fr-FR" sz="1100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E21CB03-8FB3-DCCC-1E6A-468CBF66A0C4}"/>
              </a:ext>
            </a:extLst>
          </p:cNvPr>
          <p:cNvGrpSpPr/>
          <p:nvPr/>
        </p:nvGrpSpPr>
        <p:grpSpPr>
          <a:xfrm>
            <a:off x="0" y="-4624"/>
            <a:ext cx="9144000" cy="457200"/>
            <a:chOff x="0" y="-4624"/>
            <a:chExt cx="9144000" cy="457200"/>
          </a:xfrm>
          <a:solidFill>
            <a:srgbClr val="4A66AC"/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2DEB56B-5E6F-7F53-5602-DC58EDC16465}"/>
                </a:ext>
              </a:extLst>
            </p:cNvPr>
            <p:cNvSpPr/>
            <p:nvPr/>
          </p:nvSpPr>
          <p:spPr>
            <a:xfrm>
              <a:off x="0" y="-4624"/>
              <a:ext cx="9144000" cy="457200"/>
            </a:xfrm>
            <a:prstGeom prst="rect">
              <a:avLst/>
            </a:prstGeom>
            <a:grpFill/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10" name="Footer Placeholder 2">
              <a:extLst>
                <a:ext uri="{FF2B5EF4-FFF2-40B4-BE49-F238E27FC236}">
                  <a16:creationId xmlns:a16="http://schemas.microsoft.com/office/drawing/2014/main" id="{5B19474D-95C6-FB1A-CC9F-918E0FC5501A}"/>
                </a:ext>
              </a:extLst>
            </p:cNvPr>
            <p:cNvSpPr txBox="1">
              <a:spLocks/>
            </p:cNvSpPr>
            <p:nvPr/>
          </p:nvSpPr>
          <p:spPr>
            <a:xfrm>
              <a:off x="1447764" y="41413"/>
              <a:ext cx="6248472" cy="36512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457200" rtl="0" eaLnBrk="1" latinLnBrk="0" hangingPunct="1">
                <a:defRPr sz="900" kern="1200" cap="all" baseline="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sz="1600" b="1" dirty="0"/>
                <a:t>Introduction</a:t>
              </a:r>
            </a:p>
          </p:txBody>
        </p: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12551F-BBF9-4810-F2AF-2838FCD617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01EA654-5847-FC21-5C05-227A415BD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F8A04-938D-4CBF-A3DC-6CB925B6FC34}" type="slidenum">
              <a:rPr lang="fr-FR" sz="1400" b="1" smtClean="0"/>
              <a:t>2</a:t>
            </a:fld>
            <a:endParaRPr lang="fr-FR" sz="1400" b="1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E13F58-63AC-F0D3-5446-33ECFA46D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TIPE 39662</a:t>
            </a:r>
          </a:p>
        </p:txBody>
      </p:sp>
    </p:spTree>
    <p:extLst>
      <p:ext uri="{BB962C8B-B14F-4D97-AF65-F5344CB8AC3E}">
        <p14:creationId xmlns:p14="http://schemas.microsoft.com/office/powerpoint/2010/main" val="29885658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A604F0-B502-65BC-6A09-35CFB45E3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79BCC782-0D3B-CED9-60B9-795B1EBEEAEE}"/>
              </a:ext>
            </a:extLst>
          </p:cNvPr>
          <p:cNvSpPr/>
          <p:nvPr/>
        </p:nvSpPr>
        <p:spPr>
          <a:xfrm>
            <a:off x="322686" y="4268850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46CF84F-B284-FFE6-89D6-BC064CAF24E5}"/>
              </a:ext>
            </a:extLst>
          </p:cNvPr>
          <p:cNvSpPr/>
          <p:nvPr/>
        </p:nvSpPr>
        <p:spPr>
          <a:xfrm>
            <a:off x="622219" y="5394738"/>
            <a:ext cx="490254" cy="194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E8BD08EE-D283-DD4F-BD91-A527520D3F09}"/>
              </a:ext>
            </a:extLst>
          </p:cNvPr>
          <p:cNvGrpSpPr/>
          <p:nvPr/>
        </p:nvGrpSpPr>
        <p:grpSpPr>
          <a:xfrm>
            <a:off x="-43440" y="924437"/>
            <a:ext cx="9223365" cy="3939301"/>
            <a:chOff x="-143123" y="1695451"/>
            <a:chExt cx="9223365" cy="3893765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561AD59C-BE3D-5354-10F1-5FB60C9BA5F8}"/>
                </a:ext>
              </a:extLst>
            </p:cNvPr>
            <p:cNvGrpSpPr/>
            <p:nvPr/>
          </p:nvGrpSpPr>
          <p:grpSpPr>
            <a:xfrm>
              <a:off x="-143123" y="1695451"/>
              <a:ext cx="6901731" cy="3893765"/>
              <a:chOff x="1006751" y="1255937"/>
              <a:chExt cx="6952009" cy="3872654"/>
            </a:xfrm>
          </p:grpSpPr>
          <p:pic>
            <p:nvPicPr>
              <p:cNvPr id="16" name="Picture 15" descr="A black and white drawing of a speaker&#10;&#10;AI-generated content may be incorrect.">
                <a:extLst>
                  <a:ext uri="{FF2B5EF4-FFF2-40B4-BE49-F238E27FC236}">
                    <a16:creationId xmlns:a16="http://schemas.microsoft.com/office/drawing/2014/main" id="{8671EF1F-85A1-8978-42ED-6DC100D8ECD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 l="5915" t="5174" r="12970" b="6005"/>
              <a:stretch>
                <a:fillRect/>
              </a:stretch>
            </p:blipFill>
            <p:spPr>
              <a:xfrm>
                <a:off x="5339199" y="1663215"/>
                <a:ext cx="2619561" cy="2902226"/>
              </a:xfrm>
              <a:prstGeom prst="rect">
                <a:avLst/>
              </a:prstGeom>
            </p:spPr>
          </p:pic>
          <p:pic>
            <p:nvPicPr>
              <p:cNvPr id="1026" name="Picture 2" descr="Coloriage Guitare électrique normale - Dessin gratuit à imprimer">
                <a:extLst>
                  <a:ext uri="{FF2B5EF4-FFF2-40B4-BE49-F238E27FC236}">
                    <a16:creationId xmlns:a16="http://schemas.microsoft.com/office/drawing/2014/main" id="{CC805345-A78D-D399-DA6C-BFFD053F562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575" t="9659" r="3272" b="14511"/>
              <a:stretch>
                <a:fillRect/>
              </a:stretch>
            </p:blipFill>
            <p:spPr bwMode="auto">
              <a:xfrm rot="18368299">
                <a:off x="661136" y="1601552"/>
                <a:ext cx="3716782" cy="3025552"/>
              </a:xfrm>
              <a:prstGeom prst="rect">
                <a:avLst/>
              </a:prstGeom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EE11A188-CC0E-DA89-77CB-1A851E9A6CC0}"/>
                  </a:ext>
                </a:extLst>
              </p:cNvPr>
              <p:cNvSpPr/>
              <p:nvPr/>
            </p:nvSpPr>
            <p:spPr>
              <a:xfrm>
                <a:off x="2687541" y="2252273"/>
                <a:ext cx="3045349" cy="2876318"/>
              </a:xfrm>
              <a:custGeom>
                <a:avLst/>
                <a:gdLst>
                  <a:gd name="csX0" fmla="*/ 0 w 3045349"/>
                  <a:gd name="csY0" fmla="*/ 2454899 h 2876318"/>
                  <a:gd name="csX1" fmla="*/ 31805 w 3045349"/>
                  <a:gd name="csY1" fmla="*/ 2494656 h 2876318"/>
                  <a:gd name="csX2" fmla="*/ 47708 w 3045349"/>
                  <a:gd name="csY2" fmla="*/ 2518510 h 2876318"/>
                  <a:gd name="csX3" fmla="*/ 71562 w 3045349"/>
                  <a:gd name="csY3" fmla="*/ 2526461 h 2876318"/>
                  <a:gd name="csX4" fmla="*/ 127221 w 3045349"/>
                  <a:gd name="csY4" fmla="*/ 2574169 h 2876318"/>
                  <a:gd name="csX5" fmla="*/ 206734 w 3045349"/>
                  <a:gd name="csY5" fmla="*/ 2637779 h 2876318"/>
                  <a:gd name="csX6" fmla="*/ 246490 w 3045349"/>
                  <a:gd name="csY6" fmla="*/ 2661633 h 2876318"/>
                  <a:gd name="csX7" fmla="*/ 278296 w 3045349"/>
                  <a:gd name="csY7" fmla="*/ 2677536 h 2876318"/>
                  <a:gd name="csX8" fmla="*/ 310101 w 3045349"/>
                  <a:gd name="csY8" fmla="*/ 2701390 h 2876318"/>
                  <a:gd name="csX9" fmla="*/ 373711 w 3045349"/>
                  <a:gd name="csY9" fmla="*/ 2733195 h 2876318"/>
                  <a:gd name="csX10" fmla="*/ 429370 w 3045349"/>
                  <a:gd name="csY10" fmla="*/ 2765000 h 2876318"/>
                  <a:gd name="csX11" fmla="*/ 532737 w 3045349"/>
                  <a:gd name="csY11" fmla="*/ 2804757 h 2876318"/>
                  <a:gd name="csX12" fmla="*/ 596348 w 3045349"/>
                  <a:gd name="csY12" fmla="*/ 2836562 h 2876318"/>
                  <a:gd name="csX13" fmla="*/ 659958 w 3045349"/>
                  <a:gd name="csY13" fmla="*/ 2852464 h 2876318"/>
                  <a:gd name="csX14" fmla="*/ 914400 w 3045349"/>
                  <a:gd name="csY14" fmla="*/ 2876318 h 2876318"/>
                  <a:gd name="csX15" fmla="*/ 1121134 w 3045349"/>
                  <a:gd name="csY15" fmla="*/ 2852464 h 2876318"/>
                  <a:gd name="csX16" fmla="*/ 1288111 w 3045349"/>
                  <a:gd name="csY16" fmla="*/ 2780903 h 2876318"/>
                  <a:gd name="csX17" fmla="*/ 1431235 w 3045349"/>
                  <a:gd name="csY17" fmla="*/ 2709341 h 2876318"/>
                  <a:gd name="csX18" fmla="*/ 1478942 w 3045349"/>
                  <a:gd name="csY18" fmla="*/ 2661633 h 2876318"/>
                  <a:gd name="csX19" fmla="*/ 1630017 w 3045349"/>
                  <a:gd name="csY19" fmla="*/ 2470802 h 2876318"/>
                  <a:gd name="csX20" fmla="*/ 1733384 w 3045349"/>
                  <a:gd name="csY20" fmla="*/ 2208409 h 2876318"/>
                  <a:gd name="csX21" fmla="*/ 1733384 w 3045349"/>
                  <a:gd name="csY21" fmla="*/ 1946016 h 2876318"/>
                  <a:gd name="csX22" fmla="*/ 1709530 w 3045349"/>
                  <a:gd name="csY22" fmla="*/ 1858551 h 2876318"/>
                  <a:gd name="csX23" fmla="*/ 1661822 w 3045349"/>
                  <a:gd name="csY23" fmla="*/ 1715428 h 2876318"/>
                  <a:gd name="csX24" fmla="*/ 1614115 w 3045349"/>
                  <a:gd name="csY24" fmla="*/ 1556402 h 2876318"/>
                  <a:gd name="csX25" fmla="*/ 1534602 w 3045349"/>
                  <a:gd name="csY25" fmla="*/ 1413278 h 2876318"/>
                  <a:gd name="csX26" fmla="*/ 1502796 w 3045349"/>
                  <a:gd name="csY26" fmla="*/ 1349668 h 2876318"/>
                  <a:gd name="csX27" fmla="*/ 1399429 w 3045349"/>
                  <a:gd name="csY27" fmla="*/ 1166788 h 2876318"/>
                  <a:gd name="csX28" fmla="*/ 1351722 w 3045349"/>
                  <a:gd name="csY28" fmla="*/ 1023664 h 2876318"/>
                  <a:gd name="csX29" fmla="*/ 1327868 w 3045349"/>
                  <a:gd name="csY29" fmla="*/ 952103 h 2876318"/>
                  <a:gd name="csX30" fmla="*/ 1343770 w 3045349"/>
                  <a:gd name="csY30" fmla="*/ 673807 h 2876318"/>
                  <a:gd name="csX31" fmla="*/ 1367624 w 3045349"/>
                  <a:gd name="csY31" fmla="*/ 610197 h 2876318"/>
                  <a:gd name="csX32" fmla="*/ 1478942 w 3045349"/>
                  <a:gd name="csY32" fmla="*/ 475024 h 2876318"/>
                  <a:gd name="csX33" fmla="*/ 1526650 w 3045349"/>
                  <a:gd name="csY33" fmla="*/ 403463 h 2876318"/>
                  <a:gd name="csX34" fmla="*/ 1630017 w 3045349"/>
                  <a:gd name="csY34" fmla="*/ 315998 h 2876318"/>
                  <a:gd name="csX35" fmla="*/ 1693628 w 3045349"/>
                  <a:gd name="csY35" fmla="*/ 252388 h 2876318"/>
                  <a:gd name="csX36" fmla="*/ 1836751 w 3045349"/>
                  <a:gd name="csY36" fmla="*/ 164924 h 2876318"/>
                  <a:gd name="csX37" fmla="*/ 1948069 w 3045349"/>
                  <a:gd name="csY37" fmla="*/ 93362 h 2876318"/>
                  <a:gd name="csX38" fmla="*/ 2138901 w 3045349"/>
                  <a:gd name="csY38" fmla="*/ 45654 h 2876318"/>
                  <a:gd name="csX39" fmla="*/ 2337683 w 3045349"/>
                  <a:gd name="csY39" fmla="*/ 21800 h 2876318"/>
                  <a:gd name="csX40" fmla="*/ 2488758 w 3045349"/>
                  <a:gd name="csY40" fmla="*/ 13849 h 2876318"/>
                  <a:gd name="csX41" fmla="*/ 2862469 w 3045349"/>
                  <a:gd name="csY41" fmla="*/ 13849 h 2876318"/>
                  <a:gd name="csX42" fmla="*/ 2981739 w 3045349"/>
                  <a:gd name="csY42" fmla="*/ 45654 h 2876318"/>
                  <a:gd name="csX43" fmla="*/ 3045349 w 3045349"/>
                  <a:gd name="csY43" fmla="*/ 69508 h 287631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</a:cxnLst>
                <a:rect l="l" t="t" r="r" b="b"/>
                <a:pathLst>
                  <a:path w="3045349" h="2876318">
                    <a:moveTo>
                      <a:pt x="0" y="2454899"/>
                    </a:moveTo>
                    <a:cubicBezTo>
                      <a:pt x="10602" y="2468151"/>
                      <a:pt x="21622" y="2481079"/>
                      <a:pt x="31805" y="2494656"/>
                    </a:cubicBezTo>
                    <a:cubicBezTo>
                      <a:pt x="37539" y="2502301"/>
                      <a:pt x="40246" y="2512540"/>
                      <a:pt x="47708" y="2518510"/>
                    </a:cubicBezTo>
                    <a:cubicBezTo>
                      <a:pt x="54253" y="2523746"/>
                      <a:pt x="63611" y="2523811"/>
                      <a:pt x="71562" y="2526461"/>
                    </a:cubicBezTo>
                    <a:cubicBezTo>
                      <a:pt x="160673" y="2637849"/>
                      <a:pt x="61551" y="2528705"/>
                      <a:pt x="127221" y="2574169"/>
                    </a:cubicBezTo>
                    <a:cubicBezTo>
                      <a:pt x="155128" y="2593489"/>
                      <a:pt x="177629" y="2620316"/>
                      <a:pt x="206734" y="2637779"/>
                    </a:cubicBezTo>
                    <a:cubicBezTo>
                      <a:pt x="219986" y="2645730"/>
                      <a:pt x="232980" y="2654128"/>
                      <a:pt x="246490" y="2661633"/>
                    </a:cubicBezTo>
                    <a:cubicBezTo>
                      <a:pt x="256852" y="2667390"/>
                      <a:pt x="268244" y="2671254"/>
                      <a:pt x="278296" y="2677536"/>
                    </a:cubicBezTo>
                    <a:cubicBezTo>
                      <a:pt x="289534" y="2684560"/>
                      <a:pt x="298654" y="2694713"/>
                      <a:pt x="310101" y="2701390"/>
                    </a:cubicBezTo>
                    <a:cubicBezTo>
                      <a:pt x="330578" y="2713335"/>
                      <a:pt x="352794" y="2722039"/>
                      <a:pt x="373711" y="2733195"/>
                    </a:cubicBezTo>
                    <a:cubicBezTo>
                      <a:pt x="392565" y="2743251"/>
                      <a:pt x="409884" y="2756231"/>
                      <a:pt x="429370" y="2765000"/>
                    </a:cubicBezTo>
                    <a:cubicBezTo>
                      <a:pt x="463035" y="2780149"/>
                      <a:pt x="499718" y="2788248"/>
                      <a:pt x="532737" y="2804757"/>
                    </a:cubicBezTo>
                    <a:cubicBezTo>
                      <a:pt x="553941" y="2815359"/>
                      <a:pt x="574151" y="2828238"/>
                      <a:pt x="596348" y="2836562"/>
                    </a:cubicBezTo>
                    <a:cubicBezTo>
                      <a:pt x="616812" y="2844236"/>
                      <a:pt x="638488" y="2848375"/>
                      <a:pt x="659958" y="2852464"/>
                    </a:cubicBezTo>
                    <a:cubicBezTo>
                      <a:pt x="772459" y="2873893"/>
                      <a:pt x="787397" y="2869634"/>
                      <a:pt x="914400" y="2876318"/>
                    </a:cubicBezTo>
                    <a:cubicBezTo>
                      <a:pt x="983311" y="2868367"/>
                      <a:pt x="1052975" y="2865359"/>
                      <a:pt x="1121134" y="2852464"/>
                    </a:cubicBezTo>
                    <a:cubicBezTo>
                      <a:pt x="1180843" y="2841168"/>
                      <a:pt x="1233964" y="2805269"/>
                      <a:pt x="1288111" y="2780903"/>
                    </a:cubicBezTo>
                    <a:cubicBezTo>
                      <a:pt x="1358137" y="2749391"/>
                      <a:pt x="1372061" y="2755834"/>
                      <a:pt x="1431235" y="2709341"/>
                    </a:cubicBezTo>
                    <a:cubicBezTo>
                      <a:pt x="1448919" y="2695446"/>
                      <a:pt x="1463561" y="2678040"/>
                      <a:pt x="1478942" y="2661633"/>
                    </a:cubicBezTo>
                    <a:cubicBezTo>
                      <a:pt x="1534843" y="2602004"/>
                      <a:pt x="1588815" y="2542364"/>
                      <a:pt x="1630017" y="2470802"/>
                    </a:cubicBezTo>
                    <a:cubicBezTo>
                      <a:pt x="1699402" y="2350291"/>
                      <a:pt x="1699220" y="2327984"/>
                      <a:pt x="1733384" y="2208409"/>
                    </a:cubicBezTo>
                    <a:cubicBezTo>
                      <a:pt x="1742438" y="2099766"/>
                      <a:pt x="1749009" y="2071016"/>
                      <a:pt x="1733384" y="1946016"/>
                    </a:cubicBezTo>
                    <a:cubicBezTo>
                      <a:pt x="1729636" y="1916030"/>
                      <a:pt x="1716227" y="1888019"/>
                      <a:pt x="1709530" y="1858551"/>
                    </a:cubicBezTo>
                    <a:cubicBezTo>
                      <a:pt x="1681618" y="1735734"/>
                      <a:pt x="1714235" y="1807148"/>
                      <a:pt x="1661822" y="1715428"/>
                    </a:cubicBezTo>
                    <a:cubicBezTo>
                      <a:pt x="1654666" y="1689190"/>
                      <a:pt x="1628127" y="1585505"/>
                      <a:pt x="1614115" y="1556402"/>
                    </a:cubicBezTo>
                    <a:cubicBezTo>
                      <a:pt x="1590439" y="1507229"/>
                      <a:pt x="1559010" y="1462092"/>
                      <a:pt x="1534602" y="1413278"/>
                    </a:cubicBezTo>
                    <a:cubicBezTo>
                      <a:pt x="1524000" y="1392075"/>
                      <a:pt x="1514379" y="1370352"/>
                      <a:pt x="1502796" y="1349668"/>
                    </a:cubicBezTo>
                    <a:cubicBezTo>
                      <a:pt x="1455116" y="1264526"/>
                      <a:pt x="1432768" y="1239023"/>
                      <a:pt x="1399429" y="1166788"/>
                    </a:cubicBezTo>
                    <a:cubicBezTo>
                      <a:pt x="1363215" y="1088324"/>
                      <a:pt x="1381571" y="1123160"/>
                      <a:pt x="1351722" y="1023664"/>
                    </a:cubicBezTo>
                    <a:cubicBezTo>
                      <a:pt x="1344497" y="999580"/>
                      <a:pt x="1335819" y="975957"/>
                      <a:pt x="1327868" y="952103"/>
                    </a:cubicBezTo>
                    <a:cubicBezTo>
                      <a:pt x="1312766" y="831293"/>
                      <a:pt x="1311555" y="861726"/>
                      <a:pt x="1343770" y="673807"/>
                    </a:cubicBezTo>
                    <a:cubicBezTo>
                      <a:pt x="1347596" y="651487"/>
                      <a:pt x="1356626" y="629992"/>
                      <a:pt x="1367624" y="610197"/>
                    </a:cubicBezTo>
                    <a:cubicBezTo>
                      <a:pt x="1431450" y="495311"/>
                      <a:pt x="1405986" y="564816"/>
                      <a:pt x="1478942" y="475024"/>
                    </a:cubicBezTo>
                    <a:cubicBezTo>
                      <a:pt x="1497020" y="452774"/>
                      <a:pt x="1508572" y="425713"/>
                      <a:pt x="1526650" y="403463"/>
                    </a:cubicBezTo>
                    <a:cubicBezTo>
                      <a:pt x="1601764" y="311016"/>
                      <a:pt x="1556151" y="379312"/>
                      <a:pt x="1630017" y="315998"/>
                    </a:cubicBezTo>
                    <a:cubicBezTo>
                      <a:pt x="1652784" y="296483"/>
                      <a:pt x="1670481" y="271450"/>
                      <a:pt x="1693628" y="252388"/>
                    </a:cubicBezTo>
                    <a:cubicBezTo>
                      <a:pt x="1748930" y="206845"/>
                      <a:pt x="1777215" y="202134"/>
                      <a:pt x="1836751" y="164924"/>
                    </a:cubicBezTo>
                    <a:cubicBezTo>
                      <a:pt x="1880106" y="137827"/>
                      <a:pt x="1900442" y="112973"/>
                      <a:pt x="1948069" y="93362"/>
                    </a:cubicBezTo>
                    <a:cubicBezTo>
                      <a:pt x="1991495" y="75481"/>
                      <a:pt x="2099863" y="52160"/>
                      <a:pt x="2138901" y="45654"/>
                    </a:cubicBezTo>
                    <a:cubicBezTo>
                      <a:pt x="2139259" y="45594"/>
                      <a:pt x="2308265" y="23901"/>
                      <a:pt x="2337683" y="21800"/>
                    </a:cubicBezTo>
                    <a:cubicBezTo>
                      <a:pt x="2387983" y="18207"/>
                      <a:pt x="2438400" y="16499"/>
                      <a:pt x="2488758" y="13849"/>
                    </a:cubicBezTo>
                    <a:cubicBezTo>
                      <a:pt x="2634733" y="-2372"/>
                      <a:pt x="2644304" y="-6733"/>
                      <a:pt x="2862469" y="13849"/>
                    </a:cubicBezTo>
                    <a:cubicBezTo>
                      <a:pt x="2903433" y="17714"/>
                      <a:pt x="2942705" y="32642"/>
                      <a:pt x="2981739" y="45654"/>
                    </a:cubicBezTo>
                    <a:cubicBezTo>
                      <a:pt x="3035069" y="63431"/>
                      <a:pt x="3014454" y="54060"/>
                      <a:pt x="3045349" y="69508"/>
                    </a:cubicBezTo>
                  </a:path>
                </a:pathLst>
              </a:custGeom>
              <a:ln w="101600"/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pic>
          <p:nvPicPr>
            <p:cNvPr id="31" name="Picture 8" descr="Sound PNG Transparent Images">
              <a:extLst>
                <a:ext uri="{FF2B5EF4-FFF2-40B4-BE49-F238E27FC236}">
                  <a16:creationId xmlns:a16="http://schemas.microsoft.com/office/drawing/2014/main" id="{C5A23D53-5DDB-D416-A41A-F727728A500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54464" y="2449034"/>
              <a:ext cx="2325778" cy="23257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7627FF2A-9CB1-1AF7-C7B2-1DA1B28400B9}"/>
              </a:ext>
            </a:extLst>
          </p:cNvPr>
          <p:cNvGrpSpPr/>
          <p:nvPr/>
        </p:nvGrpSpPr>
        <p:grpSpPr>
          <a:xfrm>
            <a:off x="421651" y="5064229"/>
            <a:ext cx="8293184" cy="739359"/>
            <a:chOff x="385745" y="5494993"/>
            <a:chExt cx="8293184" cy="739359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724A1EF4-71C5-AFEC-F51C-54253E6418D7}"/>
                </a:ext>
              </a:extLst>
            </p:cNvPr>
            <p:cNvGrpSpPr/>
            <p:nvPr/>
          </p:nvGrpSpPr>
          <p:grpSpPr>
            <a:xfrm>
              <a:off x="385745" y="5495226"/>
              <a:ext cx="8293184" cy="739126"/>
              <a:chOff x="385745" y="5495226"/>
              <a:chExt cx="8293184" cy="739126"/>
            </a:xfrm>
          </p:grpSpPr>
          <p:grpSp>
            <p:nvGrpSpPr>
              <p:cNvPr id="2" name="Group 1">
                <a:extLst>
                  <a:ext uri="{FF2B5EF4-FFF2-40B4-BE49-F238E27FC236}">
                    <a16:creationId xmlns:a16="http://schemas.microsoft.com/office/drawing/2014/main" id="{44F9E293-216E-15DD-4F6F-A29FF3E6E519}"/>
                  </a:ext>
                </a:extLst>
              </p:cNvPr>
              <p:cNvGrpSpPr/>
              <p:nvPr/>
            </p:nvGrpSpPr>
            <p:grpSpPr>
              <a:xfrm>
                <a:off x="1281789" y="5495226"/>
                <a:ext cx="6572907" cy="739126"/>
                <a:chOff x="1833334" y="3059437"/>
                <a:chExt cx="6572907" cy="739126"/>
              </a:xfrm>
            </p:grpSpPr>
            <p:sp>
              <p:nvSpPr>
                <p:cNvPr id="12" name="Rectangle: Rounded Corners 11">
                  <a:extLst>
                    <a:ext uri="{FF2B5EF4-FFF2-40B4-BE49-F238E27FC236}">
                      <a16:creationId xmlns:a16="http://schemas.microsoft.com/office/drawing/2014/main" id="{02C0AC77-D285-65B0-D66E-4E098D9D4641}"/>
                    </a:ext>
                  </a:extLst>
                </p:cNvPr>
                <p:cNvSpPr/>
                <p:nvPr/>
              </p:nvSpPr>
              <p:spPr>
                <a:xfrm>
                  <a:off x="6039898" y="3059437"/>
                  <a:ext cx="1790344" cy="739126"/>
                </a:xfrm>
                <a:prstGeom prst="roundRect">
                  <a:avLst/>
                </a:prstGeom>
                <a:noFill/>
                <a:ln w="9525" cap="flat" cmpd="sng" algn="ctr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dirty="0">
                      <a:solidFill>
                        <a:schemeClr val="tx1"/>
                      </a:solidFill>
                    </a:rPr>
                    <a:t>Amplificateur</a:t>
                  </a:r>
                </a:p>
              </p:txBody>
            </p:sp>
            <p:cxnSp>
              <p:nvCxnSpPr>
                <p:cNvPr id="14" name="Straight Arrow Connector 13">
                  <a:extLst>
                    <a:ext uri="{FF2B5EF4-FFF2-40B4-BE49-F238E27FC236}">
                      <a16:creationId xmlns:a16="http://schemas.microsoft.com/office/drawing/2014/main" id="{1E0D4AE5-9607-4DB4-BE36-56A5094F4DD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467171" y="3428768"/>
                  <a:ext cx="572727" cy="232"/>
                </a:xfrm>
                <a:prstGeom prst="straightConnector1">
                  <a:avLst/>
                </a:prstGeom>
                <a:ln w="19050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Straight Arrow Connector 14">
                  <a:extLst>
                    <a:ext uri="{FF2B5EF4-FFF2-40B4-BE49-F238E27FC236}">
                      <a16:creationId xmlns:a16="http://schemas.microsoft.com/office/drawing/2014/main" id="{9C0C996A-BF1C-90EE-8498-2E1A93560CC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833334" y="3428768"/>
                  <a:ext cx="572726" cy="232"/>
                </a:xfrm>
                <a:prstGeom prst="straightConnector1">
                  <a:avLst/>
                </a:prstGeom>
                <a:ln w="19050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Straight Arrow Connector 18">
                  <a:extLst>
                    <a:ext uri="{FF2B5EF4-FFF2-40B4-BE49-F238E27FC236}">
                      <a16:creationId xmlns:a16="http://schemas.microsoft.com/office/drawing/2014/main" id="{B2A0A7D1-8E1F-6D54-6F03-9C163D4121D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830241" y="3429000"/>
                  <a:ext cx="576000" cy="0"/>
                </a:xfrm>
                <a:prstGeom prst="straightConnector1">
                  <a:avLst/>
                </a:prstGeom>
                <a:ln w="19050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1" name="TextBox 20">
                      <a:extLst>
                        <a:ext uri="{FF2B5EF4-FFF2-40B4-BE49-F238E27FC236}">
                          <a16:creationId xmlns:a16="http://schemas.microsoft.com/office/drawing/2014/main" id="{FC6CD4CD-B9B4-4035-2393-BF7AC44EE42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530231" y="3105719"/>
                      <a:ext cx="446608" cy="276999"/>
                    </a:xfrm>
                    <a:prstGeom prst="rect">
                      <a:avLst/>
                    </a:prstGeom>
                    <a:noFill/>
                    <a:ln w="19050"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2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𝑒𝑙𝑒𝑐</m:t>
                                </m:r>
                              </m:sub>
                            </m:sSub>
                          </m:oMath>
                        </m:oMathPara>
                      </a14:m>
                      <a:endParaRPr lang="fr-FR" sz="1200" dirty="0"/>
                    </a:p>
                  </p:txBody>
                </p:sp>
              </mc:Choice>
              <mc:Fallback xmlns="">
                <p:sp>
                  <p:nvSpPr>
                    <p:cNvPr id="21" name="TextBox 20">
                      <a:extLst>
                        <a:ext uri="{FF2B5EF4-FFF2-40B4-BE49-F238E27FC236}">
                          <a16:creationId xmlns:a16="http://schemas.microsoft.com/office/drawing/2014/main" id="{FC6CD4CD-B9B4-4035-2393-BF7AC44EE428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530231" y="3105719"/>
                      <a:ext cx="446608" cy="276999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/>
                      </a:stretch>
                    </a:blipFill>
                    <a:ln w="19050">
                      <a:noFill/>
                    </a:ln>
                  </p:spPr>
                  <p:txBody>
                    <a:bodyPr/>
                    <a:lstStyle/>
                    <a:p>
                      <a:r>
                        <a:rPr lang="fr-FR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2" name="TextBox 21">
                      <a:extLst>
                        <a:ext uri="{FF2B5EF4-FFF2-40B4-BE49-F238E27FC236}">
                          <a16:creationId xmlns:a16="http://schemas.microsoft.com/office/drawing/2014/main" id="{FAD95A0E-467F-A6AA-2FC7-05C2FF1D8BC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884241" y="3105718"/>
                      <a:ext cx="468000" cy="276999"/>
                    </a:xfrm>
                    <a:prstGeom prst="rect">
                      <a:avLst/>
                    </a:prstGeom>
                    <a:noFill/>
                    <a:ln w="19050"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2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é</m:t>
                                </m:r>
                                <m: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𝑐𝑎</m:t>
                                </m:r>
                              </m:sub>
                            </m:sSub>
                          </m:oMath>
                        </m:oMathPara>
                      </a14:m>
                      <a:endParaRPr lang="fr-FR" sz="1200" dirty="0"/>
                    </a:p>
                  </p:txBody>
                </p:sp>
              </mc:Choice>
              <mc:Fallback xmlns="">
                <p:sp>
                  <p:nvSpPr>
                    <p:cNvPr id="22" name="TextBox 21">
                      <a:extLst>
                        <a:ext uri="{FF2B5EF4-FFF2-40B4-BE49-F238E27FC236}">
                          <a16:creationId xmlns:a16="http://schemas.microsoft.com/office/drawing/2014/main" id="{FAD95A0E-467F-A6AA-2FC7-05C2FF1D8BCB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884241" y="3105718"/>
                      <a:ext cx="468000" cy="276999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 r="-2597"/>
                      </a:stretch>
                    </a:blipFill>
                    <a:ln w="19050">
                      <a:noFill/>
                    </a:ln>
                  </p:spPr>
                  <p:txBody>
                    <a:bodyPr/>
                    <a:lstStyle/>
                    <a:p>
                      <a:r>
                        <a:rPr lang="fr-FR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4" name="TextBox 23">
                      <a:extLst>
                        <a:ext uri="{FF2B5EF4-FFF2-40B4-BE49-F238E27FC236}">
                          <a16:creationId xmlns:a16="http://schemas.microsoft.com/office/drawing/2014/main" id="{F1945596-F0F7-D093-5E36-0392482F540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833334" y="3105719"/>
                      <a:ext cx="446608" cy="276999"/>
                    </a:xfrm>
                    <a:prstGeom prst="rect">
                      <a:avLst/>
                    </a:prstGeom>
                    <a:noFill/>
                    <a:ln w="19050"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2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é</m:t>
                                </m:r>
                                <m: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𝑐𝑎</m:t>
                                </m:r>
                              </m:sub>
                            </m:sSub>
                          </m:oMath>
                        </m:oMathPara>
                      </a14:m>
                      <a:endParaRPr lang="fr-FR" sz="1200" dirty="0"/>
                    </a:p>
                  </p:txBody>
                </p:sp>
              </mc:Choice>
              <mc:Fallback xmlns="">
                <p:sp>
                  <p:nvSpPr>
                    <p:cNvPr id="24" name="TextBox 23">
                      <a:extLst>
                        <a:ext uri="{FF2B5EF4-FFF2-40B4-BE49-F238E27FC236}">
                          <a16:creationId xmlns:a16="http://schemas.microsoft.com/office/drawing/2014/main" id="{F1945596-F0F7-D093-5E36-0392482F540C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833334" y="3105719"/>
                      <a:ext cx="446608" cy="276999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 r="-6757"/>
                      </a:stretch>
                    </a:blipFill>
                    <a:ln w="19050">
                      <a:noFill/>
                    </a:ln>
                  </p:spPr>
                  <p:txBody>
                    <a:bodyPr/>
                    <a:lstStyle/>
                    <a:p>
                      <a:r>
                        <a:rPr lang="fr-FR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83574FC-33E4-37D5-8403-057A812BEBA3}"/>
                  </a:ext>
                </a:extLst>
              </p:cNvPr>
              <p:cNvSpPr txBox="1"/>
              <p:nvPr/>
            </p:nvSpPr>
            <p:spPr>
              <a:xfrm>
                <a:off x="385745" y="5700897"/>
                <a:ext cx="83298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1600" dirty="0"/>
                  <a:t>Corde</a:t>
                </a: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0396A4DF-AA46-B362-6EF6-93AC149BD5FE}"/>
                  </a:ext>
                </a:extLst>
              </p:cNvPr>
              <p:cNvSpPr txBox="1"/>
              <p:nvPr/>
            </p:nvSpPr>
            <p:spPr>
              <a:xfrm>
                <a:off x="7845945" y="5700897"/>
                <a:ext cx="83298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1600" dirty="0"/>
                  <a:t>Son</a:t>
                </a:r>
              </a:p>
            </p:txBody>
          </p:sp>
        </p:grpSp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4B3F6E7F-9ED7-799A-C6AD-763658746D8C}"/>
                </a:ext>
              </a:extLst>
            </p:cNvPr>
            <p:cNvSpPr/>
            <p:nvPr/>
          </p:nvSpPr>
          <p:spPr>
            <a:xfrm>
              <a:off x="1854515" y="5494993"/>
              <a:ext cx="3061111" cy="739127"/>
            </a:xfrm>
            <a:prstGeom prst="roundRect">
              <a:avLst/>
            </a:prstGeom>
            <a:ln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solidFill>
                    <a:schemeClr val="tx1"/>
                  </a:solidFill>
                </a:rPr>
                <a:t>Micro</a:t>
              </a: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7E09AD39-0921-EB4A-1080-583A356887F2}"/>
              </a:ext>
            </a:extLst>
          </p:cNvPr>
          <p:cNvSpPr txBox="1"/>
          <p:nvPr/>
        </p:nvSpPr>
        <p:spPr>
          <a:xfrm>
            <a:off x="4915627" y="6071016"/>
            <a:ext cx="428779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/>
              <a:t>[2] </a:t>
            </a:r>
            <a:r>
              <a:rPr lang="en-GB" sz="1100" dirty="0"/>
              <a:t>Matthew W. Hill, Sorbonne Université Presse</a:t>
            </a:r>
            <a:endParaRPr lang="fr-FR" sz="1100" dirty="0"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28417795-70F9-02E7-96CE-574852CA0F02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600" b="1" dirty="0"/>
              <a:t>Introduction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097FF5D9-EF18-24AF-8AB4-7DAB59DDE237}"/>
              </a:ext>
            </a:extLst>
          </p:cNvPr>
          <p:cNvGrpSpPr/>
          <p:nvPr/>
        </p:nvGrpSpPr>
        <p:grpSpPr>
          <a:xfrm>
            <a:off x="0" y="-4624"/>
            <a:ext cx="9144000" cy="457200"/>
            <a:chOff x="0" y="-4624"/>
            <a:chExt cx="9144000" cy="457200"/>
          </a:xfrm>
          <a:solidFill>
            <a:srgbClr val="4A66AC"/>
          </a:solidFill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354CFB6A-7BE4-336E-497B-88F584AC08BE}"/>
                </a:ext>
              </a:extLst>
            </p:cNvPr>
            <p:cNvSpPr/>
            <p:nvPr/>
          </p:nvSpPr>
          <p:spPr>
            <a:xfrm>
              <a:off x="0" y="-4624"/>
              <a:ext cx="9144000" cy="457200"/>
            </a:xfrm>
            <a:prstGeom prst="rect">
              <a:avLst/>
            </a:prstGeom>
            <a:grpFill/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34" name="Footer Placeholder 2">
              <a:extLst>
                <a:ext uri="{FF2B5EF4-FFF2-40B4-BE49-F238E27FC236}">
                  <a16:creationId xmlns:a16="http://schemas.microsoft.com/office/drawing/2014/main" id="{81FB907C-1F88-1B14-226E-07CDAD186F14}"/>
                </a:ext>
              </a:extLst>
            </p:cNvPr>
            <p:cNvSpPr txBox="1">
              <a:spLocks/>
            </p:cNvSpPr>
            <p:nvPr/>
          </p:nvSpPr>
          <p:spPr>
            <a:xfrm>
              <a:off x="1447764" y="41413"/>
              <a:ext cx="6248472" cy="36512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457200" rtl="0" eaLnBrk="1" latinLnBrk="0" hangingPunct="1">
                <a:defRPr sz="900" kern="1200" cap="all" baseline="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sz="1600" b="1" dirty="0"/>
                <a:t>Introduction</a:t>
              </a:r>
            </a:p>
          </p:txBody>
        </p:sp>
      </p:grp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B61853-FCE9-DA8F-F77F-DBFD494B4C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25FF95-1FEB-A5EE-FCFC-F7BB71FD9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TIPE 39662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B7EDE2C3-3CCE-BE30-6104-A13D47AA6E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425344" y="6459786"/>
            <a:ext cx="984019" cy="365125"/>
          </a:xfrm>
        </p:spPr>
        <p:txBody>
          <a:bodyPr/>
          <a:lstStyle/>
          <a:p>
            <a:fld id="{477F8A04-938D-4CBF-A3DC-6CB925B6FC34}" type="slidenum">
              <a:rPr lang="fr-FR" sz="1400" b="1" smtClean="0"/>
              <a:t>3</a:t>
            </a:fld>
            <a:endParaRPr lang="fr-FR" sz="1400" b="1" dirty="0"/>
          </a:p>
        </p:txBody>
      </p:sp>
    </p:spTree>
    <p:extLst>
      <p:ext uri="{BB962C8B-B14F-4D97-AF65-F5344CB8AC3E}">
        <p14:creationId xmlns:p14="http://schemas.microsoft.com/office/powerpoint/2010/main" val="42831447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4B5C65-7A37-1B90-FBC8-8C517E9FE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5B411610-91CC-1D3E-B007-8E0F6F5EEE2B}"/>
              </a:ext>
            </a:extLst>
          </p:cNvPr>
          <p:cNvSpPr/>
          <p:nvPr/>
        </p:nvSpPr>
        <p:spPr>
          <a:xfrm>
            <a:off x="322686" y="4268850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8A5B9C0-C73A-6300-0522-20EE954AE8FB}"/>
              </a:ext>
            </a:extLst>
          </p:cNvPr>
          <p:cNvSpPr/>
          <p:nvPr/>
        </p:nvSpPr>
        <p:spPr>
          <a:xfrm>
            <a:off x="622219" y="5394738"/>
            <a:ext cx="490254" cy="194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08FB3C2F-F634-79DF-634E-4FB985FD79C3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600" b="1" dirty="0"/>
              <a:t>Introduction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3DAE2E80-E912-D97C-8D4D-D8FA1169D84C}"/>
              </a:ext>
            </a:extLst>
          </p:cNvPr>
          <p:cNvGrpSpPr/>
          <p:nvPr/>
        </p:nvGrpSpPr>
        <p:grpSpPr>
          <a:xfrm>
            <a:off x="330200" y="978128"/>
            <a:ext cx="8498627" cy="4901743"/>
            <a:chOff x="330200" y="1423280"/>
            <a:chExt cx="8498627" cy="4901743"/>
          </a:xfrm>
        </p:grpSpPr>
        <p:pic>
          <p:nvPicPr>
            <p:cNvPr id="6" name="Picture 5" descr="Guitar Pickup Market By Region">
              <a:extLst>
                <a:ext uri="{FF2B5EF4-FFF2-40B4-BE49-F238E27FC236}">
                  <a16:creationId xmlns:a16="http://schemas.microsoft.com/office/drawing/2014/main" id="{6DA00D97-DD6A-62D3-2FEF-6FDA183FC47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701" t="1" r="88" b="1662"/>
            <a:stretch>
              <a:fillRect/>
            </a:stretch>
          </p:blipFill>
          <p:spPr>
            <a:xfrm>
              <a:off x="330200" y="1423280"/>
              <a:ext cx="8498627" cy="4696847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E2E4591E-213D-DD3D-F756-86FF1B6789C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94285" y="5785023"/>
              <a:ext cx="766733" cy="54000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66935B24-D3D4-E1C7-7221-E3E13E203B9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31697" y="5785023"/>
              <a:ext cx="766313" cy="540000"/>
            </a:xfrm>
            <a:prstGeom prst="rect">
              <a:avLst/>
            </a:prstGeom>
          </p:spPr>
        </p:pic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D65A42A2-4676-292B-E960-C64B3D3DE5C5}"/>
                </a:ext>
              </a:extLst>
            </p:cNvPr>
            <p:cNvSpPr/>
            <p:nvPr/>
          </p:nvSpPr>
          <p:spPr>
            <a:xfrm>
              <a:off x="1119987" y="3792511"/>
              <a:ext cx="2627554" cy="1796705"/>
            </a:xfrm>
            <a:prstGeom prst="rect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723B1C9B-ECF9-F287-89FF-67656642FDEC}"/>
                </a:ext>
              </a:extLst>
            </p:cNvPr>
            <p:cNvSpPr txBox="1"/>
            <p:nvPr/>
          </p:nvSpPr>
          <p:spPr>
            <a:xfrm>
              <a:off x="1985724" y="3452852"/>
              <a:ext cx="78593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dirty="0">
                  <a:solidFill>
                    <a:srgbClr val="C00000"/>
                  </a:solidFill>
                  <a:latin typeface="Arial Black" panose="020B0A04020102020204" pitchFamily="34" charset="0"/>
                </a:rPr>
                <a:t>60%</a:t>
              </a:r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45538530-AEDA-8079-4FC7-7FE95B066120}"/>
              </a:ext>
            </a:extLst>
          </p:cNvPr>
          <p:cNvSpPr txBox="1"/>
          <p:nvPr/>
        </p:nvSpPr>
        <p:spPr>
          <a:xfrm>
            <a:off x="1323303" y="4636845"/>
            <a:ext cx="708696" cy="246221"/>
          </a:xfrm>
          <a:prstGeom prst="rect">
            <a:avLst/>
          </a:prstGeom>
          <a:solidFill>
            <a:srgbClr val="014095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solidFill>
                  <a:schemeClr val="bg1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23.9%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ED38844-6458-856C-27C9-4A869A89F20A}"/>
              </a:ext>
            </a:extLst>
          </p:cNvPr>
          <p:cNvSpPr txBox="1"/>
          <p:nvPr/>
        </p:nvSpPr>
        <p:spPr>
          <a:xfrm>
            <a:off x="4427185" y="3007700"/>
            <a:ext cx="708696" cy="246221"/>
          </a:xfrm>
          <a:prstGeom prst="rect">
            <a:avLst/>
          </a:prstGeom>
          <a:solidFill>
            <a:srgbClr val="014095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solidFill>
                  <a:schemeClr val="bg1"/>
                </a:solidFill>
                <a:latin typeface="Arial Black" panose="020B0A04020102020204" pitchFamily="34" charset="0"/>
              </a:rPr>
              <a:t>18.2%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1E00042-FA40-4722-DEE9-BCC43CF6F914}"/>
              </a:ext>
            </a:extLst>
          </p:cNvPr>
          <p:cNvSpPr txBox="1"/>
          <p:nvPr/>
        </p:nvSpPr>
        <p:spPr>
          <a:xfrm>
            <a:off x="5919010" y="2526212"/>
            <a:ext cx="708696" cy="246221"/>
          </a:xfrm>
          <a:prstGeom prst="rect">
            <a:avLst/>
          </a:prstGeom>
          <a:solidFill>
            <a:srgbClr val="014095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solidFill>
                  <a:schemeClr val="bg1"/>
                </a:solidFill>
                <a:latin typeface="Arial Black" panose="020B0A04020102020204" pitchFamily="34" charset="0"/>
              </a:rPr>
              <a:t>13.1%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681727A-1BF8-121E-D477-3D1C7E718221}"/>
              </a:ext>
            </a:extLst>
          </p:cNvPr>
          <p:cNvSpPr txBox="1"/>
          <p:nvPr/>
        </p:nvSpPr>
        <p:spPr>
          <a:xfrm>
            <a:off x="7475333" y="2215950"/>
            <a:ext cx="708696" cy="246221"/>
          </a:xfrm>
          <a:prstGeom prst="rect">
            <a:avLst/>
          </a:prstGeom>
          <a:solidFill>
            <a:srgbClr val="014095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solidFill>
                  <a:schemeClr val="bg1"/>
                </a:solidFill>
                <a:latin typeface="Arial Black" panose="020B0A04020102020204" pitchFamily="34" charset="0"/>
              </a:rPr>
              <a:t>8.7%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E582498-A12E-C1F5-F376-6C09D43F7F49}"/>
              </a:ext>
            </a:extLst>
          </p:cNvPr>
          <p:cNvGrpSpPr/>
          <p:nvPr/>
        </p:nvGrpSpPr>
        <p:grpSpPr>
          <a:xfrm>
            <a:off x="0" y="-4624"/>
            <a:ext cx="9144000" cy="457200"/>
            <a:chOff x="0" y="-4624"/>
            <a:chExt cx="9144000" cy="457200"/>
          </a:xfrm>
          <a:solidFill>
            <a:srgbClr val="4A66AC"/>
          </a:solidFill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6FE9E1E-C8F4-E203-5640-8217B20F5024}"/>
                </a:ext>
              </a:extLst>
            </p:cNvPr>
            <p:cNvSpPr/>
            <p:nvPr/>
          </p:nvSpPr>
          <p:spPr>
            <a:xfrm>
              <a:off x="0" y="-4624"/>
              <a:ext cx="9144000" cy="457200"/>
            </a:xfrm>
            <a:prstGeom prst="rect">
              <a:avLst/>
            </a:prstGeom>
            <a:grpFill/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18" name="Footer Placeholder 2">
              <a:extLst>
                <a:ext uri="{FF2B5EF4-FFF2-40B4-BE49-F238E27FC236}">
                  <a16:creationId xmlns:a16="http://schemas.microsoft.com/office/drawing/2014/main" id="{4468C78C-C5D3-2CC7-D96D-98F1E6CC8C4D}"/>
                </a:ext>
              </a:extLst>
            </p:cNvPr>
            <p:cNvSpPr txBox="1">
              <a:spLocks/>
            </p:cNvSpPr>
            <p:nvPr/>
          </p:nvSpPr>
          <p:spPr>
            <a:xfrm>
              <a:off x="1447764" y="41413"/>
              <a:ext cx="6248472" cy="36512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457200" rtl="0" eaLnBrk="1" latinLnBrk="0" hangingPunct="1">
                <a:defRPr sz="900" kern="1200" cap="all" baseline="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sz="1600" b="1" dirty="0"/>
                <a:t>Introduction</a:t>
              </a:r>
            </a:p>
          </p:txBody>
        </p: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124C715-1FC7-1020-3096-E8C89B6EA2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E2C755-F442-740C-3610-5B4E39BBF131}"/>
              </a:ext>
            </a:extLst>
          </p:cNvPr>
          <p:cNvSpPr txBox="1"/>
          <p:nvPr/>
        </p:nvSpPr>
        <p:spPr>
          <a:xfrm>
            <a:off x="5921829" y="6071016"/>
            <a:ext cx="32815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/>
              <a:t>[1] </a:t>
            </a:r>
            <a:r>
              <a:rPr lang="en-GB" sz="1100" dirty="0" err="1"/>
              <a:t>WiseGuy</a:t>
            </a:r>
            <a:r>
              <a:rPr lang="en-GB" sz="1100" dirty="0"/>
              <a:t> Research Consultants</a:t>
            </a:r>
            <a:endParaRPr lang="fr-FR" sz="1100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4749FD6-7341-29D8-2EFF-027559DD1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TIPE 39662</a:t>
            </a:r>
          </a:p>
        </p:txBody>
      </p:sp>
      <p:sp>
        <p:nvSpPr>
          <p:cNvPr id="8" name="Slide Number Placeholder 2">
            <a:extLst>
              <a:ext uri="{FF2B5EF4-FFF2-40B4-BE49-F238E27FC236}">
                <a16:creationId xmlns:a16="http://schemas.microsoft.com/office/drawing/2014/main" id="{46EC049F-B723-0C3E-A041-0F11D0EA4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425344" y="6459786"/>
            <a:ext cx="984019" cy="365125"/>
          </a:xfrm>
        </p:spPr>
        <p:txBody>
          <a:bodyPr/>
          <a:lstStyle/>
          <a:p>
            <a:fld id="{477F8A04-938D-4CBF-A3DC-6CB925B6FC34}" type="slidenum">
              <a:rPr lang="fr-FR" sz="1400" b="1" smtClean="0"/>
              <a:t>4</a:t>
            </a:fld>
            <a:endParaRPr lang="fr-FR" sz="1400" b="1" dirty="0"/>
          </a:p>
        </p:txBody>
      </p:sp>
    </p:spTree>
    <p:extLst>
      <p:ext uri="{BB962C8B-B14F-4D97-AF65-F5344CB8AC3E}">
        <p14:creationId xmlns:p14="http://schemas.microsoft.com/office/powerpoint/2010/main" val="31837751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BABA01-5E57-F9AD-7FB1-9B31B40EB5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47ABC560-5331-C119-99E8-E7E487C7F79C}"/>
              </a:ext>
            </a:extLst>
          </p:cNvPr>
          <p:cNvSpPr/>
          <p:nvPr/>
        </p:nvSpPr>
        <p:spPr>
          <a:xfrm>
            <a:off x="322686" y="4268850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0360A34-3C0D-7ED1-37AC-A59777E64D3C}"/>
              </a:ext>
            </a:extLst>
          </p:cNvPr>
          <p:cNvSpPr/>
          <p:nvPr/>
        </p:nvSpPr>
        <p:spPr>
          <a:xfrm>
            <a:off x="622219" y="5394738"/>
            <a:ext cx="490254" cy="194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ECCBCFC-B5B7-AE0C-CD83-2301C046DD2B}"/>
              </a:ext>
            </a:extLst>
          </p:cNvPr>
          <p:cNvSpPr/>
          <p:nvPr/>
        </p:nvSpPr>
        <p:spPr>
          <a:xfrm>
            <a:off x="642999" y="5763423"/>
            <a:ext cx="490254" cy="194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27756C83-7AA3-F936-101B-DF3BB74A0CF5}"/>
              </a:ext>
            </a:extLst>
          </p:cNvPr>
          <p:cNvGrpSpPr/>
          <p:nvPr/>
        </p:nvGrpSpPr>
        <p:grpSpPr>
          <a:xfrm>
            <a:off x="642999" y="1268784"/>
            <a:ext cx="7766364" cy="4679896"/>
            <a:chOff x="2391413" y="1278005"/>
            <a:chExt cx="7766364" cy="4679896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CE1B0F9D-8566-0C35-DA3D-12B83B1D5D8F}"/>
                </a:ext>
              </a:extLst>
            </p:cNvPr>
            <p:cNvGrpSpPr/>
            <p:nvPr/>
          </p:nvGrpSpPr>
          <p:grpSpPr>
            <a:xfrm>
              <a:off x="4257048" y="1278005"/>
              <a:ext cx="4556752" cy="4679896"/>
              <a:chOff x="5128260" y="2555821"/>
              <a:chExt cx="3281103" cy="2838917"/>
            </a:xfrm>
          </p:grpSpPr>
          <p:pic>
            <p:nvPicPr>
              <p:cNvPr id="10" name="Picture 9" descr="A blue and white drawing of a square and a rectangle&#10;&#10;AI-generated content may be incorrect.">
                <a:extLst>
                  <a:ext uri="{FF2B5EF4-FFF2-40B4-BE49-F238E27FC236}">
                    <a16:creationId xmlns:a16="http://schemas.microsoft.com/office/drawing/2014/main" id="{35B1D760-66A7-4EF2-06F7-CEB0F740545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 l="17161" r="12491"/>
              <a:stretch>
                <a:fillRect/>
              </a:stretch>
            </p:blipFill>
            <p:spPr>
              <a:xfrm>
                <a:off x="5128260" y="2555821"/>
                <a:ext cx="3281103" cy="2838917"/>
              </a:xfrm>
              <a:prstGeom prst="rect">
                <a:avLst/>
              </a:prstGeom>
            </p:spPr>
          </p:pic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F26B4602-42B8-CD9D-7B5A-B72982226E4D}"/>
                  </a:ext>
                </a:extLst>
              </p:cNvPr>
              <p:cNvSpPr/>
              <p:nvPr/>
            </p:nvSpPr>
            <p:spPr>
              <a:xfrm>
                <a:off x="6606541" y="3415664"/>
                <a:ext cx="308610" cy="26987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pic>
            <p:nvPicPr>
              <p:cNvPr id="1029" name="Picture 1028">
                <a:extLst>
                  <a:ext uri="{FF2B5EF4-FFF2-40B4-BE49-F238E27FC236}">
                    <a16:creationId xmlns:a16="http://schemas.microsoft.com/office/drawing/2014/main" id="{BEE47B49-AC29-0A5B-BE91-5834088C244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ackgroundRemoval t="32494" b="70953" l="13960" r="44675"/>
                        </a14:imgEffect>
                        <a14:imgEffect>
                          <a14:brightnessContrast bright="40000" contrast="-4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0120" t="27687" r="51486" b="24239"/>
              <a:stretch>
                <a:fillRect/>
              </a:stretch>
            </p:blipFill>
            <p:spPr>
              <a:xfrm>
                <a:off x="5513338" y="3130807"/>
                <a:ext cx="2568446" cy="1693612"/>
              </a:xfrm>
              <a:prstGeom prst="rect">
                <a:avLst/>
              </a:prstGeom>
            </p:spPr>
          </p:pic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830357CB-6D07-11C5-8EC3-85C6EB5CB4BF}"/>
                  </a:ext>
                </a:extLst>
              </p:cNvPr>
              <p:cNvSpPr/>
              <p:nvPr/>
            </p:nvSpPr>
            <p:spPr>
              <a:xfrm>
                <a:off x="6704837" y="3200415"/>
                <a:ext cx="103688" cy="87353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1E53688-28E3-395D-70F6-E50EF0BE10AB}"/>
                </a:ext>
              </a:extLst>
            </p:cNvPr>
            <p:cNvSpPr txBox="1"/>
            <p:nvPr/>
          </p:nvSpPr>
          <p:spPr>
            <a:xfrm flipH="1">
              <a:off x="2391413" y="2759586"/>
              <a:ext cx="1453534" cy="276999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fr-FR" sz="1200" dirty="0"/>
                <a:t>Corde</a:t>
              </a:r>
            </a:p>
          </p:txBody>
        </p:sp>
        <p:cxnSp>
          <p:nvCxnSpPr>
            <p:cNvPr id="15" name="Connector: Elbow 14">
              <a:extLst>
                <a:ext uri="{FF2B5EF4-FFF2-40B4-BE49-F238E27FC236}">
                  <a16:creationId xmlns:a16="http://schemas.microsoft.com/office/drawing/2014/main" id="{F181BAC7-2F05-D532-04C6-1C065A8CDC42}"/>
                </a:ext>
              </a:extLst>
            </p:cNvPr>
            <p:cNvCxnSpPr>
              <a:cxnSpLocks/>
              <a:stCxn id="14" idx="0"/>
              <a:endCxn id="12" idx="2"/>
            </p:cNvCxnSpPr>
            <p:nvPr/>
          </p:nvCxnSpPr>
          <p:spPr>
            <a:xfrm rot="5400000" flipH="1" flipV="1">
              <a:off x="4608888" y="921898"/>
              <a:ext cx="346981" cy="3328397"/>
            </a:xfrm>
            <a:prstGeom prst="bentConnector2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89750372-0D76-1A6A-DD9B-C7FF226BC376}"/>
                </a:ext>
              </a:extLst>
            </p:cNvPr>
            <p:cNvSpPr txBox="1"/>
            <p:nvPr/>
          </p:nvSpPr>
          <p:spPr>
            <a:xfrm flipH="1">
              <a:off x="8704243" y="2418439"/>
              <a:ext cx="1453534" cy="276999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fr-FR" sz="1200" dirty="0"/>
                <a:t>Bobine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5CDBB6C-E453-637C-7462-FBC874B60003}"/>
                </a:ext>
              </a:extLst>
            </p:cNvPr>
            <p:cNvSpPr txBox="1"/>
            <p:nvPr/>
          </p:nvSpPr>
          <p:spPr>
            <a:xfrm flipH="1">
              <a:off x="2391413" y="3842342"/>
              <a:ext cx="1453534" cy="276999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fr-FR" sz="1200" dirty="0"/>
                <a:t>Aimant permanent</a:t>
              </a:r>
            </a:p>
          </p:txBody>
        </p:sp>
        <p:cxnSp>
          <p:nvCxnSpPr>
            <p:cNvPr id="28" name="Connector: Elbow 27">
              <a:extLst>
                <a:ext uri="{FF2B5EF4-FFF2-40B4-BE49-F238E27FC236}">
                  <a16:creationId xmlns:a16="http://schemas.microsoft.com/office/drawing/2014/main" id="{11FCA9BF-D568-7FEF-8F3A-CC03ABDECFCE}"/>
                </a:ext>
              </a:extLst>
            </p:cNvPr>
            <p:cNvCxnSpPr>
              <a:cxnSpLocks/>
              <a:stCxn id="20" idx="2"/>
            </p:cNvCxnSpPr>
            <p:nvPr/>
          </p:nvCxnSpPr>
          <p:spPr>
            <a:xfrm rot="5400000">
              <a:off x="7897567" y="1990055"/>
              <a:ext cx="828061" cy="2238826"/>
            </a:xfrm>
            <a:prstGeom prst="bentConnector2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Connector: Elbow 31">
              <a:extLst>
                <a:ext uri="{FF2B5EF4-FFF2-40B4-BE49-F238E27FC236}">
                  <a16:creationId xmlns:a16="http://schemas.microsoft.com/office/drawing/2014/main" id="{BD422936-A5EF-FA57-44E3-7B65B2489857}"/>
                </a:ext>
              </a:extLst>
            </p:cNvPr>
            <p:cNvCxnSpPr>
              <a:cxnSpLocks/>
              <a:stCxn id="22" idx="0"/>
            </p:cNvCxnSpPr>
            <p:nvPr/>
          </p:nvCxnSpPr>
          <p:spPr>
            <a:xfrm rot="5400000" flipH="1" flipV="1">
              <a:off x="4590100" y="1985866"/>
              <a:ext cx="384556" cy="3328396"/>
            </a:xfrm>
            <a:prstGeom prst="bentConnector2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4" name="Picture 2" descr="Free femm 4.2 software download (Windows)">
            <a:extLst>
              <a:ext uri="{FF2B5EF4-FFF2-40B4-BE49-F238E27FC236}">
                <a16:creationId xmlns:a16="http://schemas.microsoft.com/office/drawing/2014/main" id="{7E23C437-0ABF-7719-0798-576ADE154B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87080" y="543153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A8368BD-720D-61CB-9C35-FD2F182B225B}"/>
              </a:ext>
            </a:extLst>
          </p:cNvPr>
          <p:cNvSpPr txBox="1"/>
          <p:nvPr/>
        </p:nvSpPr>
        <p:spPr>
          <a:xfrm>
            <a:off x="5500915" y="6071016"/>
            <a:ext cx="37025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/>
              <a:t>[4] </a:t>
            </a:r>
            <a:r>
              <a:rPr lang="en-GB" sz="1100" dirty="0"/>
              <a:t>S. W. Duncan, "Interview With Seth Lover"</a:t>
            </a:r>
            <a:endParaRPr lang="fr-FR" sz="11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8EFCE6-1325-4661-AA72-4FFBB63CEFF5}"/>
              </a:ext>
            </a:extLst>
          </p:cNvPr>
          <p:cNvSpPr txBox="1"/>
          <p:nvPr/>
        </p:nvSpPr>
        <p:spPr>
          <a:xfrm>
            <a:off x="756758" y="605821"/>
            <a:ext cx="77023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Arial Black" panose="020B0A04020102020204" pitchFamily="34" charset="0"/>
              </a:rPr>
              <a:t>Micro SingleCoil</a:t>
            </a: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94AF7F45-52A3-9483-9C58-D4A5D32B0F49}"/>
              </a:ext>
            </a:extLst>
          </p:cNvPr>
          <p:cNvGrpSpPr/>
          <p:nvPr/>
        </p:nvGrpSpPr>
        <p:grpSpPr>
          <a:xfrm>
            <a:off x="0" y="-4624"/>
            <a:ext cx="9144000" cy="457200"/>
            <a:chOff x="0" y="-4624"/>
            <a:chExt cx="9144000" cy="457200"/>
          </a:xfrm>
          <a:solidFill>
            <a:srgbClr val="4A66AC"/>
          </a:solidFill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93EF40E8-F99F-B462-8250-77A4C4061D83}"/>
                </a:ext>
              </a:extLst>
            </p:cNvPr>
            <p:cNvSpPr/>
            <p:nvPr/>
          </p:nvSpPr>
          <p:spPr>
            <a:xfrm>
              <a:off x="0" y="-4624"/>
              <a:ext cx="9144000" cy="457200"/>
            </a:xfrm>
            <a:prstGeom prst="rect">
              <a:avLst/>
            </a:prstGeom>
            <a:grpFill/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48" name="Footer Placeholder 2">
              <a:extLst>
                <a:ext uri="{FF2B5EF4-FFF2-40B4-BE49-F238E27FC236}">
                  <a16:creationId xmlns:a16="http://schemas.microsoft.com/office/drawing/2014/main" id="{19F03FE6-1C4E-947B-FA91-0A23A23336D8}"/>
                </a:ext>
              </a:extLst>
            </p:cNvPr>
            <p:cNvSpPr txBox="1">
              <a:spLocks/>
            </p:cNvSpPr>
            <p:nvPr/>
          </p:nvSpPr>
          <p:spPr>
            <a:xfrm>
              <a:off x="1447764" y="41413"/>
              <a:ext cx="6248472" cy="36512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457200" rtl="0" eaLnBrk="1" latinLnBrk="0" hangingPunct="1">
                <a:defRPr sz="900" kern="1200" cap="all" baseline="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sz="1600" b="1" dirty="0"/>
                <a:t>Introduction</a:t>
              </a:r>
            </a:p>
          </p:txBody>
        </p: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B4D5B1-9014-DA13-332D-861F4AAD19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210DB0-A6E5-9C62-A429-F39200613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TIPE 39662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7FD8EB-97F7-35B8-C300-7336CE17CC36}"/>
              </a:ext>
            </a:extLst>
          </p:cNvPr>
          <p:cNvSpPr txBox="1"/>
          <p:nvPr/>
        </p:nvSpPr>
        <p:spPr>
          <a:xfrm>
            <a:off x="4570127" y="2991386"/>
            <a:ext cx="392079" cy="369332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  <a:latin typeface="Arial Black" panose="020B0A04020102020204" pitchFamily="34" charset="0"/>
              </a:rPr>
              <a:t>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16C5D8-B656-F7A3-CC83-FC76F4C1E262}"/>
              </a:ext>
            </a:extLst>
          </p:cNvPr>
          <p:cNvSpPr txBox="1"/>
          <p:nvPr/>
        </p:nvSpPr>
        <p:spPr>
          <a:xfrm>
            <a:off x="4570127" y="4222612"/>
            <a:ext cx="392079" cy="369332"/>
          </a:xfrm>
          <a:prstGeom prst="rect">
            <a:avLst/>
          </a:prstGeom>
          <a:solidFill>
            <a:srgbClr val="014095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  <a:latin typeface="Arial Black" panose="020B0A04020102020204" pitchFamily="34" charset="0"/>
              </a:rPr>
              <a:t>S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F05E82A5-EBC8-504A-BD59-F5FAB4888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425344" y="6459786"/>
            <a:ext cx="984019" cy="365125"/>
          </a:xfrm>
        </p:spPr>
        <p:txBody>
          <a:bodyPr/>
          <a:lstStyle/>
          <a:p>
            <a:fld id="{477F8A04-938D-4CBF-A3DC-6CB925B6FC34}" type="slidenum">
              <a:rPr lang="fr-FR" sz="1400" b="1" smtClean="0"/>
              <a:t>5</a:t>
            </a:fld>
            <a:endParaRPr lang="fr-FR" sz="1400" b="1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F154492E-813C-5706-A577-F0D7E77B93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27" r="7227"/>
          <a:stretch/>
        </p:blipFill>
        <p:spPr bwMode="auto">
          <a:xfrm>
            <a:off x="556920" y="517553"/>
            <a:ext cx="1260000" cy="1037332"/>
          </a:xfrm>
          <a:prstGeom prst="rect">
            <a:avLst/>
          </a:prstGeom>
          <a:effectLst>
            <a:softEdge rad="127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277612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9E5CDC-E18A-6821-CC67-B07651DBB4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58092A65-490B-4AC0-8393-01D12A337A0D}"/>
              </a:ext>
            </a:extLst>
          </p:cNvPr>
          <p:cNvSpPr/>
          <p:nvPr/>
        </p:nvSpPr>
        <p:spPr>
          <a:xfrm>
            <a:off x="322686" y="4268850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7637ED1-A8A1-92A6-E436-7B0AE35C232B}"/>
              </a:ext>
            </a:extLst>
          </p:cNvPr>
          <p:cNvSpPr/>
          <p:nvPr/>
        </p:nvSpPr>
        <p:spPr>
          <a:xfrm>
            <a:off x="622219" y="5394738"/>
            <a:ext cx="490254" cy="194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9E39AF3-B671-1A96-D11D-9164EFD8F565}"/>
              </a:ext>
            </a:extLst>
          </p:cNvPr>
          <p:cNvSpPr/>
          <p:nvPr/>
        </p:nvSpPr>
        <p:spPr>
          <a:xfrm>
            <a:off x="642999" y="5763423"/>
            <a:ext cx="490254" cy="194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0E07AC0-394D-84B1-8162-3042EECBDF45}"/>
              </a:ext>
            </a:extLst>
          </p:cNvPr>
          <p:cNvSpPr/>
          <p:nvPr/>
        </p:nvSpPr>
        <p:spPr>
          <a:xfrm>
            <a:off x="622219" y="1351909"/>
            <a:ext cx="490254" cy="194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A35D5EF-60B2-6FAD-3936-D1828DDA27A4}"/>
              </a:ext>
            </a:extLst>
          </p:cNvPr>
          <p:cNvSpPr/>
          <p:nvPr/>
        </p:nvSpPr>
        <p:spPr>
          <a:xfrm>
            <a:off x="642999" y="1720375"/>
            <a:ext cx="490254" cy="194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DDAA9F8-0DCE-F3A1-2774-4F4BB52CB5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18" t="7821" r="16609" b="12129"/>
          <a:stretch>
            <a:fillRect/>
          </a:stretch>
        </p:blipFill>
        <p:spPr>
          <a:xfrm>
            <a:off x="622219" y="954461"/>
            <a:ext cx="7984008" cy="4849713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786814AB-8380-0640-C9A3-B61B1F954501}"/>
              </a:ext>
            </a:extLst>
          </p:cNvPr>
          <p:cNvGrpSpPr/>
          <p:nvPr/>
        </p:nvGrpSpPr>
        <p:grpSpPr>
          <a:xfrm>
            <a:off x="0" y="-4624"/>
            <a:ext cx="9144000" cy="457200"/>
            <a:chOff x="0" y="-4624"/>
            <a:chExt cx="9144000" cy="457200"/>
          </a:xfrm>
          <a:solidFill>
            <a:srgbClr val="4A66AC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CCC6DF1-F332-A203-EE77-C772AC9C18BD}"/>
                </a:ext>
              </a:extLst>
            </p:cNvPr>
            <p:cNvSpPr/>
            <p:nvPr/>
          </p:nvSpPr>
          <p:spPr>
            <a:xfrm>
              <a:off x="0" y="-4624"/>
              <a:ext cx="9144000" cy="457200"/>
            </a:xfrm>
            <a:prstGeom prst="rect">
              <a:avLst/>
            </a:prstGeom>
            <a:grpFill/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13" name="Footer Placeholder 2">
              <a:extLst>
                <a:ext uri="{FF2B5EF4-FFF2-40B4-BE49-F238E27FC236}">
                  <a16:creationId xmlns:a16="http://schemas.microsoft.com/office/drawing/2014/main" id="{97DD3AD4-78A0-831B-7B26-AF4449B0D39C}"/>
                </a:ext>
              </a:extLst>
            </p:cNvPr>
            <p:cNvSpPr txBox="1">
              <a:spLocks/>
            </p:cNvSpPr>
            <p:nvPr/>
          </p:nvSpPr>
          <p:spPr>
            <a:xfrm>
              <a:off x="1447764" y="41413"/>
              <a:ext cx="6248472" cy="36512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457200" rtl="0" eaLnBrk="1" latinLnBrk="0" hangingPunct="1">
                <a:defRPr sz="900" kern="1200" cap="all" baseline="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sz="1600" b="1" dirty="0"/>
                <a:t>Introduction</a:t>
              </a:r>
            </a:p>
          </p:txBody>
        </p: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9DA0D0A-9CE4-B35F-DED9-B8F9D2909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170900-36E2-535F-E2A2-C1BB77EB8900}"/>
              </a:ext>
            </a:extLst>
          </p:cNvPr>
          <p:cNvSpPr txBox="1"/>
          <p:nvPr/>
        </p:nvSpPr>
        <p:spPr>
          <a:xfrm>
            <a:off x="5500915" y="6071016"/>
            <a:ext cx="37025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/>
              <a:t>[4] </a:t>
            </a:r>
            <a:r>
              <a:rPr lang="en-GB" sz="1100" dirty="0"/>
              <a:t>S. W. Duncan, "Interview With Seth Lover"</a:t>
            </a:r>
            <a:endParaRPr lang="fr-FR" sz="1100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BCE46BE-99A1-C396-1439-D5023E5B29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TIPE 39662</a:t>
            </a:r>
          </a:p>
        </p:txBody>
      </p:sp>
      <p:sp>
        <p:nvSpPr>
          <p:cNvPr id="8" name="Slide Number Placeholder 2">
            <a:extLst>
              <a:ext uri="{FF2B5EF4-FFF2-40B4-BE49-F238E27FC236}">
                <a16:creationId xmlns:a16="http://schemas.microsoft.com/office/drawing/2014/main" id="{E414B8C1-87A9-3C45-48CB-A14FD9ABD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425344" y="6459786"/>
            <a:ext cx="984019" cy="365125"/>
          </a:xfrm>
        </p:spPr>
        <p:txBody>
          <a:bodyPr/>
          <a:lstStyle/>
          <a:p>
            <a:fld id="{477F8A04-938D-4CBF-A3DC-6CB925B6FC34}" type="slidenum">
              <a:rPr lang="fr-FR" sz="1400" b="1" smtClean="0"/>
              <a:t>6</a:t>
            </a:fld>
            <a:endParaRPr lang="fr-FR" sz="1400" b="1" dirty="0"/>
          </a:p>
        </p:txBody>
      </p:sp>
    </p:spTree>
    <p:extLst>
      <p:ext uri="{BB962C8B-B14F-4D97-AF65-F5344CB8AC3E}">
        <p14:creationId xmlns:p14="http://schemas.microsoft.com/office/powerpoint/2010/main" val="19195274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9B3F0E-84CD-C391-808C-60FB199D94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9CA72259-54E2-49A4-C520-ECE0702321F5}"/>
              </a:ext>
            </a:extLst>
          </p:cNvPr>
          <p:cNvSpPr/>
          <p:nvPr/>
        </p:nvSpPr>
        <p:spPr>
          <a:xfrm>
            <a:off x="322686" y="4268850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B783AE6-51CF-96D4-FF4F-76A91E4D70CC}"/>
              </a:ext>
            </a:extLst>
          </p:cNvPr>
          <p:cNvSpPr/>
          <p:nvPr/>
        </p:nvSpPr>
        <p:spPr>
          <a:xfrm>
            <a:off x="5953149" y="2713650"/>
            <a:ext cx="428593" cy="4448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E9966DA-65A5-0089-96C5-341C4C44043D}"/>
              </a:ext>
            </a:extLst>
          </p:cNvPr>
          <p:cNvSpPr/>
          <p:nvPr/>
        </p:nvSpPr>
        <p:spPr>
          <a:xfrm>
            <a:off x="7250271" y="2713650"/>
            <a:ext cx="247651" cy="4448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52B7CE4-DCA4-58A6-9A88-29EF0568BDAF}"/>
              </a:ext>
            </a:extLst>
          </p:cNvPr>
          <p:cNvSpPr/>
          <p:nvPr/>
        </p:nvSpPr>
        <p:spPr>
          <a:xfrm>
            <a:off x="5419725" y="2891036"/>
            <a:ext cx="468895" cy="120090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9C2055B-F368-6E9D-0494-ABBA449BB687}"/>
              </a:ext>
            </a:extLst>
          </p:cNvPr>
          <p:cNvGrpSpPr>
            <a:grpSpLocks noChangeAspect="1"/>
          </p:cNvGrpSpPr>
          <p:nvPr/>
        </p:nvGrpSpPr>
        <p:grpSpPr>
          <a:xfrm>
            <a:off x="1592129" y="498613"/>
            <a:ext cx="5952228" cy="5446688"/>
            <a:chOff x="4572000" y="1105567"/>
            <a:chExt cx="4303537" cy="3938025"/>
          </a:xfrm>
        </p:grpSpPr>
        <p:pic>
          <p:nvPicPr>
            <p:cNvPr id="22" name="Picture 21" descr="A drawing of a computer&#10;&#10;AI-generated content may be incorrect.">
              <a:extLst>
                <a:ext uri="{FF2B5EF4-FFF2-40B4-BE49-F238E27FC236}">
                  <a16:creationId xmlns:a16="http://schemas.microsoft.com/office/drawing/2014/main" id="{D940559A-4517-B76C-7191-DBF90D78447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572000" y="1105567"/>
              <a:ext cx="4303537" cy="3938025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84ACEF00-6939-5D0B-A13E-4FE798F62ED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276" t="6786" r="5431" b="11456"/>
            <a:stretch>
              <a:fillRect/>
            </a:stretch>
          </p:blipFill>
          <p:spPr>
            <a:xfrm>
              <a:off x="5043879" y="2370603"/>
              <a:ext cx="3400522" cy="2092725"/>
            </a:xfrm>
            <a:prstGeom prst="rect">
              <a:avLst/>
            </a:prstGeom>
          </p:spPr>
        </p:pic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0A070375-38D7-0425-E55D-0B48FE1180FC}"/>
                </a:ext>
              </a:extLst>
            </p:cNvPr>
            <p:cNvSpPr/>
            <p:nvPr/>
          </p:nvSpPr>
          <p:spPr>
            <a:xfrm>
              <a:off x="4589145" y="2237711"/>
              <a:ext cx="4276317" cy="7881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92B4F244-6F4C-3EAA-965E-76F8DAA7B14C}"/>
              </a:ext>
            </a:extLst>
          </p:cNvPr>
          <p:cNvSpPr txBox="1"/>
          <p:nvPr/>
        </p:nvSpPr>
        <p:spPr>
          <a:xfrm>
            <a:off x="756758" y="605821"/>
            <a:ext cx="77023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Arial Black" panose="020B0A04020102020204" pitchFamily="34" charset="0"/>
              </a:rPr>
              <a:t>Micro Humbucker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E593F41-6F39-361E-0A62-C3B67BE71D93}"/>
              </a:ext>
            </a:extLst>
          </p:cNvPr>
          <p:cNvSpPr txBox="1"/>
          <p:nvPr/>
        </p:nvSpPr>
        <p:spPr>
          <a:xfrm flipH="1">
            <a:off x="162308" y="2219528"/>
            <a:ext cx="1453534" cy="276999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fr-FR" sz="1200" dirty="0"/>
              <a:t>Corde</a:t>
            </a:r>
          </a:p>
        </p:txBody>
      </p:sp>
      <p:cxnSp>
        <p:nvCxnSpPr>
          <p:cNvPr id="38" name="Connector: Elbow 37">
            <a:extLst>
              <a:ext uri="{FF2B5EF4-FFF2-40B4-BE49-F238E27FC236}">
                <a16:creationId xmlns:a16="http://schemas.microsoft.com/office/drawing/2014/main" id="{FF77FEB0-F50B-87D1-B05A-F03C82BDF92D}"/>
              </a:ext>
            </a:extLst>
          </p:cNvPr>
          <p:cNvCxnSpPr>
            <a:cxnSpLocks/>
            <a:stCxn id="37" idx="0"/>
            <a:endCxn id="33" idx="1"/>
          </p:cNvCxnSpPr>
          <p:nvPr/>
        </p:nvCxnSpPr>
        <p:spPr>
          <a:xfrm rot="5400000" flipH="1" flipV="1">
            <a:off x="1202188" y="1805875"/>
            <a:ext cx="100541" cy="726767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6ABADA61-5B9D-A516-A70E-04D7AA645191}"/>
              </a:ext>
            </a:extLst>
          </p:cNvPr>
          <p:cNvSpPr txBox="1"/>
          <p:nvPr/>
        </p:nvSpPr>
        <p:spPr>
          <a:xfrm flipH="1">
            <a:off x="72320" y="3495964"/>
            <a:ext cx="1622577" cy="276999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fr-FR" sz="1200" dirty="0"/>
              <a:t>Aimants permanents</a:t>
            </a:r>
          </a:p>
        </p:txBody>
      </p:sp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01CFDA93-F6CC-0567-B5D1-51470F715D93}"/>
              </a:ext>
            </a:extLst>
          </p:cNvPr>
          <p:cNvCxnSpPr>
            <a:cxnSpLocks/>
            <a:stCxn id="40" idx="0"/>
          </p:cNvCxnSpPr>
          <p:nvPr/>
        </p:nvCxnSpPr>
        <p:spPr>
          <a:xfrm rot="5400000" flipH="1" flipV="1">
            <a:off x="1781112" y="1732008"/>
            <a:ext cx="866453" cy="2661461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5" name="Connector: Elbow 44">
            <a:extLst>
              <a:ext uri="{FF2B5EF4-FFF2-40B4-BE49-F238E27FC236}">
                <a16:creationId xmlns:a16="http://schemas.microsoft.com/office/drawing/2014/main" id="{BAF1B7B9-1C45-C088-4CB0-28717C74BDF2}"/>
              </a:ext>
            </a:extLst>
          </p:cNvPr>
          <p:cNvCxnSpPr>
            <a:cxnSpLocks/>
            <a:stCxn id="40" idx="0"/>
          </p:cNvCxnSpPr>
          <p:nvPr/>
        </p:nvCxnSpPr>
        <p:spPr>
          <a:xfrm rot="5400000" flipH="1" flipV="1">
            <a:off x="2629508" y="976208"/>
            <a:ext cx="773856" cy="4265656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F467D2B5-392A-FE74-4310-84CCCF4527BB}"/>
              </a:ext>
            </a:extLst>
          </p:cNvPr>
          <p:cNvSpPr txBox="1"/>
          <p:nvPr/>
        </p:nvSpPr>
        <p:spPr>
          <a:xfrm flipH="1">
            <a:off x="7447429" y="3364925"/>
            <a:ext cx="1453534" cy="276999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fr-FR" sz="1200" dirty="0"/>
              <a:t>Bobine</a:t>
            </a:r>
          </a:p>
        </p:txBody>
      </p:sp>
      <p:cxnSp>
        <p:nvCxnSpPr>
          <p:cNvPr id="51" name="Connector: Elbow 50">
            <a:extLst>
              <a:ext uri="{FF2B5EF4-FFF2-40B4-BE49-F238E27FC236}">
                <a16:creationId xmlns:a16="http://schemas.microsoft.com/office/drawing/2014/main" id="{279DD24F-CDD7-E624-5F20-C27C82B2FBB1}"/>
              </a:ext>
            </a:extLst>
          </p:cNvPr>
          <p:cNvCxnSpPr>
            <a:cxnSpLocks/>
            <a:stCxn id="50" idx="2"/>
          </p:cNvCxnSpPr>
          <p:nvPr/>
        </p:nvCxnSpPr>
        <p:spPr>
          <a:xfrm rot="5400000">
            <a:off x="7141995" y="2855301"/>
            <a:ext cx="245578" cy="1818825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4" name="Connector: Elbow 53">
            <a:extLst>
              <a:ext uri="{FF2B5EF4-FFF2-40B4-BE49-F238E27FC236}">
                <a16:creationId xmlns:a16="http://schemas.microsoft.com/office/drawing/2014/main" id="{B78FAB7A-9FB1-C9C0-4840-E3A7DD272F73}"/>
              </a:ext>
            </a:extLst>
          </p:cNvPr>
          <p:cNvCxnSpPr>
            <a:cxnSpLocks/>
            <a:stCxn id="50" idx="2"/>
          </p:cNvCxnSpPr>
          <p:nvPr/>
        </p:nvCxnSpPr>
        <p:spPr>
          <a:xfrm rot="5400000">
            <a:off x="6076439" y="1978159"/>
            <a:ext cx="433993" cy="3761523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58" name="Group 57">
            <a:extLst>
              <a:ext uri="{FF2B5EF4-FFF2-40B4-BE49-F238E27FC236}">
                <a16:creationId xmlns:a16="http://schemas.microsoft.com/office/drawing/2014/main" id="{45A6B271-E2D8-B11C-AC3A-41C087E067C3}"/>
              </a:ext>
            </a:extLst>
          </p:cNvPr>
          <p:cNvGrpSpPr/>
          <p:nvPr/>
        </p:nvGrpSpPr>
        <p:grpSpPr>
          <a:xfrm>
            <a:off x="0" y="-4624"/>
            <a:ext cx="9144000" cy="457200"/>
            <a:chOff x="0" y="-4624"/>
            <a:chExt cx="9144000" cy="457200"/>
          </a:xfrm>
          <a:solidFill>
            <a:srgbClr val="4A66AC"/>
          </a:solidFill>
        </p:grpSpPr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116B81DE-CE67-4B5A-3895-DD224A2F4D30}"/>
                </a:ext>
              </a:extLst>
            </p:cNvPr>
            <p:cNvSpPr/>
            <p:nvPr/>
          </p:nvSpPr>
          <p:spPr>
            <a:xfrm>
              <a:off x="0" y="-4624"/>
              <a:ext cx="9144000" cy="457200"/>
            </a:xfrm>
            <a:prstGeom prst="rect">
              <a:avLst/>
            </a:prstGeom>
            <a:grpFill/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60" name="Footer Placeholder 2">
              <a:extLst>
                <a:ext uri="{FF2B5EF4-FFF2-40B4-BE49-F238E27FC236}">
                  <a16:creationId xmlns:a16="http://schemas.microsoft.com/office/drawing/2014/main" id="{ED27BAC7-A23D-18ED-EB0C-C289ED77629D}"/>
                </a:ext>
              </a:extLst>
            </p:cNvPr>
            <p:cNvSpPr txBox="1">
              <a:spLocks/>
            </p:cNvSpPr>
            <p:nvPr/>
          </p:nvSpPr>
          <p:spPr>
            <a:xfrm>
              <a:off x="1447764" y="41413"/>
              <a:ext cx="6248472" cy="36512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457200" rtl="0" eaLnBrk="1" latinLnBrk="0" hangingPunct="1">
                <a:defRPr sz="900" kern="1200" cap="all" baseline="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sz="1600" b="1" dirty="0"/>
                <a:t>Introduction</a:t>
              </a:r>
            </a:p>
          </p:txBody>
        </p: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5FFD95-280A-DA7B-3174-834A58BBF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A031E5-F817-247E-643D-F0D1019CEEBD}"/>
              </a:ext>
            </a:extLst>
          </p:cNvPr>
          <p:cNvSpPr txBox="1"/>
          <p:nvPr/>
        </p:nvSpPr>
        <p:spPr>
          <a:xfrm>
            <a:off x="5500915" y="6071016"/>
            <a:ext cx="37025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/>
              <a:t>[4] </a:t>
            </a:r>
            <a:r>
              <a:rPr lang="en-GB" sz="1100" dirty="0"/>
              <a:t>S. W. Duncan, "Interview With Seth Lover"</a:t>
            </a:r>
            <a:endParaRPr lang="fr-FR" sz="110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190AA6-1EE8-EF08-E227-88553644B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TIPE 39662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A4CCC4F-5C65-DD91-8A61-17E888BB2326}"/>
              </a:ext>
            </a:extLst>
          </p:cNvPr>
          <p:cNvSpPr txBox="1"/>
          <p:nvPr/>
        </p:nvSpPr>
        <p:spPr>
          <a:xfrm>
            <a:off x="3545069" y="2778610"/>
            <a:ext cx="392079" cy="369332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  <a:latin typeface="Arial Black" panose="020B0A04020102020204" pitchFamily="34" charset="0"/>
              </a:rPr>
              <a:t>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61E1A32-81FA-D10B-F3D8-BD7081109444}"/>
              </a:ext>
            </a:extLst>
          </p:cNvPr>
          <p:cNvSpPr txBox="1"/>
          <p:nvPr/>
        </p:nvSpPr>
        <p:spPr>
          <a:xfrm>
            <a:off x="5195699" y="2782495"/>
            <a:ext cx="392079" cy="369332"/>
          </a:xfrm>
          <a:prstGeom prst="rect">
            <a:avLst/>
          </a:prstGeom>
          <a:solidFill>
            <a:srgbClr val="014095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  <a:latin typeface="Arial Black" panose="020B0A04020102020204" pitchFamily="34" charset="0"/>
              </a:rPr>
              <a:t>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0D83196-DCA2-B166-452A-75A892D29BD8}"/>
              </a:ext>
            </a:extLst>
          </p:cNvPr>
          <p:cNvSpPr txBox="1"/>
          <p:nvPr/>
        </p:nvSpPr>
        <p:spPr>
          <a:xfrm>
            <a:off x="5195698" y="4320785"/>
            <a:ext cx="392079" cy="369332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  <a:latin typeface="Arial Black" panose="020B0A04020102020204" pitchFamily="34" charset="0"/>
              </a:rPr>
              <a:t>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031F120-E518-5CCD-6BEA-2B95E2C97550}"/>
              </a:ext>
            </a:extLst>
          </p:cNvPr>
          <p:cNvSpPr txBox="1"/>
          <p:nvPr/>
        </p:nvSpPr>
        <p:spPr>
          <a:xfrm>
            <a:off x="3545069" y="4317910"/>
            <a:ext cx="392079" cy="369332"/>
          </a:xfrm>
          <a:prstGeom prst="rect">
            <a:avLst/>
          </a:prstGeom>
          <a:solidFill>
            <a:srgbClr val="014095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  <a:latin typeface="Arial Black" panose="020B0A04020102020204" pitchFamily="34" charset="0"/>
              </a:rPr>
              <a:t>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2F1BF78-7771-183F-5E10-7EAB30E10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425344" y="6459786"/>
            <a:ext cx="984019" cy="365125"/>
          </a:xfrm>
        </p:spPr>
        <p:txBody>
          <a:bodyPr/>
          <a:lstStyle/>
          <a:p>
            <a:fld id="{477F8A04-938D-4CBF-A3DC-6CB925B6FC34}" type="slidenum">
              <a:rPr lang="fr-FR" sz="1400" b="1" smtClean="0"/>
              <a:t>7</a:t>
            </a:fld>
            <a:endParaRPr lang="fr-FR" sz="1400" b="1" dirty="0"/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F361DA7D-3E77-57F3-D00B-30AF85B8CB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23" r="6123"/>
          <a:stretch/>
        </p:blipFill>
        <p:spPr bwMode="auto">
          <a:xfrm>
            <a:off x="556920" y="527318"/>
            <a:ext cx="1260000" cy="101178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2" descr="Free femm 4.2 software download (Windows)">
            <a:extLst>
              <a:ext uri="{FF2B5EF4-FFF2-40B4-BE49-F238E27FC236}">
                <a16:creationId xmlns:a16="http://schemas.microsoft.com/office/drawing/2014/main" id="{7E7337E8-045B-F730-06E8-1B07E3C603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87080" y="543153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08643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DF0D54-FAC9-FCA9-394E-7B3DE258D7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960F02AB-D7B2-21C7-8CF3-B0397A4CD4A9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Loi d’induction de faraday : Le fonctionnement d’une guitare électrique</a:t>
            </a:r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3D1F8F13-01D1-BC37-8265-087B65EA5B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961" y="1666551"/>
            <a:ext cx="7425344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2000" dirty="0"/>
              <a:t>Dans quelle mesure </a:t>
            </a:r>
            <a:r>
              <a:rPr lang="fr-FR" sz="2000" b="1" dirty="0"/>
              <a:t>l'ajout d'une seconde bobine </a:t>
            </a:r>
          </a:p>
          <a:p>
            <a:pPr lvl="0"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2000" dirty="0"/>
              <a:t>permet-il </a:t>
            </a:r>
            <a:r>
              <a:rPr lang="fr-FR" sz="2000" b="1" dirty="0"/>
              <a:t>d'éliminer les parasites </a:t>
            </a:r>
            <a:r>
              <a:rPr lang="fr-FR" sz="2000" dirty="0"/>
              <a:t>?</a:t>
            </a:r>
          </a:p>
          <a:p>
            <a:pPr lvl="0"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2000" dirty="0"/>
              <a:t>Comment cela impacte-t-il </a:t>
            </a:r>
            <a:r>
              <a:rPr lang="fr-FR" sz="2000" b="1" dirty="0"/>
              <a:t>la richesse du son </a:t>
            </a:r>
            <a:r>
              <a:rPr lang="fr-FR" sz="2000" dirty="0"/>
              <a:t>?</a:t>
            </a:r>
            <a:endParaRPr kumimoji="0" lang="fr-FR" altLang="fr-FR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D982658-753F-B2E5-001D-310CC260A660}"/>
              </a:ext>
            </a:extLst>
          </p:cNvPr>
          <p:cNvSpPr txBox="1"/>
          <p:nvPr/>
        </p:nvSpPr>
        <p:spPr>
          <a:xfrm>
            <a:off x="2802834" y="3896190"/>
            <a:ext cx="35383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/>
              <a:t>Sommaire :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C0ABA61-984D-B447-A033-A6A7FFDC69D9}"/>
              </a:ext>
            </a:extLst>
          </p:cNvPr>
          <p:cNvGrpSpPr/>
          <p:nvPr/>
        </p:nvGrpSpPr>
        <p:grpSpPr>
          <a:xfrm>
            <a:off x="0" y="-4624"/>
            <a:ext cx="9144000" cy="457200"/>
            <a:chOff x="0" y="-4624"/>
            <a:chExt cx="9144000" cy="457200"/>
          </a:xfrm>
          <a:solidFill>
            <a:srgbClr val="4A66AC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0C140FC-790F-04FC-AC3A-83A9A1BB822F}"/>
                </a:ext>
              </a:extLst>
            </p:cNvPr>
            <p:cNvSpPr/>
            <p:nvPr/>
          </p:nvSpPr>
          <p:spPr>
            <a:xfrm>
              <a:off x="0" y="-4624"/>
              <a:ext cx="9144000" cy="457200"/>
            </a:xfrm>
            <a:prstGeom prst="rect">
              <a:avLst/>
            </a:prstGeom>
            <a:grpFill/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14" name="Footer Placeholder 2">
              <a:extLst>
                <a:ext uri="{FF2B5EF4-FFF2-40B4-BE49-F238E27FC236}">
                  <a16:creationId xmlns:a16="http://schemas.microsoft.com/office/drawing/2014/main" id="{47852B36-A24B-2C71-7860-E989BB6DD960}"/>
                </a:ext>
              </a:extLst>
            </p:cNvPr>
            <p:cNvSpPr txBox="1">
              <a:spLocks/>
            </p:cNvSpPr>
            <p:nvPr/>
          </p:nvSpPr>
          <p:spPr>
            <a:xfrm>
              <a:off x="1447764" y="41413"/>
              <a:ext cx="6248472" cy="36512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457200" rtl="0" eaLnBrk="1" latinLnBrk="0" hangingPunct="1">
                <a:defRPr sz="900" kern="1200" cap="all" baseline="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sz="1600" b="1" dirty="0"/>
                <a:t>Introduction</a:t>
              </a:r>
            </a:p>
          </p:txBody>
        </p: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96FA17-6035-14D8-CA98-C35920B88B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670AC2D-7072-3959-CB0B-9F8876177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TIPE 39662</a:t>
            </a:r>
          </a:p>
        </p:txBody>
      </p:sp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3D97407F-6104-F5BB-6541-7F3AFD5FC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425344" y="6459786"/>
            <a:ext cx="984019" cy="365125"/>
          </a:xfrm>
        </p:spPr>
        <p:txBody>
          <a:bodyPr/>
          <a:lstStyle/>
          <a:p>
            <a:fld id="{477F8A04-938D-4CBF-A3DC-6CB925B6FC34}" type="slidenum">
              <a:rPr lang="fr-FR" sz="1400" b="1" smtClean="0"/>
              <a:t>8</a:t>
            </a:fld>
            <a:endParaRPr lang="fr-FR" sz="1400" b="1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EEC9287-4771-2C76-EF81-1887B1756CCD}"/>
              </a:ext>
            </a:extLst>
          </p:cNvPr>
          <p:cNvSpPr txBox="1">
            <a:spLocks/>
          </p:cNvSpPr>
          <p:nvPr/>
        </p:nvSpPr>
        <p:spPr>
          <a:xfrm>
            <a:off x="822961" y="4488869"/>
            <a:ext cx="7586402" cy="162790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 sz="2400" kern="1200" cap="all" spc="20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0050" indent="-40005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romanUcPeriod"/>
            </a:pPr>
            <a:r>
              <a:rPr lang="fr-FR" sz="1600" dirty="0">
                <a:solidFill>
                  <a:schemeClr val="tx1"/>
                </a:solidFill>
                <a:latin typeface="Arial Black" panose="020B0A04020102020204" pitchFamily="34" charset="0"/>
              </a:rPr>
              <a:t>Filtrage électrique interne</a:t>
            </a:r>
          </a:p>
          <a:p>
            <a:pPr marL="400050" indent="-40005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romanUcPeriod"/>
            </a:pPr>
            <a:endParaRPr lang="fr-FR" sz="1600" dirty="0">
              <a:solidFill>
                <a:schemeClr val="tx1"/>
              </a:solidFill>
              <a:latin typeface="Arial Black" panose="020B0A04020102020204" pitchFamily="34" charset="0"/>
            </a:endParaRPr>
          </a:p>
          <a:p>
            <a:pPr marL="400050" indent="-40005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romanUcPeriod"/>
            </a:pPr>
            <a:r>
              <a:rPr lang="fr-FR" sz="1600" dirty="0">
                <a:solidFill>
                  <a:schemeClr val="tx1"/>
                </a:solidFill>
                <a:latin typeface="Arial Black" panose="020B0A04020102020204" pitchFamily="34" charset="0"/>
              </a:rPr>
              <a:t>Induction et filtrage spatial</a:t>
            </a:r>
          </a:p>
          <a:p>
            <a:pPr marL="400050" indent="-40005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romanUcPeriod"/>
            </a:pPr>
            <a:endParaRPr lang="fr-FR" sz="1600" dirty="0">
              <a:solidFill>
                <a:schemeClr val="tx1"/>
              </a:solidFill>
            </a:endParaRPr>
          </a:p>
          <a:p>
            <a:pPr marL="400050" indent="-40005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romanUcPeriod"/>
            </a:pPr>
            <a:r>
              <a:rPr lang="fr-FR" sz="1600" dirty="0">
                <a:solidFill>
                  <a:schemeClr val="tx1"/>
                </a:solidFill>
                <a:latin typeface="Arial Black" panose="020B0A04020102020204" pitchFamily="34" charset="0"/>
              </a:rPr>
              <a:t>Réduction du bourdonnement</a:t>
            </a:r>
          </a:p>
        </p:txBody>
      </p:sp>
    </p:spTree>
    <p:extLst>
      <p:ext uri="{BB962C8B-B14F-4D97-AF65-F5344CB8AC3E}">
        <p14:creationId xmlns:p14="http://schemas.microsoft.com/office/powerpoint/2010/main" val="718063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E170DF-C183-6295-4303-D3CF9E220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3C4B8770-573B-C831-FFA0-861520C1811C}"/>
              </a:ext>
            </a:extLst>
          </p:cNvPr>
          <p:cNvSpPr/>
          <p:nvPr/>
        </p:nvSpPr>
        <p:spPr>
          <a:xfrm>
            <a:off x="326174" y="1202288"/>
            <a:ext cx="2779881" cy="4189988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fr-FR" b="1" dirty="0">
                <a:solidFill>
                  <a:schemeClr val="tx1"/>
                </a:solidFill>
              </a:rPr>
              <a:t>Hypothèses</a:t>
            </a:r>
          </a:p>
          <a:p>
            <a:pPr algn="ctr"/>
            <a:endParaRPr lang="fr-FR" b="1" dirty="0">
              <a:solidFill>
                <a:schemeClr val="tx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dirty="0">
                <a:solidFill>
                  <a:schemeClr val="tx1"/>
                </a:solidFill>
              </a:rPr>
              <a:t>Symétrie parfaite des bobinages</a:t>
            </a:r>
          </a:p>
          <a:p>
            <a:endParaRPr lang="fr-FR" dirty="0">
              <a:solidFill>
                <a:schemeClr val="tx1"/>
              </a:solidFill>
            </a:endParaRPr>
          </a:p>
          <a:p>
            <a:endParaRPr lang="fr-FR" dirty="0">
              <a:solidFill>
                <a:schemeClr val="tx1"/>
              </a:solidFill>
            </a:endParaRPr>
          </a:p>
          <a:p>
            <a:pPr algn="ctr"/>
            <a:r>
              <a:rPr lang="fr-FR" b="1" dirty="0">
                <a:solidFill>
                  <a:schemeClr val="tx1"/>
                </a:solidFill>
              </a:rPr>
              <a:t>Conséquences</a:t>
            </a:r>
          </a:p>
          <a:p>
            <a:pPr algn="ctr"/>
            <a:endParaRPr lang="fr-FR" b="1" dirty="0">
              <a:solidFill>
                <a:schemeClr val="tx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dirty="0">
                <a:solidFill>
                  <a:schemeClr val="tx1"/>
                </a:solidFill>
              </a:rPr>
              <a:t>Schéma équivalent identique peu importe le montage</a:t>
            </a:r>
          </a:p>
          <a:p>
            <a:pPr algn="ctr"/>
            <a:endParaRPr lang="fr-FR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E7F45E-CD1D-2164-9701-C1A6AFEEDF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2961" y="6459786"/>
            <a:ext cx="1854203" cy="365125"/>
          </a:xfrm>
        </p:spPr>
        <p:txBody>
          <a:bodyPr/>
          <a:lstStyle/>
          <a:p>
            <a:r>
              <a:rPr lang="fr-FR"/>
              <a:t>2026</a:t>
            </a:r>
            <a:endParaRPr lang="fr-FR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4AC62C1-232D-7788-1243-02E35FDD8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</p:spPr>
        <p:txBody>
          <a:bodyPr/>
          <a:lstStyle/>
          <a:p>
            <a:r>
              <a:rPr lang="fr-FR" dirty="0"/>
              <a:t>TIPE 39662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31D84D8-D07A-452D-142A-2CD131E7DD05}"/>
              </a:ext>
            </a:extLst>
          </p:cNvPr>
          <p:cNvSpPr txBox="1"/>
          <p:nvPr/>
        </p:nvSpPr>
        <p:spPr>
          <a:xfrm>
            <a:off x="3353555" y="5050200"/>
            <a:ext cx="49063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u="sng" dirty="0"/>
              <a:t>Interprétation :</a:t>
            </a:r>
            <a:r>
              <a:rPr lang="fr-FR" sz="1600" b="1" dirty="0"/>
              <a:t> </a:t>
            </a:r>
            <a:r>
              <a:rPr lang="fr-FR" sz="1600" dirty="0"/>
              <a:t>Filtrage passe-bas du 2</a:t>
            </a:r>
            <a:r>
              <a:rPr lang="fr-FR" sz="1600" baseline="30000" dirty="0"/>
              <a:t>nd</a:t>
            </a:r>
            <a:r>
              <a:rPr lang="fr-FR" sz="1600" dirty="0"/>
              <a:t> Ordre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90734A4-CBE8-4C4A-910C-9F7CCDD83A63}"/>
              </a:ext>
            </a:extLst>
          </p:cNvPr>
          <p:cNvSpPr txBox="1"/>
          <p:nvPr/>
        </p:nvSpPr>
        <p:spPr>
          <a:xfrm>
            <a:off x="6241143" y="6071016"/>
            <a:ext cx="296227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/>
              <a:t>[5] </a:t>
            </a:r>
            <a:r>
              <a:rPr lang="en-GB" sz="1100" dirty="0"/>
              <a:t>Dan Carson, University of Illinois</a:t>
            </a:r>
            <a:endParaRPr lang="fr-FR" sz="1100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5724E380-E400-02D9-9B4F-DC6873BCB190}"/>
              </a:ext>
            </a:extLst>
          </p:cNvPr>
          <p:cNvGrpSpPr/>
          <p:nvPr/>
        </p:nvGrpSpPr>
        <p:grpSpPr>
          <a:xfrm>
            <a:off x="0" y="-4624"/>
            <a:ext cx="9144000" cy="457200"/>
            <a:chOff x="0" y="-4624"/>
            <a:chExt cx="9144000" cy="457200"/>
          </a:xfrm>
          <a:solidFill>
            <a:srgbClr val="4A66AC"/>
          </a:solidFill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63CB2540-958A-8C94-57AA-27887906B7EF}"/>
                </a:ext>
              </a:extLst>
            </p:cNvPr>
            <p:cNvSpPr/>
            <p:nvPr/>
          </p:nvSpPr>
          <p:spPr>
            <a:xfrm>
              <a:off x="0" y="-4624"/>
              <a:ext cx="9144000" cy="457200"/>
            </a:xfrm>
            <a:prstGeom prst="rect">
              <a:avLst/>
            </a:prstGeom>
            <a:grpFill/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33" name="Footer Placeholder 2">
              <a:extLst>
                <a:ext uri="{FF2B5EF4-FFF2-40B4-BE49-F238E27FC236}">
                  <a16:creationId xmlns:a16="http://schemas.microsoft.com/office/drawing/2014/main" id="{C2B128A9-5235-454F-1106-72738D1505F4}"/>
                </a:ext>
              </a:extLst>
            </p:cNvPr>
            <p:cNvSpPr txBox="1">
              <a:spLocks/>
            </p:cNvSpPr>
            <p:nvPr/>
          </p:nvSpPr>
          <p:spPr>
            <a:xfrm>
              <a:off x="1447764" y="41413"/>
              <a:ext cx="6248472" cy="36512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457200" rtl="0" eaLnBrk="1" latinLnBrk="0" hangingPunct="1">
                <a:defRPr sz="900" kern="1200" cap="all" baseline="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fr-FR" dirty="0"/>
            </a:p>
          </p:txBody>
        </p:sp>
      </p:grpSp>
      <p:graphicFrame>
        <p:nvGraphicFramePr>
          <p:cNvPr id="34" name="Table 33">
            <a:extLst>
              <a:ext uri="{FF2B5EF4-FFF2-40B4-BE49-F238E27FC236}">
                <a16:creationId xmlns:a16="http://schemas.microsoft.com/office/drawing/2014/main" id="{F024D89A-CA89-BBFD-E6D0-5A9B3DEAC26C}"/>
              </a:ext>
            </a:extLst>
          </p:cNvPr>
          <p:cNvGraphicFramePr>
            <a:graphicFrameLocks noGrp="1"/>
          </p:cNvGraphicFramePr>
          <p:nvPr/>
        </p:nvGraphicFramePr>
        <p:xfrm>
          <a:off x="326176" y="41413"/>
          <a:ext cx="856351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4504">
                  <a:extLst>
                    <a:ext uri="{9D8B030D-6E8A-4147-A177-3AD203B41FA5}">
                      <a16:colId xmlns:a16="http://schemas.microsoft.com/office/drawing/2014/main" val="1619084455"/>
                    </a:ext>
                  </a:extLst>
                </a:gridCol>
                <a:gridCol w="2854504">
                  <a:extLst>
                    <a:ext uri="{9D8B030D-6E8A-4147-A177-3AD203B41FA5}">
                      <a16:colId xmlns:a16="http://schemas.microsoft.com/office/drawing/2014/main" val="13699801"/>
                    </a:ext>
                  </a:extLst>
                </a:gridCol>
                <a:gridCol w="2854504">
                  <a:extLst>
                    <a:ext uri="{9D8B030D-6E8A-4147-A177-3AD203B41FA5}">
                      <a16:colId xmlns:a16="http://schemas.microsoft.com/office/drawing/2014/main" val="29905955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1700" dirty="0">
                          <a:solidFill>
                            <a:schemeClr val="bg1"/>
                          </a:solidFill>
                        </a:rPr>
                        <a:t>Filtrage électrique interne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b="0" dirty="0">
                          <a:solidFill>
                            <a:schemeClr val="bg1"/>
                          </a:solidFill>
                        </a:rPr>
                        <a:t>Induction et filtrage spatial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b="0" dirty="0">
                          <a:solidFill>
                            <a:schemeClr val="bg1"/>
                          </a:solidFill>
                        </a:rPr>
                        <a:t>Reduction du bourdonnement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6456716"/>
                  </a:ext>
                </a:extLst>
              </a:tr>
            </a:tbl>
          </a:graphicData>
        </a:graphic>
      </p:graphicFrame>
      <p:sp>
        <p:nvSpPr>
          <p:cNvPr id="41" name="Footer Placeholder 2">
            <a:extLst>
              <a:ext uri="{FF2B5EF4-FFF2-40B4-BE49-F238E27FC236}">
                <a16:creationId xmlns:a16="http://schemas.microsoft.com/office/drawing/2014/main" id="{ABD457B7-BD9A-9D40-E8CC-DC7DE0DF59E8}"/>
              </a:ext>
            </a:extLst>
          </p:cNvPr>
          <p:cNvSpPr txBox="1">
            <a:spLocks/>
          </p:cNvSpPr>
          <p:nvPr/>
        </p:nvSpPr>
        <p:spPr>
          <a:xfrm>
            <a:off x="15096" y="6335178"/>
            <a:ext cx="9144000" cy="63096"/>
          </a:xfrm>
          <a:prstGeom prst="rect">
            <a:avLst/>
          </a:prstGeom>
          <a:solidFill>
            <a:srgbClr val="4A66AC"/>
          </a:solidFill>
          <a:ln>
            <a:noFill/>
          </a:ln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dirty="0"/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D4F3B522-0042-98CF-348C-D6321DB40BBF}"/>
              </a:ext>
            </a:extLst>
          </p:cNvPr>
          <p:cNvSpPr txBox="1">
            <a:spLocks/>
          </p:cNvSpPr>
          <p:nvPr/>
        </p:nvSpPr>
        <p:spPr>
          <a:xfrm>
            <a:off x="3137564" y="542454"/>
            <a:ext cx="2899064" cy="4453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1900" dirty="0">
                <a:solidFill>
                  <a:schemeClr val="tx1"/>
                </a:solidFill>
                <a:latin typeface="Arial Black" panose="020B0A04020102020204" pitchFamily="34" charset="0"/>
              </a:rPr>
              <a:t>THEORIE</a:t>
            </a:r>
            <a:endParaRPr lang="fr-FR" sz="1900" dirty="0">
              <a:solidFill>
                <a:schemeClr val="tx1"/>
              </a:solidFill>
            </a:endParaRPr>
          </a:p>
        </p:txBody>
      </p:sp>
      <p:sp>
        <p:nvSpPr>
          <p:cNvPr id="30" name="Slide Number Placeholder 2">
            <a:extLst>
              <a:ext uri="{FF2B5EF4-FFF2-40B4-BE49-F238E27FC236}">
                <a16:creationId xmlns:a16="http://schemas.microsoft.com/office/drawing/2014/main" id="{8686E06C-61F4-DB46-F230-CE883897D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425344" y="6459786"/>
            <a:ext cx="984019" cy="365125"/>
          </a:xfrm>
        </p:spPr>
        <p:txBody>
          <a:bodyPr/>
          <a:lstStyle/>
          <a:p>
            <a:fld id="{477F8A04-938D-4CBF-A3DC-6CB925B6FC34}" type="slidenum">
              <a:rPr lang="fr-FR" sz="1400" b="1" smtClean="0"/>
              <a:t>9</a:t>
            </a:fld>
            <a:endParaRPr lang="fr-FR" sz="1400" b="1" dirty="0"/>
          </a:p>
        </p:txBody>
      </p:sp>
      <p:pic>
        <p:nvPicPr>
          <p:cNvPr id="40" name="Picture 39" descr="Projects and products | Open CASCADE Technology">
            <a:extLst>
              <a:ext uri="{FF2B5EF4-FFF2-40B4-BE49-F238E27FC236}">
                <a16:creationId xmlns:a16="http://schemas.microsoft.com/office/drawing/2014/main" id="{AD9C3F1F-5B42-9258-4D58-4DB0DBB6BA1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180" r="20676"/>
          <a:stretch>
            <a:fillRect/>
          </a:stretch>
        </p:blipFill>
        <p:spPr>
          <a:xfrm>
            <a:off x="8111317" y="525374"/>
            <a:ext cx="934658" cy="360000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67898889-B1A9-29F4-1012-B5D676534141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5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2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353555" y="1202288"/>
            <a:ext cx="5464271" cy="343675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1502A36-DF3E-BE68-A0FD-82BD38E88D13}"/>
                  </a:ext>
                </a:extLst>
              </p:cNvPr>
              <p:cNvSpPr txBox="1"/>
              <p:nvPr/>
            </p:nvSpPr>
            <p:spPr>
              <a:xfrm>
                <a:off x="4797348" y="4085188"/>
                <a:ext cx="2887589" cy="768352"/>
              </a:xfrm>
              <a:prstGeom prst="rect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fr-FR" sz="12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fr-FR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fr-FR" sz="12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fr-FR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p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  <m: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</m:den>
                          </m:f>
                        </m:num>
                        <m:den>
                          <m:r>
                            <a:rPr lang="fr-FR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 + </m:t>
                          </m:r>
                          <m:f>
                            <m:fPr>
                              <m:ctrlP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sz="120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  <m: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  <m: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</m:den>
                          </m:f>
                          <m:r>
                            <m:rPr>
                              <m:sty m:val="p"/>
                            </m:rPr>
                            <a:rPr lang="fr-FR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p</m:t>
                          </m:r>
                          <m:r>
                            <a:rPr lang="fr-FR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+ </m:t>
                          </m:r>
                          <m:f>
                            <m:fPr>
                              <m:ctrlP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𝐿𝐶</m:t>
                              </m:r>
                              <m:sSub>
                                <m:sSubPr>
                                  <m:ctrlP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  <m: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</m:den>
                          </m:f>
                          <m:r>
                            <m:rPr>
                              <m:sty m:val="p"/>
                            </m:rPr>
                            <a:rPr lang="fr-FR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p</m:t>
                          </m:r>
                          <m:r>
                            <a:rPr lang="fr-FR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²</m:t>
                          </m:r>
                        </m:den>
                      </m:f>
                      <m:r>
                        <a:rPr lang="fr-FR" sz="12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fr-FR" sz="12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1502A36-DF3E-BE68-A0FD-82BD38E88D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7348" y="4085188"/>
                <a:ext cx="2887589" cy="76835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19050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712760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95095B-CBBF-28A8-4ECB-2036D2BA32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1C319EB6-D050-8DBB-4112-2E3F1B093E10}"/>
              </a:ext>
            </a:extLst>
          </p:cNvPr>
          <p:cNvGrpSpPr/>
          <p:nvPr/>
        </p:nvGrpSpPr>
        <p:grpSpPr>
          <a:xfrm>
            <a:off x="0" y="-4624"/>
            <a:ext cx="9144000" cy="457200"/>
            <a:chOff x="0" y="-4624"/>
            <a:chExt cx="9144000" cy="457200"/>
          </a:xfrm>
          <a:solidFill>
            <a:srgbClr val="4A66AC"/>
          </a:solidFill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2BC0D67-2425-4D0E-3776-899C928CB415}"/>
                </a:ext>
              </a:extLst>
            </p:cNvPr>
            <p:cNvSpPr/>
            <p:nvPr/>
          </p:nvSpPr>
          <p:spPr>
            <a:xfrm>
              <a:off x="0" y="-4624"/>
              <a:ext cx="9144000" cy="457200"/>
            </a:xfrm>
            <a:prstGeom prst="rect">
              <a:avLst/>
            </a:prstGeom>
            <a:grpFill/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23" name="Footer Placeholder 2">
              <a:extLst>
                <a:ext uri="{FF2B5EF4-FFF2-40B4-BE49-F238E27FC236}">
                  <a16:creationId xmlns:a16="http://schemas.microsoft.com/office/drawing/2014/main" id="{5C8F3993-2355-171A-9FBE-F8EA50A5C356}"/>
                </a:ext>
              </a:extLst>
            </p:cNvPr>
            <p:cNvSpPr txBox="1">
              <a:spLocks/>
            </p:cNvSpPr>
            <p:nvPr/>
          </p:nvSpPr>
          <p:spPr>
            <a:xfrm>
              <a:off x="1447764" y="41413"/>
              <a:ext cx="6248472" cy="36512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457200" rtl="0" eaLnBrk="1" latinLnBrk="0" hangingPunct="1">
                <a:defRPr sz="900" kern="1200" cap="all" baseline="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fr-FR" dirty="0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A3C174FD-251E-6617-96DC-59EDC4D1886E}"/>
              </a:ext>
            </a:extLst>
          </p:cNvPr>
          <p:cNvSpPr/>
          <p:nvPr/>
        </p:nvSpPr>
        <p:spPr>
          <a:xfrm>
            <a:off x="326443" y="423275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: Rounded Corners 25">
                <a:extLst>
                  <a:ext uri="{FF2B5EF4-FFF2-40B4-BE49-F238E27FC236}">
                    <a16:creationId xmlns:a16="http://schemas.microsoft.com/office/drawing/2014/main" id="{AAC0E1E9-9630-1795-4D01-63EDE489C412}"/>
                  </a:ext>
                </a:extLst>
              </p:cNvPr>
              <p:cNvSpPr/>
              <p:nvPr/>
            </p:nvSpPr>
            <p:spPr>
              <a:xfrm>
                <a:off x="329334" y="1202288"/>
                <a:ext cx="3533931" cy="2309783"/>
              </a:xfrm>
              <a:prstGeom prst="roundRect">
                <a:avLst/>
              </a:prstGeom>
              <a:solidFill>
                <a:schemeClr val="accent4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fr-FR" sz="1600" b="1" dirty="0">
                    <a:solidFill>
                      <a:schemeClr val="tx1"/>
                    </a:solidFill>
                  </a:rPr>
                  <a:t>Protocole</a:t>
                </a:r>
              </a:p>
              <a:p>
                <a:r>
                  <a:rPr lang="fr-FR" sz="1600" b="1" u="sng" dirty="0">
                    <a:solidFill>
                      <a:schemeClr val="tx1"/>
                    </a:solidFill>
                  </a:rPr>
                  <a:t>Objectif :</a:t>
                </a:r>
              </a:p>
              <a:p>
                <a:r>
                  <a:rPr lang="fr-FR" sz="1400" dirty="0">
                    <a:solidFill>
                      <a:schemeClr val="tx1"/>
                    </a:solidFill>
                  </a:rPr>
                  <a:t>Déterminer l’impédance du micro en fonction de la fréquence</a:t>
                </a:r>
              </a:p>
              <a:p>
                <a:endParaRPr lang="fr-FR" sz="800" b="1" u="sng" dirty="0">
                  <a:solidFill>
                    <a:schemeClr val="tx1"/>
                  </a:solidFill>
                </a:endParaRPr>
              </a:p>
              <a:p>
                <a:r>
                  <a:rPr lang="fr-FR" sz="1600" b="1" u="sng" dirty="0">
                    <a:solidFill>
                      <a:schemeClr val="tx1"/>
                    </a:solidFill>
                  </a:rPr>
                  <a:t>Méthode :</a:t>
                </a:r>
              </a:p>
              <a:p>
                <a:r>
                  <a:rPr lang="fr-FR" sz="1400" dirty="0">
                    <a:solidFill>
                      <a:schemeClr val="tx1"/>
                    </a:solidFill>
                  </a:rPr>
                  <a:t>Pont diviseur de tension : </a:t>
                </a:r>
                <a14:m>
                  <m:oMath xmlns:m="http://schemas.openxmlformats.org/officeDocument/2006/math">
                    <m:r>
                      <a:rPr lang="fr-FR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lang="fr-FR" sz="1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f>
                      <m:fPr>
                        <m:ctrlPr>
                          <a:rPr lang="fr-FR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num>
                      <m:den>
                        <m:r>
                          <a:rPr lang="fr-FR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fr-FR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+ </m:t>
                        </m:r>
                        <m:r>
                          <a:rPr lang="fr-FR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den>
                    </m:f>
                    <m:r>
                      <a:rPr lang="fr-FR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endParaRPr lang="fr-FR" sz="1200" b="0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fr-FR" sz="1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𝒁</m:t>
                      </m:r>
                      <m:r>
                        <a:rPr lang="fr-FR" sz="1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| =</m:t>
                      </m:r>
                      <m:f>
                        <m:fPr>
                          <m:ctrlPr>
                            <a:rPr lang="fr-FR" sz="1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𝑽𝑹</m:t>
                          </m:r>
                        </m:num>
                        <m:den>
                          <m:r>
                            <a:rPr lang="fr-FR" sz="1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𝑼</m:t>
                          </m:r>
                          <m:r>
                            <a:rPr lang="fr-FR" sz="1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fr-FR" sz="1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𝑽</m:t>
                          </m:r>
                        </m:den>
                      </m:f>
                    </m:oMath>
                  </m:oMathPara>
                </a14:m>
                <a:endParaRPr lang="fr-FR" sz="140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" name="Rectangle: Rounded Corners 25">
                <a:extLst>
                  <a:ext uri="{FF2B5EF4-FFF2-40B4-BE49-F238E27FC236}">
                    <a16:creationId xmlns:a16="http://schemas.microsoft.com/office/drawing/2014/main" id="{AAC0E1E9-9630-1795-4D01-63EDE489C41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334" y="1202288"/>
                <a:ext cx="3533931" cy="2309783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>
            <a:extLst>
              <a:ext uri="{FF2B5EF4-FFF2-40B4-BE49-F238E27FC236}">
                <a16:creationId xmlns:a16="http://schemas.microsoft.com/office/drawing/2014/main" id="{A3A675C6-213A-E88E-59F1-7172A68963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79" b="79"/>
          <a:stretch/>
        </p:blipFill>
        <p:spPr>
          <a:xfrm>
            <a:off x="3975817" y="1187775"/>
            <a:ext cx="4913871" cy="4906153"/>
          </a:xfrm>
          <a:prstGeom prst="rect">
            <a:avLst/>
          </a:prstGeom>
          <a:effectLst>
            <a:softEdge rad="31750"/>
          </a:effectLst>
        </p:spPr>
      </p:pic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BCD795CE-C17B-8143-0B6D-604D6D299D4D}"/>
              </a:ext>
            </a:extLst>
          </p:cNvPr>
          <p:cNvCxnSpPr>
            <a:cxnSpLocks/>
          </p:cNvCxnSpPr>
          <p:nvPr/>
        </p:nvCxnSpPr>
        <p:spPr>
          <a:xfrm rot="5400000">
            <a:off x="4407269" y="3273293"/>
            <a:ext cx="230192" cy="735119"/>
          </a:xfrm>
          <a:prstGeom prst="bentConnector2">
            <a:avLst/>
          </a:prstGeom>
          <a:ln w="38100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0A638B-D00C-84A5-7F3F-9DEF548B3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dirty="0"/>
              <a:t>2026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4FF317D-0E3D-2149-FF14-7FB5BF57A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TIPE 39662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4468B502-C852-DA7A-06E1-C9E1DD295A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3863694"/>
              </p:ext>
            </p:extLst>
          </p:nvPr>
        </p:nvGraphicFramePr>
        <p:xfrm>
          <a:off x="326176" y="41413"/>
          <a:ext cx="856351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4504">
                  <a:extLst>
                    <a:ext uri="{9D8B030D-6E8A-4147-A177-3AD203B41FA5}">
                      <a16:colId xmlns:a16="http://schemas.microsoft.com/office/drawing/2014/main" val="1619084455"/>
                    </a:ext>
                  </a:extLst>
                </a:gridCol>
                <a:gridCol w="2854504">
                  <a:extLst>
                    <a:ext uri="{9D8B030D-6E8A-4147-A177-3AD203B41FA5}">
                      <a16:colId xmlns:a16="http://schemas.microsoft.com/office/drawing/2014/main" val="13699801"/>
                    </a:ext>
                  </a:extLst>
                </a:gridCol>
                <a:gridCol w="2854504">
                  <a:extLst>
                    <a:ext uri="{9D8B030D-6E8A-4147-A177-3AD203B41FA5}">
                      <a16:colId xmlns:a16="http://schemas.microsoft.com/office/drawing/2014/main" val="29905955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1700" dirty="0">
                          <a:solidFill>
                            <a:schemeClr val="bg1"/>
                          </a:solidFill>
                        </a:rPr>
                        <a:t>Filtrage électrique interne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b="0" dirty="0">
                          <a:solidFill>
                            <a:schemeClr val="bg1"/>
                          </a:solidFill>
                        </a:rPr>
                        <a:t>Induction et filtrage spatial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b="0" dirty="0">
                          <a:solidFill>
                            <a:schemeClr val="bg1"/>
                          </a:solidFill>
                        </a:rPr>
                        <a:t>Reduction du bourdonnement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6456716"/>
                  </a:ext>
                </a:extLst>
              </a:tr>
            </a:tbl>
          </a:graphicData>
        </a:graphic>
      </p:graphicFrame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3AB365AE-8582-AF86-8AE4-7690CDAE4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425344" y="6459786"/>
            <a:ext cx="984019" cy="365125"/>
          </a:xfrm>
        </p:spPr>
        <p:txBody>
          <a:bodyPr/>
          <a:lstStyle/>
          <a:p>
            <a:fld id="{477F8A04-938D-4CBF-A3DC-6CB925B6FC34}" type="slidenum">
              <a:rPr lang="fr-FR" sz="1400" b="1" smtClean="0"/>
              <a:t>10</a:t>
            </a:fld>
            <a:endParaRPr lang="fr-FR" sz="1400" b="1" dirty="0"/>
          </a:p>
        </p:txBody>
      </p:sp>
      <p:cxnSp>
        <p:nvCxnSpPr>
          <p:cNvPr id="55" name="Connector: Elbow 54">
            <a:extLst>
              <a:ext uri="{FF2B5EF4-FFF2-40B4-BE49-F238E27FC236}">
                <a16:creationId xmlns:a16="http://schemas.microsoft.com/office/drawing/2014/main" id="{3E02DBE5-6DB0-1AAF-91F1-849CDD773B81}"/>
              </a:ext>
            </a:extLst>
          </p:cNvPr>
          <p:cNvCxnSpPr>
            <a:cxnSpLocks/>
          </p:cNvCxnSpPr>
          <p:nvPr/>
        </p:nvCxnSpPr>
        <p:spPr>
          <a:xfrm flipV="1">
            <a:off x="4642718" y="3737466"/>
            <a:ext cx="3151248" cy="354714"/>
          </a:xfrm>
          <a:prstGeom prst="bentConnector3">
            <a:avLst>
              <a:gd name="adj1" fmla="val 99890"/>
            </a:avLst>
          </a:prstGeom>
          <a:ln w="38100">
            <a:solidFill>
              <a:srgbClr val="4A66A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1">
            <a:extLst>
              <a:ext uri="{FF2B5EF4-FFF2-40B4-BE49-F238E27FC236}">
                <a16:creationId xmlns:a16="http://schemas.microsoft.com/office/drawing/2014/main" id="{159EB506-5CA6-10DC-1561-DFDEFE9D4584}"/>
              </a:ext>
            </a:extLst>
          </p:cNvPr>
          <p:cNvSpPr txBox="1">
            <a:spLocks/>
          </p:cNvSpPr>
          <p:nvPr/>
        </p:nvSpPr>
        <p:spPr>
          <a:xfrm>
            <a:off x="3137564" y="578739"/>
            <a:ext cx="2899064" cy="4453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7500" lnSpcReduction="2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2800" dirty="0">
                <a:solidFill>
                  <a:schemeClr val="tx1"/>
                </a:solidFill>
                <a:latin typeface="Arial Black" panose="020B0A04020102020204" pitchFamily="34" charset="0"/>
              </a:rPr>
              <a:t>EXPERIMENTATION</a:t>
            </a:r>
            <a:endParaRPr lang="fr-FR" sz="28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27EE6B7-DAEB-9C3D-2C72-7EF6622A98CB}"/>
              </a:ext>
            </a:extLst>
          </p:cNvPr>
          <p:cNvPicPr>
            <a:picLocks noChangeAspect="1"/>
          </p:cNvPicPr>
          <p:nvPr/>
        </p:nvPicPr>
        <p:blipFill>
          <a:blip r:embed="rId5">
            <a:biLevel thresh="50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30601" y="3640851"/>
            <a:ext cx="3111766" cy="2449203"/>
          </a:xfrm>
          <a:prstGeom prst="rect">
            <a:avLst/>
          </a:prstGeom>
        </p:spPr>
      </p:pic>
      <p:pic>
        <p:nvPicPr>
          <p:cNvPr id="9" name="Picture 8" descr="Projects and products | Open CASCADE Technology">
            <a:extLst>
              <a:ext uri="{FF2B5EF4-FFF2-40B4-BE49-F238E27FC236}">
                <a16:creationId xmlns:a16="http://schemas.microsoft.com/office/drawing/2014/main" id="{317D818C-DF3F-D52C-9FD6-77C9A22A2981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9180" r="20676"/>
          <a:stretch>
            <a:fillRect/>
          </a:stretch>
        </p:blipFill>
        <p:spPr>
          <a:xfrm>
            <a:off x="8111317" y="525374"/>
            <a:ext cx="934658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89846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D018B5-54AA-3079-566C-736CFE787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A35CE00B-FC79-81FF-86A6-285CABA510BD}"/>
              </a:ext>
            </a:extLst>
          </p:cNvPr>
          <p:cNvSpPr/>
          <p:nvPr/>
        </p:nvSpPr>
        <p:spPr>
          <a:xfrm>
            <a:off x="449950" y="424704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09DDD954-4CB1-5C4D-D33E-CFAF6AFEA11C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Loi d’induction de faraday : Le fonctionnement d’une guitare électrique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: Rounded Corners 29">
                <a:extLst>
                  <a:ext uri="{FF2B5EF4-FFF2-40B4-BE49-F238E27FC236}">
                    <a16:creationId xmlns:a16="http://schemas.microsoft.com/office/drawing/2014/main" id="{71496738-E437-E224-56B5-217CBA7F5329}"/>
                  </a:ext>
                </a:extLst>
              </p:cNvPr>
              <p:cNvSpPr/>
              <p:nvPr/>
            </p:nvSpPr>
            <p:spPr>
              <a:xfrm>
                <a:off x="5459695" y="1085287"/>
                <a:ext cx="3499012" cy="1943015"/>
              </a:xfrm>
              <a:prstGeom prst="roundRect">
                <a:avLst/>
              </a:prstGeom>
              <a:solidFill>
                <a:schemeClr val="accent4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fr-FR" sz="1600" b="1" dirty="0">
                    <a:solidFill>
                      <a:schemeClr val="tx1"/>
                    </a:solidFill>
                  </a:rPr>
                  <a:t>Méthode</a:t>
                </a:r>
                <a:endParaRPr lang="fr-FR" sz="1400" b="1" dirty="0">
                  <a:solidFill>
                    <a:schemeClr val="tx1"/>
                  </a:solidFill>
                </a:endParaRPr>
              </a:p>
              <a:p>
                <a:r>
                  <a:rPr lang="fr-FR" sz="1600" b="1" u="sng" dirty="0">
                    <a:solidFill>
                      <a:schemeClr val="tx1"/>
                    </a:solidFill>
                  </a:rPr>
                  <a:t>Déterminer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600" b="1" i="1" u="sng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fr-FR" sz="1600" b="1" i="1" u="sng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fr-FR" sz="1600" b="1" i="1" u="sng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sub>
                    </m:sSub>
                  </m:oMath>
                </a14:m>
                <a:r>
                  <a:rPr lang="fr-FR" sz="1600" b="1" u="sng" dirty="0">
                    <a:solidFill>
                      <a:schemeClr val="tx1"/>
                    </a:solidFill>
                  </a:rPr>
                  <a:t>:</a:t>
                </a:r>
              </a:p>
              <a:p>
                <a:r>
                  <a:rPr lang="fr-FR" sz="1400" dirty="0">
                    <a:solidFill>
                      <a:schemeClr val="tx1"/>
                    </a:solidFill>
                  </a:rPr>
                  <a:t>Avec un Ohmmètre</a:t>
                </a:r>
              </a:p>
              <a:p>
                <a:r>
                  <a:rPr lang="fr-FR" sz="1400" dirty="0">
                    <a:solidFill>
                      <a:schemeClr val="tx1"/>
                    </a:solidFill>
                  </a:rPr>
                  <a:t> </a:t>
                </a:r>
              </a:p>
              <a:p>
                <a:r>
                  <a:rPr lang="fr-FR" sz="1600" b="1" u="sng" dirty="0">
                    <a:solidFill>
                      <a:schemeClr val="tx1"/>
                    </a:solidFill>
                  </a:rPr>
                  <a:t>Determiner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FR" sz="1600" b="1" i="1" u="sng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L</m:t>
                    </m:r>
                  </m:oMath>
                </a14:m>
                <a:r>
                  <a:rPr lang="fr-FR" sz="1600" b="1" u="sng" dirty="0">
                    <a:solidFill>
                      <a:schemeClr val="tx1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FR" sz="1600" b="1" i="1" u="sng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C</m:t>
                    </m:r>
                  </m:oMath>
                </a14:m>
                <a:r>
                  <a:rPr lang="fr-FR" sz="1600" b="1" u="sng" dirty="0">
                    <a:solidFill>
                      <a:schemeClr val="tx1"/>
                    </a:solidFill>
                  </a:rPr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600" b="1" i="1" u="sng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fr-FR" sz="1600" b="1" i="1" u="sng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fr-FR" sz="1600" b="1" i="1" u="sng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sub>
                    </m:sSub>
                  </m:oMath>
                </a14:m>
                <a:r>
                  <a:rPr lang="fr-FR" sz="1600" b="1" u="sng" dirty="0">
                    <a:solidFill>
                      <a:schemeClr val="tx1"/>
                    </a:solidFill>
                  </a:rPr>
                  <a:t>:</a:t>
                </a:r>
              </a:p>
              <a:p>
                <a:r>
                  <a:rPr lang="fr-FR" sz="1400" dirty="0">
                    <a:solidFill>
                      <a:schemeClr val="tx1"/>
                    </a:solidFill>
                  </a:rPr>
                  <a:t>Approximation numérique via les </a:t>
                </a:r>
                <a:r>
                  <a:rPr lang="fr-FR" sz="1400" b="1" dirty="0">
                    <a:solidFill>
                      <a:schemeClr val="tx1"/>
                    </a:solidFill>
                  </a:rPr>
                  <a:t>moindres carrés.</a:t>
                </a:r>
                <a:endParaRPr lang="fr-FR" sz="1400" u="sng" dirty="0"/>
              </a:p>
            </p:txBody>
          </p:sp>
        </mc:Choice>
        <mc:Fallback xmlns="">
          <p:sp>
            <p:nvSpPr>
              <p:cNvPr id="30" name="Rectangle: Rounded Corners 29">
                <a:extLst>
                  <a:ext uri="{FF2B5EF4-FFF2-40B4-BE49-F238E27FC236}">
                    <a16:creationId xmlns:a16="http://schemas.microsoft.com/office/drawing/2014/main" id="{71496738-E437-E224-56B5-217CBA7F532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9695" y="1085287"/>
                <a:ext cx="3499012" cy="1943015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>
            <a:extLst>
              <a:ext uri="{FF2B5EF4-FFF2-40B4-BE49-F238E27FC236}">
                <a16:creationId xmlns:a16="http://schemas.microsoft.com/office/drawing/2014/main" id="{AA0507F6-1CAF-6D7E-A062-151372E24A2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6477" y="1085287"/>
            <a:ext cx="4907928" cy="4089940"/>
          </a:xfrm>
          <a:prstGeom prst="rect">
            <a:avLst/>
          </a:prstGeom>
          <a:ln cap="rnd">
            <a:solidFill>
              <a:schemeClr val="bg1"/>
            </a:solidFill>
          </a:ln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631B521F-AFDC-D9C5-028E-C5CB3D8FDF44}"/>
              </a:ext>
            </a:extLst>
          </p:cNvPr>
          <p:cNvGrpSpPr/>
          <p:nvPr/>
        </p:nvGrpSpPr>
        <p:grpSpPr>
          <a:xfrm>
            <a:off x="0" y="-4624"/>
            <a:ext cx="9144000" cy="457200"/>
            <a:chOff x="0" y="-4624"/>
            <a:chExt cx="9144000" cy="457200"/>
          </a:xfrm>
          <a:solidFill>
            <a:srgbClr val="4A66AC"/>
          </a:solidFill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794F355-A446-D356-7486-C332C08027A0}"/>
                </a:ext>
              </a:extLst>
            </p:cNvPr>
            <p:cNvSpPr/>
            <p:nvPr/>
          </p:nvSpPr>
          <p:spPr>
            <a:xfrm>
              <a:off x="0" y="-4624"/>
              <a:ext cx="9144000" cy="457200"/>
            </a:xfrm>
            <a:prstGeom prst="rect">
              <a:avLst/>
            </a:prstGeom>
            <a:grpFill/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0" name="Footer Placeholder 2">
              <a:extLst>
                <a:ext uri="{FF2B5EF4-FFF2-40B4-BE49-F238E27FC236}">
                  <a16:creationId xmlns:a16="http://schemas.microsoft.com/office/drawing/2014/main" id="{8D546518-E475-76BF-FDD7-AAAC59D808E5}"/>
                </a:ext>
              </a:extLst>
            </p:cNvPr>
            <p:cNvSpPr txBox="1">
              <a:spLocks/>
            </p:cNvSpPr>
            <p:nvPr/>
          </p:nvSpPr>
          <p:spPr>
            <a:xfrm>
              <a:off x="1447764" y="41413"/>
              <a:ext cx="6248472" cy="36512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457200" rtl="0" eaLnBrk="1" latinLnBrk="0" hangingPunct="1">
                <a:defRPr sz="900" kern="1200" cap="all" baseline="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fr-FR" dirty="0"/>
            </a:p>
          </p:txBody>
        </p:sp>
      </p:grp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CF6CC7-C2A9-D2EB-0FC4-A98DAEFFDC33}"/>
              </a:ext>
            </a:extLst>
          </p:cNvPr>
          <p:cNvSpPr/>
          <p:nvPr/>
        </p:nvSpPr>
        <p:spPr>
          <a:xfrm>
            <a:off x="5459695" y="3111285"/>
            <a:ext cx="3499012" cy="3005167"/>
          </a:xfrm>
          <a:prstGeom prst="round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fr-FR" sz="1600" b="1" dirty="0">
                <a:solidFill>
                  <a:schemeClr val="tx1"/>
                </a:solidFill>
              </a:rPr>
              <a:t>Mesures</a:t>
            </a:r>
            <a:endParaRPr lang="fr-FR" sz="1400" b="1" dirty="0">
              <a:solidFill>
                <a:schemeClr val="tx1"/>
              </a:solidFill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5DB194F1-0075-78A8-D900-8165D3AE9C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0577736"/>
              </p:ext>
            </p:extLst>
          </p:nvPr>
        </p:nvGraphicFramePr>
        <p:xfrm>
          <a:off x="5559081" y="3550080"/>
          <a:ext cx="3323180" cy="2335395"/>
        </p:xfrm>
        <a:graphic>
          <a:graphicData uri="http://schemas.openxmlformats.org/drawingml/2006/table">
            <a:tbl>
              <a:tblPr firstRow="1" firstCol="1" bandRow="1">
                <a:tableStyleId>{3B4B98B0-60AC-42C2-AFA5-B58CD77FA1E5}</a:tableStyleId>
              </a:tblPr>
              <a:tblGrid>
                <a:gridCol w="830795">
                  <a:extLst>
                    <a:ext uri="{9D8B030D-6E8A-4147-A177-3AD203B41FA5}">
                      <a16:colId xmlns:a16="http://schemas.microsoft.com/office/drawing/2014/main" val="887859225"/>
                    </a:ext>
                  </a:extLst>
                </a:gridCol>
                <a:gridCol w="830795">
                  <a:extLst>
                    <a:ext uri="{9D8B030D-6E8A-4147-A177-3AD203B41FA5}">
                      <a16:colId xmlns:a16="http://schemas.microsoft.com/office/drawing/2014/main" val="2798946589"/>
                    </a:ext>
                  </a:extLst>
                </a:gridCol>
                <a:gridCol w="830795">
                  <a:extLst>
                    <a:ext uri="{9D8B030D-6E8A-4147-A177-3AD203B41FA5}">
                      <a16:colId xmlns:a16="http://schemas.microsoft.com/office/drawing/2014/main" val="3812795422"/>
                    </a:ext>
                  </a:extLst>
                </a:gridCol>
                <a:gridCol w="830795">
                  <a:extLst>
                    <a:ext uri="{9D8B030D-6E8A-4147-A177-3AD203B41FA5}">
                      <a16:colId xmlns:a16="http://schemas.microsoft.com/office/drawing/2014/main" val="3496875843"/>
                    </a:ext>
                  </a:extLst>
                </a:gridCol>
              </a:tblGrid>
              <a:tr h="467079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9147041"/>
                  </a:ext>
                </a:extLst>
              </a:tr>
              <a:tr h="467079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5,26</a:t>
                      </a:r>
                      <a:endParaRPr lang="fr-FR" i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4,52</a:t>
                      </a:r>
                      <a:endParaRPr lang="fr-FR" i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15,10</a:t>
                      </a:r>
                      <a:endParaRPr lang="fr-FR" i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385096"/>
                  </a:ext>
                </a:extLst>
              </a:tr>
              <a:tr h="467079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2,37</a:t>
                      </a:r>
                      <a:endParaRPr lang="fr-FR" i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1,72</a:t>
                      </a:r>
                      <a:endParaRPr lang="fr-FR" i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4,60</a:t>
                      </a:r>
                      <a:endParaRPr lang="fr-FR" i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4796117"/>
                  </a:ext>
                </a:extLst>
              </a:tr>
              <a:tr h="467079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370</a:t>
                      </a:r>
                      <a:endParaRPr lang="fr-FR" i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50</a:t>
                      </a:r>
                      <a:endParaRPr lang="fr-FR" i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110</a:t>
                      </a:r>
                      <a:endParaRPr lang="fr-FR" i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2633905"/>
                  </a:ext>
                </a:extLst>
              </a:tr>
              <a:tr h="467079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492,3</a:t>
                      </a:r>
                      <a:endParaRPr lang="fr-FR" i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343,0</a:t>
                      </a:r>
                      <a:endParaRPr lang="fr-FR" i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1053</a:t>
                      </a:r>
                      <a:endParaRPr lang="fr-FR" i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69429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6C2966F-DA0E-A129-4604-4CAF4E34FA65}"/>
                  </a:ext>
                </a:extLst>
              </p:cNvPr>
              <p:cNvSpPr txBox="1"/>
              <p:nvPr/>
            </p:nvSpPr>
            <p:spPr>
              <a:xfrm>
                <a:off x="5576403" y="4084397"/>
                <a:ext cx="79765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fr-FR" b="0" i="1" smtClean="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fr-FR" b="0" i="1" smtClean="0">
                              <a:latin typeface="Cambria Math" panose="02040503050406030204" pitchFamily="18" charset="0"/>
                            </a:rPr>
                            <m:t>s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[</m:t>
                      </m:r>
                      <m:r>
                        <m:rPr>
                          <m:sty m:val="p"/>
                        </m:rPr>
                        <a:rPr lang="fr-FR" b="0" i="1" smtClean="0">
                          <a:latin typeface="Cambria Math" panose="02040503050406030204" pitchFamily="18" charset="0"/>
                        </a:rPr>
                        <m:t>kΩ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6C2966F-DA0E-A129-4604-4CAF4E34FA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6403" y="4084397"/>
                <a:ext cx="797654" cy="276999"/>
              </a:xfrm>
              <a:prstGeom prst="rect">
                <a:avLst/>
              </a:prstGeom>
              <a:blipFill>
                <a:blip r:embed="rId5"/>
                <a:stretch>
                  <a:fillRect l="-6107" r="-9924" b="-4222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2F0483B-5D7F-BD8A-75FC-E3EF369CF5E4}"/>
                  </a:ext>
                </a:extLst>
              </p:cNvPr>
              <p:cNvSpPr txBox="1"/>
              <p:nvPr/>
            </p:nvSpPr>
            <p:spPr>
              <a:xfrm>
                <a:off x="5576403" y="4580964"/>
                <a:ext cx="55784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fr-FR" b="0" i="1" smtClean="0">
                          <a:latin typeface="Cambria Math" panose="02040503050406030204" pitchFamily="18" charset="0"/>
                        </a:rPr>
                        <m:t>L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[</m:t>
                      </m:r>
                      <m:r>
                        <m:rPr>
                          <m:sty m:val="p"/>
                        </m:rPr>
                        <a:rPr lang="fr-FR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2F0483B-5D7F-BD8A-75FC-E3EF369CF5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6403" y="4580964"/>
                <a:ext cx="557845" cy="276999"/>
              </a:xfrm>
              <a:prstGeom prst="rect">
                <a:avLst/>
              </a:prstGeom>
              <a:blipFill>
                <a:blip r:embed="rId6"/>
                <a:stretch>
                  <a:fillRect l="-8791" r="-14286" b="-3913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756B1CA-1069-0FB7-1585-C66FE7279A00}"/>
                  </a:ext>
                </a:extLst>
              </p:cNvPr>
              <p:cNvSpPr txBox="1"/>
              <p:nvPr/>
            </p:nvSpPr>
            <p:spPr>
              <a:xfrm>
                <a:off x="5576403" y="5024340"/>
                <a:ext cx="65723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fr-FR" b="0" i="1" smtClean="0">
                          <a:latin typeface="Cambria Math" panose="02040503050406030204" pitchFamily="18" charset="0"/>
                        </a:rPr>
                        <m:t>C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[</m:t>
                      </m:r>
                      <m:r>
                        <m:rPr>
                          <m:sty m:val="p"/>
                        </m:rPr>
                        <a:rPr lang="fr-FR" b="0" i="1" smtClean="0">
                          <a:latin typeface="Cambria Math" panose="02040503050406030204" pitchFamily="18" charset="0"/>
                        </a:rPr>
                        <m:t>pF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756B1CA-1069-0FB7-1585-C66FE7279A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6403" y="5024340"/>
                <a:ext cx="657231" cy="276999"/>
              </a:xfrm>
              <a:prstGeom prst="rect">
                <a:avLst/>
              </a:prstGeom>
              <a:blipFill>
                <a:blip r:embed="rId7"/>
                <a:stretch>
                  <a:fillRect l="-7407" r="-11111" b="-3913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7F54E78-8366-A42C-287C-7D6E1E1C9F62}"/>
                  </a:ext>
                </a:extLst>
              </p:cNvPr>
              <p:cNvSpPr txBox="1"/>
              <p:nvPr/>
            </p:nvSpPr>
            <p:spPr>
              <a:xfrm>
                <a:off x="5576403" y="5498154"/>
                <a:ext cx="821700" cy="30168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fr-FR" b="0" i="1" smtClean="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fr-FR" b="0" i="1" smtClean="0">
                              <a:latin typeface="Cambria Math" panose="02040503050406030204" pitchFamily="18" charset="0"/>
                            </a:rPr>
                            <m:t>p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[</m:t>
                      </m:r>
                      <m:r>
                        <m:rPr>
                          <m:sty m:val="p"/>
                        </m:rPr>
                        <a:rPr lang="fr-FR" b="0" i="1" smtClean="0">
                          <a:latin typeface="Cambria Math" panose="02040503050406030204" pitchFamily="18" charset="0"/>
                        </a:rPr>
                        <m:t>kΩ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7F54E78-8366-A42C-287C-7D6E1E1C9F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6403" y="5498154"/>
                <a:ext cx="821700" cy="301686"/>
              </a:xfrm>
              <a:prstGeom prst="rect">
                <a:avLst/>
              </a:prstGeom>
              <a:blipFill>
                <a:blip r:embed="rId8"/>
                <a:stretch>
                  <a:fillRect l="-5926" t="-2041" r="-9630" b="-2857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2" name="Picture 31">
            <a:extLst>
              <a:ext uri="{FF2B5EF4-FFF2-40B4-BE49-F238E27FC236}">
                <a16:creationId xmlns:a16="http://schemas.microsoft.com/office/drawing/2014/main" id="{84EAD3AE-C225-14EF-269F-5B5AE150E4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27" r="7227"/>
          <a:stretch/>
        </p:blipFill>
        <p:spPr bwMode="auto">
          <a:xfrm>
            <a:off x="6537794" y="3537452"/>
            <a:ext cx="568459" cy="468000"/>
          </a:xfrm>
          <a:prstGeom prst="rect">
            <a:avLst/>
          </a:prstGeom>
          <a:effectLst>
            <a:softEdge rad="127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2">
            <a:extLst>
              <a:ext uri="{FF2B5EF4-FFF2-40B4-BE49-F238E27FC236}">
                <a16:creationId xmlns:a16="http://schemas.microsoft.com/office/drawing/2014/main" id="{605931B4-D82E-5BAF-958F-6B5A64B607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23" r="6123"/>
          <a:stretch/>
        </p:blipFill>
        <p:spPr bwMode="auto">
          <a:xfrm>
            <a:off x="7368525" y="3541815"/>
            <a:ext cx="582811" cy="4680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94AE11E-94DD-BEBA-B1D0-26ABBE2E489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7734" b="94964" l="9577" r="89978">
                        <a14:foregroundMark x1="58463" y1="9353" x2="66036" y2="7014"/>
                        <a14:foregroundMark x1="66036" y1="7014" x2="71715" y2="7734"/>
                        <a14:foregroundMark x1="71715" y1="7734" x2="62695" y2="8813"/>
                        <a14:foregroundMark x1="74833" y1="40827" x2="76503" y2="42446"/>
                        <a14:foregroundMark x1="64143" y1="47302" x2="64143" y2="47302"/>
                        <a14:foregroundMark x1="55457" y1="52698" x2="55457" y2="52698"/>
                        <a14:foregroundMark x1="45323" y1="59532" x2="45323" y2="59532"/>
                        <a14:foregroundMark x1="34187" y1="65108" x2="34187" y2="65108"/>
                        <a14:foregroundMark x1="22717" y1="70324" x2="22717" y2="70324"/>
                        <a14:foregroundMark x1="9688" y1="69604" x2="10802" y2="81475"/>
                        <a14:foregroundMark x1="10802" y1="81475" x2="13252" y2="82914"/>
                        <a14:foregroundMark x1="21604" y1="90468" x2="30178" y2="86511"/>
                        <a14:foregroundMark x1="22829" y1="94964" x2="22829" y2="94964"/>
                        <a14:foregroundMark x1="73942" y1="43165" x2="73942" y2="43165"/>
                      </a14:backgroundRemoval>
                    </a14:imgEffect>
                  </a14:imgLayer>
                </a14:imgProps>
              </a:ext>
            </a:extLst>
          </a:blip>
          <a:srcRect l="6039" t="3464" r="11427" b="863"/>
          <a:stretch>
            <a:fillRect/>
          </a:stretch>
        </p:blipFill>
        <p:spPr>
          <a:xfrm>
            <a:off x="8184352" y="3550080"/>
            <a:ext cx="601890" cy="432000"/>
          </a:xfrm>
          <a:prstGeom prst="rect">
            <a:avLst/>
          </a:prstGeom>
        </p:spPr>
      </p:pic>
      <p:pic>
        <p:nvPicPr>
          <p:cNvPr id="3" name="Picture 2" descr="Python Logo PNG Transparent – Brands Logos">
            <a:extLst>
              <a:ext uri="{FF2B5EF4-FFF2-40B4-BE49-F238E27FC236}">
                <a16:creationId xmlns:a16="http://schemas.microsoft.com/office/drawing/2014/main" id="{4BBCE65E-32DD-5E3F-FB43-54F4439767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9105" y="527823"/>
            <a:ext cx="43383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2F54AAF-1F00-4A5D-972C-B8793ABDB31E}"/>
              </a:ext>
            </a:extLst>
          </p:cNvPr>
          <p:cNvSpPr txBox="1"/>
          <p:nvPr/>
        </p:nvSpPr>
        <p:spPr>
          <a:xfrm>
            <a:off x="342305" y="5193122"/>
            <a:ext cx="500974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u="sng" dirty="0"/>
              <a:t>Interprétation</a:t>
            </a:r>
          </a:p>
          <a:p>
            <a:r>
              <a:rPr lang="fr-FR" dirty="0">
                <a:sym typeface="Wingdings" panose="05000000000000000000" pitchFamily="2" charset="2"/>
              </a:rPr>
              <a:t>✅ </a:t>
            </a:r>
            <a:r>
              <a:rPr lang="fr-FR" dirty="0"/>
              <a:t>2 bobinages </a:t>
            </a:r>
            <a:r>
              <a:rPr lang="fr-FR" dirty="0">
                <a:sym typeface="Wingdings" panose="05000000000000000000" pitchFamily="2" charset="2"/>
              </a:rPr>
              <a:t> Impédance plus élevée</a:t>
            </a:r>
            <a:endParaRPr lang="fr-FR" dirty="0"/>
          </a:p>
          <a:p>
            <a:r>
              <a:rPr lang="fr-FR" dirty="0">
                <a:sym typeface="Wingdings" panose="05000000000000000000" pitchFamily="2" charset="2"/>
              </a:rPr>
              <a:t>❌ </a:t>
            </a:r>
            <a:r>
              <a:rPr lang="fr-FR" dirty="0"/>
              <a:t>Asymétrie de bobinage</a:t>
            </a:r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D0EFF090-BF0A-0471-2711-EC67DE0CE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</a:p>
        </p:txBody>
      </p:sp>
      <p:sp>
        <p:nvSpPr>
          <p:cNvPr id="25" name="Footer Placeholder 24">
            <a:extLst>
              <a:ext uri="{FF2B5EF4-FFF2-40B4-BE49-F238E27FC236}">
                <a16:creationId xmlns:a16="http://schemas.microsoft.com/office/drawing/2014/main" id="{A2C3CE1E-2176-A2FA-66DD-2825EA602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TIPE 39662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D4E8BA1-2670-8152-1740-E703D32C7D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3863694"/>
              </p:ext>
            </p:extLst>
          </p:nvPr>
        </p:nvGraphicFramePr>
        <p:xfrm>
          <a:off x="326176" y="41413"/>
          <a:ext cx="856351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4504">
                  <a:extLst>
                    <a:ext uri="{9D8B030D-6E8A-4147-A177-3AD203B41FA5}">
                      <a16:colId xmlns:a16="http://schemas.microsoft.com/office/drawing/2014/main" val="1619084455"/>
                    </a:ext>
                  </a:extLst>
                </a:gridCol>
                <a:gridCol w="2854504">
                  <a:extLst>
                    <a:ext uri="{9D8B030D-6E8A-4147-A177-3AD203B41FA5}">
                      <a16:colId xmlns:a16="http://schemas.microsoft.com/office/drawing/2014/main" val="13699801"/>
                    </a:ext>
                  </a:extLst>
                </a:gridCol>
                <a:gridCol w="2854504">
                  <a:extLst>
                    <a:ext uri="{9D8B030D-6E8A-4147-A177-3AD203B41FA5}">
                      <a16:colId xmlns:a16="http://schemas.microsoft.com/office/drawing/2014/main" val="29905955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1700" dirty="0">
                          <a:solidFill>
                            <a:schemeClr val="bg1"/>
                          </a:solidFill>
                        </a:rPr>
                        <a:t>Filtrage électrique interne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b="0" dirty="0">
                          <a:solidFill>
                            <a:schemeClr val="bg1"/>
                          </a:solidFill>
                        </a:rPr>
                        <a:t>Induction et filtrage spatial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b="0" dirty="0">
                          <a:solidFill>
                            <a:schemeClr val="bg1"/>
                          </a:solidFill>
                        </a:rPr>
                        <a:t>Reduction du bourdonnement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6456716"/>
                  </a:ext>
                </a:extLst>
              </a:tr>
            </a:tbl>
          </a:graphicData>
        </a:graphic>
      </p:graphicFrame>
      <p:sp>
        <p:nvSpPr>
          <p:cNvPr id="12" name="Oval 11">
            <a:extLst>
              <a:ext uri="{FF2B5EF4-FFF2-40B4-BE49-F238E27FC236}">
                <a16:creationId xmlns:a16="http://schemas.microsoft.com/office/drawing/2014/main" id="{E15E85E2-3972-C82C-AA31-3DF274E7E3F8}"/>
              </a:ext>
            </a:extLst>
          </p:cNvPr>
          <p:cNvSpPr/>
          <p:nvPr/>
        </p:nvSpPr>
        <p:spPr>
          <a:xfrm>
            <a:off x="2192999" y="2962704"/>
            <a:ext cx="540000" cy="540000"/>
          </a:xfrm>
          <a:prstGeom prst="ellipse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136E53F-6C18-D61D-21EC-086093EE1878}"/>
              </a:ext>
            </a:extLst>
          </p:cNvPr>
          <p:cNvSpPr/>
          <p:nvPr/>
        </p:nvSpPr>
        <p:spPr>
          <a:xfrm>
            <a:off x="3005319" y="2610954"/>
            <a:ext cx="540000" cy="540000"/>
          </a:xfrm>
          <a:prstGeom prst="ellipse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Slide Number Placeholder 2">
            <a:extLst>
              <a:ext uri="{FF2B5EF4-FFF2-40B4-BE49-F238E27FC236}">
                <a16:creationId xmlns:a16="http://schemas.microsoft.com/office/drawing/2014/main" id="{8D7582FE-4322-E4D9-50B3-0F9F7BFBB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425344" y="6459786"/>
            <a:ext cx="984019" cy="365125"/>
          </a:xfrm>
        </p:spPr>
        <p:txBody>
          <a:bodyPr/>
          <a:lstStyle/>
          <a:p>
            <a:fld id="{477F8A04-938D-4CBF-A3DC-6CB925B6FC34}" type="slidenum">
              <a:rPr lang="fr-FR" sz="1400" b="1" smtClean="0"/>
              <a:t>11</a:t>
            </a:fld>
            <a:endParaRPr lang="fr-FR" sz="1400" b="1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489A4FE8-569E-A552-3A6D-10ADFC74BC44}"/>
              </a:ext>
            </a:extLst>
          </p:cNvPr>
          <p:cNvSpPr txBox="1">
            <a:spLocks/>
          </p:cNvSpPr>
          <p:nvPr/>
        </p:nvSpPr>
        <p:spPr>
          <a:xfrm>
            <a:off x="3137564" y="564225"/>
            <a:ext cx="2899064" cy="4453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1900" dirty="0">
                <a:solidFill>
                  <a:schemeClr val="tx1"/>
                </a:solidFill>
                <a:latin typeface="Arial Black" panose="020B0A04020102020204" pitchFamily="34" charset="0"/>
              </a:rPr>
              <a:t>RESULTATS</a:t>
            </a:r>
            <a:endParaRPr lang="fr-FR" sz="19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3386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DE2422-0593-98CE-0BC1-D9A0BE050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5A3D31D4-FFA1-BFF2-889B-9A83090A38EA}"/>
              </a:ext>
            </a:extLst>
          </p:cNvPr>
          <p:cNvSpPr/>
          <p:nvPr/>
        </p:nvSpPr>
        <p:spPr>
          <a:xfrm>
            <a:off x="449950" y="424704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DF49161-7DA7-CBAD-DA69-F6204EDAFF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49" b="3680"/>
          <a:stretch>
            <a:fillRect/>
          </a:stretch>
        </p:blipFill>
        <p:spPr>
          <a:xfrm>
            <a:off x="1924939" y="942679"/>
            <a:ext cx="5294122" cy="419870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0F15115-6003-EC7E-DAC7-C2810368AF60}"/>
              </a:ext>
            </a:extLst>
          </p:cNvPr>
          <p:cNvSpPr txBox="1"/>
          <p:nvPr/>
        </p:nvSpPr>
        <p:spPr>
          <a:xfrm>
            <a:off x="326176" y="4977665"/>
            <a:ext cx="813292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u="sng" dirty="0"/>
              <a:t>Interprétation</a:t>
            </a:r>
          </a:p>
          <a:p>
            <a:r>
              <a:rPr lang="fr-FR" dirty="0">
                <a:sym typeface="Wingdings" panose="05000000000000000000" pitchFamily="2" charset="2"/>
              </a:rPr>
              <a:t>✅ </a:t>
            </a:r>
            <a:r>
              <a:rPr lang="fr-FR" dirty="0"/>
              <a:t>Humbucker </a:t>
            </a:r>
            <a:r>
              <a:rPr lang="fr-FR" dirty="0">
                <a:sym typeface="Wingdings" panose="05000000000000000000" pitchFamily="2" charset="2"/>
              </a:rPr>
              <a:t> Gain plat  Son ‘’brut’’</a:t>
            </a:r>
          </a:p>
          <a:p>
            <a:r>
              <a:rPr lang="fr-FR" dirty="0">
                <a:sym typeface="Wingdings" panose="05000000000000000000" pitchFamily="2" charset="2"/>
              </a:rPr>
              <a:t>✅ SingleCoil  Amplification des harmoniques  Son ‘’brillant’’</a:t>
            </a:r>
            <a:endParaRPr lang="fr-FR" dirty="0"/>
          </a:p>
          <a:p>
            <a:r>
              <a:rPr lang="fr-FR" dirty="0">
                <a:sym typeface="Wingdings" panose="05000000000000000000" pitchFamily="2" charset="2"/>
              </a:rPr>
              <a:t>✅ </a:t>
            </a:r>
            <a:r>
              <a:rPr lang="fr-FR" dirty="0"/>
              <a:t>En basse fréquence : </a:t>
            </a:r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06E554F1-44BD-8B7F-91BB-367D7780CA17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Loi d’induction de faraday : Le fonctionnement d’une guitare électrique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7EA3527-CBE4-BB1E-8E8A-8B21A1F88B1C}"/>
              </a:ext>
            </a:extLst>
          </p:cNvPr>
          <p:cNvGrpSpPr/>
          <p:nvPr/>
        </p:nvGrpSpPr>
        <p:grpSpPr>
          <a:xfrm>
            <a:off x="0" y="-4624"/>
            <a:ext cx="9144000" cy="457200"/>
            <a:chOff x="0" y="-4624"/>
            <a:chExt cx="9144000" cy="457200"/>
          </a:xfrm>
          <a:solidFill>
            <a:srgbClr val="4A66AC"/>
          </a:solidFill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5291E480-CEFE-D580-938C-FDAA725FDA6F}"/>
                </a:ext>
              </a:extLst>
            </p:cNvPr>
            <p:cNvSpPr/>
            <p:nvPr/>
          </p:nvSpPr>
          <p:spPr>
            <a:xfrm>
              <a:off x="0" y="-4624"/>
              <a:ext cx="9144000" cy="457200"/>
            </a:xfrm>
            <a:prstGeom prst="rect">
              <a:avLst/>
            </a:prstGeom>
            <a:grpFill/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5" name="Footer Placeholder 2">
              <a:extLst>
                <a:ext uri="{FF2B5EF4-FFF2-40B4-BE49-F238E27FC236}">
                  <a16:creationId xmlns:a16="http://schemas.microsoft.com/office/drawing/2014/main" id="{024BCF65-762C-3EB5-9AA3-CD664A82060E}"/>
                </a:ext>
              </a:extLst>
            </p:cNvPr>
            <p:cNvSpPr txBox="1">
              <a:spLocks/>
            </p:cNvSpPr>
            <p:nvPr/>
          </p:nvSpPr>
          <p:spPr>
            <a:xfrm>
              <a:off x="1447764" y="41413"/>
              <a:ext cx="6248472" cy="36512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457200" rtl="0" eaLnBrk="1" latinLnBrk="0" hangingPunct="1">
                <a:defRPr sz="900" kern="1200" cap="all" baseline="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fr-FR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2999D8F-5B32-DA14-93D6-5EBB9D1420D7}"/>
                  </a:ext>
                </a:extLst>
              </p:cNvPr>
              <p:cNvSpPr txBox="1"/>
              <p:nvPr/>
            </p:nvSpPr>
            <p:spPr>
              <a:xfrm>
                <a:off x="3018758" y="5865798"/>
                <a:ext cx="1288892" cy="276999"/>
              </a:xfrm>
              <a:prstGeom prst="rect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d>
                        <m:dPr>
                          <m:ctrlPr>
                            <a:rPr lang="fr-FR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fr-FR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fr-FR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fr-FR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FR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2999D8F-5B32-DA14-93D6-5EBB9D1420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8758" y="5865798"/>
                <a:ext cx="1288892" cy="276999"/>
              </a:xfrm>
              <a:prstGeom prst="rect">
                <a:avLst/>
              </a:prstGeom>
              <a:blipFill>
                <a:blip r:embed="rId4"/>
                <a:stretch>
                  <a:fillRect r="-930" b="-28571"/>
                </a:stretch>
              </a:blipFill>
              <a:ln w="19050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737137A-2DF8-0791-F8A8-F30EA22E35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B78B1C69-CA78-8148-C0E7-1AAEB429E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TIPE 39662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D99404B-C1DA-0DFF-BFA6-4B629B35C9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3863694"/>
              </p:ext>
            </p:extLst>
          </p:nvPr>
        </p:nvGraphicFramePr>
        <p:xfrm>
          <a:off x="326176" y="41413"/>
          <a:ext cx="856351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4504">
                  <a:extLst>
                    <a:ext uri="{9D8B030D-6E8A-4147-A177-3AD203B41FA5}">
                      <a16:colId xmlns:a16="http://schemas.microsoft.com/office/drawing/2014/main" val="1619084455"/>
                    </a:ext>
                  </a:extLst>
                </a:gridCol>
                <a:gridCol w="2854504">
                  <a:extLst>
                    <a:ext uri="{9D8B030D-6E8A-4147-A177-3AD203B41FA5}">
                      <a16:colId xmlns:a16="http://schemas.microsoft.com/office/drawing/2014/main" val="13699801"/>
                    </a:ext>
                  </a:extLst>
                </a:gridCol>
                <a:gridCol w="2854504">
                  <a:extLst>
                    <a:ext uri="{9D8B030D-6E8A-4147-A177-3AD203B41FA5}">
                      <a16:colId xmlns:a16="http://schemas.microsoft.com/office/drawing/2014/main" val="29905955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1700" dirty="0">
                          <a:solidFill>
                            <a:schemeClr val="bg1"/>
                          </a:solidFill>
                        </a:rPr>
                        <a:t>Filtrage électrique interne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b="0" dirty="0">
                          <a:solidFill>
                            <a:schemeClr val="bg1"/>
                          </a:solidFill>
                        </a:rPr>
                        <a:t>Induction et filtrage spatial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b="0" dirty="0">
                          <a:solidFill>
                            <a:schemeClr val="bg1"/>
                          </a:solidFill>
                        </a:rPr>
                        <a:t>Reduction du bourdonnement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6456716"/>
                  </a:ext>
                </a:extLst>
              </a:tr>
            </a:tbl>
          </a:graphicData>
        </a:graphic>
      </p:graphicFrame>
      <p:pic>
        <p:nvPicPr>
          <p:cNvPr id="15" name="Picture 14" descr="Python Logo PNG Transparent – Brands Logos">
            <a:extLst>
              <a:ext uri="{FF2B5EF4-FFF2-40B4-BE49-F238E27FC236}">
                <a16:creationId xmlns:a16="http://schemas.microsoft.com/office/drawing/2014/main" id="{39801DB7-87F1-E2FA-E3AB-1FF4FDB114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9105" y="527823"/>
            <a:ext cx="43383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6A117BC8-A91E-D34D-A263-E9D4907BD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425344" y="6459786"/>
            <a:ext cx="984019" cy="365125"/>
          </a:xfrm>
        </p:spPr>
        <p:txBody>
          <a:bodyPr/>
          <a:lstStyle/>
          <a:p>
            <a:fld id="{477F8A04-938D-4CBF-A3DC-6CB925B6FC34}" type="slidenum">
              <a:rPr lang="fr-FR" sz="1400" b="1" smtClean="0"/>
              <a:t>12</a:t>
            </a:fld>
            <a:endParaRPr lang="fr-FR" sz="1400" b="1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C6465AC-3297-9552-A833-635A6DEEB7B4}"/>
              </a:ext>
            </a:extLst>
          </p:cNvPr>
          <p:cNvSpPr txBox="1">
            <a:spLocks/>
          </p:cNvSpPr>
          <p:nvPr/>
        </p:nvSpPr>
        <p:spPr>
          <a:xfrm>
            <a:off x="3137564" y="564225"/>
            <a:ext cx="2899064" cy="4453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1900" dirty="0">
                <a:solidFill>
                  <a:schemeClr val="tx1"/>
                </a:solidFill>
                <a:latin typeface="Arial Black" panose="020B0A04020102020204" pitchFamily="34" charset="0"/>
              </a:rPr>
              <a:t>RESULTATS</a:t>
            </a:r>
            <a:endParaRPr lang="fr-FR" sz="19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51950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92777E-787B-7FA7-4B02-9F25CC133A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00CA7A20-16A1-755D-6552-ABA4AF85F49B}"/>
              </a:ext>
            </a:extLst>
          </p:cNvPr>
          <p:cNvGrpSpPr/>
          <p:nvPr/>
        </p:nvGrpSpPr>
        <p:grpSpPr>
          <a:xfrm>
            <a:off x="0" y="6395093"/>
            <a:ext cx="9144000" cy="479397"/>
            <a:chOff x="0" y="-4624"/>
            <a:chExt cx="9144000" cy="457200"/>
          </a:xfrm>
          <a:solidFill>
            <a:srgbClr val="629DD1"/>
          </a:solidFill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4EC0C66A-28E4-399D-5BF8-B198E5765252}"/>
                </a:ext>
              </a:extLst>
            </p:cNvPr>
            <p:cNvSpPr/>
            <p:nvPr/>
          </p:nvSpPr>
          <p:spPr>
            <a:xfrm>
              <a:off x="0" y="-4624"/>
              <a:ext cx="9144000" cy="457200"/>
            </a:xfrm>
            <a:prstGeom prst="rect">
              <a:avLst/>
            </a:prstGeom>
            <a:grpFill/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21" name="Footer Placeholder 2">
              <a:extLst>
                <a:ext uri="{FF2B5EF4-FFF2-40B4-BE49-F238E27FC236}">
                  <a16:creationId xmlns:a16="http://schemas.microsoft.com/office/drawing/2014/main" id="{F046C010-248D-9EF3-8C23-CBA994762F95}"/>
                </a:ext>
              </a:extLst>
            </p:cNvPr>
            <p:cNvSpPr txBox="1">
              <a:spLocks/>
            </p:cNvSpPr>
            <p:nvPr/>
          </p:nvSpPr>
          <p:spPr>
            <a:xfrm>
              <a:off x="1447764" y="41413"/>
              <a:ext cx="6248472" cy="36512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457200" rtl="0" eaLnBrk="1" latinLnBrk="0" hangingPunct="1">
                <a:defRPr sz="900" kern="1200" cap="all" baseline="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fr-FR" dirty="0"/>
            </a:p>
          </p:txBody>
        </p:sp>
      </p:grp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48581962-2856-7171-2332-CC82601DD226}"/>
              </a:ext>
            </a:extLst>
          </p:cNvPr>
          <p:cNvSpPr txBox="1">
            <a:spLocks/>
          </p:cNvSpPr>
          <p:nvPr/>
        </p:nvSpPr>
        <p:spPr>
          <a:xfrm>
            <a:off x="15096" y="6335178"/>
            <a:ext cx="9144000" cy="63096"/>
          </a:xfrm>
          <a:prstGeom prst="rect">
            <a:avLst/>
          </a:prstGeom>
          <a:solidFill>
            <a:srgbClr val="4A66AC"/>
          </a:solidFill>
          <a:ln>
            <a:noFill/>
          </a:ln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A5EB2C-C3F5-B258-941A-EF13F3C06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F95791-4886-23E8-4BC0-C10246BD2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TIPE 39662</a:t>
            </a:r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348C746B-BF5D-0D2D-2D11-C62DC6E48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F8A04-938D-4CBF-A3DC-6CB925B6FC34}" type="slidenum">
              <a:rPr lang="fr-FR" sz="1400" b="1" smtClean="0">
                <a:solidFill>
                  <a:schemeClr val="bg1"/>
                </a:solidFill>
              </a:rPr>
              <a:t>13</a:t>
            </a:fld>
            <a:endParaRPr lang="fr-FR" sz="1400" b="1" dirty="0">
              <a:solidFill>
                <a:schemeClr val="bg1"/>
              </a:solidFill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809775A-3002-ACB6-40BC-02CB4A78E01B}"/>
              </a:ext>
            </a:extLst>
          </p:cNvPr>
          <p:cNvGrpSpPr/>
          <p:nvPr/>
        </p:nvGrpSpPr>
        <p:grpSpPr>
          <a:xfrm>
            <a:off x="0" y="-4624"/>
            <a:ext cx="9144000" cy="457200"/>
            <a:chOff x="0" y="-4624"/>
            <a:chExt cx="9144000" cy="457200"/>
          </a:xfrm>
          <a:solidFill>
            <a:srgbClr val="4A66AC"/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3C80249-BC97-3678-2BF1-A9F381D82F95}"/>
                </a:ext>
              </a:extLst>
            </p:cNvPr>
            <p:cNvSpPr/>
            <p:nvPr/>
          </p:nvSpPr>
          <p:spPr>
            <a:xfrm>
              <a:off x="0" y="-4624"/>
              <a:ext cx="9144000" cy="457200"/>
            </a:xfrm>
            <a:prstGeom prst="rect">
              <a:avLst/>
            </a:prstGeom>
            <a:grpFill/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9" name="Footer Placeholder 2">
              <a:extLst>
                <a:ext uri="{FF2B5EF4-FFF2-40B4-BE49-F238E27FC236}">
                  <a16:creationId xmlns:a16="http://schemas.microsoft.com/office/drawing/2014/main" id="{F9F05AD4-6707-8DCF-247F-074861539BE2}"/>
                </a:ext>
              </a:extLst>
            </p:cNvPr>
            <p:cNvSpPr txBox="1">
              <a:spLocks/>
            </p:cNvSpPr>
            <p:nvPr/>
          </p:nvSpPr>
          <p:spPr>
            <a:xfrm>
              <a:off x="1447764" y="41413"/>
              <a:ext cx="6248472" cy="36512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457200" rtl="0" eaLnBrk="1" latinLnBrk="0" hangingPunct="1">
                <a:defRPr sz="900" kern="1200" cap="all" baseline="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fr-FR" dirty="0"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48E99884-F11A-7D1F-24AD-3E8AE5487D4C}"/>
              </a:ext>
            </a:extLst>
          </p:cNvPr>
          <p:cNvSpPr txBox="1"/>
          <p:nvPr/>
        </p:nvSpPr>
        <p:spPr>
          <a:xfrm>
            <a:off x="5747657" y="6071016"/>
            <a:ext cx="345575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/>
              <a:t>[6] </a:t>
            </a:r>
            <a:r>
              <a:rPr lang="en-GB" sz="1100" dirty="0"/>
              <a:t>B. D'Andrea-Novel, Presse des Mines</a:t>
            </a:r>
            <a:endParaRPr lang="fr-FR" sz="11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B89A41CB-93E0-F186-1666-DD9CC49F53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7" r="137"/>
          <a:stretch/>
        </p:blipFill>
        <p:spPr>
          <a:xfrm>
            <a:off x="3288074" y="1069044"/>
            <a:ext cx="5541604" cy="1443579"/>
          </a:xfrm>
          <a:prstGeom prst="rect">
            <a:avLst/>
          </a:prstGeom>
        </p:spPr>
      </p:pic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4A85ABAC-EF74-3BBC-26AF-326F8EB90715}"/>
              </a:ext>
            </a:extLst>
          </p:cNvPr>
          <p:cNvGraphicFramePr>
            <a:graphicFrameLocks noGrp="1"/>
          </p:cNvGraphicFramePr>
          <p:nvPr/>
        </p:nvGraphicFramePr>
        <p:xfrm>
          <a:off x="326176" y="41413"/>
          <a:ext cx="856351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4504">
                  <a:extLst>
                    <a:ext uri="{9D8B030D-6E8A-4147-A177-3AD203B41FA5}">
                      <a16:colId xmlns:a16="http://schemas.microsoft.com/office/drawing/2014/main" val="1619084455"/>
                    </a:ext>
                  </a:extLst>
                </a:gridCol>
                <a:gridCol w="2854504">
                  <a:extLst>
                    <a:ext uri="{9D8B030D-6E8A-4147-A177-3AD203B41FA5}">
                      <a16:colId xmlns:a16="http://schemas.microsoft.com/office/drawing/2014/main" val="13699801"/>
                    </a:ext>
                  </a:extLst>
                </a:gridCol>
                <a:gridCol w="2854504">
                  <a:extLst>
                    <a:ext uri="{9D8B030D-6E8A-4147-A177-3AD203B41FA5}">
                      <a16:colId xmlns:a16="http://schemas.microsoft.com/office/drawing/2014/main" val="29905955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1050" b="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Filtrage électrique interne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 dirty="0">
                          <a:solidFill>
                            <a:schemeClr val="bg1"/>
                          </a:solidFill>
                        </a:rPr>
                        <a:t>Induction et filtrage spatial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b="0" dirty="0">
                          <a:solidFill>
                            <a:schemeClr val="bg1"/>
                          </a:solidFill>
                        </a:rPr>
                        <a:t>Reduction du bourdonnement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6456716"/>
                  </a:ext>
                </a:extLst>
              </a:tr>
            </a:tbl>
          </a:graphicData>
        </a:graphic>
      </p:graphicFrame>
      <p:grpSp>
        <p:nvGrpSpPr>
          <p:cNvPr id="13" name="Group 12">
            <a:extLst>
              <a:ext uri="{FF2B5EF4-FFF2-40B4-BE49-F238E27FC236}">
                <a16:creationId xmlns:a16="http://schemas.microsoft.com/office/drawing/2014/main" id="{1587682D-D214-C28A-D093-E91499755791}"/>
              </a:ext>
            </a:extLst>
          </p:cNvPr>
          <p:cNvGrpSpPr/>
          <p:nvPr/>
        </p:nvGrpSpPr>
        <p:grpSpPr>
          <a:xfrm>
            <a:off x="3288074" y="2574481"/>
            <a:ext cx="5661623" cy="791642"/>
            <a:chOff x="3255428" y="2471938"/>
            <a:chExt cx="5661623" cy="791642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9D57863F-AA11-3364-F115-237A45CB06A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55428" y="2476080"/>
              <a:ext cx="1260000" cy="787500"/>
            </a:xfrm>
            <a:prstGeom prst="round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fr-FR" sz="1200" b="1" dirty="0"/>
                <a:t>Aimants permanents des micros</a:t>
              </a:r>
            </a:p>
          </p:txBody>
        </p:sp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97264CEC-964C-9380-C7BA-8B9A33DA353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24592" y="2476080"/>
              <a:ext cx="1260000" cy="783358"/>
            </a:xfrm>
            <a:prstGeom prst="round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fr-FR" sz="1200" b="1" dirty="0"/>
                <a:t>Champ magnétique induit</a:t>
              </a:r>
            </a:p>
          </p:txBody>
        </p:sp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F1E7B9BB-3AEF-9F7B-B03A-D6A6BB79D3C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193756" y="2471938"/>
              <a:ext cx="1260000" cy="787500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fr-FR" sz="1200" b="1" dirty="0"/>
                <a:t>Flux variable à travers le micro</a:t>
              </a:r>
            </a:p>
          </p:txBody>
        </p:sp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FB00B074-C57B-4E0E-60C0-A1CE443C1A0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657051" y="2471938"/>
              <a:ext cx="1260000" cy="787500"/>
            </a:xfrm>
            <a:prstGeom prst="round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fr-FR" sz="1200" b="1" dirty="0"/>
                <a:t>F.E.M.</a:t>
              </a:r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FEF020ED-7A9C-2C36-7501-75C0CED64A00}"/>
                </a:ext>
              </a:extLst>
            </p:cNvPr>
            <p:cNvCxnSpPr>
              <a:cxnSpLocks/>
              <a:stCxn id="6" idx="3"/>
              <a:endCxn id="27" idx="1"/>
            </p:cNvCxnSpPr>
            <p:nvPr/>
          </p:nvCxnSpPr>
          <p:spPr>
            <a:xfrm flipV="1">
              <a:off x="4515428" y="2867759"/>
              <a:ext cx="209164" cy="207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82FAEEFE-50B6-5C8D-6004-254D924C97EA}"/>
                </a:ext>
              </a:extLst>
            </p:cNvPr>
            <p:cNvCxnSpPr>
              <a:cxnSpLocks/>
              <a:stCxn id="27" idx="3"/>
              <a:endCxn id="28" idx="1"/>
            </p:cNvCxnSpPr>
            <p:nvPr/>
          </p:nvCxnSpPr>
          <p:spPr>
            <a:xfrm flipV="1">
              <a:off x="5984592" y="2865688"/>
              <a:ext cx="209164" cy="207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41D8A7D7-6CAE-F375-D462-82C4B8428134}"/>
                </a:ext>
              </a:extLst>
            </p:cNvPr>
            <p:cNvCxnSpPr>
              <a:cxnSpLocks/>
              <a:stCxn id="28" idx="3"/>
              <a:endCxn id="29" idx="1"/>
            </p:cNvCxnSpPr>
            <p:nvPr/>
          </p:nvCxnSpPr>
          <p:spPr>
            <a:xfrm>
              <a:off x="7453756" y="2865688"/>
              <a:ext cx="20329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39E1A3DB-344B-71EB-E252-81C126B9B2BC}"/>
                  </a:ext>
                </a:extLst>
              </p:cNvPr>
              <p:cNvSpPr txBox="1"/>
              <p:nvPr/>
            </p:nvSpPr>
            <p:spPr>
              <a:xfrm>
                <a:off x="3370230" y="3448009"/>
                <a:ext cx="5519458" cy="615168"/>
              </a:xfrm>
              <a:prstGeom prst="rect">
                <a:avLst/>
              </a:prstGeom>
              <a:noFill/>
              <a:ln w="19050">
                <a:solidFill>
                  <a:srgbClr val="C00000"/>
                </a:solidFill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fr-FR" sz="1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d>
                        <m:dPr>
                          <m:ctrlP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400" b="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400" b="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14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𝐾</m:t>
                      </m:r>
                      <m:nary>
                        <m:naryPr>
                          <m:chr m:val="∑"/>
                          <m:supHide m:val="on"/>
                          <m:ctrlP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fr-FR" sz="1400" b="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fr-FR" sz="1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400" b="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fr-FR" sz="1400" b="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sSub>
                            <m:sSubPr>
                              <m:ctrlPr>
                                <a:rPr lang="fr-FR" sz="1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fr-FR" sz="1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func>
                            <m:funcPr>
                              <m:ctrlPr>
                                <a:rPr lang="fr-FR" sz="1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fr-FR" sz="1400" b="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𝑠𝑖𝑛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fr-FR" sz="1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fr-FR" sz="1400" b="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fr-FR" sz="1400" b="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fr-FR" sz="1400" b="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𝑛𝐹𝑡</m:t>
                                  </m:r>
                                </m:e>
                              </m:d>
                            </m:e>
                          </m:func>
                        </m:e>
                      </m:nary>
                    </m:oMath>
                  </m:oMathPara>
                </a14:m>
                <a:endParaRPr lang="fr-FR" sz="140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39E1A3DB-344B-71EB-E252-81C126B9B2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0230" y="3448009"/>
                <a:ext cx="5519458" cy="615168"/>
              </a:xfrm>
              <a:prstGeom prst="rect">
                <a:avLst/>
              </a:prstGeom>
              <a:blipFill>
                <a:blip r:embed="rId3"/>
                <a:stretch>
                  <a:fillRect t="-111538" b="-159615"/>
                </a:stretch>
              </a:blipFill>
              <a:ln w="19050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4" name="Group 73">
            <a:extLst>
              <a:ext uri="{FF2B5EF4-FFF2-40B4-BE49-F238E27FC236}">
                <a16:creationId xmlns:a16="http://schemas.microsoft.com/office/drawing/2014/main" id="{959A2E5C-1CF6-3B83-BF67-CFD4839520A6}"/>
              </a:ext>
            </a:extLst>
          </p:cNvPr>
          <p:cNvGrpSpPr/>
          <p:nvPr/>
        </p:nvGrpSpPr>
        <p:grpSpPr>
          <a:xfrm>
            <a:off x="6258999" y="4148311"/>
            <a:ext cx="2658052" cy="1763070"/>
            <a:chOff x="6258999" y="4221512"/>
            <a:chExt cx="2658052" cy="126274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Rectangle: Rounded Corners 66">
                  <a:extLst>
                    <a:ext uri="{FF2B5EF4-FFF2-40B4-BE49-F238E27FC236}">
                      <a16:creationId xmlns:a16="http://schemas.microsoft.com/office/drawing/2014/main" id="{C17C2D44-2A10-A2BC-3588-33517D1145E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6258999" y="4221512"/>
                  <a:ext cx="2658052" cy="1262742"/>
                </a:xfrm>
                <a:prstGeom prst="roundRect">
                  <a:avLst/>
                </a:prstGeom>
                <a:noFill/>
                <a:ln w="9525" cap="flat" cmpd="sng" algn="ctr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dk1"/>
                </a:fontRef>
              </p:style>
              <p:txBody>
                <a:bodyPr rtlCol="0" anchor="t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fr-FR" sz="1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200" b="1" i="1" smtClean="0">
                              <a:latin typeface="Cambria Math" panose="02040503050406030204" pitchFamily="18" charset="0"/>
                            </a:rPr>
                            <m:t>𝑩</m:t>
                          </m:r>
                        </m:e>
                        <m:sub>
                          <m:r>
                            <a:rPr lang="fr-FR" sz="12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</m:oMath>
                  </a14:m>
                  <a:r>
                    <a:rPr lang="fr-FR" sz="1200" b="1" dirty="0"/>
                    <a:t> : Signature mécanique</a:t>
                  </a:r>
                </a:p>
                <a:p>
                  <a:pPr algn="ctr"/>
                  <a:endParaRPr lang="fr-FR" sz="1200" b="1" dirty="0"/>
                </a:p>
                <a:p>
                  <a:r>
                    <a:rPr lang="fr-FR" sz="1200" dirty="0"/>
                    <a:t>Dépend de l’excitation initiale de la corde</a:t>
                  </a:r>
                </a:p>
              </p:txBody>
            </p:sp>
          </mc:Choice>
          <mc:Fallback xmlns="">
            <p:sp>
              <p:nvSpPr>
                <p:cNvPr id="67" name="Rectangle: Rounded Corners 66">
                  <a:extLst>
                    <a:ext uri="{FF2B5EF4-FFF2-40B4-BE49-F238E27FC236}">
                      <a16:creationId xmlns:a16="http://schemas.microsoft.com/office/drawing/2014/main" id="{C17C2D44-2A10-A2BC-3588-33517D1145E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8999" y="4221512"/>
                  <a:ext cx="2658052" cy="1262742"/>
                </a:xfrm>
                <a:prstGeom prst="round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 w="9525" cap="flat" cmpd="sng" algn="ctr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CCA2A111-C6D7-FFD4-2EA1-032C53C0873D}"/>
                    </a:ext>
                  </a:extLst>
                </p:cNvPr>
                <p:cNvSpPr txBox="1"/>
                <p:nvPr/>
              </p:nvSpPr>
              <p:spPr>
                <a:xfrm>
                  <a:off x="6394651" y="4942097"/>
                  <a:ext cx="2386748" cy="343098"/>
                </a:xfrm>
                <a:prstGeom prst="rect">
                  <a:avLst/>
                </a:prstGeom>
                <a:noFill/>
                <a:ln w="9525" cap="flat" cmpd="sng" algn="ctr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dk1"/>
                </a:fontRef>
              </p:style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sz="1100" b="1" i="1">
                            <a:latin typeface="Cambria Math" panose="02040503050406030204" pitchFamily="18" charset="0"/>
                          </a:rPr>
                          <m:t>𝑩𝒏</m:t>
                        </m:r>
                        <m:r>
                          <a:rPr lang="fr-FR" sz="1100" b="1" i="1">
                            <a:latin typeface="Cambria Math" panose="02040503050406030204" pitchFamily="18" charset="0"/>
                          </a:rPr>
                          <m:t>= </m:t>
                        </m:r>
                        <m:f>
                          <m:fPr>
                            <m:ctrlPr>
                              <a:rPr lang="fr-FR" sz="1100" b="1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fr-FR" sz="11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100" b="1" i="1"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</m:e>
                              <m:sub>
                                <m:r>
                                  <a:rPr lang="fr-FR" sz="1100" b="1" i="1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sub>
                            </m:sSub>
                            <m:sSup>
                              <m:sSupPr>
                                <m:ctrlPr>
                                  <a:rPr lang="fr-FR" sz="1100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fr-FR" sz="1100" b="1" i="1">
                                    <a:latin typeface="Cambria Math" panose="02040503050406030204" pitchFamily="18" charset="0"/>
                                  </a:rPr>
                                  <m:t>𝑳</m:t>
                                </m:r>
                              </m:e>
                              <m:sup>
                                <m:r>
                                  <a:rPr lang="fr-FR" sz="1100" b="1" i="1"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  <m:r>
                                  <a:rPr lang="fr-FR" sz="1100" b="1" i="1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fr-FR" sz="1100" b="1" i="1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p>
                            </m:sSup>
                            <m:rad>
                              <m:radPr>
                                <m:degHide m:val="on"/>
                                <m:ctrlPr>
                                  <a:rPr lang="fr-FR" sz="1100" b="1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fr-FR" sz="1100" b="1" i="1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e>
                            </m:rad>
                          </m:num>
                          <m:den>
                            <m:sSup>
                              <m:sSupPr>
                                <m:ctrlPr>
                                  <a:rPr lang="fr-FR" sz="11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fr-FR" sz="11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𝝅</m:t>
                                </m:r>
                              </m:e>
                              <m:sup>
                                <m:r>
                                  <a:rPr lang="fr-FR" sz="11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𝟐</m:t>
                                </m:r>
                              </m:sup>
                            </m:sSup>
                            <m:sSub>
                              <m:sSubPr>
                                <m:ctrlPr>
                                  <a:rPr lang="fr-FR" sz="11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1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fr-FR" sz="11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𝟎</m:t>
                                </m:r>
                              </m:sub>
                            </m:sSub>
                            <m:r>
                              <a:rPr lang="fr-FR" sz="11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fr-FR" sz="11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𝑳</m:t>
                            </m:r>
                            <m:r>
                              <a:rPr lang="fr-FR" sz="11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fr-FR" sz="11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1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fr-FR" sz="11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𝟎</m:t>
                                </m:r>
                              </m:sub>
                            </m:sSub>
                            <m:r>
                              <a:rPr lang="fr-FR" sz="11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  <m:f>
                          <m:fPr>
                            <m:ctrlPr>
                              <a:rPr lang="fr-FR" sz="11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func>
                              <m:funcPr>
                                <m:ctrlPr>
                                  <a:rPr lang="fr-FR" sz="1100" b="1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a:rPr lang="fr-FR" sz="1100" b="1" i="1">
                                    <a:latin typeface="Cambria Math" panose="02040503050406030204" pitchFamily="18" charset="0"/>
                                  </a:rPr>
                                  <m:t>𝒔𝒊𝒏</m:t>
                                </m:r>
                              </m:fName>
                              <m:e>
                                <m:r>
                                  <a:rPr lang="fr-FR" sz="1100" b="1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fr-FR" sz="11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1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𝒌</m:t>
                                    </m:r>
                                  </m:e>
                                  <m:sub>
                                    <m:r>
                                      <a:rPr lang="fr-FR" sz="11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fr-FR" sz="11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1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fr-FR" sz="11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𝟎</m:t>
                                    </m:r>
                                  </m:sub>
                                </m:sSub>
                                <m:r>
                                  <a:rPr lang="fr-FR" sz="11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func>
                          </m:num>
                          <m:den>
                            <m:r>
                              <a:rPr lang="fr-FR" sz="11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fr-FR" sz="11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²</m:t>
                            </m:r>
                          </m:den>
                        </m:f>
                      </m:oMath>
                    </m:oMathPara>
                  </a14:m>
                  <a:endParaRPr lang="fr-FR" sz="1100" b="1" dirty="0"/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CCA2A111-C6D7-FFD4-2EA1-032C53C0873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94651" y="4942097"/>
                  <a:ext cx="2386748" cy="343098"/>
                </a:xfrm>
                <a:prstGeom prst="rect">
                  <a:avLst/>
                </a:prstGeom>
                <a:blipFill>
                  <a:blip r:embed="rId6"/>
                  <a:stretch>
                    <a:fillRect b="-1250"/>
                  </a:stretch>
                </a:blipFill>
                <a:ln w="9525" cap="flat" cmpd="sng" algn="ctr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7797D4FC-1190-4B0D-17BC-EC1BCFC7FF2B}"/>
              </a:ext>
            </a:extLst>
          </p:cNvPr>
          <p:cNvGrpSpPr/>
          <p:nvPr/>
        </p:nvGrpSpPr>
        <p:grpSpPr>
          <a:xfrm>
            <a:off x="3258070" y="4148311"/>
            <a:ext cx="2658052" cy="1968832"/>
            <a:chOff x="3255428" y="4221511"/>
            <a:chExt cx="2658052" cy="19688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Rectangle: Rounded Corners 67">
                  <a:extLst>
                    <a:ext uri="{FF2B5EF4-FFF2-40B4-BE49-F238E27FC236}">
                      <a16:creationId xmlns:a16="http://schemas.microsoft.com/office/drawing/2014/main" id="{5FC6D03B-FE55-7B39-2E26-E0C6F16F19F5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255428" y="4221511"/>
                  <a:ext cx="2658052" cy="1968832"/>
                </a:xfrm>
                <a:prstGeom prst="roundRect">
                  <a:avLst/>
                </a:prstGeom>
                <a:noFill/>
                <a:ln w="9525" cap="flat" cmpd="sng" algn="ctr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dk1"/>
                </a:fontRef>
              </p:style>
              <p:txBody>
                <a:bodyPr rtlCol="0" anchor="t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fr-FR" sz="1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200" b="1" i="1" smtClean="0"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fr-FR" sz="12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</m:oMath>
                  </a14:m>
                  <a:r>
                    <a:rPr lang="fr-FR" sz="1200" b="1" dirty="0"/>
                    <a:t> : filtrage spatial</a:t>
                  </a:r>
                </a:p>
                <a:p>
                  <a:pPr algn="ctr"/>
                  <a:endParaRPr lang="fr-FR" sz="1200" b="1" dirty="0"/>
                </a:p>
                <a:p>
                  <a:r>
                    <a:rPr lang="fr-FR" sz="1200" dirty="0"/>
                    <a:t>Dépend de la position du micro</a:t>
                  </a:r>
                </a:p>
                <a:p>
                  <a:pPr marL="171450" indent="-171450">
                    <a:buFont typeface="Wingdings" panose="05000000000000000000" pitchFamily="2" charset="2"/>
                    <a:buChar char="§"/>
                  </a:pPr>
                  <a:r>
                    <a:rPr lang="fr-FR" sz="1200" dirty="0"/>
                    <a:t>Singlecoil :</a:t>
                  </a:r>
                </a:p>
                <a:p>
                  <a:endParaRPr lang="fr-FR" sz="1200" dirty="0"/>
                </a:p>
                <a:p>
                  <a:endParaRPr lang="fr-FR" sz="1200" dirty="0"/>
                </a:p>
                <a:p>
                  <a:pPr marL="171450" indent="-171450">
                    <a:buFont typeface="Wingdings" panose="05000000000000000000" pitchFamily="2" charset="2"/>
                    <a:buChar char="§"/>
                  </a:pPr>
                  <a:r>
                    <a:rPr lang="fr-FR" sz="1200" dirty="0"/>
                    <a:t>Micro Humbucker :</a:t>
                  </a:r>
                </a:p>
                <a:p>
                  <a:pPr marL="171450" indent="-171450">
                    <a:buFont typeface="Wingdings" panose="05000000000000000000" pitchFamily="2" charset="2"/>
                    <a:buChar char="§"/>
                  </a:pPr>
                  <a:endParaRPr lang="fr-FR" sz="1200" dirty="0"/>
                </a:p>
              </p:txBody>
            </p:sp>
          </mc:Choice>
          <mc:Fallback xmlns="">
            <p:sp>
              <p:nvSpPr>
                <p:cNvPr id="68" name="Rectangle: Rounded Corners 67">
                  <a:extLst>
                    <a:ext uri="{FF2B5EF4-FFF2-40B4-BE49-F238E27FC236}">
                      <a16:creationId xmlns:a16="http://schemas.microsoft.com/office/drawing/2014/main" id="{5FC6D03B-FE55-7B39-2E26-E0C6F16F19F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55428" y="4221511"/>
                  <a:ext cx="2658052" cy="1968832"/>
                </a:xfrm>
                <a:prstGeom prst="round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 w="9525" cap="flat" cmpd="sng" algn="ctr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EC68385A-3248-3E9E-6DB3-3E575A82C051}"/>
                    </a:ext>
                  </a:extLst>
                </p:cNvPr>
                <p:cNvSpPr txBox="1"/>
                <p:nvPr/>
              </p:nvSpPr>
              <p:spPr>
                <a:xfrm>
                  <a:off x="3747061" y="5132726"/>
                  <a:ext cx="1740613" cy="261610"/>
                </a:xfrm>
                <a:prstGeom prst="rect">
                  <a:avLst/>
                </a:prstGeom>
                <a:noFill/>
                <a:ln w="9525" cap="flat" cmpd="sng" algn="ctr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dk1"/>
                </a:fontRef>
              </p:style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fr-FR" sz="11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100" b="1" i="1">
                                <a:latin typeface="Cambria Math" panose="02040503050406030204" pitchFamily="18" charset="0"/>
                              </a:rPr>
                              <m:t>𝑨</m:t>
                            </m:r>
                          </m:e>
                          <m:sub>
                            <m:r>
                              <a:rPr lang="fr-FR" sz="1100" b="1" i="1" smtClean="0">
                                <a:latin typeface="Cambria Math" panose="02040503050406030204" pitchFamily="18" charset="0"/>
                              </a:rPr>
                              <m:t>𝒏</m:t>
                            </m:r>
                          </m:sub>
                        </m:sSub>
                        <m:r>
                          <a:rPr lang="fr-FR" sz="1100" b="1" i="1">
                            <a:latin typeface="Cambria Math" panose="02040503050406030204" pitchFamily="18" charset="0"/>
                          </a:rPr>
                          <m:t>=</m:t>
                        </m:r>
                        <m:func>
                          <m:funcPr>
                            <m:ctrlPr>
                              <a:rPr lang="fr-FR" sz="1100" b="1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fr-FR" sz="110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l-GR" sz="11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𝝅</m:t>
                            </m:r>
                            <m:r>
                              <a:rPr lang="fr-FR" sz="11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𝒏𝑭</m:t>
                            </m:r>
                            <m:r>
                              <a:rPr lang="fr-FR" sz="1100" b="1" i="1">
                                <a:latin typeface="Cambria Math" panose="02040503050406030204" pitchFamily="18" charset="0"/>
                              </a:rPr>
                              <m:t>𝒔𝒊𝒏</m:t>
                            </m:r>
                          </m:fName>
                          <m:e>
                            <m:d>
                              <m:dPr>
                                <m:ctrlPr>
                                  <a:rPr lang="fr-FR" sz="1100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fr-FR" sz="11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100" b="1" i="1" smtClean="0">
                                        <a:latin typeface="Cambria Math" panose="02040503050406030204" pitchFamily="18" charset="0"/>
                                      </a:rPr>
                                      <m:t>𝒌</m:t>
                                    </m:r>
                                  </m:e>
                                  <m:sub>
                                    <m:r>
                                      <a:rPr lang="fr-FR" sz="1100" b="1" i="1" smtClean="0"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fr-FR" sz="11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100" b="1" i="1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fr-FR" sz="1100" b="1" i="1">
                                        <a:latin typeface="Cambria Math" panose="02040503050406030204" pitchFamily="18" charset="0"/>
                                      </a:rPr>
                                      <m:t>𝒎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fr-FR" sz="1100" b="1" i="1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func>
                        <m:r>
                          <m:rPr>
                            <m:nor/>
                          </m:rPr>
                          <a:rPr lang="fr-FR" sz="1100" b="1" i="0" smtClean="0"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fr-FR" sz="1100" b="1" dirty="0"/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EC68385A-3248-3E9E-6DB3-3E575A82C05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47061" y="5132726"/>
                  <a:ext cx="1740613" cy="26161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 w="9525" cap="flat" cmpd="sng" algn="ctr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35AEDA01-758B-3F00-4A60-265DC91BE166}"/>
                    </a:ext>
                  </a:extLst>
                </p:cNvPr>
                <p:cNvSpPr txBox="1"/>
                <p:nvPr/>
              </p:nvSpPr>
              <p:spPr>
                <a:xfrm>
                  <a:off x="3446292" y="5666793"/>
                  <a:ext cx="2275418" cy="412742"/>
                </a:xfrm>
                <a:prstGeom prst="rect">
                  <a:avLst/>
                </a:prstGeom>
                <a:noFill/>
                <a:ln w="9525" cap="flat" cmpd="sng" algn="ctr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dk1"/>
                </a:fontRef>
              </p:style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fr-FR" sz="11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100" b="1" i="1">
                                <a:latin typeface="Cambria Math" panose="02040503050406030204" pitchFamily="18" charset="0"/>
                              </a:rPr>
                              <m:t>𝑨</m:t>
                            </m:r>
                          </m:e>
                          <m:sub>
                            <m:r>
                              <a:rPr lang="fr-FR" sz="1100" b="1" i="1" smtClean="0">
                                <a:latin typeface="Cambria Math" panose="02040503050406030204" pitchFamily="18" charset="0"/>
                              </a:rPr>
                              <m:t>𝒏</m:t>
                            </m:r>
                          </m:sub>
                        </m:sSub>
                        <m:r>
                          <a:rPr lang="fr-FR" sz="1100" b="1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fr-FR" sz="11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fr-FR" sz="1100" b="1" i="1" smtClean="0">
                            <a:latin typeface="Cambria Math" panose="02040503050406030204" pitchFamily="18" charset="0"/>
                          </a:rPr>
                          <m:t>𝝅</m:t>
                        </m:r>
                        <m:r>
                          <a:rPr lang="fr-FR" sz="1100" b="1" i="1" smtClean="0">
                            <a:latin typeface="Cambria Math" panose="02040503050406030204" pitchFamily="18" charset="0"/>
                          </a:rPr>
                          <m:t>𝒏𝑭</m:t>
                        </m:r>
                        <m:func>
                          <m:funcPr>
                            <m:ctrlPr>
                              <a:rPr lang="fr-FR" sz="1100" b="1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fr-FR" sz="1100" b="1" i="0" smtClean="0">
                                <a:latin typeface="Cambria Math" panose="02040503050406030204" pitchFamily="18" charset="0"/>
                              </a:rPr>
                              <m:t>𝐜𝐨𝐬</m:t>
                            </m:r>
                          </m:fName>
                          <m:e>
                            <m:r>
                              <a:rPr lang="fr-FR" sz="1100" b="1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f>
                              <m:fPr>
                                <m:ctrlPr>
                                  <a:rPr lang="fr-FR" sz="11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fr-FR" sz="11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100" b="1" i="1" smtClean="0">
                                        <a:latin typeface="Cambria Math" panose="02040503050406030204" pitchFamily="18" charset="0"/>
                                      </a:rPr>
                                      <m:t>𝒌</m:t>
                                    </m:r>
                                  </m:e>
                                  <m:sub>
                                    <m:r>
                                      <a:rPr lang="fr-FR" sz="1100" b="1" i="1" smtClean="0"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</m:sub>
                                </m:sSub>
                                <m:r>
                                  <a:rPr lang="fr-FR" sz="1100" b="1" i="0" smtClean="0">
                                    <a:latin typeface="Cambria Math" panose="02040503050406030204" pitchFamily="18" charset="0"/>
                                  </a:rPr>
                                  <m:t>𝚫</m:t>
                                </m:r>
                              </m:num>
                              <m:den>
                                <m:r>
                                  <a:rPr lang="fr-FR" sz="1100" b="1" i="0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den>
                            </m:f>
                            <m:r>
                              <a:rPr lang="fr-FR" sz="1100" b="1" i="0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  <m:func>
                          <m:funcPr>
                            <m:ctrlPr>
                              <a:rPr lang="fr-FR" sz="1100" b="1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fr-FR" sz="1100" b="1" i="0" smtClean="0">
                                <a:latin typeface="Cambria Math" panose="02040503050406030204" pitchFamily="18" charset="0"/>
                              </a:rPr>
                              <m:t>𝐬𝐢𝐧</m:t>
                            </m:r>
                          </m:fName>
                          <m:e>
                            <m:r>
                              <a:rPr lang="fr-FR" sz="1100" b="1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fr-FR" sz="11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100" b="1" i="1" smtClean="0">
                                    <a:latin typeface="Cambria Math" panose="02040503050406030204" pitchFamily="18" charset="0"/>
                                  </a:rPr>
                                  <m:t>𝒌</m:t>
                                </m:r>
                              </m:e>
                              <m:sub>
                                <m:r>
                                  <a:rPr lang="fr-FR" sz="1100" b="1" i="1" smtClean="0"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fr-FR" sz="11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100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fr-FR" sz="1100" b="1" i="1" smtClean="0">
                                    <a:latin typeface="Cambria Math" panose="02040503050406030204" pitchFamily="18" charset="0"/>
                                  </a:rPr>
                                  <m:t>𝒉</m:t>
                                </m:r>
                              </m:sub>
                            </m:sSub>
                          </m:e>
                        </m:func>
                        <m:r>
                          <a:rPr lang="fr-FR" sz="1100" b="1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fr-FR" sz="1100" b="1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35AEDA01-758B-3F00-4A60-265DC91BE16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46292" y="5666793"/>
                  <a:ext cx="2275418" cy="41274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 w="9525" cap="flat" cmpd="sng" algn="ctr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CD964581-6A29-FF5B-C928-9EF35ED9F9C5}"/>
              </a:ext>
            </a:extLst>
          </p:cNvPr>
          <p:cNvCxnSpPr>
            <a:cxnSpLocks/>
          </p:cNvCxnSpPr>
          <p:nvPr/>
        </p:nvCxnSpPr>
        <p:spPr>
          <a:xfrm>
            <a:off x="4718123" y="1653396"/>
            <a:ext cx="0" cy="405949"/>
          </a:xfrm>
          <a:prstGeom prst="straightConnector1">
            <a:avLst/>
          </a:prstGeom>
          <a:ln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61150900-F07D-E6EB-A191-A9E8215410D5}"/>
                  </a:ext>
                </a:extLst>
              </p:cNvPr>
              <p:cNvSpPr txBox="1"/>
              <p:nvPr/>
            </p:nvSpPr>
            <p:spPr>
              <a:xfrm>
                <a:off x="4757238" y="1697555"/>
                <a:ext cx="18030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fr-FR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61150900-F07D-E6EB-A191-A9E8215410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7238" y="1697555"/>
                <a:ext cx="180306" cy="276999"/>
              </a:xfrm>
              <a:prstGeom prst="rect">
                <a:avLst/>
              </a:prstGeom>
              <a:blipFill>
                <a:blip r:embed="rId10"/>
                <a:stretch>
                  <a:fillRect l="-16667" r="-1000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F140CC7-2332-0D32-0B62-8061AE938083}"/>
                  </a:ext>
                </a:extLst>
              </p:cNvPr>
              <p:cNvSpPr/>
              <p:nvPr/>
            </p:nvSpPr>
            <p:spPr>
              <a:xfrm>
                <a:off x="326176" y="987790"/>
                <a:ext cx="2779881" cy="5129353"/>
              </a:xfrm>
              <a:prstGeom prst="roundRect">
                <a:avLst/>
              </a:prstGeom>
              <a:solidFill>
                <a:schemeClr val="accent4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fr-FR" b="1" dirty="0">
                    <a:solidFill>
                      <a:schemeClr val="tx1"/>
                    </a:solidFill>
                  </a:rPr>
                  <a:t>Hypothèses</a:t>
                </a:r>
              </a:p>
              <a:p>
                <a:pPr algn="ctr"/>
                <a:endParaRPr lang="fr-FR" b="1" dirty="0">
                  <a:solidFill>
                    <a:schemeClr val="tx1"/>
                  </a:solidFill>
                </a:endParaRP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fr-FR" dirty="0">
                    <a:solidFill>
                      <a:schemeClr val="tx1"/>
                    </a:solidFill>
                  </a:rPr>
                  <a:t>Onde stationnaire dans le plan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fr-F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fr-F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O</m:t>
                        </m:r>
                        <m:acc>
                          <m:accPr>
                            <m:chr m:val="⃗"/>
                            <m:ctrlPr>
                              <a:rPr lang="fr-FR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fr-FR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</m:acc>
                        <m:acc>
                          <m:accPr>
                            <m:chr m:val="⃗"/>
                            <m:ctrlPr>
                              <a:rPr lang="fr-FR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fr-FR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</m:e>
                    </m:d>
                  </m:oMath>
                </a14:m>
                <a:endParaRPr lang="fr-FR" dirty="0">
                  <a:solidFill>
                    <a:schemeClr val="tx1"/>
                  </a:solidFill>
                </a:endParaRP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endParaRPr lang="fr-FR" dirty="0">
                  <a:solidFill>
                    <a:schemeClr val="tx1"/>
                  </a:solidFill>
                </a:endParaRP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fr-FR" dirty="0">
                    <a:solidFill>
                      <a:schemeClr val="tx1"/>
                    </a:solidFill>
                  </a:rPr>
                  <a:t>Micros ponctuels</a:t>
                </a:r>
              </a:p>
              <a:p>
                <a:endParaRPr lang="fr-FR" dirty="0">
                  <a:solidFill>
                    <a:schemeClr val="tx1"/>
                  </a:solidFill>
                </a:endParaRP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fr-FR" dirty="0">
                    <a:solidFill>
                      <a:schemeClr val="tx1"/>
                    </a:solidFill>
                  </a:rPr>
                  <a:t>Induction mutuelle négligée</a:t>
                </a: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endParaRPr lang="fr-FR" dirty="0">
                  <a:solidFill>
                    <a:schemeClr val="tx1"/>
                  </a:solidFill>
                </a:endParaRP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fr-FR" dirty="0">
                    <a:solidFill>
                      <a:schemeClr val="tx1"/>
                    </a:solidFill>
                  </a:rPr>
                  <a:t>Champ induit </a:t>
                </a:r>
                <a14:m>
                  <m:oMath xmlns:m="http://schemas.openxmlformats.org/officeDocument/2006/math">
                    <m:r>
                      <a:rPr lang="fr-FR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⊥</m:t>
                    </m:r>
                  </m:oMath>
                </a14:m>
                <a:r>
                  <a:rPr lang="fr-FR" dirty="0">
                    <a:solidFill>
                      <a:schemeClr val="tx1"/>
                    </a:solidFill>
                  </a:rPr>
                  <a:t> aux micros</a:t>
                </a:r>
              </a:p>
              <a:p>
                <a:endParaRPr lang="fr-FR" b="1" u="sng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fr-FR" b="1" dirty="0">
                    <a:solidFill>
                      <a:schemeClr val="tx1"/>
                    </a:solidFill>
                  </a:rPr>
                  <a:t>Conséquences</a:t>
                </a:r>
              </a:p>
              <a:p>
                <a:pPr algn="ctr"/>
                <a:endParaRPr lang="fr-FR" b="1" u="sng" dirty="0">
                  <a:solidFill>
                    <a:schemeClr val="tx1"/>
                  </a:solidFill>
                </a:endParaRP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fr-FR" dirty="0">
                    <a:solidFill>
                      <a:schemeClr val="tx1"/>
                    </a:solidFill>
                  </a:rPr>
                  <a:t>Calculs simplifiés</a:t>
                </a: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F140CC7-2332-0D32-0B62-8061AE93808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176" y="987790"/>
                <a:ext cx="2779881" cy="5129353"/>
              </a:xfrm>
              <a:prstGeom prst="round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itle 1">
            <a:extLst>
              <a:ext uri="{FF2B5EF4-FFF2-40B4-BE49-F238E27FC236}">
                <a16:creationId xmlns:a16="http://schemas.microsoft.com/office/drawing/2014/main" id="{E517F0F1-CBA0-FB5D-D8AE-FE466AE9F33E}"/>
              </a:ext>
            </a:extLst>
          </p:cNvPr>
          <p:cNvSpPr txBox="1">
            <a:spLocks/>
          </p:cNvSpPr>
          <p:nvPr/>
        </p:nvSpPr>
        <p:spPr>
          <a:xfrm>
            <a:off x="3137564" y="542454"/>
            <a:ext cx="2899064" cy="4453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1900" dirty="0">
                <a:solidFill>
                  <a:schemeClr val="tx1"/>
                </a:solidFill>
                <a:latin typeface="Arial Black" panose="020B0A04020102020204" pitchFamily="34" charset="0"/>
              </a:rPr>
              <a:t>THEORIE</a:t>
            </a:r>
            <a:endParaRPr lang="fr-FR" sz="19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82603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E5DC96-7D6B-022A-BC8C-33392430BA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061BBAE7-6160-B5DF-F3DF-EB85F20260CC}"/>
                  </a:ext>
                </a:extLst>
              </p:cNvPr>
              <p:cNvSpPr/>
              <p:nvPr/>
            </p:nvSpPr>
            <p:spPr>
              <a:xfrm>
                <a:off x="322077" y="1187775"/>
                <a:ext cx="3533931" cy="1968002"/>
              </a:xfrm>
              <a:prstGeom prst="roundRect">
                <a:avLst/>
              </a:prstGeom>
              <a:solidFill>
                <a:schemeClr val="accent4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fr-FR" sz="1600" b="1" dirty="0">
                    <a:solidFill>
                      <a:schemeClr val="tx1"/>
                    </a:solidFill>
                  </a:rPr>
                  <a:t>Protocole</a:t>
                </a:r>
              </a:p>
              <a:p>
                <a:r>
                  <a:rPr lang="fr-FR" sz="1600" b="1" u="sng" dirty="0">
                    <a:solidFill>
                      <a:schemeClr val="tx1"/>
                    </a:solidFill>
                  </a:rPr>
                  <a:t>Objectif :</a:t>
                </a:r>
              </a:p>
              <a:p>
                <a:r>
                  <a:rPr lang="fr-FR" sz="1400" dirty="0">
                    <a:solidFill>
                      <a:schemeClr val="tx1"/>
                    </a:solidFill>
                  </a:rPr>
                  <a:t>Déterminer le spectre du signal induit par une vibration de la corde</a:t>
                </a:r>
              </a:p>
              <a:p>
                <a:endParaRPr lang="fr-FR" sz="800" b="1" u="sng" dirty="0">
                  <a:solidFill>
                    <a:schemeClr val="tx1"/>
                  </a:solidFill>
                </a:endParaRPr>
              </a:p>
              <a:p>
                <a:r>
                  <a:rPr lang="fr-FR" sz="1600" b="1" u="sng" dirty="0">
                    <a:solidFill>
                      <a:schemeClr val="tx1"/>
                    </a:solidFill>
                  </a:rPr>
                  <a:t>Méthode :</a:t>
                </a:r>
              </a:p>
              <a:p>
                <a:r>
                  <a:rPr lang="fr-FR" sz="1400" dirty="0">
                    <a:solidFill>
                      <a:schemeClr val="tx1"/>
                    </a:solidFill>
                  </a:rPr>
                  <a:t>Excitation manuelle 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fr-FR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fr-FR" sz="1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=30</m:t>
                    </m:r>
                  </m:oMath>
                </a14:m>
                <a:r>
                  <a:rPr lang="fr-FR" sz="1400" dirty="0">
                    <a:solidFill>
                      <a:schemeClr val="tx1"/>
                    </a:solidFill>
                  </a:rPr>
                  <a:t>cm  et </a:t>
                </a:r>
                <a14:m>
                  <m:oMath xmlns:m="http://schemas.openxmlformats.org/officeDocument/2006/math">
                    <m:r>
                      <a:rPr lang="fr-FR" sz="1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fr-FR" sz="1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=80</m:t>
                    </m:r>
                  </m:oMath>
                </a14:m>
                <a:r>
                  <a:rPr lang="fr-FR" sz="1400" dirty="0">
                    <a:solidFill>
                      <a:schemeClr val="tx1"/>
                    </a:solidFill>
                  </a:rPr>
                  <a:t>Hz car </a:t>
                </a:r>
                <a14:m>
                  <m:oMath xmlns:m="http://schemas.openxmlformats.org/officeDocument/2006/math">
                    <m:r>
                      <a:rPr lang="fr-FR" sz="14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𝒆</m:t>
                    </m:r>
                    <m:d>
                      <m:dPr>
                        <m:ctrlPr>
                          <a:rPr lang="fr-FR" sz="14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14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</m:d>
                    <m:r>
                      <a:rPr lang="fr-FR" sz="14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sz="14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𝒖</m:t>
                    </m:r>
                    <m:r>
                      <a:rPr lang="fr-FR" sz="14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fr-FR" sz="14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𝒕</m:t>
                    </m:r>
                    <m:r>
                      <a:rPr lang="fr-FR" sz="14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fr-FR" sz="1400" b="1" dirty="0">
                  <a:solidFill>
                    <a:srgbClr val="C00000"/>
                  </a:solidFill>
                </a:endParaRPr>
              </a:p>
              <a:p>
                <a:endParaRPr lang="fr-FR" sz="140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061BBAE7-6160-B5DF-F3DF-EB85F20260C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077" y="1187775"/>
                <a:ext cx="3533931" cy="1968002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>
            <a:extLst>
              <a:ext uri="{FF2B5EF4-FFF2-40B4-BE49-F238E27FC236}">
                <a16:creationId xmlns:a16="http://schemas.microsoft.com/office/drawing/2014/main" id="{98BD061B-D33F-5C6C-7159-62D2EA49DA0A}"/>
              </a:ext>
            </a:extLst>
          </p:cNvPr>
          <p:cNvGrpSpPr/>
          <p:nvPr/>
        </p:nvGrpSpPr>
        <p:grpSpPr>
          <a:xfrm>
            <a:off x="0" y="-4624"/>
            <a:ext cx="9144000" cy="457200"/>
            <a:chOff x="0" y="-4624"/>
            <a:chExt cx="9144000" cy="457200"/>
          </a:xfrm>
          <a:solidFill>
            <a:srgbClr val="4A66AC"/>
          </a:solidFill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E49283F-B7C2-323C-E9F5-655766F58916}"/>
                </a:ext>
              </a:extLst>
            </p:cNvPr>
            <p:cNvSpPr/>
            <p:nvPr/>
          </p:nvSpPr>
          <p:spPr>
            <a:xfrm>
              <a:off x="0" y="-4624"/>
              <a:ext cx="9144000" cy="457200"/>
            </a:xfrm>
            <a:prstGeom prst="rect">
              <a:avLst/>
            </a:prstGeom>
            <a:grpFill/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17" name="Footer Placeholder 2">
              <a:extLst>
                <a:ext uri="{FF2B5EF4-FFF2-40B4-BE49-F238E27FC236}">
                  <a16:creationId xmlns:a16="http://schemas.microsoft.com/office/drawing/2014/main" id="{9B218E2D-41F2-8DB6-FF3F-307297FEA32F}"/>
                </a:ext>
              </a:extLst>
            </p:cNvPr>
            <p:cNvSpPr txBox="1">
              <a:spLocks/>
            </p:cNvSpPr>
            <p:nvPr/>
          </p:nvSpPr>
          <p:spPr>
            <a:xfrm>
              <a:off x="1447764" y="41413"/>
              <a:ext cx="6248472" cy="36512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457200" rtl="0" eaLnBrk="1" latinLnBrk="0" hangingPunct="1">
                <a:defRPr sz="900" kern="1200" cap="all" baseline="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fr-FR" dirty="0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9359E262-01D9-BF02-4695-E9718D933A61}"/>
              </a:ext>
            </a:extLst>
          </p:cNvPr>
          <p:cNvSpPr/>
          <p:nvPr/>
        </p:nvSpPr>
        <p:spPr>
          <a:xfrm>
            <a:off x="326443" y="423275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3" name="Footer Placeholder 2">
            <a:extLst>
              <a:ext uri="{FF2B5EF4-FFF2-40B4-BE49-F238E27FC236}">
                <a16:creationId xmlns:a16="http://schemas.microsoft.com/office/drawing/2014/main" id="{6CEAFEBB-B7D7-A979-765E-DCADAB67C2C2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5340835-A145-5373-DEB1-EFF2B2EE05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581" b="3828"/>
          <a:stretch>
            <a:fillRect/>
          </a:stretch>
        </p:blipFill>
        <p:spPr>
          <a:xfrm>
            <a:off x="3975817" y="1128398"/>
            <a:ext cx="4913871" cy="4935123"/>
          </a:xfrm>
          <a:prstGeom prst="rect">
            <a:avLst/>
          </a:prstGeom>
          <a:effectLst>
            <a:softEdge rad="31750"/>
          </a:effectLst>
        </p:spPr>
      </p:pic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8F56B911-BB28-4CBE-3881-6EC2093BF7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</a:p>
        </p:txBody>
      </p:sp>
      <p:sp>
        <p:nvSpPr>
          <p:cNvPr id="22" name="Footer Placeholder 21">
            <a:extLst>
              <a:ext uri="{FF2B5EF4-FFF2-40B4-BE49-F238E27FC236}">
                <a16:creationId xmlns:a16="http://schemas.microsoft.com/office/drawing/2014/main" id="{982A5C74-26D9-E102-B27C-C61F193EC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TIPE 39662</a:t>
            </a:r>
          </a:p>
        </p:txBody>
      </p: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0FEB00C1-4A21-7BA9-DCEE-A1EF3054B8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058531"/>
              </p:ext>
            </p:extLst>
          </p:nvPr>
        </p:nvGraphicFramePr>
        <p:xfrm>
          <a:off x="326176" y="41413"/>
          <a:ext cx="856351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4504">
                  <a:extLst>
                    <a:ext uri="{9D8B030D-6E8A-4147-A177-3AD203B41FA5}">
                      <a16:colId xmlns:a16="http://schemas.microsoft.com/office/drawing/2014/main" val="1619084455"/>
                    </a:ext>
                  </a:extLst>
                </a:gridCol>
                <a:gridCol w="2854504">
                  <a:extLst>
                    <a:ext uri="{9D8B030D-6E8A-4147-A177-3AD203B41FA5}">
                      <a16:colId xmlns:a16="http://schemas.microsoft.com/office/drawing/2014/main" val="13699801"/>
                    </a:ext>
                  </a:extLst>
                </a:gridCol>
                <a:gridCol w="2854504">
                  <a:extLst>
                    <a:ext uri="{9D8B030D-6E8A-4147-A177-3AD203B41FA5}">
                      <a16:colId xmlns:a16="http://schemas.microsoft.com/office/drawing/2014/main" val="29905955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1050" b="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Filtrage électrique interne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 dirty="0">
                          <a:solidFill>
                            <a:schemeClr val="bg1"/>
                          </a:solidFill>
                        </a:rPr>
                        <a:t>Induction et filtrage spatial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b="0" dirty="0">
                          <a:solidFill>
                            <a:schemeClr val="bg1"/>
                          </a:solidFill>
                        </a:rPr>
                        <a:t>Reduction du bourdonnement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6456716"/>
                  </a:ext>
                </a:extLst>
              </a:tr>
            </a:tbl>
          </a:graphicData>
        </a:graphic>
      </p:graphicFrame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5081C8B4-641B-F61E-5A65-035612AE2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425344" y="6459786"/>
            <a:ext cx="984019" cy="365125"/>
          </a:xfrm>
        </p:spPr>
        <p:txBody>
          <a:bodyPr/>
          <a:lstStyle/>
          <a:p>
            <a:fld id="{477F8A04-938D-4CBF-A3DC-6CB925B6FC34}" type="slidenum">
              <a:rPr lang="fr-FR" sz="1400" b="1" smtClean="0"/>
              <a:t>14</a:t>
            </a:fld>
            <a:endParaRPr lang="fr-FR" sz="1400" b="1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16504D44-9253-8884-42D6-27114C591905}"/>
              </a:ext>
            </a:extLst>
          </p:cNvPr>
          <p:cNvPicPr>
            <a:picLocks noChangeAspect="1"/>
          </p:cNvPicPr>
          <p:nvPr/>
        </p:nvPicPr>
        <p:blipFill>
          <a:blip r:embed="rId5">
            <a:biLevel thresh="50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-2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85975" y="5380434"/>
            <a:ext cx="205518" cy="238100"/>
          </a:xfrm>
          <a:prstGeom prst="rect">
            <a:avLst/>
          </a:prstGeom>
        </p:spPr>
      </p:pic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8F91A0F7-0A8A-6942-5619-89D8D96F223A}"/>
              </a:ext>
            </a:extLst>
          </p:cNvPr>
          <p:cNvCxnSpPr>
            <a:cxnSpLocks/>
          </p:cNvCxnSpPr>
          <p:nvPr/>
        </p:nvCxnSpPr>
        <p:spPr>
          <a:xfrm>
            <a:off x="5007840" y="5505955"/>
            <a:ext cx="3840705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1">
            <a:extLst>
              <a:ext uri="{FF2B5EF4-FFF2-40B4-BE49-F238E27FC236}">
                <a16:creationId xmlns:a16="http://schemas.microsoft.com/office/drawing/2014/main" id="{4454D7CB-FE59-BE2C-343B-76D29DF6B0F5}"/>
              </a:ext>
            </a:extLst>
          </p:cNvPr>
          <p:cNvSpPr txBox="1">
            <a:spLocks/>
          </p:cNvSpPr>
          <p:nvPr/>
        </p:nvSpPr>
        <p:spPr>
          <a:xfrm>
            <a:off x="3137564" y="578739"/>
            <a:ext cx="2899064" cy="4453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7500" lnSpcReduction="2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2800" dirty="0">
                <a:solidFill>
                  <a:schemeClr val="tx1"/>
                </a:solidFill>
                <a:latin typeface="Arial Black" panose="020B0A04020102020204" pitchFamily="34" charset="0"/>
              </a:rPr>
              <a:t>EXPERIMENTATION</a:t>
            </a:r>
            <a:endParaRPr lang="fr-FR" sz="2800" dirty="0">
              <a:solidFill>
                <a:schemeClr val="tx1"/>
              </a:solidFill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F17C820C-5F54-00F0-45C7-A684FF0C7ACD}"/>
              </a:ext>
            </a:extLst>
          </p:cNvPr>
          <p:cNvPicPr>
            <a:picLocks noChangeAspect="1"/>
          </p:cNvPicPr>
          <p:nvPr/>
        </p:nvPicPr>
        <p:blipFill>
          <a:blip r:embed="rId7">
            <a:biLevel thresh="50000"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67589" y="3242369"/>
            <a:ext cx="2042906" cy="1980773"/>
          </a:xfrm>
          <a:prstGeom prst="rect">
            <a:avLst/>
          </a:prstGeom>
        </p:spPr>
      </p:pic>
      <p:grpSp>
        <p:nvGrpSpPr>
          <p:cNvPr id="26" name="Group 25">
            <a:extLst>
              <a:ext uri="{FF2B5EF4-FFF2-40B4-BE49-F238E27FC236}">
                <a16:creationId xmlns:a16="http://schemas.microsoft.com/office/drawing/2014/main" id="{21FF020D-0DC9-DD09-EFA8-178AAF75BC02}"/>
              </a:ext>
            </a:extLst>
          </p:cNvPr>
          <p:cNvGrpSpPr/>
          <p:nvPr/>
        </p:nvGrpSpPr>
        <p:grpSpPr>
          <a:xfrm>
            <a:off x="433260" y="5287864"/>
            <a:ext cx="3422748" cy="432697"/>
            <a:chOff x="372643" y="5293257"/>
            <a:chExt cx="3422748" cy="432697"/>
          </a:xfrm>
        </p:grpSpPr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CF8BA0E2-E32E-F12C-538C-A7D7999C75E2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rightnessContrast bright="40000" contrast="40000"/>
                      </a14:imgEffect>
                    </a14:imgLayer>
                  </a14:imgProps>
                </a:ext>
              </a:extLst>
            </a:blip>
            <a:srcRect l="3726" t="8959" r="3236" b="4515"/>
            <a:stretch>
              <a:fillRect/>
            </a:stretch>
          </p:blipFill>
          <p:spPr>
            <a:xfrm rot="10800000">
              <a:off x="372643" y="5293257"/>
              <a:ext cx="2042905" cy="421912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518BD196-F401-5F73-F650-EA0156F553A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rightnessContrast bright="40000" contrast="40000"/>
                      </a14:imgEffect>
                    </a14:imgLayer>
                  </a14:imgProps>
                </a:ext>
              </a:extLst>
            </a:blip>
            <a:srcRect l="3726" t="8959" r="49077" b="4515"/>
            <a:stretch>
              <a:fillRect/>
            </a:stretch>
          </p:blipFill>
          <p:spPr>
            <a:xfrm>
              <a:off x="2411235" y="5304042"/>
              <a:ext cx="1036338" cy="421912"/>
            </a:xfrm>
            <a:prstGeom prst="rect">
              <a:avLst/>
            </a:prstGeom>
          </p:spPr>
        </p:pic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F4BE9C19-194D-AF04-F1A9-4218F6E58A89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artisticPencilSketch/>
                      </a14:imgEffect>
                      <a14:imgEffect>
                        <a14:brightnessContrast bright="40000" contrast="40000"/>
                      </a14:imgEffect>
                    </a14:imgLayer>
                  </a14:imgProps>
                </a:ext>
              </a:extLst>
            </a:blip>
            <a:srcRect l="3726" t="8959" r="79077" b="4515"/>
            <a:stretch>
              <a:fillRect/>
            </a:stretch>
          </p:blipFill>
          <p:spPr>
            <a:xfrm>
              <a:off x="3417803" y="5304042"/>
              <a:ext cx="377588" cy="421912"/>
            </a:xfrm>
            <a:prstGeom prst="rect">
              <a:avLst/>
            </a:prstGeom>
          </p:spPr>
        </p:pic>
      </p:grpSp>
      <p:pic>
        <p:nvPicPr>
          <p:cNvPr id="30" name="Picture 29" descr="Projects and products | Open CASCADE Technology">
            <a:extLst>
              <a:ext uri="{FF2B5EF4-FFF2-40B4-BE49-F238E27FC236}">
                <a16:creationId xmlns:a16="http://schemas.microsoft.com/office/drawing/2014/main" id="{EA72AF15-2363-BAD5-AE89-1654CD59850A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19180" r="20676"/>
          <a:stretch>
            <a:fillRect/>
          </a:stretch>
        </p:blipFill>
        <p:spPr>
          <a:xfrm>
            <a:off x="8111317" y="525374"/>
            <a:ext cx="934658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68350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035FA2-0849-EE37-8E55-ACA53FD9E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CCB08A6-75F3-C217-089B-94DA3EE536FB}"/>
              </a:ext>
            </a:extLst>
          </p:cNvPr>
          <p:cNvGrpSpPr/>
          <p:nvPr/>
        </p:nvGrpSpPr>
        <p:grpSpPr>
          <a:xfrm>
            <a:off x="0" y="-4624"/>
            <a:ext cx="9144000" cy="457200"/>
            <a:chOff x="0" y="-4624"/>
            <a:chExt cx="9144000" cy="457200"/>
          </a:xfrm>
          <a:solidFill>
            <a:srgbClr val="4A66AC"/>
          </a:solidFill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7A11090-9E47-E883-0F29-75609AC1E275}"/>
                </a:ext>
              </a:extLst>
            </p:cNvPr>
            <p:cNvSpPr/>
            <p:nvPr/>
          </p:nvSpPr>
          <p:spPr>
            <a:xfrm>
              <a:off x="0" y="-4624"/>
              <a:ext cx="9144000" cy="457200"/>
            </a:xfrm>
            <a:prstGeom prst="rect">
              <a:avLst/>
            </a:prstGeom>
            <a:grpFill/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11" name="Footer Placeholder 2">
              <a:extLst>
                <a:ext uri="{FF2B5EF4-FFF2-40B4-BE49-F238E27FC236}">
                  <a16:creationId xmlns:a16="http://schemas.microsoft.com/office/drawing/2014/main" id="{5A8CAB53-01B8-7DD4-BABD-161C3B42FE77}"/>
                </a:ext>
              </a:extLst>
            </p:cNvPr>
            <p:cNvSpPr txBox="1">
              <a:spLocks/>
            </p:cNvSpPr>
            <p:nvPr/>
          </p:nvSpPr>
          <p:spPr>
            <a:xfrm>
              <a:off x="1447764" y="41413"/>
              <a:ext cx="6248472" cy="36512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457200" rtl="0" eaLnBrk="1" latinLnBrk="0" hangingPunct="1">
                <a:defRPr sz="900" kern="1200" cap="all" baseline="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fr-FR" dirty="0"/>
            </a:p>
          </p:txBody>
        </p:sp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8917C206-7D8F-F87C-A464-C28158F269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5762" y="1243154"/>
            <a:ext cx="3600000" cy="2999999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971E75F-9259-7FAA-45E5-54846152DA8A}"/>
              </a:ext>
            </a:extLst>
          </p:cNvPr>
          <p:cNvSpPr txBox="1"/>
          <p:nvPr/>
        </p:nvSpPr>
        <p:spPr>
          <a:xfrm>
            <a:off x="655762" y="4295251"/>
            <a:ext cx="3600000" cy="2616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1100" dirty="0"/>
              <a:t>Micro SingleCoil (Théorie)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CAD8DFC-CCA3-143E-1C3A-755E2E49D659}"/>
              </a:ext>
            </a:extLst>
          </p:cNvPr>
          <p:cNvSpPr txBox="1"/>
          <p:nvPr/>
        </p:nvSpPr>
        <p:spPr>
          <a:xfrm>
            <a:off x="4888238" y="4291643"/>
            <a:ext cx="3600000" cy="2616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1100" dirty="0"/>
              <a:t>Micro SingleCoil (Expérience)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BABFBD4-0070-EF04-AA46-1FCDEC8DDE48}"/>
                  </a:ext>
                </a:extLst>
              </p:cNvPr>
              <p:cNvSpPr txBox="1"/>
              <p:nvPr/>
            </p:nvSpPr>
            <p:spPr>
              <a:xfrm>
                <a:off x="517169" y="4776032"/>
                <a:ext cx="8372519" cy="10389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b="1" u="sng" dirty="0"/>
                  <a:t>Interprétation</a:t>
                </a:r>
              </a:p>
              <a:p>
                <a:r>
                  <a:rPr lang="fr-FR" dirty="0">
                    <a:sym typeface="Wingdings" panose="05000000000000000000" pitchFamily="2" charset="2"/>
                  </a:rPr>
                  <a:t>✅ </a:t>
                </a:r>
                <a:r>
                  <a:rPr lang="fr-FR" dirty="0"/>
                  <a:t>Décroissance en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fr-FR" i="1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endParaRPr lang="fr-FR" dirty="0"/>
              </a:p>
              <a:p>
                <a:r>
                  <a:rPr lang="fr-FR" dirty="0">
                    <a:sym typeface="Wingdings" panose="05000000000000000000" pitchFamily="2" charset="2"/>
                  </a:rPr>
                  <a:t>✅ </a:t>
                </a:r>
                <a:r>
                  <a:rPr lang="fr-FR" dirty="0"/>
                  <a:t>Modes 2, 4, 5 et 6 amplifiés</a:t>
                </a: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BABFBD4-0070-EF04-AA46-1FCDEC8DDE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169" y="4776032"/>
                <a:ext cx="8372519" cy="1038939"/>
              </a:xfrm>
              <a:prstGeom prst="rect">
                <a:avLst/>
              </a:prstGeom>
              <a:blipFill>
                <a:blip r:embed="rId3"/>
                <a:stretch>
                  <a:fillRect l="-655" t="-2924" b="-818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A624D57-F4C1-F5D8-3CC9-E0209DB59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TIPE 39662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E74625C-1157-F956-CC44-D38484D63704}"/>
                  </a:ext>
                </a:extLst>
              </p:cNvPr>
              <p:cNvSpPr txBox="1"/>
              <p:nvPr/>
            </p:nvSpPr>
            <p:spPr>
              <a:xfrm>
                <a:off x="5372035" y="5203303"/>
                <a:ext cx="2504185" cy="405496"/>
              </a:xfrm>
              <a:prstGeom prst="rect">
                <a:avLst/>
              </a:prstGeom>
              <a:noFill/>
              <a:ln w="19050">
                <a:solidFill>
                  <a:srgbClr val="C00000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fr-FR" b="0" dirty="0">
                    <a:solidFill>
                      <a:srgbClr val="C00000"/>
                    </a:solidFill>
                    <a:ea typeface="Cambria Math" panose="02040503050406030204" pitchFamily="18" charset="0"/>
                  </a:rPr>
                  <a:t>Amplitude </a:t>
                </a:r>
                <a14:m>
                  <m:oMath xmlns:m="http://schemas.openxmlformats.org/officeDocument/2006/math">
                    <m:r>
                      <a:rPr lang="fr-FR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fr-FR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𝐾</m:t>
                    </m:r>
                    <m:f>
                      <m:fPr>
                        <m:ctrlPr>
                          <a:rPr lang="fr-FR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func>
                          <m:funcPr>
                            <m:ctrlPr>
                              <a:rPr lang="fr-FR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fr-FR" b="0" i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r>
                              <a:rPr lang="fr-FR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fr-FR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fr-FR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fr-FR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fr-FR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  <m:r>
                              <a:rPr lang="fr-FR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</m:num>
                      <m:den>
                        <m:r>
                          <a:rPr lang="fr-FR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endParaRPr lang="fr-FR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E74625C-1157-F956-CC44-D38484D637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2035" y="5203303"/>
                <a:ext cx="2504185" cy="405496"/>
              </a:xfrm>
              <a:prstGeom prst="rect">
                <a:avLst/>
              </a:prstGeom>
              <a:blipFill>
                <a:blip r:embed="rId4"/>
                <a:stretch>
                  <a:fillRect l="-2174" t="-1449" b="-15942"/>
                </a:stretch>
              </a:blipFill>
              <a:ln w="19050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>
            <a:extLst>
              <a:ext uri="{FF2B5EF4-FFF2-40B4-BE49-F238E27FC236}">
                <a16:creationId xmlns:a16="http://schemas.microsoft.com/office/drawing/2014/main" id="{39C4E2F6-656E-8266-5DE2-F8CA51BB84A7}"/>
              </a:ext>
            </a:extLst>
          </p:cNvPr>
          <p:cNvSpPr txBox="1"/>
          <p:nvPr/>
        </p:nvSpPr>
        <p:spPr>
          <a:xfrm>
            <a:off x="4827758" y="4787347"/>
            <a:ext cx="4613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u="sng" dirty="0"/>
              <a:t>Explication</a:t>
            </a:r>
            <a:endParaRPr lang="fr-FR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3FF3B87D-F3B2-17A1-9B13-5DACB3E7A7A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827758" y="1249201"/>
            <a:ext cx="3592740" cy="2993950"/>
          </a:xfrm>
          <a:prstGeom prst="rect">
            <a:avLst/>
          </a:prstGeom>
          <a:ln>
            <a:solidFill>
              <a:schemeClr val="bg1"/>
            </a:solidFill>
          </a:ln>
        </p:spPr>
      </p:pic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F926BDE1-7057-6CAA-D208-1327F028FD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058531"/>
              </p:ext>
            </p:extLst>
          </p:nvPr>
        </p:nvGraphicFramePr>
        <p:xfrm>
          <a:off x="326176" y="41413"/>
          <a:ext cx="856351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4504">
                  <a:extLst>
                    <a:ext uri="{9D8B030D-6E8A-4147-A177-3AD203B41FA5}">
                      <a16:colId xmlns:a16="http://schemas.microsoft.com/office/drawing/2014/main" val="1619084455"/>
                    </a:ext>
                  </a:extLst>
                </a:gridCol>
                <a:gridCol w="2854504">
                  <a:extLst>
                    <a:ext uri="{9D8B030D-6E8A-4147-A177-3AD203B41FA5}">
                      <a16:colId xmlns:a16="http://schemas.microsoft.com/office/drawing/2014/main" val="13699801"/>
                    </a:ext>
                  </a:extLst>
                </a:gridCol>
                <a:gridCol w="2854504">
                  <a:extLst>
                    <a:ext uri="{9D8B030D-6E8A-4147-A177-3AD203B41FA5}">
                      <a16:colId xmlns:a16="http://schemas.microsoft.com/office/drawing/2014/main" val="29905955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1050" b="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Filtrage électrique interne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 dirty="0">
                          <a:solidFill>
                            <a:schemeClr val="bg1"/>
                          </a:solidFill>
                        </a:rPr>
                        <a:t>Induction et filtrage spatial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b="0" dirty="0">
                          <a:solidFill>
                            <a:schemeClr val="bg1"/>
                          </a:solidFill>
                        </a:rPr>
                        <a:t>Reduction du bourdonnement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6456716"/>
                  </a:ext>
                </a:extLst>
              </a:tr>
            </a:tbl>
          </a:graphicData>
        </a:graphic>
      </p:graphicFrame>
      <p:pic>
        <p:nvPicPr>
          <p:cNvPr id="29" name="Picture 28" descr="Python Logo PNG Transparent – Brands Logos">
            <a:extLst>
              <a:ext uri="{FF2B5EF4-FFF2-40B4-BE49-F238E27FC236}">
                <a16:creationId xmlns:a16="http://schemas.microsoft.com/office/drawing/2014/main" id="{90270A4D-19B9-ADC9-8698-3824832580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9105" y="527823"/>
            <a:ext cx="43383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E845832-E47B-15C0-52AF-DE2EDF18C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425344" y="6459786"/>
            <a:ext cx="984019" cy="365125"/>
          </a:xfrm>
        </p:spPr>
        <p:txBody>
          <a:bodyPr/>
          <a:lstStyle/>
          <a:p>
            <a:fld id="{477F8A04-938D-4CBF-A3DC-6CB925B6FC34}" type="slidenum">
              <a:rPr lang="fr-FR" sz="1400" b="1" smtClean="0"/>
              <a:t>15</a:t>
            </a:fld>
            <a:endParaRPr lang="fr-FR" sz="1400" b="1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CB94AC1-7153-2F0A-269A-8184D9192467}"/>
              </a:ext>
            </a:extLst>
          </p:cNvPr>
          <p:cNvSpPr txBox="1">
            <a:spLocks/>
          </p:cNvSpPr>
          <p:nvPr/>
        </p:nvSpPr>
        <p:spPr>
          <a:xfrm>
            <a:off x="3137564" y="564225"/>
            <a:ext cx="2899064" cy="4453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1900" dirty="0">
                <a:solidFill>
                  <a:schemeClr val="tx1"/>
                </a:solidFill>
                <a:latin typeface="Arial Black" panose="020B0A04020102020204" pitchFamily="34" charset="0"/>
              </a:rPr>
              <a:t>RESULTATS</a:t>
            </a:r>
            <a:endParaRPr lang="fr-FR" sz="19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72008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3B0776-6070-B8A2-6D9F-E5C0B68D5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FB68D66-9E95-3048-2E0B-343D3B2583D0}"/>
                  </a:ext>
                </a:extLst>
              </p:cNvPr>
              <p:cNvSpPr txBox="1"/>
              <p:nvPr/>
            </p:nvSpPr>
            <p:spPr>
              <a:xfrm>
                <a:off x="517169" y="4798890"/>
                <a:ext cx="8372519" cy="13159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b="1" u="sng" dirty="0"/>
                  <a:t>Interprétation</a:t>
                </a:r>
              </a:p>
              <a:p>
                <a:r>
                  <a:rPr lang="fr-FR" dirty="0">
                    <a:sym typeface="Wingdings" panose="05000000000000000000" pitchFamily="2" charset="2"/>
                  </a:rPr>
                  <a:t>✅ </a:t>
                </a:r>
                <a:r>
                  <a:rPr lang="fr-FR" dirty="0"/>
                  <a:t>Décroissance en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fr-FR" i="1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endParaRPr lang="fr-FR" dirty="0"/>
              </a:p>
              <a:p>
                <a:r>
                  <a:rPr lang="fr-FR" dirty="0">
                    <a:sym typeface="Wingdings" panose="05000000000000000000" pitchFamily="2" charset="2"/>
                  </a:rPr>
                  <a:t>✅ </a:t>
                </a:r>
                <a:r>
                  <a:rPr lang="fr-FR" dirty="0"/>
                  <a:t>Modes 2 et 4 amplifiés</a:t>
                </a:r>
              </a:p>
              <a:p>
                <a:r>
                  <a:rPr lang="fr-FR" dirty="0">
                    <a:sym typeface="Wingdings" panose="05000000000000000000" pitchFamily="2" charset="2"/>
                  </a:rPr>
                  <a:t>❌ </a:t>
                </a:r>
                <a:r>
                  <a:rPr lang="fr-FR" dirty="0"/>
                  <a:t>Ecart au mode 4 (320 Hz)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FB68D66-9E95-3048-2E0B-343D3B2583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169" y="4798890"/>
                <a:ext cx="8372519" cy="1315938"/>
              </a:xfrm>
              <a:prstGeom prst="rect">
                <a:avLst/>
              </a:prstGeom>
              <a:blipFill>
                <a:blip r:embed="rId2"/>
                <a:stretch>
                  <a:fillRect l="-655" t="-2315" b="-648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80AC9B-8262-9B48-47CD-FC997E4B83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3B99880-11E0-A7BA-ED53-2BF29D230E73}"/>
              </a:ext>
            </a:extLst>
          </p:cNvPr>
          <p:cNvGrpSpPr/>
          <p:nvPr/>
        </p:nvGrpSpPr>
        <p:grpSpPr>
          <a:xfrm>
            <a:off x="0" y="-4624"/>
            <a:ext cx="9144000" cy="457200"/>
            <a:chOff x="0" y="-4624"/>
            <a:chExt cx="9144000" cy="457200"/>
          </a:xfrm>
          <a:solidFill>
            <a:srgbClr val="4A66AC"/>
          </a:solidFill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CBDBE29-3737-3A36-9F03-6A308E780641}"/>
                </a:ext>
              </a:extLst>
            </p:cNvPr>
            <p:cNvSpPr/>
            <p:nvPr/>
          </p:nvSpPr>
          <p:spPr>
            <a:xfrm>
              <a:off x="0" y="-4624"/>
              <a:ext cx="9144000" cy="457200"/>
            </a:xfrm>
            <a:prstGeom prst="rect">
              <a:avLst/>
            </a:prstGeom>
            <a:grpFill/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11" name="Footer Placeholder 2">
              <a:extLst>
                <a:ext uri="{FF2B5EF4-FFF2-40B4-BE49-F238E27FC236}">
                  <a16:creationId xmlns:a16="http://schemas.microsoft.com/office/drawing/2014/main" id="{168428B4-D9A1-DA21-A141-7F89B05F1DB9}"/>
                </a:ext>
              </a:extLst>
            </p:cNvPr>
            <p:cNvSpPr txBox="1">
              <a:spLocks/>
            </p:cNvSpPr>
            <p:nvPr/>
          </p:nvSpPr>
          <p:spPr>
            <a:xfrm>
              <a:off x="1447764" y="41413"/>
              <a:ext cx="6248472" cy="36512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457200" rtl="0" eaLnBrk="1" latinLnBrk="0" hangingPunct="1">
                <a:defRPr sz="900" kern="1200" cap="all" baseline="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fr-FR" dirty="0"/>
            </a:p>
          </p:txBody>
        </p:sp>
      </p:grp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9E6CA2-8879-E8E8-EC0B-E3AF58AA1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TIPE 39662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8A97981-7912-272E-7ACF-6108A251F5DE}"/>
                  </a:ext>
                </a:extLst>
              </p:cNvPr>
              <p:cNvSpPr txBox="1"/>
              <p:nvPr/>
            </p:nvSpPr>
            <p:spPr>
              <a:xfrm>
                <a:off x="4960189" y="5266577"/>
                <a:ext cx="3218413" cy="520463"/>
              </a:xfrm>
              <a:prstGeom prst="rect">
                <a:avLst/>
              </a:prstGeom>
              <a:noFill/>
              <a:ln w="19050">
                <a:solidFill>
                  <a:srgbClr val="C00000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fr-FR" b="0" dirty="0">
                    <a:solidFill>
                      <a:srgbClr val="C00000"/>
                    </a:solidFill>
                    <a:ea typeface="Cambria Math" panose="02040503050406030204" pitchFamily="18" charset="0"/>
                  </a:rPr>
                  <a:t>Amplitude </a:t>
                </a:r>
                <a14:m>
                  <m:oMath xmlns:m="http://schemas.openxmlformats.org/officeDocument/2006/math">
                    <m:r>
                      <a:rPr lang="fr-FR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fr-FR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𝐾</m:t>
                    </m:r>
                    <m:f>
                      <m:fPr>
                        <m:ctrlPr>
                          <a:rPr lang="fr-FR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func>
                          <m:funcPr>
                            <m:ctrlPr>
                              <a:rPr lang="fr-FR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fr-FR" b="0" i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cos</m:t>
                            </m:r>
                          </m:fName>
                          <m:e>
                            <m:r>
                              <a:rPr lang="fr-FR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f>
                              <m:fPr>
                                <m:ctrlPr>
                                  <a:rPr lang="fr-FR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fr-FR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fr-FR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fr-FR" b="0" i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Δ</m:t>
                                </m:r>
                              </m:num>
                              <m:den>
                                <m:r>
                                  <a:rPr lang="fr-FR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fr-FR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  <m:func>
                          <m:funcPr>
                            <m:ctrlPr>
                              <a:rPr lang="fr-FR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fr-FR" b="0" i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r>
                              <a:rPr lang="fr-FR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fr-FR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fr-FR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fr-FR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fr-FR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h</m:t>
                                </m:r>
                              </m:sub>
                            </m:sSub>
                            <m:r>
                              <a:rPr lang="fr-FR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</m:num>
                      <m:den>
                        <m:r>
                          <a:rPr lang="fr-FR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endParaRPr lang="fr-FR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8A97981-7912-272E-7ACF-6108A251F5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0189" y="5266577"/>
                <a:ext cx="3218413" cy="520463"/>
              </a:xfrm>
              <a:prstGeom prst="rect">
                <a:avLst/>
              </a:prstGeom>
              <a:blipFill>
                <a:blip r:embed="rId3"/>
                <a:stretch>
                  <a:fillRect l="-1507" b="-11364"/>
                </a:stretch>
              </a:blipFill>
              <a:ln w="19050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>
            <a:extLst>
              <a:ext uri="{FF2B5EF4-FFF2-40B4-BE49-F238E27FC236}">
                <a16:creationId xmlns:a16="http://schemas.microsoft.com/office/drawing/2014/main" id="{62E9BE76-3E1C-DD1F-D8A7-D7C6D9593C6B}"/>
              </a:ext>
            </a:extLst>
          </p:cNvPr>
          <p:cNvSpPr txBox="1"/>
          <p:nvPr/>
        </p:nvSpPr>
        <p:spPr>
          <a:xfrm>
            <a:off x="4852555" y="4805451"/>
            <a:ext cx="4613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u="sng" dirty="0"/>
              <a:t>Explication</a:t>
            </a:r>
            <a:endParaRPr lang="fr-FR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A01F9E83-A6F3-6D91-CA14-B7F3AFCB93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3020" y="1249202"/>
            <a:ext cx="3592740" cy="2993950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E30C8D0D-93B5-CCBA-2B39-9C042195F7C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827758" y="1249201"/>
            <a:ext cx="3592740" cy="2993949"/>
          </a:xfrm>
          <a:prstGeom prst="rect">
            <a:avLst/>
          </a:prstGeom>
          <a:ln>
            <a:solidFill>
              <a:schemeClr val="bg1"/>
            </a:solidFill>
          </a:ln>
        </p:spPr>
      </p:pic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AA0DE2CE-31CB-5804-5054-16DE572DF3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058531"/>
              </p:ext>
            </p:extLst>
          </p:nvPr>
        </p:nvGraphicFramePr>
        <p:xfrm>
          <a:off x="326176" y="41413"/>
          <a:ext cx="856351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4504">
                  <a:extLst>
                    <a:ext uri="{9D8B030D-6E8A-4147-A177-3AD203B41FA5}">
                      <a16:colId xmlns:a16="http://schemas.microsoft.com/office/drawing/2014/main" val="1619084455"/>
                    </a:ext>
                  </a:extLst>
                </a:gridCol>
                <a:gridCol w="2854504">
                  <a:extLst>
                    <a:ext uri="{9D8B030D-6E8A-4147-A177-3AD203B41FA5}">
                      <a16:colId xmlns:a16="http://schemas.microsoft.com/office/drawing/2014/main" val="13699801"/>
                    </a:ext>
                  </a:extLst>
                </a:gridCol>
                <a:gridCol w="2854504">
                  <a:extLst>
                    <a:ext uri="{9D8B030D-6E8A-4147-A177-3AD203B41FA5}">
                      <a16:colId xmlns:a16="http://schemas.microsoft.com/office/drawing/2014/main" val="29905955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1050" b="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Filtrage électrique interne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 dirty="0">
                          <a:solidFill>
                            <a:schemeClr val="bg1"/>
                          </a:solidFill>
                        </a:rPr>
                        <a:t>Induction et filtrage spatial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b="0" dirty="0">
                          <a:solidFill>
                            <a:schemeClr val="bg1"/>
                          </a:solidFill>
                        </a:rPr>
                        <a:t>Reduction du bourdonnement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6456716"/>
                  </a:ext>
                </a:extLst>
              </a:tr>
            </a:tbl>
          </a:graphicData>
        </a:graphic>
      </p:graphicFrame>
      <p:pic>
        <p:nvPicPr>
          <p:cNvPr id="34" name="Picture 33" descr="Python Logo PNG Transparent – Brands Logos">
            <a:extLst>
              <a:ext uri="{FF2B5EF4-FFF2-40B4-BE49-F238E27FC236}">
                <a16:creationId xmlns:a16="http://schemas.microsoft.com/office/drawing/2014/main" id="{D03D47F7-7ACE-3539-D126-594A312E6A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9105" y="527823"/>
            <a:ext cx="43383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B00F24D5-E92A-9FA3-3B43-11FAB4F9C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425344" y="6459786"/>
            <a:ext cx="984019" cy="365125"/>
          </a:xfrm>
        </p:spPr>
        <p:txBody>
          <a:bodyPr/>
          <a:lstStyle/>
          <a:p>
            <a:fld id="{477F8A04-938D-4CBF-A3DC-6CB925B6FC34}" type="slidenum">
              <a:rPr lang="fr-FR" sz="1400" b="1" smtClean="0"/>
              <a:t>16</a:t>
            </a:fld>
            <a:endParaRPr lang="fr-FR" sz="1400" b="1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46EB6150-7123-0603-320D-C7BD8C68B6BA}"/>
              </a:ext>
            </a:extLst>
          </p:cNvPr>
          <p:cNvSpPr txBox="1">
            <a:spLocks/>
          </p:cNvSpPr>
          <p:nvPr/>
        </p:nvSpPr>
        <p:spPr>
          <a:xfrm>
            <a:off x="3137564" y="564225"/>
            <a:ext cx="2899064" cy="4453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1900" dirty="0">
                <a:solidFill>
                  <a:schemeClr val="tx1"/>
                </a:solidFill>
                <a:latin typeface="Arial Black" panose="020B0A04020102020204" pitchFamily="34" charset="0"/>
              </a:rPr>
              <a:t>RESULTATS</a:t>
            </a:r>
            <a:endParaRPr lang="fr-FR" sz="19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4CDD31-D82F-9474-42AF-7056818C6A62}"/>
              </a:ext>
            </a:extLst>
          </p:cNvPr>
          <p:cNvSpPr txBox="1"/>
          <p:nvPr/>
        </p:nvSpPr>
        <p:spPr>
          <a:xfrm>
            <a:off x="655762" y="4295251"/>
            <a:ext cx="3600000" cy="2616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1100" dirty="0"/>
              <a:t>Micro Humbucker série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9746CC5-F89F-E3EE-98E4-547926C047EC}"/>
              </a:ext>
            </a:extLst>
          </p:cNvPr>
          <p:cNvSpPr txBox="1"/>
          <p:nvPr/>
        </p:nvSpPr>
        <p:spPr>
          <a:xfrm>
            <a:off x="4888238" y="4291643"/>
            <a:ext cx="3600000" cy="2616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1100" dirty="0"/>
              <a:t>Micro Humbucker parallèle</a:t>
            </a:r>
          </a:p>
        </p:txBody>
      </p:sp>
    </p:spTree>
    <p:extLst>
      <p:ext uri="{BB962C8B-B14F-4D97-AF65-F5344CB8AC3E}">
        <p14:creationId xmlns:p14="http://schemas.microsoft.com/office/powerpoint/2010/main" val="23899856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E3BAE8-7762-46B2-E907-AD7099361A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61E5EDFB-C840-65AB-C6E3-90FB7CB6E4AA}"/>
              </a:ext>
            </a:extLst>
          </p:cNvPr>
          <p:cNvGrpSpPr/>
          <p:nvPr/>
        </p:nvGrpSpPr>
        <p:grpSpPr>
          <a:xfrm>
            <a:off x="0" y="-4624"/>
            <a:ext cx="9144000" cy="457200"/>
            <a:chOff x="0" y="-4624"/>
            <a:chExt cx="9144000" cy="457200"/>
          </a:xfrm>
          <a:solidFill>
            <a:srgbClr val="4A66AC"/>
          </a:solidFill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B845F26-B0CA-A491-4DA1-1F594CFBD876}"/>
                </a:ext>
              </a:extLst>
            </p:cNvPr>
            <p:cNvSpPr/>
            <p:nvPr/>
          </p:nvSpPr>
          <p:spPr>
            <a:xfrm>
              <a:off x="0" y="-4624"/>
              <a:ext cx="9144000" cy="457200"/>
            </a:xfrm>
            <a:prstGeom prst="rect">
              <a:avLst/>
            </a:prstGeom>
            <a:grpFill/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12" name="Footer Placeholder 2">
              <a:extLst>
                <a:ext uri="{FF2B5EF4-FFF2-40B4-BE49-F238E27FC236}">
                  <a16:creationId xmlns:a16="http://schemas.microsoft.com/office/drawing/2014/main" id="{82433090-BC1B-2216-FF85-994BBF3E9F74}"/>
                </a:ext>
              </a:extLst>
            </p:cNvPr>
            <p:cNvSpPr txBox="1">
              <a:spLocks/>
            </p:cNvSpPr>
            <p:nvPr/>
          </p:nvSpPr>
          <p:spPr>
            <a:xfrm>
              <a:off x="1447764" y="41413"/>
              <a:ext cx="6248472" cy="36512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457200" rtl="0" eaLnBrk="1" latinLnBrk="0" hangingPunct="1">
                <a:defRPr sz="900" kern="1200" cap="all" baseline="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fr-FR" dirty="0"/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97EB2398-EFF8-C9A2-49F0-95D4E4A8CC35}"/>
              </a:ext>
            </a:extLst>
          </p:cNvPr>
          <p:cNvSpPr/>
          <p:nvPr/>
        </p:nvSpPr>
        <p:spPr>
          <a:xfrm>
            <a:off x="345440" y="4221312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EAA1C499-08B3-9C15-9DE4-81770D2A2D95}"/>
                  </a:ext>
                </a:extLst>
              </p:cNvPr>
              <p:cNvSpPr/>
              <p:nvPr/>
            </p:nvSpPr>
            <p:spPr>
              <a:xfrm>
                <a:off x="5681666" y="1128398"/>
                <a:ext cx="3208021" cy="915896"/>
              </a:xfrm>
              <a:prstGeom prst="roundRect">
                <a:avLst/>
              </a:prstGeom>
              <a:noFill/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pPr algn="ctr"/>
                <a:r>
                  <a:rPr lang="fr-FR" sz="1400" b="1" dirty="0">
                    <a:solidFill>
                      <a:schemeClr val="tx1"/>
                    </a:solidFill>
                  </a:rPr>
                  <a:t>Calcul du gain d’atténuation relatif</a:t>
                </a:r>
              </a:p>
              <a:p>
                <a:endParaRPr lang="fr-FR" sz="1400" b="0" i="1" dirty="0">
                  <a:solidFill>
                    <a:srgbClr val="C0000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fr-FR" sz="1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=20</m:t>
                      </m:r>
                      <m:func>
                        <m:funcPr>
                          <m:ctrlPr>
                            <a:rPr lang="fr-FR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fr-FR" sz="1400" b="0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fr-FR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fr-FR" sz="1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fr-FR" sz="1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fr-FR" sz="1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n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fr-FR" sz="14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sub>
                              </m:sSub>
                            </m:sub>
                          </m:sSub>
                          <m:r>
                            <a:rPr lang="fr-FR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 /</m:t>
                          </m:r>
                          <m:sSub>
                            <m:sSubPr>
                              <m:ctrlPr>
                                <a:rPr lang="fr-FR" sz="1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fr-FR" sz="1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fr-FR" sz="1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n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fr-FR" sz="1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sub>
                              </m:sSub>
                            </m:sub>
                          </m:sSub>
                          <m:r>
                            <a:rPr lang="fr-FR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fr-FR" sz="1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EAA1C499-08B3-9C15-9DE4-81770D2A2D9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1666" y="1128398"/>
                <a:ext cx="3208021" cy="915896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0" name="Group 29">
            <a:extLst>
              <a:ext uri="{FF2B5EF4-FFF2-40B4-BE49-F238E27FC236}">
                <a16:creationId xmlns:a16="http://schemas.microsoft.com/office/drawing/2014/main" id="{AE1FC82B-F70C-8D5D-E171-A36BE02D4021}"/>
              </a:ext>
            </a:extLst>
          </p:cNvPr>
          <p:cNvGrpSpPr/>
          <p:nvPr/>
        </p:nvGrpSpPr>
        <p:grpSpPr>
          <a:xfrm>
            <a:off x="5714016" y="2163818"/>
            <a:ext cx="3269985" cy="3993142"/>
            <a:chOff x="5958063" y="2389099"/>
            <a:chExt cx="2878491" cy="3573164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CA3093A-8816-005B-D928-3B44B655C8E2}"/>
                </a:ext>
              </a:extLst>
            </p:cNvPr>
            <p:cNvSpPr/>
            <p:nvPr/>
          </p:nvSpPr>
          <p:spPr>
            <a:xfrm>
              <a:off x="5958063" y="2389099"/>
              <a:ext cx="2878491" cy="3573164"/>
            </a:xfrm>
            <a:prstGeom prst="rect">
              <a:avLst/>
            </a:prstGeom>
            <a:ln w="38100"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r>
                <a:rPr lang="fr-FR" sz="1400" b="1" u="sng" dirty="0">
                  <a:solidFill>
                    <a:schemeClr val="tx1"/>
                  </a:solidFill>
                </a:rPr>
                <a:t>Nœuds de vibration :</a:t>
              </a:r>
            </a:p>
            <a:p>
              <a:endParaRPr lang="fr-FR" sz="1400" b="1" dirty="0">
                <a:solidFill>
                  <a:schemeClr val="tx1"/>
                </a:solidFill>
              </a:endParaRPr>
            </a:p>
            <a:p>
              <a:endParaRPr lang="fr-FR" sz="1400" b="1" dirty="0">
                <a:solidFill>
                  <a:schemeClr val="tx1"/>
                </a:solidFill>
              </a:endParaRPr>
            </a:p>
            <a:p>
              <a:endParaRPr lang="fr-FR" sz="1400" b="1" dirty="0">
                <a:solidFill>
                  <a:schemeClr val="tx1"/>
                </a:solidFill>
              </a:endParaRPr>
            </a:p>
            <a:p>
              <a:endParaRPr lang="fr-FR" sz="1400" b="1" dirty="0">
                <a:solidFill>
                  <a:schemeClr val="tx1"/>
                </a:solidFill>
              </a:endParaRPr>
            </a:p>
            <a:p>
              <a:endParaRPr lang="fr-FR" sz="1400" b="1" dirty="0">
                <a:solidFill>
                  <a:schemeClr val="tx1"/>
                </a:solidFill>
              </a:endParaRPr>
            </a:p>
            <a:p>
              <a:endParaRPr lang="fr-FR" sz="1400" b="1" dirty="0">
                <a:solidFill>
                  <a:schemeClr val="tx1"/>
                </a:solidFill>
              </a:endParaRPr>
            </a:p>
            <a:p>
              <a:endParaRPr lang="fr-FR" sz="1400" b="1" dirty="0">
                <a:solidFill>
                  <a:schemeClr val="tx1"/>
                </a:solidFill>
              </a:endParaRPr>
            </a:p>
            <a:p>
              <a:endParaRPr lang="fr-FR" sz="1400" b="1" u="sng" dirty="0">
                <a:solidFill>
                  <a:schemeClr val="tx1"/>
                </a:solidFill>
              </a:endParaRPr>
            </a:p>
            <a:p>
              <a:endParaRPr lang="fr-FR" sz="1400" b="1" u="sng" dirty="0">
                <a:solidFill>
                  <a:schemeClr val="tx1"/>
                </a:solidFill>
              </a:endParaRPr>
            </a:p>
            <a:p>
              <a:r>
                <a:rPr lang="fr-FR" sz="1400" b="1" u="sng" dirty="0">
                  <a:solidFill>
                    <a:schemeClr val="tx1"/>
                  </a:solidFill>
                </a:rPr>
                <a:t>Filtrage en peigne spatial :</a:t>
              </a:r>
            </a:p>
            <a:p>
              <a:endParaRPr lang="fr-FR" sz="1400" b="1" dirty="0">
                <a:solidFill>
                  <a:schemeClr val="tx1"/>
                </a:solidFill>
              </a:endParaRPr>
            </a:p>
            <a:p>
              <a:endParaRPr lang="fr-FR" sz="1400" b="1" dirty="0">
                <a:solidFill>
                  <a:schemeClr val="tx1"/>
                </a:solidFill>
              </a:endParaRPr>
            </a:p>
            <a:p>
              <a:endParaRPr lang="fr-FR" sz="1400" b="1" dirty="0">
                <a:solidFill>
                  <a:schemeClr val="tx1"/>
                </a:solidFill>
              </a:endParaRPr>
            </a:p>
            <a:p>
              <a:endParaRPr lang="fr-FR" sz="1400" b="1" dirty="0">
                <a:solidFill>
                  <a:schemeClr val="tx1"/>
                </a:solidFill>
              </a:endParaRPr>
            </a:p>
            <a:p>
              <a:endParaRPr lang="fr-FR" sz="1400" b="1" dirty="0">
                <a:solidFill>
                  <a:schemeClr val="tx1"/>
                </a:solidFill>
              </a:endParaRPr>
            </a:p>
            <a:p>
              <a:endParaRPr lang="fr-FR" sz="1400" b="1" dirty="0">
                <a:solidFill>
                  <a:schemeClr val="tx1"/>
                </a:solidFill>
              </a:endParaRPr>
            </a:p>
          </p:txBody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A3C3E0C0-FBAB-DC78-5B15-476675A966D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bright="40000" contrast="40000"/>
                      </a14:imgEffect>
                    </a14:imgLayer>
                  </a14:imgProps>
                </a:ext>
              </a:extLst>
            </a:blip>
            <a:srcRect l="3726" t="8959" r="3236" b="4515"/>
            <a:stretch>
              <a:fillRect/>
            </a:stretch>
          </p:blipFill>
          <p:spPr>
            <a:xfrm>
              <a:off x="6477938" y="4604155"/>
              <a:ext cx="1798321" cy="377538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C40B446E-9BC2-8E92-5207-9220276E30C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276" t="6786" r="5431" b="11456"/>
            <a:stretch>
              <a:fillRect/>
            </a:stretch>
          </p:blipFill>
          <p:spPr>
            <a:xfrm>
              <a:off x="6988242" y="5064642"/>
              <a:ext cx="793915" cy="525312"/>
            </a:xfrm>
            <a:prstGeom prst="rect">
              <a:avLst/>
            </a:prstGeom>
          </p:spPr>
        </p:pic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021575B3-C3E7-D035-FD8D-5A909416EA0A}"/>
                </a:ext>
              </a:extLst>
            </p:cNvPr>
            <p:cNvGrpSpPr/>
            <p:nvPr/>
          </p:nvGrpSpPr>
          <p:grpSpPr>
            <a:xfrm>
              <a:off x="6092582" y="2976561"/>
              <a:ext cx="2601348" cy="2005132"/>
              <a:chOff x="6074018" y="3612551"/>
              <a:chExt cx="2601346" cy="1911988"/>
            </a:xfrm>
          </p:grpSpPr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BB147258-36F6-4862-BCFA-8C34DAA43AD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rightnessContrast bright="40000" contrast="40000"/>
                        </a14:imgEffect>
                      </a14:imgLayer>
                    </a14:imgProps>
                  </a:ext>
                </a:extLst>
              </a:blip>
              <a:srcRect l="3726" t="8959" r="3236" b="4515"/>
              <a:stretch>
                <a:fillRect/>
              </a:stretch>
            </p:blipFill>
            <p:spPr>
              <a:xfrm>
                <a:off x="6467476" y="3612551"/>
                <a:ext cx="1798320" cy="360000"/>
              </a:xfrm>
              <a:prstGeom prst="rect">
                <a:avLst/>
              </a:prstGeom>
            </p:spPr>
          </p:pic>
          <p:pic>
            <p:nvPicPr>
              <p:cNvPr id="49" name="Picture 48">
                <a:extLst>
                  <a:ext uri="{FF2B5EF4-FFF2-40B4-BE49-F238E27FC236}">
                    <a16:creationId xmlns:a16="http://schemas.microsoft.com/office/drawing/2014/main" id="{6A19C6E1-1347-2947-0051-4E4B5CAD305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BEBA8EAE-BF5A-486C-A8C5-ECC9F3942E4B}">
                    <a14:imgProps xmlns:a14="http://schemas.microsoft.com/office/drawing/2010/main">
                      <a14:imgLayer r:embed="rId8">
                        <a14:imgEffect>
                          <a14:backgroundRemoval t="32494" b="70953" l="13960" r="44675"/>
                        </a14:imgEffect>
                        <a14:imgEffect>
                          <a14:brightnessContrast bright="40000" contrast="-4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0120" t="27687" r="51486" b="24239"/>
              <a:stretch>
                <a:fillRect/>
              </a:stretch>
            </p:blipFill>
            <p:spPr>
              <a:xfrm>
                <a:off x="6920250" y="3866659"/>
                <a:ext cx="932157" cy="756309"/>
              </a:xfrm>
              <a:prstGeom prst="rect">
                <a:avLst/>
              </a:prstGeom>
            </p:spPr>
          </p:pic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BD459B7B-7876-DECC-7C5D-6EF7F711F39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370935" y="3612551"/>
                <a:ext cx="0" cy="863841"/>
              </a:xfrm>
              <a:prstGeom prst="line">
                <a:avLst/>
              </a:prstGeom>
              <a:ln w="12700" cap="flat" cmpd="sng" algn="ctr">
                <a:solidFill>
                  <a:srgbClr val="C00000"/>
                </a:solidFill>
                <a:prstDash val="sys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pic>
            <p:nvPicPr>
              <p:cNvPr id="51" name="Picture 50">
                <a:extLst>
                  <a:ext uri="{FF2B5EF4-FFF2-40B4-BE49-F238E27FC236}">
                    <a16:creationId xmlns:a16="http://schemas.microsoft.com/office/drawing/2014/main" id="{69C823F4-FBD6-6BF7-DDFC-373F3F49B1D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rightnessContrast bright="40000" contrast="40000"/>
                        </a14:imgEffect>
                      </a14:imgLayer>
                    </a14:imgProps>
                  </a:ext>
                </a:extLst>
              </a:blip>
              <a:srcRect l="76827" t="8959" r="3236" b="4515"/>
              <a:stretch>
                <a:fillRect/>
              </a:stretch>
            </p:blipFill>
            <p:spPr>
              <a:xfrm>
                <a:off x="6082122" y="3612551"/>
                <a:ext cx="385354" cy="360000"/>
              </a:xfrm>
              <a:prstGeom prst="rect">
                <a:avLst/>
              </a:prstGeom>
            </p:spPr>
          </p:pic>
          <p:pic>
            <p:nvPicPr>
              <p:cNvPr id="52" name="Picture 51">
                <a:extLst>
                  <a:ext uri="{FF2B5EF4-FFF2-40B4-BE49-F238E27FC236}">
                    <a16:creationId xmlns:a16="http://schemas.microsoft.com/office/drawing/2014/main" id="{849EE9B9-324D-BB3C-541F-721FD32B50B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rightnessContrast bright="40000" contrast="40000"/>
                        </a14:imgEffect>
                      </a14:imgLayer>
                    </a14:imgProps>
                  </a:ext>
                </a:extLst>
              </a:blip>
              <a:srcRect l="3726" t="8959" r="75085" b="4515"/>
              <a:stretch>
                <a:fillRect/>
              </a:stretch>
            </p:blipFill>
            <p:spPr>
              <a:xfrm>
                <a:off x="8265796" y="3612551"/>
                <a:ext cx="409568" cy="360000"/>
              </a:xfrm>
              <a:prstGeom prst="rect">
                <a:avLst/>
              </a:prstGeom>
            </p:spPr>
          </p:pic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F73F8ABF-37B1-C042-48E3-54079A812ED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rightnessContrast bright="40000" contrast="40000"/>
                        </a14:imgEffect>
                      </a14:imgLayer>
                    </a14:imgProps>
                  </a:ext>
                </a:extLst>
              </a:blip>
              <a:srcRect l="76827" t="8959" r="3236" b="4515"/>
              <a:stretch>
                <a:fillRect/>
              </a:stretch>
            </p:blipFill>
            <p:spPr>
              <a:xfrm>
                <a:off x="6074018" y="5164377"/>
                <a:ext cx="385354" cy="360000"/>
              </a:xfrm>
              <a:prstGeom prst="rect">
                <a:avLst/>
              </a:prstGeom>
            </p:spPr>
          </p:pic>
          <p:pic>
            <p:nvPicPr>
              <p:cNvPr id="20" name="Picture 19">
                <a:extLst>
                  <a:ext uri="{FF2B5EF4-FFF2-40B4-BE49-F238E27FC236}">
                    <a16:creationId xmlns:a16="http://schemas.microsoft.com/office/drawing/2014/main" id="{755D2A8C-C203-0783-181A-D6DC107E7E5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rightnessContrast bright="40000" contrast="40000"/>
                        </a14:imgEffect>
                      </a14:imgLayer>
                    </a14:imgProps>
                  </a:ext>
                </a:extLst>
              </a:blip>
              <a:srcRect l="3726" t="8959" r="75085" b="4515"/>
              <a:stretch>
                <a:fillRect/>
              </a:stretch>
            </p:blipFill>
            <p:spPr>
              <a:xfrm>
                <a:off x="8257693" y="5164539"/>
                <a:ext cx="409568" cy="360000"/>
              </a:xfrm>
              <a:prstGeom prst="rect">
                <a:avLst/>
              </a:prstGeom>
            </p:spPr>
          </p:pic>
        </p:grp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65BA09B4-C52E-B87A-CF04-8232C165DF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42582" y="4874895"/>
              <a:ext cx="0" cy="696047"/>
            </a:xfrm>
            <a:prstGeom prst="line">
              <a:avLst/>
            </a:prstGeom>
            <a:ln w="12700" cap="flat" cmpd="sng" algn="ctr">
              <a:solidFill>
                <a:srgbClr val="C00000"/>
              </a:solidFill>
              <a:prstDash val="sys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EB93E4C2-FBE4-4065-9278-90914A6ECE3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21982" y="4703445"/>
              <a:ext cx="0" cy="867498"/>
            </a:xfrm>
            <a:prstGeom prst="line">
              <a:avLst/>
            </a:prstGeom>
            <a:ln w="12700" cap="flat" cmpd="sng" algn="ctr">
              <a:solidFill>
                <a:srgbClr val="C00000"/>
              </a:solidFill>
              <a:prstDash val="sys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sp>
        <p:nvSpPr>
          <p:cNvPr id="23" name="Footer Placeholder 2">
            <a:extLst>
              <a:ext uri="{FF2B5EF4-FFF2-40B4-BE49-F238E27FC236}">
                <a16:creationId xmlns:a16="http://schemas.microsoft.com/office/drawing/2014/main" id="{4BCE2257-F05E-832B-4E41-697261064FAC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C76EC09A-1CE2-C57C-EA75-CE25A5404F6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0186" y="1140697"/>
            <a:ext cx="5175257" cy="5093661"/>
          </a:xfrm>
          <a:prstGeom prst="rect">
            <a:avLst/>
          </a:prstGeom>
          <a:ln>
            <a:solidFill>
              <a:schemeClr val="bg1"/>
            </a:solidFill>
          </a:ln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A31065C-A20A-A288-0085-D396B6CE6BAB}"/>
              </a:ext>
            </a:extLst>
          </p:cNvPr>
          <p:cNvCxnSpPr>
            <a:cxnSpLocks/>
          </p:cNvCxnSpPr>
          <p:nvPr/>
        </p:nvCxnSpPr>
        <p:spPr>
          <a:xfrm>
            <a:off x="2545383" y="3592786"/>
            <a:ext cx="0" cy="1307018"/>
          </a:xfrm>
          <a:prstGeom prst="line">
            <a:avLst/>
          </a:prstGeom>
          <a:ln w="28575"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2AC77C0-992D-6FEB-50E1-07C49D290036}"/>
                  </a:ext>
                </a:extLst>
              </p:cNvPr>
              <p:cNvSpPr txBox="1"/>
              <p:nvPr/>
            </p:nvSpPr>
            <p:spPr>
              <a:xfrm>
                <a:off x="2610806" y="4649765"/>
                <a:ext cx="495328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fr-FR" sz="12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𝟑𝟐𝟎</m:t>
                    </m:r>
                    <m:r>
                      <a:rPr lang="fr-FR" sz="12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200" b="1" dirty="0">
                    <a:solidFill>
                      <a:srgbClr val="C00000"/>
                    </a:solidFill>
                  </a:rPr>
                  <a:t>Hz</a:t>
                </a: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2AC77C0-992D-6FEB-50E1-07C49D2900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0806" y="4649765"/>
                <a:ext cx="495328" cy="184666"/>
              </a:xfrm>
              <a:prstGeom prst="rect">
                <a:avLst/>
              </a:prstGeom>
              <a:blipFill>
                <a:blip r:embed="rId10"/>
                <a:stretch>
                  <a:fillRect l="-10976" t="-30000" r="-18293" b="-4666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AE1A2621-99DB-BABC-D8E3-49A97B682B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</a:p>
        </p:txBody>
      </p:sp>
      <p:sp>
        <p:nvSpPr>
          <p:cNvPr id="27" name="Footer Placeholder 26">
            <a:extLst>
              <a:ext uri="{FF2B5EF4-FFF2-40B4-BE49-F238E27FC236}">
                <a16:creationId xmlns:a16="http://schemas.microsoft.com/office/drawing/2014/main" id="{CC0FE738-C281-1177-AD0D-5BE6116183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TIPE 39662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3C52325-88C1-A427-ED20-29C118D8B26E}"/>
                  </a:ext>
                </a:extLst>
              </p:cNvPr>
              <p:cNvSpPr txBox="1"/>
              <p:nvPr/>
            </p:nvSpPr>
            <p:spPr>
              <a:xfrm>
                <a:off x="6261555" y="3945584"/>
                <a:ext cx="2042905" cy="315407"/>
              </a:xfrm>
              <a:prstGeom prst="rect">
                <a:avLst/>
              </a:prstGeom>
              <a:noFill/>
              <a:ln w="19050">
                <a:solidFill>
                  <a:srgbClr val="C00000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fr-FR" sz="1400" b="0" dirty="0">
                    <a:solidFill>
                      <a:srgbClr val="C00000"/>
                    </a:solidFill>
                    <a:ea typeface="Cambria Math" panose="02040503050406030204" pitchFamily="18" charset="0"/>
                  </a:rPr>
                  <a:t>Amplitude </a:t>
                </a:r>
                <a14:m>
                  <m:oMath xmlns:m="http://schemas.openxmlformats.org/officeDocument/2006/math">
                    <m:r>
                      <a:rPr lang="fr-FR" sz="1400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fr-FR" sz="1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𝐾</m:t>
                    </m:r>
                    <m:f>
                      <m:fPr>
                        <m:ctrlPr>
                          <a:rPr lang="fr-FR" sz="1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func>
                          <m:funcPr>
                            <m:ctrlPr>
                              <a:rPr lang="fr-FR" sz="1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fr-FR" sz="1400" b="0" i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r>
                              <a:rPr lang="fr-FR" sz="1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fr-FR" sz="14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4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fr-FR" sz="14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fr-FR" sz="14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4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fr-FR" sz="14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  <m:r>
                              <a:rPr lang="fr-FR" sz="1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</m:num>
                      <m:den>
                        <m:r>
                          <a:rPr lang="fr-FR" sz="1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endParaRPr lang="fr-FR" sz="1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3C52325-88C1-A427-ED20-29C118D8B2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1555" y="3945584"/>
                <a:ext cx="2042905" cy="315407"/>
              </a:xfrm>
              <a:prstGeom prst="rect">
                <a:avLst/>
              </a:prstGeom>
              <a:blipFill>
                <a:blip r:embed="rId11"/>
                <a:stretch>
                  <a:fillRect b="-12727"/>
                </a:stretch>
              </a:blipFill>
              <a:ln w="19050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07D52926-2903-DDB1-463C-CF6DDA0BA5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058531"/>
              </p:ext>
            </p:extLst>
          </p:nvPr>
        </p:nvGraphicFramePr>
        <p:xfrm>
          <a:off x="326176" y="41413"/>
          <a:ext cx="856351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4504">
                  <a:extLst>
                    <a:ext uri="{9D8B030D-6E8A-4147-A177-3AD203B41FA5}">
                      <a16:colId xmlns:a16="http://schemas.microsoft.com/office/drawing/2014/main" val="1619084455"/>
                    </a:ext>
                  </a:extLst>
                </a:gridCol>
                <a:gridCol w="2854504">
                  <a:extLst>
                    <a:ext uri="{9D8B030D-6E8A-4147-A177-3AD203B41FA5}">
                      <a16:colId xmlns:a16="http://schemas.microsoft.com/office/drawing/2014/main" val="13699801"/>
                    </a:ext>
                  </a:extLst>
                </a:gridCol>
                <a:gridCol w="2854504">
                  <a:extLst>
                    <a:ext uri="{9D8B030D-6E8A-4147-A177-3AD203B41FA5}">
                      <a16:colId xmlns:a16="http://schemas.microsoft.com/office/drawing/2014/main" val="29905955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1050" b="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Filtrage électrique interne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 dirty="0">
                          <a:solidFill>
                            <a:schemeClr val="bg1"/>
                          </a:solidFill>
                        </a:rPr>
                        <a:t>Induction et filtrage spatial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b="0" dirty="0">
                          <a:solidFill>
                            <a:schemeClr val="bg1"/>
                          </a:solidFill>
                        </a:rPr>
                        <a:t>Reduction du bourdonnement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6456716"/>
                  </a:ext>
                </a:extLst>
              </a:tr>
            </a:tbl>
          </a:graphicData>
        </a:graphic>
      </p:graphicFrame>
      <p:pic>
        <p:nvPicPr>
          <p:cNvPr id="33" name="Picture 32" descr="Python Logo PNG Transparent – Brands Logos">
            <a:extLst>
              <a:ext uri="{FF2B5EF4-FFF2-40B4-BE49-F238E27FC236}">
                <a16:creationId xmlns:a16="http://schemas.microsoft.com/office/drawing/2014/main" id="{0B55D3CE-AC79-473D-FF58-01B706B2EB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9105" y="527823"/>
            <a:ext cx="43383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289B7671-856C-99CF-B704-3812E7BC9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425344" y="6459786"/>
            <a:ext cx="984019" cy="365125"/>
          </a:xfrm>
        </p:spPr>
        <p:txBody>
          <a:bodyPr/>
          <a:lstStyle/>
          <a:p>
            <a:fld id="{477F8A04-938D-4CBF-A3DC-6CB925B6FC34}" type="slidenum">
              <a:rPr lang="fr-FR" sz="1400" b="1" smtClean="0"/>
              <a:t>17</a:t>
            </a:fld>
            <a:endParaRPr lang="fr-FR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AB49B21-A9DD-184A-7858-37E1D03C3D6B}"/>
                  </a:ext>
                </a:extLst>
              </p:cNvPr>
              <p:cNvSpPr txBox="1"/>
              <p:nvPr/>
            </p:nvSpPr>
            <p:spPr>
              <a:xfrm>
                <a:off x="6008919" y="5829440"/>
                <a:ext cx="2569562" cy="404919"/>
              </a:xfrm>
              <a:prstGeom prst="rect">
                <a:avLst/>
              </a:prstGeom>
              <a:noFill/>
              <a:ln w="19050">
                <a:solidFill>
                  <a:srgbClr val="C00000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fr-FR" sz="1400" b="0" dirty="0">
                    <a:solidFill>
                      <a:srgbClr val="C00000"/>
                    </a:solidFill>
                    <a:ea typeface="Cambria Math" panose="02040503050406030204" pitchFamily="18" charset="0"/>
                  </a:rPr>
                  <a:t>Amplitude </a:t>
                </a:r>
                <a14:m>
                  <m:oMath xmlns:m="http://schemas.openxmlformats.org/officeDocument/2006/math">
                    <m:r>
                      <a:rPr lang="fr-FR" sz="1400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fr-FR" sz="1400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K</m:t>
                    </m:r>
                    <m:f>
                      <m:fPr>
                        <m:ctrlPr>
                          <a:rPr lang="fr-FR" sz="1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func>
                          <m:funcPr>
                            <m:ctrlPr>
                              <a:rPr lang="fr-FR" sz="1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fr-FR" sz="1400" b="0" i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cos</m:t>
                            </m:r>
                          </m:fName>
                          <m:e>
                            <m:r>
                              <a:rPr lang="fr-FR" sz="1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f>
                              <m:fPr>
                                <m:ctrlPr>
                                  <a:rPr lang="fr-FR" sz="14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fr-FR" sz="14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4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fr-FR" sz="14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fr-FR" sz="1400" b="0" i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Δ</m:t>
                                </m:r>
                              </m:num>
                              <m:den>
                                <m:r>
                                  <a:rPr lang="fr-FR" sz="14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fr-FR" sz="1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  <m:func>
                          <m:funcPr>
                            <m:ctrlPr>
                              <a:rPr lang="fr-FR" sz="1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fr-FR" sz="1400" b="0" i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r>
                              <a:rPr lang="fr-FR" sz="1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fr-FR" sz="14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4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fr-FR" sz="14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fr-FR" sz="14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4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fr-FR" sz="14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h</m:t>
                                </m:r>
                              </m:sub>
                            </m:sSub>
                            <m:r>
                              <a:rPr lang="fr-FR" sz="1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</m:num>
                      <m:den>
                        <m:r>
                          <a:rPr lang="fr-FR" sz="1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endParaRPr lang="fr-FR" sz="1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AB49B21-A9DD-184A-7858-37E1D03C3D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8919" y="5829440"/>
                <a:ext cx="2569562" cy="404919"/>
              </a:xfrm>
              <a:prstGeom prst="rect">
                <a:avLst/>
              </a:prstGeom>
              <a:blipFill>
                <a:blip r:embed="rId13"/>
                <a:stretch>
                  <a:fillRect b="-10000"/>
                </a:stretch>
              </a:blipFill>
              <a:ln w="19050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itle 1">
            <a:extLst>
              <a:ext uri="{FF2B5EF4-FFF2-40B4-BE49-F238E27FC236}">
                <a16:creationId xmlns:a16="http://schemas.microsoft.com/office/drawing/2014/main" id="{B9FD5754-DA94-067D-CE3F-04AF943A7194}"/>
              </a:ext>
            </a:extLst>
          </p:cNvPr>
          <p:cNvSpPr txBox="1">
            <a:spLocks/>
          </p:cNvSpPr>
          <p:nvPr/>
        </p:nvSpPr>
        <p:spPr>
          <a:xfrm>
            <a:off x="3137564" y="564225"/>
            <a:ext cx="2899064" cy="4453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1900" dirty="0">
                <a:solidFill>
                  <a:schemeClr val="tx1"/>
                </a:solidFill>
                <a:latin typeface="Arial Black" panose="020B0A04020102020204" pitchFamily="34" charset="0"/>
              </a:rPr>
              <a:t>RESULTATS</a:t>
            </a:r>
            <a:endParaRPr lang="fr-FR" sz="19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48409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E81E06-B34E-3529-4ADA-FCF15C35A9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C576AD9E-5978-A85F-4DD1-AD31EFF1B036}"/>
              </a:ext>
            </a:extLst>
          </p:cNvPr>
          <p:cNvGrpSpPr/>
          <p:nvPr/>
        </p:nvGrpSpPr>
        <p:grpSpPr>
          <a:xfrm>
            <a:off x="0" y="6395093"/>
            <a:ext cx="9144000" cy="479397"/>
            <a:chOff x="0" y="-4624"/>
            <a:chExt cx="9144000" cy="457200"/>
          </a:xfrm>
          <a:solidFill>
            <a:srgbClr val="629DD1"/>
          </a:solidFill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34C8EA39-E339-660C-139F-23B0FDF8D78B}"/>
                </a:ext>
              </a:extLst>
            </p:cNvPr>
            <p:cNvSpPr/>
            <p:nvPr/>
          </p:nvSpPr>
          <p:spPr>
            <a:xfrm>
              <a:off x="0" y="-4624"/>
              <a:ext cx="9144000" cy="457200"/>
            </a:xfrm>
            <a:prstGeom prst="rect">
              <a:avLst/>
            </a:prstGeom>
            <a:grpFill/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21" name="Footer Placeholder 2">
              <a:extLst>
                <a:ext uri="{FF2B5EF4-FFF2-40B4-BE49-F238E27FC236}">
                  <a16:creationId xmlns:a16="http://schemas.microsoft.com/office/drawing/2014/main" id="{C3516D9B-924B-15E3-4745-04100E82376B}"/>
                </a:ext>
              </a:extLst>
            </p:cNvPr>
            <p:cNvSpPr txBox="1">
              <a:spLocks/>
            </p:cNvSpPr>
            <p:nvPr/>
          </p:nvSpPr>
          <p:spPr>
            <a:xfrm>
              <a:off x="1447764" y="41413"/>
              <a:ext cx="6248472" cy="36512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457200" rtl="0" eaLnBrk="1" latinLnBrk="0" hangingPunct="1">
                <a:defRPr sz="900" kern="1200" cap="all" baseline="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fr-FR" dirty="0"/>
            </a:p>
          </p:txBody>
        </p:sp>
      </p:grp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A1E50876-C5CD-CF8F-5734-3A0B9AF3B8F1}"/>
              </a:ext>
            </a:extLst>
          </p:cNvPr>
          <p:cNvSpPr txBox="1">
            <a:spLocks/>
          </p:cNvSpPr>
          <p:nvPr/>
        </p:nvSpPr>
        <p:spPr>
          <a:xfrm>
            <a:off x="15096" y="6335178"/>
            <a:ext cx="9144000" cy="63096"/>
          </a:xfrm>
          <a:prstGeom prst="rect">
            <a:avLst/>
          </a:prstGeom>
          <a:solidFill>
            <a:srgbClr val="4A66AC"/>
          </a:solidFill>
          <a:ln>
            <a:noFill/>
          </a:ln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0431A7-9B0A-B9A8-8986-3C48D3948A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D2C8E0F-97D8-C459-8902-29C0EC894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TIPE 39662</a:t>
            </a:r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F2B4B372-50F7-4DEF-9872-B07E3FB72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F8A04-938D-4CBF-A3DC-6CB925B6FC34}" type="slidenum">
              <a:rPr lang="fr-FR" sz="1400" b="1" smtClean="0">
                <a:solidFill>
                  <a:schemeClr val="bg1"/>
                </a:solidFill>
              </a:rPr>
              <a:t>18</a:t>
            </a:fld>
            <a:endParaRPr lang="fr-FR" sz="1400" b="1" dirty="0">
              <a:solidFill>
                <a:schemeClr val="bg1"/>
              </a:solidFill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0FD7FCAA-66EF-F9B8-3F91-4C074524BE6F}"/>
              </a:ext>
            </a:extLst>
          </p:cNvPr>
          <p:cNvGrpSpPr/>
          <p:nvPr/>
        </p:nvGrpSpPr>
        <p:grpSpPr>
          <a:xfrm>
            <a:off x="0" y="-4624"/>
            <a:ext cx="9144000" cy="457200"/>
            <a:chOff x="0" y="-4624"/>
            <a:chExt cx="9144000" cy="457200"/>
          </a:xfrm>
          <a:solidFill>
            <a:srgbClr val="4A66AC"/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77C97A6-CC99-95B7-B8AA-0E6525AACD2B}"/>
                </a:ext>
              </a:extLst>
            </p:cNvPr>
            <p:cNvSpPr/>
            <p:nvPr/>
          </p:nvSpPr>
          <p:spPr>
            <a:xfrm>
              <a:off x="0" y="-4624"/>
              <a:ext cx="9144000" cy="457200"/>
            </a:xfrm>
            <a:prstGeom prst="rect">
              <a:avLst/>
            </a:prstGeom>
            <a:grpFill/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9" name="Footer Placeholder 2">
              <a:extLst>
                <a:ext uri="{FF2B5EF4-FFF2-40B4-BE49-F238E27FC236}">
                  <a16:creationId xmlns:a16="http://schemas.microsoft.com/office/drawing/2014/main" id="{14C9DAC0-F70B-EC4C-9E13-0437D71420D5}"/>
                </a:ext>
              </a:extLst>
            </p:cNvPr>
            <p:cNvSpPr txBox="1">
              <a:spLocks/>
            </p:cNvSpPr>
            <p:nvPr/>
          </p:nvSpPr>
          <p:spPr>
            <a:xfrm>
              <a:off x="1447764" y="41413"/>
              <a:ext cx="6248472" cy="36512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457200" rtl="0" eaLnBrk="1" latinLnBrk="0" hangingPunct="1">
                <a:defRPr sz="900" kern="1200" cap="all" baseline="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fr-FR" dirty="0"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62CF5A4B-E4D3-D278-DBA5-35F51AF12956}"/>
              </a:ext>
            </a:extLst>
          </p:cNvPr>
          <p:cNvSpPr txBox="1"/>
          <p:nvPr/>
        </p:nvSpPr>
        <p:spPr>
          <a:xfrm>
            <a:off x="5747657" y="6071016"/>
            <a:ext cx="345575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/>
              <a:t>[6] </a:t>
            </a:r>
            <a:r>
              <a:rPr lang="en-GB" sz="1100" dirty="0"/>
              <a:t>B. D'Andrea-Novel, Presse des Mines</a:t>
            </a:r>
            <a:endParaRPr lang="fr-FR" sz="1100" dirty="0"/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5407161F-977C-6AE5-09C1-2E093CADD5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6013837"/>
              </p:ext>
            </p:extLst>
          </p:nvPr>
        </p:nvGraphicFramePr>
        <p:xfrm>
          <a:off x="326176" y="41413"/>
          <a:ext cx="856351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4504">
                  <a:extLst>
                    <a:ext uri="{9D8B030D-6E8A-4147-A177-3AD203B41FA5}">
                      <a16:colId xmlns:a16="http://schemas.microsoft.com/office/drawing/2014/main" val="1619084455"/>
                    </a:ext>
                  </a:extLst>
                </a:gridCol>
                <a:gridCol w="2854504">
                  <a:extLst>
                    <a:ext uri="{9D8B030D-6E8A-4147-A177-3AD203B41FA5}">
                      <a16:colId xmlns:a16="http://schemas.microsoft.com/office/drawing/2014/main" val="13699801"/>
                    </a:ext>
                  </a:extLst>
                </a:gridCol>
                <a:gridCol w="2854504">
                  <a:extLst>
                    <a:ext uri="{9D8B030D-6E8A-4147-A177-3AD203B41FA5}">
                      <a16:colId xmlns:a16="http://schemas.microsoft.com/office/drawing/2014/main" val="29905955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1050" b="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Filtrage électrique interne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b="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Induction et filtrage spatial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50" b="1" dirty="0">
                          <a:solidFill>
                            <a:schemeClr val="bg1"/>
                          </a:solidFill>
                        </a:rPr>
                        <a:t>Reduction du bourdonnement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6456716"/>
                  </a:ext>
                </a:extLst>
              </a:tr>
            </a:tbl>
          </a:graphicData>
        </a:graphic>
      </p:graphicFrame>
      <p:grpSp>
        <p:nvGrpSpPr>
          <p:cNvPr id="13" name="Group 12">
            <a:extLst>
              <a:ext uri="{FF2B5EF4-FFF2-40B4-BE49-F238E27FC236}">
                <a16:creationId xmlns:a16="http://schemas.microsoft.com/office/drawing/2014/main" id="{2E122E78-7812-9D07-EA42-6ED12CEB063E}"/>
              </a:ext>
            </a:extLst>
          </p:cNvPr>
          <p:cNvGrpSpPr/>
          <p:nvPr/>
        </p:nvGrpSpPr>
        <p:grpSpPr>
          <a:xfrm>
            <a:off x="3310071" y="2306216"/>
            <a:ext cx="5661623" cy="791642"/>
            <a:chOff x="3310072" y="1946394"/>
            <a:chExt cx="5661623" cy="791642"/>
          </a:xfrm>
        </p:grpSpPr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1C9045D8-B0C7-93C3-9AFF-11A518E51CB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310072" y="1950536"/>
              <a:ext cx="1260000" cy="787500"/>
            </a:xfrm>
            <a:prstGeom prst="round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fr-FR" sz="1200" b="1" dirty="0"/>
                <a:t>Champ parasite à 50Hz</a:t>
              </a:r>
            </a:p>
          </p:txBody>
        </p:sp>
        <p:sp>
          <p:nvSpPr>
            <p:cNvPr id="42" name="Rectangle: Rounded Corners 41">
              <a:extLst>
                <a:ext uri="{FF2B5EF4-FFF2-40B4-BE49-F238E27FC236}">
                  <a16:creationId xmlns:a16="http://schemas.microsoft.com/office/drawing/2014/main" id="{9997C8D5-36AA-4B9D-5F50-82FEB07E1AB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79236" y="1950536"/>
              <a:ext cx="1260000" cy="783358"/>
            </a:xfrm>
            <a:prstGeom prst="round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fr-FR" sz="1200" b="1" dirty="0"/>
                <a:t>Flux variable à travers les micros</a:t>
              </a:r>
            </a:p>
          </p:txBody>
        </p:sp>
        <p:sp>
          <p:nvSpPr>
            <p:cNvPr id="43" name="Rectangle: Rounded Corners 42">
              <a:extLst>
                <a:ext uri="{FF2B5EF4-FFF2-40B4-BE49-F238E27FC236}">
                  <a16:creationId xmlns:a16="http://schemas.microsoft.com/office/drawing/2014/main" id="{7CC49079-B891-83BB-B611-814BF0FDDF2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248400" y="1946394"/>
              <a:ext cx="1260000" cy="787500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fr-FR" sz="1200" b="1" dirty="0"/>
                <a:t>Sommation des tensions</a:t>
              </a:r>
            </a:p>
          </p:txBody>
        </p:sp>
        <p:sp>
          <p:nvSpPr>
            <p:cNvPr id="44" name="Rectangle: Rounded Corners 43">
              <a:extLst>
                <a:ext uri="{FF2B5EF4-FFF2-40B4-BE49-F238E27FC236}">
                  <a16:creationId xmlns:a16="http://schemas.microsoft.com/office/drawing/2014/main" id="{634AE14B-0543-EDD9-79A2-43B973E6825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711695" y="1946394"/>
              <a:ext cx="1260000" cy="787500"/>
            </a:xfrm>
            <a:prstGeom prst="round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fr-FR" sz="1200" b="1" dirty="0"/>
                <a:t>F.E.M.</a:t>
              </a:r>
            </a:p>
          </p:txBody>
        </p: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9A3A4040-FEF5-3662-2724-C2DEA398FF13}"/>
                </a:ext>
              </a:extLst>
            </p:cNvPr>
            <p:cNvCxnSpPr>
              <a:cxnSpLocks/>
              <a:stCxn id="41" idx="3"/>
              <a:endCxn id="42" idx="1"/>
            </p:cNvCxnSpPr>
            <p:nvPr/>
          </p:nvCxnSpPr>
          <p:spPr>
            <a:xfrm flipV="1">
              <a:off x="4570072" y="2342215"/>
              <a:ext cx="209164" cy="207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3C19F4C1-2EB7-C0A4-329E-0F84865C6F83}"/>
                </a:ext>
              </a:extLst>
            </p:cNvPr>
            <p:cNvCxnSpPr>
              <a:cxnSpLocks/>
              <a:stCxn id="42" idx="3"/>
              <a:endCxn id="43" idx="1"/>
            </p:cNvCxnSpPr>
            <p:nvPr/>
          </p:nvCxnSpPr>
          <p:spPr>
            <a:xfrm flipV="1">
              <a:off x="6039236" y="2340144"/>
              <a:ext cx="209164" cy="207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C4F05C1D-B999-AF17-FA72-0ACFD215D8AD}"/>
                </a:ext>
              </a:extLst>
            </p:cNvPr>
            <p:cNvCxnSpPr>
              <a:cxnSpLocks/>
              <a:stCxn id="43" idx="3"/>
              <a:endCxn id="44" idx="1"/>
            </p:cNvCxnSpPr>
            <p:nvPr/>
          </p:nvCxnSpPr>
          <p:spPr>
            <a:xfrm>
              <a:off x="7508400" y="2340144"/>
              <a:ext cx="20329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</p:grp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DC55EAD0-35B6-4456-F5A7-BFDA7A9A9651}"/>
              </a:ext>
            </a:extLst>
          </p:cNvPr>
          <p:cNvSpPr>
            <a:spLocks noChangeAspect="1"/>
          </p:cNvSpPr>
          <p:nvPr/>
        </p:nvSpPr>
        <p:spPr>
          <a:xfrm>
            <a:off x="3303790" y="3206875"/>
            <a:ext cx="2658052" cy="1448186"/>
          </a:xfrm>
          <a:prstGeom prst="round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fr-FR" sz="1200" b="1" dirty="0"/>
              <a:t>Micro SingleCoil</a:t>
            </a:r>
          </a:p>
          <a:p>
            <a:pPr algn="ctr"/>
            <a:endParaRPr lang="fr-FR" sz="1200" b="1" dirty="0"/>
          </a:p>
          <a:p>
            <a:r>
              <a:rPr lang="fr-FR" sz="1200" dirty="0"/>
              <a:t>Le signal est maximal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561D9DD7-A7E2-CC56-CCAD-8AD0BF7B96A1}"/>
                  </a:ext>
                </a:extLst>
              </p:cNvPr>
              <p:cNvSpPr txBox="1"/>
              <p:nvPr/>
            </p:nvSpPr>
            <p:spPr>
              <a:xfrm>
                <a:off x="3370971" y="4065649"/>
                <a:ext cx="2523690" cy="307777"/>
              </a:xfrm>
              <a:prstGeom prst="rect">
                <a:avLst/>
              </a:prstGeom>
              <a:noFill/>
              <a:ln w="12700">
                <a:solidFill>
                  <a:srgbClr val="C0000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d>
                        <m:dPr>
                          <m:ctrlP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1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𝐾</m:t>
                      </m:r>
                      <m:sSub>
                        <m:sSubPr>
                          <m:ctrlPr>
                            <a:rPr lang="fr-FR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fr-FR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  <m:func>
                        <m:funcPr>
                          <m:ctrlP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fr-FR" sz="14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fr-FR" sz="1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fr-FR" sz="1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fr-FR" sz="1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561D9DD7-A7E2-CC56-CCAD-8AD0BF7B96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0971" y="4065649"/>
                <a:ext cx="2523690" cy="307777"/>
              </a:xfrm>
              <a:prstGeom prst="rect">
                <a:avLst/>
              </a:prstGeom>
              <a:blipFill>
                <a:blip r:embed="rId2"/>
                <a:stretch>
                  <a:fillRect b="-7692"/>
                </a:stretch>
              </a:blipFill>
              <a:ln w="12700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48FB31C0-701F-9D7A-22A0-0E6EA02179BF}"/>
              </a:ext>
            </a:extLst>
          </p:cNvPr>
          <p:cNvSpPr>
            <a:spLocks noChangeAspect="1"/>
          </p:cNvSpPr>
          <p:nvPr/>
        </p:nvSpPr>
        <p:spPr>
          <a:xfrm>
            <a:off x="6313643" y="3206875"/>
            <a:ext cx="2658052" cy="1448186"/>
          </a:xfrm>
          <a:prstGeom prst="round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fr-FR" sz="1200" b="1" dirty="0"/>
              <a:t>Micro Humbucker</a:t>
            </a:r>
          </a:p>
          <a:p>
            <a:pPr algn="ctr"/>
            <a:endParaRPr lang="fr-FR" sz="1200" b="1" dirty="0"/>
          </a:p>
          <a:p>
            <a:r>
              <a:rPr lang="fr-FR" sz="1200" dirty="0"/>
              <a:t>L’opposition des sens de bobinage annule le terme principal	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1C01F551-6FF8-7ED7-954D-339D20B1EB20}"/>
                  </a:ext>
                </a:extLst>
              </p:cNvPr>
              <p:cNvSpPr txBox="1"/>
              <p:nvPr/>
            </p:nvSpPr>
            <p:spPr>
              <a:xfrm>
                <a:off x="6392296" y="4155607"/>
                <a:ext cx="2500746" cy="307777"/>
              </a:xfrm>
              <a:prstGeom prst="rect">
                <a:avLst/>
              </a:prstGeom>
              <a:noFill/>
              <a:ln w="12700">
                <a:solidFill>
                  <a:srgbClr val="C00000"/>
                </a:solidFill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d>
                        <m:dPr>
                          <m:ctrlP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1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𝐾</m:t>
                      </m:r>
                      <m:sSub>
                        <m:sSubPr>
                          <m:ctrlPr>
                            <a:rPr lang="fr-FR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fr-FR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  <m:r>
                        <a:rPr lang="fr-FR" sz="1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fr-FR" sz="1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m:rPr>
                          <m:sty m:val="p"/>
                        </m:rPr>
                        <a:rPr lang="fr-FR" sz="1400" b="0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fr-FR" sz="1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func>
                        <m:funcPr>
                          <m:ctrlP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fr-FR" sz="14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fr-FR" sz="1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fr-FR" sz="1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fr-FR" sz="1400" dirty="0">
                  <a:solidFill>
                    <a:srgbClr val="C00000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1C01F551-6FF8-7ED7-954D-339D20B1EB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2296" y="4155607"/>
                <a:ext cx="2500746" cy="307777"/>
              </a:xfrm>
              <a:prstGeom prst="rect">
                <a:avLst/>
              </a:prstGeom>
              <a:blipFill>
                <a:blip r:embed="rId3"/>
                <a:stretch>
                  <a:fillRect b="-7692"/>
                </a:stretch>
              </a:blipFill>
              <a:ln w="12700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Rectangle: Rounded Corners 54">
                <a:extLst>
                  <a:ext uri="{FF2B5EF4-FFF2-40B4-BE49-F238E27FC236}">
                    <a16:creationId xmlns:a16="http://schemas.microsoft.com/office/drawing/2014/main" id="{D075A4A9-B4A7-B8BB-82F5-4E976FF1759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303789" y="4767176"/>
                <a:ext cx="5667905" cy="1242327"/>
              </a:xfrm>
              <a:prstGeom prst="roundRect">
                <a:avLst/>
              </a:prstGeom>
              <a:noFill/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pPr algn="ctr"/>
                <a:r>
                  <a:rPr lang="fr-FR" sz="1200" b="1" dirty="0"/>
                  <a:t>Condition d’efficacité</a:t>
                </a:r>
              </a:p>
              <a:p>
                <a:pPr algn="ctr"/>
                <a:endParaRPr lang="fr-FR" sz="1200" b="1" dirty="0"/>
              </a:p>
              <a:p>
                <a:r>
                  <a:rPr lang="fr-FR" sz="1200" dirty="0"/>
                  <a:t>En pratique, </a:t>
                </a:r>
                <a14:m>
                  <m:oMath xmlns:m="http://schemas.openxmlformats.org/officeDocument/2006/math"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fr-FR" sz="1200" dirty="0"/>
                  <a:t> 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FR" sz="1200" b="0" i="0" smtClean="0"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lang="fr-FR" sz="1200" dirty="0"/>
                  <a:t> sont faibles :</a:t>
                </a:r>
              </a:p>
              <a:p>
                <a:endParaRPr lang="fr-FR" sz="1200" dirty="0"/>
              </a:p>
              <a:p>
                <a:pPr algn="ctr"/>
                <a14:m>
                  <m:oMath xmlns:m="http://schemas.openxmlformats.org/officeDocument/2006/math">
                    <m:r>
                      <a:rPr lang="fr-FR" sz="1600" b="1" i="1" smtClean="0">
                        <a:solidFill>
                          <a:srgbClr val="38903A"/>
                        </a:solidFill>
                        <a:latin typeface="Cambria Math" panose="02040503050406030204" pitchFamily="18" charset="0"/>
                      </a:rPr>
                      <m:t>𝜶</m:t>
                    </m:r>
                    <m:r>
                      <a:rPr lang="fr-FR" sz="1600" b="1" i="0" smtClean="0">
                        <a:solidFill>
                          <a:srgbClr val="38903A"/>
                        </a:solidFill>
                        <a:latin typeface="Cambria Math" panose="02040503050406030204" pitchFamily="18" charset="0"/>
                      </a:rPr>
                      <m:t>𝚫</m:t>
                    </m:r>
                    <m:r>
                      <a:rPr lang="fr-FR" sz="1600" b="1" i="1" smtClean="0">
                        <a:solidFill>
                          <a:srgbClr val="38903A"/>
                        </a:solidFill>
                        <a:latin typeface="Cambria Math" panose="02040503050406030204" pitchFamily="18" charset="0"/>
                      </a:rPr>
                      <m:t>≪</m:t>
                    </m:r>
                    <m:r>
                      <a:rPr lang="fr-FR" sz="1600" b="1" i="1" smtClean="0">
                        <a:solidFill>
                          <a:srgbClr val="38903A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fr-FR" sz="1600" b="1" i="1" smtClean="0">
                        <a:solidFill>
                          <a:srgbClr val="38903A"/>
                        </a:solidFill>
                        <a:latin typeface="Cambria Math" panose="02040503050406030204" pitchFamily="18" charset="0"/>
                      </a:rPr>
                      <m:t>→ </m:t>
                    </m:r>
                  </m:oMath>
                </a14:m>
                <a:r>
                  <a:rPr lang="fr-FR" sz="1600" b="1" dirty="0">
                    <a:solidFill>
                      <a:srgbClr val="38903A"/>
                    </a:solidFill>
                  </a:rPr>
                  <a:t>réduction du bourdonnement</a:t>
                </a:r>
              </a:p>
            </p:txBody>
          </p:sp>
        </mc:Choice>
        <mc:Fallback xmlns="">
          <p:sp>
            <p:nvSpPr>
              <p:cNvPr id="55" name="Rectangle: Rounded Corners 54">
                <a:extLst>
                  <a:ext uri="{FF2B5EF4-FFF2-40B4-BE49-F238E27FC236}">
                    <a16:creationId xmlns:a16="http://schemas.microsoft.com/office/drawing/2014/main" id="{D075A4A9-B4A7-B8BB-82F5-4E976FF1759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3789" y="4767176"/>
                <a:ext cx="5667905" cy="1242327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C10FC257-90E0-BEBE-6955-CFD4C633949B}"/>
                  </a:ext>
                </a:extLst>
              </p:cNvPr>
              <p:cNvSpPr/>
              <p:nvPr/>
            </p:nvSpPr>
            <p:spPr>
              <a:xfrm>
                <a:off x="326176" y="2306216"/>
                <a:ext cx="2779881" cy="3810927"/>
              </a:xfrm>
              <a:prstGeom prst="roundRect">
                <a:avLst/>
              </a:prstGeom>
              <a:solidFill>
                <a:schemeClr val="accent4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fr-FR" b="1" dirty="0">
                    <a:solidFill>
                      <a:schemeClr val="tx1"/>
                    </a:solidFill>
                  </a:rPr>
                  <a:t>Hypothèses</a:t>
                </a:r>
              </a:p>
              <a:p>
                <a:pPr algn="ctr"/>
                <a:endParaRPr lang="fr-FR" b="1" dirty="0">
                  <a:solidFill>
                    <a:schemeClr val="tx1"/>
                  </a:solidFill>
                </a:endParaRP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fr-FR" sz="1600" dirty="0">
                    <a:solidFill>
                      <a:schemeClr val="tx1"/>
                    </a:solidFill>
                  </a:rPr>
                  <a:t>Gradient magnétique </a:t>
                </a:r>
                <a14:m>
                  <m:oMath xmlns:m="http://schemas.openxmlformats.org/officeDocument/2006/math">
                    <m:r>
                      <a:rPr lang="fr-FR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fr-FR" sz="1600" dirty="0">
                    <a:solidFill>
                      <a:schemeClr val="tx1"/>
                    </a:solidFill>
                  </a:rPr>
                  <a:t> constant</a:t>
                </a: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endParaRPr lang="fr-FR" sz="1600" dirty="0">
                  <a:solidFill>
                    <a:schemeClr val="tx1"/>
                  </a:solidFill>
                </a:endParaRP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fr-FR" sz="1600" dirty="0">
                    <a:solidFill>
                      <a:schemeClr val="tx1"/>
                    </a:solidFill>
                  </a:rPr>
                  <a:t>Micros ponctuels</a:t>
                </a:r>
              </a:p>
              <a:p>
                <a:endParaRPr lang="fr-FR" sz="1600" dirty="0">
                  <a:solidFill>
                    <a:schemeClr val="tx1"/>
                  </a:solidFill>
                </a:endParaRP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fr-FR" sz="1600" dirty="0">
                    <a:solidFill>
                      <a:schemeClr val="tx1"/>
                    </a:solidFill>
                  </a:rPr>
                  <a:t>Induction mutuelle négligée</a:t>
                </a:r>
                <a:endParaRPr lang="fr-FR" sz="1600" b="1" u="sng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C10FC257-90E0-BEBE-6955-CFD4C633949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176" y="2306216"/>
                <a:ext cx="2779881" cy="3810927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itle 1">
            <a:extLst>
              <a:ext uri="{FF2B5EF4-FFF2-40B4-BE49-F238E27FC236}">
                <a16:creationId xmlns:a16="http://schemas.microsoft.com/office/drawing/2014/main" id="{C5856BAE-972B-B62C-95C9-F1E3AC36996D}"/>
              </a:ext>
            </a:extLst>
          </p:cNvPr>
          <p:cNvSpPr txBox="1">
            <a:spLocks/>
          </p:cNvSpPr>
          <p:nvPr/>
        </p:nvSpPr>
        <p:spPr>
          <a:xfrm>
            <a:off x="3137564" y="542454"/>
            <a:ext cx="2899064" cy="4453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1900" dirty="0">
                <a:solidFill>
                  <a:schemeClr val="tx1"/>
                </a:solidFill>
                <a:latin typeface="Arial Black" panose="020B0A04020102020204" pitchFamily="34" charset="0"/>
              </a:rPr>
              <a:t>THEORIE</a:t>
            </a:r>
            <a:endParaRPr lang="fr-FR" sz="1900" dirty="0">
              <a:solidFill>
                <a:schemeClr val="tx1"/>
              </a:solidFill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8CEF35F-39FA-343B-8838-389956ACE6E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76" t="6067" r="5431" b="11456"/>
          <a:stretch>
            <a:fillRect/>
          </a:stretch>
        </p:blipFill>
        <p:spPr>
          <a:xfrm rot="16200000">
            <a:off x="6458608" y="817372"/>
            <a:ext cx="1800000" cy="111749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0E9E0C0-3D74-141F-8C87-64A91500FE9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32494" b="70953" l="13960" r="44675"/>
                    </a14:imgEffect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3499" t="32869" r="55963" b="27527"/>
          <a:stretch>
            <a:fillRect/>
          </a:stretch>
        </p:blipFill>
        <p:spPr>
          <a:xfrm rot="5400000">
            <a:off x="1214044" y="886454"/>
            <a:ext cx="1281617" cy="1038954"/>
          </a:xfrm>
          <a:prstGeom prst="rect">
            <a:avLst/>
          </a:prstGeom>
        </p:spPr>
      </p:pic>
      <p:grpSp>
        <p:nvGrpSpPr>
          <p:cNvPr id="31" name="Group 30">
            <a:extLst>
              <a:ext uri="{FF2B5EF4-FFF2-40B4-BE49-F238E27FC236}">
                <a16:creationId xmlns:a16="http://schemas.microsoft.com/office/drawing/2014/main" id="{F42FB2CD-65A3-A2D4-B812-650AB3F49CEF}"/>
              </a:ext>
            </a:extLst>
          </p:cNvPr>
          <p:cNvGrpSpPr/>
          <p:nvPr/>
        </p:nvGrpSpPr>
        <p:grpSpPr>
          <a:xfrm>
            <a:off x="2357305" y="830022"/>
            <a:ext cx="4425532" cy="1173951"/>
            <a:chOff x="2532742" y="919207"/>
            <a:chExt cx="4172859" cy="1017313"/>
          </a:xfrm>
        </p:grpSpPr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B41088C4-DCAC-B6A5-EABA-78F37E04110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830" r="18786"/>
            <a:stretch>
              <a:fillRect/>
            </a:stretch>
          </p:blipFill>
          <p:spPr>
            <a:xfrm>
              <a:off x="2532743" y="919207"/>
              <a:ext cx="4172858" cy="507081"/>
            </a:xfrm>
            <a:prstGeom prst="rect">
              <a:avLst/>
            </a:prstGeom>
          </p:spPr>
        </p:pic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FE86E246-A424-31DC-8AD8-8DE8097FB87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830" r="18786"/>
            <a:stretch>
              <a:fillRect/>
            </a:stretch>
          </p:blipFill>
          <p:spPr>
            <a:xfrm flipV="1">
              <a:off x="2532742" y="1426288"/>
              <a:ext cx="4172857" cy="510232"/>
            </a:xfrm>
            <a:prstGeom prst="rect">
              <a:avLst/>
            </a:prstGeom>
          </p:spPr>
        </p:pic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D0B7CF6B-91F2-FE56-59B0-8DF32D45759B}"/>
                </a:ext>
              </a:extLst>
            </p:cNvPr>
            <p:cNvCxnSpPr/>
            <p:nvPr/>
          </p:nvCxnSpPr>
          <p:spPr>
            <a:xfrm>
              <a:off x="2532743" y="1405931"/>
              <a:ext cx="4172857" cy="0"/>
            </a:xfrm>
            <a:prstGeom prst="line">
              <a:avLst/>
            </a:prstGeom>
            <a:ln w="571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DDB34B1B-652A-48E3-E19D-849D93195A14}"/>
              </a:ext>
            </a:extLst>
          </p:cNvPr>
          <p:cNvCxnSpPr>
            <a:cxnSpLocks/>
          </p:cNvCxnSpPr>
          <p:nvPr/>
        </p:nvCxnSpPr>
        <p:spPr>
          <a:xfrm>
            <a:off x="6705197" y="1391688"/>
            <a:ext cx="155275" cy="0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E627F617-431F-012D-659A-E1D86BA17BEE}"/>
              </a:ext>
            </a:extLst>
          </p:cNvPr>
          <p:cNvCxnSpPr>
            <a:cxnSpLocks/>
          </p:cNvCxnSpPr>
          <p:nvPr/>
        </p:nvCxnSpPr>
        <p:spPr>
          <a:xfrm>
            <a:off x="6705196" y="1713849"/>
            <a:ext cx="155275" cy="0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11198D23-40D5-966F-5836-91CC49DEDF27}"/>
              </a:ext>
            </a:extLst>
          </p:cNvPr>
          <p:cNvCxnSpPr>
            <a:cxnSpLocks/>
          </p:cNvCxnSpPr>
          <p:nvPr/>
        </p:nvCxnSpPr>
        <p:spPr>
          <a:xfrm>
            <a:off x="6705196" y="1105523"/>
            <a:ext cx="155275" cy="0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F53FE9E9-462F-6B76-093C-31077BC855F2}"/>
              </a:ext>
            </a:extLst>
          </p:cNvPr>
          <p:cNvCxnSpPr>
            <a:cxnSpLocks/>
          </p:cNvCxnSpPr>
          <p:nvPr/>
        </p:nvCxnSpPr>
        <p:spPr>
          <a:xfrm flipH="1">
            <a:off x="2301006" y="1397179"/>
            <a:ext cx="127554" cy="0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23D4A3FE-4966-47BA-924A-8FCD1EA44628}"/>
              </a:ext>
            </a:extLst>
          </p:cNvPr>
          <p:cNvCxnSpPr>
            <a:cxnSpLocks/>
          </p:cNvCxnSpPr>
          <p:nvPr/>
        </p:nvCxnSpPr>
        <p:spPr>
          <a:xfrm flipH="1">
            <a:off x="2281329" y="1713889"/>
            <a:ext cx="127554" cy="0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DEB175DE-1596-4A83-9291-F308D901DE6A}"/>
              </a:ext>
            </a:extLst>
          </p:cNvPr>
          <p:cNvCxnSpPr>
            <a:cxnSpLocks/>
          </p:cNvCxnSpPr>
          <p:nvPr/>
        </p:nvCxnSpPr>
        <p:spPr>
          <a:xfrm flipH="1">
            <a:off x="2296851" y="1114149"/>
            <a:ext cx="127554" cy="0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C9A274B3-81EF-09A1-760F-9F7C3CC866DC}"/>
                  </a:ext>
                </a:extLst>
              </p:cNvPr>
              <p:cNvSpPr txBox="1"/>
              <p:nvPr/>
            </p:nvSpPr>
            <p:spPr>
              <a:xfrm>
                <a:off x="4454043" y="1500706"/>
                <a:ext cx="307777" cy="4140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sz="24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sz="24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𝑩</m:t>
                          </m:r>
                        </m:e>
                      </m:acc>
                    </m:oMath>
                  </m:oMathPara>
                </a14:m>
                <a:endParaRPr lang="fr-FR" sz="24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C9A274B3-81EF-09A1-760F-9F7C3CC866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4043" y="1500706"/>
                <a:ext cx="307777" cy="414088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983624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1317EF-1FA9-4C71-24AC-92C2CCEDFC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DD17026C-30AC-055B-0F5E-C7C1D3422A71}"/>
              </a:ext>
            </a:extLst>
          </p:cNvPr>
          <p:cNvSpPr/>
          <p:nvPr/>
        </p:nvSpPr>
        <p:spPr>
          <a:xfrm>
            <a:off x="326443" y="423275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F325D95-66BD-B16D-478C-A16E375CA2BC}"/>
              </a:ext>
            </a:extLst>
          </p:cNvPr>
          <p:cNvGrpSpPr/>
          <p:nvPr/>
        </p:nvGrpSpPr>
        <p:grpSpPr>
          <a:xfrm>
            <a:off x="0" y="-4624"/>
            <a:ext cx="9144000" cy="457200"/>
            <a:chOff x="0" y="-4624"/>
            <a:chExt cx="9144000" cy="457200"/>
          </a:xfrm>
          <a:solidFill>
            <a:srgbClr val="4A66AC"/>
          </a:solidFill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D4633CA-79B5-8626-5F5C-961A97B305C7}"/>
                </a:ext>
              </a:extLst>
            </p:cNvPr>
            <p:cNvSpPr/>
            <p:nvPr/>
          </p:nvSpPr>
          <p:spPr>
            <a:xfrm>
              <a:off x="0" y="-4624"/>
              <a:ext cx="9144000" cy="457200"/>
            </a:xfrm>
            <a:prstGeom prst="rect">
              <a:avLst/>
            </a:prstGeom>
            <a:grpFill/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17" name="Footer Placeholder 2">
              <a:extLst>
                <a:ext uri="{FF2B5EF4-FFF2-40B4-BE49-F238E27FC236}">
                  <a16:creationId xmlns:a16="http://schemas.microsoft.com/office/drawing/2014/main" id="{4D548465-9274-10EF-DF9E-7E195D565F11}"/>
                </a:ext>
              </a:extLst>
            </p:cNvPr>
            <p:cNvSpPr txBox="1">
              <a:spLocks/>
            </p:cNvSpPr>
            <p:nvPr/>
          </p:nvSpPr>
          <p:spPr>
            <a:xfrm>
              <a:off x="1447764" y="41413"/>
              <a:ext cx="6248472" cy="36512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457200" rtl="0" eaLnBrk="1" latinLnBrk="0" hangingPunct="1">
                <a:defRPr sz="900" kern="1200" cap="all" baseline="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fr-FR" dirty="0"/>
            </a:p>
          </p:txBody>
        </p:sp>
      </p:grp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E5BCA913-E8F4-FEC2-85B5-1EE56140ED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0D275B26-53D5-1DA5-3076-7CA2265F7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TIPE 39662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7231334-36C0-5C49-770A-3C438FD9D3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5084938"/>
              </p:ext>
            </p:extLst>
          </p:nvPr>
        </p:nvGraphicFramePr>
        <p:xfrm>
          <a:off x="326176" y="41413"/>
          <a:ext cx="856351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4504">
                  <a:extLst>
                    <a:ext uri="{9D8B030D-6E8A-4147-A177-3AD203B41FA5}">
                      <a16:colId xmlns:a16="http://schemas.microsoft.com/office/drawing/2014/main" val="1619084455"/>
                    </a:ext>
                  </a:extLst>
                </a:gridCol>
                <a:gridCol w="2854504">
                  <a:extLst>
                    <a:ext uri="{9D8B030D-6E8A-4147-A177-3AD203B41FA5}">
                      <a16:colId xmlns:a16="http://schemas.microsoft.com/office/drawing/2014/main" val="13699801"/>
                    </a:ext>
                  </a:extLst>
                </a:gridCol>
                <a:gridCol w="2854504">
                  <a:extLst>
                    <a:ext uri="{9D8B030D-6E8A-4147-A177-3AD203B41FA5}">
                      <a16:colId xmlns:a16="http://schemas.microsoft.com/office/drawing/2014/main" val="29905955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1050" b="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Filtrage électrique interne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b="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Induction et filtrage spatial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50" b="1" dirty="0">
                          <a:solidFill>
                            <a:schemeClr val="bg1"/>
                          </a:solidFill>
                        </a:rPr>
                        <a:t>Reduction du bourdonnement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6456716"/>
                  </a:ext>
                </a:extLst>
              </a:tr>
            </a:tbl>
          </a:graphicData>
        </a:graphic>
      </p:graphicFrame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51E47C2C-EF11-482F-718A-A277219A5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425344" y="6459786"/>
            <a:ext cx="984019" cy="365125"/>
          </a:xfrm>
        </p:spPr>
        <p:txBody>
          <a:bodyPr/>
          <a:lstStyle/>
          <a:p>
            <a:fld id="{477F8A04-938D-4CBF-A3DC-6CB925B6FC34}" type="slidenum">
              <a:rPr lang="fr-FR" sz="1400" b="1" smtClean="0"/>
              <a:t>19</a:t>
            </a:fld>
            <a:endParaRPr lang="fr-FR" sz="1400" b="1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E6E31EB-F02C-8FDD-76C6-950022624582}"/>
              </a:ext>
            </a:extLst>
          </p:cNvPr>
          <p:cNvSpPr txBox="1">
            <a:spLocks/>
          </p:cNvSpPr>
          <p:nvPr/>
        </p:nvSpPr>
        <p:spPr>
          <a:xfrm>
            <a:off x="3137564" y="578739"/>
            <a:ext cx="2899064" cy="4453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7500" lnSpcReduction="2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2800" dirty="0">
                <a:solidFill>
                  <a:schemeClr val="tx1"/>
                </a:solidFill>
                <a:latin typeface="Arial Black" panose="020B0A04020102020204" pitchFamily="34" charset="0"/>
              </a:rPr>
              <a:t>EXPERIMENTATION</a:t>
            </a:r>
            <a:endParaRPr lang="fr-FR" sz="2800" dirty="0">
              <a:solidFill>
                <a:schemeClr val="tx1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C795B04-D800-0F8E-4B72-42272A309C66}"/>
              </a:ext>
            </a:extLst>
          </p:cNvPr>
          <p:cNvSpPr/>
          <p:nvPr/>
        </p:nvSpPr>
        <p:spPr>
          <a:xfrm>
            <a:off x="322077" y="1187774"/>
            <a:ext cx="3533931" cy="4714262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fr-FR" sz="1600" b="1" dirty="0">
                <a:solidFill>
                  <a:schemeClr val="tx1"/>
                </a:solidFill>
              </a:rPr>
              <a:t>Protocole</a:t>
            </a:r>
          </a:p>
          <a:p>
            <a:r>
              <a:rPr lang="fr-FR" sz="1600" b="1" u="sng" dirty="0">
                <a:solidFill>
                  <a:schemeClr val="tx1"/>
                </a:solidFill>
              </a:rPr>
              <a:t>Objectif :</a:t>
            </a:r>
          </a:p>
          <a:p>
            <a:r>
              <a:rPr lang="fr-FR" sz="1400" dirty="0">
                <a:solidFill>
                  <a:schemeClr val="tx1"/>
                </a:solidFill>
              </a:rPr>
              <a:t>Déterminer la sensibilité des micros aux champ magnétiques parasites</a:t>
            </a:r>
          </a:p>
          <a:p>
            <a:endParaRPr lang="fr-FR" sz="800" b="1" u="sng" dirty="0">
              <a:solidFill>
                <a:schemeClr val="tx1"/>
              </a:solidFill>
            </a:endParaRPr>
          </a:p>
          <a:p>
            <a:r>
              <a:rPr lang="fr-FR" sz="1600" b="1" u="sng" dirty="0">
                <a:solidFill>
                  <a:schemeClr val="tx1"/>
                </a:solidFill>
              </a:rPr>
              <a:t>Méthode :</a:t>
            </a:r>
          </a:p>
          <a:p>
            <a:r>
              <a:rPr lang="fr-FR" sz="1400" dirty="0">
                <a:solidFill>
                  <a:schemeClr val="tx1"/>
                </a:solidFill>
                <a:sym typeface="Wingdings" panose="05000000000000000000" pitchFamily="2" charset="2"/>
              </a:rPr>
              <a:t> </a:t>
            </a:r>
            <a:r>
              <a:rPr lang="fr-FR" sz="1400" dirty="0">
                <a:solidFill>
                  <a:schemeClr val="tx1"/>
                </a:solidFill>
              </a:rPr>
              <a:t>Utilisation de bobine de Helmholtz pour g</a:t>
            </a:r>
            <a:r>
              <a:rPr lang="fr-FR" sz="1400" dirty="0">
                <a:solidFill>
                  <a:schemeClr val="tx1"/>
                </a:solidFill>
                <a:sym typeface="Wingdings" panose="05000000000000000000" pitchFamily="2" charset="2"/>
              </a:rPr>
              <a:t>énérer un champ à 50Hz.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CB11993A-5AB5-1C07-152C-950544456D7E}"/>
              </a:ext>
            </a:extLst>
          </p:cNvPr>
          <p:cNvGrpSpPr/>
          <p:nvPr/>
        </p:nvGrpSpPr>
        <p:grpSpPr>
          <a:xfrm>
            <a:off x="440957" y="3209667"/>
            <a:ext cx="3303140" cy="2387944"/>
            <a:chOff x="3972220" y="1402087"/>
            <a:chExt cx="5024460" cy="4053826"/>
          </a:xfrm>
        </p:grpSpPr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A76EC1FD-3533-8445-C3B4-6F2E966E1FE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biLevel thresh="5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-40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3972220" y="1402087"/>
              <a:ext cx="5024460" cy="4053826"/>
            </a:xfrm>
            <a:prstGeom prst="rect">
              <a:avLst/>
            </a:prstGeom>
          </p:spPr>
        </p:pic>
        <p:pic>
          <p:nvPicPr>
            <p:cNvPr id="34" name="Picture 33" descr="40,000+ Free Sine-Waves &amp; Sea Images - Pixabay">
              <a:extLst>
                <a:ext uri="{FF2B5EF4-FFF2-40B4-BE49-F238E27FC236}">
                  <a16:creationId xmlns:a16="http://schemas.microsoft.com/office/drawing/2014/main" id="{FC0C48A5-C46C-8771-0533-71EEB41DADD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biLevel thresh="75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artisticMarker/>
                      </a14:imgEffect>
                      <a14:imgEffect>
                        <a14:saturation sat="400000"/>
                      </a14:imgEffect>
                      <a14:imgEffect>
                        <a14:brightnessContrast bright="-40000" contrast="-40000"/>
                      </a14:imgEffect>
                    </a14:imgLayer>
                  </a14:imgProps>
                </a:ext>
              </a:extLst>
            </a:blip>
            <a:srcRect l="-458" t="41462" r="71654" b="41673"/>
            <a:stretch>
              <a:fillRect/>
            </a:stretch>
          </p:blipFill>
          <p:spPr>
            <a:xfrm>
              <a:off x="6036629" y="3092121"/>
              <a:ext cx="1442475" cy="607261"/>
            </a:xfrm>
            <a:prstGeom prst="rect">
              <a:avLst/>
            </a:prstGeom>
          </p:spPr>
        </p:pic>
      </p:grpSp>
      <p:pic>
        <p:nvPicPr>
          <p:cNvPr id="36" name="Picture 35" descr="Projects and products | Open CASCADE Technology">
            <a:extLst>
              <a:ext uri="{FF2B5EF4-FFF2-40B4-BE49-F238E27FC236}">
                <a16:creationId xmlns:a16="http://schemas.microsoft.com/office/drawing/2014/main" id="{9EA07BC6-9999-D8F0-C1C0-45CA84716614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9180" r="20676"/>
          <a:stretch>
            <a:fillRect/>
          </a:stretch>
        </p:blipFill>
        <p:spPr>
          <a:xfrm>
            <a:off x="8111317" y="525374"/>
            <a:ext cx="934658" cy="360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B546651-DDC2-E144-0409-6B41BE9C6392}"/>
              </a:ext>
            </a:extLst>
          </p:cNvPr>
          <p:cNvSpPr txBox="1"/>
          <p:nvPr/>
        </p:nvSpPr>
        <p:spPr>
          <a:xfrm>
            <a:off x="5906290" y="3025001"/>
            <a:ext cx="1593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PHOTO</a:t>
            </a:r>
          </a:p>
        </p:txBody>
      </p:sp>
    </p:spTree>
    <p:extLst>
      <p:ext uri="{BB962C8B-B14F-4D97-AF65-F5344CB8AC3E}">
        <p14:creationId xmlns:p14="http://schemas.microsoft.com/office/powerpoint/2010/main" val="26624458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16A309-7F61-2078-756A-1BEEE9F9A7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EB1A806C-1E53-4584-380F-1ED7D45FC697}"/>
              </a:ext>
            </a:extLst>
          </p:cNvPr>
          <p:cNvSpPr txBox="1"/>
          <p:nvPr/>
        </p:nvSpPr>
        <p:spPr>
          <a:xfrm>
            <a:off x="655762" y="4910371"/>
            <a:ext cx="837251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u="sng" dirty="0"/>
              <a:t>Interprétation</a:t>
            </a:r>
          </a:p>
          <a:p>
            <a:r>
              <a:rPr lang="fr-FR" dirty="0">
                <a:sym typeface="Wingdings" panose="05000000000000000000" pitchFamily="2" charset="2"/>
              </a:rPr>
              <a:t>✅ </a:t>
            </a:r>
            <a:r>
              <a:rPr lang="fr-FR" dirty="0"/>
              <a:t>Sensibilité accrue du micro SingleCoil</a:t>
            </a:r>
          </a:p>
          <a:p>
            <a:r>
              <a:rPr lang="fr-FR" dirty="0">
                <a:sym typeface="Wingdings" panose="05000000000000000000" pitchFamily="2" charset="2"/>
              </a:rPr>
              <a:t>✅ </a:t>
            </a:r>
            <a:r>
              <a:rPr lang="fr-FR" dirty="0"/>
              <a:t>Reduction efficace du bourdonnement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5AC0E9-CB7B-70C2-AA29-F91BBCFF9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BB9F8804-5B6D-12D8-4525-9D1A7692D87A}"/>
              </a:ext>
            </a:extLst>
          </p:cNvPr>
          <p:cNvGrpSpPr/>
          <p:nvPr/>
        </p:nvGrpSpPr>
        <p:grpSpPr>
          <a:xfrm>
            <a:off x="0" y="-4624"/>
            <a:ext cx="9144000" cy="457200"/>
            <a:chOff x="0" y="-4624"/>
            <a:chExt cx="9144000" cy="457200"/>
          </a:xfrm>
          <a:solidFill>
            <a:srgbClr val="4A66AC"/>
          </a:solidFill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937DA41-FAE5-2627-6BB9-9A59954ECF3F}"/>
                </a:ext>
              </a:extLst>
            </p:cNvPr>
            <p:cNvSpPr/>
            <p:nvPr/>
          </p:nvSpPr>
          <p:spPr>
            <a:xfrm>
              <a:off x="0" y="-4624"/>
              <a:ext cx="9144000" cy="457200"/>
            </a:xfrm>
            <a:prstGeom prst="rect">
              <a:avLst/>
            </a:prstGeom>
            <a:grpFill/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11" name="Footer Placeholder 2">
              <a:extLst>
                <a:ext uri="{FF2B5EF4-FFF2-40B4-BE49-F238E27FC236}">
                  <a16:creationId xmlns:a16="http://schemas.microsoft.com/office/drawing/2014/main" id="{B5DEB507-C734-74B6-70ED-BBB59A6246AC}"/>
                </a:ext>
              </a:extLst>
            </p:cNvPr>
            <p:cNvSpPr txBox="1">
              <a:spLocks/>
            </p:cNvSpPr>
            <p:nvPr/>
          </p:nvSpPr>
          <p:spPr>
            <a:xfrm>
              <a:off x="1447764" y="41413"/>
              <a:ext cx="6248472" cy="36512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457200" rtl="0" eaLnBrk="1" latinLnBrk="0" hangingPunct="1">
                <a:defRPr sz="900" kern="1200" cap="all" baseline="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fr-FR" dirty="0"/>
            </a:p>
          </p:txBody>
        </p:sp>
      </p:grp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6BBFBE-6A19-F245-FD7F-C53C2B85C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TIPE 39662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C37CBB98-1E72-A4AD-5597-DC805CAF72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3020" y="1249202"/>
            <a:ext cx="3592740" cy="2993949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2169C8C4-09CE-6F8E-6D72-84E81FBF3C8E}"/>
              </a:ext>
            </a:extLst>
          </p:cNvPr>
          <p:cNvSpPr txBox="1"/>
          <p:nvPr/>
        </p:nvSpPr>
        <p:spPr>
          <a:xfrm>
            <a:off x="655762" y="4381644"/>
            <a:ext cx="3600000" cy="2616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1100" dirty="0"/>
              <a:t>Micro SingleCoil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96B7DD0-13FB-E3C1-1659-D5681ECB5F8F}"/>
              </a:ext>
            </a:extLst>
          </p:cNvPr>
          <p:cNvSpPr txBox="1"/>
          <p:nvPr/>
        </p:nvSpPr>
        <p:spPr>
          <a:xfrm>
            <a:off x="4824129" y="4381644"/>
            <a:ext cx="3600000" cy="2616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1100" dirty="0"/>
              <a:t>Micro Humbucker série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A87E454A-6B5E-2A3B-18FA-B63D9BB407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827759" y="1249201"/>
            <a:ext cx="3592738" cy="2993949"/>
          </a:xfrm>
          <a:prstGeom prst="rect">
            <a:avLst/>
          </a:prstGeom>
          <a:ln>
            <a:noFill/>
          </a:ln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20B17C0-F8FD-B5AA-43E0-C58AEAD563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5763624"/>
              </p:ext>
            </p:extLst>
          </p:nvPr>
        </p:nvGraphicFramePr>
        <p:xfrm>
          <a:off x="326176" y="41413"/>
          <a:ext cx="856351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4504">
                  <a:extLst>
                    <a:ext uri="{9D8B030D-6E8A-4147-A177-3AD203B41FA5}">
                      <a16:colId xmlns:a16="http://schemas.microsoft.com/office/drawing/2014/main" val="1619084455"/>
                    </a:ext>
                  </a:extLst>
                </a:gridCol>
                <a:gridCol w="2854504">
                  <a:extLst>
                    <a:ext uri="{9D8B030D-6E8A-4147-A177-3AD203B41FA5}">
                      <a16:colId xmlns:a16="http://schemas.microsoft.com/office/drawing/2014/main" val="13699801"/>
                    </a:ext>
                  </a:extLst>
                </a:gridCol>
                <a:gridCol w="2854504">
                  <a:extLst>
                    <a:ext uri="{9D8B030D-6E8A-4147-A177-3AD203B41FA5}">
                      <a16:colId xmlns:a16="http://schemas.microsoft.com/office/drawing/2014/main" val="29905955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1050" b="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Filtrage électrique interne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b="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Induction et filtrage spatial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50" b="1" dirty="0">
                          <a:solidFill>
                            <a:schemeClr val="bg1"/>
                          </a:solidFill>
                        </a:rPr>
                        <a:t>Reduction du bourdonnement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6456716"/>
                  </a:ext>
                </a:extLst>
              </a:tr>
            </a:tbl>
          </a:graphicData>
        </a:graphic>
      </p:graphicFrame>
      <p:pic>
        <p:nvPicPr>
          <p:cNvPr id="20" name="Picture 19" descr="Python Logo PNG Transparent – Brands Logos">
            <a:extLst>
              <a:ext uri="{FF2B5EF4-FFF2-40B4-BE49-F238E27FC236}">
                <a16:creationId xmlns:a16="http://schemas.microsoft.com/office/drawing/2014/main" id="{41F8D0BD-5CE2-656C-AAF1-8AF02632B4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9105" y="527823"/>
            <a:ext cx="43383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DAB8F54-AD94-2AB2-9E03-BD06D6E21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425344" y="6459786"/>
            <a:ext cx="984019" cy="365125"/>
          </a:xfrm>
        </p:spPr>
        <p:txBody>
          <a:bodyPr/>
          <a:lstStyle/>
          <a:p>
            <a:fld id="{477F8A04-938D-4CBF-A3DC-6CB925B6FC34}" type="slidenum">
              <a:rPr lang="fr-FR" sz="1400" b="1" smtClean="0"/>
              <a:t>20</a:t>
            </a:fld>
            <a:endParaRPr lang="fr-FR" sz="1400" b="1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EDD6048-3A14-DB07-B06D-D475F4C8819C}"/>
              </a:ext>
            </a:extLst>
          </p:cNvPr>
          <p:cNvSpPr txBox="1">
            <a:spLocks/>
          </p:cNvSpPr>
          <p:nvPr/>
        </p:nvSpPr>
        <p:spPr>
          <a:xfrm>
            <a:off x="3137564" y="564225"/>
            <a:ext cx="2899064" cy="4453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1900" dirty="0">
                <a:solidFill>
                  <a:schemeClr val="tx1"/>
                </a:solidFill>
                <a:latin typeface="Arial Black" panose="020B0A04020102020204" pitchFamily="34" charset="0"/>
              </a:rPr>
              <a:t>RESULTATS</a:t>
            </a:r>
            <a:endParaRPr lang="fr-FR" sz="19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4807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51FDCA-BB39-EE18-BB35-2E0E1E4D03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58515866-5F05-8C01-076C-078FAEECE57C}"/>
              </a:ext>
            </a:extLst>
          </p:cNvPr>
          <p:cNvGrpSpPr/>
          <p:nvPr/>
        </p:nvGrpSpPr>
        <p:grpSpPr>
          <a:xfrm>
            <a:off x="0" y="-4624"/>
            <a:ext cx="9144000" cy="457200"/>
            <a:chOff x="0" y="-4624"/>
            <a:chExt cx="9144000" cy="457200"/>
          </a:xfrm>
          <a:solidFill>
            <a:srgbClr val="4A66AC"/>
          </a:solidFill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1E3100D-75AB-378E-9842-ED0F296E89C4}"/>
                </a:ext>
              </a:extLst>
            </p:cNvPr>
            <p:cNvSpPr/>
            <p:nvPr/>
          </p:nvSpPr>
          <p:spPr>
            <a:xfrm>
              <a:off x="0" y="-4624"/>
              <a:ext cx="9144000" cy="457200"/>
            </a:xfrm>
            <a:prstGeom prst="rect">
              <a:avLst/>
            </a:prstGeom>
            <a:grpFill/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6" name="Footer Placeholder 2">
              <a:extLst>
                <a:ext uri="{FF2B5EF4-FFF2-40B4-BE49-F238E27FC236}">
                  <a16:creationId xmlns:a16="http://schemas.microsoft.com/office/drawing/2014/main" id="{45037E6E-E4E2-AC9B-1CB9-6307187141E9}"/>
                </a:ext>
              </a:extLst>
            </p:cNvPr>
            <p:cNvSpPr txBox="1">
              <a:spLocks/>
            </p:cNvSpPr>
            <p:nvPr/>
          </p:nvSpPr>
          <p:spPr>
            <a:xfrm>
              <a:off x="1447764" y="41413"/>
              <a:ext cx="6248472" cy="36512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457200" rtl="0" eaLnBrk="1" latinLnBrk="0" hangingPunct="1">
                <a:defRPr sz="900" kern="1200" cap="all" baseline="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fr-FR" dirty="0"/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A639CD3E-4169-1389-4E27-DA0661374473}"/>
              </a:ext>
            </a:extLst>
          </p:cNvPr>
          <p:cNvSpPr/>
          <p:nvPr/>
        </p:nvSpPr>
        <p:spPr>
          <a:xfrm>
            <a:off x="345440" y="4221312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A2A4C42-E8E3-0A32-60A1-2B34526A12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0186" y="1128397"/>
            <a:ext cx="5175257" cy="4955994"/>
          </a:xfrm>
          <a:prstGeom prst="rect">
            <a:avLst/>
          </a:prstGeom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96F6E40A-A2E8-4225-2918-CE1F7288954B}"/>
                  </a:ext>
                </a:extLst>
              </p:cNvPr>
              <p:cNvSpPr/>
              <p:nvPr/>
            </p:nvSpPr>
            <p:spPr>
              <a:xfrm>
                <a:off x="5681666" y="2222360"/>
                <a:ext cx="3208020" cy="3862030"/>
              </a:xfrm>
              <a:prstGeom prst="rect">
                <a:avLst/>
              </a:prstGeom>
              <a:ln w="38100">
                <a:noFill/>
              </a:ln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r>
                  <a:rPr lang="fr-FR" sz="1600" b="1" u="sng" dirty="0">
                    <a:solidFill>
                      <a:schemeClr val="tx1"/>
                    </a:solidFill>
                  </a:rPr>
                  <a:t>Théorique :</a:t>
                </a:r>
                <a:r>
                  <a:rPr lang="fr-FR" sz="1600" b="1" dirty="0">
                    <a:solidFill>
                      <a:schemeClr val="tx1"/>
                    </a:solidFill>
                  </a:rPr>
                  <a:t> </a:t>
                </a:r>
                <a:endParaRPr lang="fr-FR" sz="1600" dirty="0">
                  <a:solidFill>
                    <a:schemeClr val="tx1"/>
                  </a:solidFill>
                </a:endParaRPr>
              </a:p>
              <a:p>
                <a:endParaRPr lang="fr-FR" sz="1600" dirty="0">
                  <a:solidFill>
                    <a:schemeClr val="tx1"/>
                  </a:solidFill>
                </a:endParaRPr>
              </a:p>
              <a:p>
                <a:endParaRPr lang="fr-FR" sz="1600" dirty="0">
                  <a:solidFill>
                    <a:srgbClr val="C00000"/>
                  </a:solidFill>
                </a:endParaRPr>
              </a:p>
              <a:p>
                <a:endParaRPr lang="fr-FR" sz="1600" dirty="0">
                  <a:solidFill>
                    <a:srgbClr val="C00000"/>
                  </a:solidFill>
                </a:endParaRPr>
              </a:p>
              <a:p>
                <a:endParaRPr lang="fr-FR" sz="600" dirty="0">
                  <a:solidFill>
                    <a:srgbClr val="C00000"/>
                  </a:solidFill>
                </a:endParaRPr>
              </a:p>
              <a:p>
                <a:r>
                  <a:rPr lang="fr-FR" sz="1600" b="1" u="sng" dirty="0">
                    <a:solidFill>
                      <a:schemeClr val="tx1"/>
                    </a:solidFill>
                  </a:rPr>
                  <a:t>Expérimental : </a:t>
                </a:r>
              </a:p>
              <a:p>
                <a:endParaRPr lang="fr-FR" sz="1600" dirty="0">
                  <a:solidFill>
                    <a:srgbClr val="C00000"/>
                  </a:solidFill>
                </a:endParaRPr>
              </a:p>
              <a:p>
                <a:endParaRPr lang="fr-FR" sz="1600" dirty="0">
                  <a:solidFill>
                    <a:srgbClr val="C00000"/>
                  </a:solidFill>
                </a:endParaRPr>
              </a:p>
              <a:p>
                <a:endParaRPr lang="fr-FR" sz="1600" dirty="0">
                  <a:solidFill>
                    <a:srgbClr val="C00000"/>
                  </a:solidFill>
                </a:endParaRPr>
              </a:p>
              <a:p>
                <a:endParaRPr lang="fr-FR" sz="1600" dirty="0">
                  <a:solidFill>
                    <a:srgbClr val="C00000"/>
                  </a:solidFill>
                </a:endParaRPr>
              </a:p>
              <a:p>
                <a:r>
                  <a:rPr lang="fr-FR" sz="1600" b="1" u="sng" dirty="0">
                    <a:solidFill>
                      <a:schemeClr val="tx1"/>
                    </a:solidFill>
                  </a:rPr>
                  <a:t>Ecarts :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fr-FR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𝐻𝑠</m:t>
                          </m:r>
                        </m:sub>
                      </m:sSub>
                      <m:r>
                        <a:rPr lang="fr-FR" sz="16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16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18</m:t>
                      </m:r>
                      <m:r>
                        <a:rPr lang="fr-FR" sz="16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fr-FR" sz="1600" b="1" u="sng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fr-F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𝐻</m:t>
                          </m:r>
                          <m:r>
                            <a:rPr lang="fr-FR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fr-FR" sz="16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=9</m:t>
                      </m:r>
                      <m:r>
                        <a:rPr lang="fr-FR" sz="16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fr-FR" sz="16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fr-FR" sz="1600" b="1" u="sng" dirty="0">
                  <a:solidFill>
                    <a:schemeClr val="tx1"/>
                  </a:solidFill>
                </a:endParaRPr>
              </a:p>
              <a:p>
                <a:endParaRPr lang="fr-FR" sz="600" b="1" u="sng" dirty="0">
                  <a:solidFill>
                    <a:schemeClr val="tx1"/>
                  </a:solidFill>
                </a:endParaRPr>
              </a:p>
              <a:p>
                <a:r>
                  <a:rPr lang="fr-FR" sz="1600" b="1" u="sng" dirty="0">
                    <a:solidFill>
                      <a:schemeClr val="tx1"/>
                    </a:solidFill>
                  </a:rPr>
                  <a:t>Causes :</a:t>
                </a: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fr-FR" sz="1600" dirty="0">
                    <a:solidFill>
                      <a:schemeClr val="tx1"/>
                    </a:solidFill>
                  </a:rPr>
                  <a:t>Asymétrie de bobinage</a:t>
                </a: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fr-FR" sz="1600" dirty="0">
                    <a:solidFill>
                      <a:schemeClr val="tx1"/>
                    </a:solidFill>
                  </a:rPr>
                  <a:t>Induction mutuelle négligée</a:t>
                </a:r>
              </a:p>
              <a:p>
                <a:endParaRPr lang="fr-FR" sz="16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96F6E40A-A2E8-4225-2918-CE1F7288954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1666" y="2222360"/>
                <a:ext cx="3208020" cy="3862030"/>
              </a:xfrm>
              <a:prstGeom prst="rect">
                <a:avLst/>
              </a:prstGeom>
              <a:blipFill>
                <a:blip r:embed="rId4"/>
                <a:stretch>
                  <a:fillRect l="-951" t="-474" b="-4581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: Rounded Corners 11">
                <a:extLst>
                  <a:ext uri="{FF2B5EF4-FFF2-40B4-BE49-F238E27FC236}">
                    <a16:creationId xmlns:a16="http://schemas.microsoft.com/office/drawing/2014/main" id="{1AFFEE1F-3D02-090A-479D-90A16735DDAF}"/>
                  </a:ext>
                </a:extLst>
              </p:cNvPr>
              <p:cNvSpPr/>
              <p:nvPr/>
            </p:nvSpPr>
            <p:spPr>
              <a:xfrm>
                <a:off x="5681666" y="1128397"/>
                <a:ext cx="3208021" cy="1047697"/>
              </a:xfrm>
              <a:prstGeom prst="roundRect">
                <a:avLst/>
              </a:prstGeom>
              <a:noFill/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pPr algn="ctr"/>
                <a:r>
                  <a:rPr lang="fr-FR" sz="1400" b="1" dirty="0">
                    <a:solidFill>
                      <a:schemeClr val="tx1"/>
                    </a:solidFill>
                  </a:rPr>
                  <a:t>Calcul du CMRR</a:t>
                </a:r>
              </a:p>
              <a:p>
                <a:pPr algn="ctr"/>
                <a:endParaRPr lang="fr-FR" sz="600" b="0" i="1" dirty="0">
                  <a:solidFill>
                    <a:srgbClr val="C0000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fr-FR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fr-FR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</m:d>
                      <m:r>
                        <a:rPr lang="fr-FR" sz="12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fr-FR" sz="12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  <m:r>
                        <a:rPr lang="fr-FR" sz="12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|"/>
                          <m:endChr m:val="|"/>
                          <m:ctrlPr>
                            <a:rPr lang="fr-FR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fr-FR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</m:d>
                    </m:oMath>
                  </m:oMathPara>
                </a14:m>
                <a:endParaRPr lang="fr-FR" sz="1200" b="0" dirty="0">
                  <a:solidFill>
                    <a:srgbClr val="C0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𝐶𝑀𝑅𝑅</m:t>
                      </m:r>
                      <m:r>
                        <a:rPr lang="fr-FR" sz="12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=</m:t>
                      </m:r>
                      <m:r>
                        <a:rPr lang="fr-FR" sz="12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20</m:t>
                      </m:r>
                      <m:func>
                        <m:funcPr>
                          <m:ctrlPr>
                            <a:rPr lang="fr-FR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fr-FR" sz="1200" b="0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fr-FR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f>
                            <m:fPr>
                              <m:ctrlP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sub>
                              </m:sSub>
                            </m:den>
                          </m:f>
                          <m:r>
                            <a:rPr lang="fr-FR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fr-FR" sz="1400" dirty="0">
                  <a:solidFill>
                    <a:srgbClr val="C00000"/>
                  </a:solidFill>
                </a:endParaRPr>
              </a:p>
              <a:p>
                <a:endParaRPr lang="fr-FR" sz="1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2" name="Rectangle: Rounded Corners 11">
                <a:extLst>
                  <a:ext uri="{FF2B5EF4-FFF2-40B4-BE49-F238E27FC236}">
                    <a16:creationId xmlns:a16="http://schemas.microsoft.com/office/drawing/2014/main" id="{1AFFEE1F-3D02-090A-479D-90A16735DDA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1666" y="1128397"/>
                <a:ext cx="3208021" cy="1047697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E8A4355-9F53-EC56-1C7E-FC7FB883A1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3A21404-EC4C-8456-3B1E-A8B200D81B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TIPE 39662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763A8DD5-EEEE-870C-F78B-64F9974FE1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5084938"/>
              </p:ext>
            </p:extLst>
          </p:nvPr>
        </p:nvGraphicFramePr>
        <p:xfrm>
          <a:off x="326176" y="41413"/>
          <a:ext cx="856351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4504">
                  <a:extLst>
                    <a:ext uri="{9D8B030D-6E8A-4147-A177-3AD203B41FA5}">
                      <a16:colId xmlns:a16="http://schemas.microsoft.com/office/drawing/2014/main" val="1619084455"/>
                    </a:ext>
                  </a:extLst>
                </a:gridCol>
                <a:gridCol w="2854504">
                  <a:extLst>
                    <a:ext uri="{9D8B030D-6E8A-4147-A177-3AD203B41FA5}">
                      <a16:colId xmlns:a16="http://schemas.microsoft.com/office/drawing/2014/main" val="13699801"/>
                    </a:ext>
                  </a:extLst>
                </a:gridCol>
                <a:gridCol w="2854504">
                  <a:extLst>
                    <a:ext uri="{9D8B030D-6E8A-4147-A177-3AD203B41FA5}">
                      <a16:colId xmlns:a16="http://schemas.microsoft.com/office/drawing/2014/main" val="29905955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1050" b="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Filtrage électrique interne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b="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Induction et filtrage spatial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50" b="1" dirty="0">
                          <a:solidFill>
                            <a:schemeClr val="bg1"/>
                          </a:solidFill>
                        </a:rPr>
                        <a:t>Reduction du bourdonnement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6456716"/>
                  </a:ext>
                </a:extLst>
              </a:tr>
            </a:tbl>
          </a:graphicData>
        </a:graphic>
      </p:graphicFrame>
      <p:pic>
        <p:nvPicPr>
          <p:cNvPr id="16" name="Picture 15" descr="Python Logo PNG Transparent – Brands Logos">
            <a:extLst>
              <a:ext uri="{FF2B5EF4-FFF2-40B4-BE49-F238E27FC236}">
                <a16:creationId xmlns:a16="http://schemas.microsoft.com/office/drawing/2014/main" id="{7FF30083-6AC6-C272-5098-CC84794396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9105" y="527823"/>
            <a:ext cx="43383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AF77044-98CB-DE1B-50F6-58A7C65DA37E}"/>
                  </a:ext>
                </a:extLst>
              </p:cNvPr>
              <p:cNvSpPr txBox="1"/>
              <p:nvPr/>
            </p:nvSpPr>
            <p:spPr>
              <a:xfrm>
                <a:off x="6033581" y="2656712"/>
                <a:ext cx="2504185" cy="276999"/>
              </a:xfrm>
              <a:prstGeom prst="rect">
                <a:avLst/>
              </a:prstGeom>
              <a:noFill/>
              <a:ln w="19050">
                <a:solidFill>
                  <a:srgbClr val="C00000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𝐶𝑀𝑅</m:t>
                      </m:r>
                      <m:sSub>
                        <m:sSubPr>
                          <m:ctrlPr>
                            <a:rPr lang="fr-FR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fr-FR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𝐻𝑠</m:t>
                          </m:r>
                        </m:sub>
                      </m:sSub>
                      <m:r>
                        <a:rPr lang="fr-FR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35.0</m:t>
                      </m:r>
                      <m:r>
                        <a:rPr lang="fr-FR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fr-FR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dB</m:t>
                      </m:r>
                    </m:oMath>
                  </m:oMathPara>
                </a14:m>
                <a:endParaRPr lang="fr-FR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AF77044-98CB-DE1B-50F6-58A7C65DA3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3581" y="2656712"/>
                <a:ext cx="2504185" cy="276999"/>
              </a:xfrm>
              <a:prstGeom prst="rect">
                <a:avLst/>
              </a:prstGeom>
              <a:blipFill>
                <a:blip r:embed="rId7"/>
                <a:stretch>
                  <a:fillRect b="-12500"/>
                </a:stretch>
              </a:blipFill>
              <a:ln w="19050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C522786F-739E-2B8D-1338-5E63FA46A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425344" y="6459786"/>
            <a:ext cx="984019" cy="365125"/>
          </a:xfrm>
        </p:spPr>
        <p:txBody>
          <a:bodyPr/>
          <a:lstStyle/>
          <a:p>
            <a:fld id="{477F8A04-938D-4CBF-A3DC-6CB925B6FC34}" type="slidenum">
              <a:rPr lang="fr-FR" sz="1400" b="1" smtClean="0"/>
              <a:t>21</a:t>
            </a:fld>
            <a:endParaRPr lang="fr-FR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F4F0B75-1CAA-EA40-67D4-EBE77C28076F}"/>
                  </a:ext>
                </a:extLst>
              </p:cNvPr>
              <p:cNvSpPr txBox="1"/>
              <p:nvPr/>
            </p:nvSpPr>
            <p:spPr>
              <a:xfrm>
                <a:off x="6033580" y="3023290"/>
                <a:ext cx="2504185" cy="298415"/>
              </a:xfrm>
              <a:prstGeom prst="rect">
                <a:avLst/>
              </a:prstGeom>
              <a:noFill/>
              <a:ln w="19050">
                <a:solidFill>
                  <a:srgbClr val="C00000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𝐶𝑀𝑅</m:t>
                      </m:r>
                      <m:sSub>
                        <m:sSubPr>
                          <m:ctrlPr>
                            <a:rPr lang="fr-FR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fr-FR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𝐻𝑝</m:t>
                          </m:r>
                        </m:sub>
                      </m:sSub>
                      <m:r>
                        <a:rPr lang="fr-FR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39.3</m:t>
                      </m:r>
                      <m:r>
                        <a:rPr lang="fr-FR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fr-FR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dB</m:t>
                      </m:r>
                    </m:oMath>
                  </m:oMathPara>
                </a14:m>
                <a:endParaRPr lang="fr-FR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F4F0B75-1CAA-EA40-67D4-EBE77C2807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3580" y="3023290"/>
                <a:ext cx="2504185" cy="298415"/>
              </a:xfrm>
              <a:prstGeom prst="rect">
                <a:avLst/>
              </a:prstGeom>
              <a:blipFill>
                <a:blip r:embed="rId8"/>
                <a:stretch>
                  <a:fillRect b="-17308"/>
                </a:stretch>
              </a:blipFill>
              <a:ln w="19050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C9CA7E0-CD5B-A12D-3D35-46BBF17A9066}"/>
                  </a:ext>
                </a:extLst>
              </p:cNvPr>
              <p:cNvSpPr txBox="1"/>
              <p:nvPr/>
            </p:nvSpPr>
            <p:spPr>
              <a:xfrm>
                <a:off x="6033579" y="3761989"/>
                <a:ext cx="2504185" cy="276999"/>
              </a:xfrm>
              <a:prstGeom prst="rect">
                <a:avLst/>
              </a:prstGeom>
              <a:noFill/>
              <a:ln w="19050">
                <a:solidFill>
                  <a:srgbClr val="C00000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𝐶𝑀𝑅</m:t>
                      </m:r>
                      <m:sSub>
                        <m:sSubPr>
                          <m:ctrlPr>
                            <a:rPr lang="fr-FR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fr-FR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𝐻𝑠</m:t>
                          </m:r>
                        </m:sub>
                      </m:sSub>
                      <m:r>
                        <a:rPr lang="fr-FR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28.7</m:t>
                      </m:r>
                      <m:r>
                        <a:rPr lang="fr-FR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fr-FR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dB</m:t>
                      </m:r>
                    </m:oMath>
                  </m:oMathPara>
                </a14:m>
                <a:endParaRPr lang="fr-FR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C9CA7E0-CD5B-A12D-3D35-46BBF17A90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3579" y="3761989"/>
                <a:ext cx="2504185" cy="276999"/>
              </a:xfrm>
              <a:prstGeom prst="rect">
                <a:avLst/>
              </a:prstGeom>
              <a:blipFill>
                <a:blip r:embed="rId9"/>
                <a:stretch>
                  <a:fillRect b="-10204"/>
                </a:stretch>
              </a:blipFill>
              <a:ln w="19050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33B16D2-BAA0-11AF-C04C-674221A5B552}"/>
                  </a:ext>
                </a:extLst>
              </p:cNvPr>
              <p:cNvSpPr txBox="1"/>
              <p:nvPr/>
            </p:nvSpPr>
            <p:spPr>
              <a:xfrm>
                <a:off x="6033578" y="4149983"/>
                <a:ext cx="2504185" cy="298415"/>
              </a:xfrm>
              <a:prstGeom prst="rect">
                <a:avLst/>
              </a:prstGeom>
              <a:noFill/>
              <a:ln w="19050">
                <a:solidFill>
                  <a:srgbClr val="C00000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𝐶𝑀𝑅</m:t>
                      </m:r>
                      <m:sSub>
                        <m:sSubPr>
                          <m:ctrlPr>
                            <a:rPr lang="fr-FR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fr-FR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𝐻𝑝</m:t>
                          </m:r>
                        </m:sub>
                      </m:sSub>
                      <m:r>
                        <a:rPr lang="fr-FR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3.5</m:t>
                      </m:r>
                      <m:r>
                        <a:rPr lang="fr-FR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fr-FR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dB</m:t>
                      </m:r>
                    </m:oMath>
                  </m:oMathPara>
                </a14:m>
                <a:endParaRPr lang="fr-FR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33B16D2-BAA0-11AF-C04C-674221A5B5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3578" y="4149983"/>
                <a:ext cx="2504185" cy="298415"/>
              </a:xfrm>
              <a:prstGeom prst="rect">
                <a:avLst/>
              </a:prstGeom>
              <a:blipFill>
                <a:blip r:embed="rId10"/>
                <a:stretch>
                  <a:fillRect b="-17308"/>
                </a:stretch>
              </a:blipFill>
              <a:ln w="19050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itle 1">
            <a:extLst>
              <a:ext uri="{FF2B5EF4-FFF2-40B4-BE49-F238E27FC236}">
                <a16:creationId xmlns:a16="http://schemas.microsoft.com/office/drawing/2014/main" id="{F88C43E9-4978-A6E5-9929-21671D22FF3D}"/>
              </a:ext>
            </a:extLst>
          </p:cNvPr>
          <p:cNvSpPr txBox="1">
            <a:spLocks/>
          </p:cNvSpPr>
          <p:nvPr/>
        </p:nvSpPr>
        <p:spPr>
          <a:xfrm>
            <a:off x="3137564" y="564225"/>
            <a:ext cx="2899064" cy="4453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1900" dirty="0">
                <a:solidFill>
                  <a:schemeClr val="tx1"/>
                </a:solidFill>
                <a:latin typeface="Arial Black" panose="020B0A04020102020204" pitchFamily="34" charset="0"/>
              </a:rPr>
              <a:t>RESULTATS</a:t>
            </a:r>
            <a:endParaRPr lang="fr-FR" sz="19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57701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DF9251-C048-A833-EE53-03159FB91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C267B34-E6A1-7278-22E0-AF653B3C0679}"/>
              </a:ext>
            </a:extLst>
          </p:cNvPr>
          <p:cNvSpPr/>
          <p:nvPr/>
        </p:nvSpPr>
        <p:spPr>
          <a:xfrm>
            <a:off x="0" y="-4624"/>
            <a:ext cx="9144000" cy="457200"/>
          </a:xfrm>
          <a:prstGeom prst="rect">
            <a:avLst/>
          </a:prstGeom>
          <a:solidFill>
            <a:srgbClr val="4A66AC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/>
              <a:t>CONCLUSION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38E1FFD-CACD-69D5-837A-D84C34CB0776}"/>
              </a:ext>
            </a:extLst>
          </p:cNvPr>
          <p:cNvSpPr/>
          <p:nvPr/>
        </p:nvSpPr>
        <p:spPr>
          <a:xfrm>
            <a:off x="326443" y="4194810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CA6678F9-665C-8A0E-2952-CDB19973EF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9328" y="682468"/>
            <a:ext cx="7425344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dirty="0"/>
              <a:t>Dans quelle mesure </a:t>
            </a:r>
            <a:r>
              <a:rPr lang="fr-FR" b="1" dirty="0"/>
              <a:t>l'ajout d'une seconde bobine </a:t>
            </a:r>
            <a:r>
              <a:rPr lang="fr-FR" dirty="0"/>
              <a:t>impacte</a:t>
            </a:r>
          </a:p>
          <a:p>
            <a:pPr lvl="0"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dirty="0"/>
              <a:t>la </a:t>
            </a:r>
            <a:r>
              <a:rPr lang="fr-FR" b="1" dirty="0"/>
              <a:t>richesse du son </a:t>
            </a:r>
            <a:r>
              <a:rPr lang="fr-FR" dirty="0"/>
              <a:t>et permet </a:t>
            </a:r>
            <a:r>
              <a:rPr lang="fr-FR" b="1" dirty="0"/>
              <a:t>d'éliminer les parasites </a:t>
            </a:r>
            <a:r>
              <a:rPr lang="fr-FR" dirty="0"/>
              <a:t>?</a:t>
            </a:r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0325486D-96BE-5856-258F-4751DE1096D9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dirty="0"/>
          </a:p>
        </p:txBody>
      </p:sp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0C2E669F-4BE3-0546-0391-2D466FB64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</a:p>
        </p:txBody>
      </p:sp>
      <p:sp>
        <p:nvSpPr>
          <p:cNvPr id="24" name="Footer Placeholder 23">
            <a:extLst>
              <a:ext uri="{FF2B5EF4-FFF2-40B4-BE49-F238E27FC236}">
                <a16:creationId xmlns:a16="http://schemas.microsoft.com/office/drawing/2014/main" id="{DB84FC3F-EFF8-CE3B-A8FE-8CF2D6C74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TIPE 39662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EA44EEB4-C7F2-FA48-F73E-95DCE61D3D0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39264147"/>
                  </p:ext>
                </p:extLst>
              </p:nvPr>
            </p:nvGraphicFramePr>
            <p:xfrm>
              <a:off x="721781" y="1674535"/>
              <a:ext cx="7563846" cy="2143760"/>
            </p:xfrm>
            <a:graphic>
              <a:graphicData uri="http://schemas.openxmlformats.org/drawingml/2006/table">
                <a:tbl>
                  <a:tblPr firstRow="1" firstCol="1">
                    <a:tableStyleId>{EB9631B5-78F2-41C9-869B-9F39066F8104}</a:tableStyleId>
                  </a:tblPr>
                  <a:tblGrid>
                    <a:gridCol w="2349222">
                      <a:extLst>
                        <a:ext uri="{9D8B030D-6E8A-4147-A177-3AD203B41FA5}">
                          <a16:colId xmlns:a16="http://schemas.microsoft.com/office/drawing/2014/main" val="1786110228"/>
                        </a:ext>
                      </a:extLst>
                    </a:gridCol>
                    <a:gridCol w="2491596">
                      <a:extLst>
                        <a:ext uri="{9D8B030D-6E8A-4147-A177-3AD203B41FA5}">
                          <a16:colId xmlns:a16="http://schemas.microsoft.com/office/drawing/2014/main" val="634179246"/>
                        </a:ext>
                      </a:extLst>
                    </a:gridCol>
                    <a:gridCol w="2723028">
                      <a:extLst>
                        <a:ext uri="{9D8B030D-6E8A-4147-A177-3AD203B41FA5}">
                          <a16:colId xmlns:a16="http://schemas.microsoft.com/office/drawing/2014/main" val="67714880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sz="1600" dirty="0"/>
                            <a:t>Critère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600" dirty="0"/>
                            <a:t>SingleCoil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600" dirty="0"/>
                            <a:t>Humbucker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6434609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sz="1600" dirty="0"/>
                            <a:t>Signature sonore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2000" dirty="0">
                              <a:solidFill>
                                <a:srgbClr val="38903A"/>
                              </a:solidFill>
                            </a:rPr>
                            <a:t>Richesse en aigus</a:t>
                          </a: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sz="2000" b="0" i="1" smtClean="0">
                                        <a:solidFill>
                                          <a:srgbClr val="38903A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2000" b="0" i="1" smtClean="0">
                                        <a:solidFill>
                                          <a:srgbClr val="38903A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𝐺</m:t>
                                    </m:r>
                                  </m:e>
                                  <m:sub>
                                    <m:r>
                                      <a:rPr lang="fr-FR" sz="2000" b="0" i="1" smtClean="0">
                                        <a:solidFill>
                                          <a:srgbClr val="38903A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𝑚𝑎𝑥</m:t>
                                    </m:r>
                                  </m:sub>
                                </m:sSub>
                                <m:r>
                                  <a:rPr lang="fr-FR" sz="2000" b="0" i="1" smtClean="0">
                                    <a:solidFill>
                                      <a:srgbClr val="38903A"/>
                                    </a:solidFill>
                                    <a:latin typeface="Cambria Math" panose="02040503050406030204" pitchFamily="18" charset="0"/>
                                  </a:rPr>
                                  <m:t>=10 </m:t>
                                </m:r>
                                <m:r>
                                  <m:rPr>
                                    <m:nor/>
                                  </m:rPr>
                                  <a:rPr lang="fr-FR" sz="2000" b="0" i="0" smtClean="0">
                                    <a:solidFill>
                                      <a:srgbClr val="38903A"/>
                                    </a:solidFill>
                                    <a:latin typeface="Cambria Math" panose="02040503050406030204" pitchFamily="18" charset="0"/>
                                  </a:rPr>
                                  <m:t>dB</m:t>
                                </m:r>
                              </m:oMath>
                            </m:oMathPara>
                          </a14:m>
                          <a:endParaRPr lang="fr-FR" sz="2000" dirty="0">
                            <a:solidFill>
                              <a:srgbClr val="38903A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2000" dirty="0">
                              <a:solidFill>
                                <a:srgbClr val="C00000"/>
                              </a:solidFill>
                            </a:rPr>
                            <a:t>Atténuation des aigus</a:t>
                          </a: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sz="20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20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𝐺</m:t>
                                    </m:r>
                                  </m:e>
                                  <m:sub>
                                    <m:r>
                                      <a:rPr lang="fr-FR" sz="20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𝑚𝑖𝑛</m:t>
                                    </m:r>
                                  </m:sub>
                                </m:sSub>
                                <m:r>
                                  <a:rPr lang="fr-FR" sz="20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=−20 </m:t>
                                </m:r>
                                <m:r>
                                  <m:rPr>
                                    <m:nor/>
                                  </m:rPr>
                                  <a:rPr lang="fr-FR" sz="2000" b="0" i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dB</m:t>
                                </m:r>
                              </m:oMath>
                            </m:oMathPara>
                          </a14:m>
                          <a:endParaRPr lang="fr-FR" sz="20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6750150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sz="1600" dirty="0"/>
                            <a:t>Reduction du bourdonnement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fr-FR" sz="2000" i="0" dirty="0">
                              <a:solidFill>
                                <a:srgbClr val="C00000"/>
                              </a:solidFill>
                              <a:latin typeface="+mn-lt"/>
                              <a:ea typeface="Cambria Math" panose="02040503050406030204" pitchFamily="18" charset="0"/>
                            </a:rPr>
                            <a:t>Inexistante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sz="200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𝐶𝑀𝑅</m:t>
                                </m:r>
                                <m:r>
                                  <a:rPr lang="fr-FR" sz="20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𝑅</m:t>
                                </m:r>
                                <m:r>
                                  <a:rPr lang="fr-FR" sz="20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fr-FR" sz="20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fr-FR" sz="20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fr-FR" sz="200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dB</m:t>
                                </m:r>
                              </m:oMath>
                            </m:oMathPara>
                          </a14:m>
                          <a:endParaRPr lang="fr-FR" sz="20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fr-FR" sz="2000" i="0" dirty="0">
                              <a:solidFill>
                                <a:srgbClr val="38903A"/>
                              </a:solidFill>
                              <a:latin typeface="+mn-lt"/>
                              <a:ea typeface="Cambria Math" panose="02040503050406030204" pitchFamily="18" charset="0"/>
                            </a:rPr>
                            <a:t>Efficace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sz="2000" i="1" smtClean="0">
                                    <a:solidFill>
                                      <a:srgbClr val="38903A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𝐶𝑀𝑅</m:t>
                                </m:r>
                                <m:r>
                                  <a:rPr lang="fr-FR" sz="2000" b="0" i="1" smtClean="0">
                                    <a:solidFill>
                                      <a:srgbClr val="38903A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𝑅</m:t>
                                </m:r>
                                <m:r>
                                  <a:rPr lang="fr-FR" sz="2000" i="1">
                                    <a:solidFill>
                                      <a:srgbClr val="38903A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fr-FR" sz="2000" b="0" i="1" smtClean="0">
                                    <a:solidFill>
                                      <a:srgbClr val="38903A"/>
                                    </a:solidFill>
                                    <a:latin typeface="Cambria Math" panose="02040503050406030204" pitchFamily="18" charset="0"/>
                                  </a:rPr>
                                  <m:t>28.7</m:t>
                                </m:r>
                                <m:r>
                                  <a:rPr lang="fr-FR" sz="2000" i="1">
                                    <a:solidFill>
                                      <a:srgbClr val="38903A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fr-FR" sz="2000">
                                    <a:solidFill>
                                      <a:srgbClr val="38903A"/>
                                    </a:solidFill>
                                    <a:latin typeface="Cambria Math" panose="02040503050406030204" pitchFamily="18" charset="0"/>
                                  </a:rPr>
                                  <m:t>dB</m:t>
                                </m:r>
                              </m:oMath>
                            </m:oMathPara>
                          </a14:m>
                          <a:endParaRPr lang="fr-FR" sz="2000" dirty="0">
                            <a:solidFill>
                              <a:srgbClr val="38903A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425452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sz="1400" dirty="0"/>
                            <a:t>Exemple d’utilisation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400" dirty="0"/>
                            <a:t>Blues, Funk, Rock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400" dirty="0"/>
                            <a:t>Hard Rock, Jazz, Métal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5604687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EA44EEB4-C7F2-FA48-F73E-95DCE61D3D0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39264147"/>
                  </p:ext>
                </p:extLst>
              </p:nvPr>
            </p:nvGraphicFramePr>
            <p:xfrm>
              <a:off x="721781" y="1674535"/>
              <a:ext cx="7563846" cy="2143760"/>
            </p:xfrm>
            <a:graphic>
              <a:graphicData uri="http://schemas.openxmlformats.org/drawingml/2006/table">
                <a:tbl>
                  <a:tblPr firstRow="1" firstCol="1">
                    <a:tableStyleId>{EB9631B5-78F2-41C9-869B-9F39066F8104}</a:tableStyleId>
                  </a:tblPr>
                  <a:tblGrid>
                    <a:gridCol w="2349222">
                      <a:extLst>
                        <a:ext uri="{9D8B030D-6E8A-4147-A177-3AD203B41FA5}">
                          <a16:colId xmlns:a16="http://schemas.microsoft.com/office/drawing/2014/main" val="1786110228"/>
                        </a:ext>
                      </a:extLst>
                    </a:gridCol>
                    <a:gridCol w="2491596">
                      <a:extLst>
                        <a:ext uri="{9D8B030D-6E8A-4147-A177-3AD203B41FA5}">
                          <a16:colId xmlns:a16="http://schemas.microsoft.com/office/drawing/2014/main" val="634179246"/>
                        </a:ext>
                      </a:extLst>
                    </a:gridCol>
                    <a:gridCol w="2723028">
                      <a:extLst>
                        <a:ext uri="{9D8B030D-6E8A-4147-A177-3AD203B41FA5}">
                          <a16:colId xmlns:a16="http://schemas.microsoft.com/office/drawing/2014/main" val="67714880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sz="1600" dirty="0"/>
                            <a:t>Critère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600" dirty="0"/>
                            <a:t>SingleCoil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600" dirty="0"/>
                            <a:t>Humbucker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64346098"/>
                      </a:ext>
                    </a:extLst>
                  </a:tr>
                  <a:tr h="701040">
                    <a:tc>
                      <a:txBody>
                        <a:bodyPr/>
                        <a:lstStyle/>
                        <a:p>
                          <a:r>
                            <a:rPr lang="fr-FR" sz="1600" dirty="0"/>
                            <a:t>Signature sonore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3"/>
                          <a:stretch>
                            <a:fillRect l="-94377" t="-54310" r="-109780" b="-1534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3"/>
                          <a:stretch>
                            <a:fillRect l="-177852" t="-54310" r="-447" b="-153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67501505"/>
                      </a:ext>
                    </a:extLst>
                  </a:tr>
                  <a:tr h="701040">
                    <a:tc>
                      <a:txBody>
                        <a:bodyPr/>
                        <a:lstStyle/>
                        <a:p>
                          <a:r>
                            <a:rPr lang="fr-FR" sz="1600" dirty="0"/>
                            <a:t>Reduction du bourdonnement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3"/>
                          <a:stretch>
                            <a:fillRect l="-94377" t="-155652" r="-109780" b="-547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3"/>
                          <a:stretch>
                            <a:fillRect l="-177852" t="-155652" r="-447" b="-5478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425452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sz="1400" dirty="0"/>
                            <a:t>Exemple d’utilisation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400" dirty="0"/>
                            <a:t>Blues, Funk, Rock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400" dirty="0"/>
                            <a:t>Hard Rock, Jazz, Métal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5604687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F0E508EE-6FE9-3B4E-313C-4C7B63D0C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425344" y="6459786"/>
            <a:ext cx="984019" cy="365125"/>
          </a:xfrm>
        </p:spPr>
        <p:txBody>
          <a:bodyPr/>
          <a:lstStyle/>
          <a:p>
            <a:fld id="{477F8A04-938D-4CBF-A3DC-6CB925B6FC34}" type="slidenum">
              <a:rPr lang="fr-FR" sz="1400" b="1" smtClean="0"/>
              <a:t>22</a:t>
            </a:fld>
            <a:endParaRPr lang="fr-FR" sz="1400" b="1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B4C8948-019D-5E3C-ECD1-F28BFF87042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17904" y="4054442"/>
            <a:ext cx="2508375" cy="209031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8AACECA-A0B1-BAF4-6C14-464D07B1A21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49517" y="4054441"/>
            <a:ext cx="2508374" cy="209031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6DDB650-C704-C2A9-8742-D31F89BA002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76294" y="4054441"/>
            <a:ext cx="2508374" cy="2090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66351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C267F8-102B-ED7B-0DE1-585BD24C6A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196DEC9D-D575-DBBD-0410-59D2ED433045}"/>
              </a:ext>
            </a:extLst>
          </p:cNvPr>
          <p:cNvGrpSpPr/>
          <p:nvPr/>
        </p:nvGrpSpPr>
        <p:grpSpPr>
          <a:xfrm>
            <a:off x="0" y="-4624"/>
            <a:ext cx="9144000" cy="457200"/>
            <a:chOff x="0" y="-4624"/>
            <a:chExt cx="9144000" cy="457200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BDCCB68E-E8C2-CC4C-3A75-B5BA7F6D35AA}"/>
                </a:ext>
              </a:extLst>
            </p:cNvPr>
            <p:cNvSpPr/>
            <p:nvPr/>
          </p:nvSpPr>
          <p:spPr>
            <a:xfrm>
              <a:off x="0" y="-4624"/>
              <a:ext cx="9144000" cy="457200"/>
            </a:xfrm>
            <a:prstGeom prst="rect">
              <a:avLst/>
            </a:prstGeom>
            <a:solidFill>
              <a:srgbClr val="4A66AC"/>
            </a:solidFill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8" name="Footer Placeholder 2">
              <a:extLst>
                <a:ext uri="{FF2B5EF4-FFF2-40B4-BE49-F238E27FC236}">
                  <a16:creationId xmlns:a16="http://schemas.microsoft.com/office/drawing/2014/main" id="{CF93ABBD-287B-55E3-11A3-68FE11A27659}"/>
                </a:ext>
              </a:extLst>
            </p:cNvPr>
            <p:cNvSpPr txBox="1">
              <a:spLocks/>
            </p:cNvSpPr>
            <p:nvPr/>
          </p:nvSpPr>
          <p:spPr>
            <a:xfrm>
              <a:off x="1447764" y="41413"/>
              <a:ext cx="6248472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457200" rtl="0" eaLnBrk="1" latinLnBrk="0" hangingPunct="1">
                <a:defRPr sz="900" kern="1200" cap="all" baseline="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sz="1600" b="1" dirty="0"/>
                <a:t>Annexes</a:t>
              </a:r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B86C8F2F-1A54-CCBE-AAF5-AE4AD2305328}"/>
              </a:ext>
            </a:extLst>
          </p:cNvPr>
          <p:cNvSpPr/>
          <p:nvPr/>
        </p:nvSpPr>
        <p:spPr>
          <a:xfrm>
            <a:off x="326443" y="423275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1F750C-911D-65AC-5250-EA8EDE55DF5D}"/>
              </a:ext>
            </a:extLst>
          </p:cNvPr>
          <p:cNvSpPr txBox="1"/>
          <p:nvPr/>
        </p:nvSpPr>
        <p:spPr>
          <a:xfrm>
            <a:off x="326443" y="1384451"/>
            <a:ext cx="849111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Annexe 1 :</a:t>
            </a:r>
            <a:r>
              <a:rPr lang="fr-FR" dirty="0"/>
              <a:t> Références bibliographiques et sources. </a:t>
            </a:r>
          </a:p>
          <a:p>
            <a:r>
              <a:rPr lang="fr-FR" b="1" dirty="0"/>
              <a:t>Annexe 2 :</a:t>
            </a:r>
            <a:r>
              <a:rPr lang="fr-FR" dirty="0"/>
              <a:t> Notations et valeur numérique. </a:t>
            </a:r>
          </a:p>
          <a:p>
            <a:r>
              <a:rPr lang="fr-FR" b="1" dirty="0"/>
              <a:t>Annexe 3 :</a:t>
            </a:r>
            <a:r>
              <a:rPr lang="fr-FR" dirty="0"/>
              <a:t> Modélisation de l'induction par la corde. </a:t>
            </a:r>
          </a:p>
          <a:p>
            <a:r>
              <a:rPr lang="fr-FR" b="1" dirty="0"/>
              <a:t>Annexe 4 :</a:t>
            </a:r>
            <a:r>
              <a:rPr lang="fr-FR" dirty="0"/>
              <a:t> Théorie de la réjection du champ parasite. </a:t>
            </a:r>
          </a:p>
          <a:p>
            <a:r>
              <a:rPr lang="fr-FR" b="1" dirty="0"/>
              <a:t>Annexe 5 :</a:t>
            </a:r>
            <a:r>
              <a:rPr lang="fr-FR" dirty="0"/>
              <a:t> Méthodes de traitement numérique et filtrage. </a:t>
            </a:r>
          </a:p>
          <a:p>
            <a:r>
              <a:rPr lang="fr-FR" b="1" dirty="0"/>
              <a:t>Annexe 6 :</a:t>
            </a:r>
            <a:r>
              <a:rPr lang="fr-FR" dirty="0"/>
              <a:t> Algorithme de Levenberg-Marquardt. </a:t>
            </a:r>
          </a:p>
          <a:p>
            <a:r>
              <a:rPr lang="fr-FR" b="1" dirty="0"/>
              <a:t>Annexe 7 :</a:t>
            </a:r>
            <a:r>
              <a:rPr lang="fr-FR" dirty="0"/>
              <a:t> Analyse des échecs et difficultés rencontrées.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E49A0A-51A0-296B-A228-0C95E4C21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7B18BD4-8B0C-2661-3D31-7CBB2D059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TIPE 39662</a:t>
            </a:r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5BC8A711-C895-FE87-EDAE-8B66C45BB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425344" y="6459786"/>
            <a:ext cx="984019" cy="365125"/>
          </a:xfrm>
        </p:spPr>
        <p:txBody>
          <a:bodyPr/>
          <a:lstStyle/>
          <a:p>
            <a:fld id="{477F8A04-938D-4CBF-A3DC-6CB925B6FC34}" type="slidenum">
              <a:rPr lang="fr-FR" sz="1400" b="1" smtClean="0"/>
              <a:t>23</a:t>
            </a:fld>
            <a:endParaRPr lang="fr-FR" sz="14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E4FCB4-0C72-5A75-20A5-6344A372A637}"/>
              </a:ext>
            </a:extLst>
          </p:cNvPr>
          <p:cNvSpPr txBox="1"/>
          <p:nvPr/>
        </p:nvSpPr>
        <p:spPr>
          <a:xfrm>
            <a:off x="345440" y="721360"/>
            <a:ext cx="8393826" cy="4001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2000" b="1" dirty="0">
                <a:latin typeface="Arial Black" panose="020B0A04020102020204" pitchFamily="34" charset="0"/>
              </a:rPr>
              <a:t>ANNEXES :</a:t>
            </a:r>
            <a:r>
              <a:rPr lang="fr-FR" sz="2000" dirty="0">
                <a:latin typeface="Arial Black" panose="020B0A04020102020204" pitchFamily="34" charset="0"/>
              </a:rPr>
              <a:t> Sommaire </a:t>
            </a:r>
          </a:p>
        </p:txBody>
      </p:sp>
    </p:spTree>
    <p:extLst>
      <p:ext uri="{BB962C8B-B14F-4D97-AF65-F5344CB8AC3E}">
        <p14:creationId xmlns:p14="http://schemas.microsoft.com/office/powerpoint/2010/main" val="40866970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A6FC30-AAA2-E5BB-32E0-683CC058E9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3F27CD10-7EEF-021B-45BD-839A366C0544}"/>
              </a:ext>
            </a:extLst>
          </p:cNvPr>
          <p:cNvSpPr txBox="1"/>
          <p:nvPr/>
        </p:nvSpPr>
        <p:spPr>
          <a:xfrm>
            <a:off x="345440" y="721360"/>
            <a:ext cx="8393826" cy="4001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2000" b="1" dirty="0">
                <a:latin typeface="Arial Black" panose="020B0A04020102020204" pitchFamily="34" charset="0"/>
              </a:rPr>
              <a:t>ANNEXE 1:</a:t>
            </a:r>
            <a:r>
              <a:rPr lang="fr-FR" sz="2000" dirty="0">
                <a:latin typeface="Arial Black" panose="020B0A04020102020204" pitchFamily="34" charset="0"/>
              </a:rPr>
              <a:t> Références bibliographiques et sources.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B2768E8-3415-4446-BB84-549A102258DE}"/>
              </a:ext>
            </a:extLst>
          </p:cNvPr>
          <p:cNvSpPr/>
          <p:nvPr/>
        </p:nvSpPr>
        <p:spPr>
          <a:xfrm>
            <a:off x="326443" y="423275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FE077D-2C94-B4B1-D675-115CAB645DBB}"/>
              </a:ext>
            </a:extLst>
          </p:cNvPr>
          <p:cNvSpPr txBox="1"/>
          <p:nvPr/>
        </p:nvSpPr>
        <p:spPr>
          <a:xfrm>
            <a:off x="326443" y="1372472"/>
            <a:ext cx="8491113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/>
              <a:t>[1] </a:t>
            </a:r>
            <a:r>
              <a:rPr lang="en-GB" sz="1600" dirty="0" err="1"/>
              <a:t>WiseGuy</a:t>
            </a:r>
            <a:r>
              <a:rPr lang="en-GB" sz="1600" dirty="0"/>
              <a:t> Research Consultants, "Global Electric Guitar Pickup Market Research Report 2024," Pune, India, 2024.</a:t>
            </a:r>
          </a:p>
          <a:p>
            <a:endParaRPr lang="en-GB" sz="1600" dirty="0"/>
          </a:p>
          <a:p>
            <a:r>
              <a:rPr lang="en-GB" sz="1600" b="1" dirty="0"/>
              <a:t>[2] </a:t>
            </a:r>
            <a:r>
              <a:rPr lang="en-GB" sz="1600" dirty="0"/>
              <a:t>Matthew W. Hill, "The hidden history of the electric guitar", in Quand la </a:t>
            </a:r>
            <a:r>
              <a:rPr lang="en-GB" sz="1600" dirty="0" err="1"/>
              <a:t>guitare</a:t>
            </a:r>
            <a:r>
              <a:rPr lang="en-GB" sz="1600" dirty="0"/>
              <a:t> [s']</a:t>
            </a:r>
            <a:r>
              <a:rPr lang="en-GB" sz="1600" dirty="0" err="1"/>
              <a:t>électrise</a:t>
            </a:r>
            <a:r>
              <a:rPr lang="en-GB" sz="1600" dirty="0"/>
              <a:t> !, Benoît Navarret et al. (dir.), Sorbonne Université Presses, pp. 33-61, 2022.</a:t>
            </a:r>
          </a:p>
          <a:p>
            <a:endParaRPr lang="en-GB" sz="1600" dirty="0"/>
          </a:p>
          <a:p>
            <a:r>
              <a:rPr lang="en-GB" sz="1600" b="1" dirty="0"/>
              <a:t>[3] </a:t>
            </a:r>
            <a:r>
              <a:rPr lang="en-GB" sz="1600" dirty="0"/>
              <a:t>N. G. Horton &amp; T. R. Moore : </a:t>
            </a:r>
            <a:r>
              <a:rPr lang="en-GB" sz="1600" dirty="0" err="1"/>
              <a:t>Modeling</a:t>
            </a:r>
            <a:r>
              <a:rPr lang="en-GB" sz="1600" dirty="0"/>
              <a:t> the magnetic pickup of an electric guitar :</a:t>
            </a:r>
          </a:p>
          <a:p>
            <a:r>
              <a:rPr lang="en-GB" sz="1600" dirty="0"/>
              <a:t>American Journal of Physics, vol. 77, no. 2, pp. 144–150, 2009, </a:t>
            </a:r>
            <a:r>
              <a:rPr lang="en-GB" sz="1600" dirty="0" err="1"/>
              <a:t>doi</a:t>
            </a:r>
            <a:r>
              <a:rPr lang="en-GB" sz="1600" dirty="0"/>
              <a:t>: 10.1119/1.2990663</a:t>
            </a:r>
          </a:p>
          <a:p>
            <a:endParaRPr lang="en-GB" sz="1600" dirty="0"/>
          </a:p>
          <a:p>
            <a:r>
              <a:rPr lang="en-GB" sz="1600" b="1" dirty="0"/>
              <a:t>[4] </a:t>
            </a:r>
            <a:r>
              <a:rPr lang="en-GB" sz="1600" dirty="0"/>
              <a:t>S. W. Duncan, "Interview With Seth Lover", Seymour Duncan.  [En </a:t>
            </a:r>
            <a:r>
              <a:rPr lang="en-GB" sz="1600" dirty="0" err="1"/>
              <a:t>ligne</a:t>
            </a:r>
            <a:r>
              <a:rPr lang="en-GB" sz="1600" dirty="0"/>
              <a:t>]. Disponible sur: </a:t>
            </a:r>
            <a:r>
              <a:rPr lang="en-GB" sz="1600" dirty="0">
                <a:hlinkClick r:id="rId3"/>
              </a:rPr>
              <a:t>https://www.seymourduncan.com/blog/latest-updates/seymour-w-duncans-interview-with-seth-lover</a:t>
            </a:r>
            <a:endParaRPr lang="en-GB" sz="1600" dirty="0"/>
          </a:p>
          <a:p>
            <a:endParaRPr lang="en-GB" sz="1600" dirty="0"/>
          </a:p>
          <a:p>
            <a:r>
              <a:rPr lang="en-GB" sz="1600" b="1" dirty="0"/>
              <a:t>[5] </a:t>
            </a:r>
            <a:r>
              <a:rPr lang="en-GB" sz="1600" dirty="0"/>
              <a:t>Dan Carson, "Investigation of the Electromagnetic Properties of Electric Guitar Pickups", University of Illinois at Urbana-Champaign, Physics Senior Thesis, 2009.</a:t>
            </a:r>
          </a:p>
          <a:p>
            <a:endParaRPr lang="en-GB" sz="1600" dirty="0"/>
          </a:p>
          <a:p>
            <a:r>
              <a:rPr lang="en-GB" sz="1600" b="1" dirty="0"/>
              <a:t>[6] </a:t>
            </a:r>
            <a:r>
              <a:rPr lang="en-GB" sz="1600" dirty="0"/>
              <a:t>B. </a:t>
            </a:r>
            <a:r>
              <a:rPr lang="en-GB" sz="1600" dirty="0" err="1"/>
              <a:t>d’Andréa</a:t>
            </a:r>
            <a:r>
              <a:rPr lang="en-GB" sz="1600" dirty="0"/>
              <a:t>-Novel, B. Fabre, et P. Jouvelot, </a:t>
            </a:r>
            <a:r>
              <a:rPr lang="en-GB" sz="1600" dirty="0" err="1"/>
              <a:t>Acoustique</a:t>
            </a:r>
            <a:r>
              <a:rPr lang="en-GB" sz="1600" dirty="0"/>
              <a:t> Informatique </a:t>
            </a:r>
            <a:r>
              <a:rPr lang="en-GB" sz="1600" dirty="0" err="1"/>
              <a:t>MusiquE</a:t>
            </a:r>
            <a:r>
              <a:rPr lang="en-GB" sz="1600" dirty="0"/>
              <a:t> : </a:t>
            </a:r>
            <a:r>
              <a:rPr lang="en-GB" sz="1600" dirty="0" err="1"/>
              <a:t>Outils</a:t>
            </a:r>
            <a:r>
              <a:rPr lang="en-GB" sz="1600" dirty="0"/>
              <a:t> </a:t>
            </a:r>
            <a:r>
              <a:rPr lang="en-GB" sz="1600" dirty="0" err="1"/>
              <a:t>scientifiques</a:t>
            </a:r>
            <a:r>
              <a:rPr lang="en-GB" sz="1600" dirty="0"/>
              <a:t> pour la musique. Paris, France : Presses des Mines, 2010, </a:t>
            </a:r>
            <a:r>
              <a:rPr lang="en-GB" sz="1600" dirty="0" err="1"/>
              <a:t>ch.</a:t>
            </a:r>
            <a:r>
              <a:rPr lang="en-GB" sz="1600" dirty="0"/>
              <a:t> 4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9D43332-F8BD-6E2C-04A6-7CBD2C448375}"/>
              </a:ext>
            </a:extLst>
          </p:cNvPr>
          <p:cNvGrpSpPr/>
          <p:nvPr/>
        </p:nvGrpSpPr>
        <p:grpSpPr>
          <a:xfrm>
            <a:off x="0" y="-4624"/>
            <a:ext cx="9144000" cy="457200"/>
            <a:chOff x="0" y="-4624"/>
            <a:chExt cx="9144000" cy="457200"/>
          </a:xfrm>
          <a:solidFill>
            <a:srgbClr val="4A66AC"/>
          </a:solidFill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4935E0A-86AC-9436-7A04-23BB4DCFB954}"/>
                </a:ext>
              </a:extLst>
            </p:cNvPr>
            <p:cNvSpPr/>
            <p:nvPr/>
          </p:nvSpPr>
          <p:spPr>
            <a:xfrm>
              <a:off x="0" y="-4624"/>
              <a:ext cx="9144000" cy="457200"/>
            </a:xfrm>
            <a:prstGeom prst="rect">
              <a:avLst/>
            </a:prstGeom>
            <a:grpFill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1" name="Footer Placeholder 2">
              <a:extLst>
                <a:ext uri="{FF2B5EF4-FFF2-40B4-BE49-F238E27FC236}">
                  <a16:creationId xmlns:a16="http://schemas.microsoft.com/office/drawing/2014/main" id="{A2E238EA-0333-80E5-6A4E-C1DD63F93CF3}"/>
                </a:ext>
              </a:extLst>
            </p:cNvPr>
            <p:cNvSpPr txBox="1">
              <a:spLocks/>
            </p:cNvSpPr>
            <p:nvPr/>
          </p:nvSpPr>
          <p:spPr>
            <a:xfrm>
              <a:off x="1447764" y="41413"/>
              <a:ext cx="6248472" cy="365125"/>
            </a:xfrm>
            <a:prstGeom prst="rect">
              <a:avLst/>
            </a:prstGeom>
            <a:grpFill/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457200" rtl="0" eaLnBrk="1" latinLnBrk="0" hangingPunct="1">
                <a:defRPr sz="900" kern="1200" cap="all" baseline="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sz="1600" b="1" dirty="0"/>
                <a:t>Annexes</a:t>
              </a:r>
            </a:p>
          </p:txBody>
        </p: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4A605A-39EA-E26C-D82F-B7364DE60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E3630A-974D-CC9B-8200-E45D9FB53E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TIPE 39662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11860B60-7DA1-5048-127A-6019A8FF4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425344" y="6459786"/>
            <a:ext cx="984019" cy="365125"/>
          </a:xfrm>
        </p:spPr>
        <p:txBody>
          <a:bodyPr/>
          <a:lstStyle/>
          <a:p>
            <a:fld id="{477F8A04-938D-4CBF-A3DC-6CB925B6FC34}" type="slidenum">
              <a:rPr lang="fr-FR" sz="1400" b="1" smtClean="0"/>
              <a:t>24</a:t>
            </a:fld>
            <a:endParaRPr lang="fr-FR" sz="1400" b="1" dirty="0"/>
          </a:p>
        </p:txBody>
      </p:sp>
    </p:spTree>
    <p:extLst>
      <p:ext uri="{BB962C8B-B14F-4D97-AF65-F5344CB8AC3E}">
        <p14:creationId xmlns:p14="http://schemas.microsoft.com/office/powerpoint/2010/main" val="36309016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A2C47B-CF41-2900-27D1-46C22C9041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3BD09EDA-BBC9-C23C-F784-E5E302DC689C}"/>
              </a:ext>
            </a:extLst>
          </p:cNvPr>
          <p:cNvSpPr txBox="1"/>
          <p:nvPr/>
        </p:nvSpPr>
        <p:spPr>
          <a:xfrm>
            <a:off x="345439" y="721360"/>
            <a:ext cx="8063923" cy="4001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2000" b="1" dirty="0">
                <a:latin typeface="Arial Black" panose="020B0A04020102020204" pitchFamily="34" charset="0"/>
              </a:rPr>
              <a:t>ANNEXE 2 :</a:t>
            </a:r>
            <a:r>
              <a:rPr lang="fr-FR" sz="2000" dirty="0">
                <a:latin typeface="Arial Black" panose="020B0A04020102020204" pitchFamily="34" charset="0"/>
              </a:rPr>
              <a:t> Notations et valeur numérique.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488B616-4201-AC96-BA95-677E016CA996}"/>
              </a:ext>
            </a:extLst>
          </p:cNvPr>
          <p:cNvSpPr/>
          <p:nvPr/>
        </p:nvSpPr>
        <p:spPr>
          <a:xfrm>
            <a:off x="326443" y="423275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05887BE-C0C6-26B1-F07D-A7C065B7F1EA}"/>
              </a:ext>
            </a:extLst>
          </p:cNvPr>
          <p:cNvGrpSpPr/>
          <p:nvPr/>
        </p:nvGrpSpPr>
        <p:grpSpPr>
          <a:xfrm>
            <a:off x="0" y="-4624"/>
            <a:ext cx="9144000" cy="457200"/>
            <a:chOff x="0" y="-4624"/>
            <a:chExt cx="9144000" cy="457200"/>
          </a:xfrm>
          <a:solidFill>
            <a:srgbClr val="4A66AC"/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A33D505-1E0C-2999-0AA5-428C61C7DBB8}"/>
                </a:ext>
              </a:extLst>
            </p:cNvPr>
            <p:cNvSpPr/>
            <p:nvPr/>
          </p:nvSpPr>
          <p:spPr>
            <a:xfrm>
              <a:off x="0" y="-4624"/>
              <a:ext cx="9144000" cy="457200"/>
            </a:xfrm>
            <a:prstGeom prst="rect">
              <a:avLst/>
            </a:prstGeom>
            <a:grpFill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0" name="Footer Placeholder 2">
              <a:extLst>
                <a:ext uri="{FF2B5EF4-FFF2-40B4-BE49-F238E27FC236}">
                  <a16:creationId xmlns:a16="http://schemas.microsoft.com/office/drawing/2014/main" id="{D87F4FDF-66F9-8742-498D-DAA32629EAAD}"/>
                </a:ext>
              </a:extLst>
            </p:cNvPr>
            <p:cNvSpPr txBox="1">
              <a:spLocks/>
            </p:cNvSpPr>
            <p:nvPr/>
          </p:nvSpPr>
          <p:spPr>
            <a:xfrm>
              <a:off x="1447764" y="41413"/>
              <a:ext cx="6248472" cy="365125"/>
            </a:xfrm>
            <a:prstGeom prst="rect">
              <a:avLst/>
            </a:prstGeom>
            <a:grpFill/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457200" rtl="0" eaLnBrk="1" latinLnBrk="0" hangingPunct="1">
                <a:defRPr sz="900" kern="1200" cap="all" baseline="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sz="1600" b="1" dirty="0"/>
                <a:t>Annexes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D1144795-AC8B-21B2-6726-CE3D16CE573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55245875"/>
                  </p:ext>
                </p:extLst>
              </p:nvPr>
            </p:nvGraphicFramePr>
            <p:xfrm>
              <a:off x="345437" y="4827261"/>
              <a:ext cx="4217064" cy="1440000"/>
            </p:xfrm>
            <a:graphic>
              <a:graphicData uri="http://schemas.openxmlformats.org/drawingml/2006/table">
                <a:tbl>
                  <a:tblPr/>
                  <a:tblGrid>
                    <a:gridCol w="685916">
                      <a:extLst>
                        <a:ext uri="{9D8B030D-6E8A-4147-A177-3AD203B41FA5}">
                          <a16:colId xmlns:a16="http://schemas.microsoft.com/office/drawing/2014/main" val="1593414590"/>
                        </a:ext>
                      </a:extLst>
                    </a:gridCol>
                    <a:gridCol w="790997">
                      <a:extLst>
                        <a:ext uri="{9D8B030D-6E8A-4147-A177-3AD203B41FA5}">
                          <a16:colId xmlns:a16="http://schemas.microsoft.com/office/drawing/2014/main" val="2720004451"/>
                        </a:ext>
                      </a:extLst>
                    </a:gridCol>
                    <a:gridCol w="425921">
                      <a:extLst>
                        <a:ext uri="{9D8B030D-6E8A-4147-A177-3AD203B41FA5}">
                          <a16:colId xmlns:a16="http://schemas.microsoft.com/office/drawing/2014/main" val="161282379"/>
                        </a:ext>
                      </a:extLst>
                    </a:gridCol>
                    <a:gridCol w="2314230">
                      <a:extLst>
                        <a:ext uri="{9D8B030D-6E8A-4147-A177-3AD203B41FA5}">
                          <a16:colId xmlns:a16="http://schemas.microsoft.com/office/drawing/2014/main" val="1526808663"/>
                        </a:ext>
                      </a:extLst>
                    </a:gridCol>
                  </a:tblGrid>
                  <a:tr h="360000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000" b="1" dirty="0"/>
                            <a:t>Notation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000" b="1" dirty="0"/>
                            <a:t>Valeur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000" b="1" dirty="0"/>
                            <a:t>Unité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000" b="1" dirty="0"/>
                            <a:t>Description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36538467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sz="1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000" b="0" i="1" smtClean="0"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fr-FR" sz="1000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sz="1000" dirty="0"/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fr-FR" sz="1000" dirty="0"/>
                            <a:t>2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fr-FR" sz="1000" dirty="0"/>
                            <a:t>-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000" dirty="0"/>
                            <a:t>Perméabilité relative de l'Alnico 5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035289684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sz="1000" b="0" i="1" smtClean="0">
                                    <a:latin typeface="Cambria Math" panose="02040503050406030204" pitchFamily="18" charset="0"/>
                                  </a:rPr>
                                  <m:t>𝜒</m:t>
                                </m:r>
                              </m:oMath>
                            </m:oMathPara>
                          </a14:m>
                          <a:endParaRPr lang="fr-FR" sz="1000" dirty="0"/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fr-FR" sz="1000" dirty="0"/>
                            <a:t>100 (ODG)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fr-FR" sz="1000" dirty="0"/>
                            <a:t>-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000" dirty="0"/>
                            <a:t>Susceptibilité magnétique de la corde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03249128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sz="1000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fr-FR" sz="1000" dirty="0"/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fr-FR" sz="1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sz="1000" b="0" i="1" smtClean="0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fr-FR" sz="1000" b="0" i="1" smtClean="0">
                                      <a:latin typeface="Cambria Math" panose="02040503050406030204" pitchFamily="18" charset="0"/>
                                    </a:rPr>
                                    <m:t>−8</m:t>
                                  </m:r>
                                </m:sup>
                              </m:sSup>
                            </m:oMath>
                          </a14:m>
                          <a:r>
                            <a:rPr lang="fr-FR" sz="1000" dirty="0"/>
                            <a:t> (ODG)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fr-FR" sz="1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fr-FR" sz="1000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p>
                                    <m:r>
                                      <a:rPr lang="fr-FR" sz="10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fr-FR" sz="1000" dirty="0"/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000" dirty="0"/>
                            <a:t>Volume de la portion de la corde active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2522643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D1144795-AC8B-21B2-6726-CE3D16CE573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55245875"/>
                  </p:ext>
                </p:extLst>
              </p:nvPr>
            </p:nvGraphicFramePr>
            <p:xfrm>
              <a:off x="345437" y="4827261"/>
              <a:ext cx="4217064" cy="1440000"/>
            </p:xfrm>
            <a:graphic>
              <a:graphicData uri="http://schemas.openxmlformats.org/drawingml/2006/table">
                <a:tbl>
                  <a:tblPr/>
                  <a:tblGrid>
                    <a:gridCol w="685916">
                      <a:extLst>
                        <a:ext uri="{9D8B030D-6E8A-4147-A177-3AD203B41FA5}">
                          <a16:colId xmlns:a16="http://schemas.microsoft.com/office/drawing/2014/main" val="1593414590"/>
                        </a:ext>
                      </a:extLst>
                    </a:gridCol>
                    <a:gridCol w="790997">
                      <a:extLst>
                        <a:ext uri="{9D8B030D-6E8A-4147-A177-3AD203B41FA5}">
                          <a16:colId xmlns:a16="http://schemas.microsoft.com/office/drawing/2014/main" val="2720004451"/>
                        </a:ext>
                      </a:extLst>
                    </a:gridCol>
                    <a:gridCol w="425921">
                      <a:extLst>
                        <a:ext uri="{9D8B030D-6E8A-4147-A177-3AD203B41FA5}">
                          <a16:colId xmlns:a16="http://schemas.microsoft.com/office/drawing/2014/main" val="161282379"/>
                        </a:ext>
                      </a:extLst>
                    </a:gridCol>
                    <a:gridCol w="2314230">
                      <a:extLst>
                        <a:ext uri="{9D8B030D-6E8A-4147-A177-3AD203B41FA5}">
                          <a16:colId xmlns:a16="http://schemas.microsoft.com/office/drawing/2014/main" val="1526808663"/>
                        </a:ext>
                      </a:extLst>
                    </a:gridCol>
                  </a:tblGrid>
                  <a:tr h="360000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000" b="1" dirty="0"/>
                            <a:t>Notation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000" b="1" dirty="0"/>
                            <a:t>Valeur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000" b="1" dirty="0"/>
                            <a:t>Unité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000" b="1" dirty="0"/>
                            <a:t>Description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36538467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blipFill>
                          <a:blip r:embed="rId2"/>
                          <a:stretch>
                            <a:fillRect t="-103390" r="-514159" b="-2033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fr-FR" sz="1000" dirty="0"/>
                            <a:t>2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fr-FR" sz="1000" dirty="0"/>
                            <a:t>-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000" dirty="0"/>
                            <a:t>Perméabilité relative de l'Alnico 5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035289684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2"/>
                          <a:stretch>
                            <a:fillRect t="-200000" r="-514159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fr-FR" sz="1000" dirty="0"/>
                            <a:t>100 (ODG)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fr-FR" sz="1000" dirty="0"/>
                            <a:t>-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000" dirty="0"/>
                            <a:t>Susceptibilité magnétique de la corde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03249128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305085" r="-514159" b="-16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86923" t="-305085" r="-346923" b="-16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47143" t="-305085" r="-544286" b="-16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000" dirty="0"/>
                            <a:t>Volume de la portion de la corde active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2522643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7" name="Table 16">
                <a:extLst>
                  <a:ext uri="{FF2B5EF4-FFF2-40B4-BE49-F238E27FC236}">
                    <a16:creationId xmlns:a16="http://schemas.microsoft.com/office/drawing/2014/main" id="{3B381818-6C77-AF12-22D8-30F5A4EA623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18826626"/>
                  </p:ext>
                </p:extLst>
              </p:nvPr>
            </p:nvGraphicFramePr>
            <p:xfrm>
              <a:off x="345439" y="1507861"/>
              <a:ext cx="4217062" cy="2880000"/>
            </p:xfrm>
            <a:graphic>
              <a:graphicData uri="http://schemas.openxmlformats.org/drawingml/2006/table">
                <a:tbl>
                  <a:tblPr/>
                  <a:tblGrid>
                    <a:gridCol w="685916">
                      <a:extLst>
                        <a:ext uri="{9D8B030D-6E8A-4147-A177-3AD203B41FA5}">
                          <a16:colId xmlns:a16="http://schemas.microsoft.com/office/drawing/2014/main" val="1593414590"/>
                        </a:ext>
                      </a:extLst>
                    </a:gridCol>
                    <a:gridCol w="790996">
                      <a:extLst>
                        <a:ext uri="{9D8B030D-6E8A-4147-A177-3AD203B41FA5}">
                          <a16:colId xmlns:a16="http://schemas.microsoft.com/office/drawing/2014/main" val="2720004451"/>
                        </a:ext>
                      </a:extLst>
                    </a:gridCol>
                    <a:gridCol w="425920">
                      <a:extLst>
                        <a:ext uri="{9D8B030D-6E8A-4147-A177-3AD203B41FA5}">
                          <a16:colId xmlns:a16="http://schemas.microsoft.com/office/drawing/2014/main" val="161282379"/>
                        </a:ext>
                      </a:extLst>
                    </a:gridCol>
                    <a:gridCol w="2314230">
                      <a:extLst>
                        <a:ext uri="{9D8B030D-6E8A-4147-A177-3AD203B41FA5}">
                          <a16:colId xmlns:a16="http://schemas.microsoft.com/office/drawing/2014/main" val="1526808663"/>
                        </a:ext>
                      </a:extLst>
                    </a:gridCol>
                  </a:tblGrid>
                  <a:tr h="360000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000" b="1" dirty="0"/>
                            <a:t>Notation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000" b="1" dirty="0"/>
                            <a:t>Valeur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000" b="1" dirty="0"/>
                            <a:t>Unité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000" b="1" dirty="0"/>
                            <a:t>Description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36538467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sz="1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0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fr-FR" sz="1000" b="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sz="1000" dirty="0"/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fr-FR" sz="1000" dirty="0"/>
                            <a:t>0,105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sz="1000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oMath>
                            </m:oMathPara>
                          </a14:m>
                          <a:endParaRPr lang="fr-FR" sz="1000" dirty="0"/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000" dirty="0"/>
                            <a:t>Position du micro (SingleCoil)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03249128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sz="1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0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fr-FR" sz="1000" b="0" i="1" smtClean="0">
                                        <a:latin typeface="Cambria Math" panose="02040503050406030204" pitchFamily="18" charset="0"/>
                                      </a:rPr>
                                      <m:t>𝐻𝑃</m:t>
                                    </m:r>
                                    <m:r>
                                      <a:rPr lang="fr-FR" sz="10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fr-FR" sz="1000" b="0" i="1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</m:oMath>
                            </m:oMathPara>
                          </a14:m>
                          <a:endParaRPr lang="fr-FR" sz="1000" b="0" i="1" dirty="0">
                            <a:latin typeface="Cambria Math" panose="02040503050406030204" pitchFamily="18" charset="0"/>
                          </a:endParaRPr>
                        </a:p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sz="1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0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fr-FR" sz="1000" b="0" i="1" smtClean="0">
                                        <a:latin typeface="Cambria Math" panose="02040503050406030204" pitchFamily="18" charset="0"/>
                                      </a:rPr>
                                      <m:t>𝐻𝑃</m:t>
                                    </m:r>
                                    <m:r>
                                      <a:rPr lang="fr-FR" sz="10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sz="1000" dirty="0"/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fr-FR" sz="1000" dirty="0"/>
                            <a:t>0,147, 0,165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sz="1000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oMath>
                            </m:oMathPara>
                          </a14:m>
                          <a:endParaRPr lang="fr-FR" sz="1000" b="0" i="1" dirty="0">
                            <a:latin typeface="Cambria Math" panose="02040503050406030204" pitchFamily="18" charset="0"/>
                          </a:endParaRP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sz="1000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oMath>
                            </m:oMathPara>
                          </a14:m>
                          <a:endParaRPr lang="fr-FR" sz="1000" b="0" dirty="0"/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000" dirty="0"/>
                            <a:t>Position du micro (Humbucker parallèle)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25226435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sz="1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0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fr-FR" sz="1000" b="0" i="1" smtClean="0">
                                        <a:latin typeface="Cambria Math" panose="02040503050406030204" pitchFamily="18" charset="0"/>
                                      </a:rPr>
                                      <m:t>𝐻𝑆</m:t>
                                    </m:r>
                                    <m:r>
                                      <a:rPr lang="fr-FR" sz="10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fr-FR" sz="1000" b="0" i="1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</m:oMath>
                            </m:oMathPara>
                          </a14:m>
                          <a:endParaRPr lang="fr-FR" sz="1000" b="0" i="1" dirty="0">
                            <a:latin typeface="Cambria Math" panose="02040503050406030204" pitchFamily="18" charset="0"/>
                          </a:endParaRPr>
                        </a:p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sz="1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0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fr-FR" sz="1000" b="0" i="1" smtClean="0">
                                        <a:latin typeface="Cambria Math" panose="02040503050406030204" pitchFamily="18" charset="0"/>
                                      </a:rPr>
                                      <m:t>𝐻𝑆</m:t>
                                    </m:r>
                                    <m:r>
                                      <a:rPr lang="fr-FR" sz="10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sz="1000" dirty="0"/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fr-FR" sz="1000" dirty="0"/>
                            <a:t>0,202, 0,220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sz="1000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oMath>
                            </m:oMathPara>
                          </a14:m>
                          <a:endParaRPr lang="fr-FR" sz="1000" b="0" i="1" dirty="0">
                            <a:latin typeface="Cambria Math" panose="02040503050406030204" pitchFamily="18" charset="0"/>
                          </a:endParaRP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sz="1000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oMath>
                            </m:oMathPara>
                          </a14:m>
                          <a:endParaRPr lang="fr-FR" sz="1000" dirty="0"/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000" dirty="0"/>
                            <a:t>Position du micro (Humbucker série)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85710569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sz="1000" b="0" i="1" smtClean="0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oMath>
                            </m:oMathPara>
                          </a14:m>
                          <a:endParaRPr lang="fr-FR" sz="1000" dirty="0"/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fr-FR" sz="1000" dirty="0"/>
                            <a:t>0,85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sz="1000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oMath>
                            </m:oMathPara>
                          </a14:m>
                          <a:endParaRPr lang="fr-FR" sz="1000" dirty="0"/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000" dirty="0"/>
                            <a:t>Longueur vibrante de la corde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83586442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sz="1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0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fr-FR" sz="10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sz="1000" dirty="0"/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fr-FR" sz="1000" dirty="0"/>
                            <a:t>0,300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sz="1000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oMath>
                            </m:oMathPara>
                          </a14:m>
                          <a:endParaRPr lang="fr-FR" sz="1000" dirty="0"/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000" dirty="0"/>
                            <a:t>Position de l'origine de la perturbation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835740474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sz="1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000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fr-FR" sz="10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sz="1000" dirty="0"/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fr-FR" sz="1000" dirty="0"/>
                            <a:t>0,005 (ODG)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sz="1000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oMath>
                            </m:oMathPara>
                          </a14:m>
                          <a:endParaRPr lang="fr-FR" sz="1000" dirty="0"/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000" dirty="0"/>
                            <a:t>Amplitude initiale de la perturbation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478196520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sz="1000" b="0" i="1" smtClean="0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fr-FR" sz="1000" dirty="0"/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fr-FR" sz="1000" dirty="0"/>
                            <a:t>80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sz="1000" b="0" i="1" smtClean="0">
                                    <a:latin typeface="Cambria Math" panose="02040503050406030204" pitchFamily="18" charset="0"/>
                                  </a:rPr>
                                  <m:t>𝐻𝑧</m:t>
                                </m:r>
                              </m:oMath>
                            </m:oMathPara>
                          </a14:m>
                          <a:endParaRPr lang="fr-FR" sz="1000" dirty="0"/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000" dirty="0"/>
                            <a:t>Fréquence fondamentale de vibration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7509288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7" name="Table 16">
                <a:extLst>
                  <a:ext uri="{FF2B5EF4-FFF2-40B4-BE49-F238E27FC236}">
                    <a16:creationId xmlns:a16="http://schemas.microsoft.com/office/drawing/2014/main" id="{3B381818-6C77-AF12-22D8-30F5A4EA623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18826626"/>
                  </p:ext>
                </p:extLst>
              </p:nvPr>
            </p:nvGraphicFramePr>
            <p:xfrm>
              <a:off x="345439" y="1507861"/>
              <a:ext cx="4217062" cy="2880000"/>
            </p:xfrm>
            <a:graphic>
              <a:graphicData uri="http://schemas.openxmlformats.org/drawingml/2006/table">
                <a:tbl>
                  <a:tblPr/>
                  <a:tblGrid>
                    <a:gridCol w="685916">
                      <a:extLst>
                        <a:ext uri="{9D8B030D-6E8A-4147-A177-3AD203B41FA5}">
                          <a16:colId xmlns:a16="http://schemas.microsoft.com/office/drawing/2014/main" val="1593414590"/>
                        </a:ext>
                      </a:extLst>
                    </a:gridCol>
                    <a:gridCol w="790996">
                      <a:extLst>
                        <a:ext uri="{9D8B030D-6E8A-4147-A177-3AD203B41FA5}">
                          <a16:colId xmlns:a16="http://schemas.microsoft.com/office/drawing/2014/main" val="2720004451"/>
                        </a:ext>
                      </a:extLst>
                    </a:gridCol>
                    <a:gridCol w="425920">
                      <a:extLst>
                        <a:ext uri="{9D8B030D-6E8A-4147-A177-3AD203B41FA5}">
                          <a16:colId xmlns:a16="http://schemas.microsoft.com/office/drawing/2014/main" val="161282379"/>
                        </a:ext>
                      </a:extLst>
                    </a:gridCol>
                    <a:gridCol w="2314230">
                      <a:extLst>
                        <a:ext uri="{9D8B030D-6E8A-4147-A177-3AD203B41FA5}">
                          <a16:colId xmlns:a16="http://schemas.microsoft.com/office/drawing/2014/main" val="1526808663"/>
                        </a:ext>
                      </a:extLst>
                    </a:gridCol>
                  </a:tblGrid>
                  <a:tr h="360000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000" b="1" dirty="0"/>
                            <a:t>Notation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000" b="1" dirty="0"/>
                            <a:t>Valeur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000" b="1" dirty="0"/>
                            <a:t>Unité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000" b="1" dirty="0"/>
                            <a:t>Description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36538467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blipFill>
                          <a:blip r:embed="rId3"/>
                          <a:stretch>
                            <a:fillRect t="-101695" r="-514159" b="-6033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fr-FR" sz="1000" dirty="0"/>
                            <a:t>0,105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blipFill>
                          <a:blip r:embed="rId3"/>
                          <a:stretch>
                            <a:fillRect l="-347143" t="-101695" r="-544286" b="-6033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000" dirty="0"/>
                            <a:t>Position du micro (SingleCoil)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03249128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3"/>
                          <a:stretch>
                            <a:fillRect t="-201695" r="-514159" b="-5033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fr-FR" sz="1000" dirty="0"/>
                            <a:t>0,147, 0,165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3"/>
                          <a:stretch>
                            <a:fillRect l="-347143" t="-201695" r="-544286" b="-5033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000" dirty="0"/>
                            <a:t>Position du micro (Humbucker parallèle)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25226435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3"/>
                          <a:stretch>
                            <a:fillRect t="-296667" r="-514159" b="-39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fr-FR" sz="1000" dirty="0"/>
                            <a:t>0,202, 0,220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3"/>
                          <a:stretch>
                            <a:fillRect l="-347143" t="-296667" r="-544286" b="-39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000" dirty="0"/>
                            <a:t>Position du micro (Humbucker série)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85710569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3"/>
                          <a:stretch>
                            <a:fillRect t="-403390" r="-514159" b="-3016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fr-FR" sz="1000" dirty="0"/>
                            <a:t>0,85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3"/>
                          <a:stretch>
                            <a:fillRect l="-347143" t="-403390" r="-544286" b="-3016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000" dirty="0"/>
                            <a:t>Longueur vibrante de la corde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83586442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3"/>
                          <a:stretch>
                            <a:fillRect t="-503390" r="-514159" b="-2016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fr-FR" sz="1000" dirty="0"/>
                            <a:t>0,300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3"/>
                          <a:stretch>
                            <a:fillRect l="-347143" t="-503390" r="-544286" b="-2016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000" dirty="0"/>
                            <a:t>Position de l'origine de la perturbation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835740474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3"/>
                          <a:stretch>
                            <a:fillRect t="-603390" r="-514159" b="-1016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fr-FR" sz="1000" dirty="0"/>
                            <a:t>0,005 (ODG)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3"/>
                          <a:stretch>
                            <a:fillRect l="-347143" t="-603390" r="-544286" b="-1016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000" dirty="0"/>
                            <a:t>Amplitude initiale de la perturbation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478196520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t="-703390" r="-514159" b="-16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fr-FR" sz="1000" dirty="0"/>
                            <a:t>80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47143" t="-703390" r="-544286" b="-16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000" dirty="0"/>
                            <a:t>Fréquence fondamentale de vibration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7509288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9" name="Table 18">
                <a:extLst>
                  <a:ext uri="{FF2B5EF4-FFF2-40B4-BE49-F238E27FC236}">
                    <a16:creationId xmlns:a16="http://schemas.microsoft.com/office/drawing/2014/main" id="{CF42D4E8-367B-CD6E-4006-68B064BCF4A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39652139"/>
                  </p:ext>
                </p:extLst>
              </p:nvPr>
            </p:nvGraphicFramePr>
            <p:xfrm>
              <a:off x="4671437" y="1507861"/>
              <a:ext cx="4324145" cy="1089627"/>
            </p:xfrm>
            <a:graphic>
              <a:graphicData uri="http://schemas.openxmlformats.org/drawingml/2006/table">
                <a:tbl>
                  <a:tblPr/>
                  <a:tblGrid>
                    <a:gridCol w="703333">
                      <a:extLst>
                        <a:ext uri="{9D8B030D-6E8A-4147-A177-3AD203B41FA5}">
                          <a16:colId xmlns:a16="http://schemas.microsoft.com/office/drawing/2014/main" val="1593414590"/>
                        </a:ext>
                      </a:extLst>
                    </a:gridCol>
                    <a:gridCol w="811082">
                      <a:extLst>
                        <a:ext uri="{9D8B030D-6E8A-4147-A177-3AD203B41FA5}">
                          <a16:colId xmlns:a16="http://schemas.microsoft.com/office/drawing/2014/main" val="2720004451"/>
                        </a:ext>
                      </a:extLst>
                    </a:gridCol>
                    <a:gridCol w="436736">
                      <a:extLst>
                        <a:ext uri="{9D8B030D-6E8A-4147-A177-3AD203B41FA5}">
                          <a16:colId xmlns:a16="http://schemas.microsoft.com/office/drawing/2014/main" val="161282379"/>
                        </a:ext>
                      </a:extLst>
                    </a:gridCol>
                    <a:gridCol w="2372994">
                      <a:extLst>
                        <a:ext uri="{9D8B030D-6E8A-4147-A177-3AD203B41FA5}">
                          <a16:colId xmlns:a16="http://schemas.microsoft.com/office/drawing/2014/main" val="1526808663"/>
                        </a:ext>
                      </a:extLst>
                    </a:gridCol>
                  </a:tblGrid>
                  <a:tr h="363209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000" b="1" dirty="0"/>
                            <a:t>Notation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000" b="1" dirty="0"/>
                            <a:t>Valeur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000" b="1" dirty="0"/>
                            <a:t>Unité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000" b="1" dirty="0"/>
                            <a:t>Description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36538467"/>
                      </a:ext>
                    </a:extLst>
                  </a:tr>
                  <a:tr h="363209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sz="1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000" b="0" i="1" smtClean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  <m:sub>
                                    <m:r>
                                      <a:rPr lang="fr-FR" sz="1000" b="0" i="1" smtClean="0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sz="1000" dirty="0"/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fr-FR" sz="1000" dirty="0"/>
                            <a:t>95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fr-FR" sz="1000" dirty="0"/>
                            <a:t>-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000" dirty="0"/>
                            <a:t>Nombre de spire d’une bobine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03249128"/>
                      </a:ext>
                    </a:extLst>
                  </a:tr>
                  <a:tr h="363209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sz="1000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oMath>
                            </m:oMathPara>
                          </a14:m>
                          <a:endParaRPr lang="fr-FR" sz="1000" dirty="0"/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fr-FR" sz="1000" dirty="0"/>
                            <a:t>0,06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sz="1000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oMath>
                            </m:oMathPara>
                          </a14:m>
                          <a:endParaRPr lang="fr-FR" sz="1000" dirty="0"/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000" dirty="0"/>
                            <a:t>Rayon des bobines de Helmholtz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252264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9" name="Table 18">
                <a:extLst>
                  <a:ext uri="{FF2B5EF4-FFF2-40B4-BE49-F238E27FC236}">
                    <a16:creationId xmlns:a16="http://schemas.microsoft.com/office/drawing/2014/main" id="{CF42D4E8-367B-CD6E-4006-68B064BCF4A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39652139"/>
                  </p:ext>
                </p:extLst>
              </p:nvPr>
            </p:nvGraphicFramePr>
            <p:xfrm>
              <a:off x="4671437" y="1507861"/>
              <a:ext cx="4324145" cy="1089627"/>
            </p:xfrm>
            <a:graphic>
              <a:graphicData uri="http://schemas.openxmlformats.org/drawingml/2006/table">
                <a:tbl>
                  <a:tblPr/>
                  <a:tblGrid>
                    <a:gridCol w="703333">
                      <a:extLst>
                        <a:ext uri="{9D8B030D-6E8A-4147-A177-3AD203B41FA5}">
                          <a16:colId xmlns:a16="http://schemas.microsoft.com/office/drawing/2014/main" val="1593414590"/>
                        </a:ext>
                      </a:extLst>
                    </a:gridCol>
                    <a:gridCol w="811082">
                      <a:extLst>
                        <a:ext uri="{9D8B030D-6E8A-4147-A177-3AD203B41FA5}">
                          <a16:colId xmlns:a16="http://schemas.microsoft.com/office/drawing/2014/main" val="2720004451"/>
                        </a:ext>
                      </a:extLst>
                    </a:gridCol>
                    <a:gridCol w="436736">
                      <a:extLst>
                        <a:ext uri="{9D8B030D-6E8A-4147-A177-3AD203B41FA5}">
                          <a16:colId xmlns:a16="http://schemas.microsoft.com/office/drawing/2014/main" val="161282379"/>
                        </a:ext>
                      </a:extLst>
                    </a:gridCol>
                    <a:gridCol w="2372994">
                      <a:extLst>
                        <a:ext uri="{9D8B030D-6E8A-4147-A177-3AD203B41FA5}">
                          <a16:colId xmlns:a16="http://schemas.microsoft.com/office/drawing/2014/main" val="1526808663"/>
                        </a:ext>
                      </a:extLst>
                    </a:gridCol>
                  </a:tblGrid>
                  <a:tr h="363209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000" b="1" dirty="0"/>
                            <a:t>Notation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000" b="1" dirty="0"/>
                            <a:t>Valeur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000" b="1" dirty="0"/>
                            <a:t>Unité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000" b="1" dirty="0"/>
                            <a:t>Description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36538467"/>
                      </a:ext>
                    </a:extLst>
                  </a:tr>
                  <a:tr h="363209"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blipFill>
                          <a:blip r:embed="rId4"/>
                          <a:stretch>
                            <a:fillRect t="-101667" r="-518261" b="-10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fr-FR" sz="1000" dirty="0"/>
                            <a:t>95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fr-FR" sz="1000" dirty="0"/>
                            <a:t>-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000" dirty="0"/>
                            <a:t>Nombre de spire d’une bobine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03249128"/>
                      </a:ext>
                    </a:extLst>
                  </a:tr>
                  <a:tr h="363209"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t="-201667" r="-518261" b="-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fr-FR" sz="1000" dirty="0"/>
                            <a:t>0,06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50704" t="-201667" r="-550704" b="-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000" dirty="0"/>
                            <a:t>Rayon des bobines de Helmholtz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2522643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0" name="Rectangle 19">
            <a:extLst>
              <a:ext uri="{FF2B5EF4-FFF2-40B4-BE49-F238E27FC236}">
                <a16:creationId xmlns:a16="http://schemas.microsoft.com/office/drawing/2014/main" id="{4A0FDFD4-ACE1-C723-796E-51848408BDB8}"/>
              </a:ext>
            </a:extLst>
          </p:cNvPr>
          <p:cNvSpPr/>
          <p:nvPr/>
        </p:nvSpPr>
        <p:spPr>
          <a:xfrm>
            <a:off x="345439" y="1174612"/>
            <a:ext cx="4031962" cy="280107"/>
          </a:xfrm>
          <a:prstGeom prst="rect">
            <a:avLst/>
          </a:prstGeom>
          <a:ln w="38100"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numCol="2" rtlCol="0" anchor="t"/>
          <a:lstStyle/>
          <a:p>
            <a:endParaRPr lang="fr-FR" sz="1400" b="1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B5CD883-82BD-74FC-0CCA-5B43225FB89A}"/>
              </a:ext>
            </a:extLst>
          </p:cNvPr>
          <p:cNvSpPr txBox="1"/>
          <p:nvPr/>
        </p:nvSpPr>
        <p:spPr>
          <a:xfrm>
            <a:off x="326443" y="1142736"/>
            <a:ext cx="43621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>
                <a:solidFill>
                  <a:schemeClr val="accent3">
                    <a:lumMod val="50000"/>
                  </a:schemeClr>
                </a:solidFill>
              </a:rPr>
              <a:t>Paramètres mécanique (induction)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D94D2AE-FBCD-6DCC-33D2-D0CB6D758659}"/>
              </a:ext>
            </a:extLst>
          </p:cNvPr>
          <p:cNvSpPr txBox="1"/>
          <p:nvPr/>
        </p:nvSpPr>
        <p:spPr>
          <a:xfrm>
            <a:off x="326442" y="4460763"/>
            <a:ext cx="43621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>
                <a:solidFill>
                  <a:schemeClr val="accent3">
                    <a:lumMod val="50000"/>
                  </a:schemeClr>
                </a:solidFill>
              </a:rPr>
              <a:t>Paramètres magnétique (induction)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E8A2E43-0000-4799-8C98-5CF5D3C0AA82}"/>
              </a:ext>
            </a:extLst>
          </p:cNvPr>
          <p:cNvSpPr txBox="1"/>
          <p:nvPr/>
        </p:nvSpPr>
        <p:spPr>
          <a:xfrm>
            <a:off x="4671437" y="1122601"/>
            <a:ext cx="43621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>
                <a:solidFill>
                  <a:schemeClr val="accent3">
                    <a:lumMod val="50000"/>
                  </a:schemeClr>
                </a:solidFill>
              </a:rPr>
              <a:t>Paramètres mécanique (parasite)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4" name="Table 23">
                <a:extLst>
                  <a:ext uri="{FF2B5EF4-FFF2-40B4-BE49-F238E27FC236}">
                    <a16:creationId xmlns:a16="http://schemas.microsoft.com/office/drawing/2014/main" id="{CB49C052-18CA-D0C9-14A7-3BDB164A18B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33473610"/>
                  </p:ext>
                </p:extLst>
              </p:nvPr>
            </p:nvGraphicFramePr>
            <p:xfrm>
              <a:off x="4778519" y="3118385"/>
              <a:ext cx="4217064" cy="1089627"/>
            </p:xfrm>
            <a:graphic>
              <a:graphicData uri="http://schemas.openxmlformats.org/drawingml/2006/table">
                <a:tbl>
                  <a:tblPr/>
                  <a:tblGrid>
                    <a:gridCol w="685916">
                      <a:extLst>
                        <a:ext uri="{9D8B030D-6E8A-4147-A177-3AD203B41FA5}">
                          <a16:colId xmlns:a16="http://schemas.microsoft.com/office/drawing/2014/main" val="1593414590"/>
                        </a:ext>
                      </a:extLst>
                    </a:gridCol>
                    <a:gridCol w="790997">
                      <a:extLst>
                        <a:ext uri="{9D8B030D-6E8A-4147-A177-3AD203B41FA5}">
                          <a16:colId xmlns:a16="http://schemas.microsoft.com/office/drawing/2014/main" val="2720004451"/>
                        </a:ext>
                      </a:extLst>
                    </a:gridCol>
                    <a:gridCol w="425921">
                      <a:extLst>
                        <a:ext uri="{9D8B030D-6E8A-4147-A177-3AD203B41FA5}">
                          <a16:colId xmlns:a16="http://schemas.microsoft.com/office/drawing/2014/main" val="161282379"/>
                        </a:ext>
                      </a:extLst>
                    </a:gridCol>
                    <a:gridCol w="2314230">
                      <a:extLst>
                        <a:ext uri="{9D8B030D-6E8A-4147-A177-3AD203B41FA5}">
                          <a16:colId xmlns:a16="http://schemas.microsoft.com/office/drawing/2014/main" val="1526808663"/>
                        </a:ext>
                      </a:extLst>
                    </a:gridCol>
                  </a:tblGrid>
                  <a:tr h="363209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000" b="1" dirty="0"/>
                            <a:t>Notation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000" b="1" dirty="0"/>
                            <a:t>Valeur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000" b="1" dirty="0"/>
                            <a:t>Unité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000" b="1" dirty="0"/>
                            <a:t>Description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36538467"/>
                      </a:ext>
                    </a:extLst>
                  </a:tr>
                  <a:tr h="363209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sz="1000" b="0" i="1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oMath>
                            </m:oMathPara>
                          </a14:m>
                          <a:endParaRPr lang="fr-FR" sz="1000" dirty="0"/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fr-FR" sz="1000" dirty="0"/>
                            <a:t>1 (ODG)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fr-FR" sz="1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fr-FR" sz="1000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p>
                                    <m:r>
                                      <a:rPr lang="fr-FR" sz="1000" b="0" i="1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fr-FR" sz="1000" dirty="0"/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000" dirty="0"/>
                            <a:t>Gradient du champ magnétique parasite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03249128"/>
                      </a:ext>
                    </a:extLst>
                  </a:tr>
                  <a:tr h="363209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sz="1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000" b="0" i="1" smtClean="0">
                                        <a:latin typeface="Cambria Math" panose="02040503050406030204" pitchFamily="18" charset="0"/>
                                      </a:rPr>
                                      <m:t>𝐹</m:t>
                                    </m:r>
                                  </m:e>
                                  <m:sub>
                                    <m:r>
                                      <a:rPr lang="fr-FR" sz="1000" b="0" i="1" smtClean="0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sz="1000" dirty="0"/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fr-FR" sz="1000" dirty="0"/>
                            <a:t>50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sz="1000" b="0" i="1" smtClean="0">
                                    <a:latin typeface="Cambria Math" panose="02040503050406030204" pitchFamily="18" charset="0"/>
                                  </a:rPr>
                                  <m:t>𝐻𝑧</m:t>
                                </m:r>
                              </m:oMath>
                            </m:oMathPara>
                          </a14:m>
                          <a:endParaRPr lang="fr-FR" sz="1000" dirty="0"/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000" dirty="0"/>
                            <a:t>Fréquence du champ magnétique parasite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252264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4" name="Table 23">
                <a:extLst>
                  <a:ext uri="{FF2B5EF4-FFF2-40B4-BE49-F238E27FC236}">
                    <a16:creationId xmlns:a16="http://schemas.microsoft.com/office/drawing/2014/main" id="{CB49C052-18CA-D0C9-14A7-3BDB164A18B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33473610"/>
                  </p:ext>
                </p:extLst>
              </p:nvPr>
            </p:nvGraphicFramePr>
            <p:xfrm>
              <a:off x="4778519" y="3118385"/>
              <a:ext cx="4217064" cy="1089627"/>
            </p:xfrm>
            <a:graphic>
              <a:graphicData uri="http://schemas.openxmlformats.org/drawingml/2006/table">
                <a:tbl>
                  <a:tblPr/>
                  <a:tblGrid>
                    <a:gridCol w="685916">
                      <a:extLst>
                        <a:ext uri="{9D8B030D-6E8A-4147-A177-3AD203B41FA5}">
                          <a16:colId xmlns:a16="http://schemas.microsoft.com/office/drawing/2014/main" val="1593414590"/>
                        </a:ext>
                      </a:extLst>
                    </a:gridCol>
                    <a:gridCol w="790997">
                      <a:extLst>
                        <a:ext uri="{9D8B030D-6E8A-4147-A177-3AD203B41FA5}">
                          <a16:colId xmlns:a16="http://schemas.microsoft.com/office/drawing/2014/main" val="2720004451"/>
                        </a:ext>
                      </a:extLst>
                    </a:gridCol>
                    <a:gridCol w="425921">
                      <a:extLst>
                        <a:ext uri="{9D8B030D-6E8A-4147-A177-3AD203B41FA5}">
                          <a16:colId xmlns:a16="http://schemas.microsoft.com/office/drawing/2014/main" val="161282379"/>
                        </a:ext>
                      </a:extLst>
                    </a:gridCol>
                    <a:gridCol w="2314230">
                      <a:extLst>
                        <a:ext uri="{9D8B030D-6E8A-4147-A177-3AD203B41FA5}">
                          <a16:colId xmlns:a16="http://schemas.microsoft.com/office/drawing/2014/main" val="1526808663"/>
                        </a:ext>
                      </a:extLst>
                    </a:gridCol>
                  </a:tblGrid>
                  <a:tr h="363209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000" b="1" dirty="0"/>
                            <a:t>Notation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000" b="1" dirty="0"/>
                            <a:t>Valeur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000" b="1" dirty="0"/>
                            <a:t>Unité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000" b="1" dirty="0"/>
                            <a:t>Description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36538467"/>
                      </a:ext>
                    </a:extLst>
                  </a:tr>
                  <a:tr h="363209"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blipFill>
                          <a:blip r:embed="rId5"/>
                          <a:stretch>
                            <a:fillRect t="-101667" r="-514159" b="-11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fr-FR" sz="1000" dirty="0"/>
                            <a:t>1 (ODG)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blipFill>
                          <a:blip r:embed="rId5"/>
                          <a:stretch>
                            <a:fillRect l="-347143" t="-101667" r="-544286" b="-11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000" dirty="0"/>
                            <a:t>Gradient du champ magnétique parasite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03249128"/>
                      </a:ext>
                    </a:extLst>
                  </a:tr>
                  <a:tr h="363209"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t="-201667" r="-514159" b="-1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fr-FR" sz="1000" dirty="0"/>
                            <a:t>50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47143" t="-201667" r="-544286" b="-1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000" dirty="0"/>
                            <a:t>Fréquence du champ magnétique parasite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2522643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C245918D-E210-1F1E-4EC5-A7B43F3E7B84}"/>
              </a:ext>
            </a:extLst>
          </p:cNvPr>
          <p:cNvSpPr txBox="1"/>
          <p:nvPr/>
        </p:nvSpPr>
        <p:spPr>
          <a:xfrm>
            <a:off x="4778519" y="2733125"/>
            <a:ext cx="43621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>
                <a:solidFill>
                  <a:schemeClr val="accent3">
                    <a:lumMod val="50000"/>
                  </a:schemeClr>
                </a:solidFill>
              </a:rPr>
              <a:t>Paramètres magnétiques (parasite)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20EF1A-1F6F-9525-65C0-C1F7BBBB7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6E79A1-0201-53D7-0BB4-C20241C7F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TIPE 39662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D1901009-EA74-EC93-E653-CCC6C4D2D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425344" y="6459786"/>
            <a:ext cx="984019" cy="365125"/>
          </a:xfrm>
        </p:spPr>
        <p:txBody>
          <a:bodyPr/>
          <a:lstStyle/>
          <a:p>
            <a:fld id="{477F8A04-938D-4CBF-A3DC-6CB925B6FC34}" type="slidenum">
              <a:rPr lang="fr-FR" sz="1400" b="1" smtClean="0"/>
              <a:t>25</a:t>
            </a:fld>
            <a:endParaRPr lang="fr-FR" sz="1400" b="1" dirty="0"/>
          </a:p>
        </p:txBody>
      </p:sp>
    </p:spTree>
    <p:extLst>
      <p:ext uri="{BB962C8B-B14F-4D97-AF65-F5344CB8AC3E}">
        <p14:creationId xmlns:p14="http://schemas.microsoft.com/office/powerpoint/2010/main" val="38370365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55F2D0-380E-9F8B-EAB7-F239559D30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822B8513-685B-5D00-3E76-767B4A734F71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7BE10D5-B238-9259-C2A5-819981B66C65}"/>
              </a:ext>
            </a:extLst>
          </p:cNvPr>
          <p:cNvSpPr txBox="1"/>
          <p:nvPr/>
        </p:nvSpPr>
        <p:spPr>
          <a:xfrm>
            <a:off x="345439" y="721360"/>
            <a:ext cx="8063923" cy="4001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2000" b="1" dirty="0">
                <a:latin typeface="Arial Black" panose="020B0A04020102020204" pitchFamily="34" charset="0"/>
              </a:rPr>
              <a:t>ANNEXE 3 :</a:t>
            </a:r>
            <a:r>
              <a:rPr lang="fr-FR" sz="2000" dirty="0">
                <a:latin typeface="Arial Black" panose="020B0A04020102020204" pitchFamily="34" charset="0"/>
              </a:rPr>
              <a:t> Modélisation de l'induction par la corde.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71D93A8-3068-FD13-67A6-BED55AE652CC}"/>
              </a:ext>
            </a:extLst>
          </p:cNvPr>
          <p:cNvSpPr/>
          <p:nvPr/>
        </p:nvSpPr>
        <p:spPr>
          <a:xfrm>
            <a:off x="326443" y="423275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3D16238-4EA7-7517-C0A6-5F60945ECED6}"/>
                  </a:ext>
                </a:extLst>
              </p:cNvPr>
              <p:cNvSpPr txBox="1"/>
              <p:nvPr/>
            </p:nvSpPr>
            <p:spPr>
              <a:xfrm>
                <a:off x="500933" y="1232452"/>
                <a:ext cx="4121884" cy="5156412"/>
              </a:xfrm>
              <a:prstGeom prst="rect">
                <a:avLst/>
              </a:prstGeom>
              <a:noFill/>
            </p:spPr>
            <p:txBody>
              <a:bodyPr wrap="square" numCol="3" rtlCol="0">
                <a:spAutoFit/>
              </a:bodyPr>
              <a:lstStyle/>
              <a:p>
                <a:r>
                  <a:rPr lang="fr-FR" sz="1200" b="1" u="sng" dirty="0"/>
                  <a:t>Vibration de la corde :</a:t>
                </a:r>
                <a:endParaRPr lang="fr-FR" sz="1200" dirty="0"/>
              </a:p>
              <a:p>
                <a:r>
                  <a:rPr lang="fr-FR" sz="1200" dirty="0"/>
                  <a:t>L’étude de la corde est basée sur l’équation d’Alembert, où la vitesse de propagation </a:t>
                </a:r>
                <a14:m>
                  <m:oMath xmlns:m="http://schemas.openxmlformats.org/officeDocument/2006/math">
                    <m:r>
                      <a:rPr lang="fr-FR" sz="1200" i="1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fr-FR" sz="1200" dirty="0"/>
                  <a:t> est défini par la tension </a:t>
                </a:r>
                <a14:m>
                  <m:oMath xmlns:m="http://schemas.openxmlformats.org/officeDocument/2006/math"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fr-FR" sz="1200" dirty="0"/>
                  <a:t> et la masse linéique </a:t>
                </a:r>
                <a14:m>
                  <m:oMath xmlns:m="http://schemas.openxmlformats.org/officeDocument/2006/math">
                    <m:r>
                      <a:rPr lang="fr-FR" sz="1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endParaRPr lang="fr-FR" sz="1200" dirty="0"/>
              </a:p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fr-FR" sz="12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fr-FR" sz="12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sz="1200" i="1" smtClean="0">
                                <a:latin typeface="Cambria Math" panose="02040503050406030204" pitchFamily="18" charset="0"/>
                              </a:rPr>
                              <m:t>𝜕</m:t>
                            </m:r>
                          </m:e>
                          <m:sup>
                            <m:r>
                              <a:rPr lang="fr-FR" sz="1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num>
                      <m:den>
                        <m:r>
                          <a:rPr lang="fr-FR" sz="120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fr-FR" sz="120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²</m:t>
                        </m:r>
                      </m:den>
                    </m:f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fr-FR" sz="1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²</m:t>
                        </m:r>
                      </m:den>
                    </m:f>
                    <m:f>
                      <m:fPr>
                        <m:ctrlPr>
                          <a:rPr lang="fr-FR" sz="1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fr-FR" sz="12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sz="1200" b="0" i="1" smtClean="0">
                                <a:latin typeface="Cambria Math" panose="02040503050406030204" pitchFamily="18" charset="0"/>
                              </a:rPr>
                              <m:t>𝜕</m:t>
                            </m:r>
                          </m:e>
                          <m:sup>
                            <m:r>
                              <a:rPr lang="fr-FR" sz="1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num>
                      <m:den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²</m:t>
                        </m:r>
                      </m:den>
                    </m:f>
                  </m:oMath>
                </a14:m>
                <a:r>
                  <a:rPr lang="fr-FR" sz="1200" dirty="0"/>
                  <a:t>, avec </a:t>
                </a:r>
                <a14:m>
                  <m:oMath xmlns:m="http://schemas.openxmlformats.org/officeDocument/2006/math">
                    <m:r>
                      <a:rPr lang="fr-FR" sz="1200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fr-FR" sz="1200" i="1">
                        <a:latin typeface="Cambria Math" panose="02040503050406030204" pitchFamily="18" charset="0"/>
                      </a:rPr>
                      <m:t>= </m:t>
                    </m:r>
                    <m:rad>
                      <m:radPr>
                        <m:degHide m:val="on"/>
                        <m:ctrlPr>
                          <a:rPr lang="fr-FR" sz="12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fr-FR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</m:rad>
                  </m:oMath>
                </a14:m>
                <a:endParaRPr lang="fr-FR" sz="1200" dirty="0"/>
              </a:p>
              <a:p>
                <a:pPr algn="ctr"/>
                <a:endParaRPr lang="fr-FR" sz="1200" dirty="0"/>
              </a:p>
              <a:p>
                <a:r>
                  <a:rPr lang="fr-FR" sz="1200" dirty="0"/>
                  <a:t>Pour une corde de longueur </a:t>
                </a:r>
                <a14:m>
                  <m:oMath xmlns:m="http://schemas.openxmlformats.org/officeDocument/2006/math">
                    <m:r>
                      <a:rPr lang="fr-FR" sz="1200" i="1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fr-FR" sz="1200" dirty="0"/>
                  <a:t>, tiré à la position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fr-FR" sz="1200" dirty="0"/>
                  <a:t> d’une distance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FR" sz="1200" b="0" i="0" smtClean="0">
                        <a:latin typeface="Cambria Math" panose="02040503050406030204" pitchFamily="18" charset="0"/>
                      </a:rPr>
                      <m:t>z</m:t>
                    </m:r>
                    <m:r>
                      <a:rPr lang="fr-FR" sz="12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FR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fr-FR" sz="1200" dirty="0"/>
                  <a:t> avec une force de pincement </a:t>
                </a:r>
                <a14:m>
                  <m:oMath xmlns:m="http://schemas.openxmlformats.org/officeDocument/2006/math"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fr-FR" sz="1200" dirty="0"/>
                  <a:t> 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𝑧</m:t>
                      </m:r>
                      <m:d>
                        <m:d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, 0</m:t>
                          </m:r>
                        </m:e>
                      </m:d>
                      <m:r>
                        <a:rPr lang="fr-FR" sz="12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fr-FR" sz="12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f>
                                <m:fPr>
                                  <m:ctrlP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fr-FR" sz="1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1200" i="1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fr-FR" sz="12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fr-FR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12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fr-FR" sz="12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,  0≤</m:t>
                              </m:r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sSub>
                                <m:sSubPr>
                                  <m:ctrlP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  <m:e>
                              <m:f>
                                <m:fPr>
                                  <m:ctrlP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fr-FR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1200" i="1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  <m:r>
                                        <a:rPr lang="fr-FR" sz="12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fr-FR" sz="12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fr-FR" sz="12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,  </m:t>
                              </m:r>
                              <m:sSub>
                                <m:sSubPr>
                                  <m:ctrlP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fr-FR" sz="1200" dirty="0"/>
              </a:p>
              <a:p>
                <a:endParaRPr lang="fr-FR" sz="1200" dirty="0"/>
              </a:p>
              <a:p>
                <a:r>
                  <a:rPr lang="fr-FR" sz="1200" dirty="0"/>
                  <a:t>Avec des conditions initiales telle que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FR" sz="1200" b="0" i="0" smtClean="0">
                        <a:latin typeface="Cambria Math" panose="02040503050406030204" pitchFamily="18" charset="0"/>
                      </a:rPr>
                      <m:t>z</m:t>
                    </m:r>
                    <m:d>
                      <m:dPr>
                        <m:ctrlPr>
                          <a:rPr lang="fr-FR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, 0</m:t>
                        </m:r>
                      </m:e>
                    </m:d>
                  </m:oMath>
                </a14:m>
                <a:r>
                  <a:rPr lang="fr-FR" sz="1200" dirty="0"/>
                  <a:t> soit la forme initiale de la corde, on note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fr-FR" sz="1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den>
                    </m:f>
                  </m:oMath>
                </a14:m>
                <a:r>
                  <a:rPr lang="fr-FR" sz="1200" dirty="0"/>
                  <a:t>. On a alors 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d>
                        <m:dPr>
                          <m:ctrlPr>
                            <a:rPr lang="fr-FR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fr-FR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fr-FR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2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fr-FR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fr-FR" sz="12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supHide m:val="on"/>
                          <m:ctrlPr>
                            <a:rPr lang="fr-FR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fr-FR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fr-FR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≥1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func>
                            <m:funcPr>
                              <m:ctrlP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1200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  <m:func>
                            <m:funcPr>
                              <m:ctrlP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1200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(2</m:t>
                              </m:r>
                              <m: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𝐹𝑛𝑡</m:t>
                              </m:r>
                              <m: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</m:e>
                      </m:nary>
                    </m:oMath>
                  </m:oMathPara>
                </a14:m>
                <a:endParaRPr lang="fr-FR" sz="1200" dirty="0"/>
              </a:p>
              <a:p>
                <a:endParaRPr lang="fr-FR" sz="1200" dirty="0"/>
              </a:p>
              <a:p>
                <a:r>
                  <a:rPr lang="fr-FR" sz="1200" dirty="0"/>
                  <a:t>Avec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fr-FR" sz="1200" dirty="0"/>
                  <a:t> l’amplitude de l’harmonique </a:t>
                </a:r>
                <a14:m>
                  <m:oMath xmlns:m="http://schemas.openxmlformats.org/officeDocument/2006/math"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fr-FR" sz="1200" dirty="0"/>
                  <a:t>-ème et peut être calculer par 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  <m:nary>
                        <m:nary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p>
                        <m:e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, 0)</m:t>
                          </m:r>
                          <m:func>
                            <m:func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1200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fr-FR" sz="1200" dirty="0"/>
              </a:p>
              <a:p>
                <a:r>
                  <a:rPr lang="fr-FR" sz="1200" dirty="0"/>
                  <a:t>Ainsi, on a :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fr-FR" sz="1200" i="1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𝐿</m:t>
                          </m:r>
                          <m:sSub>
                            <m:sSubPr>
                              <m:ctrlPr>
                                <a:rPr lang="fr-FR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nary>
                        <m:nary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fr-FR" sz="12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sSub>
                            <m:sSubPr>
                              <m:ctrlPr>
                                <a:rPr lang="fr-FR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p>
                        <m:e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𝑥</m:t>
                          </m:r>
                          <m:func>
                            <m:funcPr>
                              <m:ctrlPr>
                                <a:rPr lang="fr-FR" sz="12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120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fr-FR" sz="12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fr-FR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nary>
                        <m:nary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fr-FR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23"/>
                                </m:rP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m:rPr>
                                  <m:brk m:alnAt="23"/>
                                </m:rPr>
                                <a:rPr lang="fr-FR" sz="12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b>
                        <m:sup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𝐿</m:t>
                          </m:r>
                        </m:sup>
                        <m:e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𝑥</m:t>
                          </m:r>
                          <m:func>
                            <m:funcPr>
                              <m:ctrlPr>
                                <a:rPr lang="fr-FR" sz="12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120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𝑑𝑥</m:t>
                              </m:r>
                            </m:e>
                          </m:func>
                        </m:e>
                      </m:nary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3D16238-4EA7-7517-C0A6-5F60945ECE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933" y="1232452"/>
                <a:ext cx="4121884" cy="5156412"/>
              </a:xfrm>
              <a:prstGeom prst="rect">
                <a:avLst/>
              </a:prstGeom>
              <a:blipFill>
                <a:blip r:embed="rId2"/>
                <a:stretch>
                  <a:fillRect t="-118" b="-1974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41C732B-CC1E-0649-36C3-A4BA70BB7FD2}"/>
                  </a:ext>
                </a:extLst>
              </p:cNvPr>
              <p:cNvSpPr txBox="1"/>
              <p:nvPr/>
            </p:nvSpPr>
            <p:spPr>
              <a:xfrm>
                <a:off x="4659244" y="1241682"/>
                <a:ext cx="4121885" cy="50692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fr-FR" sz="1200" dirty="0"/>
                  <a:t>D’où 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𝐵𝑛</m:t>
                      </m:r>
                      <m:r>
                        <a:rPr lang="fr-FR" sz="12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fr-FR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sSup>
                            <m:sSupPr>
                              <m:ctrlP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p>
                              <m: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5/2</m:t>
                              </m:r>
                            </m:sup>
                          </m:sSup>
                          <m:rad>
                            <m:radPr>
                              <m:degHide m:val="on"/>
                              <m:ctrlP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num>
                        <m:den>
                          <m:sSup>
                            <m:sSupPr>
                              <m:ctrlP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p>
                              <m: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b>
                            <m:sSubPr>
                              <m:ctrlP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fr-FR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fr-FR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  <m:r>
                            <a:rPr lang="fr-FR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fr-FR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f>
                        <m:fPr>
                          <m:ctrlPr>
                            <a:rPr lang="fr-FR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120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</m:num>
                        <m:den>
                          <m:r>
                            <a:rPr lang="fr-FR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fr-FR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²</m:t>
                          </m:r>
                        </m:den>
                      </m:f>
                    </m:oMath>
                  </m:oMathPara>
                </a14:m>
                <a:endParaRPr lang="fr-FR" sz="1200" dirty="0"/>
              </a:p>
              <a:p>
                <a:r>
                  <a:rPr lang="fr-FR" sz="1200" b="1" u="sng" dirty="0"/>
                  <a:t>Induction :</a:t>
                </a:r>
                <a:endParaRPr lang="fr-FR" sz="1200" dirty="0"/>
              </a:p>
              <a:p>
                <a:r>
                  <a:rPr lang="fr-FR" sz="1200" dirty="0"/>
                  <a:t>De plus, une portion de la corde de volume </a:t>
                </a:r>
                <a14:m>
                  <m:oMath xmlns:m="http://schemas.openxmlformats.org/officeDocument/2006/math"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fr-FR" sz="1200" dirty="0"/>
                  <a:t> et de susceptibilité magnétique </a:t>
                </a:r>
                <a14:m>
                  <m:oMath xmlns:m="http://schemas.openxmlformats.org/officeDocument/2006/math"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𝜒</m:t>
                    </m:r>
                  </m:oMath>
                </a14:m>
                <a:r>
                  <a:rPr lang="fr-FR" sz="1200" dirty="0"/>
                  <a:t> est plongé dans le champ du micro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fr-FR" sz="12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fr-FR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2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fr-FR" sz="12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acc>
                  </m:oMath>
                </a14:m>
                <a:r>
                  <a:rPr lang="fr-FR" sz="1200" dirty="0"/>
                  <a:t>. Donc elle acquiert un moment magnétique :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acc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𝜒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  <m:acc>
                            <m:accPr>
                              <m:chr m:val="⃗"/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</m:acc>
                        </m:num>
                        <m:den>
                          <m:sSub>
                            <m:sSub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fr-FR" sz="1200" dirty="0"/>
              </a:p>
              <a:p>
                <a:r>
                  <a:rPr lang="fr-FR" sz="1200" dirty="0"/>
                  <a:t>La corde créée donc un champ magnétique :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e>
                      </m:acc>
                      <m:d>
                        <m:d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f>
                        <m:f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acc>
                            <m:accPr>
                              <m:chr m:val="⃗"/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acc>
                        </m:num>
                        <m:den>
                          <m:sSup>
                            <m:sSup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𝜒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  <m:acc>
                            <m:accPr>
                              <m:chr m:val="⃗"/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</m:acc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))</m:t>
                          </m:r>
                        </m:num>
                        <m:den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  <m:sSup>
                            <m:sSup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fr-FR" sz="1200" dirty="0"/>
              </a:p>
              <a:p>
                <a:endParaRPr lang="fr-FR" sz="1200" dirty="0"/>
              </a:p>
              <a:p>
                <a:r>
                  <a:rPr lang="fr-FR" sz="1200" dirty="0"/>
                  <a:t>Ainsi le flux traversant le bobinage de </a:t>
                </a:r>
                <a14:m>
                  <m:oMath xmlns:m="http://schemas.openxmlformats.org/officeDocument/2006/math"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fr-FR" sz="1200" dirty="0"/>
                  <a:t> spires est :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fr-FR" sz="1200" b="0" i="0" smtClean="0">
                          <a:latin typeface="Cambria Math" panose="02040503050406030204" pitchFamily="18" charset="0"/>
                        </a:rPr>
                        <m:t>Φ</m:t>
                      </m:r>
                      <m:d>
                        <m:d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𝑁</m:t>
                      </m:r>
                      <m:nary>
                        <m:naryPr>
                          <m:chr m:val="∯"/>
                          <m:limLoc m:val="undOvr"/>
                          <m:subHide m:val="on"/>
                          <m:supHide m:val="on"/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acc>
                            <m:accPr>
                              <m:chr m:val="⃗"/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acc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acc>
                            <m:accPr>
                              <m:chr m:val="⃗"/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𝑑𝑆</m:t>
                              </m:r>
                            </m:e>
                          </m:acc>
                        </m:e>
                      </m:nary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𝑁𝑆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𝜒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num>
                        <m:den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f>
                        <m:f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  <m:d>
                            <m:d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  <m:sSup>
                            <m:sSup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  <m:sup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fr-FR" sz="1200" dirty="0"/>
              </a:p>
              <a:p>
                <a:r>
                  <a:rPr lang="fr-FR" sz="1200" dirty="0"/>
                  <a:t>La FEM induite </a:t>
                </a:r>
                <a14:m>
                  <m:oMath xmlns:m="http://schemas.openxmlformats.org/officeDocument/2006/math">
                    <m:r>
                      <a:rPr lang="fr-FR" sz="1200" i="1">
                        <a:latin typeface="Cambria Math" panose="02040503050406030204" pitchFamily="18" charset="0"/>
                      </a:rPr>
                      <m:t>ⅇ</m:t>
                    </m:r>
                    <m:d>
                      <m:dPr>
                        <m:ctrlPr>
                          <a:rPr lang="fr-FR" sz="12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fr-FR" sz="1200" dirty="0"/>
                  <a:t> est régie par la </a:t>
                </a:r>
                <a:r>
                  <a:rPr lang="fr-FR" sz="1200" u="sng" dirty="0"/>
                  <a:t>Loi d’induction de Faraday</a:t>
                </a:r>
                <a:r>
                  <a:rPr lang="fr-FR" sz="1200" dirty="0"/>
                  <a:t> 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i="1">
                          <a:latin typeface="Cambria Math" panose="02040503050406030204" pitchFamily="18" charset="0"/>
                        </a:rPr>
                        <m:t>ⅇ</m:t>
                      </m:r>
                      <m:d>
                        <m:dPr>
                          <m:ctrlPr>
                            <a:rPr lang="fr-FR" sz="12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2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m:rPr>
                              <m:sty m:val="p"/>
                            </m:rPr>
                            <a:rPr lang="fr-FR" sz="1200" b="0" i="0" smtClean="0">
                              <a:latin typeface="Cambria Math" panose="02040503050406030204" pitchFamily="18" charset="0"/>
                            </a:rPr>
                            <m:t>Φ</m:t>
                          </m:r>
                        </m:num>
                        <m:den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m:rPr>
                              <m:sty m:val="p"/>
                            </m:rPr>
                            <a:rPr lang="fr-FR" sz="1200" b="0" i="0" smtClean="0">
                              <a:latin typeface="Cambria Math" panose="02040503050406030204" pitchFamily="18" charset="0"/>
                            </a:rPr>
                            <m:t>Φ</m:t>
                          </m:r>
                        </m:num>
                        <m:den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den>
                      </m:f>
                      <m:f>
                        <m:f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num>
                        <m:den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</m:oMath>
                  </m:oMathPara>
                </a14:m>
                <a:endParaRPr lang="fr-FR" sz="12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1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d>
                        <m:dPr>
                          <m:ctrlPr>
                            <a:rPr lang="fr-FR" sz="11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1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fr-FR" sz="11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fr-FR" sz="11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1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fr-FR" sz="11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1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𝑁𝑆</m:t>
                          </m:r>
                          <m:r>
                            <a:rPr lang="fr-FR" sz="11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𝜒</m:t>
                          </m:r>
                          <m:r>
                            <a:rPr lang="fr-FR" sz="11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num>
                        <m:den>
                          <m:r>
                            <a:rPr lang="fr-FR" sz="11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fr-FR" sz="11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d>
                        <m:dPr>
                          <m:ctrlPr>
                            <a:rPr lang="fr-FR" sz="11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fr-FR" sz="11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sz="11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sSub>
                                <m:sSubPr>
                                  <m:ctrlPr>
                                    <a:rPr lang="fr-FR" sz="11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1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fr-FR" sz="11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fr-FR" sz="11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fr-FR" sz="11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  <m:d>
                                    <m:dPr>
                                      <m:ctrlPr>
                                        <a:rPr lang="fr-FR" sz="11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fr-FR" sz="11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</m:e>
                              </m:d>
                            </m:num>
                            <m:den>
                              <m:sSup>
                                <m:sSupPr>
                                  <m:ctrlPr>
                                    <a:rPr lang="fr-FR" sz="11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sz="11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p>
                                  <m:r>
                                    <a:rPr lang="fr-FR" sz="11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p>
                            </m:den>
                          </m:f>
                          <m:r>
                            <a:rPr lang="fr-FR" sz="11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fr-FR" sz="11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sz="11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fr-FR" sz="11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sz="11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p>
                                  <m:r>
                                    <a:rPr lang="fr-FR" sz="11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den>
                          </m:f>
                          <m:f>
                            <m:fPr>
                              <m:ctrlPr>
                                <a:rPr lang="fr-FR" sz="11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sz="11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fr-FR" sz="11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1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fr-FR" sz="11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fr-FR" sz="11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fr-FR" sz="11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den>
                          </m:f>
                          <m:d>
                            <m:dPr>
                              <m:ctrlPr>
                                <a:rPr lang="fr-FR" sz="11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sz="11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fr-FR" sz="11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fr-FR" sz="11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fr-FR" sz="11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1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fr-FR" sz="11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nary>
                      <m:sSub>
                        <m:sSubPr>
                          <m:ctrlPr>
                            <a:rPr lang="fr-FR" sz="11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1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fr-FR" sz="11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func>
                        <m:funcPr>
                          <m:ctrlPr>
                            <a:rPr lang="fr-FR" sz="11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fr-FR" sz="11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fr-FR" sz="11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sz="11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fr-FR" sz="11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fr-FR" sz="11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𝑛𝐹𝑡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fr-FR" sz="1200" dirty="0"/>
              </a:p>
              <a:p>
                <a:endParaRPr lang="fr-FR" sz="1200" dirty="0"/>
              </a:p>
              <a:p>
                <a:r>
                  <a:rPr lang="fr-FR" sz="1200" dirty="0"/>
                  <a:t>Avec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fr-FR" sz="1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fr-FR" sz="1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=2</m:t>
                    </m:r>
                    <m:r>
                      <a:rPr lang="fr-FR" sz="1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𝜋</m:t>
                    </m:r>
                    <m:r>
                      <a:rPr lang="fr-FR" sz="1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𝑛𝐹</m:t>
                    </m:r>
                    <m:func>
                      <m:funcPr>
                        <m:ctrlPr>
                          <a:rPr lang="fr-FR" sz="1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fr-FR" sz="1200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fr-FR" sz="1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fr-FR" sz="1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fr-FR" sz="1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fr-FR" sz="1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fr-FR" sz="1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endParaRPr lang="fr-FR" sz="12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41C732B-CC1E-0649-36C3-A4BA70BB7F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9244" y="1241682"/>
                <a:ext cx="4121885" cy="5069208"/>
              </a:xfrm>
              <a:prstGeom prst="rect">
                <a:avLst/>
              </a:prstGeom>
              <a:blipFill>
                <a:blip r:embed="rId3"/>
                <a:stretch>
                  <a:fillRect t="-24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Group 12">
            <a:extLst>
              <a:ext uri="{FF2B5EF4-FFF2-40B4-BE49-F238E27FC236}">
                <a16:creationId xmlns:a16="http://schemas.microsoft.com/office/drawing/2014/main" id="{FA777B76-EF7C-8876-1D5D-D609496C95D8}"/>
              </a:ext>
            </a:extLst>
          </p:cNvPr>
          <p:cNvGrpSpPr/>
          <p:nvPr/>
        </p:nvGrpSpPr>
        <p:grpSpPr>
          <a:xfrm>
            <a:off x="3035508" y="2887635"/>
            <a:ext cx="1623736" cy="676275"/>
            <a:chOff x="3501390" y="2752725"/>
            <a:chExt cx="1157854" cy="676275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1A38606B-02D3-FB4F-4E84-A06CC752B21A}"/>
                </a:ext>
              </a:extLst>
            </p:cNvPr>
            <p:cNvGrpSpPr/>
            <p:nvPr/>
          </p:nvGrpSpPr>
          <p:grpSpPr>
            <a:xfrm>
              <a:off x="3501390" y="2752725"/>
              <a:ext cx="1157854" cy="676275"/>
              <a:chOff x="500933" y="4948825"/>
              <a:chExt cx="4020249" cy="888306"/>
            </a:xfrm>
          </p:grpSpPr>
          <p:pic>
            <p:nvPicPr>
              <p:cNvPr id="23" name="Picture 22">
                <a:extLst>
                  <a:ext uri="{FF2B5EF4-FFF2-40B4-BE49-F238E27FC236}">
                    <a16:creationId xmlns:a16="http://schemas.microsoft.com/office/drawing/2014/main" id="{E7E64599-1C52-9F19-E75C-1C83054A944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t="36995"/>
              <a:stretch>
                <a:fillRect/>
              </a:stretch>
            </p:blipFill>
            <p:spPr>
              <a:xfrm>
                <a:off x="500933" y="4948825"/>
                <a:ext cx="4020249" cy="888306"/>
              </a:xfrm>
              <a:prstGeom prst="rect">
                <a:avLst/>
              </a:prstGeom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98173CE4-32B0-FCB4-0133-B7F7F801D647}"/>
                      </a:ext>
                    </a:extLst>
                  </p:cNvPr>
                  <p:cNvSpPr txBox="1"/>
                  <p:nvPr/>
                </p:nvSpPr>
                <p:spPr>
                  <a:xfrm>
                    <a:off x="1468380" y="5558490"/>
                    <a:ext cx="502490" cy="18192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fr-FR" sz="9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9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sz="9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fr-FR" sz="900" dirty="0"/>
                  </a:p>
                </p:txBody>
              </p:sp>
            </mc:Choice>
            <mc:Fallback xmlns=""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51D8C1AD-927E-E0F4-A2AA-5E5DC0FF643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68380" y="5558490"/>
                    <a:ext cx="502490" cy="181922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8333" r="-8333" b="-22727"/>
                    </a:stretch>
                  </a:blipFill>
                </p:spPr>
                <p:txBody>
                  <a:bodyPr/>
                  <a:lstStyle/>
                  <a:p>
                    <a:r>
                      <a:rPr lang="fr-FR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A230515D-0CF5-C54C-6696-F26CC43280DD}"/>
                    </a:ext>
                  </a:extLst>
                </p:cNvPr>
                <p:cNvSpPr txBox="1"/>
                <p:nvPr/>
              </p:nvSpPr>
              <p:spPr>
                <a:xfrm>
                  <a:off x="3523934" y="3197818"/>
                  <a:ext cx="96180" cy="138499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sz="9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fr-FR" sz="900" dirty="0"/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3EAB0F11-4E7C-6E77-8DD0-F78DBBCD9DF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23934" y="3197818"/>
                  <a:ext cx="96180" cy="138499"/>
                </a:xfrm>
                <a:prstGeom prst="rect">
                  <a:avLst/>
                </a:prstGeom>
                <a:blipFill>
                  <a:blip r:embed="rId6"/>
                  <a:stretch>
                    <a:fillRect l="-25000" r="-31250" b="-13636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3241828B-5116-7216-6B5A-F400AF0BB812}"/>
                    </a:ext>
                  </a:extLst>
                </p:cNvPr>
                <p:cNvSpPr txBox="1"/>
                <p:nvPr/>
              </p:nvSpPr>
              <p:spPr>
                <a:xfrm>
                  <a:off x="4524327" y="3210476"/>
                  <a:ext cx="95346" cy="138499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sz="9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oMath>
                    </m:oMathPara>
                  </a14:m>
                  <a:endParaRPr lang="fr-FR" sz="900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6A5513AB-DEF1-F4D1-2384-81A3785715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24327" y="3210476"/>
                  <a:ext cx="95346" cy="138499"/>
                </a:xfrm>
                <a:prstGeom prst="rect">
                  <a:avLst/>
                </a:prstGeom>
                <a:blipFill>
                  <a:blip r:embed="rId7"/>
                  <a:stretch>
                    <a:fillRect l="-25000" r="-25000" b="-13636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D1FB3372-8A72-8A3C-4185-141A249DDF65}"/>
                    </a:ext>
                  </a:extLst>
                </p:cNvPr>
                <p:cNvSpPr txBox="1"/>
                <p:nvPr/>
              </p:nvSpPr>
              <p:spPr>
                <a:xfrm>
                  <a:off x="3842855" y="2942945"/>
                  <a:ext cx="125955" cy="138499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fr-FR" sz="9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9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fr-FR" sz="9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fr-FR" sz="900" dirty="0"/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83688DE8-747B-D46B-AFAF-E5F6690A9EE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42855" y="2942945"/>
                  <a:ext cx="125955" cy="138499"/>
                </a:xfrm>
                <a:prstGeom prst="rect">
                  <a:avLst/>
                </a:prstGeom>
                <a:blipFill>
                  <a:blip r:embed="rId8"/>
                  <a:stretch>
                    <a:fillRect l="-10714" r="-3571" b="-22727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751B331E-825D-7998-84BB-C2CEA27EFC73}"/>
              </a:ext>
            </a:extLst>
          </p:cNvPr>
          <p:cNvGrpSpPr/>
          <p:nvPr/>
        </p:nvGrpSpPr>
        <p:grpSpPr>
          <a:xfrm>
            <a:off x="0" y="-4624"/>
            <a:ext cx="9144000" cy="457200"/>
            <a:chOff x="0" y="-4624"/>
            <a:chExt cx="9144000" cy="457200"/>
          </a:xfrm>
          <a:solidFill>
            <a:srgbClr val="4A66AC"/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AA243EF-8D9A-619D-753B-253FFACAA142}"/>
                </a:ext>
              </a:extLst>
            </p:cNvPr>
            <p:cNvSpPr/>
            <p:nvPr/>
          </p:nvSpPr>
          <p:spPr>
            <a:xfrm>
              <a:off x="0" y="-4624"/>
              <a:ext cx="9144000" cy="457200"/>
            </a:xfrm>
            <a:prstGeom prst="rect">
              <a:avLst/>
            </a:prstGeom>
            <a:grpFill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2" name="Footer Placeholder 2">
              <a:extLst>
                <a:ext uri="{FF2B5EF4-FFF2-40B4-BE49-F238E27FC236}">
                  <a16:creationId xmlns:a16="http://schemas.microsoft.com/office/drawing/2014/main" id="{E96EF237-2867-B9B6-4D1E-4353B4EF70F7}"/>
                </a:ext>
              </a:extLst>
            </p:cNvPr>
            <p:cNvSpPr txBox="1">
              <a:spLocks/>
            </p:cNvSpPr>
            <p:nvPr/>
          </p:nvSpPr>
          <p:spPr>
            <a:xfrm>
              <a:off x="1447764" y="41413"/>
              <a:ext cx="6248472" cy="365125"/>
            </a:xfrm>
            <a:prstGeom prst="rect">
              <a:avLst/>
            </a:prstGeom>
            <a:grpFill/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457200" rtl="0" eaLnBrk="1" latinLnBrk="0" hangingPunct="1">
                <a:defRPr sz="900" kern="1200" cap="all" baseline="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sz="1600" b="1" dirty="0"/>
                <a:t>Annexes</a:t>
              </a:r>
            </a:p>
          </p:txBody>
        </p:sp>
      </p:grp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0A2407-C86B-F9A7-56CD-2554B091F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804519D-51B6-4C5E-B301-3F47D06C1A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TIPE 39662</a:t>
            </a:r>
          </a:p>
        </p:txBody>
      </p:sp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D5F648A9-2A1D-AE5D-13D1-19E2A88CF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425344" y="6459786"/>
            <a:ext cx="984019" cy="365125"/>
          </a:xfrm>
        </p:spPr>
        <p:txBody>
          <a:bodyPr/>
          <a:lstStyle/>
          <a:p>
            <a:fld id="{477F8A04-938D-4CBF-A3DC-6CB925B6FC34}" type="slidenum">
              <a:rPr lang="fr-FR" sz="1400" b="1" smtClean="0"/>
              <a:t>26</a:t>
            </a:fld>
            <a:endParaRPr lang="fr-FR" sz="1400" b="1" dirty="0"/>
          </a:p>
        </p:txBody>
      </p:sp>
    </p:spTree>
    <p:extLst>
      <p:ext uri="{BB962C8B-B14F-4D97-AF65-F5344CB8AC3E}">
        <p14:creationId xmlns:p14="http://schemas.microsoft.com/office/powerpoint/2010/main" val="181669049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61B5F2-B144-CF76-1F8C-26C914CAC4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406A6A33-5483-E45A-C886-DB9DB0F3FCED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670956-3195-813A-9090-176A89DD32F0}"/>
              </a:ext>
            </a:extLst>
          </p:cNvPr>
          <p:cNvSpPr txBox="1"/>
          <p:nvPr/>
        </p:nvSpPr>
        <p:spPr>
          <a:xfrm>
            <a:off x="345439" y="721360"/>
            <a:ext cx="8297628" cy="4001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2000" b="1" dirty="0">
                <a:latin typeface="Arial Black" panose="020B0A04020102020204" pitchFamily="34" charset="0"/>
              </a:rPr>
              <a:t>ANNEXE 4 :</a:t>
            </a:r>
            <a:r>
              <a:rPr lang="fr-FR" sz="2000" dirty="0">
                <a:latin typeface="Arial Black" panose="020B0A04020102020204" pitchFamily="34" charset="0"/>
              </a:rPr>
              <a:t> Théorie de la réjection du champ parasite.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0AB61CD-D09F-44E9-C03D-924382A1A1A6}"/>
              </a:ext>
            </a:extLst>
          </p:cNvPr>
          <p:cNvSpPr/>
          <p:nvPr/>
        </p:nvSpPr>
        <p:spPr>
          <a:xfrm>
            <a:off x="326443" y="423275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11FD93F-1529-1340-D7CF-3872310E1811}"/>
                  </a:ext>
                </a:extLst>
              </p:cNvPr>
              <p:cNvSpPr txBox="1"/>
              <p:nvPr/>
            </p:nvSpPr>
            <p:spPr>
              <a:xfrm>
                <a:off x="500933" y="1232452"/>
                <a:ext cx="4121884" cy="4375813"/>
              </a:xfrm>
              <a:prstGeom prst="rect">
                <a:avLst/>
              </a:prstGeom>
              <a:noFill/>
            </p:spPr>
            <p:txBody>
              <a:bodyPr wrap="square" numCol="3" rtlCol="0">
                <a:spAutoFit/>
              </a:bodyPr>
              <a:lstStyle/>
              <a:p>
                <a:r>
                  <a:rPr lang="fr-FR" sz="1200" b="1" u="sng" dirty="0"/>
                  <a:t>Définition :</a:t>
                </a:r>
                <a:endParaRPr lang="fr-FR" sz="1200" dirty="0"/>
              </a:p>
              <a:p>
                <a:r>
                  <a:rPr lang="fr-FR" sz="1200" dirty="0"/>
                  <a:t>On appellera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</m:oMath>
                </a14:m>
                <a:r>
                  <a:rPr lang="fr-FR" sz="1200" dirty="0"/>
                  <a:t> le signal utile 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fr-FR" sz="1200" dirty="0"/>
                  <a:t> le signal parasite. ON définit le </a:t>
                </a:r>
                <a:r>
                  <a:rPr lang="fr-FR" sz="1200" u="sng" dirty="0"/>
                  <a:t>Taux de Rejection de Mode Commun</a:t>
                </a:r>
                <a:r>
                  <a:rPr lang="fr-FR" sz="1200" dirty="0"/>
                  <a:t> : </a:t>
                </a:r>
                <a14:m>
                  <m:oMath xmlns:m="http://schemas.openxmlformats.org/officeDocument/2006/math"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20</m:t>
                    </m:r>
                    <m:func>
                      <m:funcPr>
                        <m:ctrlPr>
                          <a:rPr lang="fr-FR" sz="12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fr-FR" sz="1200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f>
                          <m:fPr>
                            <m:ctrlPr>
                              <a:rPr lang="fr-FR" sz="12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fr-FR" sz="1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200" b="0" i="1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fr-FR" sz="1200" b="0" i="1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sub>
                            </m:sSub>
                          </m:num>
                          <m:den>
                            <m:r>
                              <a:rPr lang="fr-FR" sz="1200" b="0" i="1" smtClean="0">
                                <a:latin typeface="Cambria Math" panose="02040503050406030204" pitchFamily="18" charset="0"/>
                              </a:rPr>
                              <m:t>𝑆𝑝</m:t>
                            </m:r>
                          </m:den>
                        </m:f>
                      </m:e>
                    </m:func>
                  </m:oMath>
                </a14:m>
                <a:endParaRPr lang="fr-FR" sz="1200" b="1" dirty="0"/>
              </a:p>
              <a:p>
                <a:endParaRPr lang="fr-FR" sz="1200" b="1" u="sng" dirty="0"/>
              </a:p>
              <a:p>
                <a:r>
                  <a:rPr lang="fr-FR" sz="1200" b="1" u="sng" dirty="0"/>
                  <a:t>Modèle du champ parasite :</a:t>
                </a:r>
                <a:endParaRPr lang="fr-FR" sz="1200" dirty="0"/>
              </a:p>
              <a:p>
                <a:r>
                  <a:rPr lang="fr-FR" sz="1200" dirty="0"/>
                  <a:t>On étudie un champ parasite d’amplitude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fr-FR" sz="1200" dirty="0"/>
                  <a:t>, de pulsation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fr-FR" sz="1200" dirty="0"/>
                  <a:t> et de gradient </a:t>
                </a:r>
                <a14:m>
                  <m:oMath xmlns:m="http://schemas.openxmlformats.org/officeDocument/2006/math">
                    <m:r>
                      <a:rPr lang="fr-FR" sz="1200" b="0" i="1" dirty="0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fr-FR" sz="1200" dirty="0"/>
                  <a:t> régie par l’équation:</a:t>
                </a:r>
              </a:p>
              <a:p>
                <a:pPr algn="ctr"/>
                <a:endParaRPr lang="fr-FR" sz="1200" b="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𝐵</m:t>
                      </m:r>
                      <m:d>
                        <m:d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′, 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(1+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′)</m:t>
                      </m:r>
                      <m:func>
                        <m:func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fr-FR" sz="1200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fr-FR" sz="1200" dirty="0"/>
              </a:p>
              <a:p>
                <a:pPr algn="ctr"/>
                <a:endParaRPr lang="fr-FR" sz="1200" dirty="0"/>
              </a:p>
              <a:p>
                <a:r>
                  <a:rPr lang="fr-FR" sz="1200" dirty="0"/>
                  <a:t>Ainsi on a le flux à travers une surface </a:t>
                </a:r>
                <a14:m>
                  <m:oMath xmlns:m="http://schemas.openxmlformats.org/officeDocument/2006/math"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fr-FR" sz="1200" dirty="0"/>
                  <a:t> est: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fr-FR" sz="1200" b="0" i="0" smtClean="0">
                          <a:latin typeface="Cambria Math" panose="02040503050406030204" pitchFamily="18" charset="0"/>
                        </a:rPr>
                        <m:t>Φ</m:t>
                      </m:r>
                      <m:r>
                        <a:rPr lang="fr-FR" sz="1200" b="0" i="0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fr-FR" sz="1200" b="0" i="0" smtClean="0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p>
                          <m:r>
                            <a:rPr lang="fr-FR" sz="1200" b="0" i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fr-FR" sz="1200" b="0" i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sty m:val="p"/>
                        </m:rPr>
                        <a:rPr lang="fr-FR" sz="1200" b="0" i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fr-FR" sz="1200" b="0" i="0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fr-FR" sz="12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∯"/>
                          <m:limLoc m:val="undOvr"/>
                          <m:subHide m:val="on"/>
                          <m:supHide m:val="on"/>
                          <m:ctrlPr>
                            <a:rPr lang="fr-FR" sz="12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acc>
                            <m:accPr>
                              <m:chr m:val="⃗"/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acc>
                            <m:accPr>
                              <m:chr m:val="⃗"/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𝑑𝑆</m:t>
                              </m:r>
                            </m:e>
                          </m:acc>
                        </m:e>
                      </m:nary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(1+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𝛼</m:t>
                      </m:r>
                      <m:sSup>
                        <m:sSup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)</m:t>
                      </m:r>
                      <m:func>
                        <m:func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fr-FR" sz="1200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fr-FR" sz="1200" dirty="0"/>
              </a:p>
              <a:p>
                <a:endParaRPr lang="fr-FR" sz="1200" dirty="0"/>
              </a:p>
              <a:p>
                <a:r>
                  <a:rPr lang="fr-FR" sz="1200" dirty="0"/>
                  <a:t>La FEM induite </a:t>
                </a:r>
                <a14:m>
                  <m:oMath xmlns:m="http://schemas.openxmlformats.org/officeDocument/2006/math">
                    <m:r>
                      <a:rPr lang="fr-FR" sz="1200" i="1">
                        <a:latin typeface="Cambria Math" panose="02040503050406030204" pitchFamily="18" charset="0"/>
                      </a:rPr>
                      <m:t>ⅇ</m:t>
                    </m:r>
                    <m:d>
                      <m:dPr>
                        <m:ctrlPr>
                          <a:rPr lang="fr-FR" sz="12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fr-FR" sz="1200" dirty="0"/>
                  <a:t> dans une bobine composée de </a:t>
                </a:r>
                <a14:m>
                  <m:oMath xmlns:m="http://schemas.openxmlformats.org/officeDocument/2006/math">
                    <m:r>
                      <a:rPr lang="fr-FR" sz="1200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fr-FR" sz="1200" dirty="0"/>
                  <a:t> spire est régie par la </a:t>
                </a:r>
                <a:r>
                  <a:rPr lang="fr-FR" sz="1200" u="sng" dirty="0"/>
                  <a:t>Loi d’induction de Faraday</a:t>
                </a:r>
                <a:r>
                  <a:rPr lang="fr-FR" sz="1200" dirty="0"/>
                  <a:t> 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i="1">
                          <a:latin typeface="Cambria Math" panose="02040503050406030204" pitchFamily="18" charset="0"/>
                        </a:rPr>
                        <m:t>ⅇ</m:t>
                      </m:r>
                      <m:d>
                        <m:dPr>
                          <m:ctrlPr>
                            <a:rPr lang="fr-FR" sz="12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200" i="1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fr-FR" sz="1200" i="1">
                          <a:latin typeface="Cambria Math" panose="02040503050406030204" pitchFamily="18" charset="0"/>
                        </a:rPr>
                        <m:t>𝑁</m:t>
                      </m:r>
                      <m:f>
                        <m:fPr>
                          <m:ctrlPr>
                            <a:rPr lang="fr-FR" sz="1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m:rPr>
                              <m:sty m:val="p"/>
                            </m:rPr>
                            <a:rPr lang="fr-FR" sz="1200" b="0" i="0" smtClean="0">
                              <a:latin typeface="Cambria Math" panose="02040503050406030204" pitchFamily="18" charset="0"/>
                            </a:rPr>
                            <m:t>Φ</m:t>
                          </m:r>
                        </m:num>
                        <m:den>
                          <m:r>
                            <a:rPr lang="fr-FR" sz="12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</m:oMath>
                  </m:oMathPara>
                </a14:m>
                <a:endParaRPr lang="fr-FR" sz="1200" dirty="0"/>
              </a:p>
              <a:p>
                <a:endParaRPr lang="fr-FR" sz="1200" dirty="0"/>
              </a:p>
              <a:p>
                <a:r>
                  <a:rPr lang="fr-FR" sz="1200" b="1" u="sng" dirty="0"/>
                  <a:t>Pour un micro SingleCoil :</a:t>
                </a:r>
              </a:p>
              <a:p>
                <a:r>
                  <a:rPr lang="fr-FR" sz="1200" dirty="0"/>
                  <a:t>On place le micro à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fr-FR" sz="1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fr-FR" sz="1200" dirty="0"/>
                  <a:t>, ainsi :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  <m:d>
                        <m:dPr>
                          <m:ctrlP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fr-FR" sz="1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fr-FR" sz="1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  <m:r>
                        <a:rPr lang="fr-FR" sz="1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sSub>
                        <m:sSubPr>
                          <m:ctrlP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func>
                        <m:funcPr>
                          <m:ctrlP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fr-FR" sz="14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fr-FR" sz="1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fr-FR" sz="1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fr-FR" sz="1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11FD93F-1529-1340-D7CF-3872310E18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933" y="1232452"/>
                <a:ext cx="4121884" cy="4375813"/>
              </a:xfrm>
              <a:prstGeom prst="rect">
                <a:avLst/>
              </a:prstGeom>
              <a:blipFill>
                <a:blip r:embed="rId3"/>
                <a:stretch>
                  <a:fillRect t="-139" b="-27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8BC1E68-2458-0314-1F31-1E6A6BB341F6}"/>
                  </a:ext>
                </a:extLst>
              </p:cNvPr>
              <p:cNvSpPr txBox="1"/>
              <p:nvPr/>
            </p:nvSpPr>
            <p:spPr>
              <a:xfrm>
                <a:off x="4659244" y="1241682"/>
                <a:ext cx="4121885" cy="439376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fr-FR" sz="1200" b="1" u="sng" dirty="0"/>
                  <a:t>Pour un micro Humbucker série :</a:t>
                </a:r>
              </a:p>
              <a:p>
                <a:r>
                  <a:rPr lang="fr-FR" sz="1200" dirty="0"/>
                  <a:t>On génère une FEM par bobinage: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𝐻𝑠</m:t>
                          </m:r>
                        </m:sub>
                      </m:sSub>
                      <m:d>
                        <m:d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2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2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fr-FR" sz="1200" dirty="0"/>
              </a:p>
              <a:p>
                <a:endParaRPr lang="fr-FR" sz="1200" dirty="0"/>
              </a:p>
              <a:p>
                <a:r>
                  <a:rPr lang="fr-FR" sz="1200" dirty="0"/>
                  <a:t>Le micro est composé de deux bobine espacées de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FR" sz="1200" b="0" i="0" smtClean="0"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lang="fr-FR" sz="1200" dirty="0"/>
                  <a:t> à </a:t>
                </a:r>
                <a14:m>
                  <m:oMath xmlns:m="http://schemas.openxmlformats.org/officeDocument/2006/math"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fr-FR" sz="12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200" dirty="0"/>
                  <a:t>spire câblée en opposition de phase :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𝐻𝑠</m:t>
                          </m:r>
                        </m:sub>
                      </m:sSub>
                      <m:d>
                        <m:d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200" i="1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fr-FR" sz="1200" i="1" smtClean="0">
                          <a:latin typeface="Cambria Math" panose="02040503050406030204" pitchFamily="18" charset="0"/>
                        </a:rPr>
                        <m:t>𝑁</m:t>
                      </m:r>
                      <m:f>
                        <m:f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m:rPr>
                              <m:sty m:val="p"/>
                            </m:rPr>
                            <a:rPr lang="fr-FR" sz="1200">
                              <a:latin typeface="Cambria Math" panose="02040503050406030204" pitchFamily="18" charset="0"/>
                            </a:rPr>
                            <m:t>Φ</m:t>
                          </m:r>
                        </m:num>
                        <m:den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fr-FR" sz="1200" b="0" i="0" smtClean="0">
                              <a:latin typeface="Cambria Math" panose="02040503050406030204" pitchFamily="18" charset="0"/>
                            </a:rPr>
                            <m:t>Δ</m:t>
                          </m:r>
                        </m:num>
                        <m:den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)+(−</m:t>
                      </m:r>
                      <m:d>
                        <m:d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f>
                            <m:fPr>
                              <m:ctrlPr>
                                <a:rPr lang="fr-FR" sz="1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m:rPr>
                                  <m:sty m:val="p"/>
                                </m:rPr>
                                <a:rPr lang="fr-FR" sz="1200" b="0" i="0" smtClean="0">
                                  <a:latin typeface="Cambria Math" panose="02040503050406030204" pitchFamily="18" charset="0"/>
                                </a:rPr>
                                <m:t>Φ</m:t>
                              </m:r>
                            </m:num>
                            <m:den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den>
                          </m:f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 −</m:t>
                          </m:r>
                          <m:f>
                            <m:f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fr-FR" sz="1200" b="0" i="0" smtClean="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</m:num>
                            <m:den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FR" sz="1200" dirty="0"/>
              </a:p>
              <a:p>
                <a:r>
                  <a:rPr lang="fr-FR" sz="1200" dirty="0"/>
                  <a:t>D’où :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𝐻𝑠</m:t>
                          </m:r>
                        </m:sub>
                      </m:sSub>
                      <m:d>
                        <m:dPr>
                          <m:ctrlP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fr-FR" sz="1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fr-FR" sz="1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m:rPr>
                              <m:sty m:val="p"/>
                            </m:rPr>
                            <a:rPr lang="fr-FR" sz="14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𝐻𝑠</m:t>
                          </m:r>
                        </m:sub>
                      </m:sSub>
                      <m:r>
                        <a:rPr lang="fr-FR" sz="1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sSub>
                        <m:sSubPr>
                          <m:ctrlP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func>
                        <m:funcPr>
                          <m:ctrlP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fr-FR" sz="14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fr-FR" sz="1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fr-FR" sz="1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fr-FR" sz="1200" dirty="0"/>
              </a:p>
              <a:p>
                <a:r>
                  <a:rPr lang="fr-FR" sz="1200" dirty="0"/>
                  <a:t>Ainsi : </a:t>
                </a:r>
                <a14:m>
                  <m:oMath xmlns:m="http://schemas.openxmlformats.org/officeDocument/2006/math"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𝐶𝑀𝑅</m:t>
                    </m:r>
                    <m:sSub>
                      <m:sSubPr>
                        <m:ctrlPr>
                          <a:rPr lang="fr-FR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𝐻𝑠</m:t>
                        </m:r>
                      </m:sub>
                    </m:sSub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=20</m:t>
                    </m:r>
                    <m:func>
                      <m:funcPr>
                        <m:ctrlPr>
                          <a:rPr lang="fr-FR" sz="12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fr-FR" sz="1200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fr-FR" sz="1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fr-FR" sz="1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fr-F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200" b="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fr-FR" sz="1200" b="0" i="1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sub>
                                </m:sSub>
                                <m:r>
                                  <a:rPr lang="fr-FR" sz="12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fr-F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200" b="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fr-FR" sz="1200" b="0" i="1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fr-F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200" b="0" i="1" smtClean="0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fr-FR" sz="1200" b="0" i="1" smtClean="0">
                                        <a:latin typeface="Cambria Math" panose="02040503050406030204" pitchFamily="18" charset="0"/>
                                      </a:rPr>
                                      <m:t>𝐻𝑠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e>
                    </m:func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fr-FR" sz="1200" dirty="0"/>
                  <a:t> </a:t>
                </a:r>
                <a14:m>
                  <m:oMath xmlns:m="http://schemas.openxmlformats.org/officeDocument/2006/math">
                    <m:r>
                      <a:rPr lang="fr-FR" sz="120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20</m:t>
                    </m:r>
                    <m:func>
                      <m:funcPr>
                        <m:ctrlPr>
                          <a:rPr lang="fr-FR" sz="1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fr-FR" sz="120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fr-FR" sz="12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fr-FR" sz="12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fr-FR" sz="12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2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fr-FR" sz="12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fr-FR" sz="12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fr-FR" sz="12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2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fr-FR" sz="12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e>
                    </m:func>
                  </m:oMath>
                </a14:m>
                <a:endParaRPr lang="fr-FR" sz="1200" b="0" dirty="0">
                  <a:solidFill>
                    <a:srgbClr val="C00000"/>
                  </a:solidFill>
                </a:endParaRPr>
              </a:p>
              <a:p>
                <a:endParaRPr lang="fr-FR" sz="1200" dirty="0"/>
              </a:p>
              <a:p>
                <a:r>
                  <a:rPr lang="fr-FR" sz="1200" b="1" u="sng" dirty="0"/>
                  <a:t>Pour un micro Humbucker parallèle :</a:t>
                </a:r>
              </a:p>
              <a:p>
                <a:r>
                  <a:rPr lang="fr-FR" sz="1200" dirty="0"/>
                  <a:t>On génère une FEM par bobinage: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𝐻𝑝</m:t>
                          </m:r>
                        </m:sub>
                      </m:sSub>
                      <m:d>
                        <m:d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2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1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fr-FR" sz="1200" dirty="0"/>
              </a:p>
              <a:p>
                <a:endParaRPr lang="fr-FR" sz="1200" dirty="0"/>
              </a:p>
              <a:p>
                <a:r>
                  <a:rPr lang="fr-FR" sz="1200" dirty="0"/>
                  <a:t>De même, sous les mêmes notations, on a alors 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  <m:r>
                            <a:rPr lang="fr-FR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d>
                        <m:dPr>
                          <m:ctrlP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f>
                            <m:fPr>
                              <m:ctrlPr>
                                <a:rPr lang="fr-FR" sz="140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sz="1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fr-FR" sz="1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sSub>
                            <m:sSubPr>
                              <m:ctrlPr>
                                <a:rPr lang="fr-FR" sz="1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fr-FR" sz="1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m:rPr>
                              <m:sty m:val="p"/>
                            </m:rPr>
                            <a:rPr lang="fr-FR" sz="14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  <m:r>
                            <a:rPr lang="fr-FR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fr-FR" sz="1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sSub>
                        <m:sSubPr>
                          <m:ctrlP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func>
                        <m:funcPr>
                          <m:ctrlP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fr-FR" sz="14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fr-FR" sz="1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fr-FR" sz="1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fr-FR" sz="1200" dirty="0"/>
              </a:p>
              <a:p>
                <a:r>
                  <a:rPr lang="fr-FR" sz="1200" dirty="0"/>
                  <a:t>Ainsi : </a:t>
                </a:r>
                <a14:m>
                  <m:oMath xmlns:m="http://schemas.openxmlformats.org/officeDocument/2006/math">
                    <m:r>
                      <a:rPr lang="fr-FR" sz="1200" i="1">
                        <a:latin typeface="Cambria Math" panose="02040503050406030204" pitchFamily="18" charset="0"/>
                      </a:rPr>
                      <m:t>𝐶𝑀𝑅</m:t>
                    </m:r>
                    <m:sSub>
                      <m:sSubPr>
                        <m:ctrlPr>
                          <a:rPr lang="fr-FR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fr-FR" sz="1200" i="1">
                        <a:latin typeface="Cambria Math" panose="02040503050406030204" pitchFamily="18" charset="0"/>
                      </a:rPr>
                      <m:t>=20</m:t>
                    </m:r>
                    <m:func>
                      <m:funcPr>
                        <m:ctrlPr>
                          <a:rPr lang="fr-FR" sz="12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fr-FR" sz="120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fr-FR" sz="1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fr-FR" sz="12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fr-FR" sz="1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200" i="1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fr-FR" sz="1200" i="1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sub>
                                </m:sSub>
                                <m:r>
                                  <a:rPr lang="fr-FR" sz="12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fr-FR" sz="1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200" i="1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fr-FR" sz="1200" i="1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fr-FR" sz="1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2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fr-FR" sz="1200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fr-FR" sz="1200" i="1"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  <m:r>
                                      <a:rPr lang="fr-FR" sz="12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e>
                    </m:func>
                    <m:r>
                      <a:rPr lang="fr-FR" sz="12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fr-FR" sz="1200" dirty="0"/>
                  <a:t> </a:t>
                </a:r>
                <a14:m>
                  <m:oMath xmlns:m="http://schemas.openxmlformats.org/officeDocument/2006/math">
                    <m:r>
                      <a:rPr lang="fr-FR" sz="12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20</m:t>
                    </m:r>
                    <m:func>
                      <m:funcPr>
                        <m:ctrlPr>
                          <a:rPr lang="fr-FR" sz="1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fr-FR" sz="120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fr-FR" sz="12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fr-FR" sz="12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fr-FR" sz="12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2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fr-FR" sz="12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fr-FR" sz="12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fr-FR" sz="12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2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fr-FR" sz="12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e>
                    </m:func>
                  </m:oMath>
                </a14:m>
                <a:endParaRPr lang="fr-FR" sz="12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8BC1E68-2458-0314-1F31-1E6A6BB341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9244" y="1241682"/>
                <a:ext cx="4121885" cy="4393767"/>
              </a:xfrm>
              <a:prstGeom prst="rect">
                <a:avLst/>
              </a:prstGeom>
              <a:blipFill>
                <a:blip r:embed="rId4"/>
                <a:stretch>
                  <a:fillRect t="-27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4C135CFF-9836-7C54-0BFE-C55DA8EA6DF2}"/>
              </a:ext>
            </a:extLst>
          </p:cNvPr>
          <p:cNvGrpSpPr/>
          <p:nvPr/>
        </p:nvGrpSpPr>
        <p:grpSpPr>
          <a:xfrm>
            <a:off x="0" y="-4624"/>
            <a:ext cx="9144000" cy="457200"/>
            <a:chOff x="0" y="-4624"/>
            <a:chExt cx="9144000" cy="457200"/>
          </a:xfrm>
          <a:solidFill>
            <a:srgbClr val="4A66AC"/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B27E62F-509A-33EE-39F7-CF12A8D18683}"/>
                </a:ext>
              </a:extLst>
            </p:cNvPr>
            <p:cNvSpPr/>
            <p:nvPr/>
          </p:nvSpPr>
          <p:spPr>
            <a:xfrm>
              <a:off x="0" y="-4624"/>
              <a:ext cx="9144000" cy="457200"/>
            </a:xfrm>
            <a:prstGeom prst="rect">
              <a:avLst/>
            </a:prstGeom>
            <a:grpFill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2" name="Footer Placeholder 2">
              <a:extLst>
                <a:ext uri="{FF2B5EF4-FFF2-40B4-BE49-F238E27FC236}">
                  <a16:creationId xmlns:a16="http://schemas.microsoft.com/office/drawing/2014/main" id="{9F154D45-8B11-2E2C-A9CF-70E8DE66B2BD}"/>
                </a:ext>
              </a:extLst>
            </p:cNvPr>
            <p:cNvSpPr txBox="1">
              <a:spLocks/>
            </p:cNvSpPr>
            <p:nvPr/>
          </p:nvSpPr>
          <p:spPr>
            <a:xfrm>
              <a:off x="1447764" y="41413"/>
              <a:ext cx="6248472" cy="365125"/>
            </a:xfrm>
            <a:prstGeom prst="rect">
              <a:avLst/>
            </a:prstGeom>
            <a:grpFill/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457200" rtl="0" eaLnBrk="1" latinLnBrk="0" hangingPunct="1">
                <a:defRPr sz="900" kern="1200" cap="all" baseline="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sz="1600" b="1" dirty="0"/>
                <a:t>Annexes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E597473-163C-2448-B7A8-744EB33FD861}"/>
                  </a:ext>
                </a:extLst>
              </p:cNvPr>
              <p:cNvSpPr txBox="1"/>
              <p:nvPr/>
            </p:nvSpPr>
            <p:spPr>
              <a:xfrm>
                <a:off x="563660" y="5664788"/>
                <a:ext cx="8191168" cy="523220"/>
              </a:xfrm>
              <a:prstGeom prst="rect">
                <a:avLst/>
              </a:prstGeom>
              <a:ln w="28575">
                <a:solidFill>
                  <a:srgbClr val="4A66AC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fr-FR" sz="1400" dirty="0"/>
                  <a:t>On a une annulation totale du bruit si et seulement si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FR" sz="1400" i="0" smtClean="0"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lang="fr-FR" sz="1400" dirty="0"/>
                  <a:t> est petit. En pratique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FR" sz="1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r>
                      <a:rPr lang="fr-FR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=0.018 </m:t>
                    </m:r>
                  </m:oMath>
                </a14:m>
                <a:r>
                  <a:rPr lang="fr-FR" sz="1400" dirty="0"/>
                  <a:t>mètre.</a:t>
                </a: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fr-FR" sz="1400" dirty="0"/>
                  <a:t>Si les deux Humbucker sont identiques, peu importe le montage, le CMRR est identique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E597473-163C-2448-B7A8-744EB33FD8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660" y="5664788"/>
                <a:ext cx="8191168" cy="523220"/>
              </a:xfrm>
              <a:prstGeom prst="rect">
                <a:avLst/>
              </a:prstGeom>
              <a:blipFill>
                <a:blip r:embed="rId5"/>
                <a:stretch>
                  <a:fillRect b="-7692"/>
                </a:stretch>
              </a:blipFill>
              <a:ln w="28575">
                <a:solidFill>
                  <a:srgbClr val="4A66AC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692343-56BA-21CF-A5F9-300910282E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16B05F-F041-5835-3954-BD9D11DDD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TIPE 39662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FFD79266-96A3-D472-2024-2DA68574F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425344" y="6459786"/>
            <a:ext cx="984019" cy="365125"/>
          </a:xfrm>
        </p:spPr>
        <p:txBody>
          <a:bodyPr/>
          <a:lstStyle/>
          <a:p>
            <a:fld id="{477F8A04-938D-4CBF-A3DC-6CB925B6FC34}" type="slidenum">
              <a:rPr lang="fr-FR" sz="1400" b="1" smtClean="0"/>
              <a:t>27</a:t>
            </a:fld>
            <a:endParaRPr lang="fr-FR" sz="1400" b="1" dirty="0"/>
          </a:p>
        </p:txBody>
      </p:sp>
    </p:spTree>
    <p:extLst>
      <p:ext uri="{BB962C8B-B14F-4D97-AF65-F5344CB8AC3E}">
        <p14:creationId xmlns:p14="http://schemas.microsoft.com/office/powerpoint/2010/main" val="95952069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17108C-A3BE-9F30-5F6D-AE6C160ED2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E06A84A3-244C-E4E5-16D2-E0D81E52023C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09AD8E1-E315-A065-149E-7D95BAB5C668}"/>
              </a:ext>
            </a:extLst>
          </p:cNvPr>
          <p:cNvSpPr/>
          <p:nvPr/>
        </p:nvSpPr>
        <p:spPr>
          <a:xfrm>
            <a:off x="326443" y="423275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98F16D-9EEC-BD13-9BA6-4441C8EDBF7E}"/>
              </a:ext>
            </a:extLst>
          </p:cNvPr>
          <p:cNvSpPr txBox="1"/>
          <p:nvPr/>
        </p:nvSpPr>
        <p:spPr>
          <a:xfrm>
            <a:off x="345439" y="721360"/>
            <a:ext cx="8491113" cy="4001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2000" b="1" dirty="0">
                <a:latin typeface="Arial Black" panose="020B0A04020102020204" pitchFamily="34" charset="0"/>
              </a:rPr>
              <a:t>ANNEXE 5 :</a:t>
            </a:r>
            <a:r>
              <a:rPr lang="fr-FR" sz="2000" dirty="0">
                <a:latin typeface="Arial Black" panose="020B0A04020102020204" pitchFamily="34" charset="0"/>
              </a:rPr>
              <a:t> Méthodes de traitement numérique et filtrage. 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FEFF123-A369-3024-2D63-5BC511850FC0}"/>
              </a:ext>
            </a:extLst>
          </p:cNvPr>
          <p:cNvSpPr txBox="1"/>
          <p:nvPr/>
        </p:nvSpPr>
        <p:spPr>
          <a:xfrm>
            <a:off x="345440" y="1121470"/>
            <a:ext cx="8950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u="sng" dirty="0"/>
              <a:t>Comment passer de données bruitées non exploitables à des données exploitables?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160F269-E440-1BF8-F93A-BDF8772DA1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440" y="1564631"/>
            <a:ext cx="5486411" cy="4572009"/>
          </a:xfrm>
          <a:prstGeom prst="rect">
            <a:avLst/>
          </a:prstGeom>
          <a:ln>
            <a:solidFill>
              <a:schemeClr val="tx1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BB76C7F-A157-584F-297C-3D944A36C729}"/>
                  </a:ext>
                </a:extLst>
              </p:cNvPr>
              <p:cNvSpPr txBox="1"/>
              <p:nvPr/>
            </p:nvSpPr>
            <p:spPr>
              <a:xfrm>
                <a:off x="5951220" y="1564631"/>
                <a:ext cx="2885334" cy="39804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1400" b="1" u="sng" dirty="0">
                    <a:sym typeface="Wingdings" panose="05000000000000000000" pitchFamily="2" charset="2"/>
                  </a:rPr>
                  <a:t>Filtrage par Moyenne Mobile </a:t>
                </a:r>
                <a:r>
                  <a:rPr lang="fr-FR" sz="1400" dirty="0">
                    <a:sym typeface="Wingdings" panose="05000000000000000000" pitchFamily="2" charset="2"/>
                  </a:rPr>
                  <a:t>Chaque point est la moyenne des 50 précédents et 50 suivants</a:t>
                </a:r>
              </a:p>
              <a:p>
                <a:endParaRPr lang="fr-FR" sz="1400" dirty="0">
                  <a:sym typeface="Wingdings" panose="05000000000000000000" pitchFamily="2" charset="2"/>
                </a:endParaRPr>
              </a:p>
              <a:p>
                <a:endParaRPr lang="fr-FR" sz="1400" dirty="0">
                  <a:sym typeface="Wingdings" panose="05000000000000000000" pitchFamily="2" charset="2"/>
                </a:endParaRPr>
              </a:p>
              <a:p>
                <a:r>
                  <a:rPr lang="fr-FR" sz="1400" dirty="0">
                    <a:sym typeface="Wingdings" panose="05000000000000000000" pitchFamily="2" charset="2"/>
                  </a:rPr>
                  <a:t>❌ Risque de ‘’raboter’’ les pics</a:t>
                </a:r>
              </a:p>
              <a:p>
                <a:r>
                  <a:rPr lang="fr-FR" sz="1400" dirty="0">
                    <a:sym typeface="Wingdings" panose="05000000000000000000" pitchFamily="2" charset="2"/>
                  </a:rPr>
                  <a:t>✅ Aucun déphasage</a:t>
                </a:r>
              </a:p>
              <a:p>
                <a:endParaRPr lang="fr-FR" sz="1400" dirty="0">
                  <a:sym typeface="Wingdings" panose="05000000000000000000" pitchFamily="2" charset="2"/>
                </a:endParaRPr>
              </a:p>
              <a:p>
                <a:endParaRPr lang="fr-FR" sz="1400" dirty="0">
                  <a:sym typeface="Wingdings" panose="05000000000000000000" pitchFamily="2" charset="2"/>
                </a:endParaRPr>
              </a:p>
              <a:p>
                <a:r>
                  <a:rPr lang="fr-FR" sz="1400" b="1" u="sng" dirty="0">
                    <a:sym typeface="Wingdings" panose="05000000000000000000" pitchFamily="2" charset="2"/>
                  </a:rPr>
                  <a:t>Filtrage numérique passe-bas</a:t>
                </a:r>
              </a:p>
              <a:p>
                <a:r>
                  <a:rPr lang="fr-FR" sz="1400" b="0" dirty="0">
                    <a:sym typeface="Wingdings" panose="05000000000000000000" pitchFamily="2" charset="2"/>
                  </a:rPr>
                  <a:t>Méthode d’Euler avec 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fr-FR" sz="14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H</m:t>
                      </m:r>
                      <m:r>
                        <a:rPr lang="fr-FR" sz="14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(</m:t>
                      </m:r>
                      <m:r>
                        <m:rPr>
                          <m:sty m:val="p"/>
                        </m:rPr>
                        <a:rPr lang="fr-FR" sz="14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p</m:t>
                      </m:r>
                      <m:r>
                        <a:rPr lang="fr-FR" sz="14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) = </m:t>
                      </m:r>
                      <m:f>
                        <m:fPr>
                          <m:ctrlPr>
                            <a:rPr lang="fr-FR" sz="14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fPr>
                        <m:num>
                          <m:r>
                            <a:rPr lang="fr-FR" sz="14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1</m:t>
                          </m:r>
                        </m:num>
                        <m:den>
                          <m:r>
                            <a:rPr lang="fr-FR" sz="14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1 + </m:t>
                          </m:r>
                          <m:r>
                            <m:rPr>
                              <m:sty m:val="p"/>
                            </m:rPr>
                            <a:rPr lang="fr-FR" sz="14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τp</m:t>
                          </m:r>
                        </m:den>
                      </m:f>
                    </m:oMath>
                  </m:oMathPara>
                </a14:m>
                <a:endParaRPr lang="fr-FR" sz="1400" dirty="0">
                  <a:sym typeface="Wingdings" panose="05000000000000000000" pitchFamily="2" charset="2"/>
                </a:endParaRPr>
              </a:p>
              <a:p>
                <a:endParaRPr lang="fr-FR" sz="1400" dirty="0">
                  <a:sym typeface="Wingdings" panose="05000000000000000000" pitchFamily="2" charset="2"/>
                </a:endParaRPr>
              </a:p>
              <a:p>
                <a:r>
                  <a:rPr lang="fr-FR" sz="1400" dirty="0">
                    <a:sym typeface="Wingdings" panose="05000000000000000000" pitchFamily="2" charset="2"/>
                  </a:rPr>
                  <a:t>✅ Preserve l’allure globale</a:t>
                </a:r>
              </a:p>
              <a:p>
                <a:r>
                  <a:rPr lang="fr-FR" sz="1400" dirty="0">
                    <a:sym typeface="Wingdings" panose="05000000000000000000" pitchFamily="2" charset="2"/>
                  </a:rPr>
                  <a:t>❌ Introduit un déphasage</a:t>
                </a:r>
              </a:p>
              <a:p>
                <a:endParaRPr lang="fr-FR" sz="1400" dirty="0">
                  <a:sym typeface="Wingdings" panose="05000000000000000000" pitchFamily="2" charset="2"/>
                </a:endParaRPr>
              </a:p>
              <a:p>
                <a:endParaRPr lang="fr-FR" sz="1400" dirty="0"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BB76C7F-A157-584F-297C-3D944A36C7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1220" y="1564631"/>
                <a:ext cx="2885334" cy="3980449"/>
              </a:xfrm>
              <a:prstGeom prst="rect">
                <a:avLst/>
              </a:prstGeom>
              <a:blipFill>
                <a:blip r:embed="rId3"/>
                <a:stretch>
                  <a:fillRect l="-633" t="-30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4EA012CD-4A4F-5077-ED00-68E3057666A1}"/>
              </a:ext>
            </a:extLst>
          </p:cNvPr>
          <p:cNvGrpSpPr/>
          <p:nvPr/>
        </p:nvGrpSpPr>
        <p:grpSpPr>
          <a:xfrm>
            <a:off x="0" y="-4624"/>
            <a:ext cx="9144000" cy="457200"/>
            <a:chOff x="0" y="-4624"/>
            <a:chExt cx="9144000" cy="457200"/>
          </a:xfrm>
          <a:solidFill>
            <a:srgbClr val="4A66AC"/>
          </a:solidFill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79DF584-9CF7-B861-2268-C9DD0FDE3754}"/>
                </a:ext>
              </a:extLst>
            </p:cNvPr>
            <p:cNvSpPr/>
            <p:nvPr/>
          </p:nvSpPr>
          <p:spPr>
            <a:xfrm>
              <a:off x="0" y="-4624"/>
              <a:ext cx="9144000" cy="457200"/>
            </a:xfrm>
            <a:prstGeom prst="rect">
              <a:avLst/>
            </a:prstGeom>
            <a:grpFill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0" name="Footer Placeholder 2">
              <a:extLst>
                <a:ext uri="{FF2B5EF4-FFF2-40B4-BE49-F238E27FC236}">
                  <a16:creationId xmlns:a16="http://schemas.microsoft.com/office/drawing/2014/main" id="{9E59D5D1-9929-41AC-1C69-EDEF90D47D43}"/>
                </a:ext>
              </a:extLst>
            </p:cNvPr>
            <p:cNvSpPr txBox="1">
              <a:spLocks/>
            </p:cNvSpPr>
            <p:nvPr/>
          </p:nvSpPr>
          <p:spPr>
            <a:xfrm>
              <a:off x="1447764" y="41413"/>
              <a:ext cx="6248472" cy="365125"/>
            </a:xfrm>
            <a:prstGeom prst="rect">
              <a:avLst/>
            </a:prstGeom>
            <a:grpFill/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457200" rtl="0" eaLnBrk="1" latinLnBrk="0" hangingPunct="1">
                <a:defRPr sz="900" kern="1200" cap="all" baseline="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sz="1600" b="1" dirty="0"/>
                <a:t>Annexes</a:t>
              </a:r>
            </a:p>
          </p:txBody>
        </p: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D1896C-AC65-64BB-7C08-6B7C16677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9B6FA9-743F-8037-A7E0-47BBD167F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TIPE 39662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53CF02AC-9500-9D89-7F29-F3D529C99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425344" y="6459786"/>
            <a:ext cx="984019" cy="365125"/>
          </a:xfrm>
        </p:spPr>
        <p:txBody>
          <a:bodyPr/>
          <a:lstStyle/>
          <a:p>
            <a:fld id="{477F8A04-938D-4CBF-A3DC-6CB925B6FC34}" type="slidenum">
              <a:rPr lang="fr-FR" sz="1400" b="1" smtClean="0"/>
              <a:t>28</a:t>
            </a:fld>
            <a:endParaRPr lang="fr-FR" sz="1400" b="1" dirty="0"/>
          </a:p>
        </p:txBody>
      </p:sp>
    </p:spTree>
    <p:extLst>
      <p:ext uri="{BB962C8B-B14F-4D97-AF65-F5344CB8AC3E}">
        <p14:creationId xmlns:p14="http://schemas.microsoft.com/office/powerpoint/2010/main" val="280029440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D22C5B-8D73-CCE6-C1F4-7842FE0B84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17D9F10B-2163-F771-FC03-D7518738EB09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79F3FB8-1FB5-8F1E-C164-C844ECA3D082}"/>
              </a:ext>
            </a:extLst>
          </p:cNvPr>
          <p:cNvSpPr/>
          <p:nvPr/>
        </p:nvSpPr>
        <p:spPr>
          <a:xfrm>
            <a:off x="326443" y="423275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9B39E1-B87E-8759-1895-1DEFEB3BB07E}"/>
              </a:ext>
            </a:extLst>
          </p:cNvPr>
          <p:cNvSpPr txBox="1"/>
          <p:nvPr/>
        </p:nvSpPr>
        <p:spPr>
          <a:xfrm>
            <a:off x="345439" y="721360"/>
            <a:ext cx="8491113" cy="4001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2000" b="1" dirty="0">
                <a:latin typeface="Arial Black" panose="020B0A04020102020204" pitchFamily="34" charset="0"/>
              </a:rPr>
              <a:t>ANNEXE 6 :</a:t>
            </a:r>
            <a:r>
              <a:rPr lang="fr-FR" sz="2000" dirty="0">
                <a:latin typeface="Arial Black" panose="020B0A04020102020204" pitchFamily="34" charset="0"/>
              </a:rPr>
              <a:t> Algorithme de Levenberg-Marquardt.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BC72904-EEDC-1E60-1DCE-9D51B9D703C6}"/>
                  </a:ext>
                </a:extLst>
              </p:cNvPr>
              <p:cNvSpPr txBox="1"/>
              <p:nvPr/>
            </p:nvSpPr>
            <p:spPr>
              <a:xfrm>
                <a:off x="4584727" y="1127661"/>
                <a:ext cx="4264554" cy="51367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fr-FR" sz="1600" u="sng" dirty="0"/>
                  <a:t>Comment déterminer les valeurs des caractéristiques électriques des micros ?</a:t>
                </a:r>
              </a:p>
              <a:p>
                <a:pPr lvl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fr-FR" altLang="fr-FR" sz="1400" b="1" u="sng" dirty="0"/>
              </a:p>
              <a:p>
                <a:pPr lvl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fr-FR" altLang="fr-FR" sz="1400" b="1" u="sng" dirty="0"/>
                  <a:t>Principe :</a:t>
                </a:r>
              </a:p>
              <a:p>
                <a:pPr lvl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fr-FR" altLang="fr-FR" sz="1400" dirty="0"/>
                  <a:t>Variante de l’algorithme des moindres carrés</a:t>
                </a:r>
              </a:p>
              <a:p>
                <a:pPr lvl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fr-FR" altLang="fr-FR" sz="1400" b="1" u="sng" dirty="0"/>
              </a:p>
              <a:p>
                <a:pPr lvl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fr-FR" altLang="fr-FR" sz="1400" b="1" u="sng" dirty="0"/>
                  <a:t>Combine 2 méthodes :</a:t>
                </a:r>
                <a:endParaRPr lang="fr-FR" altLang="fr-FR" sz="1400" dirty="0"/>
              </a:p>
              <a:p>
                <a:pPr marL="285750" lvl="0" indent="-28575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lang="fr-FR" altLang="fr-FR" sz="1400" b="1" dirty="0"/>
                  <a:t>Descente de gradient</a:t>
                </a:r>
                <a:r>
                  <a:rPr lang="fr-FR" altLang="fr-FR" sz="1400" dirty="0"/>
                  <a:t> : Utilisée loin du minimum </a:t>
                </a:r>
                <a:r>
                  <a:rPr lang="fr-FR" altLang="fr-FR" sz="1400" dirty="0">
                    <a:sym typeface="Wingdings" panose="05000000000000000000" pitchFamily="2" charset="2"/>
                  </a:rPr>
                  <a:t> Stabilité</a:t>
                </a:r>
                <a:endParaRPr lang="fr-FR" altLang="fr-FR" sz="1400" dirty="0"/>
              </a:p>
              <a:p>
                <a:pPr marL="285750" lvl="0" indent="-28575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lang="fr-FR" altLang="fr-FR" sz="1400" b="1" dirty="0"/>
                  <a:t>Méthode de Gauss-Newton</a:t>
                </a:r>
                <a:r>
                  <a:rPr lang="fr-FR" altLang="fr-FR" sz="1400" dirty="0"/>
                  <a:t> : Utilisée proche du minimum </a:t>
                </a:r>
                <a:r>
                  <a:rPr lang="fr-FR" altLang="fr-FR" sz="1400" dirty="0">
                    <a:sym typeface="Wingdings" panose="05000000000000000000" pitchFamily="2" charset="2"/>
                  </a:rPr>
                  <a:t> rapidité</a:t>
                </a:r>
                <a:endParaRPr lang="fr-FR" altLang="fr-FR" sz="1400" dirty="0"/>
              </a:p>
              <a:p>
                <a:pPr lvl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fr-FR" altLang="fr-FR" sz="1400" dirty="0"/>
              </a:p>
              <a:p>
                <a:pPr lvl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fr-FR" altLang="fr-FR" sz="1400" b="1" u="sng" dirty="0"/>
                  <a:t>Fonctionnement :</a:t>
                </a:r>
              </a:p>
              <a:p>
                <a:pPr lvl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fr-FR" altLang="fr-FR" sz="1400" dirty="0"/>
                  <a:t>L'incrément des paramètres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FR" altLang="fr-FR" sz="1400" b="0" i="1" smtClean="0"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lang="fr-FR" altLang="fr-FR" sz="1400" dirty="0"/>
                  <a:t> est calculé par :</a:t>
                </a:r>
              </a:p>
              <a:p>
                <a:pPr lvl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fr-FR" altLang="fr-FR" sz="1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fr-FR" altLang="fr-FR" sz="14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fr-FR" altLang="fr-FR" sz="1400" b="0" i="1" dirty="0" smtClean="0">
                                  <a:latin typeface="Cambria Math" panose="02040503050406030204" pitchFamily="18" charset="0"/>
                                </a:rPr>
                                <m:t>J</m:t>
                              </m:r>
                              <m:r>
                                <a:rPr lang="fr-FR" altLang="fr-FR" sz="1400" b="0" i="1" dirty="0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m:rPr>
                                  <m:sty m:val="p"/>
                                </m:rPr>
                                <a:rPr lang="fr-FR" altLang="fr-FR" sz="1400" b="0" i="1" dirty="0" smtClean="0">
                                  <a:latin typeface="Cambria Math" panose="02040503050406030204" pitchFamily="18" charset="0"/>
                                </a:rPr>
                                <m:t>J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fr-FR" altLang="fr-FR" sz="1400" b="0" i="1" dirty="0" smtClean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  <m:r>
                            <a:rPr lang="fr-FR" altLang="fr-FR" sz="1400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fr-FR" altLang="fr-FR" sz="1400" b="0" i="1" dirty="0" smtClean="0">
                              <a:latin typeface="Cambria Math" panose="02040503050406030204" pitchFamily="18" charset="0"/>
                            </a:rPr>
                            <m:t>α</m:t>
                          </m:r>
                          <m:r>
                            <a:rPr lang="fr-FR" altLang="fr-FR" sz="1400" b="0" i="1" dirty="0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</m:d>
                      <m:r>
                        <a:rPr lang="fr-FR" altLang="fr-FR" sz="1400" b="0" i="1" dirty="0" smtClean="0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fr-FR" altLang="fr-FR" sz="1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fr-FR" altLang="fr-FR" sz="14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fr-FR" altLang="fr-FR" sz="1400" b="0" i="1" dirty="0" smtClean="0">
                              <a:latin typeface="Cambria Math" panose="02040503050406030204" pitchFamily="18" charset="0"/>
                            </a:rPr>
                            <m:t>J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fr-FR" altLang="fr-FR" sz="1400" b="0" i="1" dirty="0" smtClean="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  <m:r>
                        <a:rPr lang="fr-FR" altLang="fr-FR" sz="1400" b="0" i="1" dirty="0" smtClean="0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fr-FR" altLang="fr-FR" sz="1400" b="0" dirty="0"/>
              </a:p>
              <a:p>
                <a:pPr lvl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FR" altLang="fr-FR" sz="1400" b="1" i="1" smtClean="0">
                        <a:latin typeface="Cambria Math" panose="02040503050406030204" pitchFamily="18" charset="0"/>
                      </a:rPr>
                      <m:t>J</m:t>
                    </m:r>
                  </m:oMath>
                </a14:m>
                <a:r>
                  <a:rPr lang="fr-FR" altLang="fr-FR" sz="1400" dirty="0"/>
                  <a:t> : Matrice Jacobienne </a:t>
                </a:r>
              </a:p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FR" altLang="fr-FR" sz="1400" b="0" i="1" smtClean="0"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lang="fr-FR" altLang="fr-FR" sz="1400" dirty="0"/>
                  <a:t> : Vecteur résidus : image de l’erreur</a:t>
                </a:r>
              </a:p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FR" altLang="fr-FR" sz="1400" b="0" i="1" smtClean="0"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lang="fr-FR" altLang="fr-FR" sz="1400" dirty="0"/>
                  <a:t> : Taux d’apprentissage variable</a:t>
                </a:r>
              </a:p>
              <a:p>
                <a:pPr lvl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fr-FR" altLang="fr-FR" sz="1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FR" sz="1400" dirty="0">
                    <a:sym typeface="Wingdings" panose="05000000000000000000" pitchFamily="2" charset="2"/>
                  </a:rPr>
                  <a:t>Si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FR" sz="14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ϵ</m:t>
                    </m:r>
                    <m:r>
                      <a:rPr lang="fr-FR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↘</m:t>
                    </m:r>
                  </m:oMath>
                </a14:m>
                <a:r>
                  <a:rPr lang="fr-FR" sz="1400" dirty="0">
                    <a:sym typeface="Wingdings" panose="05000000000000000000" pitchFamily="2" charset="2"/>
                  </a:rPr>
                  <a:t> : Gauss Newton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FR" sz="1400" dirty="0">
                    <a:sym typeface="Wingdings" panose="05000000000000000000" pitchFamily="2" charset="2"/>
                  </a:rPr>
                  <a:t>Si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FR" sz="14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ϵ</m:t>
                    </m:r>
                    <m:r>
                      <a:rPr lang="fr-FR" sz="1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↗</m:t>
                    </m:r>
                  </m:oMath>
                </a14:m>
                <a:r>
                  <a:rPr lang="fr-FR" sz="1400" dirty="0">
                    <a:sym typeface="Wingdings" panose="05000000000000000000" pitchFamily="2" charset="2"/>
                  </a:rPr>
                  <a:t> : Descente de Gradient </a:t>
                </a:r>
              </a:p>
              <a:p>
                <a:endParaRPr lang="fr-FR" sz="1400" dirty="0">
                  <a:sym typeface="Wingdings" panose="05000000000000000000" pitchFamily="2" charset="2"/>
                </a:endParaRPr>
              </a:p>
              <a:p>
                <a:endParaRPr lang="fr-FR" sz="1400" dirty="0"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BC72904-EEDC-1E60-1DCE-9D51B9D703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4727" y="1127661"/>
                <a:ext cx="4264554" cy="5136791"/>
              </a:xfrm>
              <a:prstGeom prst="rect">
                <a:avLst/>
              </a:prstGeom>
              <a:blipFill>
                <a:blip r:embed="rId2"/>
                <a:stretch>
                  <a:fillRect l="-714" t="-35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0" name="Group 19">
            <a:extLst>
              <a:ext uri="{FF2B5EF4-FFF2-40B4-BE49-F238E27FC236}">
                <a16:creationId xmlns:a16="http://schemas.microsoft.com/office/drawing/2014/main" id="{3A0C246C-3384-6CE8-D081-A3B270E39908}"/>
              </a:ext>
            </a:extLst>
          </p:cNvPr>
          <p:cNvGrpSpPr/>
          <p:nvPr/>
        </p:nvGrpSpPr>
        <p:grpSpPr>
          <a:xfrm>
            <a:off x="345440" y="1121469"/>
            <a:ext cx="4144114" cy="5136791"/>
            <a:chOff x="345440" y="1587720"/>
            <a:chExt cx="3617103" cy="4428906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C4C7B3D5-E778-E53F-4C95-9EB24A7DBC1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5440" y="1587720"/>
              <a:ext cx="3617103" cy="4428906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19CF46D6-4EF4-F232-FD91-E6FB90382318}"/>
                    </a:ext>
                  </a:extLst>
                </p:cNvPr>
                <p:cNvSpPr txBox="1"/>
                <p:nvPr/>
              </p:nvSpPr>
              <p:spPr>
                <a:xfrm>
                  <a:off x="1643131" y="2224466"/>
                  <a:ext cx="1021719" cy="194540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sz="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fr-FR" sz="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fr-FR" sz="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sz="400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fr-FR" sz="4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fr-FR" sz="4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  <m:r>
                              <a:rPr lang="fr-FR" sz="4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fr-FR" sz="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fr-FR" sz="400" b="0" i="1" smtClean="0">
                                    <a:latin typeface="Cambria Math" panose="02040503050406030204" pitchFamily="18" charset="0"/>
                                  </a:rPr>
                                  <m:t>R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fr-FR" sz="400" b="0" i="1" smtClean="0">
                                    <a:latin typeface="Cambria Math" panose="02040503050406030204" pitchFamily="18" charset="0"/>
                                  </a:rPr>
                                  <m:t>p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fr-FR" sz="400" b="0" dirty="0"/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sz="4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fr-FR" sz="400" b="0" i="1" smtClean="0">
                            <a:latin typeface="Cambria Math" panose="02040503050406030204" pitchFamily="18" charset="0"/>
                          </a:rPr>
                          <m:t>= 0.01</m:t>
                        </m:r>
                      </m:oMath>
                    </m:oMathPara>
                  </a14:m>
                  <a:endParaRPr lang="fr-FR" sz="400" b="0" dirty="0"/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fr-FR" sz="400" b="0" i="1" smtClean="0">
                            <a:latin typeface="Cambria Math" panose="02040503050406030204" pitchFamily="18" charset="0"/>
                          </a:rPr>
                          <m:t>ϵ</m:t>
                        </m:r>
                        <m:r>
                          <a:rPr lang="fr-FR" sz="400" b="0" i="1" smtClean="0">
                            <a:latin typeface="Cambria Math" panose="02040503050406030204" pitchFamily="18" charset="0"/>
                          </a:rPr>
                          <m:t>= </m:t>
                        </m:r>
                        <m:sSup>
                          <m:sSupPr>
                            <m:ctrlPr>
                              <a:rPr lang="fr-FR" sz="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sz="400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fr-FR" sz="400" b="0" i="1" smtClean="0">
                                <a:latin typeface="Cambria Math" panose="02040503050406030204" pitchFamily="18" charset="0"/>
                              </a:rPr>
                              <m:t>−7</m:t>
                            </m:r>
                          </m:sup>
                        </m:sSup>
                      </m:oMath>
                    </m:oMathPara>
                  </a14:m>
                  <a:endParaRPr lang="fr-FR" sz="400" dirty="0"/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19CF46D6-4EF4-F232-FD91-E6FB9038231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43131" y="2224466"/>
                  <a:ext cx="1021719" cy="194540"/>
                </a:xfrm>
                <a:prstGeom prst="rect">
                  <a:avLst/>
                </a:prstGeom>
                <a:blipFill>
                  <a:blip r:embed="rId4"/>
                  <a:stretch>
                    <a:fillRect b="-3125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F14E73D5-40E1-FA40-17C0-BCA99FA1C91C}"/>
                    </a:ext>
                  </a:extLst>
                </p:cNvPr>
                <p:cNvSpPr txBox="1"/>
                <p:nvPr/>
              </p:nvSpPr>
              <p:spPr>
                <a:xfrm>
                  <a:off x="1655444" y="3282458"/>
                  <a:ext cx="1021719" cy="166018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/>
                  <a:r>
                    <a:rPr lang="fr-FR" sz="400" dirty="0"/>
                    <a:t>Calcul de la descente 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fr-FR" sz="400" b="0" i="1" smtClean="0">
                          <a:latin typeface="Cambria Math" panose="02040503050406030204" pitchFamily="18" charset="0"/>
                        </a:rPr>
                        <m:t>δ</m:t>
                      </m:r>
                    </m:oMath>
                  </a14:m>
                  <a:r>
                    <a:rPr lang="fr-FR" sz="400" dirty="0"/>
                    <a:t> avec :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fr-FR" altLang="fr-FR" sz="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fr-FR" altLang="fr-FR" sz="400" i="1" dirty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fr-FR" altLang="fr-FR" sz="400" i="1" dirty="0">
                                    <a:latin typeface="Cambria Math" panose="02040503050406030204" pitchFamily="18" charset="0"/>
                                  </a:rPr>
                                  <m:t>J</m:t>
                                </m:r>
                                <m:r>
                                  <a:rPr lang="fr-FR" altLang="fr-FR" sz="400" i="1" dirty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m:rPr>
                                    <m:sty m:val="p"/>
                                  </m:rPr>
                                  <a:rPr lang="fr-FR" altLang="fr-FR" sz="400" i="1" dirty="0">
                                    <a:latin typeface="Cambria Math" panose="02040503050406030204" pitchFamily="18" charset="0"/>
                                  </a:rPr>
                                  <m:t>J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fr-FR" altLang="fr-FR" sz="400" i="1" dirty="0"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sup>
                            </m:sSup>
                            <m:r>
                              <a:rPr lang="fr-FR" altLang="fr-FR" sz="400" i="1" dirty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fr-FR" altLang="fr-FR" sz="400" i="1" dirty="0">
                                <a:latin typeface="Cambria Math" panose="02040503050406030204" pitchFamily="18" charset="0"/>
                              </a:rPr>
                              <m:t>α</m:t>
                            </m:r>
                            <m:r>
                              <a:rPr lang="fr-FR" altLang="fr-FR" sz="400" i="1" dirty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</m:d>
                        <m:r>
                          <a:rPr lang="fr-FR" altLang="fr-FR" sz="400" i="1" dirty="0"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fr-FR" altLang="fr-FR" sz="400" i="1" dirty="0"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fr-FR" altLang="fr-FR" sz="4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fr-FR" altLang="fr-FR" sz="400" i="1" dirty="0">
                                <a:latin typeface="Cambria Math" panose="02040503050406030204" pitchFamily="18" charset="0"/>
                              </a:rPr>
                              <m:t>J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fr-FR" altLang="fr-FR" sz="400" i="1" dirty="0">
                                <a:latin typeface="Cambria Math" panose="02040503050406030204" pitchFamily="18" charset="0"/>
                              </a:rPr>
                              <m:t>T</m:t>
                            </m:r>
                          </m:sup>
                        </m:sSup>
                        <m:r>
                          <a:rPr lang="fr-FR" altLang="fr-FR" sz="400" i="1" dirty="0">
                            <a:latin typeface="Cambria Math" panose="02040503050406030204" pitchFamily="18" charset="0"/>
                          </a:rPr>
                          <m:t>𝑟</m:t>
                        </m:r>
                      </m:oMath>
                    </m:oMathPara>
                  </a14:m>
                  <a:endParaRPr lang="fr-FR" altLang="fr-FR" sz="400" dirty="0"/>
                </a:p>
                <a:p>
                  <a:pPr algn="ctr"/>
                  <a:endParaRPr lang="fr-FR" sz="400" dirty="0"/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F14E73D5-40E1-FA40-17C0-BCA99FA1C91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5444" y="3282458"/>
                  <a:ext cx="1021719" cy="166018"/>
                </a:xfrm>
                <a:prstGeom prst="rect">
                  <a:avLst/>
                </a:prstGeom>
                <a:blipFill>
                  <a:blip r:embed="rId5"/>
                  <a:stretch>
                    <a:fillRect t="-9375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41B9F17A-A7C1-8129-26C5-CCE20D05D2F8}"/>
                    </a:ext>
                  </a:extLst>
                </p:cNvPr>
                <p:cNvSpPr txBox="1"/>
                <p:nvPr/>
              </p:nvSpPr>
              <p:spPr>
                <a:xfrm>
                  <a:off x="1655445" y="3793974"/>
                  <a:ext cx="1021719" cy="123111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fr-FR" sz="4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fr-FR" sz="400" b="0" i="1" dirty="0" smtClean="0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fr-FR" sz="400" b="0" i="1" dirty="0" smtClean="0">
                                <a:latin typeface="Cambria Math" panose="02040503050406030204" pitchFamily="18" charset="0"/>
                              </a:rPr>
                              <m:t>new</m:t>
                            </m:r>
                          </m:sub>
                        </m:sSub>
                        <m:r>
                          <a:rPr lang="fr-FR" sz="400" b="0" i="1" dirty="0" smtClean="0">
                            <a:latin typeface="Cambria Math" panose="02040503050406030204" pitchFamily="18" charset="0"/>
                          </a:rPr>
                          <m:t>= </m:t>
                        </m:r>
                        <m:r>
                          <a:rPr lang="fr-FR" sz="400" b="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fr-FR" sz="400" b="0" i="1" dirty="0" smtClean="0">
                            <a:latin typeface="Cambria Math" panose="02040503050406030204" pitchFamily="18" charset="0"/>
                          </a:rPr>
                          <m:t> + </m:t>
                        </m:r>
                        <m:r>
                          <a:rPr lang="fr-FR" sz="400" b="0" i="1" dirty="0" smtClean="0">
                            <a:latin typeface="Cambria Math" panose="02040503050406030204" pitchFamily="18" charset="0"/>
                          </a:rPr>
                          <m:t>𝛼</m:t>
                        </m:r>
                      </m:oMath>
                    </m:oMathPara>
                  </a14:m>
                  <a:endParaRPr lang="fr-FR" sz="400" b="0" i="1" dirty="0">
                    <a:latin typeface="Cambria Math" panose="02040503050406030204" pitchFamily="18" charset="0"/>
                  </a:endParaRPr>
                </a:p>
                <a:p>
                  <a:pPr algn="ctr"/>
                  <a:r>
                    <a:rPr lang="fr-FR" sz="400" dirty="0"/>
                    <a:t>Calcul du nouveau coût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fr-FR" sz="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fr-FR" sz="400" b="0" i="1" dirty="0" smtClean="0"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fr-FR" sz="400" b="0" i="1" dirty="0" smtClean="0">
                              <a:latin typeface="Cambria Math" panose="02040503050406030204" pitchFamily="18" charset="0"/>
                            </a:rPr>
                            <m:t>new</m:t>
                          </m:r>
                        </m:sub>
                      </m:sSub>
                    </m:oMath>
                  </a14:m>
                  <a:endParaRPr lang="fr-FR" sz="400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41B9F17A-A7C1-8129-26C5-CCE20D05D2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5445" y="3793974"/>
                  <a:ext cx="1021719" cy="123111"/>
                </a:xfrm>
                <a:prstGeom prst="rect">
                  <a:avLst/>
                </a:prstGeom>
                <a:blipFill>
                  <a:blip r:embed="rId6"/>
                  <a:stretch>
                    <a:fillRect b="-23810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01EB7C6A-82BF-6C18-30B1-C4455754628B}"/>
                    </a:ext>
                  </a:extLst>
                </p:cNvPr>
                <p:cNvSpPr txBox="1"/>
                <p:nvPr/>
              </p:nvSpPr>
              <p:spPr>
                <a:xfrm>
                  <a:off x="1770064" y="4267912"/>
                  <a:ext cx="792480" cy="61555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fr-FR" sz="4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fr-FR" sz="400" b="0" i="1" dirty="0" smtClean="0"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fr-FR" sz="400" b="0" i="1" dirty="0" smtClean="0">
                                <a:latin typeface="Cambria Math" panose="02040503050406030204" pitchFamily="18" charset="0"/>
                              </a:rPr>
                              <m:t>new</m:t>
                            </m:r>
                          </m:sub>
                        </m:sSub>
                        <m:r>
                          <a:rPr lang="fr-FR" sz="400" b="0" i="1" dirty="0" smtClean="0">
                            <a:latin typeface="Cambria Math" panose="02040503050406030204" pitchFamily="18" charset="0"/>
                          </a:rPr>
                          <m:t>&lt; </m:t>
                        </m:r>
                        <m:r>
                          <m:rPr>
                            <m:sty m:val="p"/>
                          </m:rPr>
                          <a:rPr lang="fr-FR" sz="400" b="0" i="1" dirty="0" smtClean="0">
                            <a:latin typeface="Cambria Math" panose="02040503050406030204" pitchFamily="18" charset="0"/>
                          </a:rPr>
                          <m:t>S</m:t>
                        </m:r>
                      </m:oMath>
                    </m:oMathPara>
                  </a14:m>
                  <a:endParaRPr lang="fr-FR" sz="400" b="0" i="1" dirty="0"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01EB7C6A-82BF-6C18-30B1-C4455754628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70064" y="4267912"/>
                  <a:ext cx="792480" cy="61555"/>
                </a:xfrm>
                <a:prstGeom prst="rect">
                  <a:avLst/>
                </a:prstGeom>
                <a:blipFill>
                  <a:blip r:embed="rId7"/>
                  <a:stretch>
                    <a:fillRect b="-30000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66B82192-B64C-FB73-EDE5-4E4226E3663C}"/>
                    </a:ext>
                  </a:extLst>
                </p:cNvPr>
                <p:cNvSpPr txBox="1"/>
                <p:nvPr/>
              </p:nvSpPr>
              <p:spPr>
                <a:xfrm>
                  <a:off x="822961" y="4818364"/>
                  <a:ext cx="792480" cy="123111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sz="40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fr-FR" sz="400" b="0" i="1" dirty="0" smtClean="0">
                            <a:latin typeface="Cambria Math" panose="02040503050406030204" pitchFamily="18" charset="0"/>
                          </a:rPr>
                          <m:t> = </m:t>
                        </m:r>
                        <m:sSub>
                          <m:sSubPr>
                            <m:ctrlPr>
                              <a:rPr lang="fr-FR" sz="4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fr-FR" sz="400" b="0" i="1" dirty="0" smtClean="0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fr-FR" sz="400" b="0" i="1" dirty="0" smtClean="0">
                                <a:latin typeface="Cambria Math" panose="02040503050406030204" pitchFamily="18" charset="0"/>
                              </a:rPr>
                              <m:t>new</m:t>
                            </m:r>
                          </m:sub>
                        </m:sSub>
                      </m:oMath>
                    </m:oMathPara>
                  </a14:m>
                  <a:endParaRPr lang="fr-FR" sz="400" i="1" dirty="0">
                    <a:latin typeface="Cambria Math" panose="02040503050406030204" pitchFamily="18" charset="0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fr-FR" sz="400" b="0" i="1" smtClean="0"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a:rPr lang="fr-FR" sz="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fr-FR" sz="400" b="0" i="1" smtClean="0"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a:rPr lang="fr-FR" sz="400" b="0" i="1" smtClean="0">
                            <a:latin typeface="Cambria Math" panose="02040503050406030204" pitchFamily="18" charset="0"/>
                          </a:rPr>
                          <m:t>/ </m:t>
                        </m:r>
                        <m:r>
                          <m:rPr>
                            <m:sty m:val="p"/>
                          </m:rPr>
                          <a:rPr lang="fr-FR" sz="400" b="0" i="1" smtClean="0">
                            <a:latin typeface="Cambria Math" panose="02040503050406030204" pitchFamily="18" charset="0"/>
                          </a:rPr>
                          <m:t>v</m:t>
                        </m:r>
                      </m:oMath>
                    </m:oMathPara>
                  </a14:m>
                  <a:endParaRPr lang="fr-FR" sz="400" b="0" i="1" dirty="0"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66B82192-B64C-FB73-EDE5-4E4226E366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2961" y="4818364"/>
                  <a:ext cx="792480" cy="123111"/>
                </a:xfrm>
                <a:prstGeom prst="rect">
                  <a:avLst/>
                </a:prstGeom>
                <a:blipFill>
                  <a:blip r:embed="rId8"/>
                  <a:stretch>
                    <a:fillRect b="-19048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A35FB794-C1DA-068F-4A78-56EE092FA55F}"/>
                    </a:ext>
                  </a:extLst>
                </p:cNvPr>
                <p:cNvSpPr txBox="1"/>
                <p:nvPr/>
              </p:nvSpPr>
              <p:spPr>
                <a:xfrm>
                  <a:off x="2716531" y="4852144"/>
                  <a:ext cx="792480" cy="61555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fr-FR" sz="400" b="0" i="1" smtClean="0"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a:rPr lang="fr-FR" sz="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fr-FR" sz="400" b="0" i="1" smtClean="0"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a:rPr lang="fr-FR" sz="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fr-FR" sz="400" b="0" i="1" smtClean="0">
                            <a:latin typeface="Cambria Math" panose="02040503050406030204" pitchFamily="18" charset="0"/>
                          </a:rPr>
                          <m:t>v</m:t>
                        </m:r>
                      </m:oMath>
                    </m:oMathPara>
                  </a14:m>
                  <a:endParaRPr lang="fr-FR" sz="400" b="0" i="1" dirty="0"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A35FB794-C1DA-068F-4A78-56EE092FA5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16531" y="4852144"/>
                  <a:ext cx="792480" cy="61555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5D85D38D-5906-CE92-16D5-20B4131E9EAF}"/>
                    </a:ext>
                  </a:extLst>
                </p:cNvPr>
                <p:cNvSpPr txBox="1"/>
                <p:nvPr/>
              </p:nvSpPr>
              <p:spPr>
                <a:xfrm>
                  <a:off x="822961" y="5301827"/>
                  <a:ext cx="792480" cy="61555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fr-FR" sz="400" i="1" dirty="0" smtClean="0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fr-FR" sz="400" b="0" i="1" dirty="0" smtClean="0">
                            <a:latin typeface="Cambria Math" panose="02040503050406030204" pitchFamily="18" charset="0"/>
                          </a:rPr>
                          <m:t>&lt; </m:t>
                        </m:r>
                        <m:r>
                          <m:rPr>
                            <m:sty m:val="p"/>
                          </m:rPr>
                          <a:rPr lang="fr-FR" sz="400" b="0" i="1" dirty="0" smtClean="0">
                            <a:latin typeface="Cambria Math" panose="02040503050406030204" pitchFamily="18" charset="0"/>
                          </a:rPr>
                          <m:t>ϵ</m:t>
                        </m:r>
                      </m:oMath>
                    </m:oMathPara>
                  </a14:m>
                  <a:endParaRPr lang="fr-FR" sz="400" b="0" i="1" dirty="0"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5D85D38D-5906-CE92-16D5-20B4131E9EA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2961" y="5301827"/>
                  <a:ext cx="792480" cy="61555"/>
                </a:xfrm>
                <a:prstGeom prst="rect">
                  <a:avLst/>
                </a:prstGeom>
                <a:blipFill>
                  <a:blip r:embed="rId10"/>
                  <a:stretch>
                    <a:fillRect b="-20000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A1E15DCC-C532-6C84-21FE-198EF6A38693}"/>
              </a:ext>
            </a:extLst>
          </p:cNvPr>
          <p:cNvGrpSpPr/>
          <p:nvPr/>
        </p:nvGrpSpPr>
        <p:grpSpPr>
          <a:xfrm>
            <a:off x="0" y="-4624"/>
            <a:ext cx="9144000" cy="457200"/>
            <a:chOff x="0" y="-4624"/>
            <a:chExt cx="9144000" cy="457200"/>
          </a:xfrm>
          <a:solidFill>
            <a:srgbClr val="4A66AC"/>
          </a:solidFill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D293FA2D-845E-3E47-013D-1745D6C5C342}"/>
                </a:ext>
              </a:extLst>
            </p:cNvPr>
            <p:cNvSpPr/>
            <p:nvPr/>
          </p:nvSpPr>
          <p:spPr>
            <a:xfrm>
              <a:off x="0" y="-4624"/>
              <a:ext cx="9144000" cy="457200"/>
            </a:xfrm>
            <a:prstGeom prst="rect">
              <a:avLst/>
            </a:prstGeom>
            <a:grpFill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3" name="Footer Placeholder 2">
              <a:extLst>
                <a:ext uri="{FF2B5EF4-FFF2-40B4-BE49-F238E27FC236}">
                  <a16:creationId xmlns:a16="http://schemas.microsoft.com/office/drawing/2014/main" id="{F8F13FDA-57A2-A33C-17C0-BF32E05AA341}"/>
                </a:ext>
              </a:extLst>
            </p:cNvPr>
            <p:cNvSpPr txBox="1">
              <a:spLocks/>
            </p:cNvSpPr>
            <p:nvPr/>
          </p:nvSpPr>
          <p:spPr>
            <a:xfrm>
              <a:off x="1447764" y="41413"/>
              <a:ext cx="6248472" cy="365125"/>
            </a:xfrm>
            <a:prstGeom prst="rect">
              <a:avLst/>
            </a:prstGeom>
            <a:grpFill/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457200" rtl="0" eaLnBrk="1" latinLnBrk="0" hangingPunct="1">
                <a:defRPr sz="900" kern="1200" cap="all" baseline="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sz="1600" b="1" dirty="0"/>
                <a:t>Annexes</a:t>
              </a:r>
            </a:p>
          </p:txBody>
        </p: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AEDD2F4-E77C-25A5-7094-7F3E5421A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A39E5A-CB2D-FAE2-094C-0422750E2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TIPE 39662</a:t>
            </a:r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AA470294-45FF-68BE-A857-497FECCCF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425344" y="6459786"/>
            <a:ext cx="984019" cy="365125"/>
          </a:xfrm>
        </p:spPr>
        <p:txBody>
          <a:bodyPr/>
          <a:lstStyle/>
          <a:p>
            <a:fld id="{477F8A04-938D-4CBF-A3DC-6CB925B6FC34}" type="slidenum">
              <a:rPr lang="fr-FR" sz="1400" b="1" smtClean="0"/>
              <a:t>29</a:t>
            </a:fld>
            <a:endParaRPr lang="fr-FR" sz="1400" b="1" dirty="0"/>
          </a:p>
        </p:txBody>
      </p:sp>
    </p:spTree>
    <p:extLst>
      <p:ext uri="{BB962C8B-B14F-4D97-AF65-F5344CB8AC3E}">
        <p14:creationId xmlns:p14="http://schemas.microsoft.com/office/powerpoint/2010/main" val="91325337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23032B-5CBA-D58B-6BE3-2ED288DB35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DD7F8ED1-3EF2-8A6F-4CB4-0CF972E8B4D2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C3105C7-994D-34E1-D1CE-ED0E36ED91C8}"/>
              </a:ext>
            </a:extLst>
          </p:cNvPr>
          <p:cNvSpPr/>
          <p:nvPr/>
        </p:nvSpPr>
        <p:spPr>
          <a:xfrm>
            <a:off x="326443" y="423275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09C9AA1-328D-AAD8-510E-EFF1E2B2A387}"/>
              </a:ext>
            </a:extLst>
          </p:cNvPr>
          <p:cNvSpPr txBox="1"/>
          <p:nvPr/>
        </p:nvSpPr>
        <p:spPr>
          <a:xfrm>
            <a:off x="345440" y="1121470"/>
            <a:ext cx="8950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u="sng" dirty="0"/>
              <a:t>Comment déterminer les valeurs des caractéristiques électriques des micros ?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80023245-9CE3-A4CE-BCE1-4AF643DD4C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45440" y="1564631"/>
            <a:ext cx="5486411" cy="4572009"/>
          </a:xfrm>
          <a:prstGeom prst="rect">
            <a:avLst/>
          </a:prstGeom>
          <a:ln>
            <a:solidFill>
              <a:schemeClr val="tx1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5537C42-FFED-9697-1F46-86E067148514}"/>
                  </a:ext>
                </a:extLst>
              </p:cNvPr>
              <p:cNvSpPr txBox="1"/>
              <p:nvPr/>
            </p:nvSpPr>
            <p:spPr>
              <a:xfrm>
                <a:off x="5951220" y="1564631"/>
                <a:ext cx="2885334" cy="45220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fr-FR" altLang="fr-FR" sz="1400" dirty="0"/>
                  <a:t>Le calcul des résidus se fait par :</a:t>
                </a:r>
              </a:p>
              <a:p>
                <a:pPr lvl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fr-FR" sz="1400" i="1">
                          <a:latin typeface="Cambria Math" panose="02040503050406030204" pitchFamily="18" charset="0"/>
                        </a:rPr>
                        <m:t>r</m:t>
                      </m:r>
                      <m:r>
                        <a:rPr lang="fr-FR" sz="14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fr-FR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fr-FR" sz="14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m:rPr>
                                  <m:sty m:val="p"/>
                                  <m:brk m:alnAt="7"/>
                                </m:rPr>
                                <a:rPr lang="fr-FR" sz="1400" i="1"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  <m:r>
                                <m:rPr>
                                  <m:sty m:val="p"/>
                                </m:rPr>
                                <a:rPr lang="fr-FR" sz="1400" i="1">
                                  <a:latin typeface="Cambria Math" panose="02040503050406030204" pitchFamily="18" charset="0"/>
                                </a:rPr>
                                <m:t>ist</m:t>
                              </m:r>
                              <m:r>
                                <a:rPr lang="fr-FR" sz="1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fr-FR" sz="1400" i="1">
                                  <a:latin typeface="Cambria Math" panose="02040503050406030204" pitchFamily="18" charset="0"/>
                                </a:rPr>
                                <m:t>w</m:t>
                              </m:r>
                              <m:r>
                                <a:rPr lang="fr-FR" sz="1400" i="1">
                                  <a:latin typeface="Cambria Math" panose="02040503050406030204" pitchFamily="18" charset="0"/>
                                </a:rPr>
                                <m:t>1, </m:t>
                              </m:r>
                              <m:acc>
                                <m:accPr>
                                  <m:chr m:val="̃"/>
                                  <m:ctrlP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p"/>
                                    </m:rP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  <m:t>w</m:t>
                                  </m:r>
                                  <m: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acc>
                              <m:r>
                                <m:rPr>
                                  <m:brk m:alnAt="7"/>
                                </m:rPr>
                                <a:rPr lang="fr-FR" sz="1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m:rPr>
                                  <m:sty m:val="p"/>
                                  <m:brk m:alnAt="7"/>
                                </m:rPr>
                                <a:rPr lang="fr-FR" sz="1400" i="1"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  <m:r>
                                <m:rPr>
                                  <m:sty m:val="p"/>
                                </m:rPr>
                                <a:rPr lang="fr-FR" sz="1400" i="1">
                                  <a:latin typeface="Cambria Math" panose="02040503050406030204" pitchFamily="18" charset="0"/>
                                </a:rPr>
                                <m:t>ist</m:t>
                              </m:r>
                              <m:r>
                                <a:rPr lang="fr-FR" sz="1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fr-FR" sz="1400" i="1">
                                  <a:latin typeface="Cambria Math" panose="02040503050406030204" pitchFamily="18" charset="0"/>
                                </a:rPr>
                                <m:t>w</m:t>
                              </m:r>
                              <m:r>
                                <a:rPr lang="fr-FR" sz="1400" i="1">
                                  <a:latin typeface="Cambria Math" panose="02040503050406030204" pitchFamily="18" charset="0"/>
                                </a:rPr>
                                <m:t>2, </m:t>
                              </m:r>
                              <m:acc>
                                <m:accPr>
                                  <m:chr m:val="̃"/>
                                  <m:ctrlP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p"/>
                                    </m:rP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  <m:t>w</m:t>
                                  </m:r>
                                  <m: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acc>
                              <m:r>
                                <m:rPr>
                                  <m:brk m:alnAt="7"/>
                                </m:rPr>
                                <a:rPr lang="fr-FR" sz="1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a:rPr lang="fr-FR" sz="1400" i="1">
                                  <a:latin typeface="Cambria Math" panose="02040503050406030204" pitchFamily="18" charset="0"/>
                                </a:rPr>
                                <m:t>...</m:t>
                              </m:r>
                            </m:e>
                            <m:e>
                              <m:r>
                                <m:rPr>
                                  <m:sty m:val="p"/>
                                  <m:brk m:alnAt="7"/>
                                </m:rPr>
                                <a:rPr lang="fr-FR" sz="1400" i="1"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  <m:r>
                                <m:rPr>
                                  <m:sty m:val="p"/>
                                </m:rPr>
                                <a:rPr lang="fr-FR" sz="1400" i="1">
                                  <a:latin typeface="Cambria Math" panose="02040503050406030204" pitchFamily="18" charset="0"/>
                                </a:rPr>
                                <m:t>ist</m:t>
                              </m:r>
                              <m:r>
                                <a:rPr lang="fr-FR" sz="1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fr-FR" sz="1400" i="1">
                                  <a:latin typeface="Cambria Math" panose="02040503050406030204" pitchFamily="18" charset="0"/>
                                </a:rPr>
                                <m:t>wn</m:t>
                              </m:r>
                              <m:r>
                                <a:rPr lang="fr-FR" sz="1400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acc>
                                <m:accPr>
                                  <m:chr m:val="̃"/>
                                  <m:ctrlP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p"/>
                                    </m:rP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  <m:t>wn</m:t>
                                  </m:r>
                                </m:e>
                              </m:acc>
                              <m:r>
                                <m:rPr>
                                  <m:brk m:alnAt="7"/>
                                </m:rPr>
                                <a:rPr lang="fr-FR" sz="1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fr-FR" altLang="fr-FR" sz="1400" dirty="0"/>
              </a:p>
              <a:p>
                <a:pPr lvl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fr-FR" altLang="fr-FR" sz="1400" dirty="0"/>
              </a:p>
              <a:p>
                <a:pPr lvl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fr-FR" altLang="fr-FR" sz="1400" dirty="0"/>
                  <a:t>Le calcul du coût se fait par :</a:t>
                </a:r>
              </a:p>
              <a:p>
                <a:pPr lvl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fr-FR" altLang="fr-FR" sz="1400" b="0" i="1" smtClean="0">
                          <a:latin typeface="Cambria Math" panose="02040503050406030204" pitchFamily="18" charset="0"/>
                        </a:rPr>
                        <m:t>S</m:t>
                      </m:r>
                      <m:r>
                        <a:rPr lang="fr-FR" altLang="fr-FR" sz="1400" b="0" i="1" smtClean="0">
                          <a:latin typeface="Cambria Math" panose="02040503050406030204" pitchFamily="18" charset="0"/>
                        </a:rPr>
                        <m:t> = 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fr-FR" altLang="fr-FR" sz="1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25"/>
                            </m:rPr>
                            <a:rPr lang="fr-FR" altLang="fr-FR" sz="1400" b="0" i="1" smtClean="0"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fr-FR" altLang="fr-FR" sz="14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fr-FR" altLang="fr-FR" sz="1400" b="0" i="1" smtClean="0">
                              <a:latin typeface="Cambria Math" panose="02040503050406030204" pitchFamily="18" charset="0"/>
                            </a:rPr>
                            <m:t>n</m:t>
                          </m:r>
                        </m:sup>
                        <m:e>
                          <m:sSubSup>
                            <m:sSubSupPr>
                              <m:ctrlPr>
                                <a:rPr lang="fr-FR" altLang="fr-F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fr-FR" altLang="fr-FR" sz="1400" b="0" i="1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fr-FR" altLang="fr-FR" sz="1400" b="0" i="1" smtClean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  <m:sup>
                              <m:r>
                                <a:rPr lang="fr-FR" altLang="fr-FR" sz="1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fr-FR" altLang="fr-FR" sz="1400" dirty="0"/>
              </a:p>
              <a:p>
                <a:pPr lvl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fr-FR" altLang="fr-FR" sz="1400" dirty="0"/>
              </a:p>
              <a:p>
                <a:pPr lvl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fr-FR" altLang="fr-FR" sz="1400" dirty="0"/>
                  <a:t>L'incrément des paramètres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FR" altLang="fr-FR" sz="1400" i="1"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lang="fr-FR" altLang="fr-FR" sz="1400" dirty="0"/>
                  <a:t> est calculé par :</a:t>
                </a:r>
              </a:p>
              <a:p>
                <a:pPr lvl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fr-FR" altLang="fr-FR" sz="1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fr-FR" altLang="fr-FR" sz="1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fr-FR" altLang="fr-FR" sz="1400" i="1" dirty="0">
                                  <a:latin typeface="Cambria Math" panose="02040503050406030204" pitchFamily="18" charset="0"/>
                                </a:rPr>
                                <m:t>J</m:t>
                              </m:r>
                              <m:r>
                                <a:rPr lang="fr-FR" altLang="fr-FR" sz="1400" i="1" dirty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m:rPr>
                                  <m:sty m:val="p"/>
                                </m:rPr>
                                <a:rPr lang="fr-FR" altLang="fr-FR" sz="1400" i="1" dirty="0">
                                  <a:latin typeface="Cambria Math" panose="02040503050406030204" pitchFamily="18" charset="0"/>
                                </a:rPr>
                                <m:t>J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fr-FR" altLang="fr-FR" sz="1400" i="1" dirty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  <m:r>
                            <a:rPr lang="fr-FR" altLang="fr-FR" sz="1400" i="1" dirty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fr-FR" altLang="fr-FR" sz="1400" b="0" i="1" dirty="0" smtClean="0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fr-FR" altLang="fr-FR" sz="1400" i="1" dirty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</m:d>
                      <m:r>
                        <a:rPr lang="fr-FR" altLang="fr-FR" sz="1400" i="1" dirty="0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fr-FR" altLang="fr-FR" sz="1400" i="1" dirty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fr-FR" altLang="fr-FR" sz="1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fr-FR" altLang="fr-FR" sz="1400" i="1" dirty="0">
                              <a:latin typeface="Cambria Math" panose="02040503050406030204" pitchFamily="18" charset="0"/>
                            </a:rPr>
                            <m:t>J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fr-FR" altLang="fr-FR" sz="1400" i="1" dirty="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  <m:r>
                        <a:rPr lang="fr-FR" altLang="fr-FR" sz="1400" i="1" dirty="0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fr-FR" altLang="fr-FR" sz="1400" dirty="0"/>
              </a:p>
              <a:p>
                <a:pPr lvl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fr-FR" altLang="fr-FR" sz="1400" dirty="0"/>
                  <a:t>Avec :</a:t>
                </a:r>
              </a:p>
              <a:p>
                <a:pPr algn="ctr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fr-FR" altLang="fr-FR" sz="140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FR" sz="1400" i="1">
                        <a:latin typeface="Cambria Math" panose="02040503050406030204" pitchFamily="18" charset="0"/>
                      </a:rPr>
                      <m:t>J</m:t>
                    </m:r>
                    <m:r>
                      <a:rPr lang="fr-FR" sz="14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fr-FR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fr-FR" sz="1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ctrlP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brk m:alnAt="7"/>
                                    </m:rP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  <m:t>Z</m:t>
                                  </m:r>
                                  <m: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  <m:t>ω</m:t>
                                  </m:r>
                                  <m: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  <m:t>1)</m:t>
                                  </m:r>
                                </m:num>
                                <m:den>
                                  <m:r>
                                    <m:rPr>
                                      <m:brk m:alnAt="7"/>
                                    </m:rP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  <m:t>L</m:t>
                                  </m:r>
                                </m:den>
                              </m:f>
                            </m:e>
                            <m:e>
                              <m:f>
                                <m:fPr>
                                  <m:ctrlP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brk m:alnAt="7"/>
                                    </m:rP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  <m:t>Z</m:t>
                                  </m:r>
                                  <m: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  <m:t>ω</m:t>
                                  </m:r>
                                  <m: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  <m:t>1)</m:t>
                                  </m:r>
                                </m:num>
                                <m:den>
                                  <m:r>
                                    <m:rPr>
                                      <m:brk m:alnAt="7"/>
                                    </m:rP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</m:den>
                              </m:f>
                              <m:r>
                                <a:rPr lang="fr-FR" sz="1400" i="1">
                                  <a:latin typeface="Cambria Math" panose="02040503050406030204" pitchFamily="18" charset="0"/>
                                </a:rPr>
                                <m:t>     </m:t>
                              </m:r>
                            </m:e>
                          </m:mr>
                          <m:mr>
                            <m:e>
                              <m:eqArr>
                                <m:eqArrPr>
                                  <m:ctrlP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f>
                                    <m:fPr>
                                      <m:ctrlPr>
                                        <a:rPr lang="fr-FR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m:rPr>
                                          <m:brk m:alnAt="7"/>
                                        </m:rPr>
                                        <a:rPr lang="fr-FR" sz="1400" i="1"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fr-FR" sz="1400" i="1">
                                          <a:latin typeface="Cambria Math" panose="02040503050406030204" pitchFamily="18" charset="0"/>
                                        </a:rPr>
                                        <m:t>Z</m:t>
                                      </m:r>
                                      <m:r>
                                        <a:rPr lang="fr-FR" sz="1400" i="1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fr-FR" sz="1400" i="1">
                                          <a:latin typeface="Cambria Math" panose="02040503050406030204" pitchFamily="18" charset="0"/>
                                        </a:rPr>
                                        <m:t>ω</m:t>
                                      </m:r>
                                      <m:r>
                                        <a:rPr lang="fr-FR" sz="1400" i="1">
                                          <a:latin typeface="Cambria Math" panose="02040503050406030204" pitchFamily="18" charset="0"/>
                                        </a:rPr>
                                        <m:t>2)</m:t>
                                      </m:r>
                                    </m:num>
                                    <m:den>
                                      <m:r>
                                        <m:rPr>
                                          <m:brk m:alnAt="7"/>
                                        </m:rPr>
                                        <a:rPr lang="fr-FR" sz="1400" i="1"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fr-FR" sz="1400" i="1">
                                          <a:latin typeface="Cambria Math" panose="02040503050406030204" pitchFamily="18" charset="0"/>
                                        </a:rPr>
                                        <m:t>L</m:t>
                                      </m:r>
                                    </m:den>
                                  </m:f>
                                </m:e>
                                <m:e>
                                  <m: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  <m:t>...</m:t>
                                  </m:r>
                                </m:e>
                                <m:e>
                                  <m:f>
                                    <m:fPr>
                                      <m:ctrlPr>
                                        <a:rPr lang="fr-FR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m:rPr>
                                          <m:brk m:alnAt="7"/>
                                        </m:rPr>
                                        <a:rPr lang="fr-FR" sz="1400" i="1"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fr-FR" sz="1400" i="1">
                                          <a:latin typeface="Cambria Math" panose="02040503050406030204" pitchFamily="18" charset="0"/>
                                        </a:rPr>
                                        <m:t>Z</m:t>
                                      </m:r>
                                      <m:r>
                                        <a:rPr lang="fr-FR" sz="1400" i="1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fr-FR" sz="1400" i="1">
                                          <a:latin typeface="Cambria Math" panose="02040503050406030204" pitchFamily="18" charset="0"/>
                                        </a:rPr>
                                        <m:t>ωn</m:t>
                                      </m:r>
                                      <m:r>
                                        <a:rPr lang="fr-FR" sz="1400" i="1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num>
                                    <m:den>
                                      <m:r>
                                        <m:rPr>
                                          <m:brk m:alnAt="7"/>
                                        </m:rPr>
                                        <a:rPr lang="fr-FR" sz="1400" i="1"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fr-FR" sz="1400" i="1">
                                          <a:latin typeface="Cambria Math" panose="02040503050406030204" pitchFamily="18" charset="0"/>
                                        </a:rPr>
                                        <m:t>L</m:t>
                                      </m:r>
                                    </m:den>
                                  </m:f>
                                </m:e>
                              </m:eqArr>
                            </m:e>
                            <m:e>
                              <m:eqArr>
                                <m:eqArrPr>
                                  <m:ctrlP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f>
                                    <m:fPr>
                                      <m:ctrlPr>
                                        <a:rPr lang="fr-FR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m:rPr>
                                          <m:brk m:alnAt="7"/>
                                        </m:rPr>
                                        <a:rPr lang="fr-FR" sz="1400" i="1"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fr-FR" sz="1400" i="1">
                                          <a:latin typeface="Cambria Math" panose="02040503050406030204" pitchFamily="18" charset="0"/>
                                        </a:rPr>
                                        <m:t>Z</m:t>
                                      </m:r>
                                      <m:r>
                                        <a:rPr lang="fr-FR" sz="1400" i="1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fr-FR" sz="1400" i="1">
                                          <a:latin typeface="Cambria Math" panose="02040503050406030204" pitchFamily="18" charset="0"/>
                                        </a:rPr>
                                        <m:t>ω</m:t>
                                      </m:r>
                                      <m:r>
                                        <a:rPr lang="fr-FR" sz="1400" i="1">
                                          <a:latin typeface="Cambria Math" panose="02040503050406030204" pitchFamily="18" charset="0"/>
                                        </a:rPr>
                                        <m:t>2)</m:t>
                                      </m:r>
                                    </m:num>
                                    <m:den>
                                      <m:r>
                                        <m:rPr>
                                          <m:brk m:alnAt="7"/>
                                        </m:rPr>
                                        <a:rPr lang="fr-FR" sz="1400" i="1"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fr-FR" sz="1400" i="1">
                                          <a:latin typeface="Cambria Math" panose="02040503050406030204" pitchFamily="18" charset="0"/>
                                        </a:rPr>
                                        <m:t>L</m:t>
                                      </m:r>
                                    </m:den>
                                  </m:f>
                                </m:e>
                                <m:e>
                                  <m: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  <m:t>...</m:t>
                                  </m:r>
                                </m:e>
                                <m:e>
                                  <m:f>
                                    <m:fPr>
                                      <m:ctrlPr>
                                        <a:rPr lang="fr-FR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m:rPr>
                                          <m:brk m:alnAt="7"/>
                                        </m:rPr>
                                        <a:rPr lang="fr-FR" sz="1400" i="1"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fr-FR" sz="1400" i="1">
                                          <a:latin typeface="Cambria Math" panose="02040503050406030204" pitchFamily="18" charset="0"/>
                                        </a:rPr>
                                        <m:t>Z</m:t>
                                      </m:r>
                                      <m:r>
                                        <a:rPr lang="fr-FR" sz="1400" i="1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fr-FR" sz="1400" i="1">
                                          <a:latin typeface="Cambria Math" panose="02040503050406030204" pitchFamily="18" charset="0"/>
                                        </a:rPr>
                                        <m:t>ωn</m:t>
                                      </m:r>
                                      <m:r>
                                        <a:rPr lang="fr-FR" sz="1400" i="1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num>
                                    <m:den>
                                      <m:r>
                                        <m:rPr>
                                          <m:brk m:alnAt="7"/>
                                        </m:rPr>
                                        <a:rPr lang="fr-FR" sz="1400" i="1"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fr-FR" sz="1400" i="1">
                                          <a:latin typeface="Cambria Math" panose="02040503050406030204" pitchFamily="18" charset="0"/>
                                        </a:rPr>
                                        <m:t>L</m:t>
                                      </m:r>
                                    </m:den>
                                  </m:f>
                                </m:e>
                              </m:eqArr>
                            </m:e>
                          </m:mr>
                        </m:m>
                        <m:eqArr>
                          <m:eqArrPr>
                            <m:ctrlPr>
                              <a:rPr lang="fr-FR" sz="1400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f>
                              <m:fPr>
                                <m:ctrlPr>
                                  <a:rPr lang="fr-FR" sz="14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brk m:alnAt="7"/>
                                  </m:rPr>
                                  <a:rPr lang="fr-FR" sz="1400" i="1"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m:rPr>
                                    <m:sty m:val="p"/>
                                  </m:rPr>
                                  <a:rPr lang="fr-FR" sz="1400" i="1">
                                    <a:latin typeface="Cambria Math" panose="02040503050406030204" pitchFamily="18" charset="0"/>
                                  </a:rPr>
                                  <m:t>Z</m:t>
                                </m:r>
                                <m:r>
                                  <a:rPr lang="fr-FR" sz="1400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m:rPr>
                                    <m:sty m:val="p"/>
                                  </m:rPr>
                                  <a:rPr lang="fr-FR" sz="1400" i="1">
                                    <a:latin typeface="Cambria Math" panose="02040503050406030204" pitchFamily="18" charset="0"/>
                                  </a:rPr>
                                  <m:t>ω</m:t>
                                </m:r>
                                <m:r>
                                  <a:rPr lang="fr-FR" sz="1400" i="1">
                                    <a:latin typeface="Cambria Math" panose="02040503050406030204" pitchFamily="18" charset="0"/>
                                  </a:rPr>
                                  <m:t>1)</m:t>
                                </m:r>
                              </m:num>
                              <m:den>
                                <m:r>
                                  <m:rPr>
                                    <m:brk m:alnAt="7"/>
                                  </m:rPr>
                                  <a:rPr lang="fr-FR" sz="1400" i="1"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sSub>
                                  <m:sSubPr>
                                    <m:ctrlPr>
                                      <a:rPr lang="fr-FR" sz="1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fr-FR" sz="1400" i="1">
                                        <a:latin typeface="Cambria Math" panose="02040503050406030204" pitchFamily="18" charset="0"/>
                                      </a:rPr>
                                      <m:t>R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fr-FR" sz="1400" i="1">
                                        <a:latin typeface="Cambria Math" panose="02040503050406030204" pitchFamily="18" charset="0"/>
                                      </a:rPr>
                                      <m:t>p</m:t>
                                    </m:r>
                                  </m:sub>
                                </m:sSub>
                              </m:den>
                            </m:f>
                          </m:e>
                          <m:e>
                            <m:f>
                              <m:fPr>
                                <m:ctrlPr>
                                  <a:rPr lang="fr-FR" sz="14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brk m:alnAt="7"/>
                                  </m:rPr>
                                  <a:rPr lang="fr-FR" sz="1400" i="1"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m:rPr>
                                    <m:sty m:val="p"/>
                                  </m:rPr>
                                  <a:rPr lang="fr-FR" sz="1400" i="1">
                                    <a:latin typeface="Cambria Math" panose="02040503050406030204" pitchFamily="18" charset="0"/>
                                  </a:rPr>
                                  <m:t>Z</m:t>
                                </m:r>
                                <m:r>
                                  <a:rPr lang="fr-FR" sz="1400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m:rPr>
                                    <m:sty m:val="p"/>
                                  </m:rPr>
                                  <a:rPr lang="fr-FR" sz="1400" i="1">
                                    <a:latin typeface="Cambria Math" panose="02040503050406030204" pitchFamily="18" charset="0"/>
                                  </a:rPr>
                                  <m:t>ω</m:t>
                                </m:r>
                                <m:r>
                                  <a:rPr lang="fr-FR" sz="1400" i="1">
                                    <a:latin typeface="Cambria Math" panose="02040503050406030204" pitchFamily="18" charset="0"/>
                                  </a:rPr>
                                  <m:t>2)</m:t>
                                </m:r>
                              </m:num>
                              <m:den>
                                <m:r>
                                  <m:rPr>
                                    <m:brk m:alnAt="7"/>
                                  </m:rPr>
                                  <a:rPr lang="fr-FR" sz="1400" i="1"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sSub>
                                  <m:sSubPr>
                                    <m:ctrlPr>
                                      <a:rPr lang="fr-FR" sz="1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fr-FR" sz="1400" i="1">
                                        <a:latin typeface="Cambria Math" panose="02040503050406030204" pitchFamily="18" charset="0"/>
                                      </a:rPr>
                                      <m:t>R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fr-FR" sz="1400" i="1">
                                        <a:latin typeface="Cambria Math" panose="02040503050406030204" pitchFamily="18" charset="0"/>
                                      </a:rPr>
                                      <m:t>p</m:t>
                                    </m:r>
                                  </m:sub>
                                </m:sSub>
                              </m:den>
                            </m:f>
                          </m:e>
                          <m:e>
                            <m:r>
                              <a:rPr lang="fr-FR" sz="1400" i="1">
                                <a:latin typeface="Cambria Math" panose="02040503050406030204" pitchFamily="18" charset="0"/>
                              </a:rPr>
                              <m:t>...</m:t>
                            </m:r>
                          </m:e>
                          <m:e>
                            <m:f>
                              <m:fPr>
                                <m:ctrlPr>
                                  <a:rPr lang="fr-FR" sz="14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brk m:alnAt="7"/>
                                  </m:rPr>
                                  <a:rPr lang="fr-FR" sz="1400" i="1"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m:rPr>
                                    <m:sty m:val="p"/>
                                  </m:rPr>
                                  <a:rPr lang="fr-FR" sz="1400" i="1">
                                    <a:latin typeface="Cambria Math" panose="02040503050406030204" pitchFamily="18" charset="0"/>
                                  </a:rPr>
                                  <m:t>Z</m:t>
                                </m:r>
                                <m:r>
                                  <a:rPr lang="fr-FR" sz="1400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m:rPr>
                                    <m:sty m:val="p"/>
                                  </m:rPr>
                                  <a:rPr lang="fr-FR" sz="1400" i="1">
                                    <a:latin typeface="Cambria Math" panose="02040503050406030204" pitchFamily="18" charset="0"/>
                                  </a:rPr>
                                  <m:t>ωn</m:t>
                                </m:r>
                                <m:r>
                                  <a:rPr lang="fr-FR" sz="1400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num>
                              <m:den>
                                <m:r>
                                  <m:rPr>
                                    <m:brk m:alnAt="7"/>
                                  </m:rPr>
                                  <a:rPr lang="fr-FR" sz="1400" i="1"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sSub>
                                  <m:sSubPr>
                                    <m:ctrlPr>
                                      <a:rPr lang="fr-FR" sz="1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fr-FR" sz="1400" i="1">
                                        <a:latin typeface="Cambria Math" panose="02040503050406030204" pitchFamily="18" charset="0"/>
                                      </a:rPr>
                                      <m:t>R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fr-FR" sz="1400" i="1">
                                        <a:latin typeface="Cambria Math" panose="02040503050406030204" pitchFamily="18" charset="0"/>
                                      </a:rPr>
                                      <m:t>p</m:t>
                                    </m:r>
                                  </m:sub>
                                </m:sSub>
                              </m:den>
                            </m:f>
                          </m:e>
                        </m:eqArr>
                      </m:e>
                    </m:d>
                  </m:oMath>
                </a14:m>
                <a:endParaRPr lang="fr-FR" altLang="fr-FR" sz="14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5537C42-FFED-9697-1F46-86E0671485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1220" y="1564631"/>
                <a:ext cx="2885334" cy="4522072"/>
              </a:xfrm>
              <a:prstGeom prst="rect">
                <a:avLst/>
              </a:prstGeom>
              <a:blipFill>
                <a:blip r:embed="rId3"/>
                <a:stretch>
                  <a:fillRect l="-633" t="-270" r="-21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25A23E38-AFFC-1314-34D8-5F474D741D97}"/>
              </a:ext>
            </a:extLst>
          </p:cNvPr>
          <p:cNvGrpSpPr/>
          <p:nvPr/>
        </p:nvGrpSpPr>
        <p:grpSpPr>
          <a:xfrm>
            <a:off x="0" y="-4624"/>
            <a:ext cx="9144000" cy="457200"/>
            <a:chOff x="0" y="-4624"/>
            <a:chExt cx="9144000" cy="457200"/>
          </a:xfrm>
          <a:solidFill>
            <a:srgbClr val="4A66AC"/>
          </a:solidFill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194ED3C-0189-70F2-3340-35139884ACBA}"/>
                </a:ext>
              </a:extLst>
            </p:cNvPr>
            <p:cNvSpPr/>
            <p:nvPr/>
          </p:nvSpPr>
          <p:spPr>
            <a:xfrm>
              <a:off x="0" y="-4624"/>
              <a:ext cx="9144000" cy="457200"/>
            </a:xfrm>
            <a:prstGeom prst="rect">
              <a:avLst/>
            </a:prstGeom>
            <a:grpFill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0" name="Footer Placeholder 2">
              <a:extLst>
                <a:ext uri="{FF2B5EF4-FFF2-40B4-BE49-F238E27FC236}">
                  <a16:creationId xmlns:a16="http://schemas.microsoft.com/office/drawing/2014/main" id="{AD4961CD-E048-EDA5-4913-3A2CD9E86F6A}"/>
                </a:ext>
              </a:extLst>
            </p:cNvPr>
            <p:cNvSpPr txBox="1">
              <a:spLocks/>
            </p:cNvSpPr>
            <p:nvPr/>
          </p:nvSpPr>
          <p:spPr>
            <a:xfrm>
              <a:off x="1447764" y="41413"/>
              <a:ext cx="6248472" cy="365125"/>
            </a:xfrm>
            <a:prstGeom prst="rect">
              <a:avLst/>
            </a:prstGeom>
            <a:grpFill/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457200" rtl="0" eaLnBrk="1" latinLnBrk="0" hangingPunct="1">
                <a:defRPr sz="900" kern="1200" cap="all" baseline="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sz="1600" b="1" dirty="0"/>
                <a:t>Annexes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58A788DD-EA1A-EA9F-38E6-52FFF6B6EB98}"/>
              </a:ext>
            </a:extLst>
          </p:cNvPr>
          <p:cNvSpPr txBox="1"/>
          <p:nvPr/>
        </p:nvSpPr>
        <p:spPr>
          <a:xfrm>
            <a:off x="345439" y="721360"/>
            <a:ext cx="8491113" cy="4001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2000" b="1" dirty="0">
                <a:latin typeface="Arial Black" panose="020B0A04020102020204" pitchFamily="34" charset="0"/>
              </a:rPr>
              <a:t>ANNEXE 6 :</a:t>
            </a:r>
            <a:r>
              <a:rPr lang="fr-FR" sz="2000" dirty="0">
                <a:latin typeface="Arial Black" panose="020B0A04020102020204" pitchFamily="34" charset="0"/>
              </a:rPr>
              <a:t> Algorithme de Levenberg-Marquardt.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050684-55AE-30B3-6EA6-ACE246C3CA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5A15F5-E718-DC1B-82DA-0E9D49D7A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TIPE 39662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48BAF221-99AE-4F1E-A6F4-87FA14E5D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425344" y="6459786"/>
            <a:ext cx="984019" cy="365125"/>
          </a:xfrm>
        </p:spPr>
        <p:txBody>
          <a:bodyPr/>
          <a:lstStyle/>
          <a:p>
            <a:fld id="{477F8A04-938D-4CBF-A3DC-6CB925B6FC34}" type="slidenum">
              <a:rPr lang="fr-FR" sz="1400" b="1" smtClean="0"/>
              <a:t>30</a:t>
            </a:fld>
            <a:endParaRPr lang="fr-FR" sz="1400" b="1" dirty="0"/>
          </a:p>
        </p:txBody>
      </p:sp>
    </p:spTree>
    <p:extLst>
      <p:ext uri="{BB962C8B-B14F-4D97-AF65-F5344CB8AC3E}">
        <p14:creationId xmlns:p14="http://schemas.microsoft.com/office/powerpoint/2010/main" val="355817200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C1AB9-AA17-A289-4177-5B57B838A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80EEE6E3-6825-09CC-8862-418DD007C637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05990FB-38EB-5B30-B3B4-746837CB7A82}"/>
              </a:ext>
            </a:extLst>
          </p:cNvPr>
          <p:cNvSpPr/>
          <p:nvPr/>
        </p:nvSpPr>
        <p:spPr>
          <a:xfrm>
            <a:off x="326443" y="423275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1DE8E9-33F3-561B-57C9-2E08CDBD205D}"/>
              </a:ext>
            </a:extLst>
          </p:cNvPr>
          <p:cNvSpPr txBox="1"/>
          <p:nvPr/>
        </p:nvSpPr>
        <p:spPr>
          <a:xfrm>
            <a:off x="345440" y="721360"/>
            <a:ext cx="8626172" cy="4001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2000" b="1" dirty="0">
                <a:latin typeface="Arial Black" panose="020B0A04020102020204" pitchFamily="34" charset="0"/>
              </a:rPr>
              <a:t>ANNEXE 7 :</a:t>
            </a:r>
            <a:r>
              <a:rPr lang="fr-FR" sz="2000" dirty="0">
                <a:latin typeface="Arial Black" panose="020B0A04020102020204" pitchFamily="34" charset="0"/>
              </a:rPr>
              <a:t> Analyse des échecs et difficultés rencontrées.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EAE53AF-2DFC-2830-AB17-39F8A9CFCD3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3" t="21864" r="1" b="35960"/>
          <a:stretch>
            <a:fillRect/>
          </a:stretch>
        </p:blipFill>
        <p:spPr>
          <a:xfrm>
            <a:off x="345440" y="1220122"/>
            <a:ext cx="8626173" cy="4852222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7CF1BFFB-993D-B165-6DEA-A362856BAE78}"/>
              </a:ext>
            </a:extLst>
          </p:cNvPr>
          <p:cNvGrpSpPr/>
          <p:nvPr/>
        </p:nvGrpSpPr>
        <p:grpSpPr>
          <a:xfrm>
            <a:off x="0" y="-4624"/>
            <a:ext cx="9144000" cy="457200"/>
            <a:chOff x="0" y="-4624"/>
            <a:chExt cx="9144000" cy="457200"/>
          </a:xfrm>
          <a:solidFill>
            <a:srgbClr val="4A66AC"/>
          </a:solidFill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AC24DCD0-D770-6EEC-A98D-F0CAB5B4CAB4}"/>
                </a:ext>
              </a:extLst>
            </p:cNvPr>
            <p:cNvSpPr/>
            <p:nvPr/>
          </p:nvSpPr>
          <p:spPr>
            <a:xfrm>
              <a:off x="0" y="-4624"/>
              <a:ext cx="9144000" cy="457200"/>
            </a:xfrm>
            <a:prstGeom prst="rect">
              <a:avLst/>
            </a:prstGeom>
            <a:grpFill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5" name="Footer Placeholder 2">
              <a:extLst>
                <a:ext uri="{FF2B5EF4-FFF2-40B4-BE49-F238E27FC236}">
                  <a16:creationId xmlns:a16="http://schemas.microsoft.com/office/drawing/2014/main" id="{5180DDD7-F016-DA17-C609-C7473F9858DD}"/>
                </a:ext>
              </a:extLst>
            </p:cNvPr>
            <p:cNvSpPr txBox="1">
              <a:spLocks/>
            </p:cNvSpPr>
            <p:nvPr/>
          </p:nvSpPr>
          <p:spPr>
            <a:xfrm>
              <a:off x="1447764" y="41413"/>
              <a:ext cx="6248472" cy="365125"/>
            </a:xfrm>
            <a:prstGeom prst="rect">
              <a:avLst/>
            </a:prstGeom>
            <a:grpFill/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457200" rtl="0" eaLnBrk="1" latinLnBrk="0" hangingPunct="1">
                <a:defRPr sz="900" kern="1200" cap="all" baseline="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sz="1600" b="1" dirty="0"/>
                <a:t>Annexes</a:t>
              </a:r>
            </a:p>
          </p:txBody>
        </p: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66F482-7CE7-8509-6D95-51F11BB550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0AA350-68D0-F903-69F4-2B53C0EEB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TIPE 39662</a:t>
            </a:r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6863E7E1-64AC-F902-58A5-185AD2049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425344" y="6459786"/>
            <a:ext cx="984019" cy="365125"/>
          </a:xfrm>
        </p:spPr>
        <p:txBody>
          <a:bodyPr/>
          <a:lstStyle/>
          <a:p>
            <a:fld id="{477F8A04-938D-4CBF-A3DC-6CB925B6FC34}" type="slidenum">
              <a:rPr lang="fr-FR" sz="1400" b="1" smtClean="0"/>
              <a:t>31</a:t>
            </a:fld>
            <a:endParaRPr lang="fr-FR" sz="1400" b="1" dirty="0"/>
          </a:p>
        </p:txBody>
      </p:sp>
    </p:spTree>
    <p:extLst>
      <p:ext uri="{BB962C8B-B14F-4D97-AF65-F5344CB8AC3E}">
        <p14:creationId xmlns:p14="http://schemas.microsoft.com/office/powerpoint/2010/main" val="174458006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F6F1A6-7284-DDB9-89E2-31D242A16F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3AD740C7-6183-2A85-C9EE-E8A2AE58902D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A0915BC-9847-71E7-29FD-55679B3E5BA2}"/>
              </a:ext>
            </a:extLst>
          </p:cNvPr>
          <p:cNvSpPr/>
          <p:nvPr/>
        </p:nvSpPr>
        <p:spPr>
          <a:xfrm>
            <a:off x="326443" y="423275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259B488-EBE7-4249-E492-60486C906D2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00" b="12500"/>
          <a:stretch>
            <a:fillRect/>
          </a:stretch>
        </p:blipFill>
        <p:spPr>
          <a:xfrm>
            <a:off x="345439" y="1390254"/>
            <a:ext cx="8472117" cy="4765566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2882774D-4E1C-DAB6-0335-8D40E09BBD17}"/>
              </a:ext>
            </a:extLst>
          </p:cNvPr>
          <p:cNvGrpSpPr/>
          <p:nvPr/>
        </p:nvGrpSpPr>
        <p:grpSpPr>
          <a:xfrm>
            <a:off x="0" y="-4624"/>
            <a:ext cx="9144000" cy="457200"/>
            <a:chOff x="0" y="-4624"/>
            <a:chExt cx="9144000" cy="457200"/>
          </a:xfrm>
          <a:solidFill>
            <a:srgbClr val="4A66AC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5AA2265-51F0-27F3-BB79-D4CFB818BDD8}"/>
                </a:ext>
              </a:extLst>
            </p:cNvPr>
            <p:cNvSpPr/>
            <p:nvPr/>
          </p:nvSpPr>
          <p:spPr>
            <a:xfrm>
              <a:off x="0" y="-4624"/>
              <a:ext cx="9144000" cy="457200"/>
            </a:xfrm>
            <a:prstGeom prst="rect">
              <a:avLst/>
            </a:prstGeom>
            <a:grpFill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3" name="Footer Placeholder 2">
              <a:extLst>
                <a:ext uri="{FF2B5EF4-FFF2-40B4-BE49-F238E27FC236}">
                  <a16:creationId xmlns:a16="http://schemas.microsoft.com/office/drawing/2014/main" id="{9363F4C3-D089-5724-B3D9-349343B259F6}"/>
                </a:ext>
              </a:extLst>
            </p:cNvPr>
            <p:cNvSpPr txBox="1">
              <a:spLocks/>
            </p:cNvSpPr>
            <p:nvPr/>
          </p:nvSpPr>
          <p:spPr>
            <a:xfrm>
              <a:off x="1447764" y="41413"/>
              <a:ext cx="6248472" cy="365125"/>
            </a:xfrm>
            <a:prstGeom prst="rect">
              <a:avLst/>
            </a:prstGeom>
            <a:grpFill/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457200" rtl="0" eaLnBrk="1" latinLnBrk="0" hangingPunct="1">
                <a:defRPr sz="900" kern="1200" cap="all" baseline="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sz="1600" b="1" dirty="0"/>
                <a:t>Annexes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770782AE-74D3-0F0B-3667-FBE7C228BE64}"/>
              </a:ext>
            </a:extLst>
          </p:cNvPr>
          <p:cNvSpPr txBox="1"/>
          <p:nvPr/>
        </p:nvSpPr>
        <p:spPr>
          <a:xfrm>
            <a:off x="345440" y="721360"/>
            <a:ext cx="8626172" cy="4001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2000" b="1" dirty="0">
                <a:latin typeface="Arial Black" panose="020B0A04020102020204" pitchFamily="34" charset="0"/>
              </a:rPr>
              <a:t>ANNEXE 7 :</a:t>
            </a:r>
            <a:r>
              <a:rPr lang="fr-FR" sz="2000" dirty="0">
                <a:latin typeface="Arial Black" panose="020B0A04020102020204" pitchFamily="34" charset="0"/>
              </a:rPr>
              <a:t> Analyse des échecs et difficultés rencontrées.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164E6C-B55D-DF40-A88D-C505A0658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1FE1E5-76CD-C1BE-3624-1818D0A4A0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TIPE 39662</a:t>
            </a:r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4AAEB506-DFD5-ADA6-C407-25C436AFD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425344" y="6459786"/>
            <a:ext cx="984019" cy="365125"/>
          </a:xfrm>
        </p:spPr>
        <p:txBody>
          <a:bodyPr/>
          <a:lstStyle/>
          <a:p>
            <a:fld id="{477F8A04-938D-4CBF-A3DC-6CB925B6FC34}" type="slidenum">
              <a:rPr lang="fr-FR" sz="1400" b="1" smtClean="0"/>
              <a:t>32</a:t>
            </a:fld>
            <a:endParaRPr lang="fr-FR" sz="1400" b="1" dirty="0"/>
          </a:p>
        </p:txBody>
      </p:sp>
    </p:spTree>
    <p:extLst>
      <p:ext uri="{BB962C8B-B14F-4D97-AF65-F5344CB8AC3E}">
        <p14:creationId xmlns:p14="http://schemas.microsoft.com/office/powerpoint/2010/main" val="341068345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0C127E-D68A-C4C9-C086-9738F9D58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F3FFEE79-B6D9-7DF1-77AC-A2F39E7FB47B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33E4F10-BA31-FD17-A59D-7CAA4E904982}"/>
              </a:ext>
            </a:extLst>
          </p:cNvPr>
          <p:cNvSpPr/>
          <p:nvPr/>
        </p:nvSpPr>
        <p:spPr>
          <a:xfrm>
            <a:off x="326443" y="423275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D5C8C20-B7ED-6551-4D0E-60F6CE1EF6AF}"/>
              </a:ext>
            </a:extLst>
          </p:cNvPr>
          <p:cNvGrpSpPr/>
          <p:nvPr/>
        </p:nvGrpSpPr>
        <p:grpSpPr>
          <a:xfrm>
            <a:off x="0" y="-4624"/>
            <a:ext cx="9144000" cy="457200"/>
            <a:chOff x="0" y="-4624"/>
            <a:chExt cx="9144000" cy="457200"/>
          </a:xfrm>
          <a:solidFill>
            <a:srgbClr val="4A66AC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217269F-89D7-F4AD-528B-4C77B6A952CC}"/>
                </a:ext>
              </a:extLst>
            </p:cNvPr>
            <p:cNvSpPr/>
            <p:nvPr/>
          </p:nvSpPr>
          <p:spPr>
            <a:xfrm>
              <a:off x="0" y="-4624"/>
              <a:ext cx="9144000" cy="457200"/>
            </a:xfrm>
            <a:prstGeom prst="rect">
              <a:avLst/>
            </a:prstGeom>
            <a:grpFill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3" name="Footer Placeholder 2">
              <a:extLst>
                <a:ext uri="{FF2B5EF4-FFF2-40B4-BE49-F238E27FC236}">
                  <a16:creationId xmlns:a16="http://schemas.microsoft.com/office/drawing/2014/main" id="{D4433DFC-2955-CE03-9169-35729454E671}"/>
                </a:ext>
              </a:extLst>
            </p:cNvPr>
            <p:cNvSpPr txBox="1">
              <a:spLocks/>
            </p:cNvSpPr>
            <p:nvPr/>
          </p:nvSpPr>
          <p:spPr>
            <a:xfrm>
              <a:off x="1447764" y="41413"/>
              <a:ext cx="6248472" cy="365125"/>
            </a:xfrm>
            <a:prstGeom prst="rect">
              <a:avLst/>
            </a:prstGeom>
            <a:grpFill/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457200" rtl="0" eaLnBrk="1" latinLnBrk="0" hangingPunct="1">
                <a:defRPr sz="900" kern="1200" cap="all" baseline="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sz="1600" b="1" dirty="0"/>
                <a:t>Annexes</a:t>
              </a:r>
            </a:p>
          </p:txBody>
        </p: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E4D36202-B3E5-243C-14C2-48434A7DE7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66000"/>
                    </a14:imgEffect>
                  </a14:imgLayer>
                </a14:imgProps>
              </a:ext>
            </a:extLst>
          </a:blip>
          <a:srcRect l="19282" r="1566" b="8689"/>
          <a:stretch>
            <a:fillRect/>
          </a:stretch>
        </p:blipFill>
        <p:spPr>
          <a:xfrm rot="16200000">
            <a:off x="2548484" y="118160"/>
            <a:ext cx="4047032" cy="659122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4A7F794-6E33-A78A-72E0-E2362439015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200000"/>
                    </a14:imgEffect>
                    <a14:imgEffect>
                      <a14:brightnessContrast contrast="20000"/>
                    </a14:imgEffect>
                  </a14:imgLayer>
                </a14:imgProps>
              </a:ext>
            </a:extLst>
          </a:blip>
          <a:srcRect l="14914" t="11121" r="5635" b="30934"/>
          <a:stretch>
            <a:fillRect/>
          </a:stretch>
        </p:blipFill>
        <p:spPr>
          <a:xfrm>
            <a:off x="5973557" y="4628840"/>
            <a:ext cx="2844000" cy="155693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42B486F-873B-1C92-486F-11C77678697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3810" t="15900" r="12423" b="27097"/>
          <a:stretch>
            <a:fillRect/>
          </a:stretch>
        </p:blipFill>
        <p:spPr>
          <a:xfrm>
            <a:off x="514606" y="4628840"/>
            <a:ext cx="2880000" cy="15330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7EF5D67B-65B9-DD8F-74B1-81A310AE71D3}"/>
              </a:ext>
            </a:extLst>
          </p:cNvPr>
          <p:cNvSpPr/>
          <p:nvPr/>
        </p:nvSpPr>
        <p:spPr>
          <a:xfrm>
            <a:off x="1379095" y="1466054"/>
            <a:ext cx="1499017" cy="1345451"/>
          </a:xfrm>
          <a:prstGeom prst="rect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8D180F4-F1E8-39AD-1FE1-134753F82E8C}"/>
              </a:ext>
            </a:extLst>
          </p:cNvPr>
          <p:cNvSpPr txBox="1"/>
          <p:nvPr/>
        </p:nvSpPr>
        <p:spPr>
          <a:xfrm>
            <a:off x="345440" y="721360"/>
            <a:ext cx="8626172" cy="4001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2000" b="1" dirty="0">
                <a:latin typeface="Arial Black" panose="020B0A04020102020204" pitchFamily="34" charset="0"/>
              </a:rPr>
              <a:t>ANNEXE 7 :</a:t>
            </a:r>
            <a:r>
              <a:rPr lang="fr-FR" sz="2000" dirty="0">
                <a:latin typeface="Arial Black" panose="020B0A04020102020204" pitchFamily="34" charset="0"/>
              </a:rPr>
              <a:t> Analyse des échecs et difficultés rencontrées.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C3DF99-7669-2863-A6C8-AC7C73BAA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7C8A0D-90FE-540A-ED6A-722FEACD5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TIPE 39662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A61E94F5-3095-0797-0C4B-2D974D153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425344" y="6459786"/>
            <a:ext cx="984019" cy="365125"/>
          </a:xfrm>
        </p:spPr>
        <p:txBody>
          <a:bodyPr/>
          <a:lstStyle/>
          <a:p>
            <a:fld id="{477F8A04-938D-4CBF-A3DC-6CB925B6FC34}" type="slidenum">
              <a:rPr lang="fr-FR" sz="1400" b="1" smtClean="0"/>
              <a:t>33</a:t>
            </a:fld>
            <a:endParaRPr lang="fr-FR" sz="1400" b="1" dirty="0"/>
          </a:p>
        </p:txBody>
      </p:sp>
    </p:spTree>
    <p:extLst>
      <p:ext uri="{BB962C8B-B14F-4D97-AF65-F5344CB8AC3E}">
        <p14:creationId xmlns:p14="http://schemas.microsoft.com/office/powerpoint/2010/main" val="1029642075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0</TotalTime>
  <Words>2542</Words>
  <Application>Microsoft Office PowerPoint</Application>
  <PresentationFormat>On-screen Show (4:3)</PresentationFormat>
  <Paragraphs>673</Paragraphs>
  <Slides>33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9" baseType="lpstr">
      <vt:lpstr>Arial</vt:lpstr>
      <vt:lpstr>Arial Black</vt:lpstr>
      <vt:lpstr>Calibri</vt:lpstr>
      <vt:lpstr>Cambria Math</vt:lpstr>
      <vt:lpstr>Wingdings</vt:lpstr>
      <vt:lpstr>Retrospect</vt:lpstr>
      <vt:lpstr>Guitare électrique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 MOREL</dc:creator>
  <cp:lastModifiedBy>Christophe MOREL</cp:lastModifiedBy>
  <cp:revision>841</cp:revision>
  <dcterms:created xsi:type="dcterms:W3CDTF">2025-06-09T15:35:56Z</dcterms:created>
  <dcterms:modified xsi:type="dcterms:W3CDTF">2026-05-17T16:33:46Z</dcterms:modified>
</cp:coreProperties>
</file>