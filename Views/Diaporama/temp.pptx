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6"/>
  </p:notesMasterIdLst>
  <p:sldIdLst>
    <p:sldId id="387" r:id="rId2"/>
    <p:sldId id="340" r:id="rId3"/>
    <p:sldId id="338" r:id="rId4"/>
    <p:sldId id="380" r:id="rId5"/>
    <p:sldId id="335" r:id="rId6"/>
    <p:sldId id="337" r:id="rId7"/>
    <p:sldId id="336" r:id="rId8"/>
    <p:sldId id="403" r:id="rId9"/>
    <p:sldId id="404" r:id="rId10"/>
    <p:sldId id="356" r:id="rId11"/>
    <p:sldId id="345" r:id="rId12"/>
    <p:sldId id="346" r:id="rId13"/>
    <p:sldId id="401" r:id="rId14"/>
    <p:sldId id="329" r:id="rId15"/>
    <p:sldId id="409" r:id="rId16"/>
    <p:sldId id="333" r:id="rId17"/>
    <p:sldId id="402" r:id="rId18"/>
    <p:sldId id="313" r:id="rId19"/>
    <p:sldId id="397" r:id="rId20"/>
    <p:sldId id="378" r:id="rId21"/>
    <p:sldId id="398" r:id="rId22"/>
    <p:sldId id="406" r:id="rId23"/>
    <p:sldId id="303" r:id="rId24"/>
    <p:sldId id="408" r:id="rId25"/>
    <p:sldId id="277" r:id="rId26"/>
    <p:sldId id="370" r:id="rId27"/>
    <p:sldId id="368" r:id="rId28"/>
    <p:sldId id="405" r:id="rId29"/>
    <p:sldId id="365" r:id="rId30"/>
    <p:sldId id="305" r:id="rId31"/>
    <p:sldId id="372" r:id="rId32"/>
    <p:sldId id="384" r:id="rId33"/>
    <p:sldId id="348" r:id="rId34"/>
    <p:sldId id="271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03A"/>
    <a:srgbClr val="1DF200"/>
    <a:srgbClr val="4A66AC"/>
    <a:srgbClr val="014095"/>
    <a:srgbClr val="629DD1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5975" autoAdjust="0"/>
  </p:normalViewPr>
  <p:slideViewPr>
    <p:cSldViewPr snapToGrid="0">
      <p:cViewPr varScale="1">
        <p:scale>
          <a:sx n="119" d="100"/>
          <a:sy n="119" d="100"/>
        </p:scale>
        <p:origin x="1277" y="82"/>
      </p:cViewPr>
      <p:guideLst/>
    </p:cSldViewPr>
  </p:slideViewPr>
  <p:outlineViewPr>
    <p:cViewPr>
      <p:scale>
        <a:sx n="33" d="100"/>
        <a:sy n="33" d="100"/>
      </p:scale>
      <p:origin x="0" y="-91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18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>
              <a:latin typeface="Baskerville Old Face" panose="02020602080505020303" pitchFamily="18" charset="0"/>
            </a:rPr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>
              <a:latin typeface="Baskerville Old Face" panose="02020602080505020303" pitchFamily="18" charset="0"/>
            </a:rPr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>
              <a:latin typeface="Baskerville Old Face" panose="02020602080505020303" pitchFamily="18" charset="0"/>
            </a:rPr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Baskerville Old Face" panose="02020602080505020303" pitchFamily="18" charset="0"/>
            </a:rPr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Baskerville Old Face" panose="02020602080505020303" pitchFamily="18" charset="0"/>
            </a:rPr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Baskerville Old Face" panose="02020602080505020303" pitchFamily="18" charset="0"/>
            </a:rPr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07/06/2026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460C5-B86F-D3A7-9ADA-FE71CF974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438F1B-2B45-3780-15CD-865A9F7E5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BAA60B-6559-980F-7FA4-1F7CFAD65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E360E-9150-85F9-DFE7-118450DA5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7378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9C0FC-4B23-C77D-909C-EB608CE56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2F030-0C12-3582-3DB2-9E259F53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B7B4B-AE32-9530-A187-40C0045B6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C1BB-4E2B-DE55-18E9-70B9A677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138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24.png"/><Relationship Id="rId4" Type="http://schemas.microsoft.com/office/2007/relationships/hdphoto" Target="../media/hdphoto3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28.jpeg"/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12" Type="http://schemas.microsoft.com/office/2007/relationships/hdphoto" Target="../media/hdphoto5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27.png"/><Relationship Id="rId5" Type="http://schemas.openxmlformats.org/officeDocument/2006/relationships/image" Target="../media/image33.png"/><Relationship Id="rId10" Type="http://schemas.openxmlformats.org/officeDocument/2006/relationships/image" Target="../media/image10.png"/><Relationship Id="rId4" Type="http://schemas.openxmlformats.org/officeDocument/2006/relationships/image" Target="../media/image25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jpe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microsoft.com/office/2007/relationships/hdphoto" Target="../media/hdphoto1.wdp"/><Relationship Id="rId3" Type="http://schemas.openxmlformats.org/officeDocument/2006/relationships/image" Target="../media/image32.png"/><Relationship Id="rId7" Type="http://schemas.openxmlformats.org/officeDocument/2006/relationships/image" Target="../media/image39.png"/><Relationship Id="rId12" Type="http://schemas.openxmlformats.org/officeDocument/2006/relationships/image" Target="../media/image1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11.png"/><Relationship Id="rId5" Type="http://schemas.openxmlformats.org/officeDocument/2006/relationships/image" Target="../media/image370.png"/><Relationship Id="rId15" Type="http://schemas.openxmlformats.org/officeDocument/2006/relationships/image" Target="../media/image18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3.png"/><Relationship Id="rId7" Type="http://schemas.openxmlformats.org/officeDocument/2006/relationships/image" Target="../media/image19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5" Type="http://schemas.openxmlformats.org/officeDocument/2006/relationships/image" Target="../media/image44.png"/><Relationship Id="rId4" Type="http://schemas.microsoft.com/office/2007/relationships/hdphoto" Target="../media/hdphoto6.wdp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28.jpeg"/><Relationship Id="rId9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59.png"/><Relationship Id="rId3" Type="http://schemas.openxmlformats.org/officeDocument/2006/relationships/image" Target="../media/image53.png"/><Relationship Id="rId7" Type="http://schemas.openxmlformats.org/officeDocument/2006/relationships/image" Target="../media/image14.png"/><Relationship Id="rId12" Type="http://schemas.openxmlformats.org/officeDocument/2006/relationships/image" Target="../media/image2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58.png"/><Relationship Id="rId5" Type="http://schemas.microsoft.com/office/2007/relationships/hdphoto" Target="../media/hdphoto8.wdp"/><Relationship Id="rId10" Type="http://schemas.openxmlformats.org/officeDocument/2006/relationships/image" Target="../media/image63.png"/><Relationship Id="rId4" Type="http://schemas.openxmlformats.org/officeDocument/2006/relationships/image" Target="../media/image54.png"/><Relationship Id="rId9" Type="http://schemas.openxmlformats.org/officeDocument/2006/relationships/image" Target="../media/image55.png"/><Relationship Id="rId1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80.png"/><Relationship Id="rId7" Type="http://schemas.openxmlformats.org/officeDocument/2006/relationships/image" Target="../media/image18.png"/><Relationship Id="rId12" Type="http://schemas.openxmlformats.org/officeDocument/2006/relationships/image" Target="../media/image571.png"/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570.png"/><Relationship Id="rId5" Type="http://schemas.openxmlformats.org/officeDocument/2006/relationships/image" Target="../media/image61.png"/><Relationship Id="rId10" Type="http://schemas.openxmlformats.org/officeDocument/2006/relationships/image" Target="../media/image57.png"/><Relationship Id="rId4" Type="http://schemas.openxmlformats.org/officeDocument/2006/relationships/image" Target="../media/image60.png"/><Relationship Id="rId9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microsoft.com/office/2007/relationships/hdphoto" Target="../media/hdphoto9.wdp"/><Relationship Id="rId7" Type="http://schemas.openxmlformats.org/officeDocument/2006/relationships/image" Target="../media/image66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0.wdp"/><Relationship Id="rId4" Type="http://schemas.openxmlformats.org/officeDocument/2006/relationships/image" Target="../media/image6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jpe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3" Type="http://schemas.openxmlformats.org/officeDocument/2006/relationships/image" Target="../media/image69.png"/><Relationship Id="rId7" Type="http://schemas.openxmlformats.org/officeDocument/2006/relationships/image" Target="../media/image70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jpeg"/><Relationship Id="rId5" Type="http://schemas.openxmlformats.org/officeDocument/2006/relationships/image" Target="../media/image690.png"/><Relationship Id="rId10" Type="http://schemas.openxmlformats.org/officeDocument/2006/relationships/image" Target="../media/image73.png"/><Relationship Id="rId4" Type="http://schemas.openxmlformats.org/officeDocument/2006/relationships/image" Target="../media/image72.png"/><Relationship Id="rId9" Type="http://schemas.openxmlformats.org/officeDocument/2006/relationships/image" Target="../media/image7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55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6.png"/><Relationship Id="rId7" Type="http://schemas.openxmlformats.org/officeDocument/2006/relationships/image" Target="../media/image30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7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79.png"/><Relationship Id="rId7" Type="http://schemas.openxmlformats.org/officeDocument/2006/relationships/image" Target="../media/image114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3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0.png"/><Relationship Id="rId4" Type="http://schemas.openxmlformats.org/officeDocument/2006/relationships/image" Target="../media/image99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microsoft.com/office/2007/relationships/hdphoto" Target="../media/hdphoto14.wdp"/><Relationship Id="rId4" Type="http://schemas.openxmlformats.org/officeDocument/2006/relationships/image" Target="../media/image8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F28C135D-24FF-5845-D611-94F777B66B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sz="4400" b="1" dirty="0">
                <a:solidFill>
                  <a:schemeClr val="tx1"/>
                </a:solidFill>
                <a:latin typeface="Baskerville Old Face" panose="02020602080505020303" pitchFamily="18" charset="0"/>
              </a:rPr>
              <a:t>Guitare électrique : </a:t>
            </a:r>
            <a:br>
              <a:rPr lang="fr-FR" sz="4400" b="1" dirty="0">
                <a:solidFill>
                  <a:schemeClr val="tx1"/>
                </a:solidFill>
                <a:latin typeface="Baskerville Old Face" panose="02020602080505020303" pitchFamily="18" charset="0"/>
              </a:rPr>
            </a:br>
            <a:r>
              <a:rPr lang="fr-FR" sz="4400" b="1" dirty="0">
                <a:solidFill>
                  <a:schemeClr val="tx1"/>
                </a:solidFill>
                <a:latin typeface="Baskerville Old Face" panose="02020602080505020303" pitchFamily="18" charset="0"/>
              </a:rPr>
              <a:t>Etude de l’influence du type de bobinage dans le micro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40984-6D77-4428-740A-A1707BD7F5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Baskerville Old Face" panose="02020602080505020303" pitchFamily="18" charset="0"/>
              </a:rPr>
              <a:t>TIPE N°39662</a:t>
            </a:r>
          </a:p>
        </p:txBody>
      </p:sp>
    </p:spTree>
    <p:extLst>
      <p:ext uri="{BB962C8B-B14F-4D97-AF65-F5344CB8AC3E}">
        <p14:creationId xmlns:p14="http://schemas.microsoft.com/office/powerpoint/2010/main" val="2596366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051259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i="1" dirty="0"/>
              <a:t>[1] </a:t>
            </a:r>
            <a:r>
              <a:rPr lang="en-GB" sz="1100" i="1" dirty="0" err="1"/>
              <a:t>WiseGuy</a:t>
            </a:r>
            <a:r>
              <a:rPr lang="en-GB" sz="1100" i="1" dirty="0"/>
              <a:t> Research Consultants</a:t>
            </a:r>
            <a:endParaRPr lang="fr-FR" sz="1100" i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21CB03-8FB3-DCCC-1E6A-468CBF66A0C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DEB56B-5E6F-7F53-5602-DC58EDC1646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5B19474D-95C6-FB1A-CC9F-918E0FC5501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>
                  <a:latin typeface="Baskerville Old Face" panose="02020602080505020303" pitchFamily="18" charset="0"/>
                </a:rPr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12551F-BBF9-4810-F2AF-2838FCD6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1EA654-5847-FC21-5C05-227A415B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/>
              <a:t>2</a:t>
            </a:fld>
            <a:endParaRPr lang="fr-FR" sz="1400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13F58-63AC-F0D3-5446-33ECFA46D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43440" y="924437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421651" y="5064229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  <a:latin typeface="Baskerville Old Face" panose="02020602080505020303" pitchFamily="18" charset="0"/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latin typeface="Baskerville Old Face" panose="02020602080505020303" pitchFamily="18" charset="0"/>
                  </a:rPr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latin typeface="Baskerville Old Face" panose="02020602080505020303" pitchFamily="18" charset="0"/>
                  </a:rPr>
                  <a:t>Son</a:t>
                </a:r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oundRect">
              <a:avLst/>
            </a:prstGeom>
            <a:ln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Baskerville Old Face" panose="02020602080505020303" pitchFamily="18" charset="0"/>
                </a:rPr>
                <a:t>Micro</a:t>
              </a:r>
            </a:p>
          </p:txBody>
        </p:sp>
      </p:grp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97FF5D9-EF18-24AF-8AB4-7DAB59DDE23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54CFB6A-7BE4-336E-497B-88F584AC08B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4" name="Footer Placeholder 2">
              <a:extLst>
                <a:ext uri="{FF2B5EF4-FFF2-40B4-BE49-F238E27FC236}">
                  <a16:creationId xmlns:a16="http://schemas.microsoft.com/office/drawing/2014/main" id="{81FB907C-1F88-1B14-226E-07CDAD186F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>
                  <a:latin typeface="Baskerville Old Face" panose="02020602080505020303" pitchFamily="18" charset="0"/>
                </a:rPr>
                <a:t>Introduction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B61853-FCE9-DA8F-F77F-DBFD494B4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FF95-1FEB-A5EE-FCFC-F7BB71FD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7EDE2C3-3CCE-BE30-6104-A13D47AA6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</a:t>
            </a:fld>
            <a:endParaRPr lang="fr-FR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D61DD-1722-D395-3841-2482413498BC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582498-A12E-C1F5-F376-6C09D43F7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FE9E1E-C8F4-E203-5640-8217B20F50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4468C78C-C5D3-2CC7-D96D-98F1E6CC8C4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24C715-1FC7-1020-3096-E8C89B6EA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2C755-F442-740C-3610-5B4E39BBF131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i="1" dirty="0"/>
              <a:t>[1] </a:t>
            </a:r>
            <a:r>
              <a:rPr lang="en-GB" sz="1100" i="1" dirty="0" err="1"/>
              <a:t>WiseGuy</a:t>
            </a:r>
            <a:r>
              <a:rPr lang="en-GB" sz="1100" i="1" dirty="0"/>
              <a:t> Research Consultants</a:t>
            </a:r>
            <a:endParaRPr lang="fr-FR" sz="1100" i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749FD6-7341-29D8-2EFF-027559DD1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46EC049F-B723-0C3E-A041-0F11D0EA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756C83-7AA3-F936-101B-DF3BB74A0CF5}"/>
              </a:ext>
            </a:extLst>
          </p:cNvPr>
          <p:cNvGrpSpPr/>
          <p:nvPr/>
        </p:nvGrpSpPr>
        <p:grpSpPr>
          <a:xfrm>
            <a:off x="642999" y="1268784"/>
            <a:ext cx="7766364" cy="4679896"/>
            <a:chOff x="2391413" y="1278005"/>
            <a:chExt cx="7766364" cy="46798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1B0F9D-8566-0C35-DA3D-12B83B1D5D8F}"/>
                </a:ext>
              </a:extLst>
            </p:cNvPr>
            <p:cNvGrpSpPr/>
            <p:nvPr/>
          </p:nvGrpSpPr>
          <p:grpSpPr>
            <a:xfrm>
              <a:off x="4257048" y="1278005"/>
              <a:ext cx="4556752" cy="4679896"/>
              <a:chOff x="5128260" y="2555821"/>
              <a:chExt cx="3281103" cy="2838917"/>
            </a:xfrm>
          </p:grpSpPr>
          <p:pic>
            <p:nvPicPr>
              <p:cNvPr id="10" name="Picture 9" descr="A blue and white drawing of a square and a rectangle&#10;&#10;AI-generated content may be incorrect.">
                <a:extLst>
                  <a:ext uri="{FF2B5EF4-FFF2-40B4-BE49-F238E27FC236}">
                    <a16:creationId xmlns:a16="http://schemas.microsoft.com/office/drawing/2014/main" id="{35B1D760-66A7-4EF2-06F7-CEB0F74054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7161" r="12491"/>
              <a:stretch>
                <a:fillRect/>
              </a:stretch>
            </p:blipFill>
            <p:spPr>
              <a:xfrm>
                <a:off x="5128260" y="2555821"/>
                <a:ext cx="3281103" cy="2838917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B4602-42B8-CD9D-7B5A-B72982226E4D}"/>
                  </a:ext>
                </a:extLst>
              </p:cNvPr>
              <p:cNvSpPr/>
              <p:nvPr/>
            </p:nvSpPr>
            <p:spPr>
              <a:xfrm>
                <a:off x="6606541" y="3415664"/>
                <a:ext cx="308610" cy="2698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BEE47B49-AC29-0A5B-BE91-5834088C24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5513338" y="3130807"/>
                <a:ext cx="2568446" cy="1693612"/>
              </a:xfrm>
              <a:prstGeom prst="rect">
                <a:avLst/>
              </a:prstGeom>
            </p:spPr>
          </p:pic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0357CB-6D07-11C5-8EC3-85C6EB5CB4BF}"/>
                  </a:ext>
                </a:extLst>
              </p:cNvPr>
              <p:cNvSpPr/>
              <p:nvPr/>
            </p:nvSpPr>
            <p:spPr>
              <a:xfrm>
                <a:off x="6704837" y="3200415"/>
                <a:ext cx="103688" cy="8735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1E53688-28E3-395D-70F6-E50EF0BE10AB}"/>
                </a:ext>
              </a:extLst>
            </p:cNvPr>
            <p:cNvSpPr txBox="1"/>
            <p:nvPr/>
          </p:nvSpPr>
          <p:spPr>
            <a:xfrm flipH="1">
              <a:off x="2391413" y="2759586"/>
              <a:ext cx="1453534" cy="27699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181BAC7-2F05-D532-04C6-1C065A8CDC42}"/>
                </a:ext>
              </a:extLst>
            </p:cNvPr>
            <p:cNvCxnSpPr>
              <a:cxnSpLocks/>
              <a:stCxn id="14" idx="0"/>
              <a:endCxn id="12" idx="2"/>
            </p:cNvCxnSpPr>
            <p:nvPr/>
          </p:nvCxnSpPr>
          <p:spPr>
            <a:xfrm rot="5400000" flipH="1" flipV="1">
              <a:off x="4608888" y="921898"/>
              <a:ext cx="34698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750372-0D76-1A6A-DD9B-C7FF226BC376}"/>
                </a:ext>
              </a:extLst>
            </p:cNvPr>
            <p:cNvSpPr txBox="1"/>
            <p:nvPr/>
          </p:nvSpPr>
          <p:spPr>
            <a:xfrm flipH="1">
              <a:off x="8704243" y="2418439"/>
              <a:ext cx="1453534" cy="27699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Bobine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CDBB6C-E453-637C-7462-FBC874B60003}"/>
                </a:ext>
              </a:extLst>
            </p:cNvPr>
            <p:cNvSpPr txBox="1"/>
            <p:nvPr/>
          </p:nvSpPr>
          <p:spPr>
            <a:xfrm flipH="1">
              <a:off x="2391413" y="3842342"/>
              <a:ext cx="1453534" cy="27699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Aimant permanent</a:t>
              </a:r>
            </a:p>
          </p:txBody>
        </p: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11FCA9BF-D568-7FEF-8F3A-CC03ABDECFCE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>
              <a:off x="7897567" y="1990055"/>
              <a:ext cx="828061" cy="2238826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D422936-A5EF-FA57-44E3-7B65B2489857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rot="5400000" flipH="1" flipV="1">
              <a:off x="4590100" y="1985866"/>
              <a:ext cx="384556" cy="3328396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080" y="54315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EFCE6-1325-4661-AA72-4FFBB63CEF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SingleCoil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F7F45-52A3-9483-9C58-D4A5D32B0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3EF40E8-F99F-B462-8250-77A4C4061D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Footer Placeholder 2">
              <a:extLst>
                <a:ext uri="{FF2B5EF4-FFF2-40B4-BE49-F238E27FC236}">
                  <a16:creationId xmlns:a16="http://schemas.microsoft.com/office/drawing/2014/main" id="{19F03FE6-1C4E-947B-FA91-0A23A23336D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4D5B1-9014-DA13-332D-861F4AAD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0DB0-A6E5-9C62-A429-F39200613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FD8EB-97F7-35B8-C300-7336CE17CC36}"/>
              </a:ext>
            </a:extLst>
          </p:cNvPr>
          <p:cNvSpPr txBox="1"/>
          <p:nvPr/>
        </p:nvSpPr>
        <p:spPr>
          <a:xfrm>
            <a:off x="4570127" y="2991386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6C5D8-B656-F7A3-CC83-FC76F4C1E262}"/>
              </a:ext>
            </a:extLst>
          </p:cNvPr>
          <p:cNvSpPr txBox="1"/>
          <p:nvPr/>
        </p:nvSpPr>
        <p:spPr>
          <a:xfrm>
            <a:off x="4570127" y="4222612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F05E82A5-EBC8-504A-BD59-F5FAB4888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5</a:t>
            </a:fld>
            <a:endParaRPr lang="fr-FR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54492E-813C-5706-A577-F0D7E77B9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D3156D-5F4E-BA5B-DE40-BAA0F2B27352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622219" y="954461"/>
            <a:ext cx="7984008" cy="484971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86814AB-8380-0640-C9A3-B61B1F95450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CC6DF1-F332-A203-EE77-C772AC9C18B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7DD3AD4-78A0-831B-7B26-AF4449B0D39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DA0D0A-9CE4-B35F-DED9-B8F9D2909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E46BE-99A1-C396-1439-D5023E5B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E414B8C1-87A9-3C45-48CB-A14FD9ABD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6</a:t>
            </a:fld>
            <a:endParaRPr lang="fr-FR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2530EA-0671-3BF9-7E52-04AF5E58AB32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9C2055B-F368-6E9D-0494-ABBA449BB687}"/>
              </a:ext>
            </a:extLst>
          </p:cNvPr>
          <p:cNvGrpSpPr>
            <a:grpSpLocks noChangeAspect="1"/>
          </p:cNvGrpSpPr>
          <p:nvPr/>
        </p:nvGrpSpPr>
        <p:grpSpPr>
          <a:xfrm>
            <a:off x="1592129" y="498613"/>
            <a:ext cx="5952228" cy="5446688"/>
            <a:chOff x="4572000" y="1105567"/>
            <a:chExt cx="4303537" cy="3938025"/>
          </a:xfrm>
        </p:grpSpPr>
        <p:pic>
          <p:nvPicPr>
            <p:cNvPr id="22" name="Picture 21" descr="A drawing of a computer&#10;&#10;AI-generated content may be incorrect.">
              <a:extLst>
                <a:ext uri="{FF2B5EF4-FFF2-40B4-BE49-F238E27FC236}">
                  <a16:creationId xmlns:a16="http://schemas.microsoft.com/office/drawing/2014/main" id="{D940559A-4517-B76C-7191-DBF90D784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105567"/>
              <a:ext cx="4303537" cy="3938025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4ACEF00-6939-5D0B-A13E-4FE798F62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5043879" y="2370603"/>
              <a:ext cx="3400522" cy="2092725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A070375-38D7-0425-E55D-0B48FE1180FC}"/>
                </a:ext>
              </a:extLst>
            </p:cNvPr>
            <p:cNvSpPr/>
            <p:nvPr/>
          </p:nvSpPr>
          <p:spPr>
            <a:xfrm>
              <a:off x="4589145" y="2237711"/>
              <a:ext cx="4276317" cy="788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2B4F244-6F4C-3EAA-965E-76F8DAA7B14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Humbucker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593F41-6F39-361E-0A62-C3B67BE71D93}"/>
              </a:ext>
            </a:extLst>
          </p:cNvPr>
          <p:cNvSpPr txBox="1"/>
          <p:nvPr/>
        </p:nvSpPr>
        <p:spPr>
          <a:xfrm flipH="1">
            <a:off x="162308" y="2219528"/>
            <a:ext cx="1453534" cy="27699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F77FEB0-F50B-87D1-B05A-F03C82BDF92D}"/>
              </a:ext>
            </a:extLst>
          </p:cNvPr>
          <p:cNvCxnSpPr>
            <a:cxnSpLocks/>
            <a:stCxn id="37" idx="0"/>
            <a:endCxn id="33" idx="1"/>
          </p:cNvCxnSpPr>
          <p:nvPr/>
        </p:nvCxnSpPr>
        <p:spPr>
          <a:xfrm rot="5400000" flipH="1" flipV="1">
            <a:off x="1202188" y="1805875"/>
            <a:ext cx="100541" cy="72676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BADA61-5B9D-A516-A70E-04D7AA645191}"/>
              </a:ext>
            </a:extLst>
          </p:cNvPr>
          <p:cNvSpPr txBox="1"/>
          <p:nvPr/>
        </p:nvSpPr>
        <p:spPr>
          <a:xfrm flipH="1">
            <a:off x="72320" y="3495964"/>
            <a:ext cx="1622577" cy="27699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1CFDA93-F6CC-0567-B5D1-51470F715D93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1781112" y="1732008"/>
            <a:ext cx="866453" cy="266146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BAF1B7B9-1C45-C088-4CB0-28717C74BDF2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629508" y="976208"/>
            <a:ext cx="773856" cy="426565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467D2B5-392A-FE74-4310-84CCCF4527BB}"/>
              </a:ext>
            </a:extLst>
          </p:cNvPr>
          <p:cNvSpPr txBox="1"/>
          <p:nvPr/>
        </p:nvSpPr>
        <p:spPr>
          <a:xfrm flipH="1">
            <a:off x="7447429" y="3364925"/>
            <a:ext cx="1453534" cy="27699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279DD24F-CDD7-E624-5F20-C27C82B2FBB1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7141995" y="2855301"/>
            <a:ext cx="245578" cy="181882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B78FAB7A-9FB1-C9C0-4840-E3A7DD272F73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6076439" y="1978159"/>
            <a:ext cx="433993" cy="37615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5A6B271-E2D8-B11C-AC3A-41C087E067C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16B81DE-CE67-4B5A-3895-DD224A2F4D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0" name="Footer Placeholder 2">
              <a:extLst>
                <a:ext uri="{FF2B5EF4-FFF2-40B4-BE49-F238E27FC236}">
                  <a16:creationId xmlns:a16="http://schemas.microsoft.com/office/drawing/2014/main" id="{ED27BAC7-A23D-18ED-EB0C-C289ED77629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FFD95-280A-DA7B-3174-834A58BBF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90AA6-1EE8-EF08-E227-88553644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CCC4F-5C65-DD91-8A61-17E888BB2326}"/>
              </a:ext>
            </a:extLst>
          </p:cNvPr>
          <p:cNvSpPr txBox="1"/>
          <p:nvPr/>
        </p:nvSpPr>
        <p:spPr>
          <a:xfrm>
            <a:off x="3545069" y="2778610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E1A32-81FA-D10B-F3D8-BD7081109444}"/>
              </a:ext>
            </a:extLst>
          </p:cNvPr>
          <p:cNvSpPr txBox="1"/>
          <p:nvPr/>
        </p:nvSpPr>
        <p:spPr>
          <a:xfrm>
            <a:off x="5195699" y="2782495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83196-DCA2-B166-452A-75A892D29BD8}"/>
              </a:ext>
            </a:extLst>
          </p:cNvPr>
          <p:cNvSpPr txBox="1"/>
          <p:nvPr/>
        </p:nvSpPr>
        <p:spPr>
          <a:xfrm>
            <a:off x="5195698" y="4320785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1F120-E518-5CCD-6BEA-2B95E2C97550}"/>
              </a:ext>
            </a:extLst>
          </p:cNvPr>
          <p:cNvSpPr txBox="1"/>
          <p:nvPr/>
        </p:nvSpPr>
        <p:spPr>
          <a:xfrm>
            <a:off x="3545069" y="4344661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F1BF78-7771-183F-5E10-7EAB30E1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7</a:t>
            </a:fld>
            <a:endParaRPr lang="fr-FR" sz="14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361DA7D-3E77-57F3-D00B-30AF85B8C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56920" y="527318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Free femm 4.2 software download (Windows)">
            <a:extLst>
              <a:ext uri="{FF2B5EF4-FFF2-40B4-BE49-F238E27FC236}">
                <a16:creationId xmlns:a16="http://schemas.microsoft.com/office/drawing/2014/main" id="{7E7337E8-045B-F730-06E8-1B07E3C60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080" y="54315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011BF0-BBB4-7FA2-8EF0-E3C5ED8627DF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F0D54-FAC9-FCA9-394E-7B3DE258D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60F02AB-D7B2-21C7-8CF3-B0397A4CD4A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3D1F8F13-01D1-BC37-8265-087B65EA5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961" y="1481885"/>
            <a:ext cx="7425344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800" dirty="0"/>
              <a:t>Dans quelle mesure </a:t>
            </a:r>
            <a:r>
              <a:rPr lang="fr-FR" sz="28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800" dirty="0"/>
              <a:t>permet-il </a:t>
            </a:r>
            <a:r>
              <a:rPr lang="fr-FR" sz="2800" b="1" dirty="0"/>
              <a:t>d'éliminer les parasites </a:t>
            </a:r>
            <a:r>
              <a:rPr lang="fr-FR" sz="28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800" dirty="0"/>
              <a:t>Comment cela impacte-t-il </a:t>
            </a:r>
            <a:r>
              <a:rPr lang="fr-FR" sz="2800" b="1" dirty="0"/>
              <a:t>la richesse du son </a:t>
            </a:r>
            <a:r>
              <a:rPr lang="fr-FR" sz="2800" dirty="0"/>
              <a:t>?</a:t>
            </a:r>
            <a:endParaRPr kumimoji="0" lang="fr-FR" altLang="fr-FR" sz="3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C0ABA61-984D-B447-A033-A6A7FFDC69D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0C140FC-790F-04FC-AC3A-83A9A1BB82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47852B36-A24B-2C71-7860-E989BB6DD96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6FA17-6035-14D8-CA98-C35920B88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670AC2D-7072-3959-CB0B-9F8876177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3D97407F-6104-F5BB-6541-7F3AFD5F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8</a:t>
            </a:fld>
            <a:endParaRPr lang="fr-FR" sz="1400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EC9287-4771-2C76-EF81-1887B1756CCD}"/>
              </a:ext>
            </a:extLst>
          </p:cNvPr>
          <p:cNvSpPr txBox="1">
            <a:spLocks/>
          </p:cNvSpPr>
          <p:nvPr/>
        </p:nvSpPr>
        <p:spPr>
          <a:xfrm>
            <a:off x="822961" y="4488869"/>
            <a:ext cx="7586402" cy="162790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r>
              <a:rPr lang="fr-FR" sz="1600" dirty="0">
                <a:solidFill>
                  <a:schemeClr val="tx1"/>
                </a:solidFill>
                <a:latin typeface="Arial Black" panose="020B0A04020102020204" pitchFamily="34" charset="0"/>
              </a:rPr>
              <a:t>Filtrage électrique</a:t>
            </a: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endParaRPr lang="fr-FR" sz="1600" dirty="0">
              <a:solidFill>
                <a:schemeClr val="tx1"/>
              </a:solidFill>
              <a:latin typeface="Arial Black" panose="020B0A04020102020204" pitchFamily="34" charset="0"/>
            </a:endParaRP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r>
              <a:rPr lang="fr-FR" sz="1600" dirty="0">
                <a:solidFill>
                  <a:schemeClr val="tx1"/>
                </a:solidFill>
                <a:latin typeface="Arial Black" panose="020B0A04020102020204" pitchFamily="34" charset="0"/>
              </a:rPr>
              <a:t>Induction et filtrage spatial</a:t>
            </a: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endParaRPr lang="fr-FR" sz="1600" dirty="0">
              <a:solidFill>
                <a:schemeClr val="tx1"/>
              </a:solidFill>
            </a:endParaRP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r>
              <a:rPr lang="fr-FR" sz="1600" dirty="0">
                <a:solidFill>
                  <a:schemeClr val="tx1"/>
                </a:solidFill>
                <a:latin typeface="Arial Black" panose="020B0A04020102020204" pitchFamily="34" charset="0"/>
              </a:rPr>
              <a:t>Réduction du bourdonnement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9AA8C0-7B15-CD87-BAAF-68874AA43B59}"/>
              </a:ext>
            </a:extLst>
          </p:cNvPr>
          <p:cNvSpPr txBox="1"/>
          <p:nvPr/>
        </p:nvSpPr>
        <p:spPr>
          <a:xfrm>
            <a:off x="2266043" y="3991121"/>
            <a:ext cx="4611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Arial Black" panose="020B0A04020102020204" pitchFamily="34" charset="0"/>
              </a:rPr>
              <a:t>SOMMAIRE</a:t>
            </a:r>
            <a:endParaRPr lang="fr-FR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806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170DF-C183-6295-4303-D3CF9E220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C4B8770-573B-C831-FFA0-861520C1811C}"/>
              </a:ext>
            </a:extLst>
          </p:cNvPr>
          <p:cNvSpPr/>
          <p:nvPr/>
        </p:nvSpPr>
        <p:spPr>
          <a:xfrm>
            <a:off x="326174" y="1202288"/>
            <a:ext cx="2779881" cy="4189988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Hypothèses</a:t>
            </a:r>
          </a:p>
          <a:p>
            <a:pPr algn="ctr"/>
            <a:endParaRPr lang="fr-FR" b="1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tx1"/>
                </a:solidFill>
              </a:rPr>
              <a:t>Symétrie parfaite des bobinages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b="1" dirty="0">
                <a:solidFill>
                  <a:schemeClr val="tx1"/>
                </a:solidFill>
              </a:rPr>
              <a:t>Conséquences</a:t>
            </a:r>
          </a:p>
          <a:p>
            <a:pPr algn="ctr"/>
            <a:endParaRPr lang="fr-FR" b="1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tx1"/>
                </a:solidFill>
              </a:rPr>
              <a:t>Schéma équivalent identique peu importe le montage</a:t>
            </a:r>
          </a:p>
          <a:p>
            <a:pPr algn="ctr"/>
            <a:endParaRPr lang="fr-FR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E7F45E-CD1D-2164-9701-C1A6AFEED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961" y="6459786"/>
            <a:ext cx="1854203" cy="365125"/>
          </a:xfrm>
        </p:spPr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AC62C1-232D-7788-1243-02E35FDD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dirty="0"/>
              <a:t>TIPE 39662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1D84D8-D07A-452D-142A-2CD131E7DD05}"/>
              </a:ext>
            </a:extLst>
          </p:cNvPr>
          <p:cNvSpPr txBox="1"/>
          <p:nvPr/>
        </p:nvSpPr>
        <p:spPr>
          <a:xfrm>
            <a:off x="3353555" y="5050200"/>
            <a:ext cx="4906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Interprétation :</a:t>
            </a:r>
            <a:r>
              <a:rPr lang="fr-FR" sz="1600" b="1" dirty="0"/>
              <a:t> </a:t>
            </a:r>
            <a:r>
              <a:rPr lang="fr-FR" sz="1600" dirty="0"/>
              <a:t>Filtrage passe-bas du 2</a:t>
            </a:r>
            <a:r>
              <a:rPr lang="fr-FR" sz="1600" baseline="30000" dirty="0"/>
              <a:t>nd</a:t>
            </a:r>
            <a:r>
              <a:rPr lang="fr-FR" sz="1600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0734A4-CBE8-4C4A-910C-9F7CCDD83A63}"/>
              </a:ext>
            </a:extLst>
          </p:cNvPr>
          <p:cNvSpPr txBox="1"/>
          <p:nvPr/>
        </p:nvSpPr>
        <p:spPr>
          <a:xfrm>
            <a:off x="6241143" y="6071016"/>
            <a:ext cx="2962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i="1" dirty="0"/>
              <a:t>[5] </a:t>
            </a:r>
            <a:r>
              <a:rPr lang="en-GB" sz="1100" i="1" dirty="0"/>
              <a:t>Dan Carson, University of Illinois</a:t>
            </a:r>
            <a:endParaRPr lang="fr-FR" sz="1100" i="1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724E380-E400-02D9-9B4F-DC6873BCB19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CB2540-958A-8C94-57AA-27887906B7E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C2B128A9-5235-454F-1106-72738D1505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F024D89A-CA89-BBFD-E6D0-5A9B3DEAC2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289370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41" name="Footer Placeholder 2">
            <a:extLst>
              <a:ext uri="{FF2B5EF4-FFF2-40B4-BE49-F238E27FC236}">
                <a16:creationId xmlns:a16="http://schemas.microsoft.com/office/drawing/2014/main" id="{ABD457B7-BD9A-9D40-E8CC-DC7DE0DF59E8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D4F3B522-0042-98CF-348C-D6321DB40BBF}"/>
              </a:ext>
            </a:extLst>
          </p:cNvPr>
          <p:cNvSpPr txBox="1">
            <a:spLocks/>
          </p:cNvSpPr>
          <p:nvPr/>
        </p:nvSpPr>
        <p:spPr>
          <a:xfrm>
            <a:off x="3137564" y="542454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THEORIE</a:t>
            </a:r>
            <a:endParaRPr lang="fr-FR" sz="1900" dirty="0">
              <a:solidFill>
                <a:schemeClr val="tx1"/>
              </a:solidFill>
            </a:endParaRP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8686E06C-61F4-DB46-F230-CE883897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9</a:t>
            </a:fld>
            <a:endParaRPr lang="fr-FR" sz="1400" b="1" dirty="0"/>
          </a:p>
        </p:txBody>
      </p:sp>
      <p:pic>
        <p:nvPicPr>
          <p:cNvPr id="40" name="Picture 39" descr="Projects and products | Open CASCADE Technology">
            <a:extLst>
              <a:ext uri="{FF2B5EF4-FFF2-40B4-BE49-F238E27FC236}">
                <a16:creationId xmlns:a16="http://schemas.microsoft.com/office/drawing/2014/main" id="{AD9C3F1F-5B42-9258-4D58-4DB0DBB6BA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67898889-B1A9-29F4-1012-B5D67653414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37564" y="1189553"/>
            <a:ext cx="5984658" cy="31665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02A36-DF3E-BE68-A0FD-82BD38E88D13}"/>
                  </a:ext>
                </a:extLst>
              </p:cNvPr>
              <p:cNvSpPr txBox="1"/>
              <p:nvPr/>
            </p:nvSpPr>
            <p:spPr>
              <a:xfrm>
                <a:off x="3911171" y="3970773"/>
                <a:ext cx="4941142" cy="77059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bar>
                        </m:den>
                      </m:f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02A36-DF3E-BE68-A0FD-82BD38E88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171" y="3970773"/>
                <a:ext cx="4941142" cy="7705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EB9685D-25BE-0533-63D8-9D0B1372A8D3}"/>
              </a:ext>
            </a:extLst>
          </p:cNvPr>
          <p:cNvCxnSpPr/>
          <p:nvPr/>
        </p:nvCxnSpPr>
        <p:spPr>
          <a:xfrm flipV="1">
            <a:off x="8801676" y="2230210"/>
            <a:ext cx="0" cy="46007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2EAE8EC-00AB-57FD-99CD-3281288B8A7E}"/>
              </a:ext>
            </a:extLst>
          </p:cNvPr>
          <p:cNvSpPr txBox="1"/>
          <p:nvPr/>
        </p:nvSpPr>
        <p:spPr>
          <a:xfrm>
            <a:off x="8767056" y="2138710"/>
            <a:ext cx="4636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ahnschrift Light SemiCondensed" panose="020B0502040204020203" pitchFamily="34" charset="0"/>
              </a:rPr>
              <a:t>s(t)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80058A2-E037-5C14-EA7F-159E933F532A}"/>
              </a:ext>
            </a:extLst>
          </p:cNvPr>
          <p:cNvCxnSpPr/>
          <p:nvPr/>
        </p:nvCxnSpPr>
        <p:spPr>
          <a:xfrm flipV="1">
            <a:off x="3712672" y="2181212"/>
            <a:ext cx="0" cy="46007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27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319EB6-D050-8DBB-4112-2E3F1B093E1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C0D67-2425-4D0E-3776-899C928CB41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5C8F3993-2355-171A-9FBE-F8EA50A5C35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329334" y="1202288"/>
                <a:ext cx="3533931" cy="2309783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8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Pont diviseur de tension :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bar>
                          <m:barPr>
                            <m:ctrlPr>
                              <a:rPr lang="fr-FR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  <m:bar>
                      <m:barPr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endParaRPr lang="fr-FR" sz="12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</m:bar>
                      <m:r>
                        <a:rPr lang="fr-FR" sz="1400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𝑼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bar>
                        </m:den>
                      </m:f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334" y="1202288"/>
                <a:ext cx="3533931" cy="2309783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3975817" y="1187775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0A638B-D00C-84A5-7F3F-9DEF548B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4FF317D-0E3D-2149-FF14-7FB5BF57A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468B502-C852-DA7A-06E1-C9E1DD295A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13862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3AB365AE-8582-AF86-8AE4-7690CDAE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10</a:t>
            </a:fld>
            <a:endParaRPr lang="fr-FR" sz="1400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9EB506-5CA6-10DC-1561-DFDEFE9D4584}"/>
              </a:ext>
            </a:extLst>
          </p:cNvPr>
          <p:cNvSpPr txBox="1">
            <a:spLocks/>
          </p:cNvSpPr>
          <p:nvPr/>
        </p:nvSpPr>
        <p:spPr>
          <a:xfrm>
            <a:off x="3137564" y="578739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dirty="0">
                <a:solidFill>
                  <a:schemeClr val="tx1"/>
                </a:solidFill>
                <a:latin typeface="Arial Black" panose="020B0A04020102020204" pitchFamily="34" charset="0"/>
              </a:rPr>
              <a:t>EXPERIMENTATION</a:t>
            </a:r>
            <a:endParaRPr lang="fr-FR" sz="28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7EE6B7-DAEB-9C3D-2C72-7EF6622A98CB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7441" y="3737466"/>
            <a:ext cx="3617715" cy="2337979"/>
          </a:xfrm>
          <a:prstGeom prst="rect">
            <a:avLst/>
          </a:prstGeom>
        </p:spPr>
      </p:pic>
      <p:pic>
        <p:nvPicPr>
          <p:cNvPr id="9" name="Picture 8" descr="Projects and products | Open CASCADE Technology">
            <a:extLst>
              <a:ext uri="{FF2B5EF4-FFF2-40B4-BE49-F238E27FC236}">
                <a16:creationId xmlns:a16="http://schemas.microsoft.com/office/drawing/2014/main" id="{317D818C-DF3F-D52C-9FD6-77C9A22A298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CC699FA-945D-D5E7-E16E-139DC051A803}"/>
              </a:ext>
            </a:extLst>
          </p:cNvPr>
          <p:cNvCxnSpPr/>
          <p:nvPr/>
        </p:nvCxnSpPr>
        <p:spPr>
          <a:xfrm flipV="1">
            <a:off x="1072362" y="4508739"/>
            <a:ext cx="0" cy="46007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1750F1-61C4-1ABF-1427-8F36A4FC452A}"/>
              </a:ext>
            </a:extLst>
          </p:cNvPr>
          <p:cNvGrpSpPr/>
          <p:nvPr/>
        </p:nvGrpSpPr>
        <p:grpSpPr>
          <a:xfrm>
            <a:off x="2286424" y="4446380"/>
            <a:ext cx="263930" cy="460075"/>
            <a:chOff x="2286424" y="4446380"/>
            <a:chExt cx="263930" cy="460075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EDEFFA9-EDFA-3808-CE58-810006A19D91}"/>
                </a:ext>
              </a:extLst>
            </p:cNvPr>
            <p:cNvCxnSpPr/>
            <p:nvPr/>
          </p:nvCxnSpPr>
          <p:spPr>
            <a:xfrm flipV="1">
              <a:off x="2550354" y="4446380"/>
              <a:ext cx="0" cy="460075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FD5B4D8-30CA-BC37-E4CA-E60997378CC7}"/>
                </a:ext>
              </a:extLst>
            </p:cNvPr>
            <p:cNvSpPr txBox="1"/>
            <p:nvPr/>
          </p:nvSpPr>
          <p:spPr>
            <a:xfrm>
              <a:off x="2286424" y="4522528"/>
              <a:ext cx="2286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>
                  <a:latin typeface="Bahnschrift Light SemiCondensed" panose="020B0502040204020203" pitchFamily="34" charset="0"/>
                </a:rPr>
                <a:t>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1F61BF6-EB65-26B3-D702-07B708FEDE93}"/>
              </a:ext>
            </a:extLst>
          </p:cNvPr>
          <p:cNvSpPr txBox="1"/>
          <p:nvPr/>
        </p:nvSpPr>
        <p:spPr>
          <a:xfrm>
            <a:off x="1641314" y="4037640"/>
            <a:ext cx="2686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u="sng" dirty="0">
                <a:latin typeface="Bahnschrift Light SemiCondensed" panose="020B0502040204020203" pitchFamily="34" charset="0"/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59695" y="1085287"/>
                <a:ext cx="3499012" cy="1943015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Méthode</a:t>
                </a:r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Avec un Ohmmètre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9695" y="1085287"/>
                <a:ext cx="3499012" cy="194301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6478" y="1085287"/>
            <a:ext cx="4907926" cy="4089938"/>
          </a:xfrm>
          <a:prstGeom prst="rect">
            <a:avLst/>
          </a:prstGeom>
          <a:ln cap="rnd">
            <a:solidFill>
              <a:schemeClr val="bg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59695" y="3111285"/>
            <a:ext cx="3499012" cy="3005167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Mesures</a:t>
            </a:r>
            <a:endParaRPr lang="fr-FR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968793"/>
              </p:ext>
            </p:extLst>
          </p:nvPr>
        </p:nvGraphicFramePr>
        <p:xfrm>
          <a:off x="5559080" y="3550080"/>
          <a:ext cx="3330608" cy="2335395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832652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2652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2652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  <a:gridCol w="832652">
                  <a:extLst>
                    <a:ext uri="{9D8B030D-6E8A-4147-A177-3AD203B41FA5}">
                      <a16:colId xmlns:a16="http://schemas.microsoft.com/office/drawing/2014/main" val="3701763189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5,26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15,10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4,52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2,37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4,60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1,72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370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492,3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1053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343,0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76403" y="4084397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4084397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76403" y="4580964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4580964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76403" y="5024340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5024340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76403" y="5498154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5498154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37794" y="3537452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67699" y="353426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4AE11E-94DD-BEBA-B1D0-26ABBE2E489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7734" b="94964" l="9577" r="89978">
                        <a14:foregroundMark x1="58463" y1="9353" x2="66036" y2="7014"/>
                        <a14:foregroundMark x1="66036" y1="7014" x2="71715" y2="7734"/>
                        <a14:foregroundMark x1="71715" y1="7734" x2="62695" y2="8813"/>
                        <a14:foregroundMark x1="74833" y1="40827" x2="76503" y2="42446"/>
                        <a14:foregroundMark x1="64143" y1="47302" x2="64143" y2="47302"/>
                        <a14:foregroundMark x1="55457" y1="52698" x2="55457" y2="52698"/>
                        <a14:foregroundMark x1="45323" y1="59532" x2="45323" y2="59532"/>
                        <a14:foregroundMark x1="34187" y1="65108" x2="34187" y2="65108"/>
                        <a14:foregroundMark x1="22717" y1="70324" x2="22717" y2="70324"/>
                        <a14:foregroundMark x1="9688" y1="69604" x2="10802" y2="81475"/>
                        <a14:foregroundMark x1="10802" y1="81475" x2="13252" y2="82914"/>
                        <a14:foregroundMark x1="21604" y1="90468" x2="30178" y2="86511"/>
                        <a14:foregroundMark x1="22829" y1="94964" x2="22829" y2="94964"/>
                        <a14:foregroundMark x1="73942" y1="43165" x2="73942" y2="43165"/>
                      </a14:backgroundRemoval>
                    </a14:imgEffect>
                  </a14:imgLayer>
                </a14:imgProps>
              </a:ext>
            </a:extLst>
          </a:blip>
          <a:srcRect l="6039" t="3464" r="11427" b="863"/>
          <a:stretch>
            <a:fillRect/>
          </a:stretch>
        </p:blipFill>
        <p:spPr>
          <a:xfrm>
            <a:off x="7321544" y="3584069"/>
            <a:ext cx="601890" cy="43200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BBCE65E-32DD-5E3F-FB43-54F443976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F54AAF-1F00-4A5D-972C-B8793ABDB31E}"/>
              </a:ext>
            </a:extLst>
          </p:cNvPr>
          <p:cNvSpPr txBox="1"/>
          <p:nvPr/>
        </p:nvSpPr>
        <p:spPr>
          <a:xfrm>
            <a:off x="342305" y="5193122"/>
            <a:ext cx="50097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2 bobinages </a:t>
            </a:r>
            <a:r>
              <a:rPr lang="fr-FR" dirty="0">
                <a:sym typeface="Wingdings" panose="05000000000000000000" pitchFamily="2" charset="2"/>
              </a:rPr>
              <a:t> Impédance plus élevée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❌ </a:t>
            </a:r>
            <a:r>
              <a:rPr lang="fr-FR" dirty="0"/>
              <a:t>Asymétrie de bobinage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D0EFF090-BF0A-0471-2711-EC67DE0CE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2C3CE1E-2176-A2FA-66DD-2825EA60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4E8BA1-2670-8152-1740-E703D32C7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61105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E15E85E2-3972-C82C-AA31-3DF274E7E3F8}"/>
              </a:ext>
            </a:extLst>
          </p:cNvPr>
          <p:cNvSpPr/>
          <p:nvPr/>
        </p:nvSpPr>
        <p:spPr>
          <a:xfrm>
            <a:off x="2192999" y="296270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36E53F-6C18-D61D-21EC-086093EE1878}"/>
              </a:ext>
            </a:extLst>
          </p:cNvPr>
          <p:cNvSpPr/>
          <p:nvPr/>
        </p:nvSpPr>
        <p:spPr>
          <a:xfrm>
            <a:off x="3005319" y="261095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Slide Number Placeholder 2">
            <a:extLst>
              <a:ext uri="{FF2B5EF4-FFF2-40B4-BE49-F238E27FC236}">
                <a16:creationId xmlns:a16="http://schemas.microsoft.com/office/drawing/2014/main" id="{8D7582FE-4322-E4D9-50B3-0F9F7BFBB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11</a:t>
            </a:fld>
            <a:endParaRPr lang="fr-FR" sz="1400" b="1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89A4FE8-569E-A552-3A6D-10ADFC74BC44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F49161-7DA7-CBAD-DA69-F6204EDAF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32" b="3239"/>
          <a:stretch>
            <a:fillRect/>
          </a:stretch>
        </p:blipFill>
        <p:spPr>
          <a:xfrm>
            <a:off x="1447765" y="959823"/>
            <a:ext cx="6248472" cy="42721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F15115-6003-EC7E-DAC7-C2810368AF60}"/>
              </a:ext>
            </a:extLst>
          </p:cNvPr>
          <p:cNvSpPr txBox="1"/>
          <p:nvPr/>
        </p:nvSpPr>
        <p:spPr>
          <a:xfrm>
            <a:off x="326176" y="4977665"/>
            <a:ext cx="81329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Humbucker </a:t>
            </a:r>
            <a:r>
              <a:rPr lang="fr-FR" dirty="0">
                <a:sym typeface="Wingdings" panose="05000000000000000000" pitchFamily="2" charset="2"/>
              </a:rPr>
              <a:t> Gain plat  Son ‘’brut’’</a:t>
            </a:r>
          </a:p>
          <a:p>
            <a:r>
              <a:rPr lang="fr-FR" dirty="0">
                <a:sym typeface="Wingdings" panose="05000000000000000000" pitchFamily="2" charset="2"/>
              </a:rPr>
              <a:t>✅ SingleCoil  Amplification des harmoniques  Son ‘’brillant’’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En basse fréquence : 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/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blipFill>
                <a:blip r:embed="rId4"/>
                <a:stretch>
                  <a:fillRect b="-265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37137A-2DF8-0791-F8A8-F30EA22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78B1C69-CA78-8148-C0E7-1AAEB429E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99404B-C1DA-0DFF-BFA6-4B629B35C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45825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5" name="Picture 14" descr="Python Logo PNG Transparent – Brands Logos">
            <a:extLst>
              <a:ext uri="{FF2B5EF4-FFF2-40B4-BE49-F238E27FC236}">
                <a16:creationId xmlns:a16="http://schemas.microsoft.com/office/drawing/2014/main" id="{39801DB7-87F1-E2FA-E3AB-1FF4FDB11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A117BC8-A91E-D34D-A263-E9D4907B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12</a:t>
            </a:fld>
            <a:endParaRPr lang="fr-FR" sz="1400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6465AC-3297-9552-A833-635A6DEEB7B4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2777E-787B-7FA7-4B02-9F25CC133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00CA7A20-16A1-755D-6552-ABA4AF85F49B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EC0C66A-28E4-399D-5BF8-B198E576525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F046C010-248D-9EF3-8C23-CBA994762F9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48581962-2856-7171-2332-CC82601DD226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A5EB2C-C3F5-B258-941A-EF13F3C06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F95791-4886-23E8-4BC0-C10246BD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348C746B-BF5D-0D2D-2D11-C62DC6E4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13</a:t>
            </a:fld>
            <a:endParaRPr lang="fr-FR" sz="1400" b="1" dirty="0">
              <a:solidFill>
                <a:schemeClr val="bg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809775A-3002-ACB6-40BC-02CB4A78E0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3C80249-BC97-3678-2BF1-A9F381D82F9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F9F05AD4-6707-8DCF-247F-074861539BE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8E99884-F11A-7D1F-24AD-3E8AE5487D4C}"/>
              </a:ext>
            </a:extLst>
          </p:cNvPr>
          <p:cNvSpPr txBox="1"/>
          <p:nvPr/>
        </p:nvSpPr>
        <p:spPr>
          <a:xfrm>
            <a:off x="5747657" y="6071016"/>
            <a:ext cx="34557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i="1" dirty="0"/>
              <a:t>[6] </a:t>
            </a:r>
            <a:r>
              <a:rPr lang="en-GB" sz="1100" i="1" dirty="0"/>
              <a:t>B. D'Andrea-Novel, Presse des Mines</a:t>
            </a:r>
            <a:endParaRPr lang="fr-FR" sz="1100" i="1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9A41CB-93E0-F186-1666-DD9CC49F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17" b="288"/>
          <a:stretch>
            <a:fillRect/>
          </a:stretch>
        </p:blipFill>
        <p:spPr>
          <a:xfrm>
            <a:off x="2677164" y="863666"/>
            <a:ext cx="6264742" cy="1648336"/>
          </a:xfrm>
          <a:prstGeom prst="rect">
            <a:avLst/>
          </a:prstGeom>
        </p:spPr>
      </p:pic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A85ABAC-EF74-3BBC-26AF-326F8EB90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27700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57863F-AA11-3364-F115-237A45CB06A6}"/>
              </a:ext>
            </a:extLst>
          </p:cNvPr>
          <p:cNvSpPr>
            <a:spLocks noChangeAspect="1"/>
          </p:cNvSpPr>
          <p:nvPr/>
        </p:nvSpPr>
        <p:spPr>
          <a:xfrm>
            <a:off x="2677164" y="2536029"/>
            <a:ext cx="986187" cy="652972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/>
              <a:t>Aimants permanents des micros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7264CEC-964C-9380-C7BA-8B9A33DA3538}"/>
              </a:ext>
            </a:extLst>
          </p:cNvPr>
          <p:cNvSpPr>
            <a:spLocks noChangeAspect="1"/>
          </p:cNvSpPr>
          <p:nvPr/>
        </p:nvSpPr>
        <p:spPr>
          <a:xfrm>
            <a:off x="4788586" y="2541943"/>
            <a:ext cx="986187" cy="6518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/>
              <a:t>Courant induit dans la corde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1E7B9BB-3AEF-9F7B-B03A-D6A6BB79D3C9}"/>
              </a:ext>
            </a:extLst>
          </p:cNvPr>
          <p:cNvSpPr>
            <a:spLocks noChangeAspect="1"/>
          </p:cNvSpPr>
          <p:nvPr/>
        </p:nvSpPr>
        <p:spPr>
          <a:xfrm>
            <a:off x="6900008" y="2541943"/>
            <a:ext cx="986187" cy="64501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/>
              <a:t>Vibration &lt;=&gt; Flux variable dans le micro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FB00B074-C57B-4E0E-60C0-A1CE443C1A0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955719" y="2545325"/>
                <a:ext cx="986187" cy="641634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sz="1100" b="1" dirty="0"/>
                  <a:t>F.E.M.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2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𝐝</m:t>
                          </m:r>
                          <m:r>
                            <a:rPr lang="fr-FR" sz="12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𝚽</m:t>
                          </m:r>
                        </m:num>
                        <m:den>
                          <m:r>
                            <a:rPr lang="fr-FR" sz="12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𝐝</m:t>
                          </m:r>
                          <m:r>
                            <a:rPr lang="fr-FR" sz="12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den>
                      </m:f>
                    </m:oMath>
                  </m:oMathPara>
                </a14:m>
                <a:endParaRPr lang="fr-FR" sz="1200" b="1" dirty="0"/>
              </a:p>
            </p:txBody>
          </p:sp>
        </mc:Choice>
        <mc:Fallback xmlns="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FB00B074-C57B-4E0E-60C0-A1CE443C1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719" y="2545325"/>
                <a:ext cx="986187" cy="64163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9E1A3DB-344B-71EB-E252-81C126B9B2BC}"/>
                  </a:ext>
                </a:extLst>
              </p:cNvPr>
              <p:cNvSpPr txBox="1"/>
              <p:nvPr/>
            </p:nvSpPr>
            <p:spPr>
              <a:xfrm>
                <a:off x="2677164" y="3396458"/>
                <a:ext cx="5019072" cy="615168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9E1A3DB-344B-71EB-E252-81C126B9B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164" y="3396458"/>
                <a:ext cx="5019072" cy="615168"/>
              </a:xfrm>
              <a:prstGeom prst="rect">
                <a:avLst/>
              </a:prstGeom>
              <a:blipFill>
                <a:blip r:embed="rId4"/>
                <a:stretch>
                  <a:fillRect t="-111538" b="-159615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959A2E5C-1CF6-3B83-BF67-CFD4839520A6}"/>
              </a:ext>
            </a:extLst>
          </p:cNvPr>
          <p:cNvGrpSpPr/>
          <p:nvPr/>
        </p:nvGrpSpPr>
        <p:grpSpPr>
          <a:xfrm>
            <a:off x="5259301" y="4169993"/>
            <a:ext cx="2436935" cy="1824341"/>
            <a:chOff x="6258999" y="4221512"/>
            <a:chExt cx="2658052" cy="12627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C17C2D44-2A10-A2BC-3588-33517D1145E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258999" y="4221512"/>
                  <a:ext cx="2658052" cy="1262742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a14:m>
                  <a:r>
                    <a:rPr lang="fr-FR" sz="1200" b="1" dirty="0"/>
                    <a:t> : Signature mécanique</a:t>
                  </a:r>
                </a:p>
                <a:p>
                  <a:pPr algn="ctr"/>
                  <a:endParaRPr lang="fr-FR" sz="1200" b="1" dirty="0"/>
                </a:p>
                <a:p>
                  <a:r>
                    <a:rPr lang="fr-FR" sz="1400" dirty="0"/>
                    <a:t>Dépend de l’excitation initiale de la corde</a:t>
                  </a:r>
                </a:p>
              </p:txBody>
            </p:sp>
          </mc:Choice>
          <mc:Fallback xmlns=""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C17C2D44-2A10-A2BC-3588-33517D1145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8999" y="4221512"/>
                  <a:ext cx="2658052" cy="1262742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CA2A111-C6D7-FFD4-2EA1-032C53C0873D}"/>
                    </a:ext>
                  </a:extLst>
                </p:cNvPr>
                <p:cNvSpPr txBox="1"/>
                <p:nvPr/>
              </p:nvSpPr>
              <p:spPr>
                <a:xfrm>
                  <a:off x="6310224" y="4942097"/>
                  <a:ext cx="2567070" cy="368265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>
                            <a:latin typeface="Cambria Math" panose="02040503050406030204" pitchFamily="18" charset="0"/>
                          </a:rPr>
                          <m:t>𝑩𝒏</m:t>
                        </m:r>
                        <m:r>
                          <a:rPr lang="fr-FR" sz="1200" b="1" i="1"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fr-FR" sz="12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𝑳</m:t>
                                </m:r>
                              </m:e>
                              <m:sup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ad>
                              <m:radPr>
                                <m:degHide m:val="on"/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e>
                            </m:rad>
                          </m:num>
                          <m:den>
                            <m:sSup>
                              <m:sSup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𝝅</m:t>
                                </m:r>
                              </m:e>
                              <m:sup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</m:sub>
                            </m:sSub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𝑳</m:t>
                            </m:r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</m:sub>
                            </m:sSub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  <m:f>
                          <m:fPr>
                            <m:ctrlP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𝒔𝒊𝒏</m:t>
                                </m:r>
                              </m:fName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num>
                          <m:den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²</m:t>
                            </m:r>
                          </m:den>
                        </m:f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CA2A111-C6D7-FFD4-2EA1-032C53C087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0224" y="4942097"/>
                  <a:ext cx="2567070" cy="368265"/>
                </a:xfrm>
                <a:prstGeom prst="rect">
                  <a:avLst/>
                </a:prstGeom>
                <a:blipFill>
                  <a:blip r:embed="rId6"/>
                  <a:stretch>
                    <a:fillRect b="-4651"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797D4FC-1190-4B0D-17BC-EC1BCFC7FF2B}"/>
              </a:ext>
            </a:extLst>
          </p:cNvPr>
          <p:cNvGrpSpPr/>
          <p:nvPr/>
        </p:nvGrpSpPr>
        <p:grpSpPr>
          <a:xfrm>
            <a:off x="2677164" y="4169993"/>
            <a:ext cx="2511693" cy="1824341"/>
            <a:chOff x="3255428" y="4221511"/>
            <a:chExt cx="2658052" cy="1968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5FC6D03B-FE55-7B39-2E26-E0C6F16F19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255428" y="4221511"/>
                  <a:ext cx="2658052" cy="1968832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a14:m>
                  <a:r>
                    <a:rPr lang="fr-FR" sz="1200" b="1" dirty="0"/>
                    <a:t> : filtrage spatial</a:t>
                  </a:r>
                </a:p>
                <a:p>
                  <a:pPr algn="ctr"/>
                  <a:endParaRPr lang="fr-FR" sz="1200" b="1" dirty="0"/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200" dirty="0"/>
                    <a:t>Singlecoil :</a:t>
                  </a:r>
                </a:p>
                <a:p>
                  <a:endParaRPr lang="fr-FR" sz="1200" dirty="0"/>
                </a:p>
                <a:p>
                  <a:endParaRPr lang="fr-FR" sz="1200" dirty="0"/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200" dirty="0"/>
                    <a:t>Micro Humbucker :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endParaRPr lang="fr-FR" sz="1200" dirty="0"/>
                </a:p>
              </p:txBody>
            </p:sp>
          </mc:Choice>
          <mc:Fallback xmlns=""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5FC6D03B-FE55-7B39-2E26-E0C6F16F19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5428" y="4221511"/>
                  <a:ext cx="2658052" cy="1968832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C68385A-3248-3E9E-6DB3-3E575A82C051}"/>
                    </a:ext>
                  </a:extLst>
                </p:cNvPr>
                <p:cNvSpPr txBox="1"/>
                <p:nvPr/>
              </p:nvSpPr>
              <p:spPr>
                <a:xfrm>
                  <a:off x="3446292" y="4949157"/>
                  <a:ext cx="2275418" cy="334835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e>
                              <m:sub>
                                <m:r>
                                  <a:rPr lang="fr-FR" sz="1400" b="1" i="1" smtClean="0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sub>
                            </m:sSub>
                          </m:sub>
                        </m:sSub>
                        <m:r>
                          <a:rPr lang="fr-FR" sz="1400" b="1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400" b="1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l-GR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𝝅</m:t>
                            </m:r>
                            <m:r>
                              <a:rPr lang="fr-FR" sz="1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𝒏𝑭</m:t>
                            </m:r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𝒔𝒊𝒏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fr-FR" sz="1400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fr-FR" sz="1400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  <m:r>
                          <m:rPr>
                            <m:nor/>
                          </m:rPr>
                          <a:rPr lang="fr-FR" sz="1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C68385A-3248-3E9E-6DB3-3E575A82C0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292" y="4949157"/>
                  <a:ext cx="2275418" cy="33483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5AEDA01-758B-3F00-4A60-265DC91BE166}"/>
                    </a:ext>
                  </a:extLst>
                </p:cNvPr>
                <p:cNvSpPr txBox="1"/>
                <p:nvPr/>
              </p:nvSpPr>
              <p:spPr>
                <a:xfrm>
                  <a:off x="3294981" y="5560854"/>
                  <a:ext cx="2578318" cy="441852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𝑯</m:t>
                                </m:r>
                              </m:sub>
                            </m:sSub>
                          </m:sub>
                        </m:sSub>
                        <m:r>
                          <a:rPr lang="fr-FR" sz="12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𝒏𝑭</m:t>
                        </m:r>
                        <m:func>
                          <m:funcPr>
                            <m:ctrlP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200" b="1" i="0" smtClean="0">
                                <a:latin typeface="Cambria Math" panose="02040503050406030204" pitchFamily="18" charset="0"/>
                              </a:rPr>
                              <m:t>𝐜𝐨𝐬</m:t>
                            </m:r>
                          </m:fName>
                          <m:e>
                            <m: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1" i="1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fr-FR" sz="1200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fr-FR" sz="1200" b="1" i="0" smtClean="0">
                                    <a:latin typeface="Cambria Math" panose="02040503050406030204" pitchFamily="18" charset="0"/>
                                  </a:rPr>
                                  <m:t>𝚫</m:t>
                                </m:r>
                              </m:num>
                              <m:den>
                                <m:r>
                                  <a:rPr lang="fr-FR" sz="1200" b="1" i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den>
                            </m:f>
                            <m:r>
                              <a:rPr lang="fr-FR" sz="1200" b="1" i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200" b="1" i="0" smtClean="0">
                                <a:latin typeface="Cambria Math" panose="02040503050406030204" pitchFamily="18" charset="0"/>
                              </a:rPr>
                              <m:t>𝐬𝐢𝐧</m:t>
                            </m:r>
                          </m:fName>
                          <m:e>
                            <m: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sub>
                            </m:sSub>
                          </m:e>
                        </m:func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5AEDA01-758B-3F00-4A60-265DC91BE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4981" y="5560854"/>
                  <a:ext cx="2578318" cy="441852"/>
                </a:xfrm>
                <a:prstGeom prst="rect">
                  <a:avLst/>
                </a:prstGeom>
                <a:blipFill>
                  <a:blip r:embed="rId9"/>
                  <a:stretch>
                    <a:fillRect b="-7246"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F140CC7-2332-0D32-0B62-8061AE938083}"/>
                  </a:ext>
                </a:extLst>
              </p:cNvPr>
              <p:cNvSpPr/>
              <p:nvPr/>
            </p:nvSpPr>
            <p:spPr>
              <a:xfrm>
                <a:off x="278562" y="670611"/>
                <a:ext cx="2261749" cy="5323723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b="1" dirty="0">
                    <a:solidFill>
                      <a:schemeClr val="tx1"/>
                    </a:solidFill>
                  </a:rPr>
                  <a:t>Hypothèses</a:t>
                </a:r>
              </a:p>
              <a:p>
                <a:pPr algn="ctr"/>
                <a:endParaRPr lang="fr-FR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Onde stationnaire dans le plan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acc>
                        <m:acc>
                          <m:accPr>
                            <m:chr m:val="⃗"/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Champ induit 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 aux micros</a:t>
                </a:r>
              </a:p>
              <a:p>
                <a:endParaRPr lang="fr-FR" b="1" u="sng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b="1" dirty="0">
                    <a:solidFill>
                      <a:schemeClr val="tx1"/>
                    </a:solidFill>
                  </a:rPr>
                  <a:t>Conséquences</a:t>
                </a:r>
              </a:p>
              <a:p>
                <a:pPr algn="ctr"/>
                <a:endParaRPr lang="fr-FR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Calculs simplifiés</a:t>
                </a: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F140CC7-2332-0D32-0B62-8061AE9380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562" y="670611"/>
                <a:ext cx="2261749" cy="5323723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E517F0F1-CBA0-FB5D-D8AE-FE466AE9F33E}"/>
              </a:ext>
            </a:extLst>
          </p:cNvPr>
          <p:cNvSpPr txBox="1">
            <a:spLocks/>
          </p:cNvSpPr>
          <p:nvPr/>
        </p:nvSpPr>
        <p:spPr>
          <a:xfrm>
            <a:off x="3137564" y="542454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THEORIE</a:t>
            </a:r>
            <a:endParaRPr lang="fr-FR" sz="19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F64D4CB-BD97-F01A-051D-AE17ECEFD055}"/>
              </a:ext>
            </a:extLst>
          </p:cNvPr>
          <p:cNvSpPr>
            <a:spLocks noChangeAspect="1"/>
          </p:cNvSpPr>
          <p:nvPr/>
        </p:nvSpPr>
        <p:spPr>
          <a:xfrm>
            <a:off x="3732875" y="2536029"/>
            <a:ext cx="986187" cy="652972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/>
              <a:t>Champ magnétique des micros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459BE02-282D-4BAC-4FCF-36A70A69BCED}"/>
              </a:ext>
            </a:extLst>
          </p:cNvPr>
          <p:cNvSpPr>
            <a:spLocks noChangeAspect="1"/>
          </p:cNvSpPr>
          <p:nvPr/>
        </p:nvSpPr>
        <p:spPr>
          <a:xfrm>
            <a:off x="5844297" y="2541943"/>
            <a:ext cx="986187" cy="6518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/>
              <a:t>Champ induit autour de la corde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E3264D6-862A-D961-DAFA-E53445885752}"/>
              </a:ext>
            </a:extLst>
          </p:cNvPr>
          <p:cNvCxnSpPr>
            <a:stCxn id="6" idx="3"/>
            <a:endCxn id="17" idx="1"/>
          </p:cNvCxnSpPr>
          <p:nvPr/>
        </p:nvCxnSpPr>
        <p:spPr>
          <a:xfrm>
            <a:off x="3663351" y="2862515"/>
            <a:ext cx="695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3635EFD-70DC-C8FB-4AEE-4EBD6BFEF8AE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4719062" y="2862515"/>
            <a:ext cx="69524" cy="5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A702452-EBC2-9BF5-3CF5-95B6D8443961}"/>
              </a:ext>
            </a:extLst>
          </p:cNvPr>
          <p:cNvCxnSpPr>
            <a:cxnSpLocks/>
            <a:stCxn id="27" idx="3"/>
            <a:endCxn id="36" idx="1"/>
          </p:cNvCxnSpPr>
          <p:nvPr/>
        </p:nvCxnSpPr>
        <p:spPr>
          <a:xfrm>
            <a:off x="5774773" y="2867858"/>
            <a:ext cx="695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3FFB204-1D24-6D62-CF19-8FE6042B17AF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6830484" y="2864451"/>
            <a:ext cx="69524" cy="34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2ACB81D-0348-9D60-1026-2082D7E79A6A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7886195" y="2864451"/>
            <a:ext cx="69524" cy="1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4E84A95-558B-D66F-BC5E-E7E50E796FFB}"/>
              </a:ext>
            </a:extLst>
          </p:cNvPr>
          <p:cNvGrpSpPr>
            <a:grpSpLocks noChangeAspect="1"/>
          </p:cNvGrpSpPr>
          <p:nvPr/>
        </p:nvGrpSpPr>
        <p:grpSpPr>
          <a:xfrm>
            <a:off x="7812313" y="3242453"/>
            <a:ext cx="1260000" cy="1294051"/>
            <a:chOff x="2508634" y="1268784"/>
            <a:chExt cx="4556752" cy="4679896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86D34CF2-A978-D822-177E-C35E03571262}"/>
                </a:ext>
              </a:extLst>
            </p:cNvPr>
            <p:cNvGrpSpPr/>
            <p:nvPr/>
          </p:nvGrpSpPr>
          <p:grpSpPr>
            <a:xfrm>
              <a:off x="2508634" y="1268784"/>
              <a:ext cx="4556752" cy="4679896"/>
              <a:chOff x="5128260" y="2555821"/>
              <a:chExt cx="3281103" cy="2838917"/>
            </a:xfrm>
          </p:grpSpPr>
          <p:pic>
            <p:nvPicPr>
              <p:cNvPr id="70" name="Picture 69" descr="A blue and white drawing of a square and a rectangle&#10;&#10;AI-generated content may be incorrect.">
                <a:extLst>
                  <a:ext uri="{FF2B5EF4-FFF2-40B4-BE49-F238E27FC236}">
                    <a16:creationId xmlns:a16="http://schemas.microsoft.com/office/drawing/2014/main" id="{69E39CFE-C2CF-E80E-5BD9-323EF70A5B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17161" r="12491"/>
              <a:stretch>
                <a:fillRect/>
              </a:stretch>
            </p:blipFill>
            <p:spPr>
              <a:xfrm>
                <a:off x="5128260" y="2555821"/>
                <a:ext cx="3281103" cy="2838917"/>
              </a:xfrm>
              <a:prstGeom prst="rect">
                <a:avLst/>
              </a:prstGeom>
            </p:spPr>
          </p:pic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1DF8511-B62E-8A82-0EEA-22545E7D5AE9}"/>
                  </a:ext>
                </a:extLst>
              </p:cNvPr>
              <p:cNvSpPr/>
              <p:nvPr/>
            </p:nvSpPr>
            <p:spPr>
              <a:xfrm>
                <a:off x="6606541" y="3415664"/>
                <a:ext cx="308610" cy="2698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2" name="Picture 71">
                <a:extLst>
                  <a:ext uri="{FF2B5EF4-FFF2-40B4-BE49-F238E27FC236}">
                    <a16:creationId xmlns:a16="http://schemas.microsoft.com/office/drawing/2014/main" id="{273224D2-E6B3-0857-952D-84172051B5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5513338" y="3130807"/>
                <a:ext cx="2568446" cy="1693612"/>
              </a:xfrm>
              <a:prstGeom prst="rect">
                <a:avLst/>
              </a:prstGeom>
            </p:spPr>
          </p:pic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335E0B4E-1028-D55A-FB84-D0DE87B98027}"/>
                  </a:ext>
                </a:extLst>
              </p:cNvPr>
              <p:cNvSpPr/>
              <p:nvPr/>
            </p:nvSpPr>
            <p:spPr>
              <a:xfrm>
                <a:off x="6704837" y="3200415"/>
                <a:ext cx="103688" cy="8735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AAAF8C6-87B7-EC6B-F715-EBDCC6ADA1AD}"/>
                </a:ext>
              </a:extLst>
            </p:cNvPr>
            <p:cNvSpPr txBox="1"/>
            <p:nvPr/>
          </p:nvSpPr>
          <p:spPr>
            <a:xfrm>
              <a:off x="4570127" y="2959118"/>
              <a:ext cx="392078" cy="645389"/>
            </a:xfrm>
            <a:prstGeom prst="rect">
              <a:avLst/>
            </a:prstGeom>
            <a:solidFill>
              <a:srgbClr val="C00000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FR" sz="4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N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5F38951E-366F-F0CF-348D-13A678F61AD5}"/>
                </a:ext>
              </a:extLst>
            </p:cNvPr>
            <p:cNvSpPr txBox="1"/>
            <p:nvPr/>
          </p:nvSpPr>
          <p:spPr>
            <a:xfrm>
              <a:off x="4570127" y="4041694"/>
              <a:ext cx="392078" cy="645389"/>
            </a:xfrm>
            <a:prstGeom prst="rect">
              <a:avLst/>
            </a:prstGeom>
            <a:solidFill>
              <a:srgbClr val="014095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FR" sz="4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S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31E9C53-E74A-8E92-EF0B-D9CC905C838E}"/>
              </a:ext>
            </a:extLst>
          </p:cNvPr>
          <p:cNvGrpSpPr>
            <a:grpSpLocks noChangeAspect="1"/>
          </p:cNvGrpSpPr>
          <p:nvPr/>
        </p:nvGrpSpPr>
        <p:grpSpPr>
          <a:xfrm>
            <a:off x="7818812" y="4607086"/>
            <a:ext cx="1260000" cy="1152986"/>
            <a:chOff x="4572000" y="1105567"/>
            <a:chExt cx="4303537" cy="3938025"/>
          </a:xfrm>
        </p:grpSpPr>
        <p:pic>
          <p:nvPicPr>
            <p:cNvPr id="80" name="Picture 79" descr="A drawing of a computer&#10;&#10;AI-generated content may be incorrect.">
              <a:extLst>
                <a:ext uri="{FF2B5EF4-FFF2-40B4-BE49-F238E27FC236}">
                  <a16:creationId xmlns:a16="http://schemas.microsoft.com/office/drawing/2014/main" id="{718DC92D-ADCF-C99D-C8C8-E4BD9E787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72000" y="1105567"/>
              <a:ext cx="4303537" cy="3938025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50B12C2-7BE7-B902-776B-3527CE3D3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5043879" y="2370603"/>
              <a:ext cx="3400522" cy="2092725"/>
            </a:xfrm>
            <a:prstGeom prst="rect">
              <a:avLst/>
            </a:prstGeom>
          </p:spPr>
        </p:pic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291B532-FC02-2B14-1F7F-E642FB514444}"/>
                </a:ext>
              </a:extLst>
            </p:cNvPr>
            <p:cNvSpPr/>
            <p:nvPr/>
          </p:nvSpPr>
          <p:spPr>
            <a:xfrm>
              <a:off x="4589145" y="2237711"/>
              <a:ext cx="4276317" cy="788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933B9B4C-4215-2833-23A5-7E6932FC21C5}"/>
              </a:ext>
            </a:extLst>
          </p:cNvPr>
          <p:cNvSpPr txBox="1"/>
          <p:nvPr/>
        </p:nvSpPr>
        <p:spPr>
          <a:xfrm>
            <a:off x="8218439" y="5000158"/>
            <a:ext cx="108415" cy="178458"/>
          </a:xfrm>
          <a:prstGeom prst="rect">
            <a:avLst/>
          </a:prstGeom>
          <a:solidFill>
            <a:srgbClr val="C000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fr-FR" sz="400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894D66D-6466-175E-23EF-4B19CA41C2B9}"/>
              </a:ext>
            </a:extLst>
          </p:cNvPr>
          <p:cNvSpPr txBox="1"/>
          <p:nvPr/>
        </p:nvSpPr>
        <p:spPr>
          <a:xfrm>
            <a:off x="8218439" y="5388557"/>
            <a:ext cx="108415" cy="178458"/>
          </a:xfrm>
          <a:prstGeom prst="rect">
            <a:avLst/>
          </a:prstGeom>
          <a:solidFill>
            <a:srgbClr val="014095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fr-FR" sz="400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8EC732F-A7F1-D22F-9189-325A51FDD4D7}"/>
              </a:ext>
            </a:extLst>
          </p:cNvPr>
          <p:cNvSpPr txBox="1"/>
          <p:nvPr/>
        </p:nvSpPr>
        <p:spPr>
          <a:xfrm>
            <a:off x="8572121" y="5000158"/>
            <a:ext cx="108415" cy="178458"/>
          </a:xfrm>
          <a:prstGeom prst="rect">
            <a:avLst/>
          </a:prstGeom>
          <a:solidFill>
            <a:srgbClr val="014095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fr-FR" sz="400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A883E1D-F138-5F25-4C8F-8E906E6A55E0}"/>
              </a:ext>
            </a:extLst>
          </p:cNvPr>
          <p:cNvSpPr txBox="1"/>
          <p:nvPr/>
        </p:nvSpPr>
        <p:spPr>
          <a:xfrm>
            <a:off x="8572122" y="5388557"/>
            <a:ext cx="108415" cy="178458"/>
          </a:xfrm>
          <a:prstGeom prst="rect">
            <a:avLst/>
          </a:prstGeom>
          <a:solidFill>
            <a:srgbClr val="C000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fr-FR" sz="400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478260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061BBAE7-6160-B5DF-F3DF-EB85F20260CC}"/>
                  </a:ext>
                </a:extLst>
              </p:cNvPr>
              <p:cNvSpPr/>
              <p:nvPr/>
            </p:nvSpPr>
            <p:spPr>
              <a:xfrm>
                <a:off x="322077" y="1187775"/>
                <a:ext cx="3533931" cy="1968002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Déterminer le spectre du signal induit par une vibration de la corde</a:t>
                </a:r>
              </a:p>
              <a:p>
                <a:endParaRPr lang="fr-FR" sz="8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Excitation manuelle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cm et </a:t>
                </a:r>
              </a:p>
              <a:p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=80</m:t>
                    </m:r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Hz car </a:t>
                </a:r>
                <a14:m>
                  <m:oMath xmlns:m="http://schemas.openxmlformats.org/officeDocument/2006/math"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d>
                      <m:dPr>
                        <m:ctrlPr>
                          <a:rPr lang="fr-FR" sz="14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400" b="1" dirty="0">
                  <a:solidFill>
                    <a:srgbClr val="C00000"/>
                  </a:solidFill>
                </a:endParaRPr>
              </a:p>
              <a:p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061BBAE7-6160-B5DF-F3DF-EB85F20260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77" y="1187775"/>
                <a:ext cx="3533931" cy="1968002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98BD061B-D33F-5C6C-7159-62D2EA49DA0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49283F-B7C2-323C-E9F5-655766F5891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9B218E2D-41F2-8DB6-FF3F-307297FEA32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Footer Placeholder 2">
            <a:extLst>
              <a:ext uri="{FF2B5EF4-FFF2-40B4-BE49-F238E27FC236}">
                <a16:creationId xmlns:a16="http://schemas.microsoft.com/office/drawing/2014/main" id="{6CEAFEBB-B7D7-A979-765E-DCADAB67C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3975817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F56B911-BB28-4CBE-3881-6EC2093B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82A5C74-26D9-E102-B27C-C61F193E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0FEB00C1-4A21-7BA9-DCEE-A1EF3054B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325683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081C8B4-641B-F61E-5A65-035612AE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14</a:t>
            </a:fld>
            <a:endParaRPr lang="fr-FR" sz="1400" b="1" dirty="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F91A0F7-0A8A-6942-5619-89D8D96F223A}"/>
              </a:ext>
            </a:extLst>
          </p:cNvPr>
          <p:cNvCxnSpPr>
            <a:cxnSpLocks/>
          </p:cNvCxnSpPr>
          <p:nvPr/>
        </p:nvCxnSpPr>
        <p:spPr>
          <a:xfrm>
            <a:off x="5007840" y="5505955"/>
            <a:ext cx="384070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4454D7CB-FE59-BE2C-343B-76D29DF6B0F5}"/>
              </a:ext>
            </a:extLst>
          </p:cNvPr>
          <p:cNvSpPr txBox="1">
            <a:spLocks/>
          </p:cNvSpPr>
          <p:nvPr/>
        </p:nvSpPr>
        <p:spPr>
          <a:xfrm>
            <a:off x="3137564" y="578739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dirty="0">
                <a:solidFill>
                  <a:schemeClr val="tx1"/>
                </a:solidFill>
                <a:latin typeface="Arial Black" panose="020B0A04020102020204" pitchFamily="34" charset="0"/>
              </a:rPr>
              <a:t>EXPERIMENTATION</a:t>
            </a:r>
            <a:endParaRPr lang="fr-FR" sz="2800" dirty="0">
              <a:solidFill>
                <a:schemeClr val="tx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7C820C-5F54-00F0-45C7-A684FF0C7ACD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7589" y="3242369"/>
            <a:ext cx="2042906" cy="1980773"/>
          </a:xfrm>
          <a:prstGeom prst="rect">
            <a:avLst/>
          </a:prstGeom>
        </p:spPr>
      </p:pic>
      <p:pic>
        <p:nvPicPr>
          <p:cNvPr id="30" name="Picture 29" descr="Projects and products | Open CASCADE Technology">
            <a:extLst>
              <a:ext uri="{FF2B5EF4-FFF2-40B4-BE49-F238E27FC236}">
                <a16:creationId xmlns:a16="http://schemas.microsoft.com/office/drawing/2014/main" id="{EA72AF15-2363-BAD5-AE89-1654CD59850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EB5D8B-755C-306D-A471-759F7AC9FCF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312" y="4883670"/>
            <a:ext cx="3721505" cy="119097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B2CA6A9-604A-377D-FB82-C6A8AEE4B14F}"/>
              </a:ext>
            </a:extLst>
          </p:cNvPr>
          <p:cNvCxnSpPr>
            <a:cxnSpLocks/>
          </p:cNvCxnSpPr>
          <p:nvPr/>
        </p:nvCxnSpPr>
        <p:spPr>
          <a:xfrm>
            <a:off x="2001328" y="3958999"/>
            <a:ext cx="291142" cy="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2285F54-0118-A09E-EB88-BF6D17E1D749}"/>
              </a:ext>
            </a:extLst>
          </p:cNvPr>
          <p:cNvSpPr txBox="1"/>
          <p:nvPr/>
        </p:nvSpPr>
        <p:spPr>
          <a:xfrm>
            <a:off x="1918311" y="3924449"/>
            <a:ext cx="42600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800" b="1" dirty="0">
                <a:latin typeface="Bahnschrift Light SemiCondensed" panose="020B0502040204020203" pitchFamily="34" charset="0"/>
              </a:rPr>
              <a:t>s(t)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7D81C9-A2F4-55BE-1461-779BADF1850C}"/>
              </a:ext>
            </a:extLst>
          </p:cNvPr>
          <p:cNvSpPr txBox="1"/>
          <p:nvPr/>
        </p:nvSpPr>
        <p:spPr>
          <a:xfrm>
            <a:off x="1985153" y="4914836"/>
            <a:ext cx="323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sz="800" b="1" dirty="0">
                <a:latin typeface="Bahnschrift Light SemiCondensed" panose="020B0502040204020203" pitchFamily="34" charset="0"/>
              </a:rPr>
              <a:t>e(t)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A49FD8E-1FA3-8782-6438-D061A978F4AA}"/>
              </a:ext>
            </a:extLst>
          </p:cNvPr>
          <p:cNvCxnSpPr>
            <a:cxnSpLocks/>
          </p:cNvCxnSpPr>
          <p:nvPr/>
        </p:nvCxnSpPr>
        <p:spPr>
          <a:xfrm>
            <a:off x="2001328" y="5102443"/>
            <a:ext cx="291142" cy="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5470-9458-09EE-22CD-DA6CCBFB8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59243B-01B0-CC65-7C21-9314629FF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D8DFF65-2603-C309-C9C3-9A111908A1A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BB7222-47A8-B6BF-9FCC-89F956A08BC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4D47DD87-9BF2-3F4A-8C3D-6BC4FA4AC1C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7C447-127D-C20B-4766-D9C98E3E6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0A55528-08EE-757D-1235-9E01548CD4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58165" y="1565955"/>
            <a:ext cx="2808000" cy="2339999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9C72E93-3988-60F5-6988-51D8041C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11508" y="1565955"/>
            <a:ext cx="2808000" cy="2340000"/>
          </a:xfrm>
          <a:prstGeom prst="rect">
            <a:avLst/>
          </a:prstGeom>
          <a:ln>
            <a:solidFill>
              <a:schemeClr val="bg1"/>
            </a:solidFill>
          </a:ln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EB81A0AA-1D62-F806-80CA-CCD62979F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79632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4" name="Picture 33" descr="Python Logo PNG Transparent – Brands Logos">
            <a:extLst>
              <a:ext uri="{FF2B5EF4-FFF2-40B4-BE49-F238E27FC236}">
                <a16:creationId xmlns:a16="http://schemas.microsoft.com/office/drawing/2014/main" id="{2032926F-0160-DA95-625B-AB19682D0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7EFD5025-6ED6-595D-2928-12C29637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15</a:t>
            </a:fld>
            <a:endParaRPr lang="fr-FR" sz="1400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A03DC2-593E-985C-94DC-06ADCC7D3032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F3C056-B488-A061-BF0C-501A842882E1}"/>
              </a:ext>
            </a:extLst>
          </p:cNvPr>
          <p:cNvSpPr txBox="1"/>
          <p:nvPr/>
        </p:nvSpPr>
        <p:spPr>
          <a:xfrm>
            <a:off x="3158165" y="3969342"/>
            <a:ext cx="2808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ADAE72-F627-B268-60C1-79FC0E3CEFF8}"/>
                  </a:ext>
                </a:extLst>
              </p:cNvPr>
              <p:cNvSpPr txBox="1"/>
              <p:nvPr/>
            </p:nvSpPr>
            <p:spPr>
              <a:xfrm>
                <a:off x="517169" y="4434944"/>
                <a:ext cx="3738591" cy="15929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Forme générale similaire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Modes 2 et 4 amplifiés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Ecart au mode 4 (320 Hz)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ADAE72-F627-B268-60C1-79FC0E3CEF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434944"/>
                <a:ext cx="3738591" cy="1592937"/>
              </a:xfrm>
              <a:prstGeom prst="rect">
                <a:avLst/>
              </a:prstGeom>
              <a:blipFill>
                <a:blip r:embed="rId5"/>
                <a:stretch>
                  <a:fillRect l="-1468" t="-1916" b="-57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E5EE6E0-BAB8-79EB-458F-B89470B7BA41}"/>
              </a:ext>
            </a:extLst>
          </p:cNvPr>
          <p:cNvSpPr txBox="1"/>
          <p:nvPr/>
        </p:nvSpPr>
        <p:spPr>
          <a:xfrm>
            <a:off x="4827758" y="4446259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1BDCD0C-0857-9309-4F50-8C36FD8F12BD}"/>
                  </a:ext>
                </a:extLst>
              </p:cNvPr>
              <p:cNvSpPr txBox="1"/>
              <p:nvPr/>
            </p:nvSpPr>
            <p:spPr>
              <a:xfrm>
                <a:off x="4888242" y="5455872"/>
                <a:ext cx="3018972" cy="520271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1BDCD0C-0857-9309-4F50-8C36FD8F1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242" y="5455872"/>
                <a:ext cx="3018972" cy="520271"/>
              </a:xfrm>
              <a:prstGeom prst="rect">
                <a:avLst/>
              </a:prstGeom>
              <a:blipFill>
                <a:blip r:embed="rId6"/>
                <a:stretch>
                  <a:fillRect l="-4016" b="-13636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5B44C0AD-2584-A748-DF19-FEC2997B08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22" y="1565955"/>
            <a:ext cx="2807998" cy="233999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0D55F3-BD4B-1669-E59D-96AF205E153B}"/>
              </a:ext>
            </a:extLst>
          </p:cNvPr>
          <p:cNvSpPr txBox="1"/>
          <p:nvPr/>
        </p:nvSpPr>
        <p:spPr>
          <a:xfrm>
            <a:off x="6026793" y="3969342"/>
            <a:ext cx="2808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0FA759-2351-1C9F-669C-877243A48227}"/>
              </a:ext>
            </a:extLst>
          </p:cNvPr>
          <p:cNvSpPr txBox="1"/>
          <p:nvPr/>
        </p:nvSpPr>
        <p:spPr>
          <a:xfrm>
            <a:off x="289537" y="3969342"/>
            <a:ext cx="2808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AD086B-5E3D-1355-680C-4F37810C8B38}"/>
                  </a:ext>
                </a:extLst>
              </p:cNvPr>
              <p:cNvSpPr txBox="1"/>
              <p:nvPr/>
            </p:nvSpPr>
            <p:spPr>
              <a:xfrm>
                <a:off x="4888242" y="4893738"/>
                <a:ext cx="2504185" cy="405496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AD086B-5E3D-1355-680C-4F37810C8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242" y="4893738"/>
                <a:ext cx="2504185" cy="405496"/>
              </a:xfrm>
              <a:prstGeom prst="rect">
                <a:avLst/>
              </a:prstGeom>
              <a:blipFill>
                <a:blip r:embed="rId8"/>
                <a:stretch>
                  <a:fillRect l="-1449" b="-1884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CDC8170-A8F2-45EB-AED6-4FFC351C6535}"/>
                  </a:ext>
                </a:extLst>
              </p:cNvPr>
              <p:cNvSpPr/>
              <p:nvPr/>
            </p:nvSpPr>
            <p:spPr>
              <a:xfrm>
                <a:off x="289537" y="1035070"/>
                <a:ext cx="8529972" cy="445336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</a:t>
                </a:r>
                <a:r>
                  <a:rPr lang="fr-FR" sz="1400" dirty="0">
                    <a:solidFill>
                      <a:schemeClr val="tx1"/>
                    </a:solidFill>
                  </a:rPr>
                  <a:t>Excitation manuelle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cm </a:t>
                </a:r>
                <a:r>
                  <a:rPr lang="fr-FR" sz="1400" dirty="0">
                    <a:solidFill>
                      <a:schemeClr val="tx1"/>
                    </a:solidFill>
                  </a:rPr>
                  <a:t>et </a:t>
                </a:r>
                <a14:m>
                  <m:oMath xmlns:m="http://schemas.openxmlformats.org/officeDocument/2006/math"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𝟖𝟎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Hz</a:t>
                </a:r>
                <a:endParaRPr lang="fr-FR" sz="1400" b="1" dirty="0">
                  <a:solidFill>
                    <a:srgbClr val="C00000"/>
                  </a:solidFill>
                </a:endParaRPr>
              </a:p>
              <a:p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CDC8170-A8F2-45EB-AED6-4FFC351C6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37" y="1035070"/>
                <a:ext cx="8529972" cy="445336"/>
              </a:xfrm>
              <a:prstGeom prst="roundRect">
                <a:avLst/>
              </a:prstGeom>
              <a:blipFill>
                <a:blip r:embed="rId9"/>
                <a:stretch>
                  <a:fillRect l="-7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2209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1E5EDFB-C840-65AB-C6E3-90FB7CB6E4A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B845F26-B0CA-A491-4DA1-1F594CFBD8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2433090-BC1B-2216-FF85-994BBF3E9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Calcul du gain relatif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5714016" y="2163818"/>
            <a:ext cx="3269985" cy="3993142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092582" y="2976561"/>
              <a:ext cx="2601348" cy="2005132"/>
              <a:chOff x="6074018" y="3612551"/>
              <a:chExt cx="2601346" cy="191198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12700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73F8ABF-37B1-C042-48E3-54079A812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74018" y="5164377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55D2A8C-C203-0783-181A-D6DC107E7E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57693" y="5164539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3" name="Footer Placeholder 2">
            <a:extLst>
              <a:ext uri="{FF2B5EF4-FFF2-40B4-BE49-F238E27FC236}">
                <a16:creationId xmlns:a16="http://schemas.microsoft.com/office/drawing/2014/main" id="{4BCE2257-F05E-832B-4E41-697261064FA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505915"/>
            <a:ext cx="5175257" cy="4728443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31065C-A20A-A288-0085-D396B6CE6BAB}"/>
              </a:ext>
            </a:extLst>
          </p:cNvPr>
          <p:cNvCxnSpPr>
            <a:cxnSpLocks/>
          </p:cNvCxnSpPr>
          <p:nvPr/>
        </p:nvCxnSpPr>
        <p:spPr>
          <a:xfrm>
            <a:off x="2530869" y="3767587"/>
            <a:ext cx="0" cy="1233815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/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𝟑𝟐𝟎</m:t>
                    </m:r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b="1" dirty="0">
                    <a:solidFill>
                      <a:srgbClr val="C00000"/>
                    </a:solidFill>
                  </a:rPr>
                  <a:t>Hz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blipFill>
                <a:blip r:embed="rId10"/>
                <a:stretch>
                  <a:fillRect l="-10976" t="-30000" r="-18293" b="-4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E1A2621-99DB-BABC-D8E3-49A97B68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CC0FE738-C281-1177-AD0D-5BE611618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/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blipFill>
                <a:blip r:embed="rId11"/>
                <a:stretch>
                  <a:fillRect b="-12727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7D52926-2903-DDB1-463C-CF6DDA0BA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732367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3" name="Picture 32" descr="Python Logo PNG Transparent – Brands Logos">
            <a:extLst>
              <a:ext uri="{FF2B5EF4-FFF2-40B4-BE49-F238E27FC236}">
                <a16:creationId xmlns:a16="http://schemas.microsoft.com/office/drawing/2014/main" id="{0B55D3CE-AC79-473D-FF58-01B706B2E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289B7671-856C-99CF-B704-3812E7BC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16</a:t>
            </a:fld>
            <a:endParaRPr lang="fr-FR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/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fr-FR" sz="1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K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sz="14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B9FD5754-DA94-067D-CE3F-04AF943A7194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23B4FBD0-5146-4EC9-835C-BD456D1D7EE3}"/>
                  </a:ext>
                </a:extLst>
              </p:cNvPr>
              <p:cNvSpPr/>
              <p:nvPr/>
            </p:nvSpPr>
            <p:spPr>
              <a:xfrm>
                <a:off x="289537" y="1035070"/>
                <a:ext cx="8529972" cy="445336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</a:t>
                </a:r>
                <a:r>
                  <a:rPr lang="fr-FR" sz="1400" dirty="0">
                    <a:solidFill>
                      <a:schemeClr val="tx1"/>
                    </a:solidFill>
                  </a:rPr>
                  <a:t>Excitation manuelle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cm</a:t>
                </a:r>
                <a:endParaRPr lang="fr-FR" sz="1400" b="1" dirty="0">
                  <a:solidFill>
                    <a:srgbClr val="C00000"/>
                  </a:solidFill>
                </a:endParaRPr>
              </a:p>
              <a:p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23B4FBD0-5146-4EC9-835C-BD456D1D7E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37" y="1035070"/>
                <a:ext cx="8529972" cy="445336"/>
              </a:xfrm>
              <a:prstGeom prst="roundRect">
                <a:avLst/>
              </a:prstGeom>
              <a:blipFill>
                <a:blip r:embed="rId14"/>
                <a:stretch>
                  <a:fillRect l="-7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81E06-B34E-3529-4ADA-FCF15C35A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C576AD9E-5978-A85F-4DD1-AD31EFF1B036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4C8EA39-E339-660C-139F-23B0FDF8D78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C3516D9B-924B-15E3-4745-04100E82376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A1E50876-C5CD-CF8F-5734-3A0B9AF3B8F1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431A7-9B0A-B9A8-8986-3C48D394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C8E0F-97D8-C459-8902-29C0EC894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F2B4B372-50F7-4DEF-9872-B07E3FB72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17</a:t>
            </a:fld>
            <a:endParaRPr lang="fr-FR" sz="1400" b="1" dirty="0">
              <a:solidFill>
                <a:schemeClr val="bg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FD7FCAA-66EF-F9B8-3F91-4C074524BE6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C97A6-CC99-95B7-B8AA-0E6525AACD2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14C9DAC0-F70B-EC4C-9E13-0437D71420D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07161F-977C-6AE5-09C1-2E093CADD5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55673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2E122E78-7812-9D07-EA42-6ED12CEB063E}"/>
              </a:ext>
            </a:extLst>
          </p:cNvPr>
          <p:cNvGrpSpPr/>
          <p:nvPr/>
        </p:nvGrpSpPr>
        <p:grpSpPr>
          <a:xfrm>
            <a:off x="3310071" y="2306216"/>
            <a:ext cx="5661623" cy="791642"/>
            <a:chOff x="3310072" y="1946394"/>
            <a:chExt cx="5661623" cy="791642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1C9045D8-B0C7-93C3-9AFF-11A518E51C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10072" y="1950536"/>
              <a:ext cx="1260000" cy="787500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1200" b="1" dirty="0"/>
                <a:t>Champ parasite à 50Hz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997C8D5-36AA-4B9D-5F50-82FEB07E1A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79236" y="1950536"/>
              <a:ext cx="1260000" cy="783358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1200" b="1" dirty="0"/>
                <a:t>Flux variable à travers les micros</a:t>
              </a: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7CC49079-B891-83BB-B611-814BF0FDDF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248400" y="1946394"/>
              <a:ext cx="1260000" cy="7875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1200" b="1" dirty="0"/>
                <a:t>Sommation des tensions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634AE14B-0543-EDD9-79A2-43B973E6825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711695" y="1946394"/>
                  <a:ext cx="1260000" cy="787500"/>
                </a:xfrm>
                <a:prstGeom prst="roundRect">
                  <a:avLst/>
                </a:prstGeom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200" b="1" dirty="0"/>
                    <a:t>F.E.M.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fr-FR" sz="12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fr-FR" sz="12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𝐝</m:t>
                            </m:r>
                            <m:r>
                              <a:rPr lang="fr-FR" sz="12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𝚽</m:t>
                            </m:r>
                          </m:num>
                          <m:den>
                            <m:r>
                              <a:rPr lang="fr-FR" sz="1200" b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𝐝</m:t>
                            </m:r>
                            <m:r>
                              <a:rPr lang="fr-FR" sz="12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den>
                        </m:f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634AE14B-0543-EDD9-79A2-43B973E682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695" y="1946394"/>
                  <a:ext cx="1260000" cy="787500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A3A4040-FEF5-3662-2724-C2DEA398FF13}"/>
                </a:ext>
              </a:extLst>
            </p:cNvPr>
            <p:cNvCxnSpPr>
              <a:cxnSpLocks/>
              <a:stCxn id="41" idx="3"/>
              <a:endCxn id="42" idx="1"/>
            </p:cNvCxnSpPr>
            <p:nvPr/>
          </p:nvCxnSpPr>
          <p:spPr>
            <a:xfrm flipV="1">
              <a:off x="4570072" y="2342215"/>
              <a:ext cx="209164" cy="20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3C19F4C1-2EB7-C0A4-329E-0F84865C6F83}"/>
                </a:ext>
              </a:extLst>
            </p:cNvPr>
            <p:cNvCxnSpPr>
              <a:cxnSpLocks/>
              <a:stCxn id="42" idx="3"/>
              <a:endCxn id="43" idx="1"/>
            </p:cNvCxnSpPr>
            <p:nvPr/>
          </p:nvCxnSpPr>
          <p:spPr>
            <a:xfrm flipV="1">
              <a:off x="6039236" y="2340144"/>
              <a:ext cx="209164" cy="20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4F05C1D-B999-AF17-FA72-0ACFD215D8AD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>
              <a:off x="7508400" y="2340144"/>
              <a:ext cx="2032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DC55EAD0-35B6-4456-F5A7-BFDA7A9A9651}"/>
              </a:ext>
            </a:extLst>
          </p:cNvPr>
          <p:cNvSpPr>
            <a:spLocks noChangeAspect="1"/>
          </p:cNvSpPr>
          <p:nvPr/>
        </p:nvSpPr>
        <p:spPr>
          <a:xfrm>
            <a:off x="3303790" y="3206875"/>
            <a:ext cx="2658052" cy="1448186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200" b="1" dirty="0"/>
              <a:t>Micro SingleCoil</a:t>
            </a:r>
          </a:p>
          <a:p>
            <a:pPr algn="ctr"/>
            <a:endParaRPr lang="fr-FR" sz="1200" b="1" dirty="0"/>
          </a:p>
          <a:p>
            <a:r>
              <a:rPr lang="fr-FR" sz="1200" dirty="0"/>
              <a:t>Le signal est maximal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61D9DD7-A7E2-CC56-CCAD-8AD0BF7B96A1}"/>
                  </a:ext>
                </a:extLst>
              </p:cNvPr>
              <p:cNvSpPr txBox="1"/>
              <p:nvPr/>
            </p:nvSpPr>
            <p:spPr>
              <a:xfrm>
                <a:off x="3370971" y="4065649"/>
                <a:ext cx="2523690" cy="30777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61D9DD7-A7E2-CC56-CCAD-8AD0BF7B9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0971" y="4065649"/>
                <a:ext cx="2523690" cy="307777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48FB31C0-701F-9D7A-22A0-0E6EA02179BF}"/>
              </a:ext>
            </a:extLst>
          </p:cNvPr>
          <p:cNvSpPr>
            <a:spLocks noChangeAspect="1"/>
          </p:cNvSpPr>
          <p:nvPr/>
        </p:nvSpPr>
        <p:spPr>
          <a:xfrm>
            <a:off x="6313643" y="3206875"/>
            <a:ext cx="2658052" cy="1448186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200" b="1" dirty="0"/>
              <a:t>Micro Humbucker</a:t>
            </a:r>
          </a:p>
          <a:p>
            <a:pPr algn="ctr"/>
            <a:endParaRPr lang="fr-FR" sz="1200" b="1" dirty="0"/>
          </a:p>
          <a:p>
            <a:r>
              <a:rPr lang="fr-FR" sz="1200" dirty="0"/>
              <a:t>L’opposition des sens de bobinage annule le terme d’ordre 0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C01F551-6FF8-7ED7-954D-339D20B1EB20}"/>
                  </a:ext>
                </a:extLst>
              </p:cNvPr>
              <p:cNvSpPr txBox="1"/>
              <p:nvPr/>
            </p:nvSpPr>
            <p:spPr>
              <a:xfrm>
                <a:off x="6392296" y="4155607"/>
                <a:ext cx="2500746" cy="30777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C01F551-6FF8-7ED7-954D-339D20B1E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96" y="4155607"/>
                <a:ext cx="2500746" cy="307777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D075A4A9-B4A7-B8BB-82F5-4E976FF1759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03789" y="4767176"/>
                <a:ext cx="5667905" cy="1242327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200" b="1" dirty="0"/>
                  <a:t>Condition d’efficacité</a:t>
                </a:r>
              </a:p>
              <a:p>
                <a:pPr algn="ctr"/>
                <a:endParaRPr lang="fr-FR" sz="1200" b="1" dirty="0"/>
              </a:p>
              <a:p>
                <a:r>
                  <a:rPr lang="fr-FR" sz="1200" dirty="0"/>
                  <a:t>En pratique,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sont faibles :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𝜶</m:t>
                    </m:r>
                    <m:r>
                      <a:rPr lang="fr-FR" sz="1600" b="1" i="0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𝚫</m:t>
                    </m:r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≪</m:t>
                    </m:r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fr-FR" sz="1600" b="1" dirty="0">
                    <a:solidFill>
                      <a:srgbClr val="38903A"/>
                    </a:solidFill>
                  </a:rPr>
                  <a:t>réduction du bourdonnement</a:t>
                </a:r>
              </a:p>
            </p:txBody>
          </p:sp>
        </mc:Choice>
        <mc:Fallback xmlns=""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D075A4A9-B4A7-B8BB-82F5-4E976FF175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89" y="4767176"/>
                <a:ext cx="5667905" cy="12423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0FC257-90E0-BEBE-6955-CFD4C633949B}"/>
                  </a:ext>
                </a:extLst>
              </p:cNvPr>
              <p:cNvSpPr/>
              <p:nvPr/>
            </p:nvSpPr>
            <p:spPr>
              <a:xfrm>
                <a:off x="326176" y="2306216"/>
                <a:ext cx="2779881" cy="3810927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b="1" dirty="0">
                    <a:solidFill>
                      <a:schemeClr val="tx1"/>
                    </a:solidFill>
                  </a:rPr>
                  <a:t>Hypothèses</a:t>
                </a:r>
              </a:p>
              <a:p>
                <a:pPr algn="ctr"/>
                <a:endParaRPr lang="fr-FR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constant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  <a:endParaRPr lang="fr-FR" sz="1600" b="1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0FC257-90E0-BEBE-6955-CFD4C63394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2306216"/>
                <a:ext cx="2779881" cy="38109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C5856BAE-972B-B62C-95C9-F1E3AC36996D}"/>
              </a:ext>
            </a:extLst>
          </p:cNvPr>
          <p:cNvSpPr txBox="1">
            <a:spLocks/>
          </p:cNvSpPr>
          <p:nvPr/>
        </p:nvSpPr>
        <p:spPr>
          <a:xfrm>
            <a:off x="3137564" y="542454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THEORIE</a:t>
            </a:r>
            <a:endParaRPr lang="fr-FR" sz="1900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8CEF35F-39FA-343B-8838-389956ACE6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067" r="5431" b="11456"/>
          <a:stretch>
            <a:fillRect/>
          </a:stretch>
        </p:blipFill>
        <p:spPr>
          <a:xfrm rot="16200000">
            <a:off x="6458608" y="817372"/>
            <a:ext cx="1800000" cy="111749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E9E0C0-3D74-141F-8C87-64A91500FE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99" t="32869" r="55963" b="27527"/>
          <a:stretch>
            <a:fillRect/>
          </a:stretch>
        </p:blipFill>
        <p:spPr>
          <a:xfrm rot="5400000">
            <a:off x="1214044" y="886454"/>
            <a:ext cx="1281617" cy="1038954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F42FB2CD-65A3-A2D4-B812-650AB3F49CEF}"/>
              </a:ext>
            </a:extLst>
          </p:cNvPr>
          <p:cNvGrpSpPr/>
          <p:nvPr/>
        </p:nvGrpSpPr>
        <p:grpSpPr>
          <a:xfrm>
            <a:off x="2357305" y="830022"/>
            <a:ext cx="4425532" cy="1173951"/>
            <a:chOff x="2532742" y="919207"/>
            <a:chExt cx="4172859" cy="1017313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41088C4-DCAC-B6A5-EABA-78F37E041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830" r="18786"/>
            <a:stretch>
              <a:fillRect/>
            </a:stretch>
          </p:blipFill>
          <p:spPr>
            <a:xfrm>
              <a:off x="2532743" y="919207"/>
              <a:ext cx="4172858" cy="50708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E86E246-A424-31DC-8AD8-8DE8097FB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830" r="18786"/>
            <a:stretch>
              <a:fillRect/>
            </a:stretch>
          </p:blipFill>
          <p:spPr>
            <a:xfrm flipV="1">
              <a:off x="2532742" y="1426288"/>
              <a:ext cx="4172857" cy="510232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0B7CF6B-91F2-FE56-59B0-8DF32D45759B}"/>
                </a:ext>
              </a:extLst>
            </p:cNvPr>
            <p:cNvCxnSpPr/>
            <p:nvPr/>
          </p:nvCxnSpPr>
          <p:spPr>
            <a:xfrm>
              <a:off x="2532743" y="1405931"/>
              <a:ext cx="4172857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DB34B1B-652A-48E3-E19D-849D93195A14}"/>
              </a:ext>
            </a:extLst>
          </p:cNvPr>
          <p:cNvCxnSpPr>
            <a:cxnSpLocks/>
          </p:cNvCxnSpPr>
          <p:nvPr/>
        </p:nvCxnSpPr>
        <p:spPr>
          <a:xfrm>
            <a:off x="6705197" y="1391688"/>
            <a:ext cx="15527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27F617-431F-012D-659A-E1D86BA17BEE}"/>
              </a:ext>
            </a:extLst>
          </p:cNvPr>
          <p:cNvCxnSpPr>
            <a:cxnSpLocks/>
          </p:cNvCxnSpPr>
          <p:nvPr/>
        </p:nvCxnSpPr>
        <p:spPr>
          <a:xfrm>
            <a:off x="6705196" y="1713849"/>
            <a:ext cx="15527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1198D23-40D5-966F-5836-91CC49DEDF27}"/>
              </a:ext>
            </a:extLst>
          </p:cNvPr>
          <p:cNvCxnSpPr>
            <a:cxnSpLocks/>
          </p:cNvCxnSpPr>
          <p:nvPr/>
        </p:nvCxnSpPr>
        <p:spPr>
          <a:xfrm>
            <a:off x="6705196" y="1105523"/>
            <a:ext cx="15527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53FE9E9-462F-6B76-093C-31077BC855F2}"/>
              </a:ext>
            </a:extLst>
          </p:cNvPr>
          <p:cNvCxnSpPr>
            <a:cxnSpLocks/>
          </p:cNvCxnSpPr>
          <p:nvPr/>
        </p:nvCxnSpPr>
        <p:spPr>
          <a:xfrm flipH="1">
            <a:off x="2301006" y="1397179"/>
            <a:ext cx="12755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3D4A3FE-4966-47BA-924A-8FCD1EA44628}"/>
              </a:ext>
            </a:extLst>
          </p:cNvPr>
          <p:cNvCxnSpPr>
            <a:cxnSpLocks/>
          </p:cNvCxnSpPr>
          <p:nvPr/>
        </p:nvCxnSpPr>
        <p:spPr>
          <a:xfrm flipH="1">
            <a:off x="2281329" y="1713889"/>
            <a:ext cx="12755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EB175DE-1596-4A83-9291-F308D901DE6A}"/>
              </a:ext>
            </a:extLst>
          </p:cNvPr>
          <p:cNvCxnSpPr>
            <a:cxnSpLocks/>
          </p:cNvCxnSpPr>
          <p:nvPr/>
        </p:nvCxnSpPr>
        <p:spPr>
          <a:xfrm flipH="1">
            <a:off x="2296851" y="1114149"/>
            <a:ext cx="12755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9A274B3-81EF-09A1-760F-9F7C3CC866DC}"/>
                  </a:ext>
                </a:extLst>
              </p:cNvPr>
              <p:cNvSpPr txBox="1"/>
              <p:nvPr/>
            </p:nvSpPr>
            <p:spPr>
              <a:xfrm>
                <a:off x="4454043" y="1500706"/>
                <a:ext cx="307777" cy="4140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24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4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acc>
                    </m:oMath>
                  </m:oMathPara>
                </a14:m>
                <a:endParaRPr lang="fr-FR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9A274B3-81EF-09A1-760F-9F7C3CC86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4043" y="1500706"/>
                <a:ext cx="307777" cy="4140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9BFD695-0D20-A1C9-AE76-90DFEEA1E0D8}"/>
              </a:ext>
            </a:extLst>
          </p:cNvPr>
          <p:cNvCxnSpPr/>
          <p:nvPr/>
        </p:nvCxnSpPr>
        <p:spPr>
          <a:xfrm>
            <a:off x="8142514" y="987790"/>
            <a:ext cx="0" cy="8192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586628-85E4-6120-1449-268FD41FFB96}"/>
                  </a:ext>
                </a:extLst>
              </p:cNvPr>
              <p:cNvSpPr txBox="1"/>
              <p:nvPr/>
            </p:nvSpPr>
            <p:spPr>
              <a:xfrm>
                <a:off x="8207385" y="1240896"/>
                <a:ext cx="2019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fr-FR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586628-85E4-6120-1449-268FD41FF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385" y="1240896"/>
                <a:ext cx="201978" cy="276999"/>
              </a:xfrm>
              <a:prstGeom prst="rect">
                <a:avLst/>
              </a:prstGeom>
              <a:blipFill>
                <a:blip r:embed="rId12"/>
                <a:stretch>
                  <a:fillRect l="-24242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8362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F325D95-66BD-B16D-478C-A16E375CA2B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4633CA-79B5-8626-5F5C-961A97B305C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D548465-9274-10EF-DF9E-7E195D565F1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E5BCA913-E8F4-FEC2-85B5-1EE56140E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D275B26-53D5-1DA5-3076-7CA2265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231334-36C0-5C49-770A-3C438FD9D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27298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51E47C2C-EF11-482F-718A-A277219A5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18</a:t>
            </a:fld>
            <a:endParaRPr lang="fr-FR" sz="1400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E31EB-F02C-8FDD-76C6-950022624582}"/>
              </a:ext>
            </a:extLst>
          </p:cNvPr>
          <p:cNvSpPr txBox="1">
            <a:spLocks/>
          </p:cNvSpPr>
          <p:nvPr/>
        </p:nvSpPr>
        <p:spPr>
          <a:xfrm>
            <a:off x="3137564" y="578739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dirty="0">
                <a:solidFill>
                  <a:schemeClr val="tx1"/>
                </a:solidFill>
                <a:latin typeface="Arial Black" panose="020B0A04020102020204" pitchFamily="34" charset="0"/>
              </a:rPr>
              <a:t>EXPERIMENTATION</a:t>
            </a:r>
            <a:endParaRPr lang="fr-FR" sz="2800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795B04-D800-0F8E-4B72-42272A309C66}"/>
              </a:ext>
            </a:extLst>
          </p:cNvPr>
          <p:cNvSpPr/>
          <p:nvPr/>
        </p:nvSpPr>
        <p:spPr>
          <a:xfrm>
            <a:off x="322077" y="1187774"/>
            <a:ext cx="3533931" cy="4714262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r>
              <a:rPr lang="fr-FR" sz="1600" b="1" u="sng" dirty="0">
                <a:solidFill>
                  <a:schemeClr val="tx1"/>
                </a:solidFill>
              </a:rPr>
              <a:t>Objectif :</a:t>
            </a:r>
          </a:p>
          <a:p>
            <a:r>
              <a:rPr lang="fr-FR" sz="1400" dirty="0">
                <a:solidFill>
                  <a:schemeClr val="tx1"/>
                </a:solidFill>
              </a:rPr>
              <a:t>Déterminer la sensibilité des micros aux champ magnétiques parasites</a:t>
            </a:r>
          </a:p>
          <a:p>
            <a:endParaRPr lang="fr-FR" sz="800" b="1" u="sng" dirty="0">
              <a:solidFill>
                <a:schemeClr val="tx1"/>
              </a:solidFill>
            </a:endParaRPr>
          </a:p>
          <a:p>
            <a:r>
              <a:rPr lang="fr-FR" sz="1600" b="1" u="sng" dirty="0">
                <a:solidFill>
                  <a:schemeClr val="tx1"/>
                </a:solidFill>
              </a:rPr>
              <a:t>Méthode :</a:t>
            </a:r>
          </a:p>
          <a:p>
            <a:r>
              <a:rPr lang="fr-FR" sz="14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fr-FR" sz="1400" dirty="0">
                <a:solidFill>
                  <a:schemeClr val="tx1"/>
                </a:solidFill>
              </a:rPr>
              <a:t>Utilisation de bobine de Helmholtz pour g</a:t>
            </a:r>
            <a:r>
              <a:rPr lang="fr-FR" sz="1400" dirty="0">
                <a:solidFill>
                  <a:schemeClr val="tx1"/>
                </a:solidFill>
                <a:sym typeface="Wingdings" panose="05000000000000000000" pitchFamily="2" charset="2"/>
              </a:rPr>
              <a:t>énérer un champ à 50Hz.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B11993A-5AB5-1C07-152C-950544456D7E}"/>
              </a:ext>
            </a:extLst>
          </p:cNvPr>
          <p:cNvGrpSpPr/>
          <p:nvPr/>
        </p:nvGrpSpPr>
        <p:grpSpPr>
          <a:xfrm>
            <a:off x="440957" y="3209667"/>
            <a:ext cx="3303140" cy="2387944"/>
            <a:chOff x="3972220" y="1402087"/>
            <a:chExt cx="5024460" cy="4053826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A76EC1FD-3533-8445-C3B4-6F2E966E1F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972220" y="1402087"/>
              <a:ext cx="5024460" cy="4053826"/>
            </a:xfrm>
            <a:prstGeom prst="rect">
              <a:avLst/>
            </a:prstGeom>
          </p:spPr>
        </p:pic>
        <p:pic>
          <p:nvPicPr>
            <p:cNvPr id="34" name="Picture 33" descr="40,000+ Free Sine-Waves &amp; Sea Images - Pixabay">
              <a:extLst>
                <a:ext uri="{FF2B5EF4-FFF2-40B4-BE49-F238E27FC236}">
                  <a16:creationId xmlns:a16="http://schemas.microsoft.com/office/drawing/2014/main" id="{FC0C48A5-C46C-8771-0533-71EEB41DAD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Marker/>
                      </a14:imgEffect>
                      <a14:imgEffect>
                        <a14:saturation sat="400000"/>
                      </a14:imgEffect>
                      <a14:imgEffect>
                        <a14:brightnessContrast bright="-40000" contrast="-40000"/>
                      </a14:imgEffect>
                    </a14:imgLayer>
                  </a14:imgProps>
                </a:ext>
              </a:extLst>
            </a:blip>
            <a:srcRect l="-458" t="41462" r="71654" b="41673"/>
            <a:stretch>
              <a:fillRect/>
            </a:stretch>
          </p:blipFill>
          <p:spPr>
            <a:xfrm>
              <a:off x="6036629" y="3092121"/>
              <a:ext cx="1442475" cy="607261"/>
            </a:xfrm>
            <a:prstGeom prst="rect">
              <a:avLst/>
            </a:prstGeom>
          </p:spPr>
        </p:pic>
      </p:grpSp>
      <p:pic>
        <p:nvPicPr>
          <p:cNvPr id="36" name="Picture 35" descr="Projects and products | Open CASCADE Technology">
            <a:extLst>
              <a:ext uri="{FF2B5EF4-FFF2-40B4-BE49-F238E27FC236}">
                <a16:creationId xmlns:a16="http://schemas.microsoft.com/office/drawing/2014/main" id="{9EA07BC6-9999-D8F0-C1C0-45CA8471661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03ECF9-B00F-0376-60A7-89126EB007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5416"/>
          <a:stretch>
            <a:fillRect/>
          </a:stretch>
        </p:blipFill>
        <p:spPr>
          <a:xfrm>
            <a:off x="3970522" y="1187774"/>
            <a:ext cx="4984236" cy="4714262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6A309-7F61-2078-756A-1BEEE9F9A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B1A806C-1E53-4584-380F-1ED7D45FC697}"/>
              </a:ext>
            </a:extLst>
          </p:cNvPr>
          <p:cNvSpPr txBox="1"/>
          <p:nvPr/>
        </p:nvSpPr>
        <p:spPr>
          <a:xfrm>
            <a:off x="655762" y="4910371"/>
            <a:ext cx="8372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Sensibilité accrue du micro SingleCoil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Reduction efficace du bourdonnement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5AC0E9-CB7B-70C2-AA29-F91BBCFF9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B9F8804-5B6D-12D8-4525-9D1A7692D87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37DA41-FAE5-2627-6BB9-9A59954ECF3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5DEB507-C734-74B6-70ED-BBB59A6246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BBFBE-6A19-F245-FD7F-C53C2B85C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37CBB98-1E72-A4AD-5597-DC805CAF7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1" y="1249202"/>
            <a:ext cx="3592738" cy="299394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169C8C4-09CE-6F8E-6D72-84E81FBF3C8E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6B7DD0-13FB-E3C1-1659-D5681ECB5F8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7E454A-6B5E-2A3B-18FA-B63D9BB40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9" y="1249201"/>
            <a:ext cx="3592737" cy="2993948"/>
          </a:xfrm>
          <a:prstGeom prst="rect">
            <a:avLst/>
          </a:prstGeom>
          <a:ln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0B17C0-F8FD-B5AA-43E0-C58AEAD56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68740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0" name="Picture 19" descr="Python Logo PNG Transparent – Brands Logos">
            <a:extLst>
              <a:ext uri="{FF2B5EF4-FFF2-40B4-BE49-F238E27FC236}">
                <a16:creationId xmlns:a16="http://schemas.microsoft.com/office/drawing/2014/main" id="{41F8D0BD-5CE2-656C-AAF1-8AF0263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B8F54-AD94-2AB2-9E03-BD06D6E2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19</a:t>
            </a:fld>
            <a:endParaRPr lang="fr-FR" sz="14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DD6048-3A14-DB07-B06D-D475F4C8819C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480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515866-5F05-8C01-076C-078FAEECE57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E3100D-75AB-378E-9842-ED0F296E89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" name="Footer Placeholder 2">
              <a:extLst>
                <a:ext uri="{FF2B5EF4-FFF2-40B4-BE49-F238E27FC236}">
                  <a16:creationId xmlns:a16="http://schemas.microsoft.com/office/drawing/2014/main" id="{45037E6E-E4E2-AC9B-1CB9-6307187141E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6"/>
            <a:ext cx="5175257" cy="4955993"/>
          </a:xfrm>
          <a:prstGeom prst="rect">
            <a:avLst/>
          </a:prstGeom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222360"/>
                <a:ext cx="3208020" cy="3862030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</a:t>
                </a: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 : </a:t>
                </a: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Causes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222360"/>
                <a:ext cx="3208020" cy="3862030"/>
              </a:xfrm>
              <a:prstGeom prst="rect">
                <a:avLst/>
              </a:prstGeom>
              <a:blipFill>
                <a:blip r:embed="rId4"/>
                <a:stretch>
                  <a:fillRect l="-951" t="-474" b="-442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7"/>
                <a:ext cx="3208021" cy="1047697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Calcul du CMRR</a:t>
                </a:r>
              </a:p>
              <a:p>
                <a:pPr algn="ctr"/>
                <a:endParaRPr lang="fr-FR" sz="6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d>
                    </m:oMath>
                  </m:oMathPara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𝐶𝑀𝑅𝑅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7"/>
                <a:ext cx="3208021" cy="104769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8A4355-9F53-EC56-1C7E-FC7FB883A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3A21404-EC4C-8456-3B1E-A8B200D8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63A8DD5-EEEE-870C-F78B-64F9974FE1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797310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6" name="Picture 15" descr="Python Logo PNG Transparent – Brands Logos">
            <a:extLst>
              <a:ext uri="{FF2B5EF4-FFF2-40B4-BE49-F238E27FC236}">
                <a16:creationId xmlns:a16="http://schemas.microsoft.com/office/drawing/2014/main" id="{7FF30083-6AC6-C272-5098-CC8479439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/>
              <p:nvPr/>
            </p:nvSpPr>
            <p:spPr>
              <a:xfrm>
                <a:off x="6033581" y="2656712"/>
                <a:ext cx="2504185" cy="27699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35.0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1" y="2656712"/>
                <a:ext cx="2504185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C522786F-739E-2B8D-1338-5E63FA46A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20</a:t>
            </a:fld>
            <a:endParaRPr lang="fr-FR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4F0B75-1CAA-EA40-67D4-EBE77C28076F}"/>
                  </a:ext>
                </a:extLst>
              </p:cNvPr>
              <p:cNvSpPr txBox="1"/>
              <p:nvPr/>
            </p:nvSpPr>
            <p:spPr>
              <a:xfrm>
                <a:off x="6033580" y="3023290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39.3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4F0B75-1CAA-EA40-67D4-EBE77C280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0" y="3023290"/>
                <a:ext cx="2504185" cy="298415"/>
              </a:xfrm>
              <a:prstGeom prst="rect">
                <a:avLst/>
              </a:prstGeom>
              <a:blipFill>
                <a:blip r:embed="rId8"/>
                <a:stretch>
                  <a:fillRect b="-17308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C9CA7E0-CD5B-A12D-3D35-46BBF17A9066}"/>
                  </a:ext>
                </a:extLst>
              </p:cNvPr>
              <p:cNvSpPr txBox="1"/>
              <p:nvPr/>
            </p:nvSpPr>
            <p:spPr>
              <a:xfrm>
                <a:off x="6033579" y="3761989"/>
                <a:ext cx="2504185" cy="27699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28.7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C9CA7E0-CD5B-A12D-3D35-46BBF17A9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79" y="3761989"/>
                <a:ext cx="2504185" cy="276999"/>
              </a:xfrm>
              <a:prstGeom prst="rect">
                <a:avLst/>
              </a:prstGeom>
              <a:blipFill>
                <a:blip r:embed="rId9"/>
                <a:stretch>
                  <a:fillRect b="-1020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33B16D2-BAA0-11AF-C04C-674221A5B552}"/>
                  </a:ext>
                </a:extLst>
              </p:cNvPr>
              <p:cNvSpPr txBox="1"/>
              <p:nvPr/>
            </p:nvSpPr>
            <p:spPr>
              <a:xfrm>
                <a:off x="6033578" y="4149983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3.5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33B16D2-BAA0-11AF-C04C-674221A5B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78" y="4149983"/>
                <a:ext cx="2504185" cy="298415"/>
              </a:xfrm>
              <a:prstGeom prst="rect">
                <a:avLst/>
              </a:prstGeom>
              <a:blipFill>
                <a:blip r:embed="rId10"/>
                <a:stretch>
                  <a:fillRect b="-17308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F88C43E9-4978-A6E5-9929-21671D22FF3D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F9251-C048-A833-EE53-03159FB91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267B34-E6A1-7278-22E0-AF653B3C067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E1FFD-CACD-69D5-837A-D84C34CB0776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A6678F9-665C-8A0E-2952-CDB19973E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590136"/>
            <a:ext cx="742534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400" dirty="0"/>
              <a:t>Dans quelle mesure </a:t>
            </a:r>
            <a:r>
              <a:rPr lang="fr-FR" sz="2400" b="1" dirty="0"/>
              <a:t>l'ajout d'une seconde bobine </a:t>
            </a:r>
            <a:r>
              <a:rPr lang="fr-FR" sz="2400" dirty="0"/>
              <a:t>impacte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400" dirty="0"/>
              <a:t>la </a:t>
            </a:r>
            <a:r>
              <a:rPr lang="fr-FR" sz="2400" b="1" dirty="0"/>
              <a:t>richesse du son </a:t>
            </a:r>
            <a:r>
              <a:rPr lang="fr-FR" sz="2400" dirty="0"/>
              <a:t>et permet </a:t>
            </a:r>
            <a:r>
              <a:rPr lang="fr-FR" sz="2400" b="1" dirty="0"/>
              <a:t>d'éliminer les parasites </a:t>
            </a:r>
            <a:r>
              <a:rPr lang="fr-FR" sz="2400" dirty="0"/>
              <a:t>?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25486D-96BE-5856-258F-4751DE1096D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0C2E669F-4BE3-0546-0391-2D466FB6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DB84FC3F-EFF8-CE3B-A8FE-8CF2D6C7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93510851"/>
                  </p:ext>
                </p:extLst>
              </p:nvPr>
            </p:nvGraphicFramePr>
            <p:xfrm>
              <a:off x="721781" y="167453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{69012ECD-51FC-41F1-AA8D-1B2483CD663E}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38903A"/>
                              </a:solidFill>
                            </a:rPr>
                            <a:t>Richesse en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smtClean="0">
                                        <a:solidFill>
                                          <a:srgbClr val="38903A"/>
                                        </a:solidFill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smtClean="0">
                                        <a:solidFill>
                                          <a:srgbClr val="38903A"/>
                                        </a:solidFill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smtClean="0">
                                        <a:solidFill>
                                          <a:srgbClr val="38903A"/>
                                        </a:solidFill>
                                      </a:rPr>
                                      <m:t>𝑚𝑎𝑥</m:t>
                                    </m:r>
                                  </m:sub>
                                </m:sSub>
                                <m:r>
                                  <a:rPr lang="fr-FR" sz="2000" b="0" smtClean="0">
                                    <a:solidFill>
                                      <a:srgbClr val="38903A"/>
                                    </a:solidFill>
                                  </a:rPr>
                                  <m:t>=10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smtClean="0">
                                    <a:solidFill>
                                      <a:srgbClr val="38903A"/>
                                    </a:solidFill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C00000"/>
                              </a:solidFill>
                            </a:rPr>
                            <a:t>Atténuation des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smtClean="0">
                                        <a:solidFill>
                                          <a:srgbClr val="C00000"/>
                                        </a:solidFill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smtClean="0">
                                        <a:solidFill>
                                          <a:srgbClr val="C00000"/>
                                        </a:solidFill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smtClean="0">
                                        <a:solidFill>
                                          <a:srgbClr val="C00000"/>
                                        </a:solidFill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fr-FR" sz="2000" b="0" smtClean="0">
                                    <a:solidFill>
                                      <a:srgbClr val="C00000"/>
                                    </a:solidFill>
                                  </a:rPr>
                                  <m:t>=−20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smtClean="0">
                                    <a:solidFill>
                                      <a:srgbClr val="C00000"/>
                                    </a:solidFill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dirty="0">
                              <a:solidFill>
                                <a:srgbClr val="C00000"/>
                              </a:solidFill>
                            </a:rPr>
                            <a:t>Inexistante</a:t>
                          </a:r>
                          <a:endParaRPr lang="fr-FR" sz="2000" i="0" dirty="0">
                            <a:solidFill>
                              <a:srgbClr val="C00000"/>
                            </a:solidFill>
                            <a:latin typeface="+mn-lt"/>
                            <a:ea typeface="Cambria Math" panose="020405030504060302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dirty="0">
                              <a:solidFill>
                                <a:srgbClr val="38903A"/>
                              </a:solidFill>
                            </a:rPr>
                            <a:t>Efficace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smtClean="0">
                                    <a:solidFill>
                                      <a:srgbClr val="38903A"/>
                                    </a:solidFill>
                                  </a:rPr>
                                  <m:t>𝐶𝑀𝑅</m:t>
                                </m:r>
                                <m:r>
                                  <a:rPr lang="fr-FR" sz="2000" b="0" smtClean="0">
                                    <a:solidFill>
                                      <a:srgbClr val="38903A"/>
                                    </a:solidFill>
                                  </a:rPr>
                                  <m:t>𝑅</m:t>
                                </m:r>
                                <m:r>
                                  <a:rPr lang="fr-FR" sz="2000">
                                    <a:solidFill>
                                      <a:srgbClr val="38903A"/>
                                    </a:solidFill>
                                  </a:rPr>
                                  <m:t>=</m:t>
                                </m:r>
                                <m:r>
                                  <a:rPr lang="fr-FR" sz="2000" b="0" smtClean="0">
                                    <a:solidFill>
                                      <a:srgbClr val="38903A"/>
                                    </a:solidFill>
                                  </a:rPr>
                                  <m:t>28.7</m:t>
                                </m:r>
                                <m:r>
                                  <a:rPr lang="fr-FR" sz="2000">
                                    <a:solidFill>
                                      <a:srgbClr val="38903A"/>
                                    </a:solidFill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38903A"/>
                                    </a:solidFill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Métal, Hard Rock, Jazz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93510851"/>
                  </p:ext>
                </p:extLst>
              </p:nvPr>
            </p:nvGraphicFramePr>
            <p:xfrm>
              <a:off x="721781" y="167453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{69012ECD-51FC-41F1-AA8D-1B2483CD663E}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4621" t="-54310" r="-109780" b="-15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78076" t="-54310" r="-447" b="-15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dirty="0">
                              <a:solidFill>
                                <a:srgbClr val="C00000"/>
                              </a:solidFill>
                            </a:rPr>
                            <a:t>Inexistante</a:t>
                          </a:r>
                          <a:endParaRPr lang="fr-FR" sz="2000" i="0" dirty="0">
                            <a:solidFill>
                              <a:srgbClr val="C00000"/>
                            </a:solidFill>
                            <a:latin typeface="+mn-lt"/>
                            <a:ea typeface="Cambria Math" panose="020405030504060302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78076" t="-155652" r="-447" b="-5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Métal, Hard Rock, Jazz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0E508EE-6FE9-3B4E-313C-4C7B63D0C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21</a:t>
            </a:fld>
            <a:endParaRPr lang="fr-FR" sz="1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B4C8948-019D-5E3C-ECD1-F28BFF8704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904" y="4054442"/>
            <a:ext cx="2508374" cy="209031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8AACECA-A0B1-BAF4-6C14-464D07B1A2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49517" y="4054441"/>
            <a:ext cx="2508373" cy="209031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6DDB650-C704-C2A9-8742-D31F89BA00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6294" y="4054441"/>
            <a:ext cx="2508374" cy="2090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351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D5892-5A6A-E946-B35E-584D9EEB4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400" dirty="0"/>
              <a:t>Merci pour votre attention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B3EEC-B360-CE87-1D10-9F7701D64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F6EC0-0BE1-BD13-6299-E91C15C71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FF9BE-F9EB-4DB9-5D6D-21E820CA9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/>
              <a:t>22</a:t>
            </a:fld>
            <a:endParaRPr lang="fr-FR" sz="1400" b="1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148F370-429D-7134-5D1A-9C16A74F4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avez VOUS DES QUESTIONS ?</a:t>
            </a:r>
          </a:p>
        </p:txBody>
      </p:sp>
    </p:spTree>
    <p:extLst>
      <p:ext uri="{BB962C8B-B14F-4D97-AF65-F5344CB8AC3E}">
        <p14:creationId xmlns:p14="http://schemas.microsoft.com/office/powerpoint/2010/main" val="4029877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750C-911D-65AC-5250-EA8EDE55DF5D}"/>
              </a:ext>
            </a:extLst>
          </p:cNvPr>
          <p:cNvSpPr txBox="1"/>
          <p:nvPr/>
        </p:nvSpPr>
        <p:spPr>
          <a:xfrm>
            <a:off x="326443" y="1384451"/>
            <a:ext cx="84911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Annexe 1 :</a:t>
            </a:r>
            <a:r>
              <a:rPr lang="fr-FR" dirty="0"/>
              <a:t> Champs magnétiques autour des micros. </a:t>
            </a:r>
          </a:p>
          <a:p>
            <a:r>
              <a:rPr lang="fr-FR" b="1" dirty="0"/>
              <a:t>Annexe 2 :</a:t>
            </a:r>
            <a:r>
              <a:rPr lang="fr-FR" dirty="0"/>
              <a:t> Modélisation de l'induction. </a:t>
            </a:r>
          </a:p>
          <a:p>
            <a:r>
              <a:rPr lang="fr-FR" b="1" dirty="0"/>
              <a:t>Annexe 3 :</a:t>
            </a:r>
            <a:r>
              <a:rPr lang="fr-FR" dirty="0"/>
              <a:t> Algorithme de Levenberg-Marquardt (Moindre carrés). </a:t>
            </a:r>
          </a:p>
          <a:p>
            <a:r>
              <a:rPr lang="fr-FR" b="1" dirty="0"/>
              <a:t>Annexe 4 :</a:t>
            </a:r>
            <a:r>
              <a:rPr lang="fr-FR" dirty="0"/>
              <a:t> Méthodes de traitement numérique et filtrage. </a:t>
            </a:r>
          </a:p>
          <a:p>
            <a:r>
              <a:rPr lang="fr-FR" b="1" dirty="0"/>
              <a:t>Annexe 5 :</a:t>
            </a:r>
            <a:r>
              <a:rPr lang="fr-FR" dirty="0"/>
              <a:t> Bobines de Helmholtz</a:t>
            </a:r>
          </a:p>
          <a:p>
            <a:r>
              <a:rPr lang="fr-FR" b="1" dirty="0"/>
              <a:t>Annexe 6 :</a:t>
            </a:r>
            <a:r>
              <a:rPr lang="fr-FR" dirty="0"/>
              <a:t> Modélisation de la réjection du champ parasite. </a:t>
            </a:r>
          </a:p>
          <a:p>
            <a:r>
              <a:rPr lang="fr-FR" b="1" dirty="0"/>
              <a:t>Annexe 7 :</a:t>
            </a:r>
            <a:r>
              <a:rPr lang="fr-FR" dirty="0"/>
              <a:t> Analyse des échecs et difficultés rencontrées.</a:t>
            </a:r>
          </a:p>
          <a:p>
            <a:r>
              <a:rPr lang="fr-FR" b="1" dirty="0"/>
              <a:t>Annexe 8 :</a:t>
            </a:r>
            <a:r>
              <a:rPr lang="fr-FR" dirty="0"/>
              <a:t> Notations et valeur numérique. </a:t>
            </a:r>
          </a:p>
          <a:p>
            <a:r>
              <a:rPr lang="fr-FR" b="1" dirty="0"/>
              <a:t>Annexe 9 :</a:t>
            </a:r>
            <a:r>
              <a:rPr lang="fr-FR" dirty="0"/>
              <a:t> Références bibliographiques et sources.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49A0A-51A0-296B-A228-0C95E4C2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B18BD4-8B0C-2661-3D31-7CBB2D05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5BC8A711-C895-FE87-EDAE-8B66C45BB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23</a:t>
            </a:fld>
            <a:endParaRPr lang="fr-FR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4FCB4-0C72-5A75-20A5-6344A372A637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ANNEXES :</a:t>
            </a:r>
            <a:r>
              <a:rPr lang="fr-FR" sz="2000" dirty="0">
                <a:latin typeface="Arial Black" panose="020B0A04020102020204" pitchFamily="34" charset="0"/>
              </a:rPr>
              <a:t> Sommaire 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3ED8C-F3BA-1E43-DB85-E74F078A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C378DFF-8635-23DB-6044-EE6157F954F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87377E-ABCE-B52C-15C1-CCEDBF6F491D}"/>
              </a:ext>
            </a:extLst>
          </p:cNvPr>
          <p:cNvSpPr/>
          <p:nvPr/>
        </p:nvSpPr>
        <p:spPr>
          <a:xfrm>
            <a:off x="308595" y="427451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53BD4A3-0DE4-6FAA-32E6-2F2BA390F3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0" b="-345"/>
          <a:stretch>
            <a:fillRect/>
          </a:stretch>
        </p:blipFill>
        <p:spPr>
          <a:xfrm>
            <a:off x="4116802" y="1723563"/>
            <a:ext cx="1155804" cy="2933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21CAAC-006F-EDC9-2008-49860495E029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1 :</a:t>
            </a:r>
            <a:r>
              <a:rPr lang="fr-FR" sz="2000" dirty="0">
                <a:latin typeface="Arial Black" panose="020B0A04020102020204" pitchFamily="34" charset="0"/>
              </a:rPr>
              <a:t> Champ magnétiques autour des micros.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CB0BDA-55C1-6BF8-C8A5-1CFF21945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F911-1D96-8390-1926-5793EDCC9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83ACC719-0069-C83D-6A9B-7CE9D1DFA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24</a:t>
            </a:fld>
            <a:endParaRPr lang="fr-FR" sz="1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30246-EC5C-3685-B3ED-0DBB00249E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5" r="8335"/>
          <a:stretch/>
        </p:blipFill>
        <p:spPr>
          <a:xfrm>
            <a:off x="5077997" y="1723563"/>
            <a:ext cx="3600000" cy="2933999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softEdge rad="63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015CECB-33E4-92FB-EEDD-D6A49F53ACA5}"/>
              </a:ext>
            </a:extLst>
          </p:cNvPr>
          <p:cNvSpPr txBox="1"/>
          <p:nvPr/>
        </p:nvSpPr>
        <p:spPr>
          <a:xfrm>
            <a:off x="466003" y="4927188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E4337F-174C-8DFB-18C5-8B04B71A4794}"/>
              </a:ext>
            </a:extLst>
          </p:cNvPr>
          <p:cNvSpPr txBox="1"/>
          <p:nvPr/>
        </p:nvSpPr>
        <p:spPr>
          <a:xfrm>
            <a:off x="5077997" y="4927188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3CF321-EB7D-5372-FC7C-FB5E50B5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42" t="22197" r="4419" b="8438"/>
          <a:stretch>
            <a:fillRect/>
          </a:stretch>
        </p:blipFill>
        <p:spPr>
          <a:xfrm>
            <a:off x="466003" y="1723564"/>
            <a:ext cx="3600000" cy="2933999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17" name="Picture 16" descr="File:Elmerlogo.png - Wikimedia Commons">
            <a:extLst>
              <a:ext uri="{FF2B5EF4-FFF2-40B4-BE49-F238E27FC236}">
                <a16:creationId xmlns:a16="http://schemas.microsoft.com/office/drawing/2014/main" id="{0808901B-1752-8453-FB9E-67A324ACB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645" y="545369"/>
            <a:ext cx="804704" cy="7200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4EBE00F0-47B7-0AF5-A498-1DAF22169D3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F7FBEB9-678A-B6A1-7D6A-7A54C42C064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709B55E4-978F-3379-084C-B287FA4D920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40388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2 :</a:t>
            </a:r>
            <a:r>
              <a:rPr lang="fr-FR" sz="2000" dirty="0">
                <a:latin typeface="Arial Black" panose="020B0A04020102020204" pitchFamily="34" charset="0"/>
              </a:rPr>
              <a:t> Modélisation de l'induction.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Vibration de la corde :</a:t>
                </a:r>
                <a:endParaRPr lang="fr-FR" sz="1200" dirty="0"/>
              </a:p>
              <a:p>
                <a:r>
                  <a:rPr lang="fr-FR" sz="1200" dirty="0"/>
                  <a:t>L’étude de la corde est basée sur l’équation d’Alembert,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fr-FR" sz="1200" dirty="0"/>
                  <a:t>.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𝐹𝑛𝑡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blipFill>
                <a:blip r:embed="rId2"/>
                <a:stretch>
                  <a:fillRect t="-118" b="-19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b="1" u="sng" dirty="0"/>
                  <a:t>Induction :</a:t>
                </a:r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blipFill>
                <a:blip r:embed="rId3"/>
                <a:stretch>
                  <a:fillRect t="-24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88763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A2407-C86B-F9A7-56CD-2554B091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804519D-51B6-4C5E-B301-3F47D06C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D5F648A9-2A1D-AE5D-13D1-19E2A88CF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25</a:t>
            </a:fld>
            <a:endParaRPr lang="fr-FR" sz="1400" b="1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91C8C6-9580-4957-BABC-FE46A4F32B4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834D4B-6A7B-BC05-B8F9-A061BD6FE44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7B834D3E-6BD7-0FDB-AF7D-BC9D4EF7B52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7289016-C375-796C-22A3-04A56D43659C}"/>
              </a:ext>
            </a:extLst>
          </p:cNvPr>
          <p:cNvSpPr txBox="1"/>
          <p:nvPr/>
        </p:nvSpPr>
        <p:spPr>
          <a:xfrm>
            <a:off x="5747657" y="6071016"/>
            <a:ext cx="34557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i="1" dirty="0"/>
              <a:t>[6] </a:t>
            </a:r>
            <a:r>
              <a:rPr lang="en-GB" sz="1100" i="1" dirty="0"/>
              <a:t>B. D'Andrea-Novel, Presse des Mines</a:t>
            </a:r>
            <a:endParaRPr lang="fr-FR" sz="1100" i="1" dirty="0"/>
          </a:p>
        </p:txBody>
      </p: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Algorithme des moindres carrés.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sz="1600" u="sng" dirty="0"/>
                  <a:t>Comment déterminer les valeurs des caractéristiques électriques des micros 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Minimise la somme des écarts au carrés 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altLang="fr-FR" sz="14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𝑱</m:t>
                              </m:r>
                              <m:r>
                                <a:rPr lang="fr-FR" altLang="fr-FR" sz="14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altLang="fr-FR" sz="14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𝑱</m:t>
                              </m:r>
                            </m:e>
                            <m:sup>
                              <m:r>
                                <a:rPr lang="fr-FR" altLang="fr-FR" sz="14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sup>
                          </m:sSup>
                          <m: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</m:d>
                      <m:r>
                        <a:rPr lang="fr-FR" altLang="fr-FR" sz="14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𝜹</m:t>
                      </m:r>
                      <m:r>
                        <a:rPr lang="fr-FR" altLang="fr-FR" sz="14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p>
                          <m: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fr-FR" altLang="fr-FR" sz="14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fr-FR" altLang="fr-FR" sz="1400" b="1" dirty="0">
                  <a:solidFill>
                    <a:srgbClr val="C00000"/>
                  </a:solidFill>
                </a:endParaRP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blipFill>
                <a:blip r:embed="rId2"/>
                <a:stretch>
                  <a:fillRect l="-714" t="-3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121469"/>
            <a:ext cx="4144114" cy="5136791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fr-FR" sz="400" dirty="0"/>
                    <a:t> avec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α</m:t>
                            </m:r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J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fr-FR" altLang="fr-FR" sz="400" dirty="0"/>
                </a:p>
                <a:p>
                  <a:pPr algn="ctr"/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blipFill>
                  <a:blip r:embed="rId5"/>
                  <a:stretch>
                    <a:fillRect t="-937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DD2F4-E77C-25A5-7094-7F3E5421A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9E5A-CB2D-FAE2-094C-0422750E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470294-45FF-68BE-A857-497FECCC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26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D461BC-970C-B054-A1BE-156BA691D80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3F9D77-0A8D-6F68-A1DD-F5921A5D191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A60774F7-B89F-88C8-D1E6-87032A38302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b="1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altLang="fr-FR" sz="1400" b="1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𝑱</m:t>
                              </m:r>
                              <m:r>
                                <a:rPr lang="fr-FR" altLang="fr-FR" sz="1400" b="1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altLang="fr-FR" sz="1400" b="1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𝑱</m:t>
                              </m:r>
                            </m:e>
                            <m:sup>
                              <m:r>
                                <a:rPr lang="fr-FR" altLang="fr-FR" sz="1400" b="1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sup>
                          </m:sSup>
                          <m:r>
                            <a:rPr lang="fr-FR" altLang="fr-FR" sz="1400" b="1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altLang="fr-FR" sz="1400" b="1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</m:d>
                      <m:r>
                        <a:rPr lang="fr-FR" altLang="fr-FR" sz="14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𝜹</m:t>
                      </m:r>
                      <m:r>
                        <a:rPr lang="fr-FR" altLang="fr-FR" sz="14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1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altLang="fr-FR" sz="1400" b="1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p>
                          <m:r>
                            <a:rPr lang="fr-FR" altLang="fr-FR" sz="1400" b="1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fr-FR" altLang="fr-FR" sz="1400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fr-FR" altLang="fr-FR" sz="1400" b="1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58A788DD-EA1A-EA9F-38E6-52FFF6B6EB98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Algorithme des moindres carrés.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050684-55AE-30B3-6EA6-ACE246C3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A15F5-E718-DC1B-82DA-0E9D49D7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8BAF221-99AE-4F1E-A6F4-87FA14E5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27</a:t>
            </a:fld>
            <a:endParaRPr lang="fr-FR" sz="1400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97DEF41-3396-5432-7C11-9CC531B5635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436759C-BEA1-50A1-D8FD-933247B0CF4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018C738E-4A31-100F-5104-F08E30FB3B0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6466-D608-3A26-1982-620124826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FD3A2E9-1AAE-C020-742B-5C13E7C26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4B8366-19EE-EF7B-FBE4-0971E8C1CE6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F24B9-7305-A67E-7EBA-6BD4564832B4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4 :</a:t>
            </a:r>
            <a:r>
              <a:rPr lang="fr-FR" sz="2000" dirty="0">
                <a:latin typeface="Arial Black" panose="020B0A04020102020204" pitchFamily="34" charset="0"/>
              </a:rPr>
              <a:t> Méthodes de traitement numérique et filtrage.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722D49-79EF-EB60-D2BB-FC7EF86458D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à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C629450-6961-9FFB-C34B-E9CEB6E19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0BDFA9-9438-F42F-9FC7-AC152178B71A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626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Méthode retenue :</a:t>
                </a:r>
                <a:r>
                  <a:rPr lang="fr-FR" sz="1400" dirty="0">
                    <a:sym typeface="Wingdings" panose="05000000000000000000" pitchFamily="2" charset="2"/>
                  </a:rPr>
                  <a:t> Passe bas 1</a:t>
                </a:r>
                <a:r>
                  <a:rPr lang="fr-FR" sz="1400" baseline="30000" dirty="0">
                    <a:sym typeface="Wingdings" panose="05000000000000000000" pitchFamily="2" charset="2"/>
                  </a:rPr>
                  <a:t>er</a:t>
                </a:r>
                <a:r>
                  <a:rPr lang="fr-FR" sz="1400" dirty="0">
                    <a:sym typeface="Wingdings" panose="05000000000000000000" pitchFamily="2" charset="2"/>
                  </a:rPr>
                  <a:t> Ordre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0BDFA9-9438-F42F-9FC7-AC152178B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626779"/>
              </a:xfrm>
              <a:prstGeom prst="rect">
                <a:avLst/>
              </a:prstGeom>
              <a:blipFill>
                <a:blip r:embed="rId3"/>
                <a:stretch>
                  <a:fillRect l="-633" t="-2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69D3C4-6722-D933-7E37-B56D697D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A986A-9007-6EFF-EAC5-D7E3C5362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5FC9E38C-0FE2-ED06-D782-30DE40B08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28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8DC2333-7A5D-CF00-2817-AB7646C79E9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00149F-2FD1-F8A5-1BDC-2B28AB53A0B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D5B9415-BA12-BB1D-3132-EDD9454DC58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0836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5 :</a:t>
            </a:r>
            <a:r>
              <a:rPr lang="fr-FR" sz="2000" dirty="0">
                <a:latin typeface="Arial Black" panose="020B0A04020102020204" pitchFamily="34" charset="0"/>
              </a:rPr>
              <a:t> Bobine de Helmholtz.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Lien entre Intensité et champ magnétique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4075" y="1845084"/>
            <a:ext cx="5118855" cy="4016406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684808" y="3747999"/>
                <a:ext cx="3151746" cy="1988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dirty="0">
                    <a:sym typeface="Wingdings" panose="05000000000000000000" pitchFamily="2" charset="2"/>
                  </a:rPr>
                  <a:t>Pour un solénoïde parfait infini :</a:t>
                </a:r>
              </a:p>
              <a:p>
                <a:endParaRPr lang="fr-FR" sz="1400" b="1" dirty="0">
                  <a:sym typeface="Wingdings" panose="05000000000000000000" pitchFamily="2" charset="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𝜇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𝑁𝐼</m:t>
                      </m:r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dirty="0">
                    <a:sym typeface="Wingdings" panose="05000000000000000000" pitchFamily="2" charset="2"/>
                  </a:rPr>
                  <a:t>Au centre du montage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𝑩</m:t>
                      </m:r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sSup>
                        <m:sSup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b="1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1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𝟒</m:t>
                                  </m:r>
                                </m:num>
                                <m:den>
                                  <m:r>
                                    <a:rPr lang="fr-FR" sz="1400" b="1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𝟓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fPr>
                            <m:num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𝟑</m:t>
                              </m:r>
                            </m:num>
                            <m:den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  <m:f>
                        <m:f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𝟎</m:t>
                              </m:r>
                            </m:sub>
                          </m:sSub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𝑵</m:t>
                          </m:r>
                        </m:num>
                        <m:den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𝑹</m:t>
                          </m:r>
                        </m:den>
                      </m:f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𝑰</m:t>
                      </m:r>
                    </m:oMath>
                  </m:oMathPara>
                </a14:m>
                <a:endParaRPr lang="fr-FR" sz="1400" b="1" dirty="0">
                  <a:solidFill>
                    <a:srgbClr val="C00000"/>
                  </a:solidFill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4808" y="3747999"/>
                <a:ext cx="3151746" cy="1988173"/>
              </a:xfrm>
              <a:prstGeom prst="rect">
                <a:avLst/>
              </a:prstGeom>
              <a:blipFill>
                <a:blip r:embed="rId3"/>
                <a:stretch>
                  <a:fillRect l="-580" t="-61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1896C-AC65-64BB-7C08-6B7C16677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B6FA9-743F-8037-A7E0-47BBD167F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53CF02AC-9500-9D89-7F29-F3D529C99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29</a:t>
            </a:fld>
            <a:endParaRPr lang="fr-FR" sz="1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7A6457-3A36-DBF9-AF2C-EC3AA3D22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688" y="526405"/>
            <a:ext cx="2787986" cy="2552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A3A1175-6107-CD15-FEB0-44F1AECEA0EA}"/>
              </a:ext>
            </a:extLst>
          </p:cNvPr>
          <p:cNvSpPr txBox="1"/>
          <p:nvPr/>
        </p:nvSpPr>
        <p:spPr>
          <a:xfrm>
            <a:off x="384075" y="5597672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</a:t>
            </a:r>
            <a:r>
              <a:rPr lang="fr-FR" sz="1200" dirty="0" err="1"/>
              <a:t>Wikipedia</a:t>
            </a:r>
            <a:endParaRPr lang="fr-F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E41C05-8963-D937-F0F9-8D3F401BBD75}"/>
              </a:ext>
            </a:extLst>
          </p:cNvPr>
          <p:cNvSpPr txBox="1"/>
          <p:nvPr/>
        </p:nvSpPr>
        <p:spPr>
          <a:xfrm>
            <a:off x="5866688" y="3082845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</a:t>
            </a:r>
            <a:r>
              <a:rPr lang="fr-FR" sz="1200" dirty="0" err="1"/>
              <a:t>Wikipedia</a:t>
            </a:r>
            <a:endParaRPr lang="fr-FR" sz="12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A3D9E56-2375-CFED-0EC2-1778CB2E970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7EDD586-71C1-D597-3D5B-A5AF8EA16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0699E4B3-7225-B040-3EED-1D7C1586804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47211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>
                <a:latin typeface="Arial Black" panose="020B0A04020102020204" pitchFamily="34" charset="0"/>
              </a:rPr>
              <a:t>ANNEXE 6 :</a:t>
            </a:r>
            <a:r>
              <a:rPr lang="fr-FR" dirty="0">
                <a:latin typeface="Arial Black" panose="020B0A04020102020204" pitchFamily="34" charset="0"/>
              </a:rPr>
              <a:t> Modélisation de la réjection du champ parasite.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375813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Définition :</a:t>
                </a:r>
                <a:endParaRPr lang="fr-FR" sz="1200" dirty="0"/>
              </a:p>
              <a:p>
                <a:r>
                  <a:rPr lang="fr-FR" sz="1200" dirty="0"/>
                  <a:t>On appellera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fr-FR" sz="1200" dirty="0"/>
                  <a:t> le signal utile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fr-FR" sz="1200" dirty="0"/>
                  <a:t> le signal parasite. On définit le </a:t>
                </a:r>
                <a:r>
                  <a:rPr lang="fr-FR" sz="1200" u="sng" dirty="0"/>
                  <a:t>Taux de Rejection de Mode Commun</a:t>
                </a:r>
                <a:r>
                  <a:rPr lang="fr-FR" sz="1200" dirty="0"/>
                  <a:t>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𝑆𝑝</m:t>
                            </m:r>
                          </m:den>
                        </m:f>
                      </m:e>
                    </m:func>
                  </m:oMath>
                </a14:m>
                <a:endParaRPr lang="fr-FR" sz="1200" b="1" dirty="0"/>
              </a:p>
              <a:p>
                <a:endParaRPr lang="fr-FR" sz="1200" b="1" u="sng" dirty="0"/>
              </a:p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, de pulsation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le flux à travers une surface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FR" sz="1200" dirty="0"/>
                  <a:t> est: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une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place le micro 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200" dirty="0"/>
                  <a:t>, 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375813"/>
              </a:xfrm>
              <a:prstGeom prst="rect">
                <a:avLst/>
              </a:prstGeom>
              <a:blipFill>
                <a:blip r:embed="rId3"/>
                <a:stretch>
                  <a:fillRect t="-139" r="-1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série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espacées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𝐻𝑠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Humbucker parallèle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même, sous les mêmes notations,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blipFill>
                <a:blip r:embed="rId4"/>
                <a:stretch>
                  <a:fillRect t="-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/>
              <p:nvPr/>
            </p:nvSpPr>
            <p:spPr>
              <a:xfrm>
                <a:off x="563660" y="5664788"/>
                <a:ext cx="8191168" cy="578882"/>
              </a:xfrm>
              <a:prstGeom prst="roundRect">
                <a:avLst/>
              </a:prstGeom>
              <a:ln w="28575">
                <a:solidFill>
                  <a:srgbClr val="4A66AC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400" dirty="0"/>
                  <a:t> est petit. En pratique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=0.018 </m:t>
                    </m:r>
                  </m:oMath>
                </a14:m>
                <a:r>
                  <a:rPr lang="fr-FR" sz="1400" dirty="0"/>
                  <a:t>mètre.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Si les deux Humbucker sont identiques, peu importe le montage, le CMRR est identique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0" y="5664788"/>
                <a:ext cx="8191168" cy="578882"/>
              </a:xfrm>
              <a:prstGeom prst="roundRect">
                <a:avLst/>
              </a:prstGeom>
              <a:blipFill>
                <a:blip r:embed="rId5"/>
                <a:stretch>
                  <a:fillRect b="-2000"/>
                </a:stretch>
              </a:blipFill>
              <a:ln w="28575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692343-56BA-21CF-A5F9-30091028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6B05F-F041-5835-3954-BD9D11DDD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FFD79266-96A3-D472-2024-2DA68574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30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20B7468-BCCF-A5F6-F2D8-A018E8C0217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949DBF1-29F8-D7A4-4AE4-5E959C47DC4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933A2DFA-6066-1F4A-AA74-71E62A3E737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6F482-7CE7-8509-6D95-51F11BB5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A350-68D0-F903-69F4-2B53C0EE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863E7E1-64AC-F902-58A5-185AD2049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31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161A35-A7AB-ABB7-5E66-266DE3F7BAB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AC28CA2-2616-396F-BABB-88C3FF467F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A27C717-CF07-7F2B-9F77-A485D80BE0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127E-D68A-C4C9-C086-9738F9D5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3FFEE79-B6D9-7DF1-77AC-A2F39E7FB47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E4F10-BA31-FD17-A59D-7CAA4E9049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D36202-B3E5-243C-14C2-48434A7D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19282" r="1566" b="8689"/>
          <a:stretch>
            <a:fillRect/>
          </a:stretch>
        </p:blipFill>
        <p:spPr>
          <a:xfrm rot="16200000">
            <a:off x="2548484" y="118160"/>
            <a:ext cx="4047032" cy="65912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4A7F794-6E33-A78A-72E0-E236243901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4914" t="11121" r="5635" b="30934"/>
          <a:stretch>
            <a:fillRect/>
          </a:stretch>
        </p:blipFill>
        <p:spPr>
          <a:xfrm>
            <a:off x="5973557" y="4628840"/>
            <a:ext cx="2844000" cy="15569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2B486F-873B-1C92-486F-11C7767869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810" t="15900" r="12423" b="27097"/>
          <a:stretch>
            <a:fillRect/>
          </a:stretch>
        </p:blipFill>
        <p:spPr>
          <a:xfrm>
            <a:off x="514606" y="4628840"/>
            <a:ext cx="2880000" cy="153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EF5D67B-65B9-DD8F-74B1-81A310AE71D3}"/>
              </a:ext>
            </a:extLst>
          </p:cNvPr>
          <p:cNvSpPr/>
          <p:nvPr/>
        </p:nvSpPr>
        <p:spPr>
          <a:xfrm>
            <a:off x="1379095" y="1466054"/>
            <a:ext cx="1499017" cy="134545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D180F4-F1E8-39AD-1FE1-134753F82E8C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3DF99-7669-2863-A6C8-AC7C73BAA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7C8A0D-90FE-540A-ED6A-722FEACD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61E94F5-3095-0797-0C4B-2D974D15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32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F88045-7B21-7D36-651B-3E8D4A4F6D6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7C41033-4733-DD77-EEA6-44A97214050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5B943655-9C2A-02B5-A109-BBC61B5E5C8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9642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Notations et valeur numérique.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A0FDFD4-ACE1-C723-796E-51848408BDB8}"/>
              </a:ext>
            </a:extLst>
          </p:cNvPr>
          <p:cNvSpPr/>
          <p:nvPr/>
        </p:nvSpPr>
        <p:spPr>
          <a:xfrm>
            <a:off x="345439" y="1174612"/>
            <a:ext cx="4031962" cy="280107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numCol="2" rtlCol="0" anchor="t"/>
          <a:lstStyle/>
          <a:p>
            <a:endParaRPr lang="fr-FR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CD883-82BD-74FC-0CCA-5B43225FB89A}"/>
              </a:ext>
            </a:extLst>
          </p:cNvPr>
          <p:cNvSpPr txBox="1"/>
          <p:nvPr/>
        </p:nvSpPr>
        <p:spPr>
          <a:xfrm>
            <a:off x="326443" y="1142736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électriques &amp; mécaniques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A2E43-0000-4799-8C98-5CF5D3C0AA82}"/>
              </a:ext>
            </a:extLst>
          </p:cNvPr>
          <p:cNvSpPr txBox="1"/>
          <p:nvPr/>
        </p:nvSpPr>
        <p:spPr>
          <a:xfrm>
            <a:off x="4671437" y="1122601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20EF1A-1F6F-9525-65C0-C1F7BBBB7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E79A1-0201-53D7-0BB4-C20241C7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1901009-EA74-EC93-E653-CCC6C4D2D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33</a:t>
            </a:fld>
            <a:endParaRPr lang="fr-FR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512A1F-73C1-FEBB-94E9-42BDF0C816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667"/>
          <a:stretch>
            <a:fillRect/>
          </a:stretch>
        </p:blipFill>
        <p:spPr>
          <a:xfrm>
            <a:off x="326442" y="1454718"/>
            <a:ext cx="4245558" cy="48910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F7E59A-B1E2-83A4-8C97-7456B8316C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310"/>
          <a:stretch>
            <a:fillRect/>
          </a:stretch>
        </p:blipFill>
        <p:spPr>
          <a:xfrm>
            <a:off x="4671436" y="1501426"/>
            <a:ext cx="4362137" cy="309828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F75B829-B8F4-A452-B175-BEB9A13B9E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6F09FD2-5244-310D-0A97-69C673420909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C99B93DE-CD8C-99E5-4311-FACD17064DF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9:</a:t>
            </a:r>
            <a:r>
              <a:rPr lang="fr-FR" sz="2000" dirty="0">
                <a:latin typeface="Arial Black" panose="020B0A04020102020204" pitchFamily="34" charset="0"/>
              </a:rPr>
              <a:t> Références bibliographiques et sources.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4A605A-39EA-E26C-D82F-B7364DE6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3630A-974D-CC9B-8200-E45D9FB5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11860B60-7DA1-5048-127A-6019A8FF4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34</a:t>
            </a:fld>
            <a:endParaRPr lang="fr-FR" sz="1400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533B1-11B6-C63E-C641-9114BCBC74E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B8B9C6-84C8-0325-373B-0E85180B66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6BEF1DC-3C47-EE17-2BA1-095DF3B7E15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Baskerville Old Face">
      <a:majorFont>
        <a:latin typeface="Baskerville Old Face"/>
        <a:ea typeface=""/>
        <a:cs typeface=""/>
      </a:majorFont>
      <a:minorFont>
        <a:latin typeface="Baskerville Old Face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2424</Words>
  <Application>Microsoft Office PowerPoint</Application>
  <PresentationFormat>On-screen Show (4:3)</PresentationFormat>
  <Paragraphs>627</Paragraphs>
  <Slides>34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Arial Black</vt:lpstr>
      <vt:lpstr>Bahnschrift Light SemiCondensed</vt:lpstr>
      <vt:lpstr>Baskerville Old Face</vt:lpstr>
      <vt:lpstr>Calibri</vt:lpstr>
      <vt:lpstr>Cambria Math</vt:lpstr>
      <vt:lpstr>Wingdings</vt:lpstr>
      <vt:lpstr>Retrospect</vt:lpstr>
      <vt:lpstr>Guitare électrique :  Etude de l’influence du type de bobinage dans le micro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Merci pour votre attention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894</cp:revision>
  <dcterms:created xsi:type="dcterms:W3CDTF">2025-06-09T15:35:56Z</dcterms:created>
  <dcterms:modified xsi:type="dcterms:W3CDTF">2026-06-07T09:55:05Z</dcterms:modified>
</cp:coreProperties>
</file>