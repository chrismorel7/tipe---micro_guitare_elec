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27"/>
  </p:notesMasterIdLst>
  <p:sldIdLst>
    <p:sldId id="256" r:id="rId2"/>
    <p:sldId id="265" r:id="rId3"/>
    <p:sldId id="278" r:id="rId4"/>
    <p:sldId id="289" r:id="rId5"/>
    <p:sldId id="295" r:id="rId6"/>
    <p:sldId id="281" r:id="rId7"/>
    <p:sldId id="297" r:id="rId8"/>
    <p:sldId id="313" r:id="rId9"/>
    <p:sldId id="315" r:id="rId10"/>
    <p:sldId id="316" r:id="rId11"/>
    <p:sldId id="285" r:id="rId12"/>
    <p:sldId id="303" r:id="rId13"/>
    <p:sldId id="271" r:id="rId14"/>
    <p:sldId id="302" r:id="rId15"/>
    <p:sldId id="272" r:id="rId16"/>
    <p:sldId id="277" r:id="rId17"/>
    <p:sldId id="304" r:id="rId18"/>
    <p:sldId id="305" r:id="rId19"/>
    <p:sldId id="275" r:id="rId20"/>
    <p:sldId id="306" r:id="rId21"/>
    <p:sldId id="307" r:id="rId22"/>
    <p:sldId id="308" r:id="rId23"/>
    <p:sldId id="309" r:id="rId24"/>
    <p:sldId id="310" r:id="rId25"/>
    <p:sldId id="311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9AD7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591" autoAdjust="0"/>
    <p:restoredTop sz="94660"/>
  </p:normalViewPr>
  <p:slideViewPr>
    <p:cSldViewPr snapToGrid="0">
      <p:cViewPr varScale="1">
        <p:scale>
          <a:sx n="96" d="100"/>
          <a:sy n="96" d="100"/>
        </p:scale>
        <p:origin x="1205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2547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89500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58756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10171-37B6-5321-EEC1-8D7921B3F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2A0ECA-D017-F959-BA4C-BF7EAA404B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53A385-0F08-6552-E47F-9E7BD10711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63D834-822A-4486-95D0-2CB656786E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98048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fld id="{1C7C724F-4508-4890-B18E-3F5BB1B02F24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1C7C724F-4508-4890-B18E-3F5BB1B02F24}" type="datetimeFigureOut">
              <a:rPr lang="fr-FR" smtClean="0"/>
              <a:t>19/11/2025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3.jpeg"/><Relationship Id="rId7" Type="http://schemas.microsoft.com/office/2007/relationships/hdphoto" Target="../media/hdphoto2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2.png"/><Relationship Id="rId5" Type="http://schemas.microsoft.com/office/2007/relationships/hdphoto" Target="../media/hdphoto1.wdp"/><Relationship Id="rId10" Type="http://schemas.openxmlformats.org/officeDocument/2006/relationships/image" Target="../media/image11.png"/><Relationship Id="rId4" Type="http://schemas.openxmlformats.org/officeDocument/2006/relationships/image" Target="../media/image7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7" Type="http://schemas.openxmlformats.org/officeDocument/2006/relationships/image" Target="../media/image13.png"/><Relationship Id="rId12" Type="http://schemas.openxmlformats.org/officeDocument/2006/relationships/image" Target="../media/image17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eg"/><Relationship Id="rId11" Type="http://schemas.openxmlformats.org/officeDocument/2006/relationships/image" Target="../media/image16.png"/><Relationship Id="rId5" Type="http://schemas.openxmlformats.org/officeDocument/2006/relationships/image" Target="../media/image14.png"/><Relationship Id="rId10" Type="http://schemas.openxmlformats.org/officeDocument/2006/relationships/image" Target="../media/image15.png"/><Relationship Id="rId9" Type="http://schemas.openxmlformats.org/officeDocument/2006/relationships/image" Target="../media/image14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41.png"/><Relationship Id="rId7" Type="http://schemas.openxmlformats.org/officeDocument/2006/relationships/image" Target="../media/image3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0.png"/><Relationship Id="rId5" Type="http://schemas.openxmlformats.org/officeDocument/2006/relationships/image" Target="../media/image160.png"/><Relationship Id="rId10" Type="http://schemas.openxmlformats.org/officeDocument/2006/relationships/image" Target="../media/image17.png"/><Relationship Id="rId4" Type="http://schemas.openxmlformats.org/officeDocument/2006/relationships/image" Target="../media/image18.png"/><Relationship Id="rId9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eg"/><Relationship Id="rId3" Type="http://schemas.openxmlformats.org/officeDocument/2006/relationships/image" Target="../media/image25.png"/><Relationship Id="rId7" Type="http://schemas.openxmlformats.org/officeDocument/2006/relationships/image" Target="../media/image29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32.png"/><Relationship Id="rId5" Type="http://schemas.openxmlformats.org/officeDocument/2006/relationships/image" Target="../media/image27.svg"/><Relationship Id="rId10" Type="http://schemas.openxmlformats.org/officeDocument/2006/relationships/image" Target="../media/image31.svg"/><Relationship Id="rId4" Type="http://schemas.openxmlformats.org/officeDocument/2006/relationships/image" Target="../media/image26.png"/><Relationship Id="rId9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eg"/><Relationship Id="rId3" Type="http://schemas.openxmlformats.org/officeDocument/2006/relationships/image" Target="../media/image25.png"/><Relationship Id="rId7" Type="http://schemas.openxmlformats.org/officeDocument/2006/relationships/image" Target="../media/image29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27.svg"/><Relationship Id="rId10" Type="http://schemas.openxmlformats.org/officeDocument/2006/relationships/image" Target="../media/image31.svg"/><Relationship Id="rId4" Type="http://schemas.openxmlformats.org/officeDocument/2006/relationships/image" Target="../media/image26.png"/><Relationship Id="rId9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3" Type="http://schemas.openxmlformats.org/officeDocument/2006/relationships/image" Target="../media/image270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3" Type="http://schemas.openxmlformats.org/officeDocument/2006/relationships/image" Target="../media/image320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44.png"/><Relationship Id="rId7" Type="http://schemas.openxmlformats.org/officeDocument/2006/relationships/image" Target="../media/image301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45.jpeg"/><Relationship Id="rId10" Type="http://schemas.openxmlformats.org/officeDocument/2006/relationships/image" Target="../media/image330.png"/><Relationship Id="rId9" Type="http://schemas.openxmlformats.org/officeDocument/2006/relationships/image" Target="../media/image2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A121F9-7273-1CF4-F60D-E01BEEB3AF96}"/>
              </a:ext>
            </a:extLst>
          </p:cNvPr>
          <p:cNvSpPr/>
          <p:nvPr/>
        </p:nvSpPr>
        <p:spPr>
          <a:xfrm>
            <a:off x="628649" y="262383"/>
            <a:ext cx="7886701" cy="775252"/>
          </a:xfrm>
          <a:prstGeom prst="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50" dirty="0">
                <a:latin typeface="Arial Black" panose="020B0A04020102020204" pitchFamily="34" charset="0"/>
              </a:rPr>
              <a:t>Loi d’induction de Faraday : Le fonctionnement d’une guitare électrique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5CA91E38-0C9E-C7FB-9A24-FA98AC9C8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1FCC0EF-4B1B-F41C-656B-2BE699CDE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305C624-2E1B-C39E-B3B4-807FF6A6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</a:t>
            </a:fld>
            <a:endParaRPr lang="fr-FR"/>
          </a:p>
        </p:txBody>
      </p:sp>
      <p:pic>
        <p:nvPicPr>
          <p:cNvPr id="1026" name="Picture 2" descr="Guitare, La Musique, Guitare Électrique">
            <a:extLst>
              <a:ext uri="{FF2B5EF4-FFF2-40B4-BE49-F238E27FC236}">
                <a16:creationId xmlns:a16="http://schemas.microsoft.com/office/drawing/2014/main" id="{0098F414-3793-7E07-8CE1-A5A56D7C25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1" b="423"/>
          <a:stretch>
            <a:fillRect/>
          </a:stretch>
        </p:blipFill>
        <p:spPr bwMode="auto">
          <a:xfrm>
            <a:off x="628662" y="1210868"/>
            <a:ext cx="7886688" cy="482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7878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AE0E-A710-B751-21D5-1465D9560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CE604F-6BFC-79C1-4FC3-CA1EA535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9A119C-A152-8451-8BAD-3058A883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BA6762A-3000-D56B-00BC-9C877DB75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1B7045-CF40-0E65-A5C7-9FB0BF30525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0A1813A-2397-9FF3-55B4-A7083DA4BF3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3AB908-2C09-A846-F7C5-107A095B6297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Problématique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896A7184-965A-9FF1-E334-6E9025994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019" y="2253924"/>
            <a:ext cx="7425344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000" dirty="0"/>
              <a:t>Comment </a:t>
            </a:r>
            <a:r>
              <a:rPr lang="fr-FR" sz="2000" b="1" dirty="0"/>
              <a:t>le type de micro </a:t>
            </a:r>
            <a:r>
              <a:rPr lang="fr-FR" sz="2000" dirty="0"/>
              <a:t>influence-t-il le </a:t>
            </a:r>
            <a:r>
              <a:rPr lang="fr-FR" sz="2000" b="1" dirty="0"/>
              <a:t>timbre</a:t>
            </a:r>
            <a:r>
              <a:rPr lang="fr-FR" sz="2000" dirty="0"/>
              <a:t> et </a:t>
            </a:r>
            <a:r>
              <a:rPr lang="fr-FR" sz="2000" b="1" dirty="0"/>
              <a:t>la qualité</a:t>
            </a:r>
            <a:r>
              <a:rPr lang="fr-FR" sz="2000" dirty="0"/>
              <a:t> du </a:t>
            </a:r>
            <a:r>
              <a:rPr lang="fr-FR" sz="2000" b="1" dirty="0"/>
              <a:t>son</a:t>
            </a:r>
            <a:r>
              <a:rPr lang="fr-FR" sz="2000" dirty="0"/>
              <a:t> d’une guitare électrique ?</a:t>
            </a:r>
            <a:endParaRPr kumimoji="0" lang="fr-FR" altLang="fr-FR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4EE9D4-1D4E-E6DD-563B-928B9E769F11}"/>
              </a:ext>
            </a:extLst>
          </p:cNvPr>
          <p:cNvSpPr txBox="1"/>
          <p:nvPr/>
        </p:nvSpPr>
        <p:spPr>
          <a:xfrm>
            <a:off x="822961" y="4436823"/>
            <a:ext cx="3749039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SingleCoil </a:t>
            </a:r>
          </a:p>
          <a:p>
            <a:pPr algn="ctr"/>
            <a:r>
              <a:rPr lang="fr-FR" dirty="0"/>
              <a:t>(ou simple bobinage)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7F5EE0-EFED-C507-DAB9-15D261AF6049}"/>
              </a:ext>
            </a:extLst>
          </p:cNvPr>
          <p:cNvSpPr txBox="1"/>
          <p:nvPr/>
        </p:nvSpPr>
        <p:spPr>
          <a:xfrm>
            <a:off x="4572000" y="4436823"/>
            <a:ext cx="3837363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Humbucker </a:t>
            </a:r>
          </a:p>
          <a:p>
            <a:pPr algn="ctr"/>
            <a:r>
              <a:rPr lang="fr-FR" dirty="0"/>
              <a:t>(ou double bobinage)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DBB3E-CACA-593E-E545-39E8047A68D3}"/>
              </a:ext>
            </a:extLst>
          </p:cNvPr>
          <p:cNvSpPr txBox="1"/>
          <p:nvPr/>
        </p:nvSpPr>
        <p:spPr>
          <a:xfrm>
            <a:off x="2802834" y="3896190"/>
            <a:ext cx="3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Types de micro :</a:t>
            </a:r>
          </a:p>
        </p:txBody>
      </p:sp>
    </p:spTree>
    <p:extLst>
      <p:ext uri="{BB962C8B-B14F-4D97-AF65-F5344CB8AC3E}">
        <p14:creationId xmlns:p14="http://schemas.microsoft.com/office/powerpoint/2010/main" val="1424046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EB8DB-462A-9B19-1F31-BB4FD26B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94FB20C-02CF-35BD-3AB9-670C42C7A9C6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EDDED1E-275F-6831-62E9-95476B043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1D5E31-18D5-EFA4-FF70-9C214035B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16D650-4C5C-541D-6925-FDAE466CB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3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488C05C-557A-D965-1B57-D283BF34BE5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018A027-1E36-7A49-BFE5-C63B39A43736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AD89E9-806A-4E89-859A-696AFF1D31B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Comment fonctionne une guitare électrique ? </a:t>
            </a:r>
            <a:r>
              <a:rPr lang="fr-FR" sz="1000" i="1" dirty="0"/>
              <a:t>cf. [1]</a:t>
            </a:r>
            <a:endParaRPr lang="fr-FR" sz="2000" b="1" dirty="0">
              <a:latin typeface="+mj-lt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92E8534-760B-A9A0-98A4-5631C1A1EEAC}"/>
              </a:ext>
            </a:extLst>
          </p:cNvPr>
          <p:cNvGrpSpPr/>
          <p:nvPr/>
        </p:nvGrpSpPr>
        <p:grpSpPr>
          <a:xfrm>
            <a:off x="406695" y="1450258"/>
            <a:ext cx="4437385" cy="3965686"/>
            <a:chOff x="-34756" y="1586102"/>
            <a:chExt cx="4437385" cy="3965686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4E26F642-1EDB-D9D0-339B-2432C09158E6}"/>
                </a:ext>
              </a:extLst>
            </p:cNvPr>
            <p:cNvGrpSpPr/>
            <p:nvPr/>
          </p:nvGrpSpPr>
          <p:grpSpPr>
            <a:xfrm>
              <a:off x="-34756" y="1586102"/>
              <a:ext cx="4437385" cy="3960146"/>
              <a:chOff x="-34756" y="1586102"/>
              <a:chExt cx="4437385" cy="3960146"/>
            </a:xfrm>
          </p:grpSpPr>
          <p:pic>
            <p:nvPicPr>
              <p:cNvPr id="11" name="Picture 2" descr="5 Best Humbuckers: Gear Guide to Amazing Pickups | Equipboard®">
                <a:extLst>
                  <a:ext uri="{FF2B5EF4-FFF2-40B4-BE49-F238E27FC236}">
                    <a16:creationId xmlns:a16="http://schemas.microsoft.com/office/drawing/2014/main" id="{EF933A2A-B5DF-0F82-4FC8-301F3207B1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2666" t="-7130" r="-141" b="-876"/>
              <a:stretch>
                <a:fillRect/>
              </a:stretch>
            </p:blipFill>
            <p:spPr bwMode="auto">
              <a:xfrm>
                <a:off x="2743124" y="4230934"/>
                <a:ext cx="1637990" cy="1315314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6" name="Picture 2" descr="5 Best Humbuckers: Gear Guide to Amazing Pickups | Equipboard®">
                <a:extLst>
                  <a:ext uri="{FF2B5EF4-FFF2-40B4-BE49-F238E27FC236}">
                    <a16:creationId xmlns:a16="http://schemas.microsoft.com/office/drawing/2014/main" id="{D101A5E5-BA4D-16F2-BED9-3954FE2B9AF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83" t="-8093" r="50325" b="-7437"/>
              <a:stretch>
                <a:fillRect/>
              </a:stretch>
            </p:blipFill>
            <p:spPr bwMode="auto">
              <a:xfrm>
                <a:off x="2764639" y="2136281"/>
                <a:ext cx="1637990" cy="1406367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2" name="Picture 8">
                <a:extLst>
                  <a:ext uri="{FF2B5EF4-FFF2-40B4-BE49-F238E27FC236}">
                    <a16:creationId xmlns:a16="http://schemas.microsoft.com/office/drawing/2014/main" id="{A86E6CB6-2C7D-D59A-DF2C-EA03047A1D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87223">
                <a:off x="-34756" y="1586102"/>
                <a:ext cx="3569635" cy="35696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3" name="Connector: Curved 12">
                <a:extLst>
                  <a:ext uri="{FF2B5EF4-FFF2-40B4-BE49-F238E27FC236}">
                    <a16:creationId xmlns:a16="http://schemas.microsoft.com/office/drawing/2014/main" id="{9CC502A0-585D-65D8-BE79-3175E05CA0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47764" y="2873204"/>
                <a:ext cx="1316875" cy="1241596"/>
              </a:xfrm>
              <a:prstGeom prst="curved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Connector: Curved 16">
                <a:extLst>
                  <a:ext uri="{FF2B5EF4-FFF2-40B4-BE49-F238E27FC236}">
                    <a16:creationId xmlns:a16="http://schemas.microsoft.com/office/drawing/2014/main" id="{8EFCF990-1181-93F4-481C-E26808409BF1}"/>
                  </a:ext>
                </a:extLst>
              </p:cNvPr>
              <p:cNvCxnSpPr>
                <a:cxnSpLocks/>
                <a:endCxn id="11" idx="2"/>
              </p:cNvCxnSpPr>
              <p:nvPr/>
            </p:nvCxnSpPr>
            <p:spPr>
              <a:xfrm>
                <a:off x="1210381" y="4529667"/>
                <a:ext cx="1532743" cy="358924"/>
              </a:xfrm>
              <a:prstGeom prst="curved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3B270C04-EA57-651F-EDDD-A94BAC32E88F}"/>
                </a:ext>
              </a:extLst>
            </p:cNvPr>
            <p:cNvSpPr/>
            <p:nvPr/>
          </p:nvSpPr>
          <p:spPr>
            <a:xfrm>
              <a:off x="3052943" y="3223152"/>
              <a:ext cx="1018352" cy="10801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b="1" dirty="0">
                  <a:solidFill>
                    <a:schemeClr val="tx1"/>
                  </a:solidFill>
                </a:rPr>
                <a:t>Micro Simple Bobinage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071E06E-24A1-72B4-FDB8-7EF1C91610E7}"/>
                </a:ext>
              </a:extLst>
            </p:cNvPr>
            <p:cNvSpPr txBox="1"/>
            <p:nvPr/>
          </p:nvSpPr>
          <p:spPr>
            <a:xfrm>
              <a:off x="115978" y="5305567"/>
              <a:ext cx="204994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dirty="0"/>
                <a:t>Source image : Ibanez.com</a:t>
              </a:r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A36A8077-491D-F30D-2423-C4023BC98E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3315" y="3563328"/>
            <a:ext cx="2166250" cy="1800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2DA9E8A-DD53-9FC2-0BFD-C099190F64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527" y="1442399"/>
            <a:ext cx="1881825" cy="1800000"/>
          </a:xfrm>
          <a:prstGeom prst="rect">
            <a:avLst/>
          </a:prstGeom>
        </p:spPr>
      </p:pic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6B0954AF-D7DB-22E6-A676-90BF03E6E6BC}"/>
              </a:ext>
            </a:extLst>
          </p:cNvPr>
          <p:cNvCxnSpPr>
            <a:cxnSpLocks/>
            <a:stCxn id="26" idx="0"/>
          </p:cNvCxnSpPr>
          <p:nvPr/>
        </p:nvCxnSpPr>
        <p:spPr>
          <a:xfrm rot="16200000" flipV="1">
            <a:off x="7870000" y="1380680"/>
            <a:ext cx="353650" cy="876509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6A79489E-50A5-06BD-6981-9FF739B9AAEE}"/>
              </a:ext>
            </a:extLst>
          </p:cNvPr>
          <p:cNvSpPr txBox="1"/>
          <p:nvPr/>
        </p:nvSpPr>
        <p:spPr>
          <a:xfrm>
            <a:off x="8100120" y="1995760"/>
            <a:ext cx="769917" cy="338554"/>
          </a:xfrm>
          <a:prstGeom prst="rect">
            <a:avLst/>
          </a:prstGeom>
          <a:noFill/>
          <a:ln w="19050"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Corde</a:t>
            </a:r>
            <a:endParaRPr lang="fr-FR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1F52CC0-CC36-76EE-019D-B3C4DC3EE332}"/>
              </a:ext>
            </a:extLst>
          </p:cNvPr>
          <p:cNvSpPr txBox="1"/>
          <p:nvPr/>
        </p:nvSpPr>
        <p:spPr>
          <a:xfrm>
            <a:off x="7382450" y="5384874"/>
            <a:ext cx="1195705" cy="584775"/>
          </a:xfrm>
          <a:prstGeom prst="rect">
            <a:avLst/>
          </a:prstGeom>
          <a:noFill/>
          <a:ln w="19050"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Aimant </a:t>
            </a:r>
          </a:p>
          <a:p>
            <a:pPr algn="ctr"/>
            <a:r>
              <a:rPr lang="fr-FR" sz="1600" dirty="0"/>
              <a:t>permanent</a:t>
            </a:r>
            <a:endParaRPr lang="fr-FR" dirty="0"/>
          </a:p>
        </p:txBody>
      </p: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49884A35-4DA8-39DD-8BA0-3EE1429F2E89}"/>
              </a:ext>
            </a:extLst>
          </p:cNvPr>
          <p:cNvCxnSpPr>
            <a:cxnSpLocks/>
            <a:stCxn id="46" idx="1"/>
          </p:cNvCxnSpPr>
          <p:nvPr/>
        </p:nvCxnSpPr>
        <p:spPr>
          <a:xfrm rot="10800000">
            <a:off x="6785610" y="5013960"/>
            <a:ext cx="596840" cy="66330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7D592549-28A5-8B72-44C2-0E8F4B8387D5}"/>
              </a:ext>
            </a:extLst>
          </p:cNvPr>
          <p:cNvCxnSpPr>
            <a:cxnSpLocks/>
            <a:stCxn id="46" idx="1"/>
          </p:cNvCxnSpPr>
          <p:nvPr/>
        </p:nvCxnSpPr>
        <p:spPr>
          <a:xfrm rot="10800000">
            <a:off x="7088506" y="5013960"/>
            <a:ext cx="293945" cy="66330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C8578837-B229-FF0F-AF14-FDA8687569F2}"/>
              </a:ext>
            </a:extLst>
          </p:cNvPr>
          <p:cNvSpPr txBox="1"/>
          <p:nvPr/>
        </p:nvSpPr>
        <p:spPr>
          <a:xfrm>
            <a:off x="7948688" y="2963028"/>
            <a:ext cx="921349" cy="338554"/>
          </a:xfrm>
          <a:prstGeom prst="rect">
            <a:avLst/>
          </a:prstGeom>
          <a:noFill/>
          <a:ln w="19050"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Bobine</a:t>
            </a:r>
            <a:endParaRPr lang="fr-FR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25298E3B-1F42-0AD7-770A-F2902FB6C93F}"/>
              </a:ext>
            </a:extLst>
          </p:cNvPr>
          <p:cNvCxnSpPr>
            <a:cxnSpLocks/>
            <a:stCxn id="55" idx="0"/>
          </p:cNvCxnSpPr>
          <p:nvPr/>
        </p:nvCxnSpPr>
        <p:spPr>
          <a:xfrm rot="16200000" flipV="1">
            <a:off x="7493972" y="2047636"/>
            <a:ext cx="382291" cy="1448493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62805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D7A07-07D0-A1CB-8899-D355F4D51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11288E9-B3DA-B302-03ED-BB1A2F90FFD7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46577B6-6057-D7AE-7D40-C0DB523A1A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0795297"/>
              </p:ext>
            </p:extLst>
          </p:nvPr>
        </p:nvGraphicFramePr>
        <p:xfrm>
          <a:off x="449950" y="1397000"/>
          <a:ext cx="4122050" cy="4159732"/>
        </p:xfrm>
        <a:graphic>
          <a:graphicData uri="http://schemas.openxmlformats.org/drawingml/2006/table">
            <a:tbl>
              <a:tblPr firstRow="1" bandRow="1"/>
              <a:tblGrid>
                <a:gridCol w="2072270">
                  <a:extLst>
                    <a:ext uri="{9D8B030D-6E8A-4147-A177-3AD203B41FA5}">
                      <a16:colId xmlns:a16="http://schemas.microsoft.com/office/drawing/2014/main" val="1626750321"/>
                    </a:ext>
                  </a:extLst>
                </a:gridCol>
                <a:gridCol w="2049780">
                  <a:extLst>
                    <a:ext uri="{9D8B030D-6E8A-4147-A177-3AD203B41FA5}">
                      <a16:colId xmlns:a16="http://schemas.microsoft.com/office/drawing/2014/main" val="3959665702"/>
                    </a:ext>
                  </a:extLst>
                </a:gridCol>
              </a:tblGrid>
              <a:tr h="2079866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82850818"/>
                  </a:ext>
                </a:extLst>
              </a:tr>
              <a:tr h="2079866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60353045"/>
                  </a:ext>
                </a:extLst>
              </a:tr>
            </a:tbl>
          </a:graphicData>
        </a:graphic>
      </p:graphicFrame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2B04609-9011-75C1-428E-AEC92A9E8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5B394A24-A5ED-B4AB-743F-176B4BC52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B4F0ABD-A3FF-3FA4-1508-CB40B0A88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4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64F6E0-59C6-5FA8-3FF9-66A6EBA747D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1C3D19D7-7B78-6C3C-DB0D-BD75D8D009B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0D9AE2-CD0C-5DD6-009A-C7A8EDFFA33D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Modélisation : Schéma électrique équivalent </a:t>
            </a:r>
            <a:r>
              <a:rPr lang="fr-FR" sz="1000" i="1" dirty="0"/>
              <a:t>cf. [2]</a:t>
            </a:r>
            <a:endParaRPr lang="fr-FR" sz="2000" b="1" dirty="0">
              <a:latin typeface="+mj-lt"/>
            </a:endParaRPr>
          </a:p>
        </p:txBody>
      </p:sp>
      <p:pic>
        <p:nvPicPr>
          <p:cNvPr id="17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6DD3104-026C-3288-625E-3BE3270D2D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733701" y="1888380"/>
            <a:ext cx="1546490" cy="1158075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5B2EB7E-9F06-B1BC-4FA0-FDE9EFB3D1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rcRect l="904"/>
          <a:stretch>
            <a:fillRect/>
          </a:stretch>
        </p:blipFill>
        <p:spPr>
          <a:xfrm>
            <a:off x="2764639" y="1460911"/>
            <a:ext cx="1723885" cy="1968405"/>
          </a:xfrm>
          <a:prstGeom prst="rect">
            <a:avLst/>
          </a:prstGeom>
        </p:spPr>
      </p:pic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7044795-B5D5-6F21-32C2-10AD5E46D7A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733701" y="3832677"/>
            <a:ext cx="1546490" cy="121769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FC7DE1E-590A-AE5F-9184-B5DB7DD3D85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rcRect l="611"/>
          <a:stretch>
            <a:fillRect/>
          </a:stretch>
        </p:blipFill>
        <p:spPr>
          <a:xfrm>
            <a:off x="2563942" y="3599295"/>
            <a:ext cx="1937551" cy="1797794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400735B-3429-D74B-B914-FE6A013D94BE}"/>
              </a:ext>
            </a:extLst>
          </p:cNvPr>
          <p:cNvGrpSpPr/>
          <p:nvPr/>
        </p:nvGrpSpPr>
        <p:grpSpPr>
          <a:xfrm>
            <a:off x="5094967" y="4939979"/>
            <a:ext cx="3846097" cy="338554"/>
            <a:chOff x="4855751" y="4417981"/>
            <a:chExt cx="3846097" cy="338554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237119B-1DF1-C2FC-F71B-79302244948A}"/>
                </a:ext>
              </a:extLst>
            </p:cNvPr>
            <p:cNvSpPr txBox="1"/>
            <p:nvPr/>
          </p:nvSpPr>
          <p:spPr>
            <a:xfrm>
              <a:off x="4855751" y="4417981"/>
              <a:ext cx="384609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dirty="0"/>
                <a:t>Ainsi on fera l’hypothèse :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/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ln w="19050">
                  <a:solidFill>
                    <a:srgbClr val="C00000"/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ctrlP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1531" r="-5102" b="-31250"/>
                  </a:stretch>
                </a:blipFill>
                <a:ln w="19050"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94CF1AC-DF2F-FA91-9E80-3DF00A7ACDC7}"/>
                  </a:ext>
                </a:extLst>
              </p:cNvPr>
              <p:cNvSpPr/>
              <p:nvPr/>
            </p:nvSpPr>
            <p:spPr>
              <a:xfrm>
                <a:off x="5110262" y="5382267"/>
                <a:ext cx="3838298" cy="837655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200" b="1" dirty="0"/>
                  <a:t>Notations :</a:t>
                </a:r>
              </a:p>
              <a:p>
                <a:endParaRPr lang="fr-FR" sz="1200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FEM totale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Tension de sortie du micro</a:t>
                </a:r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94CF1AC-DF2F-FA91-9E80-3DF00A7ACD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0262" y="5382267"/>
                <a:ext cx="3838298" cy="837655"/>
              </a:xfrm>
              <a:prstGeom prst="rect">
                <a:avLst/>
              </a:prstGeom>
              <a:blipFill>
                <a:blip r:embed="rId9"/>
                <a:stretch>
                  <a:fillRect b="-2098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7" name="Picture 26">
            <a:extLst>
              <a:ext uri="{FF2B5EF4-FFF2-40B4-BE49-F238E27FC236}">
                <a16:creationId xmlns:a16="http://schemas.microsoft.com/office/drawing/2014/main" id="{3E0B518A-F126-423A-04A5-83BB611A4A6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63" b="2663"/>
          <a:stretch/>
        </p:blipFill>
        <p:spPr>
          <a:xfrm>
            <a:off x="4695507" y="1397000"/>
            <a:ext cx="4006341" cy="28447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/>
              <p:nvPr/>
            </p:nvSpPr>
            <p:spPr>
              <a:xfrm>
                <a:off x="5094966" y="4272247"/>
                <a:ext cx="3846097" cy="4939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On observe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ad>
                          <m:radPr>
                            <m:degHide m:val="on"/>
                            <m:ctrlPr>
                              <a:rPr lang="fr-FR" sz="16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rad>
                      </m:den>
                    </m:f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&gt;3000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600" dirty="0"/>
                  <a:t>Hz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4966" y="4272247"/>
                <a:ext cx="3846097" cy="493918"/>
              </a:xfrm>
              <a:prstGeom prst="rect">
                <a:avLst/>
              </a:prstGeom>
              <a:blipFill>
                <a:blip r:embed="rId11"/>
                <a:stretch>
                  <a:fillRect l="-95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89257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1A1FD-A6FC-C7C2-DE37-662B2CD31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855E5BE-58A7-022E-6167-8A7B7F9B025C}"/>
              </a:ext>
            </a:extLst>
          </p:cNvPr>
          <p:cNvSpPr txBox="1"/>
          <p:nvPr/>
        </p:nvSpPr>
        <p:spPr>
          <a:xfrm>
            <a:off x="473803" y="5624506"/>
            <a:ext cx="973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E3A72F7-049B-A3CC-1B2E-02529849B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D52B121-9E62-729F-B3D5-86BB1018D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13D1EFD-9144-A6ED-4EF0-340A2FFA4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5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A028266-1353-9D29-9412-6AFD6644D1A2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BADD112-3E65-EB14-379D-D522541DFA3F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86FB64-1820-E8EA-22F7-D3261EDD1A9D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Modélisation : Force électromotrice FEM du micro </a:t>
            </a:r>
            <a:r>
              <a:rPr lang="fr-FR" sz="1000" i="1" dirty="0"/>
              <a:t>cf. [3]</a:t>
            </a:r>
            <a:r>
              <a:rPr lang="fr-FR" sz="1000" b="1" dirty="0">
                <a:latin typeface="+mj-lt"/>
              </a:rPr>
              <a:t> </a:t>
            </a:r>
            <a:endParaRPr lang="fr-FR" sz="2000" b="1" dirty="0">
              <a:latin typeface="+mj-lt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D469900-7C91-746A-DF9C-76998DDDDC23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938429-08DD-9D34-7052-F2B1EFB35D6A}"/>
              </a:ext>
            </a:extLst>
          </p:cNvPr>
          <p:cNvSpPr/>
          <p:nvPr/>
        </p:nvSpPr>
        <p:spPr>
          <a:xfrm>
            <a:off x="462440" y="1303261"/>
            <a:ext cx="4496905" cy="1376329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Tension de sortie semblable à la fem totale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04FFBD4-8ECC-17F0-456E-3092458D7F36}"/>
              </a:ext>
            </a:extLst>
          </p:cNvPr>
          <p:cNvSpPr txBox="1"/>
          <p:nvPr/>
        </p:nvSpPr>
        <p:spPr>
          <a:xfrm>
            <a:off x="462440" y="4840431"/>
            <a:ext cx="3287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On a donc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19D75804-48F9-1952-9D77-3AA86B746162}"/>
                  </a:ext>
                </a:extLst>
              </p:cNvPr>
              <p:cNvSpPr/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2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500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sortie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Masse linéique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micro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19D75804-48F9-1952-9D77-3AA86B7461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blipFill>
                <a:blip r:embed="rId2"/>
                <a:stretch>
                  <a:fillRect l="-214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D6AA2C2-FEF5-1C9F-ACB5-B77E215F9864}"/>
                  </a:ext>
                </a:extLst>
              </p:cNvPr>
              <p:cNvSpPr/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Lois et principes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Loi d’induction de Faraday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f>
                        <m:fPr>
                          <m:ctrlP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  <m:sSub>
                            <m:sSubPr>
                              <m:ctrlP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𝝓</m:t>
                              </m:r>
                            </m:e>
                            <m:sub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𝑩</m:t>
                              </m:r>
                            </m:sub>
                          </m:sSub>
                        </m:num>
                        <m:den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</m:oMath>
                  </m:oMathPara>
                </a14:m>
                <a:endParaRPr lang="fr-FR" sz="16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D6AA2C2-FEF5-1C9F-ACB5-B77E215F98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D32275D-B666-AD1E-6020-ABBAE6A2C0FD}"/>
                  </a:ext>
                </a:extLst>
              </p:cNvPr>
              <p:cNvSpPr txBox="1"/>
              <p:nvPr/>
            </p:nvSpPr>
            <p:spPr>
              <a:xfrm>
                <a:off x="1938313" y="4663973"/>
                <a:ext cx="3508525" cy="672172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d>
                        <m:d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D32275D-B666-AD1E-6020-ABBAE6A2C0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8313" y="4663973"/>
                <a:ext cx="3508525" cy="67217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48E630A-12F5-32F1-CC8A-2622DB0C99B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8041625" y="584646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2CF629CA-DDF5-5C23-1162-F3F0C74C233A}"/>
              </a:ext>
            </a:extLst>
          </p:cNvPr>
          <p:cNvGrpSpPr/>
          <p:nvPr/>
        </p:nvGrpSpPr>
        <p:grpSpPr>
          <a:xfrm>
            <a:off x="6381742" y="4607133"/>
            <a:ext cx="2559322" cy="779089"/>
            <a:chOff x="500933" y="4427234"/>
            <a:chExt cx="4020249" cy="140989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2C1AEE0C-A67A-1330-96A5-6065DC1AB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FB0AD10-B999-2905-1B3A-F6ADE2E9CDE6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FB0AD10-B999-2905-1B3A-F6ADE2E9CD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9"/>
                  <a:stretch>
                    <a:fillRect l="-35000" r="-45000" b="-11875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133AE80-0E4F-B0C2-86DD-BF163C681537}"/>
                  </a:ext>
                </a:extLst>
              </p:cNvPr>
              <p:cNvSpPr txBox="1"/>
              <p:nvPr/>
            </p:nvSpPr>
            <p:spPr>
              <a:xfrm>
                <a:off x="2316039" y="5432818"/>
                <a:ext cx="2379468" cy="7527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133AE80-0E4F-B0C2-86DD-BF163C6815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6039" y="5432818"/>
                <a:ext cx="2379468" cy="75270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88D5ABB-BB13-05D1-3C4D-3FBE5898CB5E}"/>
                  </a:ext>
                </a:extLst>
              </p:cNvPr>
              <p:cNvSpPr txBox="1"/>
              <p:nvPr/>
            </p:nvSpPr>
            <p:spPr>
              <a:xfrm>
                <a:off x="4550126" y="5573575"/>
                <a:ext cx="3111070" cy="4733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88D5ABB-BB13-05D1-3C4D-3FBE5898CB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0126" y="5573575"/>
                <a:ext cx="3111070" cy="47333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E447B67-2FAC-0F5A-5AF0-9FF27C011D40}"/>
                  </a:ext>
                </a:extLst>
              </p:cNvPr>
              <p:cNvSpPr txBox="1"/>
              <p:nvPr/>
            </p:nvSpPr>
            <p:spPr>
              <a:xfrm>
                <a:off x="1262963" y="5512603"/>
                <a:ext cx="1094650" cy="5945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ad>
                            <m:radPr>
                              <m:degHide m:val="on"/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rad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ad>
                            <m:radPr>
                              <m:degHide m:val="on"/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E447B67-2FAC-0F5A-5AF0-9FF27C011D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2963" y="5512603"/>
                <a:ext cx="1094650" cy="59452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7457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9010F-DF56-9432-02C2-D32A27367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BF2B52F-25EC-86A1-1982-155B9932D89D}"/>
              </a:ext>
            </a:extLst>
          </p:cNvPr>
          <p:cNvGrpSpPr/>
          <p:nvPr/>
        </p:nvGrpSpPr>
        <p:grpSpPr>
          <a:xfrm>
            <a:off x="6381742" y="4607133"/>
            <a:ext cx="2559322" cy="779089"/>
            <a:chOff x="500933" y="4427234"/>
            <a:chExt cx="4020249" cy="1409897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5D64B9D5-3565-3841-03E8-FE52034EEE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D62C09A-D914-3D01-F179-A659E59888E8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D62C09A-D914-3D01-F179-A659E59888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3"/>
                  <a:stretch>
                    <a:fillRect l="-35000" r="-45000" b="-11875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D9F0C0B-1CCE-1701-4564-9070DD87E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6F42ED7-BDC4-FA14-71AC-33563D8EF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576DF31-6CF8-BA8E-5EFA-8E5389ACB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6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2B99EE-5C41-4EA9-BB98-7ED5E47D8DC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ADF3B29-6309-63E4-DAC0-4D3C3D7A4D7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A1B16E-6C41-9660-8DE9-A37A0AB7E175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Modélisation : Force électromotrice FEM du micro </a:t>
            </a:r>
            <a:r>
              <a:rPr lang="fr-FR" sz="1000" i="1" dirty="0"/>
              <a:t>cf. [3]</a:t>
            </a:r>
            <a:endParaRPr lang="fr-FR" sz="2000" b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760DBF-34A0-70F3-18A5-EAC899830298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0F6DBD-695B-4189-F38D-DDC03E7AACDF}"/>
              </a:ext>
            </a:extLst>
          </p:cNvPr>
          <p:cNvSpPr/>
          <p:nvPr/>
        </p:nvSpPr>
        <p:spPr>
          <a:xfrm>
            <a:off x="462440" y="1303261"/>
            <a:ext cx="4496905" cy="1376329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Tension de sortie semblable à la fem totale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07D3140-8ECA-CFC1-FF10-11A7070E2C1E}"/>
              </a:ext>
            </a:extLst>
          </p:cNvPr>
          <p:cNvSpPr txBox="1"/>
          <p:nvPr/>
        </p:nvSpPr>
        <p:spPr>
          <a:xfrm>
            <a:off x="462440" y="4840431"/>
            <a:ext cx="3287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On a donc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6A9F52FB-8CC9-7E9F-BC07-904E55692F48}"/>
                  </a:ext>
                </a:extLst>
              </p:cNvPr>
              <p:cNvSpPr txBox="1"/>
              <p:nvPr/>
            </p:nvSpPr>
            <p:spPr>
              <a:xfrm>
                <a:off x="1960158" y="4663973"/>
                <a:ext cx="3508525" cy="672172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d>
                        <m:d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6A9F52FB-8CC9-7E9F-BC07-904E55692F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0158" y="4663973"/>
                <a:ext cx="3508525" cy="67217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6A25780-A78E-0C68-4708-9ED7CF9A05B6}"/>
                  </a:ext>
                </a:extLst>
              </p:cNvPr>
              <p:cNvSpPr/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2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sortie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Masse linéique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1</a:t>
                </a:r>
                <a:r>
                  <a:rPr lang="fr-FR" sz="1500" baseline="30000" dirty="0"/>
                  <a:t>er</a:t>
                </a:r>
                <a:r>
                  <a:rPr lang="fr-FR" sz="1500" dirty="0"/>
                  <a:t> bobinage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2</a:t>
                </a:r>
                <a:r>
                  <a:rPr lang="fr-FR" sz="1500" baseline="30000" dirty="0"/>
                  <a:t>nd</a:t>
                </a:r>
                <a:r>
                  <a:rPr lang="fr-FR" sz="1500" dirty="0"/>
                  <a:t> bobinage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6A25780-A78E-0C68-4708-9ED7CF9A05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blipFill>
                <a:blip r:embed="rId5"/>
                <a:stretch>
                  <a:fillRect l="-214" b="-2083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C94340E-38F0-066F-1B5E-DC334FAA03BB}"/>
                  </a:ext>
                </a:extLst>
              </p:cNvPr>
              <p:cNvSpPr/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Lois et principes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Loi d’induction de Faraday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f>
                        <m:fPr>
                          <m:ctrlP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  <m:sSub>
                            <m:sSubPr>
                              <m:ctrlP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𝝓</m:t>
                              </m:r>
                            </m:e>
                            <m:sub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𝑩</m:t>
                              </m:r>
                            </m:sub>
                          </m:sSub>
                        </m:num>
                        <m:den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</m:oMath>
                  </m:oMathPara>
                </a14:m>
                <a:endParaRPr lang="fr-FR" sz="16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C94340E-38F0-066F-1B5E-DC334FAA03B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blipFill>
                <a:blip r:embed="rId6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9F03902F-5230-DAFD-040F-91D8B468A007}"/>
              </a:ext>
            </a:extLst>
          </p:cNvPr>
          <p:cNvSpPr txBox="1"/>
          <p:nvPr/>
        </p:nvSpPr>
        <p:spPr>
          <a:xfrm>
            <a:off x="449950" y="5624506"/>
            <a:ext cx="3287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3979BD0-56F0-2C0D-9A37-AD6D904E5B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8101701" y="558793"/>
            <a:ext cx="839363" cy="67401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AE6162E-05C8-0C1E-19EC-515BA5DC556B}"/>
                  </a:ext>
                </a:extLst>
              </p:cNvPr>
              <p:cNvSpPr txBox="1"/>
              <p:nvPr/>
            </p:nvSpPr>
            <p:spPr>
              <a:xfrm>
                <a:off x="2316039" y="5432818"/>
                <a:ext cx="2379468" cy="7527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AE6162E-05C8-0C1E-19EC-515BA5DC55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6039" y="5432818"/>
                <a:ext cx="2379468" cy="75270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6B9BAC-E8A2-23E0-E979-ED68A07489D3}"/>
                  </a:ext>
                </a:extLst>
              </p:cNvPr>
              <p:cNvSpPr txBox="1"/>
              <p:nvPr/>
            </p:nvSpPr>
            <p:spPr>
              <a:xfrm>
                <a:off x="4550126" y="5573575"/>
                <a:ext cx="3111070" cy="4733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6B9BAC-E8A2-23E0-E979-ED68A07489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0126" y="5573575"/>
                <a:ext cx="3111070" cy="47333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BD3F0E5-E075-F41B-58E4-F75CD96D24E4}"/>
                  </a:ext>
                </a:extLst>
              </p:cNvPr>
              <p:cNvSpPr txBox="1"/>
              <p:nvPr/>
            </p:nvSpPr>
            <p:spPr>
              <a:xfrm>
                <a:off x="1262963" y="5512603"/>
                <a:ext cx="1094650" cy="5945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ad>
                            <m:radPr>
                              <m:degHide m:val="on"/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rad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ad>
                            <m:radPr>
                              <m:degHide m:val="on"/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BD3F0E5-E075-F41B-58E4-F75CD96D24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2963" y="5512603"/>
                <a:ext cx="1094650" cy="59452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77872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F6789-59FF-E98B-2D7A-EBFD30DD3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1E4409E-BB69-4F05-6959-05D93C0C0B5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DD9EB35-CDF2-F204-61ED-05869E8CC0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0B72086-A9D3-5116-8808-12F97B9B03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C7556C1-23EF-8984-6FB4-443D96D8B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7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7A26979-A461-22EA-6FB4-E3B3CD3EA87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2E6AD15-042F-0495-9070-FD814AE938F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04D8CA-1D55-AAC7-9336-A28353BB32A3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Modélisation : Comparaison des micros</a:t>
            </a:r>
          </a:p>
        </p:txBody>
      </p:sp>
      <p:pic>
        <p:nvPicPr>
          <p:cNvPr id="8194" name="Picture 2" descr="Python Logo PNG Transparent – Brands Logos">
            <a:extLst>
              <a:ext uri="{FF2B5EF4-FFF2-40B4-BE49-F238E27FC236}">
                <a16:creationId xmlns:a16="http://schemas.microsoft.com/office/drawing/2014/main" id="{2A3B655F-4B4E-D5F2-9497-C1A6F9AC2E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1299243-B977-7C36-755B-17DA59A1FB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4435" y="1142995"/>
            <a:ext cx="5486411" cy="457200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0646073-17FF-0865-43FA-5D4154632D24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27" t="13979" r="14720" b="12203"/>
          <a:stretch>
            <a:fillRect/>
          </a:stretch>
        </p:blipFill>
        <p:spPr>
          <a:xfrm>
            <a:off x="6600670" y="4275004"/>
            <a:ext cx="1800000" cy="1440000"/>
          </a:xfrm>
          <a:prstGeom prst="rect">
            <a:avLst/>
          </a:prstGeom>
          <a:ln w="381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825D287-A038-C682-34C3-045C19CF5CF4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62" t="10193" r="8031" b="10961"/>
          <a:stretch>
            <a:fillRect/>
          </a:stretch>
        </p:blipFill>
        <p:spPr>
          <a:xfrm>
            <a:off x="6606350" y="1594023"/>
            <a:ext cx="1800000" cy="1440000"/>
          </a:xfrm>
          <a:prstGeom prst="rect">
            <a:avLst/>
          </a:prstGeom>
          <a:ln w="381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C57B18AB-7581-5E60-7446-58AA5F41399C}"/>
              </a:ext>
            </a:extLst>
          </p:cNvPr>
          <p:cNvSpPr txBox="1"/>
          <p:nvPr/>
        </p:nvSpPr>
        <p:spPr>
          <a:xfrm>
            <a:off x="5285779" y="3383352"/>
            <a:ext cx="165387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Champ Parasite</a:t>
            </a:r>
          </a:p>
        </p:txBody>
      </p:sp>
      <p:cxnSp>
        <p:nvCxnSpPr>
          <p:cNvPr id="25" name="Connector: Curved 24">
            <a:extLst>
              <a:ext uri="{FF2B5EF4-FFF2-40B4-BE49-F238E27FC236}">
                <a16:creationId xmlns:a16="http://schemas.microsoft.com/office/drawing/2014/main" id="{5BB33DB7-7AA2-E232-24A7-9C4016C67B9F}"/>
              </a:ext>
            </a:extLst>
          </p:cNvPr>
          <p:cNvCxnSpPr>
            <a:cxnSpLocks/>
            <a:stCxn id="18" idx="1"/>
            <a:endCxn id="23" idx="0"/>
          </p:cNvCxnSpPr>
          <p:nvPr/>
        </p:nvCxnSpPr>
        <p:spPr>
          <a:xfrm rot="10800000" flipV="1">
            <a:off x="6112716" y="2314022"/>
            <a:ext cx="493635" cy="1069329"/>
          </a:xfrm>
          <a:prstGeom prst="curved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A807D5F6-2DF7-0611-96D1-33B56DCB6524}"/>
              </a:ext>
            </a:extLst>
          </p:cNvPr>
          <p:cNvCxnSpPr>
            <a:cxnSpLocks/>
            <a:stCxn id="23" idx="2"/>
            <a:endCxn id="15" idx="1"/>
          </p:cNvCxnSpPr>
          <p:nvPr/>
        </p:nvCxnSpPr>
        <p:spPr>
          <a:xfrm rot="16200000" flipH="1">
            <a:off x="5720143" y="4114477"/>
            <a:ext cx="1273098" cy="487955"/>
          </a:xfrm>
          <a:prstGeom prst="curved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15447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317EF-1FA9-4C71-24AC-92C2CCEDF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7A830A7-B734-AAE1-B623-C2C7A0333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4270AEB-E3E1-1E93-ABDC-EF4719ADC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02644A6-17D6-7DD7-E116-6CC650453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8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134B5E-E8E3-6A96-D065-7A23C530F75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4E452FE-0505-3E6D-01DF-7394C65569B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17026C-30AC-055B-0F5E-C7C1D3422A7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19EA9C-BFE4-D1D7-F4B5-C5F727119DA3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Expérimentation : Montage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325D940-13FD-EE6E-C1BF-2EAC1C5E36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27" b="5227"/>
          <a:stretch/>
        </p:blipFill>
        <p:spPr>
          <a:xfrm rot="16200000">
            <a:off x="2603624" y="619066"/>
            <a:ext cx="2942282" cy="3919568"/>
          </a:xfrm>
          <a:prstGeom prst="rect">
            <a:avLst/>
          </a:prstGeom>
          <a:ln w="28575">
            <a:noFill/>
          </a:ln>
          <a:effectLst>
            <a:softEdge rad="31750"/>
          </a:effectLst>
        </p:spPr>
      </p:pic>
      <p:grpSp>
        <p:nvGrpSpPr>
          <p:cNvPr id="130" name="Group 129">
            <a:extLst>
              <a:ext uri="{FF2B5EF4-FFF2-40B4-BE49-F238E27FC236}">
                <a16:creationId xmlns:a16="http://schemas.microsoft.com/office/drawing/2014/main" id="{C1537CB8-8F77-3361-FCF5-324906ABEE21}"/>
              </a:ext>
            </a:extLst>
          </p:cNvPr>
          <p:cNvGrpSpPr/>
          <p:nvPr/>
        </p:nvGrpSpPr>
        <p:grpSpPr>
          <a:xfrm flipH="1">
            <a:off x="642960" y="3771358"/>
            <a:ext cx="7203774" cy="2309732"/>
            <a:chOff x="1440953" y="1876985"/>
            <a:chExt cx="7034257" cy="2309732"/>
          </a:xfrm>
        </p:grpSpPr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A736D3F3-4A90-024E-7181-02CE60F392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84704" y="2155618"/>
              <a:ext cx="2155" cy="104787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18BC0333-7E48-61E5-E34B-B5B9D6FC36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22212" y="2155618"/>
              <a:ext cx="0" cy="8062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58E57516-AB63-523C-BE76-D867BDF74920}"/>
                </a:ext>
              </a:extLst>
            </p:cNvPr>
            <p:cNvSpPr/>
            <p:nvPr/>
          </p:nvSpPr>
          <p:spPr>
            <a:xfrm>
              <a:off x="8123681" y="1876985"/>
              <a:ext cx="351529" cy="36000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485931D7-3E78-6020-17E4-F6EE0BB401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6140000">
              <a:off x="4210262" y="693933"/>
              <a:ext cx="723475" cy="6262094"/>
            </a:xfrm>
            <a:prstGeom prst="rect">
              <a:avLst/>
            </a:prstGeom>
          </p:spPr>
        </p:pic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F8196E1-5107-A090-A02B-0D5B1F2BB0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90251" y="3096524"/>
              <a:ext cx="0" cy="44673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0A460243-E926-285E-F365-3ADCE268F815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0" cy="5814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441694C6-9602-975D-1574-A99AFF4F26F2}"/>
                </a:ext>
              </a:extLst>
            </p:cNvPr>
            <p:cNvCxnSpPr>
              <a:cxnSpLocks/>
            </p:cNvCxnSpPr>
            <p:nvPr/>
          </p:nvCxnSpPr>
          <p:spPr>
            <a:xfrm>
              <a:off x="6190251" y="3096524"/>
              <a:ext cx="2112144" cy="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3EF38A95-CE8D-9AAB-3C5D-AEF1A3BF8786}"/>
                </a:ext>
              </a:extLst>
            </p:cNvPr>
            <p:cNvCxnSpPr>
              <a:cxnSpLocks/>
              <a:stCxn id="133" idx="2"/>
            </p:cNvCxnSpPr>
            <p:nvPr/>
          </p:nvCxnSpPr>
          <p:spPr>
            <a:xfrm>
              <a:off x="8299446" y="2236985"/>
              <a:ext cx="4014" cy="859539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F8AF5930-1CB0-865F-98BE-5C2A56417834}"/>
                </a:ext>
              </a:extLst>
            </p:cNvPr>
            <p:cNvCxnSpPr>
              <a:cxnSpLocks/>
            </p:cNvCxnSpPr>
            <p:nvPr/>
          </p:nvCxnSpPr>
          <p:spPr>
            <a:xfrm>
              <a:off x="6439448" y="3203160"/>
              <a:ext cx="0" cy="348166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8CE6734F-70E2-D8A4-4571-BC8F28893B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9448" y="3201475"/>
              <a:ext cx="1946494" cy="1685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30D9B816-562D-5ADB-E2A2-1719360636CE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1948413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749D53FD-1AA2-3F26-4A50-75DD1D2E5A33}"/>
                </a:ext>
              </a:extLst>
            </p:cNvPr>
            <p:cNvSpPr txBox="1"/>
            <p:nvPr/>
          </p:nvSpPr>
          <p:spPr>
            <a:xfrm>
              <a:off x="4052454" y="2466429"/>
              <a:ext cx="63315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193E3723-B32C-DD06-A1E1-8606E420CF1E}"/>
              </a:ext>
            </a:extLst>
          </p:cNvPr>
          <p:cNvSpPr txBox="1"/>
          <p:nvPr/>
        </p:nvSpPr>
        <p:spPr>
          <a:xfrm flipH="1">
            <a:off x="105279" y="3443955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Carte acquisition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3EE8BFC5-F2AA-D1A3-380C-6809D26261A6}"/>
              </a:ext>
            </a:extLst>
          </p:cNvPr>
          <p:cNvCxnSpPr>
            <a:cxnSpLocks/>
            <a:stCxn id="23" idx="0"/>
          </p:cNvCxnSpPr>
          <p:nvPr/>
        </p:nvCxnSpPr>
        <p:spPr>
          <a:xfrm rot="5400000" flipH="1" flipV="1">
            <a:off x="1694926" y="3207079"/>
            <a:ext cx="1085255" cy="726287"/>
          </a:xfrm>
          <a:prstGeom prst="bentConnector3">
            <a:avLst>
              <a:gd name="adj1" fmla="val 100554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B7AF251-442D-D41A-2407-64D8B6581262}"/>
              </a:ext>
            </a:extLst>
          </p:cNvPr>
          <p:cNvSpPr txBox="1"/>
          <p:nvPr/>
        </p:nvSpPr>
        <p:spPr>
          <a:xfrm flipH="1">
            <a:off x="1232567" y="4112849"/>
            <a:ext cx="1283687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SingleCoil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729105-5D1B-BD47-7B86-BF65201E2C22}"/>
              </a:ext>
            </a:extLst>
          </p:cNvPr>
          <p:cNvSpPr txBox="1"/>
          <p:nvPr/>
        </p:nvSpPr>
        <p:spPr>
          <a:xfrm flipH="1">
            <a:off x="2847510" y="4105261"/>
            <a:ext cx="1387055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Humbucker</a:t>
            </a:r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736A5C1-091B-7125-5BE6-37A8B606888F}"/>
              </a:ext>
            </a:extLst>
          </p:cNvPr>
          <p:cNvCxnSpPr>
            <a:cxnSpLocks/>
            <a:stCxn id="23" idx="2"/>
          </p:cNvCxnSpPr>
          <p:nvPr/>
        </p:nvCxnSpPr>
        <p:spPr>
          <a:xfrm rot="16200000" flipH="1">
            <a:off x="1746518" y="4517740"/>
            <a:ext cx="1140367" cy="884582"/>
          </a:xfrm>
          <a:prstGeom prst="bentConnector3">
            <a:avLst>
              <a:gd name="adj1" fmla="val 20098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9A269F26-F8FB-BD35-8D1C-147049D4D4C3}"/>
              </a:ext>
            </a:extLst>
          </p:cNvPr>
          <p:cNvCxnSpPr>
            <a:cxnSpLocks/>
            <a:stCxn id="24" idx="2"/>
          </p:cNvCxnSpPr>
          <p:nvPr/>
        </p:nvCxnSpPr>
        <p:spPr>
          <a:xfrm rot="5400000">
            <a:off x="2751235" y="4709604"/>
            <a:ext cx="1117147" cy="462459"/>
          </a:xfrm>
          <a:prstGeom prst="bentConnector3">
            <a:avLst>
              <a:gd name="adj1" fmla="val 21352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CD4B400A-45D8-1178-C9C6-D74658FD0F29}"/>
              </a:ext>
            </a:extLst>
          </p:cNvPr>
          <p:cNvCxnSpPr>
            <a:cxnSpLocks/>
            <a:stCxn id="24" idx="0"/>
          </p:cNvCxnSpPr>
          <p:nvPr/>
        </p:nvCxnSpPr>
        <p:spPr>
          <a:xfrm rot="16200000" flipV="1">
            <a:off x="2713057" y="3277281"/>
            <a:ext cx="1077666" cy="578294"/>
          </a:xfrm>
          <a:prstGeom prst="bentConnector3">
            <a:avLst>
              <a:gd name="adj1" fmla="val 100733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B74BC81-0396-58E2-4F5F-25A19BB7D6D7}"/>
              </a:ext>
            </a:extLst>
          </p:cNvPr>
          <p:cNvCxnSpPr>
            <a:cxnSpLocks/>
            <a:stCxn id="161" idx="2"/>
          </p:cNvCxnSpPr>
          <p:nvPr/>
        </p:nvCxnSpPr>
        <p:spPr>
          <a:xfrm rot="5400000">
            <a:off x="3978664" y="4933548"/>
            <a:ext cx="1165175" cy="57368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4427088E-AEAA-CC36-74E4-446F94028ABB}"/>
              </a:ext>
            </a:extLst>
          </p:cNvPr>
          <p:cNvCxnSpPr>
            <a:cxnSpLocks/>
            <a:stCxn id="161" idx="0"/>
          </p:cNvCxnSpPr>
          <p:nvPr/>
        </p:nvCxnSpPr>
        <p:spPr>
          <a:xfrm rot="16200000" flipV="1">
            <a:off x="3888275" y="3400986"/>
            <a:ext cx="1295657" cy="62397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867C14B-30E0-4446-17BE-4AFC90AB65AB}"/>
              </a:ext>
            </a:extLst>
          </p:cNvPr>
          <p:cNvCxnSpPr>
            <a:cxnSpLocks/>
            <a:stCxn id="19" idx="0"/>
          </p:cNvCxnSpPr>
          <p:nvPr/>
        </p:nvCxnSpPr>
        <p:spPr>
          <a:xfrm rot="5400000" flipH="1" flipV="1">
            <a:off x="673890" y="2002865"/>
            <a:ext cx="1599246" cy="1282935"/>
          </a:xfrm>
          <a:prstGeom prst="bentConnector3">
            <a:avLst>
              <a:gd name="adj1" fmla="val 10003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B071C68-B138-3613-4C55-8E30F0742557}"/>
              </a:ext>
            </a:extLst>
          </p:cNvPr>
          <p:cNvSpPr txBox="1"/>
          <p:nvPr/>
        </p:nvSpPr>
        <p:spPr>
          <a:xfrm>
            <a:off x="6275119" y="1107708"/>
            <a:ext cx="266738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Objectifs : </a:t>
            </a:r>
          </a:p>
          <a:p>
            <a:endParaRPr lang="fr-FR" b="1" u="sng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Récupérer les signaux émis par les micros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Utilisation d’une Bobine de Helmholtz pour simuler le champ parasite</a:t>
            </a:r>
          </a:p>
        </p:txBody>
      </p:sp>
    </p:spTree>
    <p:extLst>
      <p:ext uri="{BB962C8B-B14F-4D97-AF65-F5344CB8AC3E}">
        <p14:creationId xmlns:p14="http://schemas.microsoft.com/office/powerpoint/2010/main" val="26624458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2B42A-F67C-37DA-4B93-CEC189DD8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D6BE3B3-CF90-9312-7CDD-34B8044C5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FCF18B8F-802B-CBB8-DB71-C08C52AB7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5C76452-AB80-6C93-7766-0177FAB30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9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172378E-94EC-CA30-3123-341386815D0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10BD67C-F5D3-4328-3EDC-45DEF370E93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C9B98E-4A27-144B-67A0-E7FDFF2FFAE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Expérimentation : Résultats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B0A67D-DF5B-EAD9-D1E2-5FB714259E40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F878BD3-94E9-E96B-42B8-15C36299F8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41819" y="2378273"/>
            <a:ext cx="3784945" cy="283870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Graphic 17" descr="Right pointing backhand index with solid fill">
            <a:extLst>
              <a:ext uri="{FF2B5EF4-FFF2-40B4-BE49-F238E27FC236}">
                <a16:creationId xmlns:a16="http://schemas.microsoft.com/office/drawing/2014/main" id="{C36FC19D-66E8-2448-5190-B6C0C4AB40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7236" y="5776640"/>
            <a:ext cx="360000" cy="36000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84259024-A7F2-48A1-4831-F42943EFB322}"/>
              </a:ext>
            </a:extLst>
          </p:cNvPr>
          <p:cNvSpPr txBox="1"/>
          <p:nvPr/>
        </p:nvSpPr>
        <p:spPr>
          <a:xfrm>
            <a:off x="848785" y="5818140"/>
            <a:ext cx="2439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fr-FR" sz="1200" dirty="0"/>
              <a:t>Comparer avec Micro Simple</a:t>
            </a: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34312658-7780-93C5-4649-74867AA9FE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0902881"/>
              </p:ext>
            </p:extLst>
          </p:nvPr>
        </p:nvGraphicFramePr>
        <p:xfrm>
          <a:off x="417236" y="1169114"/>
          <a:ext cx="3545544" cy="902106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546736">
                  <a:extLst>
                    <a:ext uri="{9D8B030D-6E8A-4147-A177-3AD203B41FA5}">
                      <a16:colId xmlns:a16="http://schemas.microsoft.com/office/drawing/2014/main" val="629167038"/>
                    </a:ext>
                  </a:extLst>
                </a:gridCol>
                <a:gridCol w="954157">
                  <a:extLst>
                    <a:ext uri="{9D8B030D-6E8A-4147-A177-3AD203B41FA5}">
                      <a16:colId xmlns:a16="http://schemas.microsoft.com/office/drawing/2014/main" val="746650096"/>
                    </a:ext>
                  </a:extLst>
                </a:gridCol>
                <a:gridCol w="1044651">
                  <a:extLst>
                    <a:ext uri="{9D8B030D-6E8A-4147-A177-3AD203B41FA5}">
                      <a16:colId xmlns:a16="http://schemas.microsoft.com/office/drawing/2014/main" val="2289157586"/>
                    </a:ext>
                  </a:extLst>
                </a:gridCol>
              </a:tblGrid>
              <a:tr h="300702"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SingleCoil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Humbucker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2465885"/>
                  </a:ext>
                </a:extLst>
              </a:tr>
              <a:tr h="300702">
                <a:tc>
                  <a:txBody>
                    <a:bodyPr/>
                    <a:lstStyle/>
                    <a:p>
                      <a:r>
                        <a:rPr lang="fr-FR" sz="1200" dirty="0"/>
                        <a:t>Corde seule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2286478"/>
                  </a:ext>
                </a:extLst>
              </a:tr>
              <a:tr h="300702">
                <a:tc>
                  <a:txBody>
                    <a:bodyPr/>
                    <a:lstStyle/>
                    <a:p>
                      <a:r>
                        <a:rPr lang="fr-FR" sz="1200" dirty="0"/>
                        <a:t>Corde + Parasite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4864783"/>
                  </a:ext>
                </a:extLst>
              </a:tr>
            </a:tbl>
          </a:graphicData>
        </a:graphic>
      </p:graphicFrame>
      <p:pic>
        <p:nvPicPr>
          <p:cNvPr id="32" name="Graphic 31" descr="Checkmark with solid fill">
            <a:extLst>
              <a:ext uri="{FF2B5EF4-FFF2-40B4-BE49-F238E27FC236}">
                <a16:creationId xmlns:a16="http://schemas.microsoft.com/office/drawing/2014/main" id="{BD4CE6ED-3933-6033-3C61-2E11FC402E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87870" y="1476167"/>
            <a:ext cx="288000" cy="288000"/>
          </a:xfrm>
          <a:prstGeom prst="rect">
            <a:avLst/>
          </a:prstGeom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F5D6A96A-015C-F8F3-0246-AEAE5830EE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D7137CF5-0677-230A-0BF6-28C8E9EEAE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1316364"/>
              </p:ext>
            </p:extLst>
          </p:nvPr>
        </p:nvGraphicFramePr>
        <p:xfrm>
          <a:off x="4739040" y="1145148"/>
          <a:ext cx="3545543" cy="914400"/>
        </p:xfrm>
        <a:graphic>
          <a:graphicData uri="http://schemas.openxmlformats.org/drawingml/2006/table">
            <a:tbl>
              <a:tblPr firstCol="1" bandRow="1">
                <a:tableStyleId>{00A15C55-8517-42AA-B614-E9B94910E393}</a:tableStyleId>
              </a:tblPr>
              <a:tblGrid>
                <a:gridCol w="917354">
                  <a:extLst>
                    <a:ext uri="{9D8B030D-6E8A-4147-A177-3AD203B41FA5}">
                      <a16:colId xmlns:a16="http://schemas.microsoft.com/office/drawing/2014/main" val="629167038"/>
                    </a:ext>
                  </a:extLst>
                </a:gridCol>
                <a:gridCol w="2628189">
                  <a:extLst>
                    <a:ext uri="{9D8B030D-6E8A-4147-A177-3AD203B41FA5}">
                      <a16:colId xmlns:a16="http://schemas.microsoft.com/office/drawing/2014/main" val="746650096"/>
                    </a:ext>
                  </a:extLst>
                </a:gridCol>
              </a:tblGrid>
              <a:tr h="451053"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fr-FR" sz="1200" dirty="0"/>
                        <a:t>Même Période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fr-FR" sz="1200" dirty="0"/>
                        <a:t>Même Harmonique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2286478"/>
                  </a:ext>
                </a:extLst>
              </a:tr>
              <a:tr h="451053"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indent="-171450">
                        <a:buFont typeface="Wingdings" panose="05000000000000000000" pitchFamily="2" charset="2"/>
                        <a:buChar char="§"/>
                      </a:pPr>
                      <a:r>
                        <a:rPr lang="fr-FR" sz="1200" dirty="0"/>
                        <a:t>Amplitudes différentes</a:t>
                      </a:r>
                    </a:p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r>
                        <a:rPr lang="fr-FR" sz="1200" dirty="0"/>
                        <a:t>   </a:t>
                      </a:r>
                      <a:r>
                        <a:rPr lang="fr-FR" sz="1200" dirty="0"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fr-FR" sz="1100" dirty="0">
                          <a:sym typeface="Wingdings" panose="05000000000000000000" pitchFamily="2" charset="2"/>
                        </a:rPr>
                        <a:t>Car Amplitude initiale différentes</a:t>
                      </a:r>
                      <a:endParaRPr lang="fr-F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4864783"/>
                  </a:ext>
                </a:extLst>
              </a:tr>
            </a:tbl>
          </a:graphicData>
        </a:graphic>
      </p:graphicFrame>
      <p:pic>
        <p:nvPicPr>
          <p:cNvPr id="13" name="Graphic 12" descr="Checkmark with solid fill">
            <a:extLst>
              <a:ext uri="{FF2B5EF4-FFF2-40B4-BE49-F238E27FC236}">
                <a16:creationId xmlns:a16="http://schemas.microsoft.com/office/drawing/2014/main" id="{7DA843A0-347E-FF8C-9B9C-C631DD7F52F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79076" y="1217409"/>
            <a:ext cx="360000" cy="360000"/>
          </a:xfrm>
          <a:prstGeom prst="rect">
            <a:avLst/>
          </a:prstGeom>
        </p:spPr>
      </p:pic>
      <p:pic>
        <p:nvPicPr>
          <p:cNvPr id="15" name="Graphic 14" descr="Close with solid fill">
            <a:extLst>
              <a:ext uri="{FF2B5EF4-FFF2-40B4-BE49-F238E27FC236}">
                <a16:creationId xmlns:a16="http://schemas.microsoft.com/office/drawing/2014/main" id="{A490BCE1-4DBF-98D0-CD8A-8FB86D87986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79076" y="1650884"/>
            <a:ext cx="360000" cy="360000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BC7C84B-F17E-89C1-7E0E-A275640C2D19}"/>
              </a:ext>
            </a:extLst>
          </p:cNvPr>
          <p:cNvSpPr txBox="1"/>
          <p:nvPr/>
        </p:nvSpPr>
        <p:spPr>
          <a:xfrm>
            <a:off x="417236" y="5258273"/>
            <a:ext cx="380345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Sans Champs Parasite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C1A2245-5D6D-1C6B-68D8-13C2802881CA}"/>
              </a:ext>
            </a:extLst>
          </p:cNvPr>
          <p:cNvSpPr txBox="1"/>
          <p:nvPr/>
        </p:nvSpPr>
        <p:spPr>
          <a:xfrm>
            <a:off x="4941819" y="5258273"/>
            <a:ext cx="3784945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Avec Champ Parasite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8A9E25B-EB1D-515E-AAC5-8D82416041E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5187" y="2378273"/>
            <a:ext cx="3784944" cy="283870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Graphic 11" descr="Checkmark with solid fill">
            <a:extLst>
              <a:ext uri="{FF2B5EF4-FFF2-40B4-BE49-F238E27FC236}">
                <a16:creationId xmlns:a16="http://schemas.microsoft.com/office/drawing/2014/main" id="{66992436-A1DA-94E3-3E0F-530678B591B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87870" y="1783220"/>
            <a:ext cx="288000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5665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7688F-8EAF-FFF4-BCCC-833778E41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603419BF-E95B-62FE-1DE3-4884663E8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562599A4-1378-B0B1-0677-DE7090E9C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1213A4F-7378-1C5A-2EE2-008D0A59D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10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D457BB-DDAF-1158-E292-A4D851DB826C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24EFEB44-B6C3-913A-1588-C840B86CDD8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E05048-552D-4D06-7046-6808A322575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Expérimentation : Résultats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31E2909-C077-3E0D-577D-A56C91F17E9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808A6E6-78D1-519C-1F66-326C4B4F93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41819" y="2378273"/>
            <a:ext cx="3784945" cy="283870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Graphic 17" descr="Right pointing backhand index with solid fill">
            <a:extLst>
              <a:ext uri="{FF2B5EF4-FFF2-40B4-BE49-F238E27FC236}">
                <a16:creationId xmlns:a16="http://schemas.microsoft.com/office/drawing/2014/main" id="{09E0E03B-7A89-A76C-C0F4-4FDF398D8B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7236" y="5776640"/>
            <a:ext cx="360000" cy="36000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C5BE194-0D54-DE41-8424-1A6CD91277A5}"/>
              </a:ext>
            </a:extLst>
          </p:cNvPr>
          <p:cNvSpPr txBox="1"/>
          <p:nvPr/>
        </p:nvSpPr>
        <p:spPr>
          <a:xfrm>
            <a:off x="848785" y="5818140"/>
            <a:ext cx="2439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fr-FR" sz="1200" dirty="0"/>
              <a:t>Comparer avec Micro Simple</a:t>
            </a: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6391C0F6-E673-B46B-83E3-DC8C4F1A0EFB}"/>
              </a:ext>
            </a:extLst>
          </p:cNvPr>
          <p:cNvGraphicFramePr>
            <a:graphicFrameLocks noGrp="1"/>
          </p:cNvGraphicFramePr>
          <p:nvPr/>
        </p:nvGraphicFramePr>
        <p:xfrm>
          <a:off x="417236" y="1169114"/>
          <a:ext cx="3545544" cy="902106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546736">
                  <a:extLst>
                    <a:ext uri="{9D8B030D-6E8A-4147-A177-3AD203B41FA5}">
                      <a16:colId xmlns:a16="http://schemas.microsoft.com/office/drawing/2014/main" val="629167038"/>
                    </a:ext>
                  </a:extLst>
                </a:gridCol>
                <a:gridCol w="954157">
                  <a:extLst>
                    <a:ext uri="{9D8B030D-6E8A-4147-A177-3AD203B41FA5}">
                      <a16:colId xmlns:a16="http://schemas.microsoft.com/office/drawing/2014/main" val="746650096"/>
                    </a:ext>
                  </a:extLst>
                </a:gridCol>
                <a:gridCol w="1044651">
                  <a:extLst>
                    <a:ext uri="{9D8B030D-6E8A-4147-A177-3AD203B41FA5}">
                      <a16:colId xmlns:a16="http://schemas.microsoft.com/office/drawing/2014/main" val="2289157586"/>
                    </a:ext>
                  </a:extLst>
                </a:gridCol>
              </a:tblGrid>
              <a:tr h="300702"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SingleCoil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Humbucker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2465885"/>
                  </a:ext>
                </a:extLst>
              </a:tr>
              <a:tr h="300702">
                <a:tc>
                  <a:txBody>
                    <a:bodyPr/>
                    <a:lstStyle/>
                    <a:p>
                      <a:r>
                        <a:rPr lang="fr-FR" sz="1200" dirty="0"/>
                        <a:t>Corde seule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2286478"/>
                  </a:ext>
                </a:extLst>
              </a:tr>
              <a:tr h="300702">
                <a:tc>
                  <a:txBody>
                    <a:bodyPr/>
                    <a:lstStyle/>
                    <a:p>
                      <a:r>
                        <a:rPr lang="fr-FR" sz="1200" dirty="0"/>
                        <a:t>Corde + Parasite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4864783"/>
                  </a:ext>
                </a:extLst>
              </a:tr>
            </a:tbl>
          </a:graphicData>
        </a:graphic>
      </p:graphicFrame>
      <p:pic>
        <p:nvPicPr>
          <p:cNvPr id="32" name="Graphic 31" descr="Checkmark with solid fill">
            <a:extLst>
              <a:ext uri="{FF2B5EF4-FFF2-40B4-BE49-F238E27FC236}">
                <a16:creationId xmlns:a16="http://schemas.microsoft.com/office/drawing/2014/main" id="{485B7F86-8156-F962-1FB9-04C46F676DE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87870" y="1476167"/>
            <a:ext cx="288000" cy="288000"/>
          </a:xfrm>
          <a:prstGeom prst="rect">
            <a:avLst/>
          </a:prstGeom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0E536086-3A31-72C7-1158-6926EFFD5F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2EC2EF15-4EA7-4655-4B70-312E1690E091}"/>
              </a:ext>
            </a:extLst>
          </p:cNvPr>
          <p:cNvGraphicFramePr>
            <a:graphicFrameLocks noGrp="1"/>
          </p:cNvGraphicFramePr>
          <p:nvPr/>
        </p:nvGraphicFramePr>
        <p:xfrm>
          <a:off x="4739040" y="1145148"/>
          <a:ext cx="3545543" cy="914400"/>
        </p:xfrm>
        <a:graphic>
          <a:graphicData uri="http://schemas.openxmlformats.org/drawingml/2006/table">
            <a:tbl>
              <a:tblPr firstCol="1" bandRow="1">
                <a:tableStyleId>{00A15C55-8517-42AA-B614-E9B94910E393}</a:tableStyleId>
              </a:tblPr>
              <a:tblGrid>
                <a:gridCol w="917354">
                  <a:extLst>
                    <a:ext uri="{9D8B030D-6E8A-4147-A177-3AD203B41FA5}">
                      <a16:colId xmlns:a16="http://schemas.microsoft.com/office/drawing/2014/main" val="629167038"/>
                    </a:ext>
                  </a:extLst>
                </a:gridCol>
                <a:gridCol w="2628189">
                  <a:extLst>
                    <a:ext uri="{9D8B030D-6E8A-4147-A177-3AD203B41FA5}">
                      <a16:colId xmlns:a16="http://schemas.microsoft.com/office/drawing/2014/main" val="746650096"/>
                    </a:ext>
                  </a:extLst>
                </a:gridCol>
              </a:tblGrid>
              <a:tr h="451053"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fr-FR" sz="1200" dirty="0"/>
                        <a:t>Même Période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fr-FR" sz="1200" dirty="0"/>
                        <a:t>Même Harmonique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2286478"/>
                  </a:ext>
                </a:extLst>
              </a:tr>
              <a:tr h="451053"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indent="-171450">
                        <a:buFont typeface="Wingdings" panose="05000000000000000000" pitchFamily="2" charset="2"/>
                        <a:buChar char="§"/>
                      </a:pPr>
                      <a:r>
                        <a:rPr lang="fr-FR" sz="1200" dirty="0"/>
                        <a:t>Amplitudes différentes</a:t>
                      </a:r>
                    </a:p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r>
                        <a:rPr lang="fr-FR" sz="1200" dirty="0"/>
                        <a:t>   </a:t>
                      </a:r>
                      <a:r>
                        <a:rPr lang="fr-FR" sz="1200" dirty="0"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fr-FR" sz="1100" dirty="0">
                          <a:sym typeface="Wingdings" panose="05000000000000000000" pitchFamily="2" charset="2"/>
                        </a:rPr>
                        <a:t>Car Amplitude initiale différentes</a:t>
                      </a:r>
                      <a:endParaRPr lang="fr-F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4864783"/>
                  </a:ext>
                </a:extLst>
              </a:tr>
            </a:tbl>
          </a:graphicData>
        </a:graphic>
      </p:graphicFrame>
      <p:pic>
        <p:nvPicPr>
          <p:cNvPr id="13" name="Graphic 12" descr="Checkmark with solid fill">
            <a:extLst>
              <a:ext uri="{FF2B5EF4-FFF2-40B4-BE49-F238E27FC236}">
                <a16:creationId xmlns:a16="http://schemas.microsoft.com/office/drawing/2014/main" id="{1C199614-CB68-E986-E309-BD5EEC68262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79076" y="1217409"/>
            <a:ext cx="360000" cy="360000"/>
          </a:xfrm>
          <a:prstGeom prst="rect">
            <a:avLst/>
          </a:prstGeom>
        </p:spPr>
      </p:pic>
      <p:pic>
        <p:nvPicPr>
          <p:cNvPr id="15" name="Graphic 14" descr="Close with solid fill">
            <a:extLst>
              <a:ext uri="{FF2B5EF4-FFF2-40B4-BE49-F238E27FC236}">
                <a16:creationId xmlns:a16="http://schemas.microsoft.com/office/drawing/2014/main" id="{60D87186-39E6-2303-7206-7B85BA1D0ED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79076" y="1650884"/>
            <a:ext cx="360000" cy="360000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075DFE88-7328-D528-0469-4BAB5FC90CA1}"/>
              </a:ext>
            </a:extLst>
          </p:cNvPr>
          <p:cNvSpPr txBox="1"/>
          <p:nvPr/>
        </p:nvSpPr>
        <p:spPr>
          <a:xfrm>
            <a:off x="614434" y="5258273"/>
            <a:ext cx="3406449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Spectre FFT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1F60698-F4E3-3CAA-18C0-0CABD15D0608}"/>
              </a:ext>
            </a:extLst>
          </p:cNvPr>
          <p:cNvSpPr txBox="1"/>
          <p:nvPr/>
        </p:nvSpPr>
        <p:spPr>
          <a:xfrm>
            <a:off x="4941819" y="5258273"/>
            <a:ext cx="3784945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Avec Champ Parasite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B4BC762-6EC0-81DF-81AB-397713660D5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4434" y="2378273"/>
            <a:ext cx="3406449" cy="283870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Graphic 11" descr="Checkmark with solid fill">
            <a:extLst>
              <a:ext uri="{FF2B5EF4-FFF2-40B4-BE49-F238E27FC236}">
                <a16:creationId xmlns:a16="http://schemas.microsoft.com/office/drawing/2014/main" id="{B51D6950-BA45-1B05-2A1A-04B6D01DF7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87870" y="1783220"/>
            <a:ext cx="288000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54253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D92842E-33D7-43D3-4A8A-6B3D6EB081C3}"/>
              </a:ext>
            </a:extLst>
          </p:cNvPr>
          <p:cNvSpPr/>
          <p:nvPr/>
        </p:nvSpPr>
        <p:spPr>
          <a:xfrm>
            <a:off x="-63611" y="-33793"/>
            <a:ext cx="9271221" cy="692558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800" b="1" dirty="0"/>
              <a:t>FIN</a:t>
            </a:r>
          </a:p>
        </p:txBody>
      </p:sp>
    </p:spTree>
    <p:extLst>
      <p:ext uri="{BB962C8B-B14F-4D97-AF65-F5344CB8AC3E}">
        <p14:creationId xmlns:p14="http://schemas.microsoft.com/office/powerpoint/2010/main" val="42597110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574C88C-C846-3D06-3760-839BCCE4D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A71A85B-44A7-312F-DA38-FF2BAFF29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67D19BA-9241-DDAC-50D0-86F96248A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12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CCB68E-E8C2-CC4C-3A75-B5BA7F6D35A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F93ABBD-287B-55E3-11A3-68FE11A2765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BD774-13EC-37E7-5421-E3BB7AFFF9C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Annexes : Sommaire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4F1C7E-5DAA-15EF-C04B-EF6B2C9D445E}"/>
              </a:ext>
            </a:extLst>
          </p:cNvPr>
          <p:cNvSpPr txBox="1"/>
          <p:nvPr/>
        </p:nvSpPr>
        <p:spPr>
          <a:xfrm>
            <a:off x="345440" y="1390254"/>
            <a:ext cx="8472118" cy="477053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Sources et Bibliographie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Remerciements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Loi d’induction de Faraday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Démonstration du modèle Théorique 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SingleCoil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Humbucker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SingleCoil &amp; Humbucker excité par un Champ Parasite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Python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Réponse fréquentielle, Diagramme de Bode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Modèle Théorique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Initialisation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Fonctions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Appel des fonctions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FFT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Réponse temporelle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Expérimentation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Dimensionnement</a:t>
            </a:r>
          </a:p>
          <a:p>
            <a:pPr marL="342900" indent="-342900">
              <a:buSzPct val="110000"/>
              <a:buFont typeface="+mj-lt"/>
              <a:buAutoNum type="arabicPeriod"/>
            </a:pPr>
            <a:endParaRPr lang="fr-FR" sz="1600" dirty="0"/>
          </a:p>
          <a:p>
            <a:pPr>
              <a:buSzPct val="110000"/>
            </a:pP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C011195-2549-BCE2-65E7-95D97701B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D27B990-34B8-0612-B00F-135A3864A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DCD4202-BEB8-74F4-5148-FD85D148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13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6465F9-2328-58C8-82DC-3D4C33494CAC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6118C6D-1578-28CB-51EF-9F9921702B3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1 : Sources &amp; Bibliographie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45439" y="1254482"/>
            <a:ext cx="849111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[1]</a:t>
            </a:r>
            <a:r>
              <a:rPr lang="fr-FR" sz="1200" dirty="0"/>
              <a:t> Matthew Hill. “The hidden history of the electric guitar.” Benoît Navarret, Marc Battier, Philippe Bruguière, Philippe Gonin. ‘’Quand la guitare [s’]électrise!’’, Sorbonne Université Presses, pp.33-61, 2022.</a:t>
            </a:r>
          </a:p>
          <a:p>
            <a:endParaRPr lang="fr-FR" sz="1200" b="1" dirty="0"/>
          </a:p>
          <a:p>
            <a:r>
              <a:rPr lang="fr-FR" sz="1200" b="1" dirty="0"/>
              <a:t>[2]</a:t>
            </a:r>
            <a:r>
              <a:rPr lang="fr-FR" sz="1200" dirty="0"/>
              <a:t> Rickenbacker, “Rickenbacker Legacy”, Rickenbacker, </a:t>
            </a:r>
            <a:br>
              <a:rPr lang="fr-FR" sz="1200" dirty="0"/>
            </a:br>
            <a:r>
              <a:rPr lang="fr-FR" sz="1200" dirty="0"/>
              <a:t>[En ligne]. Disponible sur : https://www.rickenbacker.com/legacy/ </a:t>
            </a:r>
          </a:p>
          <a:p>
            <a:endParaRPr lang="fr-FR" sz="1200" b="1" dirty="0"/>
          </a:p>
          <a:p>
            <a:r>
              <a:rPr lang="fr-FR" sz="1200" b="1" dirty="0"/>
              <a:t>[3]</a:t>
            </a:r>
            <a:r>
              <a:rPr lang="fr-FR" sz="1200" dirty="0"/>
              <a:t> S. W. Duncan, "Interview </a:t>
            </a:r>
            <a:r>
              <a:rPr lang="fr-FR" sz="1200" dirty="0" err="1"/>
              <a:t>With</a:t>
            </a:r>
            <a:r>
              <a:rPr lang="fr-FR" sz="1200" dirty="0"/>
              <a:t> Seth Lover," Seymour Duncan, </a:t>
            </a:r>
            <a:br>
              <a:rPr lang="fr-FR" sz="1200" dirty="0"/>
            </a:br>
            <a:r>
              <a:rPr lang="fr-FR" sz="1200" dirty="0"/>
              <a:t>[En ligne]. Disponible sur : https://www.seymourduncan.com/blog/latest-updates/seymour-w-duncans-interview-with-seth-lover</a:t>
            </a:r>
          </a:p>
          <a:p>
            <a:endParaRPr lang="fr-FR" sz="1200" b="1" dirty="0"/>
          </a:p>
          <a:p>
            <a:r>
              <a:rPr lang="fr-FR" sz="1200" b="1" dirty="0"/>
              <a:t>[4]</a:t>
            </a:r>
            <a:r>
              <a:rPr lang="fr-FR" sz="1200" dirty="0"/>
              <a:t> Larry, ‘’How to </a:t>
            </a:r>
            <a:r>
              <a:rPr lang="fr-FR" sz="1200" dirty="0" err="1"/>
              <a:t>prevent</a:t>
            </a:r>
            <a:r>
              <a:rPr lang="fr-FR" sz="1200" dirty="0"/>
              <a:t> </a:t>
            </a:r>
            <a:r>
              <a:rPr lang="fr-FR" sz="1200" dirty="0" err="1"/>
              <a:t>humming</a:t>
            </a:r>
            <a:r>
              <a:rPr lang="fr-FR" sz="1200" dirty="0"/>
              <a:t> and noise in a guitar </a:t>
            </a:r>
            <a:r>
              <a:rPr lang="fr-FR" sz="1200" dirty="0" err="1"/>
              <a:t>amp</a:t>
            </a:r>
            <a:r>
              <a:rPr lang="fr-FR" sz="1200" dirty="0"/>
              <a:t>’’, Thomann, </a:t>
            </a:r>
            <a:br>
              <a:rPr lang="fr-FR" sz="1200" dirty="0"/>
            </a:br>
            <a:r>
              <a:rPr lang="fr-FR" sz="1200" dirty="0"/>
              <a:t>[En ligne]. Disponible sur : https://www.thomann.de/blog/en/learn/how-to-prevent-humming-and-noise-in-a-guitar-amp/</a:t>
            </a:r>
          </a:p>
          <a:p>
            <a:endParaRPr lang="en-GB" sz="1200" b="1" dirty="0"/>
          </a:p>
          <a:p>
            <a:r>
              <a:rPr lang="en-GB" sz="1200" b="1" dirty="0"/>
              <a:t>[5]</a:t>
            </a:r>
            <a:r>
              <a:rPr lang="en-GB" sz="1200" dirty="0"/>
              <a:t> Dan Carson. ‘’ Investigation of the Electromagnetic Properties of Electric Guitar Pickups”. University of Illinois at Urbana-Champaign. USA. 2009</a:t>
            </a:r>
            <a:endParaRPr lang="fr-FR" sz="1200" dirty="0"/>
          </a:p>
          <a:p>
            <a:endParaRPr lang="en-GB" sz="1200" b="1" dirty="0"/>
          </a:p>
          <a:p>
            <a:r>
              <a:rPr lang="en-GB" sz="1200" b="1" dirty="0"/>
              <a:t>[6] </a:t>
            </a:r>
            <a:r>
              <a:rPr lang="en-GB" sz="1200" dirty="0"/>
              <a:t>P. Perov, W. Johnson, and N. Perova-Mello, "The physics of guitar string vibrations," </a:t>
            </a:r>
            <a:r>
              <a:rPr lang="en-GB" sz="1200" i="1" dirty="0"/>
              <a:t>American Journal of Physics</a:t>
            </a:r>
            <a:r>
              <a:rPr lang="en-GB" sz="1200" dirty="0"/>
              <a:t>, vol. 84, no. 1, pp. 38–43, Jan. 2016.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6D5-1701-3BEE-B0A5-E256A3A6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9093611-3561-6AFC-8B29-235BE2B59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0E37560-868B-C35D-2C79-FD3A41EA0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1EE7CF6-6544-6E25-5056-82E210227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14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3023A3-599A-FB7A-D703-1D211D7CCED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650CE6B-EA61-AA9D-5CD4-B098290A02B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E578E-E842-899B-459C-15B4BA0F22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2 : Remerciements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99E44F-1F36-18D2-50B8-92E3C5465C7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AD91B2-998A-B850-BFB6-9B10EF3C3C36}"/>
              </a:ext>
            </a:extLst>
          </p:cNvPr>
          <p:cNvSpPr txBox="1"/>
          <p:nvPr/>
        </p:nvSpPr>
        <p:spPr>
          <a:xfrm>
            <a:off x="345440" y="1390254"/>
            <a:ext cx="84721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b="1" dirty="0"/>
              <a:t>Art Music Store</a:t>
            </a:r>
            <a:r>
              <a:rPr lang="fr-FR" sz="1200" dirty="0"/>
              <a:t>,</a:t>
            </a:r>
            <a:r>
              <a:rPr lang="fr-FR" sz="1200" b="1" dirty="0"/>
              <a:t> </a:t>
            </a:r>
            <a:r>
              <a:rPr lang="fr-FR" sz="1200" dirty="0"/>
              <a:t>3800, Grenoble, Place Victor Hugo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b="1" dirty="0"/>
              <a:t>Menuiserie Paradis</a:t>
            </a:r>
            <a:r>
              <a:rPr lang="fr-FR" sz="1200" dirty="0"/>
              <a:t>, 38590, Brézins, Rue des Caillères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21902403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7EEA9-F7B8-9D5F-AC77-42444A77E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0697540-CBC1-7307-57A5-D4FD6B78E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2AD455C-4E0F-8C44-FB73-C500A0B30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CE99780-CA7B-47C1-ABE2-119498B5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15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3A568D-A22D-99BA-EE74-88DC5BA3799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5695410-0F63-6315-9F97-C9017F7BE1F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44EA3F-0ED5-07EF-A5BD-494C702F369B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3 : Loi d’induction de Faraday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CF56A8-C29C-5426-89FC-284E560D8A8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0E1D4B-FF0A-ADB0-43F0-458577E9DE7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029F39-5C02-3985-AF5F-A28D263A7881}"/>
              </a:ext>
            </a:extLst>
          </p:cNvPr>
          <p:cNvGrpSpPr/>
          <p:nvPr/>
        </p:nvGrpSpPr>
        <p:grpSpPr>
          <a:xfrm rot="10800000">
            <a:off x="-736802" y="1802750"/>
            <a:ext cx="4973727" cy="2925771"/>
            <a:chOff x="4696904" y="1390254"/>
            <a:chExt cx="4973727" cy="292577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3A4741D-B170-2F09-583D-545C54E14DE0}"/>
                </a:ext>
              </a:extLst>
            </p:cNvPr>
            <p:cNvGrpSpPr/>
            <p:nvPr/>
          </p:nvGrpSpPr>
          <p:grpSpPr>
            <a:xfrm>
              <a:off x="5907188" y="1390254"/>
              <a:ext cx="2527760" cy="2925771"/>
              <a:chOff x="5907188" y="1390254"/>
              <a:chExt cx="2527760" cy="2925771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821CFDF9-4291-8D12-74B3-B173DE76F8DE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1109894D-0C13-D7BC-0A38-126F9177B79E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CA38F9B1-D91D-1218-899D-63801034424A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FEFA7991-B1FD-4D9F-E2A8-E8EE349CA2DE}"/>
                  </a:ext>
                </a:extLst>
              </p:cNvPr>
              <p:cNvSpPr/>
              <p:nvPr/>
            </p:nvSpPr>
            <p:spPr>
              <a:xfrm>
                <a:off x="5991859" y="315726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F4AE618D-44F2-E55D-1043-667FB8FBF8FA}"/>
                  </a:ext>
                </a:extLst>
              </p:cNvPr>
              <p:cNvSpPr/>
              <p:nvPr/>
            </p:nvSpPr>
            <p:spPr>
              <a:xfrm rot="5400000">
                <a:off x="5166741" y="2301751"/>
                <a:ext cx="2672806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9572B0B0-2176-7203-972E-1EA06FB2A7CD}"/>
                  </a:ext>
                </a:extLst>
              </p:cNvPr>
              <p:cNvSpPr/>
              <p:nvPr/>
            </p:nvSpPr>
            <p:spPr>
              <a:xfrm rot="5400000" flipV="1">
                <a:off x="6501124" y="2298382"/>
                <a:ext cx="2675737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FDDF69DD-1E42-2112-9BF5-84E28D6B5F92}"/>
                  </a:ext>
                </a:extLst>
              </p:cNvPr>
              <p:cNvCxnSpPr>
                <a:cxnSpLocks/>
                <a:stCxn id="42" idx="1"/>
              </p:cNvCxnSpPr>
              <p:nvPr/>
            </p:nvCxnSpPr>
            <p:spPr>
              <a:xfrm rot="10800000" flipH="1" flipV="1">
                <a:off x="7172960" y="2917222"/>
                <a:ext cx="19314" cy="1398803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17205DBE-459C-B395-3584-9F4722AB65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82847AF-498C-DF5E-BDE4-017FDB6B1D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5F6D1BD-9F89-FCC2-B040-CD22C7FB6A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E150BE16-5E9F-407A-16A7-6130EBF540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1CA8DA61-3CB2-1EF9-0F7D-89B45934CB9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BB967B8D-E992-37D1-73EF-496B4779BD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E3B2475F-F2A5-6B66-44F9-7385BA187E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63F86B7-F05C-00CA-4D2F-CC9B3737F5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4675CC6-5BA0-23F3-5EA6-AB7ADCC403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D39CC67-64C7-AF1A-9F7A-208E6F904B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C9386F2B-937C-216F-8A7D-DB7A20EB35C8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27" name="TextBox 1026">
                    <a:extLst>
                      <a:ext uri="{FF2B5EF4-FFF2-40B4-BE49-F238E27FC236}">
                        <a16:creationId xmlns:a16="http://schemas.microsoft.com/office/drawing/2014/main" id="{38FD531E-F5DC-BB2B-7744-9747DCF9AB9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5000" r="-19444" b="-980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5D0BAF00-F5A2-ADBD-073E-C00978D6471C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29A901C5-9433-402F-B6E7-920E3568775F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/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E6379458-06A2-8BE6-84DA-CDDF9B5A55A1}"/>
              </a:ext>
            </a:extLst>
          </p:cNvPr>
          <p:cNvGrpSpPr/>
          <p:nvPr/>
        </p:nvGrpSpPr>
        <p:grpSpPr>
          <a:xfrm rot="10800000">
            <a:off x="2222427" y="1802749"/>
            <a:ext cx="4744887" cy="2939324"/>
            <a:chOff x="4696904" y="1390254"/>
            <a:chExt cx="4973727" cy="333660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466DA6C7-65F1-7B57-BA30-F55D1109FDA7}"/>
                </a:ext>
              </a:extLst>
            </p:cNvPr>
            <p:cNvGrpSpPr/>
            <p:nvPr/>
          </p:nvGrpSpPr>
          <p:grpSpPr>
            <a:xfrm>
              <a:off x="5837879" y="1390254"/>
              <a:ext cx="2597068" cy="3336602"/>
              <a:chOff x="5837879" y="1390254"/>
              <a:chExt cx="2597068" cy="3336602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C5A41D1F-96FD-ABAF-2D61-59961D5F60C8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A4AB24D2-E5CC-651D-CBD4-6E4E03DBFC19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02E2B5F-45EC-5E56-4C43-1E1AD9649537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AB23C8A-12E2-A70F-DA1F-5F7A290E69D8}"/>
                  </a:ext>
                </a:extLst>
              </p:cNvPr>
              <p:cNvSpPr/>
              <p:nvPr/>
            </p:nvSpPr>
            <p:spPr>
              <a:xfrm>
                <a:off x="5974194" y="406420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1" name="Arc 50">
                <a:extLst>
                  <a:ext uri="{FF2B5EF4-FFF2-40B4-BE49-F238E27FC236}">
                    <a16:creationId xmlns:a16="http://schemas.microsoft.com/office/drawing/2014/main" id="{18C1FC13-5AA2-560D-DD00-4E43B2CA7F47}"/>
                  </a:ext>
                </a:extLst>
              </p:cNvPr>
              <p:cNvSpPr/>
              <p:nvPr/>
            </p:nvSpPr>
            <p:spPr>
              <a:xfrm rot="5400000">
                <a:off x="5128641" y="2300660"/>
                <a:ext cx="2749012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2" name="Arc 51">
                <a:extLst>
                  <a:ext uri="{FF2B5EF4-FFF2-40B4-BE49-F238E27FC236}">
                    <a16:creationId xmlns:a16="http://schemas.microsoft.com/office/drawing/2014/main" id="{B2322817-EDBD-2DC7-B5B5-7D90D12FBA8A}"/>
                  </a:ext>
                </a:extLst>
              </p:cNvPr>
              <p:cNvSpPr/>
              <p:nvPr/>
            </p:nvSpPr>
            <p:spPr>
              <a:xfrm rot="5400000" flipV="1">
                <a:off x="6480374" y="2301307"/>
                <a:ext cx="2717236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7D2797B2-7C00-FB64-3F35-4B733C60B4BC}"/>
                  </a:ext>
                </a:extLst>
              </p:cNvPr>
              <p:cNvCxnSpPr>
                <a:cxnSpLocks/>
                <a:stCxn id="68" idx="1"/>
              </p:cNvCxnSpPr>
              <p:nvPr/>
            </p:nvCxnSpPr>
            <p:spPr>
              <a:xfrm rot="10800000" flipH="1" flipV="1">
                <a:off x="7172960" y="2917222"/>
                <a:ext cx="842" cy="1475009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1967282-0FD1-2B99-0A9F-12EB732A8BA6}"/>
                  </a:ext>
                </a:extLst>
              </p:cNvPr>
              <p:cNvSpPr txBox="1"/>
              <p:nvPr/>
            </p:nvSpPr>
            <p:spPr>
              <a:xfrm rot="10800000">
                <a:off x="5837879" y="4357524"/>
                <a:ext cx="2726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1" dirty="0">
                    <a:solidFill>
                      <a:srgbClr val="C00000"/>
                    </a:solidFill>
                  </a:rPr>
                  <a:t>i</a:t>
                </a:r>
              </a:p>
            </p:txBody>
          </p: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A0C68269-9448-F8FA-F1B2-4684A925FF31}"/>
                  </a:ext>
                </a:extLst>
              </p:cNvPr>
              <p:cNvCxnSpPr>
                <a:cxnSpLocks/>
                <a:endCxn id="50" idx="3"/>
              </p:cNvCxnSpPr>
              <p:nvPr/>
            </p:nvCxnSpPr>
            <p:spPr>
              <a:xfrm flipV="1">
                <a:off x="6154535" y="4512258"/>
                <a:ext cx="165595" cy="37229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ACF4A742-FFB2-EA95-12B9-60EED3BA4CBC}"/>
                  </a:ext>
                </a:extLst>
              </p:cNvPr>
              <p:cNvCxnSpPr>
                <a:cxnSpLocks/>
                <a:stCxn id="50" idx="3"/>
              </p:cNvCxnSpPr>
              <p:nvPr/>
            </p:nvCxnSpPr>
            <p:spPr>
              <a:xfrm flipH="1" flipV="1">
                <a:off x="6256062" y="4392230"/>
                <a:ext cx="64068" cy="120028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0D6708DB-8DD5-1664-B357-BD630BD0EB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C897620C-1260-B939-E21B-D5059235416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2E4FD29-97F3-8025-A398-8E33D4BBBA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EB34D579-0D90-49AF-EB49-36B656F65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AF05426E-36B0-A234-10C7-460D1B0BA4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B4FAABA4-1527-1FDF-36E6-8CC489C59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200C5091-6592-C43E-7830-CB28A68888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E2932CA7-7A48-C6E0-39CC-B823923189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97D9F166-CCCC-C2E3-61BC-825383407E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4E4DA187-A8B1-5C37-3CB8-F84175BF78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F74C7FF2-F223-3375-DFB5-85944DE2C6A7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56" name="TextBox 1055">
                    <a:extLst>
                      <a:ext uri="{FF2B5EF4-FFF2-40B4-BE49-F238E27FC236}">
                        <a16:creationId xmlns:a16="http://schemas.microsoft.com/office/drawing/2014/main" id="{F7E63660-0DD0-CEC0-8FAF-7979B94659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5714" r="-22857" b="-2444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7" name="Arc 46">
              <a:extLst>
                <a:ext uri="{FF2B5EF4-FFF2-40B4-BE49-F238E27FC236}">
                  <a16:creationId xmlns:a16="http://schemas.microsoft.com/office/drawing/2014/main" id="{BC829507-AA5C-C0B3-B29F-46A9EA5EBA49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8" name="Arc 47">
              <a:extLst>
                <a:ext uri="{FF2B5EF4-FFF2-40B4-BE49-F238E27FC236}">
                  <a16:creationId xmlns:a16="http://schemas.microsoft.com/office/drawing/2014/main" id="{F6686F3D-53BD-B64B-E53B-5C8C11606DED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EAE1717-2D77-09AF-B9F7-AFBE8B19269C}"/>
              </a:ext>
            </a:extLst>
          </p:cNvPr>
          <p:cNvCxnSpPr/>
          <p:nvPr/>
        </p:nvCxnSpPr>
        <p:spPr>
          <a:xfrm>
            <a:off x="2710866" y="4268850"/>
            <a:ext cx="86896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6B13798B-711E-BD04-CAB9-6C762668F066}"/>
              </a:ext>
            </a:extLst>
          </p:cNvPr>
          <p:cNvSpPr txBox="1"/>
          <p:nvPr/>
        </p:nvSpPr>
        <p:spPr>
          <a:xfrm>
            <a:off x="6116245" y="1648429"/>
            <a:ext cx="27013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Dans un circuit fermé conducteur, une variation de flux magnétique entraine la formation d’un courant induit</a:t>
            </a:r>
          </a:p>
          <a:p>
            <a:pPr algn="ctr"/>
            <a:endParaRPr lang="fr-FR" sz="1600" dirty="0"/>
          </a:p>
          <a:p>
            <a:pPr algn="ctr"/>
            <a:endParaRPr lang="fr-FR" sz="1600" dirty="0"/>
          </a:p>
          <a:p>
            <a:pPr algn="ctr"/>
            <a:r>
              <a:rPr lang="fr-FR" sz="1600" dirty="0"/>
              <a:t>L’effet de la F.E.M induite est tel qu’il s’oppose à la variation de flux</a:t>
            </a:r>
          </a:p>
        </p:txBody>
      </p:sp>
    </p:spTree>
    <p:extLst>
      <p:ext uri="{BB962C8B-B14F-4D97-AF65-F5344CB8AC3E}">
        <p14:creationId xmlns:p14="http://schemas.microsoft.com/office/powerpoint/2010/main" val="30101365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10E9A24-B484-295A-C630-F6DE6A33E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083A4E-2E4A-99E1-8563-6734096B4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A39197A-E1E0-DE57-ABEA-CF1EC7363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16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89EBA-FB81-9346-F14B-289AA14F693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4.1 : Modèle Théorique (Micro Simple) </a:t>
            </a:r>
            <a:r>
              <a:rPr lang="fr-FR" sz="1000" i="1" dirty="0"/>
              <a:t>cf. [1]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blipFill>
                <a:blip r:embed="rId3"/>
                <a:stretch>
                  <a:fillRect t="-231" b="-888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5B259E3C-965D-2431-C9F5-3AB1F9C1D2C2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1B36DA9-ED7C-EC02-93A6-63AC824984B7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0F95B142-67A4-A817-F539-9E5FF08380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86607-AF33-333D-A48D-AA97A0210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512D3D3-39DC-2244-F3FD-49F86491C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FF81650-FA47-57FC-1660-8E146A13A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6DDDF7F-2340-DA52-AD2C-73D63FC33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17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3A031C7-F8C9-3D51-FCA5-4FB45D9F8B4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3C4E3F2-185F-33C0-706F-4AE175C9604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331495-1EB2-6E55-EC77-D35C50372978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4.2 : Modèle Théorique (Micro Humbucker) </a:t>
            </a:r>
            <a:r>
              <a:rPr lang="fr-FR" sz="1000" i="1" dirty="0"/>
              <a:t>cf. Source [1]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420539-7C82-3DC3-D605-71C74034FA1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unc>
                                <m:func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sz="105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f>
                                    <m:f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))</m:t>
                                  </m:r>
                                </m:e>
                              </m:func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05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blipFill>
                <a:blip r:embed="rId3"/>
                <a:stretch>
                  <a:fillRect t="-233" b="-909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CED2B23B-FD4E-F970-C927-67D404F465DC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7CBA275-C1FE-59FE-DA04-1639C9AE8658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92D01097-69F2-BF57-B64F-3F63F0C6CB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285433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BB62E9F-C416-8E56-1CDE-C3F6958ED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4D4D643-B8B6-EFC0-6384-7CE3B90FB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DC783EB-893F-C311-8294-9AEF8605C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18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1EA3AD-E635-C8B5-91C8-B28A2A0C9F4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4.3 : Modèle Théorique (Action d’un champ parasite)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839658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On étudie un champ parasite d’amplitude B0, de fréquence f et de gradient alpha régie par l’équation:</a:t>
                </a:r>
              </a:p>
              <a:p>
                <a:pPr algn="ctr"/>
                <a:endParaRPr lang="fr-FR" sz="12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Ainsi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Pour un micro SingleCoil :</a:t>
                </a:r>
              </a:p>
              <a:p>
                <a:r>
                  <a:rPr lang="fr-FR" sz="1200" dirty="0"/>
                  <a:t>En supposant que la variation de flux est principalement due au champ parasite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Ainsi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Pour un micro Humbucker :</a:t>
                </a:r>
              </a:p>
              <a:p>
                <a:r>
                  <a:rPr lang="fr-FR" sz="1200" dirty="0"/>
                  <a:t>Par Linéarité de la dérivée,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839658"/>
              </a:xfrm>
              <a:prstGeom prst="rect">
                <a:avLst/>
              </a:prstGeom>
              <a:blipFill>
                <a:blip r:embed="rId2"/>
                <a:stretch>
                  <a:fillRect t="-12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32805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Le micro est composé de deux bobine à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𝑆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sub>
                                  </m:s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C’est-à-dire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d>
                        <m:dPr>
                          <m:begChr m:val="|"/>
                          <m:endChr m:val="|"/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NB :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200" dirty="0"/>
                  <a:t>On a une annulation totale du bruit si et seulement si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fr-FR" sz="1200" dirty="0"/>
                  <a:t>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fr-FR" sz="1200" dirty="0"/>
                  <a:t> proche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200" dirty="0"/>
                  <a:t>En pratique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FR" sz="12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fr-FR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=0.02 </m:t>
                    </m:r>
                  </m:oMath>
                </a14:m>
                <a:r>
                  <a:rPr lang="fr-FR" sz="1200" dirty="0"/>
                  <a:t>mètre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200" dirty="0"/>
                  <a:t>D’où l’efficacité du Humbucker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3280578"/>
              </a:xfrm>
              <a:prstGeom prst="rect">
                <a:avLst/>
              </a:prstGeom>
              <a:blipFill>
                <a:blip r:embed="rId3"/>
                <a:stretch>
                  <a:fillRect t="-372" r="-592" b="-37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8AAD9-A422-7202-0B30-0D28B5E9C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6D1B4FF1-9E06-8C21-3237-980566602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1FF31C7-6DE8-9F8E-C316-27342893D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78E00E3-9107-F660-4465-7D796FF2A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19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6B6054-7546-BF4C-05E8-838799AD94F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889E58-42C8-3971-7404-080199592D5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E322EC-5E0A-C386-1A8F-6C04DB50602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5.1 : Réponse Fréquentielle, Diagramme de Bode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7FDBA9-87D9-FF36-0C64-B77D97DFCB7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AFD8FB-4203-5C2E-4D6F-4259F8AF1F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6" t="60247" r="6447" b="2716"/>
          <a:stretch>
            <a:fillRect/>
          </a:stretch>
        </p:blipFill>
        <p:spPr>
          <a:xfrm>
            <a:off x="4231677" y="1347671"/>
            <a:ext cx="3464559" cy="3331307"/>
          </a:xfrm>
          <a:prstGeom prst="rect">
            <a:avLst/>
          </a:prstGeom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204532C9-1EF7-26FA-8D12-D5A9A1630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749963-8865-1816-009C-0CABB6D788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6" t="3209" r="6447" b="40000"/>
          <a:stretch>
            <a:fillRect/>
          </a:stretch>
        </p:blipFill>
        <p:spPr>
          <a:xfrm>
            <a:off x="345440" y="1121469"/>
            <a:ext cx="3464560" cy="5108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0955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A8ED5-098F-9570-ACBB-50E36703E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8C2D956-F966-AEF2-A241-8A64B547C18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43846F8-18FE-7C6A-76A8-741E4FC6CE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46" t="5102" r="6085" b="6102"/>
          <a:stretch>
            <a:fillRect/>
          </a:stretch>
        </p:blipFill>
        <p:spPr>
          <a:xfrm>
            <a:off x="326443" y="1018602"/>
            <a:ext cx="4230077" cy="5118038"/>
          </a:xfrm>
          <a:prstGeom prst="rect">
            <a:avLst/>
          </a:prstGeom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8F337AC-67EE-EE9F-8EEA-E34CDB745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9EDBB6-2569-8CC7-2E3A-9DBB702C4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AF25C25-B363-4618-EBC2-4D4930A7F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20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368E95-18D2-6289-E9EB-39FA45A0541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EC4A2D2-685C-87E5-E824-234E3CE0DD9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14904E-75D1-4B5C-FFEA-D1D58774429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5.2.1 : Modèle Théorique (Initialisation)</a:t>
            </a:r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4A83DFF8-F0FD-FA36-AC9C-376370D3A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73500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23F56-6D1A-012E-0840-51E2961D1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21ABD7D-7909-F7E6-327C-22C936D77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AD8057DB-A890-35FD-BE54-B929F1FBC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7EF5319-1BBC-6FA6-9B28-6AE4EE4E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21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EA7EE6-6ED5-C3B5-06D5-DDE4D72DEFD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509A956-1EDE-8A91-05AC-6C6A89CAADF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9A9CC2-F54A-74ED-EF78-C0FDAC1823F1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5.2.2 : Modèle Théorique (Fonctions)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51DC8C-2F05-DC95-710B-7ACF5BC334A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1EEB7B0D-8F85-F90D-F830-E739D70D4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8AFFFBE-CB6F-21A6-282E-728B37DFD5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45" t="5928" r="5745" b="7790"/>
          <a:stretch>
            <a:fillRect/>
          </a:stretch>
        </p:blipFill>
        <p:spPr>
          <a:xfrm>
            <a:off x="345440" y="1121471"/>
            <a:ext cx="4449197" cy="5060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158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293B7-83EF-C759-D713-7720613D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45BA8A6-C306-B9A7-E8C7-8DE21A2E3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7ED4F2D-A1EA-57EA-FD48-1DF15F709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4821DE5-01AE-C317-8481-DC9BB9C6D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22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9147E7-34EA-CAB2-9065-587A16AC991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BC895C5-4F1B-048E-4B6C-7E439A1B327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24B27F-1212-9E03-3094-0EE4BE422ED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5.2.3 : Modèle Théorique (Appel des Fonctions)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680B1F-EBF7-F346-714A-DE70738BCA4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BA4C4A0F-96CA-E1B3-99B7-AFE420CACB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D3557C-2ED0-8EFD-9235-98BC8630FD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41" t="7270" r="6741" b="8518"/>
          <a:stretch>
            <a:fillRect/>
          </a:stretch>
        </p:blipFill>
        <p:spPr>
          <a:xfrm>
            <a:off x="345440" y="1070826"/>
            <a:ext cx="5620204" cy="5194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3484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78E55-0328-F4B0-A17D-BED52B53F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DF0711-0040-41B4-3A89-7B4B75A97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3443A08-CB38-39EE-F965-164A8A422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4DF264-97D3-6DFC-B316-BED4DA0AD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23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4A3F5-C7A8-271E-97D8-81B4143785ED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AC73F6F-0601-97D4-F519-6A47C21DB23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33F4DE-0227-BE4E-1565-18A6CFBEC6F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5.2.4 : Modèle Théorique (FFT)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277FFB-8AF7-D472-BE53-8CF7BB16989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A9D7A4F6-4B6C-FEED-F754-DEB193E58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48AED5-099F-D34F-2AF3-8BC9362CCA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96" t="4682" r="5568" b="7161"/>
          <a:stretch>
            <a:fillRect/>
          </a:stretch>
        </p:blipFill>
        <p:spPr>
          <a:xfrm>
            <a:off x="345440" y="1028493"/>
            <a:ext cx="4317555" cy="5279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7103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BED92-A1AA-6697-2E70-5C51D1F5C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F18D14F-51CA-5C96-A864-DE3C18FD8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0986B93-385B-899F-8705-22FD215EA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831DBE4-7E7E-1EC9-D91C-337D4ED26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24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4DE755-DBCA-E4FF-E4AF-02D38DF125B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4FEFFEB-8768-5E46-43F4-FB0EAB30C3A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5EC40F-996F-C57F-87E7-2830A4FA6506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5.2.5 : Modèle Théorique (Affichage des Courbes)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409239-756B-F1DC-3238-68546D8884B5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85F0D8E-06F2-8ABF-D1D8-0C31EF3D3C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14" t="61055" r="6559" b="5806"/>
          <a:stretch>
            <a:fillRect/>
          </a:stretch>
        </p:blipFill>
        <p:spPr>
          <a:xfrm>
            <a:off x="5167482" y="1324675"/>
            <a:ext cx="3650075" cy="2915860"/>
          </a:xfrm>
          <a:prstGeom prst="rect">
            <a:avLst/>
          </a:prstGeom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81CB7D3F-A693-40F0-90A3-133C6C7151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F9E3DB4-BB7D-BE22-C6A0-237A072679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14" t="3086" r="6559" b="38512"/>
          <a:stretch>
            <a:fillRect/>
          </a:stretch>
        </p:blipFill>
        <p:spPr>
          <a:xfrm>
            <a:off x="345440" y="1108696"/>
            <a:ext cx="3644769" cy="5131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2828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87C1C-A9E7-26DD-5A78-3FADD678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8DA6C4D-4525-E18F-9555-CAEE2FF05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066EC66-9FAC-8589-387E-B4B8FD13E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F3027C7-92F3-E063-932E-3B94F56CA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25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D9A809-BAA5-C2C3-A094-88CF56D19A0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30EEE73-BB7D-C4D0-738A-79B41E9FA3C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3C9C9A-6414-9E44-333A-AA367358FB3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E4C63B-D2E6-7A26-7BC5-409FA36680C2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Expérimentation </a:t>
            </a:r>
            <a:r>
              <a:rPr lang="fr-FR" sz="1000" i="1" dirty="0"/>
              <a:t>cf. [4], [5]</a:t>
            </a:r>
            <a:endParaRPr lang="fr-FR" sz="2000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D9E6B13-6A5D-2DAE-9C77-B81DD77F1C63}"/>
              </a:ext>
            </a:extLst>
          </p:cNvPr>
          <p:cNvSpPr txBox="1"/>
          <p:nvPr/>
        </p:nvSpPr>
        <p:spPr>
          <a:xfrm>
            <a:off x="345440" y="1315849"/>
            <a:ext cx="52086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générer et contrôler un champ magnétique parasite 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/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par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Inductance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Resistance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Rayon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Perméabilité du vide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500" dirty="0"/>
                  <a:t>: Champ magnétique au centre du système</a:t>
                </a:r>
              </a:p>
            </p:txBody>
          </p:sp>
        </mc:Choice>
        <mc:Fallback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blipFill>
                <a:blip r:embed="rId2"/>
                <a:stretch>
                  <a:fillRect l="-359" b="-1359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D5EE7BFD-22A9-C42D-D83F-4ED3539508EB}"/>
              </a:ext>
            </a:extLst>
          </p:cNvPr>
          <p:cNvSpPr txBox="1"/>
          <p:nvPr/>
        </p:nvSpPr>
        <p:spPr>
          <a:xfrm>
            <a:off x="345439" y="4696284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on obtient la relation :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/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3/2</m:t>
                          </m:r>
                        </m:sup>
                      </m:sSup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box>
                        <m:box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/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blipFill>
                <a:blip r:embed="rId6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/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8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sz="1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blipFill>
                <a:blip r:embed="rId7"/>
                <a:stretch>
                  <a:fillRect r="-5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A20D67A-ABBB-0F42-5126-090B491D5C6A}"/>
              </a:ext>
            </a:extLst>
          </p:cNvPr>
          <p:cNvSpPr txBox="1"/>
          <p:nvPr/>
        </p:nvSpPr>
        <p:spPr>
          <a:xfrm>
            <a:off x="5956224" y="2455967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 GBF délivre une tension 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682485-A8DF-8912-5129-AE9F97A8E14E}"/>
              </a:ext>
            </a:extLst>
          </p:cNvPr>
          <p:cNvSpPr txBox="1"/>
          <p:nvPr/>
        </p:nvSpPr>
        <p:spPr>
          <a:xfrm>
            <a:off x="5956223" y="3269908"/>
            <a:ext cx="28205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l’intensité dans la bobine de Helmholtz</a:t>
            </a:r>
            <a:r>
              <a:rPr lang="fr-FR" dirty="0"/>
              <a:t> </a:t>
            </a:r>
            <a:r>
              <a:rPr lang="fr-FR" sz="1600" dirty="0"/>
              <a:t>est : </a:t>
            </a:r>
          </a:p>
        </p:txBody>
      </p:sp>
      <p:pic>
        <p:nvPicPr>
          <p:cNvPr id="14" name="Graphic 13" descr="Right pointing backhand index with solid fill">
            <a:extLst>
              <a:ext uri="{FF2B5EF4-FFF2-40B4-BE49-F238E27FC236}">
                <a16:creationId xmlns:a16="http://schemas.microsoft.com/office/drawing/2014/main" id="{D43490FA-7939-0BC0-E2E1-D0079CA8B2B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74131" y="5317433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/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Ordre de Grandeur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=100 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</m:oMath>
                </a14:m>
                <a:endParaRPr lang="fr-FR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blipFill>
                <a:blip r:embed="rId10"/>
                <a:stretch>
                  <a:fillRect l="-1128" t="-5455" b="-236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Bobine de Helmholtz sur socle : PAM067370">
            <a:extLst>
              <a:ext uri="{FF2B5EF4-FFF2-40B4-BE49-F238E27FC236}">
                <a16:creationId xmlns:a16="http://schemas.microsoft.com/office/drawing/2014/main" id="{451DB793-FC6C-87B9-4DF0-4142BD3499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0424" y="575668"/>
            <a:ext cx="2649772" cy="17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2869759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2358</Words>
  <Application>Microsoft Office PowerPoint</Application>
  <PresentationFormat>On-screen Show (4:3)</PresentationFormat>
  <Paragraphs>391</Paragraphs>
  <Slides>25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Arial</vt:lpstr>
      <vt:lpstr>Arial Black</vt:lpstr>
      <vt:lpstr>Calibri</vt:lpstr>
      <vt:lpstr>Cambria Math</vt:lpstr>
      <vt:lpstr>Wingdings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257</cp:revision>
  <dcterms:created xsi:type="dcterms:W3CDTF">2025-06-09T15:35:56Z</dcterms:created>
  <dcterms:modified xsi:type="dcterms:W3CDTF">2025-11-19T20:37:50Z</dcterms:modified>
</cp:coreProperties>
</file>