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34"/>
  </p:notesMasterIdLst>
  <p:sldIdLst>
    <p:sldId id="256" r:id="rId2"/>
    <p:sldId id="265" r:id="rId3"/>
    <p:sldId id="278" r:id="rId4"/>
    <p:sldId id="319" r:id="rId5"/>
    <p:sldId id="320" r:id="rId6"/>
    <p:sldId id="329" r:id="rId7"/>
    <p:sldId id="327" r:id="rId8"/>
    <p:sldId id="328" r:id="rId9"/>
    <p:sldId id="289" r:id="rId10"/>
    <p:sldId id="322" r:id="rId11"/>
    <p:sldId id="324" r:id="rId12"/>
    <p:sldId id="313" r:id="rId13"/>
    <p:sldId id="315" r:id="rId14"/>
    <p:sldId id="325" r:id="rId15"/>
    <p:sldId id="326" r:id="rId16"/>
    <p:sldId id="318" r:id="rId17"/>
    <p:sldId id="330" r:id="rId18"/>
    <p:sldId id="303" r:id="rId19"/>
    <p:sldId id="271" r:id="rId20"/>
    <p:sldId id="302" r:id="rId21"/>
    <p:sldId id="272" r:id="rId22"/>
    <p:sldId id="277" r:id="rId23"/>
    <p:sldId id="304" r:id="rId24"/>
    <p:sldId id="305" r:id="rId25"/>
    <p:sldId id="311" r:id="rId26"/>
    <p:sldId id="275" r:id="rId27"/>
    <p:sldId id="306" r:id="rId28"/>
    <p:sldId id="307" r:id="rId29"/>
    <p:sldId id="308" r:id="rId30"/>
    <p:sldId id="309" r:id="rId31"/>
    <p:sldId id="317" r:id="rId32"/>
    <p:sldId id="310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91" autoAdjust="0"/>
    <p:restoredTop sz="94660"/>
  </p:normalViewPr>
  <p:slideViewPr>
    <p:cSldViewPr snapToGrid="0">
      <p:cViewPr varScale="1">
        <p:scale>
          <a:sx n="96" d="100"/>
          <a:sy n="96" d="100"/>
        </p:scale>
        <p:origin x="120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30/11/2025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19CC-8F2E-E730-26C5-50B13133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DB5F9-19A2-8239-EF2B-F99FDE45A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59BC5-E338-8D25-9AFB-D31191AB4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1B000-4390-D34E-E236-7CDF47B3F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1882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D29C-73BD-360B-8B2C-1EB9D41DB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7A5AA6-FF0C-E4C0-1234-51AD20A0D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AD2513-005E-DAD7-8232-7A0A28F4FE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B70D1-4C8C-6971-8430-6A40F10626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49116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43560-6B22-72D2-A9CD-08DAE966F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775C41-55D5-4583-71EA-090CC67380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ED727F-70AE-8B5D-02F4-008ABB454B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0AEC6-8730-3CF6-D80A-47921D8316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15064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58756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3E781-A695-B7FC-6DB0-CF193AF07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0711D-7ECF-FC28-ED1A-352D619CB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95E39-2033-A503-F7AC-707428C1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F9D26-802A-7E8E-AC92-2233882F20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96485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1384A-A5F4-2113-DF8F-E79B5DD1F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730884-3750-BE92-616E-082925A1A3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FC2C82-C17B-FACB-9DA2-613B40E5F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47E1A-7E78-B66A-6F8A-857ABC46C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67197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55E5-34B6-A91D-57BA-0BA2E1F3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1174F-4483-8765-082B-6AD207855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2B9F3-31ED-588E-D434-8E1DD3459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EEC3-FD3F-2A98-CBC3-30A11301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3473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ED6C1-DF65-4C3D-95EC-D70608AAA3C4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B86B1-2FD3-4CA5-8239-1A8209C0D6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728CC-344B-4F9F-8F06-DCB25AAD3016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731E3-653D-4AE6-839A-BD9352A17844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04262-3B58-4BC7-82BE-F2E68D572EE5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077A-C1FF-4E90-A404-D2B4139D3617}" type="datetimeyyyy">
              <a:rPr lang="fr-FR" smtClean="0"/>
              <a:t>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6374-B7DC-4A12-A9D3-587D4C7D23D9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7AAD380C-BC49-4A61-A36F-E19219AC949E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07B14-DD9D-4F73-A9C3-3F01A5176729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51351-39B1-4FD8-B856-385FF7D378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3F95-9B7C-43C3-8C95-9BB94EDB1255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180C59D-6665-4BCA-9876-120F568073D9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4" Type="http://schemas.openxmlformats.org/officeDocument/2006/relationships/image" Target="../media/image4.jpe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6.png"/><Relationship Id="rId9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jpeg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23.png"/><Relationship Id="rId5" Type="http://schemas.openxmlformats.org/officeDocument/2006/relationships/image" Target="../media/image25.png"/><Relationship Id="rId10" Type="http://schemas.openxmlformats.org/officeDocument/2006/relationships/image" Target="../media/image22.png"/><Relationship Id="rId4" Type="http://schemas.openxmlformats.org/officeDocument/2006/relationships/image" Target="../media/image18.jpe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13" Type="http://schemas.openxmlformats.org/officeDocument/2006/relationships/image" Target="../media/image31.png"/><Relationship Id="rId18" Type="http://schemas.openxmlformats.org/officeDocument/2006/relationships/image" Target="../media/image34.png"/><Relationship Id="rId3" Type="http://schemas.openxmlformats.org/officeDocument/2006/relationships/image" Target="../media/image4.jpeg"/><Relationship Id="rId12" Type="http://schemas.openxmlformats.org/officeDocument/2006/relationships/image" Target="../media/image18.jpe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6" Type="http://schemas.microsoft.com/office/2007/relationships/hdphoto" Target="../media/hdphoto2.wdp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30.png"/><Relationship Id="rId15" Type="http://schemas.openxmlformats.org/officeDocument/2006/relationships/image" Target="../media/image32.png"/><Relationship Id="rId10" Type="http://schemas.openxmlformats.org/officeDocument/2006/relationships/image" Target="../media/image29.png"/><Relationship Id="rId19" Type="http://schemas.openxmlformats.org/officeDocument/2006/relationships/image" Target="../media/image35.png"/><Relationship Id="rId9" Type="http://schemas.openxmlformats.org/officeDocument/2006/relationships/image" Target="../media/image28.png"/><Relationship Id="rId1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38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0.png"/><Relationship Id="rId5" Type="http://schemas.openxmlformats.org/officeDocument/2006/relationships/image" Target="../media/image42.png"/><Relationship Id="rId4" Type="http://schemas.openxmlformats.org/officeDocument/2006/relationships/image" Target="../media/image18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18.jpe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0.png"/><Relationship Id="rId3" Type="http://schemas.openxmlformats.org/officeDocument/2006/relationships/image" Target="../media/image45.png"/><Relationship Id="rId7" Type="http://schemas.openxmlformats.org/officeDocument/2006/relationships/image" Target="../media/image44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1.png"/><Relationship Id="rId5" Type="http://schemas.openxmlformats.org/officeDocument/2006/relationships/image" Target="../media/image46.png"/><Relationship Id="rId4" Type="http://schemas.openxmlformats.org/officeDocument/2006/relationships/image" Target="../media/image18.jpeg"/><Relationship Id="rId9" Type="http://schemas.openxmlformats.org/officeDocument/2006/relationships/image" Target="../media/image46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jpe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47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sv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27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32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60.jpeg"/><Relationship Id="rId10" Type="http://schemas.openxmlformats.org/officeDocument/2006/relationships/image" Target="../media/image330.png"/><Relationship Id="rId9" Type="http://schemas.openxmlformats.org/officeDocument/2006/relationships/image" Target="../media/image59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59.svg"/><Relationship Id="rId4" Type="http://schemas.openxmlformats.org/officeDocument/2006/relationships/image" Target="../media/image5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svg"/><Relationship Id="rId4" Type="http://schemas.openxmlformats.org/officeDocument/2006/relationships/image" Target="../media/image5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825FA-2A0E-4654-B5F2-5D1E0EB7A14E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D9057-C298-4BD1-8DA1-CF9133EC625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la qualité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B8DB-462A-9B19-1F31-BB4FD26B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94FB20C-02CF-35BD-3AB9-670C42C7A9C6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3826A0B5-B36F-12CC-DCD6-3CA441DB4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2302" y="1528936"/>
            <a:ext cx="2143308" cy="3904140"/>
          </a:xfrm>
          <a:prstGeom prst="rect">
            <a:avLst/>
          </a:prstGeom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DDED1E-275F-6831-62E9-95476B043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2C20-E639-4967-B5FE-0B42AF0B709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1D5E31-18D5-EFA4-FF70-9C214035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16D650-4C5C-541D-6925-FDAE466CB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88C05C-557A-D965-1B57-D283BF34BE5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018A027-1E36-7A49-BFE5-C63B39A4373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9E9-806A-4E89-859A-696AFF1D31B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Comment fonctionne une guitare électrique ?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2E8534-760B-A9A0-98A4-5631C1A1EEAC}"/>
              </a:ext>
            </a:extLst>
          </p:cNvPr>
          <p:cNvGrpSpPr>
            <a:grpSpLocks noChangeAspect="1"/>
          </p:cNvGrpSpPr>
          <p:nvPr/>
        </p:nvGrpSpPr>
        <p:grpSpPr>
          <a:xfrm>
            <a:off x="345440" y="1591032"/>
            <a:ext cx="4008672" cy="3600000"/>
            <a:chOff x="-34756" y="1586102"/>
            <a:chExt cx="4415870" cy="39656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E26F642-1EDB-D9D0-339B-2432C09158E6}"/>
                </a:ext>
              </a:extLst>
            </p:cNvPr>
            <p:cNvGrpSpPr/>
            <p:nvPr/>
          </p:nvGrpSpPr>
          <p:grpSpPr>
            <a:xfrm>
              <a:off x="-34756" y="1586102"/>
              <a:ext cx="4415870" cy="3960146"/>
              <a:chOff x="-34756" y="1586102"/>
              <a:chExt cx="4415870" cy="3960146"/>
            </a:xfrm>
          </p:grpSpPr>
          <p:pic>
            <p:nvPicPr>
              <p:cNvPr id="11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EF933A2A-B5DF-0F82-4FC8-301F3207B1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666" t="-7130" r="-141" b="-876"/>
              <a:stretch>
                <a:fillRect/>
              </a:stretch>
            </p:blipFill>
            <p:spPr bwMode="auto">
              <a:xfrm>
                <a:off x="2743124" y="4230934"/>
                <a:ext cx="1637990" cy="1315314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D101A5E5-BA4D-16F2-BED9-3954FE2B9AF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" t="-8093" r="50325" b="-7437"/>
              <a:stretch>
                <a:fillRect/>
              </a:stretch>
            </p:blipFill>
            <p:spPr bwMode="auto">
              <a:xfrm>
                <a:off x="2743124" y="2567897"/>
                <a:ext cx="1637990" cy="1406367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A86E6CB6-2C7D-D59A-DF2C-EA03047A1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87223">
                <a:off x="-34756" y="1586102"/>
                <a:ext cx="3569635" cy="35696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3" name="Connector: Curved 12">
                <a:extLst>
                  <a:ext uri="{FF2B5EF4-FFF2-40B4-BE49-F238E27FC236}">
                    <a16:creationId xmlns:a16="http://schemas.microsoft.com/office/drawing/2014/main" id="{9CC502A0-585D-65D8-BE79-3175E05CA0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7764" y="3268687"/>
                <a:ext cx="1252330" cy="846112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8EFCF990-1181-93F4-481C-E26808409BF1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210381" y="4529667"/>
                <a:ext cx="1532743" cy="358924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B270C04-EA57-651F-EDDD-A94BAC32E88F}"/>
                </a:ext>
              </a:extLst>
            </p:cNvPr>
            <p:cNvSpPr/>
            <p:nvPr/>
          </p:nvSpPr>
          <p:spPr>
            <a:xfrm>
              <a:off x="3031428" y="3654767"/>
              <a:ext cx="1018352" cy="1080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b="1" dirty="0">
                  <a:solidFill>
                    <a:schemeClr val="tx1"/>
                  </a:solidFill>
                </a:rPr>
                <a:t>Micro Simple Bobinage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71E06E-24A1-72B4-FDB8-7EF1C91610E7}"/>
                </a:ext>
              </a:extLst>
            </p:cNvPr>
            <p:cNvSpPr txBox="1"/>
            <p:nvPr/>
          </p:nvSpPr>
          <p:spPr>
            <a:xfrm>
              <a:off x="115978" y="5305567"/>
              <a:ext cx="20499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Source image : Ibanez.com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6A79489E-50A5-06BD-6981-9FF739B9AAEE}"/>
              </a:ext>
            </a:extLst>
          </p:cNvPr>
          <p:cNvSpPr txBox="1"/>
          <p:nvPr/>
        </p:nvSpPr>
        <p:spPr>
          <a:xfrm>
            <a:off x="7918934" y="1263971"/>
            <a:ext cx="769917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Corde</a:t>
            </a:r>
            <a:endParaRPr lang="fr-FR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DF16F212-2D35-2285-3A01-27A02321EE74}"/>
              </a:ext>
            </a:extLst>
          </p:cNvPr>
          <p:cNvCxnSpPr>
            <a:cxnSpLocks/>
            <a:stCxn id="26" idx="1"/>
          </p:cNvCxnSpPr>
          <p:nvPr/>
        </p:nvCxnSpPr>
        <p:spPr>
          <a:xfrm rot="10800000" flipV="1">
            <a:off x="6587490" y="1433248"/>
            <a:ext cx="1331444" cy="692732"/>
          </a:xfrm>
          <a:prstGeom prst="bentConnector3">
            <a:avLst>
              <a:gd name="adj1" fmla="val 9993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D6A1CE3-569F-3154-9A83-0E76D56821B9}"/>
              </a:ext>
            </a:extLst>
          </p:cNvPr>
          <p:cNvSpPr txBox="1"/>
          <p:nvPr/>
        </p:nvSpPr>
        <p:spPr>
          <a:xfrm>
            <a:off x="7696236" y="2954930"/>
            <a:ext cx="1262418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Bobinage</a:t>
            </a:r>
            <a:endParaRPr lang="fr-FR" dirty="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C75E5E3-2DE5-E40D-9382-A241C54E6948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7078980" y="3124206"/>
            <a:ext cx="617256" cy="1692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5BE92E9-5C79-727E-BB70-09E65636081F}"/>
              </a:ext>
            </a:extLst>
          </p:cNvPr>
          <p:cNvSpPr txBox="1"/>
          <p:nvPr/>
        </p:nvSpPr>
        <p:spPr>
          <a:xfrm>
            <a:off x="7679006" y="5186003"/>
            <a:ext cx="1262418" cy="584775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Aimant permanent</a:t>
            </a:r>
            <a:endParaRPr lang="fr-FR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AC1E49F-36E8-617E-B0EF-93B7031D727C}"/>
              </a:ext>
            </a:extLst>
          </p:cNvPr>
          <p:cNvCxnSpPr>
            <a:cxnSpLocks/>
            <a:stCxn id="31" idx="1"/>
          </p:cNvCxnSpPr>
          <p:nvPr/>
        </p:nvCxnSpPr>
        <p:spPr>
          <a:xfrm rot="10800000">
            <a:off x="6587490" y="5186003"/>
            <a:ext cx="1091516" cy="292389"/>
          </a:xfrm>
          <a:prstGeom prst="bentConnector3">
            <a:avLst>
              <a:gd name="adj1" fmla="val 9991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0" name="Arrow: Up-Down 49">
            <a:extLst>
              <a:ext uri="{FF2B5EF4-FFF2-40B4-BE49-F238E27FC236}">
                <a16:creationId xmlns:a16="http://schemas.microsoft.com/office/drawing/2014/main" id="{28E87508-B2CD-2363-D00E-B7F0B97EE1C8}"/>
              </a:ext>
            </a:extLst>
          </p:cNvPr>
          <p:cNvSpPr/>
          <p:nvPr/>
        </p:nvSpPr>
        <p:spPr>
          <a:xfrm>
            <a:off x="5398936" y="2003729"/>
            <a:ext cx="214685" cy="692732"/>
          </a:xfrm>
          <a:prstGeom prst="upDownArrow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33686D-0658-1EA5-0F37-56E867EEABE3}"/>
              </a:ext>
            </a:extLst>
          </p:cNvPr>
          <p:cNvSpPr txBox="1"/>
          <p:nvPr/>
        </p:nvSpPr>
        <p:spPr>
          <a:xfrm>
            <a:off x="4495503" y="2195215"/>
            <a:ext cx="903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Vibration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5628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F9BBF-DE7D-0372-E3FC-B0FF167E1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03B203A-1265-F141-45FF-BE8CEF81C78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01410289-7A05-49F9-F6A3-3BFA81E222FA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F0DDF28-1178-21DD-188D-F02C38C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32D951E-CA0F-F952-6435-7DF8B8615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6E48D8B-F8D6-7484-ADA4-A3FFFCCE3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6EAC4E-A3A7-1ACF-E157-633D3A33564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C51C845-2989-5887-728D-842426A6F8E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7E153C-A5D8-32FC-C04C-F5D7F57C459B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  <a:endParaRPr lang="fr-FR" sz="2000" b="1" dirty="0">
              <a:latin typeface="+mj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02AE35-C24B-947A-A987-D72795A00587}"/>
              </a:ext>
            </a:extLst>
          </p:cNvPr>
          <p:cNvSpPr/>
          <p:nvPr/>
        </p:nvSpPr>
        <p:spPr>
          <a:xfrm>
            <a:off x="462440" y="1303262"/>
            <a:ext cx="4496905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7EDD969B-7E05-991B-BB22-96E8229308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5E1F0B6C-8EDF-73FF-B787-C722DA8F42A6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44BDA940-A470-1A93-C04C-039175433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9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88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4E1DA-0708-6BB7-8163-17A2D4564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E9B2CEE-41FF-C746-EA91-262125395C72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e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 b="-21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0B1A863-B9FB-167D-958E-E5AA2131C18B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750F447-6525-CA83-0585-85AF819F0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F599232-9FD5-7011-F119-9C82BCA87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7D510A6-64BB-2407-6922-B25331A4E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68881F-75AB-FF24-0015-F057E0980D1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83AF9ED-C531-F2FE-51D4-C9BA0CECA59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2A4AC1-846C-D686-72A3-C427BF4774CF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5A9AFB-601F-0D10-6B20-7E1434391FC0}"/>
              </a:ext>
            </a:extLst>
          </p:cNvPr>
          <p:cNvSpPr/>
          <p:nvPr/>
        </p:nvSpPr>
        <p:spPr>
          <a:xfrm>
            <a:off x="462440" y="1303262"/>
            <a:ext cx="4496905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89153C86-2D6D-B7E8-5814-0ADB2F484D75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E48B7B27-694D-2B8B-F270-01C5A792D6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8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D676E03A-D2C5-7FFA-C144-6FD0FE645F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0472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9D97A53-F324-D847-0D7A-606ADF6E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D15FC3-A370-29D3-C94A-AE247888BFF4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913210B-6F96-8414-571E-2D9D96414305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E6975-0BD3-4765-200E-FBE90D4D3DF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1ECDDAB-FE4C-91AF-6FF8-D226B63E52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6" r="21836"/>
          <a:stretch/>
        </p:blipFill>
        <p:spPr>
          <a:xfrm rot="54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9F7DA611-55F3-BB6C-D4A0-D9C1F2AEF5CE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0BCD9E6-C4E3-D97F-20FF-6F9EA36DC1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9C2B9229-FCB0-59A8-E169-B2D6B3D6E2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8863A744-4C8C-0983-0F2F-B1C0A26874B1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7628D95F-B909-97AA-8AF0-643319E2F9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845B078D-1A98-6ED5-C628-4915E681FB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10D5804D-1ABD-3B0D-5696-340BE1BEEAD0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EDCF24A4-79F4-DF8B-FFC5-11778BB7DAF9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A6BF2A2-C0F1-2942-5728-DDBFD830C702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476C911C-AADC-DF2F-6546-6986C34D1D7C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16D688EF-71CF-65FC-053D-74766E760A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E94460FF-3F74-8475-92BD-E1C12440F8BF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0B5C525-B1D9-149D-1C21-32C54BFA8514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2F557102-C995-BF1E-B2AD-0FB65CA044AD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Oscilloscope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4FD8045D-A5C6-31D5-E782-69BF3A4B9DB1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2179289" y="2851706"/>
            <a:ext cx="956264" cy="156602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0896C0D-356A-1130-A43B-569F02015153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4D3656-6CBC-8BF0-2BAB-244DCEE4D29A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ED1E97F8-A8FA-1050-B6EB-F4BACD4BECC6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5A12C03A-AC35-78C7-64F8-0CD2464AEE27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69283860-83DC-3D09-17EF-7EDAFCDDC462}"/>
              </a:ext>
            </a:extLst>
          </p:cNvPr>
          <p:cNvCxnSpPr>
            <a:cxnSpLocks/>
            <a:stCxn id="24" idx="0"/>
          </p:cNvCxnSpPr>
          <p:nvPr/>
        </p:nvCxnSpPr>
        <p:spPr>
          <a:xfrm rot="5400000" flipH="1" flipV="1">
            <a:off x="3311878" y="3584610"/>
            <a:ext cx="749811" cy="29149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E958A863-0B06-BFF6-31E6-930BF8318979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58973885-A9D0-29A7-7952-86F03749463E}"/>
              </a:ext>
            </a:extLst>
          </p:cNvPr>
          <p:cNvCxnSpPr>
            <a:cxnSpLocks/>
            <a:stCxn id="161" idx="0"/>
          </p:cNvCxnSpPr>
          <p:nvPr/>
        </p:nvCxnSpPr>
        <p:spPr>
          <a:xfrm rot="5400000" flipH="1" flipV="1">
            <a:off x="4491728" y="4004439"/>
            <a:ext cx="71272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0530469-2330-1521-AA8F-292130B8591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810234F-0B86-F53A-22E1-8DDBBD9E5AF4}"/>
              </a:ext>
            </a:extLst>
          </p:cNvPr>
          <p:cNvSpPr txBox="1"/>
          <p:nvPr/>
        </p:nvSpPr>
        <p:spPr>
          <a:xfrm>
            <a:off x="6275119" y="1107708"/>
            <a:ext cx="26673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3206AAC-BE44-239A-2F98-44FDDFB5C148}"/>
              </a:ext>
            </a:extLst>
          </p:cNvPr>
          <p:cNvCxnSpPr>
            <a:cxnSpLocks/>
          </p:cNvCxnSpPr>
          <p:nvPr/>
        </p:nvCxnSpPr>
        <p:spPr>
          <a:xfrm flipH="1" flipV="1">
            <a:off x="3257550" y="2699385"/>
            <a:ext cx="2249805" cy="13220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89EE43-4C1C-B53A-481A-3B95B1A1E364}"/>
              </a:ext>
            </a:extLst>
          </p:cNvPr>
          <p:cNvCxnSpPr>
            <a:cxnSpLocks/>
          </p:cNvCxnSpPr>
          <p:nvPr/>
        </p:nvCxnSpPr>
        <p:spPr>
          <a:xfrm flipH="1">
            <a:off x="2044065" y="5817870"/>
            <a:ext cx="538127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C121-196D-B280-2659-B969A21D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B5D88-FDE6-E3A7-51AD-089C3F31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4152A36-64FE-DA5A-CF24-1B317D16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087F9B-168A-BB0B-C61B-7988E2A0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0978DB-B858-E0D1-D839-26DA371B65B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13E7F75-F7D2-A337-4755-01BBBC2242E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607ACD-4BD7-417D-245D-4529E66D315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14F2C-529C-4FAF-4F41-2E4E75650E9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831AD5-3BA8-F330-6E59-627CDF882B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1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60ADC2C-B38D-B11B-810B-940D54072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95B009F-B96E-9B87-61A7-F2485C2D90C3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9D97FD-6B83-C324-B6C0-BC4B9DC437F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CE785-2413-FA0C-B860-AACDD4563B5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49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/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4738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5620C-E318-6081-8191-5663CAC5B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A7BA208-73EA-A679-6B88-92AA338E9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AE41562-9F29-8A13-1F8A-24C71C710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B0AC912-A953-E8EF-BD52-91AB0941F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448E63-6014-5CF7-E254-77160B8C03B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A01B43A-F989-EE1E-CB92-54390803279F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DF84EE-4226-FF97-A4A7-887219E2691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2A6307-ACC4-F372-EB86-D0B167E8CBB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0A79A0-EDEE-72FB-1F13-86761E2A2B2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2" y="160686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2C39EC58-670A-CC4F-01B3-48DCEE995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CEC58178-EB13-A6E4-E8CE-7B29FFF30336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2B23BA-01CC-E06A-C6F8-9BDEBE333E0F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9438E3-7521-FEBB-59AD-3157B1499179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56186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C26AFA6-CA0D-92EA-F82F-9281E16DAA74}"/>
              </a:ext>
            </a:extLst>
          </p:cNvPr>
          <p:cNvGrpSpPr/>
          <p:nvPr/>
        </p:nvGrpSpPr>
        <p:grpSpPr>
          <a:xfrm>
            <a:off x="1039713" y="4329995"/>
            <a:ext cx="355600" cy="493407"/>
            <a:chOff x="1276060" y="5077968"/>
            <a:chExt cx="355600" cy="493407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1A3706D-3275-4F0F-6497-8DDD0B4330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AE3EBE9-EA2B-6D69-8596-27620963CEA3}"/>
                    </a:ext>
                  </a:extLst>
                </p:cNvPr>
                <p:cNvSpPr txBox="1"/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AE3EBE9-EA2B-6D69-8596-27620963C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80AEBF4-A32D-CD38-18F8-B10A2DD8051B}"/>
              </a:ext>
            </a:extLst>
          </p:cNvPr>
          <p:cNvGrpSpPr/>
          <p:nvPr/>
        </p:nvGrpSpPr>
        <p:grpSpPr>
          <a:xfrm>
            <a:off x="5601263" y="4338523"/>
            <a:ext cx="355600" cy="493407"/>
            <a:chOff x="1276060" y="5077968"/>
            <a:chExt cx="355600" cy="493407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B3588C5-3BDC-D606-42AD-5BE93585ED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AC5B932-E758-5992-296A-60CA8727C081}"/>
                    </a:ext>
                  </a:extLst>
                </p:cNvPr>
                <p:cNvSpPr txBox="1"/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AC5B932-E758-5992-296A-60CA8727C0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1CBC52-E5D9-1E69-FA5D-F30DA6A00609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1CBC52-E5D9-1E69-FA5D-F30DA6A00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blipFill>
                <a:blip r:embed="rId8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B32A25-E681-6091-3305-9F7C49C780BE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B32A25-E681-6091-3305-9F7C49C780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9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80BA7-2A53-3DDE-D984-D60958822DF2}"/>
                  </a:ext>
                </a:extLst>
              </p:cNvPr>
              <p:cNvSpPr txBox="1"/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80BA7-2A53-3DDE-D984-D60958822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8109A-A79F-B9C6-24FE-136E4974421B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8109A-A79F-B9C6-24FE-136E49744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0495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4319851"/>
              </p:ext>
            </p:extLst>
          </p:nvPr>
        </p:nvGraphicFramePr>
        <p:xfrm>
          <a:off x="449950" y="1397000"/>
          <a:ext cx="4122050" cy="4640580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60350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3708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51FE5-0852-4695-99CD-FCC0468566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Le Timbre : L'Effet du Filtre Interne RLC</a:t>
            </a:r>
            <a:endParaRPr lang="fr-FR" sz="2000" b="1" dirty="0">
              <a:latin typeface="+mj-lt"/>
            </a:endParaRP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674519" y="1741305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678716" y="4086405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00735B-3429-D74B-B914-FE6A013D94BE}"/>
              </a:ext>
            </a:extLst>
          </p:cNvPr>
          <p:cNvGrpSpPr/>
          <p:nvPr/>
        </p:nvGrpSpPr>
        <p:grpSpPr>
          <a:xfrm>
            <a:off x="5094965" y="5771618"/>
            <a:ext cx="3846097" cy="338554"/>
            <a:chOff x="4855751" y="4417981"/>
            <a:chExt cx="3846097" cy="33855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37119B-1DF1-C2FC-F71B-79302244948A}"/>
                </a:ext>
              </a:extLst>
            </p:cNvPr>
            <p:cNvSpPr txBox="1"/>
            <p:nvPr/>
          </p:nvSpPr>
          <p:spPr>
            <a:xfrm>
              <a:off x="4855751" y="4417981"/>
              <a:ext cx="38460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Ainsi on fera l’hypothèse :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/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531" r="-5102" b="-31250"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0" b="740"/>
          <a:stretch/>
        </p:blipFill>
        <p:spPr>
          <a:xfrm>
            <a:off x="4695507" y="1341342"/>
            <a:ext cx="4006341" cy="29603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/>
              <p:nvPr/>
            </p:nvSpPr>
            <p:spPr>
              <a:xfrm>
                <a:off x="5102463" y="4618936"/>
                <a:ext cx="384609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On observe :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𝑐𝑠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8219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𝐻𝑧</m:t>
                    </m:r>
                  </m:oMath>
                </a14:m>
                <a:r>
                  <a:rPr lang="fr-FR" sz="1600" dirty="0"/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fr-FR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4502 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𝐻𝑧</m:t>
                      </m:r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2463" y="4618936"/>
                <a:ext cx="3846097" cy="830997"/>
              </a:xfrm>
              <a:prstGeom prst="rect">
                <a:avLst/>
              </a:prstGeom>
              <a:blipFill>
                <a:blip r:embed="rId10"/>
                <a:stretch>
                  <a:fillRect l="-792" t="-2206" b="-441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8E4615ED-B94B-ADB7-D7F5-8C2A7D8E4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8236" y="548629"/>
            <a:ext cx="756000" cy="7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C09501B8-70A3-10A3-FBF9-13A837FE0D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4F6C346-A3C5-1522-6B30-1F651D83DCC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60213" y="1525636"/>
            <a:ext cx="1546490" cy="15944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F87AB88-97AD-E218-4D68-9EE41709C01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77164" y="4158670"/>
            <a:ext cx="1792861" cy="1109628"/>
          </a:xfrm>
          <a:prstGeom prst="rect">
            <a:avLst/>
          </a:prstGeom>
        </p:spPr>
      </p:pic>
      <p:sp>
        <p:nvSpPr>
          <p:cNvPr id="20" name="Double Bracket 19">
            <a:extLst>
              <a:ext uri="{FF2B5EF4-FFF2-40B4-BE49-F238E27FC236}">
                <a16:creationId xmlns:a16="http://schemas.microsoft.com/office/drawing/2014/main" id="{0E825AA0-19F2-F874-0523-5C4D47B5EC72}"/>
              </a:ext>
            </a:extLst>
          </p:cNvPr>
          <p:cNvSpPr/>
          <p:nvPr/>
        </p:nvSpPr>
        <p:spPr>
          <a:xfrm>
            <a:off x="5758180" y="3949559"/>
            <a:ext cx="1513840" cy="96520"/>
          </a:xfrm>
          <a:prstGeom prst="bracketPair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C9ED15B-E6BC-7AE9-95AF-28E49CCC9D24}"/>
              </a:ext>
            </a:extLst>
          </p:cNvPr>
          <p:cNvCxnSpPr>
            <a:cxnSpLocks/>
          </p:cNvCxnSpPr>
          <p:nvPr/>
        </p:nvCxnSpPr>
        <p:spPr>
          <a:xfrm>
            <a:off x="5758180" y="3992104"/>
            <a:ext cx="1513840" cy="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B7E9BBF-4D7A-402A-291A-6391E71D125F}"/>
              </a:ext>
            </a:extLst>
          </p:cNvPr>
          <p:cNvSpPr txBox="1"/>
          <p:nvPr/>
        </p:nvSpPr>
        <p:spPr>
          <a:xfrm>
            <a:off x="5731585" y="3704611"/>
            <a:ext cx="15670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solidFill>
                  <a:srgbClr val="C00000"/>
                </a:solidFill>
              </a:rPr>
              <a:t>Domaine accessible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6CD317A-162D-4C2E-A3A1-BB9FE37AA596}"/>
                  </a:ext>
                </a:extLst>
              </p:cNvPr>
              <p:cNvSpPr txBox="1"/>
              <p:nvPr/>
            </p:nvSpPr>
            <p:spPr>
              <a:xfrm>
                <a:off x="686202" y="3236552"/>
                <a:ext cx="3879973" cy="57252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6CD317A-162D-4C2E-A3A1-BB9FE37AA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202" y="3236552"/>
                <a:ext cx="3879973" cy="572529"/>
              </a:xfrm>
              <a:prstGeom prst="rect">
                <a:avLst/>
              </a:prstGeom>
              <a:blipFill>
                <a:blip r:embed="rId17"/>
                <a:stretch>
                  <a:fillRect t="-1031" b="-3093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1795EB2-D294-2EAC-F9B5-584738A630CE}"/>
                  </a:ext>
                </a:extLst>
              </p:cNvPr>
              <p:cNvSpPr txBox="1"/>
              <p:nvPr/>
            </p:nvSpPr>
            <p:spPr>
              <a:xfrm>
                <a:off x="436656" y="5568480"/>
                <a:ext cx="4280081" cy="591124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1795EB2-D294-2EAC-F9B5-584738A630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656" y="5568480"/>
                <a:ext cx="4280081" cy="591124"/>
              </a:xfrm>
              <a:prstGeom prst="rect">
                <a:avLst/>
              </a:prstGeom>
              <a:blipFill>
                <a:blip r:embed="rId18"/>
                <a:stretch>
                  <a:fillRect b="-1000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738F8C0-BDF7-8BA1-8605-E7492823E15C}"/>
              </a:ext>
            </a:extLst>
          </p:cNvPr>
          <p:cNvCxnSpPr>
            <a:cxnSpLocks/>
          </p:cNvCxnSpPr>
          <p:nvPr/>
        </p:nvCxnSpPr>
        <p:spPr>
          <a:xfrm flipV="1">
            <a:off x="7272020" y="1691640"/>
            <a:ext cx="0" cy="104267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DA1487E-703C-C235-C1D6-7329EC3075FA}"/>
              </a:ext>
            </a:extLst>
          </p:cNvPr>
          <p:cNvCxnSpPr>
            <a:cxnSpLocks/>
          </p:cNvCxnSpPr>
          <p:nvPr/>
        </p:nvCxnSpPr>
        <p:spPr>
          <a:xfrm flipV="1">
            <a:off x="5758180" y="1691640"/>
            <a:ext cx="0" cy="70866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0DA2B48-8402-60E2-5FEB-C330C7CB97E4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5758180" y="2945130"/>
            <a:ext cx="0" cy="1052689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79D34D3-446F-0DB0-1D34-CF2A9097C512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7272020" y="2945130"/>
            <a:ext cx="0" cy="1052689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7BEDA43-68F6-F3B9-DAF5-75E21BEE402F}"/>
              </a:ext>
            </a:extLst>
          </p:cNvPr>
          <p:cNvCxnSpPr>
            <a:cxnSpLocks/>
          </p:cNvCxnSpPr>
          <p:nvPr/>
        </p:nvCxnSpPr>
        <p:spPr>
          <a:xfrm flipV="1">
            <a:off x="5758180" y="2691765"/>
            <a:ext cx="0" cy="42545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261DFBF-9D0A-89FC-97EC-9581D6D0FCFB}"/>
              </a:ext>
            </a:extLst>
          </p:cNvPr>
          <p:cNvGrpSpPr/>
          <p:nvPr/>
        </p:nvGrpSpPr>
        <p:grpSpPr>
          <a:xfrm>
            <a:off x="7731933" y="4019554"/>
            <a:ext cx="355600" cy="404987"/>
            <a:chOff x="1291300" y="5077968"/>
            <a:chExt cx="355600" cy="404987"/>
          </a:xfrm>
        </p:grpSpPr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99029F23-2623-1CE1-1453-E8A6092F00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7781"/>
            </a:xfrm>
            <a:prstGeom prst="straightConnector1">
              <a:avLst/>
            </a:prstGeom>
            <a:ln w="28575">
              <a:solidFill>
                <a:schemeClr val="accent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B1C758FB-9ADD-7FD9-F4C4-6F11FE5EFF02}"/>
                    </a:ext>
                  </a:extLst>
                </p:cNvPr>
                <p:cNvSpPr txBox="1"/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𝒄𝒔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B1C758FB-9ADD-7FD9-F4C4-6F11FE5EFF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blipFill>
                  <a:blip r:embed="rId19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0F8BA76-AD12-0317-7181-C8D57AC87E40}"/>
              </a:ext>
            </a:extLst>
          </p:cNvPr>
          <p:cNvGrpSpPr/>
          <p:nvPr/>
        </p:nvGrpSpPr>
        <p:grpSpPr>
          <a:xfrm>
            <a:off x="7460904" y="4015605"/>
            <a:ext cx="355600" cy="404987"/>
            <a:chOff x="1291300" y="5077968"/>
            <a:chExt cx="355600" cy="404987"/>
          </a:xfrm>
        </p:grpSpPr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57354AFF-FB03-6625-CF50-F0D7AC778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7781"/>
            </a:xfrm>
            <a:prstGeom prst="straightConnector1">
              <a:avLst/>
            </a:prstGeom>
            <a:ln w="28575">
              <a:solidFill>
                <a:schemeClr val="accent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6321A97-1FF2-CB51-DC80-2936EB06D103}"/>
                    </a:ext>
                  </a:extLst>
                </p:cNvPr>
                <p:cNvSpPr txBox="1"/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𝒄𝒉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6321A97-1FF2-CB51-DC80-2936EB06D1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blipFill>
                  <a:blip r:embed="rId2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3AE18-E8FA-9866-4F0D-53EF93247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B9942EF-BA6A-E811-A938-A336D720D62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B36E811-ACBA-0C5B-4370-E5C77CB3C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51FE5-0852-4695-99CD-FCC0468566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94FF04D-64E1-3A72-F2AD-9554352CE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A0DE183-910D-04E4-7775-69057A122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C280A1-CB50-092D-7A03-4248FDC67B65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9784968-C09C-0277-D627-3116A5855DBE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F503AB-1604-30DE-6841-AD1D7A55066D}"/>
              </a:ext>
            </a:extLst>
          </p:cNvPr>
          <p:cNvSpPr txBox="1"/>
          <p:nvPr/>
        </p:nvSpPr>
        <p:spPr>
          <a:xfrm>
            <a:off x="1663699" y="3028890"/>
            <a:ext cx="58877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+mj-lt"/>
              </a:rPr>
              <a:t>Bode expérience</a:t>
            </a:r>
          </a:p>
        </p:txBody>
      </p:sp>
    </p:spTree>
    <p:extLst>
      <p:ext uri="{BB962C8B-B14F-4D97-AF65-F5344CB8AC3E}">
        <p14:creationId xmlns:p14="http://schemas.microsoft.com/office/powerpoint/2010/main" val="2453169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/>
              <p:nvPr/>
            </p:nvSpPr>
            <p:spPr>
              <a:xfrm>
                <a:off x="345439" y="4094922"/>
                <a:ext cx="4226561" cy="2041718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500" dirty="0"/>
                  <a:t>: Gradient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Espacement entre les deux bobinages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4094922"/>
                <a:ext cx="4226561" cy="2041718"/>
              </a:xfrm>
              <a:prstGeom prst="rect">
                <a:avLst/>
              </a:prstGeom>
              <a:blipFill>
                <a:blip r:embed="rId2"/>
                <a:stretch>
                  <a:fillRect l="-42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176A7DB-7D10-F9C8-D148-462CE4532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BC0CE4-5ED2-FFA6-9DD9-47F59A76BEC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4BB3D-1902-55C0-F635-6C138FD49C9A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Intérêt du Humbucker : L’annulation du bruit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4723076" y="1444616"/>
                <a:ext cx="4216714" cy="4692024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Supposons le champ uniforme (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sz="1600" dirty="0"/>
                  <a:t>)</a:t>
                </a:r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m:rPr>
                          <m:sty m:val="p"/>
                        </m:rPr>
                        <a:rPr lang="el-G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2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76" y="1444616"/>
                <a:ext cx="4216714" cy="4692024"/>
              </a:xfrm>
              <a:prstGeom prst="rect">
                <a:avLst/>
              </a:prstGeom>
              <a:blipFill>
                <a:blip r:embed="rId3"/>
                <a:stretch>
                  <a:fillRect l="-430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EAF15FF1-795D-844B-4386-4B6F1C8443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 descr="Image de ">
            <a:extLst>
              <a:ext uri="{FF2B5EF4-FFF2-40B4-BE49-F238E27FC236}">
                <a16:creationId xmlns:a16="http://schemas.microsoft.com/office/drawing/2014/main" id="{191D9128-D82D-813C-F887-06FAE524B6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621C569-9488-D1D8-6F63-F78A9BC1BA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345439" y="1362548"/>
            <a:ext cx="4216714" cy="2561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134B5E-E8E3-6A96-D065-7A23C530F75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4E452FE-0505-3E6D-01DF-7394C65569B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9EA9C-BFE4-D1D7-F4B5-C5F727119DA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325D940-13FD-EE6E-C1BF-2EAC1C5E3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27" b="5227"/>
          <a:stretch/>
        </p:blipFill>
        <p:spPr>
          <a:xfrm rot="162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1537CB8-8F77-3361-FCF5-324906ABEE21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A736D3F3-4A90-024E-7181-02CE60F392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8BC0333-7E48-61E5-E34B-B5B9D6FC36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58E57516-AB63-523C-BE76-D867BDF74920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485931D7-3E78-6020-17E4-F6EE0BB40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F8196E1-5107-A090-A02B-0D5B1F2BB0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0A460243-E926-285E-F365-3ADCE268F815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41694C6-9602-975D-1574-A99AFF4F26F2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3EF38A95-CE8D-9AAB-3C5D-AEF1A3BF8786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F8AF5930-1CB0-865F-98BE-5C2A56417834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8CE6734F-70E2-D8A4-4571-BC8F28893B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30D9B816-562D-5ADB-E2A2-1719360636CE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749D53FD-1AA2-3F26-4A50-75DD1D2E5A33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193E3723-B32C-DD06-A1E1-8606E420CF1E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Carte acquisition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EE8BFC5-F2AA-D1A3-380C-6809D26261A6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1694926" y="3207079"/>
            <a:ext cx="1085255" cy="726287"/>
          </a:xfrm>
          <a:prstGeom prst="bentConnector3">
            <a:avLst>
              <a:gd name="adj1" fmla="val 100554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B7AF251-442D-D41A-2407-64D8B6581262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729105-5D1B-BD47-7B86-BF65201E2C22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736A5C1-091B-7125-5BE6-37A8B606888F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9A269F26-F8FB-BD35-8D1C-147049D4D4C3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D4B400A-45D8-1178-C9C6-D74658FD0F29}"/>
              </a:ext>
            </a:extLst>
          </p:cNvPr>
          <p:cNvCxnSpPr>
            <a:cxnSpLocks/>
            <a:stCxn id="24" idx="0"/>
          </p:cNvCxnSpPr>
          <p:nvPr/>
        </p:nvCxnSpPr>
        <p:spPr>
          <a:xfrm rot="16200000" flipV="1">
            <a:off x="2713057" y="3277281"/>
            <a:ext cx="1077666" cy="578294"/>
          </a:xfrm>
          <a:prstGeom prst="bentConnector3">
            <a:avLst>
              <a:gd name="adj1" fmla="val 100733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B74BC81-0396-58E2-4F5F-25A19BB7D6D7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4427088E-AEAA-CC36-74E4-446F94028ABB}"/>
              </a:ext>
            </a:extLst>
          </p:cNvPr>
          <p:cNvCxnSpPr>
            <a:cxnSpLocks/>
            <a:stCxn id="161" idx="0"/>
          </p:cNvCxnSpPr>
          <p:nvPr/>
        </p:nvCxnSpPr>
        <p:spPr>
          <a:xfrm rot="16200000" flipV="1">
            <a:off x="3888275" y="3400986"/>
            <a:ext cx="1295657" cy="62397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867C14B-30E0-4446-17BE-4AFC90AB65A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B071C68-B138-3613-4C55-8E30F0742557}"/>
              </a:ext>
            </a:extLst>
          </p:cNvPr>
          <p:cNvSpPr txBox="1"/>
          <p:nvPr/>
        </p:nvSpPr>
        <p:spPr>
          <a:xfrm>
            <a:off x="6275119" y="1107708"/>
            <a:ext cx="266738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Utilisation d’une Bobine de Helmholtz pour simuler le champ parasite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AC37F92-0300-2194-BBFA-28D6CCCBFC3F}"/>
              </a:ext>
            </a:extLst>
          </p:cNvPr>
          <p:cNvCxnSpPr>
            <a:cxnSpLocks/>
          </p:cNvCxnSpPr>
          <p:nvPr/>
        </p:nvCxnSpPr>
        <p:spPr>
          <a:xfrm flipH="1">
            <a:off x="2166620" y="3065145"/>
            <a:ext cx="38404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E98F84A-A707-90F0-135B-B3D6DB6478CF}"/>
              </a:ext>
            </a:extLst>
          </p:cNvPr>
          <p:cNvCxnSpPr>
            <a:cxnSpLocks/>
          </p:cNvCxnSpPr>
          <p:nvPr/>
        </p:nvCxnSpPr>
        <p:spPr>
          <a:xfrm flipH="1">
            <a:off x="2051685" y="5819775"/>
            <a:ext cx="537365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B42A-F67C-37DA-4B93-CEC189DD8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D6BE3B3-CF90-9312-7CDD-34B8044C5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FCF18B8F-802B-CBB8-DB71-C08C52AB7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5C76452-AB80-6C93-7766-0177FAB30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72378E-94EC-CA30-3123-341386815D0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10BD67C-F5D3-4328-3EDC-45DEF370E9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C9B98E-4A27-144B-67A0-E7FDFF2FFAE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B0A67D-DF5B-EAD9-D1E2-5FB714259E4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878BD3-94E9-E96B-42B8-15C36299F8E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2" y="1599081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F5D6A96A-015C-F8F3-0246-AEAE5830EE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BC7C84B-F17E-89C1-7E0E-A275640C2D19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1A2245-5D6D-1C6B-68D8-13C2802881CA}"/>
              </a:ext>
            </a:extLst>
          </p:cNvPr>
          <p:cNvSpPr txBox="1"/>
          <p:nvPr/>
        </p:nvSpPr>
        <p:spPr>
          <a:xfrm>
            <a:off x="4966872" y="4895376"/>
            <a:ext cx="3744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A9E25B-EB1D-515E-AAC5-8D82416041ED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B98E12-D168-91E9-CCD7-3175583C232F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B98E12-D168-91E9-CCD7-3175583C2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27699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E5B405-599D-375B-6FE8-70EF74B75FE2}"/>
                  </a:ext>
                </a:extLst>
              </p:cNvPr>
              <p:cNvSpPr txBox="1"/>
              <p:nvPr/>
            </p:nvSpPr>
            <p:spPr>
              <a:xfrm>
                <a:off x="5444308" y="5286983"/>
                <a:ext cx="282512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E5B405-599D-375B-6FE8-70EF74B75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4308" y="5286983"/>
                <a:ext cx="2825127" cy="276999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45665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BC1AD-D662-AF41-F177-355DE4841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07612C5-4A26-0B28-2BD4-3A8F0CAD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915AB5E-C31B-83F0-8756-B39AD42ED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CA1D53-FBAC-07F1-1634-E7200C0F9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518319-7113-8BB5-7B76-0997B476402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6605B48-9A4A-8845-4E30-DB8A70A03D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5308E7-3108-B4A2-CB1B-A36615B3F1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17FE39-D06B-92A8-3C3B-37F7B7C457A9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6EB4B2E-5AB8-F070-9D49-1607376C313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1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9B84C60E-3F0A-1DF5-2981-48DCA486B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7558A09-C574-4E88-7830-77728A6B8D54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1915B1B-F1D5-4122-3435-158E00B22FD1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84CB12-A218-367D-D503-E7BB7299F61B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51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61485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0C72B-4961-E843-949D-D5A434BCC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0364E0E-5649-AE35-0AC0-F1FCF641F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5B8C822-0F98-D84B-3809-245893B60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6BF90DF-3B52-AA5F-9259-44C014051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25C9A0-5F84-B1AE-6321-6B11D5DC683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27659626-0619-3AC7-5309-304086C2FEE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73A919-E9F2-05A2-8AC0-9DB60D2289C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D57718-A78C-9B18-06A6-9CD65E45442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7871DE-93D7-4BEE-BCFB-64C2A6C97ED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2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1CE37557-6835-FC1A-A047-49DCA85C3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E43EEBF-FD28-3EDB-5D3E-7BCD2D845D69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101092-E189-42FD-8276-6B9177C12D1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87A465-B075-231C-C729-919AE474ABF1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C0C4B50-A414-2854-3E94-6C7A6B485D4A}"/>
              </a:ext>
            </a:extLst>
          </p:cNvPr>
          <p:cNvGrpSpPr/>
          <p:nvPr/>
        </p:nvGrpSpPr>
        <p:grpSpPr>
          <a:xfrm>
            <a:off x="1136233" y="4388291"/>
            <a:ext cx="355600" cy="480773"/>
            <a:chOff x="1364960" y="5087464"/>
            <a:chExt cx="355600" cy="480773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45B248C-9F2B-4A82-1217-FDEAB90894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87464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86703F9-C8A6-971D-A56A-17465B005E72}"/>
                    </a:ext>
                  </a:extLst>
                </p:cNvPr>
                <p:cNvSpPr txBox="1"/>
                <p:nvPr/>
              </p:nvSpPr>
              <p:spPr>
                <a:xfrm>
                  <a:off x="1364960" y="5291238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86703F9-C8A6-971D-A56A-17465B005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4960" y="5291238"/>
                  <a:ext cx="355600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D9E11F0-6038-7ECF-3624-A516FA41FD8D}"/>
              </a:ext>
            </a:extLst>
          </p:cNvPr>
          <p:cNvGrpSpPr/>
          <p:nvPr/>
        </p:nvGrpSpPr>
        <p:grpSpPr>
          <a:xfrm>
            <a:off x="869533" y="4388291"/>
            <a:ext cx="355600" cy="477500"/>
            <a:chOff x="1168945" y="5077968"/>
            <a:chExt cx="355600" cy="47750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90F5EE3-AC94-07B1-0969-F4DD1499EA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0052DC2-AB36-3A6F-DE90-E8CEF1D27628}"/>
                    </a:ext>
                  </a:extLst>
                </p:cNvPr>
                <p:cNvSpPr txBox="1"/>
                <p:nvPr/>
              </p:nvSpPr>
              <p:spPr>
                <a:xfrm>
                  <a:off x="1168945" y="5278469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𝑩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0052DC2-AB36-3A6F-DE90-E8CEF1D276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8945" y="5278469"/>
                  <a:ext cx="35560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EC259C6-64C0-168F-36C9-54FE6408BBD6}"/>
              </a:ext>
            </a:extLst>
          </p:cNvPr>
          <p:cNvGrpSpPr/>
          <p:nvPr/>
        </p:nvGrpSpPr>
        <p:grpSpPr>
          <a:xfrm>
            <a:off x="5732163" y="4456819"/>
            <a:ext cx="355600" cy="355726"/>
            <a:chOff x="1383175" y="5087464"/>
            <a:chExt cx="355600" cy="355726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3CAC429-FD1D-C325-B41D-36624A5198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87464"/>
              <a:ext cx="0" cy="2005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F4A7186-993A-225D-5396-4B0346545C8A}"/>
                    </a:ext>
                  </a:extLst>
                </p:cNvPr>
                <p:cNvSpPr txBox="1"/>
                <p:nvPr/>
              </p:nvSpPr>
              <p:spPr>
                <a:xfrm>
                  <a:off x="1383175" y="5166191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F4A7186-993A-225D-5396-4B0346545C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83175" y="5166191"/>
                  <a:ext cx="355600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F086CF9-0534-511C-4648-563B667A2FE3}"/>
              </a:ext>
            </a:extLst>
          </p:cNvPr>
          <p:cNvGrpSpPr/>
          <p:nvPr/>
        </p:nvGrpSpPr>
        <p:grpSpPr>
          <a:xfrm>
            <a:off x="5447248" y="4456819"/>
            <a:ext cx="355600" cy="350076"/>
            <a:chOff x="1168945" y="5077968"/>
            <a:chExt cx="355600" cy="350076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236CCFA-14E0-7327-2696-A71CEC06DA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00501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29BF031-BA2F-C477-FF52-CFA5881BD58C}"/>
                    </a:ext>
                  </a:extLst>
                </p:cNvPr>
                <p:cNvSpPr txBox="1"/>
                <p:nvPr/>
              </p:nvSpPr>
              <p:spPr>
                <a:xfrm>
                  <a:off x="1168945" y="5151045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𝑩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29BF031-BA2F-C477-FF52-CFA5881BD5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8945" y="5151045"/>
                  <a:ext cx="355600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68437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E352-AE06-E004-5CFF-5213AB19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DE84039-989B-A9DF-DE7E-BBEA6F1F2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26E8735-7952-61D9-6518-78B8FC4E9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B6BDE8C-2386-2827-B841-0C05C3231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C704F-376A-076F-1D3C-A56EAD281681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ACE4722-9215-C766-B596-8EAAE3E1C7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3C72D6-A81E-FE9B-6FA7-B4EAF9D122A2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950637-E92B-0416-5A3E-89E64BB56A4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A22C6F-ECD4-170F-2DD9-944B78FD0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390254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47 </m:t>
                    </m:r>
                    <m:r>
                      <m:rPr>
                        <m:nor/>
                      </m:rPr>
                      <a:rPr lang="fr-FR" sz="1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6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6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0005 </m:t>
                    </m:r>
                    <m:r>
                      <m:rPr>
                        <m:nor/>
                      </m:rPr>
                      <a:rPr lang="fr-FR" sz="1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6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Soit une atténuation 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=69,3 </m:t>
                      </m:r>
                      <m:r>
                        <m:rPr>
                          <m:nor/>
                        </m:rPr>
                        <a:rPr lang="fr-FR" sz="16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 …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,34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6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Soit une atténuation 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6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Soit un écart 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blipFill>
                <a:blip r:embed="rId4"/>
                <a:stretch>
                  <a:fillRect l="-42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4DA0E7B2-A0B5-774E-ADC9-6B74F1FE1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7125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E793CCD1-BC05-C48A-528F-31F09C1437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5814154"/>
              </p:ext>
            </p:extLst>
          </p:nvPr>
        </p:nvGraphicFramePr>
        <p:xfrm>
          <a:off x="345439" y="1304229"/>
          <a:ext cx="3988021" cy="1040472"/>
        </p:xfrm>
        <a:graphic>
          <a:graphicData uri="http://schemas.openxmlformats.org/drawingml/2006/table">
            <a:tbl>
              <a:tblPr firstCol="1" bandRow="1">
                <a:tableStyleId>{E8034E78-7F5D-4C2E-B375-FC64B27BC917}</a:tableStyleId>
              </a:tblPr>
              <a:tblGrid>
                <a:gridCol w="417875">
                  <a:extLst>
                    <a:ext uri="{9D8B030D-6E8A-4147-A177-3AD203B41FA5}">
                      <a16:colId xmlns:a16="http://schemas.microsoft.com/office/drawing/2014/main" val="263126449"/>
                    </a:ext>
                  </a:extLst>
                </a:gridCol>
                <a:gridCol w="3570146">
                  <a:extLst>
                    <a:ext uri="{9D8B030D-6E8A-4147-A177-3AD203B41FA5}">
                      <a16:colId xmlns:a16="http://schemas.microsoft.com/office/drawing/2014/main" val="839898551"/>
                    </a:ext>
                  </a:extLst>
                </a:gridCol>
              </a:tblGrid>
              <a:tr h="520236">
                <a:tc>
                  <a:txBody>
                    <a:bodyPr/>
                    <a:lstStyle/>
                    <a:p>
                      <a:endParaRPr lang="fr-FR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2000" dirty="0">
                          <a:solidFill>
                            <a:schemeClr val="tx1"/>
                          </a:solidFill>
                        </a:rPr>
                        <a:t>Réjection du bruit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176701"/>
                  </a:ext>
                </a:extLst>
              </a:tr>
              <a:tr h="520236">
                <a:tc>
                  <a:txBody>
                    <a:bodyPr/>
                    <a:lstStyle/>
                    <a:p>
                      <a:endParaRPr lang="fr-FR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>
                          <a:solidFill>
                            <a:schemeClr val="tx1"/>
                          </a:solidFill>
                        </a:rPr>
                        <a:t>Perte d'aigus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9046180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188F378-BB87-FA6A-6251-64979DCB4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9AD768-93B1-9342-3E71-9F51C81E308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6609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629154-4AC2-A8C2-E930-45F35D77F15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Conclusion : Les avantages du Humbucker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6D41862-C3BD-3DBC-9C94-5AA0370D94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90996" y="1259130"/>
            <a:ext cx="4261436" cy="3551196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F2F953B-836F-E7C2-70CC-78CACDF0DE60}"/>
                  </a:ext>
                </a:extLst>
              </p:cNvPr>
              <p:cNvSpPr/>
              <p:nvPr/>
            </p:nvSpPr>
            <p:spPr>
              <a:xfrm>
                <a:off x="345439" y="2412380"/>
                <a:ext cx="3769892" cy="2446636"/>
              </a:xfrm>
              <a:prstGeom prst="rect">
                <a:avLst/>
              </a:prstGeom>
              <a:ln w="38100">
                <a:noFill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2000" b="1" dirty="0">
                    <a:solidFill>
                      <a:schemeClr val="tx1"/>
                    </a:solidFill>
                  </a:rPr>
                  <a:t>Taux de rejection Théorique</a:t>
                </a:r>
                <a:r>
                  <a:rPr lang="fr-FR" sz="2000" dirty="0">
                    <a:solidFill>
                      <a:schemeClr val="tx1"/>
                    </a:solidFill>
                  </a:rPr>
                  <a:t>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20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0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fr-FR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9,3 </m:t>
                      </m:r>
                      <m:r>
                        <m:rPr>
                          <m:nor/>
                        </m:rPr>
                        <a:rPr lang="fr-FR" sz="20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20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2000" dirty="0">
                  <a:solidFill>
                    <a:srgbClr val="C00000"/>
                  </a:solidFill>
                </a:endParaRPr>
              </a:p>
              <a:p>
                <a:r>
                  <a:rPr lang="fr-FR" sz="2000" b="1" dirty="0">
                    <a:solidFill>
                      <a:schemeClr val="tx1"/>
                    </a:solidFill>
                    <a:effectLst/>
                  </a:rPr>
                  <a:t>CMRR Expérience</a:t>
                </a:r>
                <a:r>
                  <a:rPr lang="fr-FR" sz="2000" dirty="0">
                    <a:solidFill>
                      <a:schemeClr val="tx1"/>
                    </a:solidFill>
                    <a:effectLst/>
                  </a:rPr>
                  <a:t>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0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𝐸𝑥𝑝</m:t>
                          </m:r>
                        </m:sub>
                      </m:sSub>
                      <m:r>
                        <a:rPr lang="fr-FR" sz="2000" b="0" i="0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000" b="0" i="0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… </m:t>
                      </m:r>
                      <m:r>
                        <a:rPr lang="fr-FR" sz="2000" b="0" i="1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200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2000" dirty="0">
                  <a:solidFill>
                    <a:schemeClr val="tx1"/>
                  </a:solidFill>
                  <a:effectLst/>
                </a:endParaRPr>
              </a:p>
              <a:p>
                <a:endParaRPr lang="fr-FR" sz="2000" dirty="0">
                  <a:solidFill>
                    <a:schemeClr val="tx1"/>
                  </a:solidFill>
                </a:endParaRPr>
              </a:p>
              <a:p>
                <a:r>
                  <a:rPr lang="fr-FR" sz="2000" b="1" dirty="0">
                    <a:solidFill>
                      <a:schemeClr val="tx1"/>
                    </a:solidFill>
                  </a:rPr>
                  <a:t>Ecart</a:t>
                </a:r>
                <a:r>
                  <a:rPr lang="fr-FR" sz="2000" dirty="0">
                    <a:solidFill>
                      <a:schemeClr val="tx1"/>
                    </a:solidFill>
                  </a:rPr>
                  <a:t> : </a:t>
                </a:r>
                <a14:m>
                  <m:oMath xmlns:m="http://schemas.openxmlformats.org/officeDocument/2006/math">
                    <m:r>
                      <a:rPr lang="fr-FR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fr-FR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=…%</m:t>
                    </m:r>
                  </m:oMath>
                </a14:m>
                <a:endParaRPr lang="fr-FR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F2F953B-836F-E7C2-70CC-78CACDF0DE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412380"/>
                <a:ext cx="3769892" cy="2446636"/>
              </a:xfrm>
              <a:prstGeom prst="rect">
                <a:avLst/>
              </a:prstGeom>
              <a:blipFill>
                <a:blip r:embed="rId4"/>
                <a:stretch>
                  <a:fillRect l="-1780" b="-49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6FD4BA35-28DE-508F-D6F8-32FD341E6668}"/>
              </a:ext>
            </a:extLst>
          </p:cNvPr>
          <p:cNvSpPr/>
          <p:nvPr/>
        </p:nvSpPr>
        <p:spPr>
          <a:xfrm>
            <a:off x="345439" y="4947987"/>
            <a:ext cx="3988021" cy="1313270"/>
          </a:xfrm>
          <a:prstGeom prst="rect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Limites du modèle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Champs non uniformes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Asymétrie de bobinage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Bruit ‘’idéal’’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0AE21-7821-5E6E-9797-BF0EC7810EF3}"/>
              </a:ext>
            </a:extLst>
          </p:cNvPr>
          <p:cNvSpPr/>
          <p:nvPr/>
        </p:nvSpPr>
        <p:spPr>
          <a:xfrm>
            <a:off x="4590996" y="4947987"/>
            <a:ext cx="4242439" cy="1313270"/>
          </a:xfrm>
          <a:prstGeom prst="rect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Ouvertures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Micros actifs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Coil Splitting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Cage de Faraday</a:t>
            </a:r>
          </a:p>
        </p:txBody>
      </p:sp>
      <p:pic>
        <p:nvPicPr>
          <p:cNvPr id="27" name="Graphic 26" descr="Checkmark with solid fill">
            <a:extLst>
              <a:ext uri="{FF2B5EF4-FFF2-40B4-BE49-F238E27FC236}">
                <a16:creationId xmlns:a16="http://schemas.microsoft.com/office/drawing/2014/main" id="{D99A51E7-3D0B-8253-2D16-64312A3C98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8630" y="1371908"/>
            <a:ext cx="360000" cy="360000"/>
          </a:xfrm>
          <a:prstGeom prst="rect">
            <a:avLst/>
          </a:prstGeom>
        </p:spPr>
      </p:pic>
      <p:pic>
        <p:nvPicPr>
          <p:cNvPr id="29" name="Graphic 28" descr="Warning with solid fill">
            <a:extLst>
              <a:ext uri="{FF2B5EF4-FFF2-40B4-BE49-F238E27FC236}">
                <a16:creationId xmlns:a16="http://schemas.microsoft.com/office/drawing/2014/main" id="{6B4124EA-6CE4-E9E7-7DE3-CA530B1AD10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6090" y="189573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84E12-A3D4-483C-B4F4-BA9C69BCF303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267143"/>
            <a:ext cx="8472118" cy="501675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Démonstration du modèle Théorique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Dimensionnement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Réponse fréquentielle du micro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Modèle Théorique &amp; Résultats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Initialisation du programme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 utiles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Calcul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Calcul et affichage des 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Enregistrement des courbes</a:t>
            </a:r>
          </a:p>
          <a:p>
            <a:pPr marL="342900" indent="-342900">
              <a:buSzPct val="110000"/>
              <a:buFont typeface="+mj-lt"/>
              <a:buAutoNum type="arabicPeriod"/>
            </a:pPr>
            <a:endParaRPr lang="fr-FR" sz="1600" dirty="0"/>
          </a:p>
          <a:p>
            <a:pPr>
              <a:buSzPct val="110000"/>
            </a:pP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21D99-B286-452E-A7DB-5723289662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[1]</a:t>
            </a:r>
            <a:r>
              <a:rPr lang="en-GB" sz="1600" dirty="0"/>
              <a:t> Matthew W. Hill, "The hidden history of the electric guitar", in </a:t>
            </a:r>
            <a:r>
              <a:rPr lang="en-GB" sz="1600" i="1" dirty="0"/>
              <a:t>Quand la </a:t>
            </a:r>
            <a:r>
              <a:rPr lang="en-GB" sz="1600" i="1" dirty="0" err="1"/>
              <a:t>guitare</a:t>
            </a:r>
            <a:r>
              <a:rPr lang="en-GB" sz="1600" i="1" dirty="0"/>
              <a:t> [s']</a:t>
            </a:r>
            <a:r>
              <a:rPr lang="en-GB" sz="1600" i="1" dirty="0" err="1"/>
              <a:t>électrise</a:t>
            </a:r>
            <a:r>
              <a:rPr lang="en-GB" sz="1600" i="1" dirty="0"/>
              <a:t> !</a:t>
            </a:r>
            <a:r>
              <a:rPr lang="en-GB" sz="1600" dirty="0"/>
              <a:t>, Benoît Navarret et al. (dir.), Sorbonne Université Presses, pp. 33-61, 2022.</a:t>
            </a:r>
          </a:p>
          <a:p>
            <a:endParaRPr lang="fr-FR" sz="1600" dirty="0"/>
          </a:p>
          <a:p>
            <a:r>
              <a:rPr lang="en-GB" sz="1600" b="1" dirty="0"/>
              <a:t>[2]</a:t>
            </a:r>
            <a:r>
              <a:rPr lang="en-GB" sz="1600" dirty="0"/>
              <a:t> Dan Carson, "Investigation of the Electromagnetic Properties of Electric Guitar Pickups", </a:t>
            </a:r>
            <a:r>
              <a:rPr lang="en-GB" sz="1600" i="1" dirty="0"/>
              <a:t>University of Illinois at Urbana-Champaign</a:t>
            </a:r>
            <a:r>
              <a:rPr lang="en-GB" sz="1600" dirty="0"/>
              <a:t>, Physics Senior Thesis, 2009.</a:t>
            </a:r>
          </a:p>
          <a:p>
            <a:endParaRPr lang="fr-FR" sz="1600" dirty="0"/>
          </a:p>
          <a:p>
            <a:r>
              <a:rPr lang="en-GB" sz="1600" b="1" dirty="0"/>
              <a:t>[3]</a:t>
            </a:r>
            <a:r>
              <a:rPr lang="en-GB" sz="1600" dirty="0"/>
              <a:t> P. Perov, W. Johnson et N. Perova-Mello, "The physics of guitar string vibrations", </a:t>
            </a:r>
            <a:r>
              <a:rPr lang="en-GB" sz="1600" i="1" dirty="0"/>
              <a:t>American Journal of Physics</a:t>
            </a:r>
            <a:r>
              <a:rPr lang="en-GB" sz="1600" dirty="0"/>
              <a:t>, vol. 84, no. 1, pp. 38–43, 2016.</a:t>
            </a:r>
          </a:p>
          <a:p>
            <a:endParaRPr lang="fr-FR" sz="1600" dirty="0"/>
          </a:p>
          <a:p>
            <a:r>
              <a:rPr lang="en-GB" sz="1600" b="1" dirty="0"/>
              <a:t>[4]</a:t>
            </a:r>
            <a:r>
              <a:rPr lang="en-GB" sz="1600" dirty="0"/>
              <a:t> S. W. Duncan, "Interview With Seth Lover", </a:t>
            </a:r>
            <a:r>
              <a:rPr lang="en-GB" sz="1600" i="1" dirty="0"/>
              <a:t>Seymour Duncan</a:t>
            </a:r>
            <a:r>
              <a:rPr lang="en-GB" sz="1600" dirty="0"/>
              <a:t>.  </a:t>
            </a:r>
            <a:r>
              <a:rPr lang="fr-FR" sz="1600" dirty="0"/>
              <a:t>[En ligne]. Disponible sur: </a:t>
            </a:r>
            <a:br>
              <a:rPr lang="fr-FR" sz="1600" dirty="0"/>
            </a:br>
            <a:r>
              <a:rPr lang="fr-FR" sz="1600" u="sng" dirty="0">
                <a:hlinkClick r:id="rId3"/>
              </a:rPr>
              <a:t>https://www.seymourduncan.com/blog/latest-updates/seymour-w-duncans-interview-with-seth-lover</a:t>
            </a:r>
            <a:br>
              <a:rPr lang="fr-FR" sz="1600" u="sng" dirty="0"/>
            </a:br>
            <a:endParaRPr lang="fr-FR" sz="1600" dirty="0"/>
          </a:p>
          <a:p>
            <a:r>
              <a:rPr lang="en-GB" sz="1600" b="1" dirty="0"/>
              <a:t>[5]</a:t>
            </a:r>
            <a:r>
              <a:rPr lang="en-GB" sz="1600" dirty="0"/>
              <a:t> A. Novak, B. </a:t>
            </a:r>
            <a:r>
              <a:rPr lang="en-GB" sz="1600" dirty="0" err="1"/>
              <a:t>Lihoreau</a:t>
            </a:r>
            <a:r>
              <a:rPr lang="en-GB" sz="1600" dirty="0"/>
              <a:t>, E. Brasseur, P. Lotton et L. Simon, "Guitar Pickup: Measurement of its Two-Dimensional Nonlinear Function", </a:t>
            </a:r>
            <a:r>
              <a:rPr lang="en-GB" sz="1600" i="1" dirty="0"/>
              <a:t>Journal of the Audio Engineering Society</a:t>
            </a:r>
            <a:r>
              <a:rPr lang="en-GB" sz="1600" dirty="0"/>
              <a:t>, vol. 68, no. 3, pp. 184-192, 2020.</a:t>
            </a:r>
          </a:p>
          <a:p>
            <a:endParaRPr lang="fr-FR" sz="1600" dirty="0"/>
          </a:p>
          <a:p>
            <a:r>
              <a:rPr lang="en-GB" sz="1600" b="1" dirty="0"/>
              <a:t>[6]</a:t>
            </a:r>
            <a:r>
              <a:rPr lang="en-GB" sz="1600" dirty="0"/>
              <a:t> R. </a:t>
            </a:r>
            <a:r>
              <a:rPr lang="en-GB" sz="1600" dirty="0" err="1"/>
              <a:t>Giampiccolo</a:t>
            </a:r>
            <a:r>
              <a:rPr lang="en-GB" sz="1600" dirty="0"/>
              <a:t>, A. Bernardini et A. Sarti, "Virtualization of Guitar Pickups Through Circuit Inversion", </a:t>
            </a:r>
            <a:r>
              <a:rPr lang="en-GB" sz="1600" i="1" dirty="0"/>
              <a:t>IEEE Signal Processing Letters</a:t>
            </a:r>
            <a:r>
              <a:rPr lang="en-GB" sz="1600" dirty="0"/>
              <a:t>, vol. 30, pp. 458-462, 2023.</a:t>
            </a:r>
            <a:endParaRPr lang="fr-FR" sz="1600" dirty="0"/>
          </a:p>
          <a:p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846BF-CC36-4637-B77F-1434B6C115C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7515-E170-4E96-88A3-B2AEEEE72CA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3.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7FF0E-E82D-4BC6-A5AF-2CCD3BFAB86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 Modèle Théorique : Micro Simple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728E8-F3EB-4A49-BD7E-075E891755D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4.2 Modèle Théorique : Micro Humbucker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F6506-B042-45FD-9C13-B8BCADB4CAB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4.3 Modèle Théorique : Action d’un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0303D-8033-40E1-8BC4-B61F537925B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FC8A0-1BFF-4314-911E-340C670C843A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 Réponse fréquentielle du micro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280495"/>
            <a:ext cx="3464559" cy="33313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6" t="3209" r="6927" b="41032"/>
          <a:stretch>
            <a:fillRect/>
          </a:stretch>
        </p:blipFill>
        <p:spPr>
          <a:xfrm>
            <a:off x="340579" y="1280495"/>
            <a:ext cx="3464560" cy="50151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Graphic 3" descr="Right pointing backhand index with solid fill">
            <a:extLst>
              <a:ext uri="{FF2B5EF4-FFF2-40B4-BE49-F238E27FC236}">
                <a16:creationId xmlns:a16="http://schemas.microsoft.com/office/drawing/2014/main" id="{194DCAD5-73FD-55DA-C924-EC1909F0A2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31677" y="5265172"/>
            <a:ext cx="360000" cy="36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9085686-D57F-38D7-7542-740C25BAC881}"/>
              </a:ext>
            </a:extLst>
          </p:cNvPr>
          <p:cNvSpPr txBox="1"/>
          <p:nvPr/>
        </p:nvSpPr>
        <p:spPr>
          <a:xfrm>
            <a:off x="4591677" y="5278801"/>
            <a:ext cx="32454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Données récoltées avec </a:t>
            </a:r>
            <a:r>
              <a:rPr lang="fr-FR" sz="1600" dirty="0" err="1"/>
              <a:t>LTSpice</a:t>
            </a:r>
            <a:endParaRPr lang="fr-FR" sz="1600" dirty="0"/>
          </a:p>
        </p:txBody>
      </p:sp>
      <p:sp>
        <p:nvSpPr>
          <p:cNvPr id="13" name="AutoShape 2" descr="¿Qué es LTspice, para qué sirve y cómo funciona?">
            <a:extLst>
              <a:ext uri="{FF2B5EF4-FFF2-40B4-BE49-F238E27FC236}">
                <a16:creationId xmlns:a16="http://schemas.microsoft.com/office/drawing/2014/main" id="{E07F733D-9340-15B4-B245-198FB2C94E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028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5626FB59-DD46-52CF-056C-0FB4C4D59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6796" y="1620111"/>
            <a:ext cx="1005133" cy="1005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20008" r="8298" b="4779"/>
          <a:stretch>
            <a:fillRect/>
          </a:stretch>
        </p:blipFill>
        <p:spPr>
          <a:xfrm>
            <a:off x="438390" y="1390254"/>
            <a:ext cx="3617103" cy="47937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6A158-421D-4008-880F-7D1D00BBFC5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6.2.1 Initialisation du programme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15B571-6E75-E471-0443-E271469ED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3556" r="8298" b="79928"/>
          <a:stretch>
            <a:fillRect/>
          </a:stretch>
        </p:blipFill>
        <p:spPr>
          <a:xfrm>
            <a:off x="4196240" y="1386473"/>
            <a:ext cx="3617103" cy="10526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3A8C4-76B7-4E36-8364-8723DF8F83C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6.2.2 Fonctions du modèle théorique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8" t="5311" r="3306" b="5110"/>
          <a:stretch>
            <a:fillRect/>
          </a:stretch>
        </p:blipFill>
        <p:spPr>
          <a:xfrm>
            <a:off x="345440" y="1390254"/>
            <a:ext cx="7235687" cy="4533468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/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6451665-5910-D729-CFA8-47544067DF6E}"/>
              </a:ext>
            </a:extLst>
          </p:cNvPr>
          <p:cNvCxnSpPr>
            <a:cxnSpLocks/>
            <a:stCxn id="11" idx="0"/>
          </p:cNvCxnSpPr>
          <p:nvPr/>
        </p:nvCxnSpPr>
        <p:spPr>
          <a:xfrm rot="16200000" flipV="1">
            <a:off x="5395996" y="2368785"/>
            <a:ext cx="265236" cy="122742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64F5A72-15A5-5002-01B8-114755A0140D}"/>
              </a:ext>
            </a:extLst>
          </p:cNvPr>
          <p:cNvCxnSpPr>
            <a:cxnSpLocks/>
            <a:stCxn id="11" idx="2"/>
          </p:cNvCxnSpPr>
          <p:nvPr/>
        </p:nvCxnSpPr>
        <p:spPr>
          <a:xfrm rot="5400000">
            <a:off x="5374453" y="3196097"/>
            <a:ext cx="308323" cy="1227427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/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78E1945-9155-3DB3-7037-B1602D1043D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739640" y="1929937"/>
            <a:ext cx="17526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/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p>
                            <m:sSup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59B3C6D-8A61-2DFD-BDE8-19177307F10C}"/>
              </a:ext>
            </a:extLst>
          </p:cNvPr>
          <p:cNvCxnSpPr>
            <a:cxnSpLocks/>
            <a:stCxn id="27" idx="3"/>
          </p:cNvCxnSpPr>
          <p:nvPr/>
        </p:nvCxnSpPr>
        <p:spPr>
          <a:xfrm flipH="1" flipV="1">
            <a:off x="6965722" y="4511040"/>
            <a:ext cx="459622" cy="922851"/>
          </a:xfrm>
          <a:prstGeom prst="bentConnector4">
            <a:avLst>
              <a:gd name="adj1" fmla="val -109421"/>
              <a:gd name="adj2" fmla="val 10034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C8F1F-CA6E-4AA4-AB0D-19E4A1285E7B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6.2.3 Fonctions utiles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45440" y="420890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5" t="4171" r="5415" b="7335"/>
          <a:stretch>
            <a:fillRect/>
          </a:stretch>
        </p:blipFill>
        <p:spPr>
          <a:xfrm>
            <a:off x="345440" y="1121470"/>
            <a:ext cx="5057030" cy="501517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84B4A61-21FB-3BA6-382D-D04369E875AE}"/>
              </a:ext>
            </a:extLst>
          </p:cNvPr>
          <p:cNvGrpSpPr/>
          <p:nvPr/>
        </p:nvGrpSpPr>
        <p:grpSpPr>
          <a:xfrm>
            <a:off x="5538464" y="1866041"/>
            <a:ext cx="3773176" cy="390000"/>
            <a:chOff x="462961" y="1234846"/>
            <a:chExt cx="3773176" cy="3900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689B63-8C05-D3E6-A850-35A9891AFEAF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Lire les fichiers de données</a:t>
              </a:r>
            </a:p>
          </p:txBody>
        </p:sp>
        <p:pic>
          <p:nvPicPr>
            <p:cNvPr id="12" name="Graphic 11" descr="Right pointing backhand index with solid fill">
              <a:extLst>
                <a:ext uri="{FF2B5EF4-FFF2-40B4-BE49-F238E27FC236}">
                  <a16:creationId xmlns:a16="http://schemas.microsoft.com/office/drawing/2014/main" id="{1E217E7C-CB68-25F4-158B-5117E1F96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4C5C41-EAC8-D9C5-99A7-F3114A3F70DF}"/>
              </a:ext>
            </a:extLst>
          </p:cNvPr>
          <p:cNvGrpSpPr/>
          <p:nvPr/>
        </p:nvGrpSpPr>
        <p:grpSpPr>
          <a:xfrm>
            <a:off x="5538756" y="3818902"/>
            <a:ext cx="3773176" cy="390000"/>
            <a:chOff x="462961" y="1234846"/>
            <a:chExt cx="3773176" cy="3900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BD2BE30-D43A-A299-8DAD-FA4FD7BB24B6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Enregistrer des courbes</a:t>
              </a:r>
            </a:p>
          </p:txBody>
        </p:sp>
        <p:pic>
          <p:nvPicPr>
            <p:cNvPr id="15" name="Graphic 14" descr="Right pointing backhand index with solid fill">
              <a:extLst>
                <a:ext uri="{FF2B5EF4-FFF2-40B4-BE49-F238E27FC236}">
                  <a16:creationId xmlns:a16="http://schemas.microsoft.com/office/drawing/2014/main" id="{542F2087-09B0-14A9-1D2E-F88626DDB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6A6464-700D-FC5E-2BFF-7B6D2548DC70}"/>
              </a:ext>
            </a:extLst>
          </p:cNvPr>
          <p:cNvGrpSpPr/>
          <p:nvPr/>
        </p:nvGrpSpPr>
        <p:grpSpPr>
          <a:xfrm>
            <a:off x="5538756" y="5576763"/>
            <a:ext cx="3773176" cy="390000"/>
            <a:chOff x="462961" y="1234846"/>
            <a:chExt cx="3773176" cy="3900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69E0A1B-278C-C69A-F73E-79F6A8EC24AE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Normaliser les spectres</a:t>
              </a:r>
            </a:p>
          </p:txBody>
        </p:sp>
        <p:pic>
          <p:nvPicPr>
            <p:cNvPr id="19" name="Graphic 18" descr="Right pointing backhand index with solid fill">
              <a:extLst>
                <a:ext uri="{FF2B5EF4-FFF2-40B4-BE49-F238E27FC236}">
                  <a16:creationId xmlns:a16="http://schemas.microsoft.com/office/drawing/2014/main" id="{C54953FD-2FA5-AB1D-79BD-1C7E61E52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6.2.4 Calcul du modèle théorique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16" t="6791" r="6952" b="6061"/>
          <a:stretch>
            <a:fillRect/>
          </a:stretch>
        </p:blipFill>
        <p:spPr>
          <a:xfrm>
            <a:off x="420982" y="1216549"/>
            <a:ext cx="4512364" cy="47469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FE18E-DFA5-AD92-64CD-8F15A6B09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41620D0-6239-2CC1-BCE0-CA2A27BE6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16FB689-AC83-BD94-1929-F1DBF98D8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32BB74E-1DC2-8EF0-178F-2374878D1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EE406F-22C3-7649-16AE-8AC16C29DEC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DA525A0-9D68-105C-C49D-63990A85062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826590-8C71-35E8-49E9-4F811BC9CF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6.2.5 Calcul et affichages des FFT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3D9334-81B8-14A3-6CA8-E5833BD3EEA4}"/>
              </a:ext>
            </a:extLst>
          </p:cNvPr>
          <p:cNvSpPr/>
          <p:nvPr/>
        </p:nvSpPr>
        <p:spPr>
          <a:xfrm>
            <a:off x="345440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F93D5E62-2E0F-5E65-93A5-F253C2766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4AF0C6-537E-6B20-F5DF-10EB348DED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5" t="5070" r="6046" b="5465"/>
          <a:stretch>
            <a:fillRect/>
          </a:stretch>
        </p:blipFill>
        <p:spPr>
          <a:xfrm>
            <a:off x="347871" y="1200647"/>
            <a:ext cx="4731025" cy="47230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914834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0FE1-1155-4C02-8CE9-A13358F57627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6.2.6 Enregistrements des courbes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4C0BDD-0950-1C96-9E1F-B436E55AD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91" t="7203" r="4143" b="7943"/>
          <a:stretch>
            <a:fillRect/>
          </a:stretch>
        </p:blipFill>
        <p:spPr>
          <a:xfrm>
            <a:off x="345440" y="1390254"/>
            <a:ext cx="7696863" cy="4223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3006</Words>
  <Application>Microsoft Office PowerPoint</Application>
  <PresentationFormat>On-screen Show (4:3)</PresentationFormat>
  <Paragraphs>534</Paragraphs>
  <Slides>32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420</cp:revision>
  <dcterms:created xsi:type="dcterms:W3CDTF">2025-06-09T15:35:56Z</dcterms:created>
  <dcterms:modified xsi:type="dcterms:W3CDTF">2025-11-30T15:26:10Z</dcterms:modified>
</cp:coreProperties>
</file>