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5"/>
  </p:notesMasterIdLst>
  <p:sldIdLst>
    <p:sldId id="256" r:id="rId2"/>
    <p:sldId id="265" r:id="rId3"/>
    <p:sldId id="278" r:id="rId4"/>
    <p:sldId id="319" r:id="rId5"/>
    <p:sldId id="320" r:id="rId6"/>
    <p:sldId id="329" r:id="rId7"/>
    <p:sldId id="327" r:id="rId8"/>
    <p:sldId id="328" r:id="rId9"/>
    <p:sldId id="333" r:id="rId10"/>
    <p:sldId id="289" r:id="rId11"/>
    <p:sldId id="324" r:id="rId12"/>
    <p:sldId id="313" r:id="rId13"/>
    <p:sldId id="315" r:id="rId14"/>
    <p:sldId id="325" r:id="rId15"/>
    <p:sldId id="326" r:id="rId16"/>
    <p:sldId id="318" r:id="rId17"/>
    <p:sldId id="330" r:id="rId18"/>
    <p:sldId id="332" r:id="rId19"/>
    <p:sldId id="303" r:id="rId20"/>
    <p:sldId id="271" r:id="rId21"/>
    <p:sldId id="302" r:id="rId22"/>
    <p:sldId id="272" r:id="rId23"/>
    <p:sldId id="277" r:id="rId24"/>
    <p:sldId id="304" r:id="rId25"/>
    <p:sldId id="305" r:id="rId26"/>
    <p:sldId id="311" r:id="rId27"/>
    <p:sldId id="275" r:id="rId28"/>
    <p:sldId id="306" r:id="rId29"/>
    <p:sldId id="307" r:id="rId30"/>
    <p:sldId id="308" r:id="rId31"/>
    <p:sldId id="309" r:id="rId32"/>
    <p:sldId id="317" r:id="rId33"/>
    <p:sldId id="310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04/12/2025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D29C-73BD-360B-8B2C-1EB9D41D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A5AA6-FF0C-E4C0-1234-51AD20A0D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D2513-005E-DAD7-8232-7A0A28F4FE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B70D1-4C8C-6971-8430-6A40F1062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4911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3E781-A695-B7FC-6DB0-CF193AF07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0711D-7ECF-FC28-ED1A-352D619C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95E39-2033-A503-F7AC-707428C1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9D26-802A-7E8E-AC92-2233882F20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9648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1384A-A5F4-2113-DF8F-E79B5DD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30884-3750-BE92-616E-082925A1A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C2C82-C17B-FACB-9DA2-613B40E5F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47E1A-7E78-B66A-6F8A-857ABC46C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67197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68223-7DFD-0D21-D7EC-62C40A069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80178-C29F-9ED1-AB2E-1A23E724E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F3AB22-4785-6D82-DB41-E09BD8C82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8C176-7525-AF6F-7EA6-FDB2EF8C9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44762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ED6C1-DF65-4C3D-95EC-D70608AAA3C4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B86B1-2FD3-4CA5-8239-1A8209C0D6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28CC-344B-4F9F-8F06-DCB25AAD3016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31E3-653D-4AE6-839A-BD9352A17844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04262-3B58-4BC7-82BE-F2E68D572EE5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077A-C1FF-4E90-A404-D2B4139D3617}" type="datetimeyyyy">
              <a:rPr lang="fr-FR" smtClean="0"/>
              <a:t>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6374-B7DC-4A12-A9D3-587D4C7D23D9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7AAD380C-BC49-4A61-A36F-E19219AC949E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07B14-DD9D-4F73-A9C3-3F01A5176729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51351-39B1-4FD8-B856-385FF7D378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3F95-9B7C-43C3-8C95-9BB94EDB1255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180C59D-6665-4BCA-9876-120F568073D9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4.jpe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3.png"/><Relationship Id="rId5" Type="http://schemas.openxmlformats.org/officeDocument/2006/relationships/image" Target="../media/image25.png"/><Relationship Id="rId10" Type="http://schemas.openxmlformats.org/officeDocument/2006/relationships/image" Target="../media/image22.png"/><Relationship Id="rId4" Type="http://schemas.openxmlformats.org/officeDocument/2006/relationships/image" Target="../media/image18.jpe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8.png"/><Relationship Id="rId7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18.jpeg"/><Relationship Id="rId4" Type="http://schemas.openxmlformats.org/officeDocument/2006/relationships/image" Target="../media/image29.png"/><Relationship Id="rId9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34.png"/><Relationship Id="rId18" Type="http://schemas.openxmlformats.org/officeDocument/2006/relationships/image" Target="../media/image340.png"/><Relationship Id="rId3" Type="http://schemas.openxmlformats.org/officeDocument/2006/relationships/image" Target="../media/image4.jpeg"/><Relationship Id="rId12" Type="http://schemas.openxmlformats.org/officeDocument/2006/relationships/image" Target="../media/image18.jpeg"/><Relationship Id="rId17" Type="http://schemas.openxmlformats.org/officeDocument/2006/relationships/image" Target="../media/image331.png"/><Relationship Id="rId2" Type="http://schemas.openxmlformats.org/officeDocument/2006/relationships/notesSlide" Target="../notesSlides/notesSlide5.xml"/><Relationship Id="rId16" Type="http://schemas.microsoft.com/office/2007/relationships/hdphoto" Target="../media/hdphoto4.wdp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3.png"/><Relationship Id="rId15" Type="http://schemas.openxmlformats.org/officeDocument/2006/relationships/image" Target="../media/image35.png"/><Relationship Id="rId10" Type="http://schemas.openxmlformats.org/officeDocument/2006/relationships/image" Target="../media/image292.png"/><Relationship Id="rId19" Type="http://schemas.openxmlformats.org/officeDocument/2006/relationships/image" Target="../media/image350.png"/><Relationship Id="rId9" Type="http://schemas.openxmlformats.org/officeDocument/2006/relationships/image" Target="../media/image32.png"/><Relationship Id="rId14" Type="http://schemas.microsoft.com/office/2007/relationships/hdphoto" Target="../media/hdphoto3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3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0.png"/><Relationship Id="rId5" Type="http://schemas.openxmlformats.org/officeDocument/2006/relationships/image" Target="../media/image42.png"/><Relationship Id="rId4" Type="http://schemas.openxmlformats.org/officeDocument/2006/relationships/image" Target="../media/image1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3" Type="http://schemas.openxmlformats.org/officeDocument/2006/relationships/image" Target="../media/image45.png"/><Relationship Id="rId7" Type="http://schemas.openxmlformats.org/officeDocument/2006/relationships/image" Target="../media/image4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5" Type="http://schemas.openxmlformats.org/officeDocument/2006/relationships/image" Target="../media/image46.png"/><Relationship Id="rId4" Type="http://schemas.openxmlformats.org/officeDocument/2006/relationships/image" Target="../media/image18.jpeg"/><Relationship Id="rId9" Type="http://schemas.openxmlformats.org/officeDocument/2006/relationships/image" Target="../media/image46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9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5.svg"/><Relationship Id="rId4" Type="http://schemas.openxmlformats.org/officeDocument/2006/relationships/image" Target="../media/image28.png"/><Relationship Id="rId9" Type="http://schemas.openxmlformats.org/officeDocument/2006/relationships/image" Target="../media/image5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61.jpeg"/><Relationship Id="rId10" Type="http://schemas.openxmlformats.org/officeDocument/2006/relationships/image" Target="../media/image330.png"/><Relationship Id="rId9" Type="http://schemas.openxmlformats.org/officeDocument/2006/relationships/image" Target="../media/image60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825FA-2A0E-4654-B5F2-5D1E0EB7A14E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D9057-C298-4BD1-8DA1-CF9133EC625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826A0B5-B36F-12CC-DCD6-3CA441DB4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302" y="1528936"/>
            <a:ext cx="2143308" cy="3904140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2C20-E639-4967-B5FE-0B42AF0B709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>
            <a:grpSpLocks noChangeAspect="1"/>
          </p:cNvGrpSpPr>
          <p:nvPr/>
        </p:nvGrpSpPr>
        <p:grpSpPr>
          <a:xfrm>
            <a:off x="345440" y="1591032"/>
            <a:ext cx="4008672" cy="3600000"/>
            <a:chOff x="-34756" y="1586102"/>
            <a:chExt cx="4415870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15870" cy="3960146"/>
              <a:chOff x="-34756" y="1586102"/>
              <a:chExt cx="4415870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43124" y="2567897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3268687"/>
                <a:ext cx="1252330" cy="846112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31428" y="3654767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A79489E-50A5-06BD-6981-9FF739B9AAEE}"/>
              </a:ext>
            </a:extLst>
          </p:cNvPr>
          <p:cNvSpPr txBox="1"/>
          <p:nvPr/>
        </p:nvSpPr>
        <p:spPr>
          <a:xfrm>
            <a:off x="7918934" y="1263971"/>
            <a:ext cx="769917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Corde</a:t>
            </a:r>
            <a:endParaRPr lang="fr-FR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DF16F212-2D35-2285-3A01-27A02321EE74}"/>
              </a:ext>
            </a:extLst>
          </p:cNvPr>
          <p:cNvCxnSpPr>
            <a:cxnSpLocks/>
            <a:stCxn id="26" idx="1"/>
          </p:cNvCxnSpPr>
          <p:nvPr/>
        </p:nvCxnSpPr>
        <p:spPr>
          <a:xfrm rot="10800000" flipV="1">
            <a:off x="6587490" y="1433248"/>
            <a:ext cx="1331444" cy="692732"/>
          </a:xfrm>
          <a:prstGeom prst="bentConnector3">
            <a:avLst>
              <a:gd name="adj1" fmla="val 9993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D6A1CE3-569F-3154-9A83-0E76D56821B9}"/>
              </a:ext>
            </a:extLst>
          </p:cNvPr>
          <p:cNvSpPr txBox="1"/>
          <p:nvPr/>
        </p:nvSpPr>
        <p:spPr>
          <a:xfrm>
            <a:off x="7696236" y="2954930"/>
            <a:ext cx="1262418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Bobinage</a:t>
            </a:r>
            <a:endParaRPr lang="fr-FR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C75E5E3-2DE5-E40D-9382-A241C54E694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7078980" y="3124206"/>
            <a:ext cx="617256" cy="1692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5BE92E9-5C79-727E-BB70-09E65636081F}"/>
              </a:ext>
            </a:extLst>
          </p:cNvPr>
          <p:cNvSpPr txBox="1"/>
          <p:nvPr/>
        </p:nvSpPr>
        <p:spPr>
          <a:xfrm>
            <a:off x="7679006" y="5186003"/>
            <a:ext cx="1262418" cy="584775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Aimant permanent</a:t>
            </a:r>
            <a:endParaRPr lang="fr-FR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AC1E49F-36E8-617E-B0EF-93B7031D727C}"/>
              </a:ext>
            </a:extLst>
          </p:cNvPr>
          <p:cNvCxnSpPr>
            <a:cxnSpLocks/>
            <a:stCxn id="31" idx="1"/>
          </p:cNvCxnSpPr>
          <p:nvPr/>
        </p:nvCxnSpPr>
        <p:spPr>
          <a:xfrm rot="10800000">
            <a:off x="6587490" y="5186003"/>
            <a:ext cx="1091516" cy="292389"/>
          </a:xfrm>
          <a:prstGeom prst="bentConnector3">
            <a:avLst>
              <a:gd name="adj1" fmla="val 9991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Arrow: Up-Down 49">
            <a:extLst>
              <a:ext uri="{FF2B5EF4-FFF2-40B4-BE49-F238E27FC236}">
                <a16:creationId xmlns:a16="http://schemas.microsoft.com/office/drawing/2014/main" id="{28E87508-B2CD-2363-D00E-B7F0B97EE1C8}"/>
              </a:ext>
            </a:extLst>
          </p:cNvPr>
          <p:cNvSpPr/>
          <p:nvPr/>
        </p:nvSpPr>
        <p:spPr>
          <a:xfrm>
            <a:off x="5398936" y="2003729"/>
            <a:ext cx="214685" cy="692732"/>
          </a:xfrm>
          <a:prstGeom prst="upDown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33686D-0658-1EA5-0F37-56E867EEABE3}"/>
              </a:ext>
            </a:extLst>
          </p:cNvPr>
          <p:cNvSpPr txBox="1"/>
          <p:nvPr/>
        </p:nvSpPr>
        <p:spPr>
          <a:xfrm>
            <a:off x="4495503" y="2195215"/>
            <a:ext cx="903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Vibration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10289-7A05-49F9-F6A3-3BFA81E222FA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E153C-A5D8-32FC-C04C-F5D7F57C459B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  <a:endParaRPr lang="fr-FR" sz="2000" b="1" dirty="0"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2AE35-C24B-947A-A987-D72795A00587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9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4E1DA-0708-6BB7-8163-17A2D45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9B2CEE-41FF-C746-EA91-262125395C72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 b="-21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0B1A863-B9FB-167D-958E-E5AA2131C18B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750F447-6525-CA83-0585-85AF819F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F599232-9FD5-7011-F119-9C82BCA87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7D510A6-64BB-2407-6922-B25331A4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68881F-75AB-FF24-0015-F057E0980D1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83AF9ED-C531-F2FE-51D4-C9BA0CECA59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A4AC1-846C-D686-72A3-C427BF4774CF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5A9AFB-601F-0D10-6B20-7E1434391FC0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9153C86-2D6D-B7E8-5814-0ADB2F484D75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8B7B27-694D-2B8B-F270-01C5A792D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D676E03A-D2C5-7FFA-C144-6FD0FE645F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047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D15FC3-A370-29D3-C94A-AE247888BF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913210B-6F96-8414-571E-2D9D9641430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E6975-0BD3-4765-200E-FBE90D4D3DF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1ECDDAB-FE4C-91AF-6FF8-D226B63E5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6" r="21836"/>
          <a:stretch/>
        </p:blipFill>
        <p:spPr>
          <a:xfrm rot="54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F7DA611-55F3-BB6C-D4A0-D9C1F2AEF5CE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0BCD9E6-C4E3-D97F-20FF-6F9EA36D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C2B9229-FCB0-59A8-E169-B2D6B3D6E2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863A744-4C8C-0983-0F2F-B1C0A26874B1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7628D95F-B909-97AA-8AF0-643319E2F9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45B078D-1A98-6ED5-C628-4915E681F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10D5804D-1ABD-3B0D-5696-340BE1BEEAD0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DCF24A4-79F4-DF8B-FFC5-11778BB7DAF9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A6BF2A2-C0F1-2942-5728-DDBFD830C702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76C911C-AADC-DF2F-6546-6986C34D1D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16D688EF-71CF-65FC-053D-74766E760A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E94460FF-3F74-8475-92BD-E1C12440F8BF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0B5C525-B1D9-149D-1C21-32C54BFA8514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F557102-C995-BF1E-B2AD-0FB65CA044AD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FD8045D-A5C6-31D5-E782-69BF3A4B9DB1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2179289" y="2851706"/>
            <a:ext cx="956264" cy="15660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0896C0D-356A-1130-A43B-569F02015153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4D3656-6CBC-8BF0-2BAB-244DCEE4D29A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ED1E97F8-A8FA-1050-B6EB-F4BACD4BECC6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5A12C03A-AC35-78C7-64F8-0CD2464AEE27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69283860-83DC-3D09-17EF-7EDAFCDDC462}"/>
              </a:ext>
            </a:extLst>
          </p:cNvPr>
          <p:cNvCxnSpPr>
            <a:cxnSpLocks/>
            <a:stCxn id="24" idx="0"/>
          </p:cNvCxnSpPr>
          <p:nvPr/>
        </p:nvCxnSpPr>
        <p:spPr>
          <a:xfrm rot="5400000" flipH="1" flipV="1">
            <a:off x="3311878" y="3584610"/>
            <a:ext cx="749811" cy="2914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E958A863-0B06-BFF6-31E6-930BF8318979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58973885-A9D0-29A7-7952-86F03749463E}"/>
              </a:ext>
            </a:extLst>
          </p:cNvPr>
          <p:cNvCxnSpPr>
            <a:cxnSpLocks/>
            <a:stCxn id="161" idx="0"/>
          </p:cNvCxnSpPr>
          <p:nvPr/>
        </p:nvCxnSpPr>
        <p:spPr>
          <a:xfrm rot="5400000" flipH="1" flipV="1">
            <a:off x="4491728" y="4004439"/>
            <a:ext cx="71272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0530469-2330-1521-AA8F-292130B8591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10234F-0B86-F53A-22E1-8DDBBD9E5AF4}"/>
              </a:ext>
            </a:extLst>
          </p:cNvPr>
          <p:cNvSpPr txBox="1"/>
          <p:nvPr/>
        </p:nvSpPr>
        <p:spPr>
          <a:xfrm>
            <a:off x="6275119" y="1107708"/>
            <a:ext cx="26673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206AAC-BE44-239A-2F98-44FDDFB5C148}"/>
              </a:ext>
            </a:extLst>
          </p:cNvPr>
          <p:cNvCxnSpPr>
            <a:cxnSpLocks/>
          </p:cNvCxnSpPr>
          <p:nvPr/>
        </p:nvCxnSpPr>
        <p:spPr>
          <a:xfrm flipH="1" flipV="1">
            <a:off x="3257550" y="2699385"/>
            <a:ext cx="2249805" cy="13220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4065" y="5817870"/>
            <a:ext cx="538127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0978DB-B858-E0D1-D839-26DA371B65B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13E7F75-F7D2-A337-4755-01BBBC2242E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07ACD-4BD7-417D-245D-4529E66D31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5620C-E318-6081-8191-5663CAC5B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A7BA208-73EA-A679-6B88-92AA338E9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AE41562-9F29-8A13-1F8A-24C71C71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B0AC912-A953-E8EF-BD52-91AB0941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48E63-6014-5CF7-E254-77160B8C03B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A01B43A-F989-EE1E-CB92-54390803279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F84EE-4226-FF97-A4A7-887219E2691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2A6307-ACC4-F372-EB86-D0B167E8CB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0A79A0-EDEE-72FB-1F13-86761E2A2B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3" y="160686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2C39EC58-670A-CC4F-01B3-48DCEE995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EC58178-EB13-A6E4-E8CE-7B29FFF30336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2B23BA-01CC-E06A-C6F8-9BDEBE333E0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9438E3-7521-FEBB-59AD-3157B149917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686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C26AFA6-CA0D-92EA-F82F-9281E16DAA74}"/>
              </a:ext>
            </a:extLst>
          </p:cNvPr>
          <p:cNvGrpSpPr/>
          <p:nvPr/>
        </p:nvGrpSpPr>
        <p:grpSpPr>
          <a:xfrm>
            <a:off x="1039713" y="4329995"/>
            <a:ext cx="355600" cy="493407"/>
            <a:chOff x="1276060" y="5077968"/>
            <a:chExt cx="355600" cy="49340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A3706D-3275-4F0F-6497-8DDD0B4330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0AEBF4-A32D-CD38-18F8-B10A2DD8051B}"/>
              </a:ext>
            </a:extLst>
          </p:cNvPr>
          <p:cNvGrpSpPr/>
          <p:nvPr/>
        </p:nvGrpSpPr>
        <p:grpSpPr>
          <a:xfrm>
            <a:off x="5601263" y="4338523"/>
            <a:ext cx="355600" cy="493407"/>
            <a:chOff x="1276060" y="5077968"/>
            <a:chExt cx="355600" cy="493407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B3588C5-3BDC-D606-42AD-5BE93585E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8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9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495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6116114-727D-00CA-E09B-62BF1F91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2E767F-BD51-8D0B-9969-6D70F4B5BC8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DDA1D4A-27B7-6F42-A30C-F2706A65D33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7F364B-68DD-FD60-EC7D-1F4E45FFE1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/>
              <a:t>La Source du Signal : De l'Onde à la FEM</a:t>
            </a:r>
            <a:endParaRPr lang="fr-FR" sz="20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0547-D387-B897-E456-A805D590BB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84849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𝐻𝐵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𝑆𝐶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84849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CA3093A-8816-005B-D928-3B44B655C8E2}"/>
              </a:ext>
            </a:extLst>
          </p:cNvPr>
          <p:cNvSpPr/>
          <p:nvPr/>
        </p:nvSpPr>
        <p:spPr>
          <a:xfrm>
            <a:off x="5958063" y="2389099"/>
            <a:ext cx="2840497" cy="3573164"/>
          </a:xfrm>
          <a:prstGeom prst="rect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400" dirty="0">
                <a:solidFill>
                  <a:schemeClr val="tx1"/>
                </a:solidFill>
              </a:rPr>
              <a:t>On voit apparaitre les </a:t>
            </a:r>
            <a:r>
              <a:rPr lang="fr-FR" sz="1400" b="1" u="sng" dirty="0">
                <a:solidFill>
                  <a:schemeClr val="tx1"/>
                </a:solidFill>
              </a:rPr>
              <a:t>nœuds de vibrations</a:t>
            </a:r>
            <a:r>
              <a:rPr lang="fr-FR" sz="1400" dirty="0">
                <a:solidFill>
                  <a:schemeClr val="tx1"/>
                </a:solidFill>
              </a:rPr>
              <a:t> :</a:t>
            </a:r>
          </a:p>
          <a:p>
            <a:endParaRPr lang="fr-FR" sz="1400" b="1" u="sng" dirty="0">
              <a:solidFill>
                <a:schemeClr val="tx1"/>
              </a:solidFill>
            </a:endParaRPr>
          </a:p>
          <a:p>
            <a:endParaRPr lang="fr-FR" sz="1400" b="1" u="sng" dirty="0">
              <a:solidFill>
                <a:schemeClr val="tx1"/>
              </a:solidFill>
            </a:endParaRPr>
          </a:p>
          <a:p>
            <a:r>
              <a:rPr lang="fr-FR" sz="1400" b="1" dirty="0">
                <a:solidFill>
                  <a:schemeClr val="tx1"/>
                </a:solidFill>
              </a:rPr>
              <a:t>à 440 Hz : </a:t>
            </a:r>
            <a:r>
              <a:rPr lang="fr-FR" sz="1400" dirty="0">
                <a:solidFill>
                  <a:schemeClr val="tx1"/>
                </a:solidFill>
              </a:rPr>
              <a:t>SingleCoil</a:t>
            </a:r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endParaRPr lang="fr-FR" sz="1400" b="1" dirty="0">
              <a:solidFill>
                <a:srgbClr val="C00000"/>
              </a:solidFill>
            </a:endParaRPr>
          </a:p>
          <a:p>
            <a:r>
              <a:rPr lang="fr-FR" sz="1400" b="1" dirty="0">
                <a:solidFill>
                  <a:schemeClr val="tx1"/>
                </a:solidFill>
              </a:rPr>
              <a:t>à 660 Hz : </a:t>
            </a:r>
            <a:r>
              <a:rPr lang="fr-FR" sz="1400" dirty="0">
                <a:solidFill>
                  <a:schemeClr val="tx1"/>
                </a:solidFill>
              </a:rPr>
              <a:t>Humbucker</a:t>
            </a: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  <a:p>
            <a:endParaRPr lang="fr-FR" sz="1400" b="1" dirty="0">
              <a:solidFill>
                <a:schemeClr val="tx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A1651DA-3FA0-EAA6-50EF-BE78F2EFD1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14237" b="24239"/>
          <a:stretch>
            <a:fillRect/>
          </a:stretch>
        </p:blipFill>
        <p:spPr>
          <a:xfrm>
            <a:off x="7172960" y="4166710"/>
            <a:ext cx="875318" cy="30368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EBA155B-6CC1-7813-6376-34A4360797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14237" b="24239"/>
          <a:stretch>
            <a:fillRect/>
          </a:stretch>
        </p:blipFill>
        <p:spPr>
          <a:xfrm>
            <a:off x="7172960" y="5529556"/>
            <a:ext cx="875318" cy="303682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AC9ABA02-3086-E570-7717-10BDBCFC0131}"/>
              </a:ext>
            </a:extLst>
          </p:cNvPr>
          <p:cNvGrpSpPr/>
          <p:nvPr/>
        </p:nvGrpSpPr>
        <p:grpSpPr>
          <a:xfrm>
            <a:off x="6026320" y="4896735"/>
            <a:ext cx="2708911" cy="584583"/>
            <a:chOff x="6017895" y="3591098"/>
            <a:chExt cx="2708911" cy="584583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C45E8F06-9FD8-D2C6-1C63-753C029391C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63" r="3312"/>
            <a:stretch>
              <a:fillRect/>
            </a:stretch>
          </p:blipFill>
          <p:spPr>
            <a:xfrm>
              <a:off x="6017895" y="3591098"/>
              <a:ext cx="1803774" cy="584583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7CDF507B-069A-2F40-7115-935D7ADF4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64" r="49606"/>
            <a:stretch>
              <a:fillRect/>
            </a:stretch>
          </p:blipFill>
          <p:spPr>
            <a:xfrm>
              <a:off x="7821670" y="3591098"/>
              <a:ext cx="905136" cy="584583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8A12E2F-6440-0C66-3EED-338F2F4CBA71}"/>
              </a:ext>
            </a:extLst>
          </p:cNvPr>
          <p:cNvGrpSpPr/>
          <p:nvPr/>
        </p:nvGrpSpPr>
        <p:grpSpPr>
          <a:xfrm>
            <a:off x="6028225" y="3603428"/>
            <a:ext cx="2708910" cy="584583"/>
            <a:chOff x="6020605" y="3603428"/>
            <a:chExt cx="2708910" cy="58458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35C51C9-3E55-4ED4-F52C-75C8B9D22A57}"/>
                </a:ext>
              </a:extLst>
            </p:cNvPr>
            <p:cNvGrpSpPr/>
            <p:nvPr/>
          </p:nvGrpSpPr>
          <p:grpSpPr>
            <a:xfrm>
              <a:off x="6473173" y="3603428"/>
              <a:ext cx="2256342" cy="584583"/>
              <a:chOff x="6017895" y="3591098"/>
              <a:chExt cx="2256342" cy="584583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63" r="3312"/>
              <a:stretch>
                <a:fillRect/>
              </a:stretch>
            </p:blipFill>
            <p:spPr>
              <a:xfrm>
                <a:off x="6017895" y="3591098"/>
                <a:ext cx="1803774" cy="584583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611F04AF-6208-0FD2-2CE4-38437FDC11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64" r="72921"/>
              <a:stretch>
                <a:fillRect/>
              </a:stretch>
            </p:blipFill>
            <p:spPr>
              <a:xfrm>
                <a:off x="7821670" y="3591098"/>
                <a:ext cx="452567" cy="584583"/>
              </a:xfrm>
              <a:prstGeom prst="rect">
                <a:avLst/>
              </a:prstGeom>
            </p:spPr>
          </p:pic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59FA1D13-9BC4-EF92-FF84-0FA06FAB2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26924" r="49606"/>
            <a:stretch>
              <a:fillRect/>
            </a:stretch>
          </p:blipFill>
          <p:spPr>
            <a:xfrm>
              <a:off x="6020605" y="3603428"/>
              <a:ext cx="455576" cy="584583"/>
            </a:xfrm>
            <a:prstGeom prst="rect">
              <a:avLst/>
            </a:prstGeom>
          </p:spPr>
        </p:pic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89C2B76-14A7-352C-3558-94E72D3645FB}"/>
              </a:ext>
            </a:extLst>
          </p:cNvPr>
          <p:cNvCxnSpPr>
            <a:cxnSpLocks/>
          </p:cNvCxnSpPr>
          <p:nvPr/>
        </p:nvCxnSpPr>
        <p:spPr>
          <a:xfrm flipV="1">
            <a:off x="7385685" y="3528060"/>
            <a:ext cx="0" cy="982980"/>
          </a:xfrm>
          <a:prstGeom prst="line">
            <a:avLst/>
          </a:prstGeom>
          <a:ln w="9525" cap="flat" cmpd="sng" algn="ctr">
            <a:solidFill>
              <a:srgbClr val="C0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F8BBEE0-1D85-AECC-01F9-428B6D92ECA9}"/>
              </a:ext>
            </a:extLst>
          </p:cNvPr>
          <p:cNvCxnSpPr>
            <a:cxnSpLocks/>
          </p:cNvCxnSpPr>
          <p:nvPr/>
        </p:nvCxnSpPr>
        <p:spPr>
          <a:xfrm flipV="1">
            <a:off x="7831999" y="4896735"/>
            <a:ext cx="0" cy="982980"/>
          </a:xfrm>
          <a:prstGeom prst="line">
            <a:avLst/>
          </a:prstGeom>
          <a:ln w="9525" cap="flat" cmpd="sng" algn="ctr">
            <a:solidFill>
              <a:srgbClr val="C0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9851"/>
              </p:ext>
            </p:extLst>
          </p:nvPr>
        </p:nvGraphicFramePr>
        <p:xfrm>
          <a:off x="449950" y="1397000"/>
          <a:ext cx="4122050" cy="4640580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6035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3708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Le Timbre : L'Effet du Filtre Interne RLC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674519" y="1741305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678716" y="4086405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5" y="5771618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/>
        </p:blipFill>
        <p:spPr>
          <a:xfrm>
            <a:off x="4695507" y="1341342"/>
            <a:ext cx="4006341" cy="29603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𝑐𝑠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8219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r>
                  <a:rPr lang="fr-FR" sz="1600" dirty="0"/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4502 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blipFill>
                <a:blip r:embed="rId10"/>
                <a:stretch>
                  <a:fillRect l="-792" t="-2206" b="-44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8E4615ED-B94B-ADB7-D7F5-8C2A7D8E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9501B8-70A3-10A3-FBF9-13A837FE0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4F6C346-A3C5-1522-6B30-1F651D83DCC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60213" y="1525636"/>
            <a:ext cx="1546490" cy="15944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87AB88-97AD-E218-4D68-9EE41709C01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77164" y="4158670"/>
            <a:ext cx="1792861" cy="1109628"/>
          </a:xfrm>
          <a:prstGeom prst="rect">
            <a:avLst/>
          </a:prstGeom>
        </p:spPr>
      </p:pic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0E825AA0-19F2-F874-0523-5C4D47B5EC72}"/>
              </a:ext>
            </a:extLst>
          </p:cNvPr>
          <p:cNvSpPr/>
          <p:nvPr/>
        </p:nvSpPr>
        <p:spPr>
          <a:xfrm>
            <a:off x="5758180" y="3949559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9ED15B-E6BC-7AE9-95AF-28E49CCC9D24}"/>
              </a:ext>
            </a:extLst>
          </p:cNvPr>
          <p:cNvCxnSpPr>
            <a:cxnSpLocks/>
          </p:cNvCxnSpPr>
          <p:nvPr/>
        </p:nvCxnSpPr>
        <p:spPr>
          <a:xfrm>
            <a:off x="5758180" y="3992104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B7E9BBF-4D7A-402A-291A-6391E71D125F}"/>
              </a:ext>
            </a:extLst>
          </p:cNvPr>
          <p:cNvSpPr txBox="1"/>
          <p:nvPr/>
        </p:nvSpPr>
        <p:spPr>
          <a:xfrm>
            <a:off x="5731585" y="3704611"/>
            <a:ext cx="15670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solidFill>
                  <a:srgbClr val="C00000"/>
                </a:solidFill>
              </a:rPr>
              <a:t>Domaine accessible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/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blipFill>
                <a:blip r:embed="rId17"/>
                <a:stretch>
                  <a:fillRect t="-1031" b="-3093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/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blipFill>
                <a:blip r:embed="rId18"/>
                <a:stretch>
                  <a:fillRect b="-1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738F8C0-BDF7-8BA1-8605-E7492823E15C}"/>
              </a:ext>
            </a:extLst>
          </p:cNvPr>
          <p:cNvCxnSpPr>
            <a:cxnSpLocks/>
          </p:cNvCxnSpPr>
          <p:nvPr/>
        </p:nvCxnSpPr>
        <p:spPr>
          <a:xfrm flipV="1">
            <a:off x="7272020" y="1691640"/>
            <a:ext cx="0" cy="104267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DA1487E-703C-C235-C1D6-7329EC3075FA}"/>
              </a:ext>
            </a:extLst>
          </p:cNvPr>
          <p:cNvCxnSpPr>
            <a:cxnSpLocks/>
          </p:cNvCxnSpPr>
          <p:nvPr/>
        </p:nvCxnSpPr>
        <p:spPr>
          <a:xfrm flipV="1">
            <a:off x="5758180" y="1691640"/>
            <a:ext cx="0" cy="70866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0DA2B48-8402-60E2-5FEB-C330C7CB97E4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575818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79D34D3-446F-0DB0-1D34-CF2A9097C512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727202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7BEDA43-68F6-F3B9-DAF5-75E21BEE402F}"/>
              </a:ext>
            </a:extLst>
          </p:cNvPr>
          <p:cNvCxnSpPr>
            <a:cxnSpLocks/>
          </p:cNvCxnSpPr>
          <p:nvPr/>
        </p:nvCxnSpPr>
        <p:spPr>
          <a:xfrm flipV="1">
            <a:off x="5758180" y="2691765"/>
            <a:ext cx="0" cy="42545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261DFBF-9D0A-89FC-97EC-9581D6D0FCFB}"/>
              </a:ext>
            </a:extLst>
          </p:cNvPr>
          <p:cNvGrpSpPr/>
          <p:nvPr/>
        </p:nvGrpSpPr>
        <p:grpSpPr>
          <a:xfrm>
            <a:off x="7731933" y="4019554"/>
            <a:ext cx="355600" cy="404987"/>
            <a:chOff x="1291300" y="5077968"/>
            <a:chExt cx="355600" cy="404987"/>
          </a:xfrm>
        </p:grpSpPr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9029F23-2623-1CE1-1453-E8A6092F00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𝒄𝒔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1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F8BA76-AD12-0317-7181-C8D57AC87E40}"/>
              </a:ext>
            </a:extLst>
          </p:cNvPr>
          <p:cNvGrpSpPr/>
          <p:nvPr/>
        </p:nvGrpSpPr>
        <p:grpSpPr>
          <a:xfrm>
            <a:off x="7460904" y="4015605"/>
            <a:ext cx="355600" cy="404987"/>
            <a:chOff x="1291300" y="5077968"/>
            <a:chExt cx="355600" cy="404987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7354AFF-FB03-6625-CF50-F0D7AC778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𝒄𝒉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2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Espacement entre les deux bobinages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blipFill>
                <a:blip r:embed="rId2"/>
                <a:stretch>
                  <a:fillRect l="-42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BC0CE4-5ED2-FFA6-9DD9-47F59A76BEC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4BB3D-1902-55C0-F635-6C138FD49C9A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Intérêt du Humbucker : L’annulation du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Supposons le champ uniforme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600" dirty="0"/>
                  <a:t>)</a:t>
                </a:r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el-G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2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blipFill>
                <a:blip r:embed="rId3"/>
                <a:stretch>
                  <a:fillRect l="-430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EAF15FF1-795D-844B-4386-4B6F1C844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621C569-9488-D1D8-6F63-F78A9BC1BA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345439" y="1362548"/>
            <a:ext cx="4216714" cy="256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694926" y="3207079"/>
            <a:ext cx="1085255" cy="726287"/>
          </a:xfrm>
          <a:prstGeom prst="bentConnector3">
            <a:avLst>
              <a:gd name="adj1" fmla="val 100554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713057" y="3277281"/>
            <a:ext cx="1077666" cy="578294"/>
          </a:xfrm>
          <a:prstGeom prst="bentConnector3">
            <a:avLst>
              <a:gd name="adj1" fmla="val 100733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6275119" y="1107708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AC37F92-0300-2194-BBFA-28D6CCCBFC3F}"/>
              </a:ext>
            </a:extLst>
          </p:cNvPr>
          <p:cNvCxnSpPr>
            <a:cxnSpLocks/>
          </p:cNvCxnSpPr>
          <p:nvPr/>
        </p:nvCxnSpPr>
        <p:spPr>
          <a:xfrm flipH="1">
            <a:off x="2166620" y="3065145"/>
            <a:ext cx="38404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98F84A-A707-90F0-135B-B3D6DB6478CF}"/>
              </a:ext>
            </a:extLst>
          </p:cNvPr>
          <p:cNvCxnSpPr>
            <a:cxnSpLocks/>
          </p:cNvCxnSpPr>
          <p:nvPr/>
        </p:nvCxnSpPr>
        <p:spPr>
          <a:xfrm flipH="1">
            <a:off x="2051685" y="5819775"/>
            <a:ext cx="537365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44081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66872" y="4895376"/>
            <a:ext cx="3744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/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BC1AD-D662-AF41-F177-355DE4841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07612C5-4A26-0B28-2BD4-3A8F0CAD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915AB5E-C31B-83F0-8756-B39AD42E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CA1D53-FBAC-07F1-1634-E7200C0F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518319-7113-8BB5-7B76-0997B476402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605B48-9A4A-8845-4E30-DB8A70A03D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5308E7-3108-B4A2-CB1B-A36615B3F1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17FE39-D06B-92A8-3C3B-37F7B7C457A9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EB4B2E-5AB8-F070-9D49-1607376C31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9B84C60E-3F0A-1DF5-2981-48DCA486B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7558A09-C574-4E88-7830-77728A6B8D54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915B1B-F1D5-4122-3435-158E00B22FD1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84CB12-A218-367D-D503-E7BB7299F61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61485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0C72B-4961-E843-949D-D5A434BCC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0364E0E-5649-AE35-0AC0-F1FCF641F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5B8C822-0F98-D84B-3809-245893B60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6BF90DF-3B52-AA5F-9259-44C014051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25C9A0-5F84-B1AE-6321-6B11D5DC683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7659626-0619-3AC7-5309-304086C2FEE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73A919-E9F2-05A2-8AC0-9DB60D2289C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D57718-A78C-9B18-06A6-9CD65E45442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7871DE-93D7-4BEE-BCFB-64C2A6C97E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3" y="164775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1CE37557-6835-FC1A-A047-49DCA85C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E43EEBF-FD28-3EDB-5D3E-7BCD2D845D6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101092-E189-42FD-8276-6B9177C12D1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87A465-B075-231C-C729-919AE474ABF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C0C4B50-A414-2854-3E94-6C7A6B485D4A}"/>
              </a:ext>
            </a:extLst>
          </p:cNvPr>
          <p:cNvGrpSpPr/>
          <p:nvPr/>
        </p:nvGrpSpPr>
        <p:grpSpPr>
          <a:xfrm>
            <a:off x="1136233" y="4388291"/>
            <a:ext cx="355600" cy="480773"/>
            <a:chOff x="1364960" y="5087464"/>
            <a:chExt cx="355600" cy="480773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5B248C-9F2B-4A82-1217-FDEAB9089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/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9E11F0-6038-7ECF-3624-A516FA41FD8D}"/>
              </a:ext>
            </a:extLst>
          </p:cNvPr>
          <p:cNvGrpSpPr/>
          <p:nvPr/>
        </p:nvGrpSpPr>
        <p:grpSpPr>
          <a:xfrm>
            <a:off x="869533" y="4388291"/>
            <a:ext cx="355600" cy="477500"/>
            <a:chOff x="1168945" y="5077968"/>
            <a:chExt cx="355600" cy="47750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90F5EE3-AC94-07B1-0969-F4DD1499E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/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C259C6-64C0-168F-36C9-54FE6408BBD6}"/>
              </a:ext>
            </a:extLst>
          </p:cNvPr>
          <p:cNvGrpSpPr/>
          <p:nvPr/>
        </p:nvGrpSpPr>
        <p:grpSpPr>
          <a:xfrm>
            <a:off x="5732163" y="4456819"/>
            <a:ext cx="355600" cy="355726"/>
            <a:chOff x="1383175" y="5087464"/>
            <a:chExt cx="355600" cy="355726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3CAC429-FD1D-C325-B41D-36624A5198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005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/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F086CF9-0534-511C-4648-563B667A2FE3}"/>
              </a:ext>
            </a:extLst>
          </p:cNvPr>
          <p:cNvGrpSpPr/>
          <p:nvPr/>
        </p:nvGrpSpPr>
        <p:grpSpPr>
          <a:xfrm>
            <a:off x="5447248" y="4456819"/>
            <a:ext cx="355600" cy="350076"/>
            <a:chOff x="1168945" y="5077968"/>
            <a:chExt cx="355600" cy="350076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236CCFA-14E0-7327-2696-A71CEC06DA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00501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/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843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50637-E92B-0416-5A3E-89E64BB56A4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1,76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0,69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8,1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Soit un écart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𝑇h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=19,4 %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𝑇h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1275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%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𝑇h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𝑒𝑥𝑝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𝑇h</m:t>
                              </m:r>
                            </m:sub>
                          </m:sSub>
                        </m:den>
                      </m:f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=72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,4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%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AD768-93B1-9342-3E71-9F51C81E308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D41862-C3BD-3DBC-9C94-5AA0370D9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7910" y="13902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D9D983-D7EC-1847-6F67-1C73EF899C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6091" y="139025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7285B1D-7589-38F4-8881-77CD6EFBFA3D}"/>
              </a:ext>
            </a:extLst>
          </p:cNvPr>
          <p:cNvSpPr txBox="1"/>
          <p:nvPr/>
        </p:nvSpPr>
        <p:spPr>
          <a:xfrm>
            <a:off x="366090" y="4678232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Influence sur le timbre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BAAEE-82DC-9B7D-B472-CECEDB124BF3}"/>
              </a:ext>
            </a:extLst>
          </p:cNvPr>
          <p:cNvSpPr txBox="1"/>
          <p:nvPr/>
        </p:nvSpPr>
        <p:spPr>
          <a:xfrm>
            <a:off x="4997910" y="4678232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Influence sur le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0781B3E-CE78-9C77-C256-488F2AA5284D}"/>
                  </a:ext>
                </a:extLst>
              </p:cNvPr>
              <p:cNvSpPr txBox="1"/>
              <p:nvPr/>
            </p:nvSpPr>
            <p:spPr>
              <a:xfrm>
                <a:off x="5696848" y="5637319"/>
                <a:ext cx="2382122" cy="298415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=8,1</m:t>
                      </m:r>
                      <m:r>
                        <m:rPr>
                          <m:nor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0781B3E-CE78-9C77-C256-488F2AA52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6848" y="5637319"/>
                <a:ext cx="2382122" cy="298415"/>
              </a:xfrm>
              <a:prstGeom prst="rect">
                <a:avLst/>
              </a:prstGeom>
              <a:blipFill>
                <a:blip r:embed="rId5"/>
                <a:stretch>
                  <a:fillRect b="-15686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D129F86-93BF-EC4E-2286-CDD3B494D6C3}"/>
                  </a:ext>
                </a:extLst>
              </p:cNvPr>
              <p:cNvSpPr txBox="1"/>
              <p:nvPr/>
            </p:nvSpPr>
            <p:spPr>
              <a:xfrm>
                <a:off x="5696849" y="5167364"/>
                <a:ext cx="238212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</m:t>
                      </m:r>
                      <m:r>
                        <m:rPr>
                          <m:nor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3 </m:t>
                      </m:r>
                      <m:r>
                        <m:rPr>
                          <m:nor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D129F86-93BF-EC4E-2286-CDD3B494D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6849" y="5167364"/>
                <a:ext cx="2382121" cy="276999"/>
              </a:xfrm>
              <a:prstGeom prst="rect">
                <a:avLst/>
              </a:prstGeom>
              <a:blipFill>
                <a:blip r:embed="rId6"/>
                <a:stretch>
                  <a:fillRect b="-14894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43909" y="977470"/>
            <a:ext cx="288000" cy="288000"/>
          </a:xfrm>
          <a:prstGeom prst="rect">
            <a:avLst/>
          </a:prstGeom>
        </p:spPr>
      </p:pic>
      <p:pic>
        <p:nvPicPr>
          <p:cNvPr id="14" name="Graphic 13" descr="Warning with solid fill">
            <a:extLst>
              <a:ext uri="{FF2B5EF4-FFF2-40B4-BE49-F238E27FC236}">
                <a16:creationId xmlns:a16="http://schemas.microsoft.com/office/drawing/2014/main" id="{3BB5C535-4333-776E-D945-A6D5630016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76090" y="94147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D192B-A1D8-B536-20CB-FE8AD5886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F4E4231-A870-5B36-A192-15B9AEAE5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E82268A-4EAE-1F11-E33F-9DF1E825E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EDE2C36-2511-D9FE-8B70-6B525A01C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5A31E3-EE76-AD5E-1634-AABFFAB7F3E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EBEBD24-AED9-DCFB-E731-74BF41B3376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1F692C-FB94-2C5B-C21C-A5A6493496D4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0C626FF-9D0A-3C51-7E93-8AE1963CF11C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BD8FBCE-B999-7895-FF52-9FBFC356F09B}"/>
                  </a:ext>
                </a:extLst>
              </p:cNvPr>
              <p:cNvSpPr/>
              <p:nvPr/>
            </p:nvSpPr>
            <p:spPr>
              <a:xfrm>
                <a:off x="387529" y="1229409"/>
                <a:ext cx="8469675" cy="3310786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</a:t>
                </a:r>
                <a:r>
                  <a:rPr lang="fr-FR" sz="1600" dirty="0" err="1">
                    <a:solidFill>
                      <a:schemeClr val="tx1"/>
                    </a:solidFill>
                  </a:rPr>
                  <a:t>experimentale</a:t>
                </a: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Gradient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élévé</a:t>
                </a:r>
              </a:p>
            </p:txBody>
          </p:sp>
        </mc:Choice>
        <mc:Fallback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BD8FBCE-B999-7895-FF52-9FBFC356F0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529" y="1229409"/>
                <a:ext cx="8469675" cy="3310786"/>
              </a:xfrm>
              <a:prstGeom prst="rect">
                <a:avLst/>
              </a:prstGeom>
              <a:blipFill>
                <a:blip r:embed="rId3"/>
                <a:stretch>
                  <a:fillRect l="-72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C62B1A39-84A0-E691-7ADC-9C372BBB46A6}"/>
              </a:ext>
            </a:extLst>
          </p:cNvPr>
          <p:cNvSpPr/>
          <p:nvPr/>
        </p:nvSpPr>
        <p:spPr>
          <a:xfrm>
            <a:off x="387529" y="4648134"/>
            <a:ext cx="8491114" cy="1488506"/>
          </a:xfrm>
          <a:prstGeom prst="rect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Ouvertures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Micros actifs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Coil Splitting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Cage de Faraday</a:t>
            </a:r>
          </a:p>
        </p:txBody>
      </p:sp>
    </p:spTree>
    <p:extLst>
      <p:ext uri="{BB962C8B-B14F-4D97-AF65-F5344CB8AC3E}">
        <p14:creationId xmlns:p14="http://schemas.microsoft.com/office/powerpoint/2010/main" val="652012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4E12-A3D4-483C-B4F4-BA9C69BCF303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267143"/>
            <a:ext cx="8472118" cy="501675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Enregistrement des courbes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21D99-B286-452E-A7DB-5723289662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</a:t>
            </a:r>
            <a:r>
              <a:rPr lang="en-GB" sz="1600" dirty="0"/>
              <a:t> Matthew W. Hill, "The hidden history of the electric guitar", in </a:t>
            </a:r>
            <a:r>
              <a:rPr lang="en-GB" sz="1600" i="1" dirty="0"/>
              <a:t>Quand la </a:t>
            </a:r>
            <a:r>
              <a:rPr lang="en-GB" sz="1600" i="1" dirty="0" err="1"/>
              <a:t>guitare</a:t>
            </a:r>
            <a:r>
              <a:rPr lang="en-GB" sz="1600" i="1" dirty="0"/>
              <a:t> [s']</a:t>
            </a:r>
            <a:r>
              <a:rPr lang="en-GB" sz="1600" i="1" dirty="0" err="1"/>
              <a:t>électrise</a:t>
            </a:r>
            <a:r>
              <a:rPr lang="en-GB" sz="1600" i="1" dirty="0"/>
              <a:t> !</a:t>
            </a:r>
            <a:r>
              <a:rPr lang="en-GB" sz="1600" dirty="0"/>
              <a:t>, Benoît Navarret et al. (dir.), Sorbonne Université Presses, pp. 33-61, 2022.</a:t>
            </a:r>
          </a:p>
          <a:p>
            <a:endParaRPr lang="fr-FR" sz="1600" dirty="0"/>
          </a:p>
          <a:p>
            <a:r>
              <a:rPr lang="en-GB" sz="1600" b="1" dirty="0"/>
              <a:t>[2]</a:t>
            </a:r>
            <a:r>
              <a:rPr lang="en-GB" sz="1600" dirty="0"/>
              <a:t> Dan Carson, "Investigation of the Electromagnetic Properties of Electric Guitar Pickups", </a:t>
            </a:r>
            <a:r>
              <a:rPr lang="en-GB" sz="1600" i="1" dirty="0"/>
              <a:t>University of Illinois at Urbana-Champaign</a:t>
            </a:r>
            <a:r>
              <a:rPr lang="en-GB" sz="1600" dirty="0"/>
              <a:t>, Physics Senior Thesis, 2009.</a:t>
            </a:r>
          </a:p>
          <a:p>
            <a:endParaRPr lang="fr-FR" sz="1600" dirty="0"/>
          </a:p>
          <a:p>
            <a:r>
              <a:rPr lang="en-GB" sz="1600" b="1" dirty="0"/>
              <a:t>[3]</a:t>
            </a:r>
            <a:r>
              <a:rPr lang="en-GB" sz="1600" dirty="0"/>
              <a:t> P. Perov, W. Johnson et N. Perova-Mello, "The physics of guitar string vibrations", </a:t>
            </a:r>
            <a:r>
              <a:rPr lang="en-GB" sz="1600" i="1" dirty="0"/>
              <a:t>American Journal of Physics</a:t>
            </a:r>
            <a:r>
              <a:rPr lang="en-GB" sz="1600" dirty="0"/>
              <a:t>, vol. 84, no. 1, pp. 38–43, 2016.</a:t>
            </a:r>
          </a:p>
          <a:p>
            <a:endParaRPr lang="fr-FR" sz="1600" dirty="0"/>
          </a:p>
          <a:p>
            <a:r>
              <a:rPr lang="en-GB" sz="1600" b="1" dirty="0"/>
              <a:t>[4]</a:t>
            </a:r>
            <a:r>
              <a:rPr lang="en-GB" sz="1600" dirty="0"/>
              <a:t> S. W. Duncan, "Interview With Seth Lover", </a:t>
            </a:r>
            <a:r>
              <a:rPr lang="en-GB" sz="1600" i="1" dirty="0"/>
              <a:t>Seymour Duncan</a:t>
            </a:r>
            <a:r>
              <a:rPr lang="en-GB" sz="1600" dirty="0"/>
              <a:t>.  </a:t>
            </a:r>
            <a:r>
              <a:rPr lang="fr-FR" sz="1600" dirty="0"/>
              <a:t>[En ligne]. Disponible sur: </a:t>
            </a:r>
            <a:br>
              <a:rPr lang="fr-FR" sz="1600" dirty="0"/>
            </a:br>
            <a:r>
              <a:rPr lang="fr-FR" sz="1600" u="sng" dirty="0">
                <a:hlinkClick r:id="rId3"/>
              </a:rPr>
              <a:t>https://www.seymourduncan.com/blog/latest-updates/seymour-w-duncans-interview-with-seth-lover</a:t>
            </a:r>
            <a:br>
              <a:rPr lang="fr-FR" sz="1600" u="sng" dirty="0"/>
            </a:br>
            <a:endParaRPr lang="fr-FR" sz="1600" dirty="0"/>
          </a:p>
          <a:p>
            <a:r>
              <a:rPr lang="en-GB" sz="1600" b="1" dirty="0"/>
              <a:t>[5]</a:t>
            </a:r>
            <a:r>
              <a:rPr lang="en-GB" sz="1600" dirty="0"/>
              <a:t> A. Novak, B. </a:t>
            </a:r>
            <a:r>
              <a:rPr lang="en-GB" sz="1600" dirty="0" err="1"/>
              <a:t>Lihoreau</a:t>
            </a:r>
            <a:r>
              <a:rPr lang="en-GB" sz="1600" dirty="0"/>
              <a:t>, E. Brasseur, P. Lotton et L. Simon, "Guitar Pickup: Measurement of its Two-Dimensional Nonlinear Function", </a:t>
            </a:r>
            <a:r>
              <a:rPr lang="en-GB" sz="1600" i="1" dirty="0"/>
              <a:t>Journal of the Audio Engineering Society</a:t>
            </a:r>
            <a:r>
              <a:rPr lang="en-GB" sz="1600" dirty="0"/>
              <a:t>, vol. 68, no. 3, pp. 184-192, 2020.</a:t>
            </a:r>
          </a:p>
          <a:p>
            <a:endParaRPr lang="fr-FR" sz="1600" dirty="0"/>
          </a:p>
          <a:p>
            <a:r>
              <a:rPr lang="en-GB" sz="1600" b="1" dirty="0"/>
              <a:t>[6]</a:t>
            </a:r>
            <a:r>
              <a:rPr lang="en-GB" sz="1600" dirty="0"/>
              <a:t> R. </a:t>
            </a:r>
            <a:r>
              <a:rPr lang="en-GB" sz="1600" dirty="0" err="1"/>
              <a:t>Giampiccolo</a:t>
            </a:r>
            <a:r>
              <a:rPr lang="en-GB" sz="1600" dirty="0"/>
              <a:t>, A. Bernardini et A. Sarti, "Virtualization of Guitar Pickups Through Circuit Inversion", </a:t>
            </a:r>
            <a:r>
              <a:rPr lang="en-GB" sz="1600" i="1" dirty="0"/>
              <a:t>IEEE Signal Processing Letters</a:t>
            </a:r>
            <a:r>
              <a:rPr lang="en-GB" sz="1600" dirty="0"/>
              <a:t>, vol. 30, pp. 458-462, 2023.</a:t>
            </a:r>
            <a:endParaRPr lang="fr-FR" sz="1600" dirty="0"/>
          </a:p>
          <a:p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846BF-CC36-4637-B77F-1434B6C115C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7FF0E-E82D-4BC6-A5AF-2CCD3BFAB86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Modèle Théorique : Micro Simple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28E8-F3EB-4A49-BD7E-075E891755D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Modèle Théorique : Micro Humbucker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F6506-B042-45FD-9C13-B8BCADB4CAB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0303D-8033-40E1-8BC4-B61F537925B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C8A0-1BFF-4314-911E-340C670C843A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6A158-421D-4008-880F-7D1D00BBFC5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3A8C4-76B7-4E36-8364-8723DF8F83C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C8F1F-CA6E-4AA4-AB0D-19E4A1285E7B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0FE1-1155-4C02-8CE9-A13358F57627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3052</Words>
  <Application>Microsoft Office PowerPoint</Application>
  <PresentationFormat>On-screen Show (4:3)</PresentationFormat>
  <Paragraphs>547</Paragraphs>
  <Slides>33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436</cp:revision>
  <dcterms:created xsi:type="dcterms:W3CDTF">2025-06-09T15:35:56Z</dcterms:created>
  <dcterms:modified xsi:type="dcterms:W3CDTF">2025-12-04T16:29:14Z</dcterms:modified>
</cp:coreProperties>
</file>