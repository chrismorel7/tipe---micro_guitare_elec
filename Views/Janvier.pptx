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42"/>
  </p:notesMasterIdLst>
  <p:sldIdLst>
    <p:sldId id="256" r:id="rId2"/>
    <p:sldId id="340" r:id="rId3"/>
    <p:sldId id="338" r:id="rId4"/>
    <p:sldId id="339" r:id="rId5"/>
    <p:sldId id="335" r:id="rId6"/>
    <p:sldId id="337" r:id="rId7"/>
    <p:sldId id="336" r:id="rId8"/>
    <p:sldId id="265" r:id="rId9"/>
    <p:sldId id="357" r:id="rId10"/>
    <p:sldId id="363" r:id="rId11"/>
    <p:sldId id="356" r:id="rId12"/>
    <p:sldId id="345" r:id="rId13"/>
    <p:sldId id="346" r:id="rId14"/>
    <p:sldId id="360" r:id="rId15"/>
    <p:sldId id="362" r:id="rId16"/>
    <p:sldId id="353" r:id="rId17"/>
    <p:sldId id="329" r:id="rId18"/>
    <p:sldId id="327" r:id="rId19"/>
    <p:sldId id="354" r:id="rId20"/>
    <p:sldId id="333" r:id="rId21"/>
    <p:sldId id="361" r:id="rId22"/>
    <p:sldId id="324" r:id="rId23"/>
    <p:sldId id="313" r:id="rId24"/>
    <p:sldId id="364" r:id="rId25"/>
    <p:sldId id="318" r:id="rId26"/>
    <p:sldId id="371" r:id="rId27"/>
    <p:sldId id="330" r:id="rId28"/>
    <p:sldId id="303" r:id="rId29"/>
    <p:sldId id="271" r:id="rId30"/>
    <p:sldId id="302" r:id="rId31"/>
    <p:sldId id="348" r:id="rId32"/>
    <p:sldId id="277" r:id="rId33"/>
    <p:sldId id="304" r:id="rId34"/>
    <p:sldId id="305" r:id="rId35"/>
    <p:sldId id="311" r:id="rId36"/>
    <p:sldId id="365" r:id="rId37"/>
    <p:sldId id="370" r:id="rId38"/>
    <p:sldId id="368" r:id="rId39"/>
    <p:sldId id="372" r:id="rId40"/>
    <p:sldId id="373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5"/>
    <a:srgbClr val="38903A"/>
    <a:srgbClr val="559AD7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5975" autoAdjust="0"/>
  </p:normalViewPr>
  <p:slideViewPr>
    <p:cSldViewPr snapToGrid="0">
      <p:cViewPr varScale="1">
        <p:scale>
          <a:sx n="102" d="100"/>
          <a:sy n="102" d="100"/>
        </p:scale>
        <p:origin x="10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B8181-43EA-4C6C-8C7F-7942035F0720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91212D5D-B364-44BA-9771-63E526DCA0A1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50M</a:t>
          </a:r>
          <a:endParaRPr lang="fr-FR" sz="5400" dirty="0">
            <a:latin typeface="Arial Black" panose="020B0A04020102020204" pitchFamily="34" charset="0"/>
          </a:endParaRPr>
        </a:p>
      </dgm:t>
    </dgm:pt>
    <dgm:pt modelId="{FC78DAE6-83E5-4BC1-AC49-428A15180E75}" type="parTrans" cxnId="{0485C7B9-46CA-4C0E-96B3-8FFF5F37DD6A}">
      <dgm:prSet/>
      <dgm:spPr/>
      <dgm:t>
        <a:bodyPr/>
        <a:lstStyle/>
        <a:p>
          <a:endParaRPr lang="fr-FR"/>
        </a:p>
      </dgm:t>
    </dgm:pt>
    <dgm:pt modelId="{D781E287-DBE3-4186-9876-37AE3B390319}" type="sibTrans" cxnId="{0485C7B9-46CA-4C0E-96B3-8FFF5F37DD6A}">
      <dgm:prSet/>
      <dgm:spPr/>
      <dgm:t>
        <a:bodyPr/>
        <a:lstStyle/>
        <a:p>
          <a:endParaRPr lang="fr-FR"/>
        </a:p>
      </dgm:t>
    </dgm:pt>
    <dgm:pt modelId="{E5137407-CC18-4373-B384-F7A66AF869B6}">
      <dgm:prSet phldrT="[Text]" phldr="0" custT="1"/>
      <dgm:spPr/>
      <dgm:t>
        <a:bodyPr/>
        <a:lstStyle/>
        <a:p>
          <a:r>
            <a:rPr lang="fr-FR" sz="1800" dirty="0"/>
            <a:t>Nombre de guitare estimé dans le monde</a:t>
          </a:r>
        </a:p>
      </dgm:t>
    </dgm:pt>
    <dgm:pt modelId="{F5863376-7605-42DC-B58D-060041DC79FF}" type="parTrans" cxnId="{AD0029D9-5E4E-4AD7-A0EC-A4368455A356}">
      <dgm:prSet/>
      <dgm:spPr/>
      <dgm:t>
        <a:bodyPr/>
        <a:lstStyle/>
        <a:p>
          <a:endParaRPr lang="fr-FR"/>
        </a:p>
      </dgm:t>
    </dgm:pt>
    <dgm:pt modelId="{504827BD-EDE8-4FEA-B41A-5C51374DAF4F}" type="sibTrans" cxnId="{AD0029D9-5E4E-4AD7-A0EC-A4368455A356}">
      <dgm:prSet/>
      <dgm:spPr/>
      <dgm:t>
        <a:bodyPr/>
        <a:lstStyle/>
        <a:p>
          <a:endParaRPr lang="fr-FR"/>
        </a:p>
      </dgm:t>
    </dgm:pt>
    <dgm:pt modelId="{AB389A4B-81CD-47F4-AC53-77C6CCDA77CA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10,3B</a:t>
          </a:r>
        </a:p>
      </dgm:t>
    </dgm:pt>
    <dgm:pt modelId="{1957A227-B175-4033-8F1D-F1C3A49DEBE5}" type="parTrans" cxnId="{C1AEFF4B-406F-4617-A89D-BA61E379F596}">
      <dgm:prSet/>
      <dgm:spPr/>
      <dgm:t>
        <a:bodyPr/>
        <a:lstStyle/>
        <a:p>
          <a:endParaRPr lang="fr-FR"/>
        </a:p>
      </dgm:t>
    </dgm:pt>
    <dgm:pt modelId="{BFD4BD52-26B4-4D78-A8D4-0D5AE83B8561}" type="sibTrans" cxnId="{C1AEFF4B-406F-4617-A89D-BA61E379F596}">
      <dgm:prSet/>
      <dgm:spPr/>
      <dgm:t>
        <a:bodyPr/>
        <a:lstStyle/>
        <a:p>
          <a:endParaRPr lang="fr-FR"/>
        </a:p>
      </dgm:t>
    </dgm:pt>
    <dgm:pt modelId="{5DFF8D2C-FF16-4189-959A-DA8AF237818F}">
      <dgm:prSet phldrT="[Text]" phldr="0" custT="1"/>
      <dgm:spPr/>
      <dgm:t>
        <a:bodyPr/>
        <a:lstStyle/>
        <a:p>
          <a:r>
            <a:rPr lang="fr-FR" sz="1800" dirty="0"/>
            <a:t>Valeur du marché de la guitare en 2024</a:t>
          </a:r>
        </a:p>
      </dgm:t>
    </dgm:pt>
    <dgm:pt modelId="{E4367BA8-3CA9-4C87-B29D-AC36939C7927}" type="parTrans" cxnId="{5523898E-814B-4613-82CF-8AC3888E263E}">
      <dgm:prSet/>
      <dgm:spPr/>
      <dgm:t>
        <a:bodyPr/>
        <a:lstStyle/>
        <a:p>
          <a:endParaRPr lang="fr-FR"/>
        </a:p>
      </dgm:t>
    </dgm:pt>
    <dgm:pt modelId="{B5808FB2-8ED5-48B7-94C9-85E33B53CEFA}" type="sibTrans" cxnId="{5523898E-814B-4613-82CF-8AC3888E263E}">
      <dgm:prSet/>
      <dgm:spPr/>
      <dgm:t>
        <a:bodyPr/>
        <a:lstStyle/>
        <a:p>
          <a:endParaRPr lang="fr-FR"/>
        </a:p>
      </dgm:t>
    </dgm:pt>
    <dgm:pt modelId="{D947A9E2-2E97-41F2-A0A4-BF4BF3FB2559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48%</a:t>
          </a:r>
        </a:p>
      </dgm:t>
    </dgm:pt>
    <dgm:pt modelId="{F31CB54F-5BC7-406C-A91B-50C08608D24C}" type="parTrans" cxnId="{8FE87FC7-AC18-4165-B440-4AA7AC67A8D9}">
      <dgm:prSet/>
      <dgm:spPr/>
      <dgm:t>
        <a:bodyPr/>
        <a:lstStyle/>
        <a:p>
          <a:endParaRPr lang="fr-FR"/>
        </a:p>
      </dgm:t>
    </dgm:pt>
    <dgm:pt modelId="{45F2920D-B956-4AA8-9189-A759A3BF2F00}" type="sibTrans" cxnId="{8FE87FC7-AC18-4165-B440-4AA7AC67A8D9}">
      <dgm:prSet/>
      <dgm:spPr/>
      <dgm:t>
        <a:bodyPr/>
        <a:lstStyle/>
        <a:p>
          <a:endParaRPr lang="fr-FR"/>
        </a:p>
      </dgm:t>
    </dgm:pt>
    <dgm:pt modelId="{1D647303-1950-49A3-B3E3-511B5EAB22C1}">
      <dgm:prSet phldrT="[Text]" custT="1"/>
      <dgm:spPr/>
      <dgm:t>
        <a:bodyPr/>
        <a:lstStyle/>
        <a:p>
          <a:r>
            <a:rPr lang="fr-FR" sz="1800" dirty="0"/>
            <a:t>Part de marché des guitares électriques </a:t>
          </a:r>
        </a:p>
      </dgm:t>
    </dgm:pt>
    <dgm:pt modelId="{D66D6EFC-F33F-49A7-81CA-B602591CF869}" type="parTrans" cxnId="{201120F7-9B21-4830-87D4-34EE8C2CC62D}">
      <dgm:prSet/>
      <dgm:spPr/>
      <dgm:t>
        <a:bodyPr/>
        <a:lstStyle/>
        <a:p>
          <a:endParaRPr lang="fr-FR"/>
        </a:p>
      </dgm:t>
    </dgm:pt>
    <dgm:pt modelId="{85CCCEDD-0FA1-4E6A-8302-32155D37CF8E}" type="sibTrans" cxnId="{201120F7-9B21-4830-87D4-34EE8C2CC62D}">
      <dgm:prSet/>
      <dgm:spPr/>
      <dgm:t>
        <a:bodyPr/>
        <a:lstStyle/>
        <a:p>
          <a:endParaRPr lang="fr-FR"/>
        </a:p>
      </dgm:t>
    </dgm:pt>
    <dgm:pt modelId="{B8929512-66CE-4E69-82E8-652F86CC7F13}" type="pres">
      <dgm:prSet presAssocID="{E38B8181-43EA-4C6C-8C7F-7942035F0720}" presName="theList" presStyleCnt="0">
        <dgm:presLayoutVars>
          <dgm:dir/>
          <dgm:animLvl val="lvl"/>
          <dgm:resizeHandles val="exact"/>
        </dgm:presLayoutVars>
      </dgm:prSet>
      <dgm:spPr/>
    </dgm:pt>
    <dgm:pt modelId="{8AD1CDE0-660F-41C6-A232-AB49A944F4B1}" type="pres">
      <dgm:prSet presAssocID="{91212D5D-B364-44BA-9771-63E526DCA0A1}" presName="compNode" presStyleCnt="0"/>
      <dgm:spPr/>
    </dgm:pt>
    <dgm:pt modelId="{A122FDB8-4E52-4F24-924C-55B39B5EEF83}" type="pres">
      <dgm:prSet presAssocID="{91212D5D-B364-44BA-9771-63E526DCA0A1}" presName="aNode" presStyleLbl="bgShp" presStyleIdx="0" presStyleCnt="3"/>
      <dgm:spPr/>
    </dgm:pt>
    <dgm:pt modelId="{EE092F6B-38EB-47CC-973C-37F9D2288AA3}" type="pres">
      <dgm:prSet presAssocID="{91212D5D-B364-44BA-9771-63E526DCA0A1}" presName="textNode" presStyleLbl="bgShp" presStyleIdx="0" presStyleCnt="3"/>
      <dgm:spPr/>
    </dgm:pt>
    <dgm:pt modelId="{0448C864-2F82-4625-BA73-B4FC84AC036D}" type="pres">
      <dgm:prSet presAssocID="{91212D5D-B364-44BA-9771-63E526DCA0A1}" presName="compChildNode" presStyleCnt="0"/>
      <dgm:spPr/>
    </dgm:pt>
    <dgm:pt modelId="{28883B9D-21D9-4368-977E-4B0BD2C2A37C}" type="pres">
      <dgm:prSet presAssocID="{91212D5D-B364-44BA-9771-63E526DCA0A1}" presName="theInnerList" presStyleCnt="0"/>
      <dgm:spPr/>
    </dgm:pt>
    <dgm:pt modelId="{332FF867-5FFB-469C-995E-0CBE678B8048}" type="pres">
      <dgm:prSet presAssocID="{E5137407-CC18-4373-B384-F7A66AF869B6}" presName="childNode" presStyleLbl="node1" presStyleIdx="0" presStyleCnt="3" custScaleY="70691">
        <dgm:presLayoutVars>
          <dgm:bulletEnabled val="1"/>
        </dgm:presLayoutVars>
      </dgm:prSet>
      <dgm:spPr/>
    </dgm:pt>
    <dgm:pt modelId="{A9B3C3CC-83A5-44FD-8337-23960E5C80F6}" type="pres">
      <dgm:prSet presAssocID="{91212D5D-B364-44BA-9771-63E526DCA0A1}" presName="aSpace" presStyleCnt="0"/>
      <dgm:spPr/>
    </dgm:pt>
    <dgm:pt modelId="{51288686-012E-497C-AA23-CFA1CCA57442}" type="pres">
      <dgm:prSet presAssocID="{AB389A4B-81CD-47F4-AC53-77C6CCDA77CA}" presName="compNode" presStyleCnt="0"/>
      <dgm:spPr/>
    </dgm:pt>
    <dgm:pt modelId="{D876CD57-D8B0-4B1D-8A27-4B504FE0CFD4}" type="pres">
      <dgm:prSet presAssocID="{AB389A4B-81CD-47F4-AC53-77C6CCDA77CA}" presName="aNode" presStyleLbl="bgShp" presStyleIdx="1" presStyleCnt="3"/>
      <dgm:spPr/>
    </dgm:pt>
    <dgm:pt modelId="{753AE736-51A9-4ACF-85CA-A535BD91B08A}" type="pres">
      <dgm:prSet presAssocID="{AB389A4B-81CD-47F4-AC53-77C6CCDA77CA}" presName="textNode" presStyleLbl="bgShp" presStyleIdx="1" presStyleCnt="3"/>
      <dgm:spPr/>
    </dgm:pt>
    <dgm:pt modelId="{2037BDEE-75EB-46C8-AD3A-65B225526994}" type="pres">
      <dgm:prSet presAssocID="{AB389A4B-81CD-47F4-AC53-77C6CCDA77CA}" presName="compChildNode" presStyleCnt="0"/>
      <dgm:spPr/>
    </dgm:pt>
    <dgm:pt modelId="{051F6D2A-97B8-4664-A450-ADDEC308F567}" type="pres">
      <dgm:prSet presAssocID="{AB389A4B-81CD-47F4-AC53-77C6CCDA77CA}" presName="theInnerList" presStyleCnt="0"/>
      <dgm:spPr/>
    </dgm:pt>
    <dgm:pt modelId="{212315B0-941C-424E-9FB8-A723AE83E221}" type="pres">
      <dgm:prSet presAssocID="{5DFF8D2C-FF16-4189-959A-DA8AF237818F}" presName="childNode" presStyleLbl="node1" presStyleIdx="1" presStyleCnt="3" custScaleY="70691">
        <dgm:presLayoutVars>
          <dgm:bulletEnabled val="1"/>
        </dgm:presLayoutVars>
      </dgm:prSet>
      <dgm:spPr/>
    </dgm:pt>
    <dgm:pt modelId="{A06D310C-D4D5-42FB-BF30-8EB821EF41B8}" type="pres">
      <dgm:prSet presAssocID="{AB389A4B-81CD-47F4-AC53-77C6CCDA77CA}" presName="aSpace" presStyleCnt="0"/>
      <dgm:spPr/>
    </dgm:pt>
    <dgm:pt modelId="{72FABE35-4F33-4B5B-B72B-CE129740AEE7}" type="pres">
      <dgm:prSet presAssocID="{D947A9E2-2E97-41F2-A0A4-BF4BF3FB2559}" presName="compNode" presStyleCnt="0"/>
      <dgm:spPr/>
    </dgm:pt>
    <dgm:pt modelId="{3D118472-EB36-44B0-9CAB-89E96EDD8635}" type="pres">
      <dgm:prSet presAssocID="{D947A9E2-2E97-41F2-A0A4-BF4BF3FB2559}" presName="aNode" presStyleLbl="bgShp" presStyleIdx="2" presStyleCnt="3"/>
      <dgm:spPr/>
    </dgm:pt>
    <dgm:pt modelId="{D4961126-1C1B-4F88-A93F-D46D2428CFA2}" type="pres">
      <dgm:prSet presAssocID="{D947A9E2-2E97-41F2-A0A4-BF4BF3FB2559}" presName="textNode" presStyleLbl="bgShp" presStyleIdx="2" presStyleCnt="3"/>
      <dgm:spPr/>
    </dgm:pt>
    <dgm:pt modelId="{5B693B72-B78F-4290-A233-520D95F4748A}" type="pres">
      <dgm:prSet presAssocID="{D947A9E2-2E97-41F2-A0A4-BF4BF3FB2559}" presName="compChildNode" presStyleCnt="0"/>
      <dgm:spPr/>
    </dgm:pt>
    <dgm:pt modelId="{3DB0FDFE-0615-4995-85DF-314DBB0DEE15}" type="pres">
      <dgm:prSet presAssocID="{D947A9E2-2E97-41F2-A0A4-BF4BF3FB2559}" presName="theInnerList" presStyleCnt="0"/>
      <dgm:spPr/>
    </dgm:pt>
    <dgm:pt modelId="{522A87F0-0F3E-418E-844F-50D37BC18AE4}" type="pres">
      <dgm:prSet presAssocID="{1D647303-1950-49A3-B3E3-511B5EAB22C1}" presName="childNode" presStyleLbl="node1" presStyleIdx="2" presStyleCnt="3" custScaleY="70691">
        <dgm:presLayoutVars>
          <dgm:bulletEnabled val="1"/>
        </dgm:presLayoutVars>
      </dgm:prSet>
      <dgm:spPr/>
    </dgm:pt>
  </dgm:ptLst>
  <dgm:cxnLst>
    <dgm:cxn modelId="{94D40702-587D-4465-BCBA-552514180BBE}" type="presOf" srcId="{E38B8181-43EA-4C6C-8C7F-7942035F0720}" destId="{B8929512-66CE-4E69-82E8-652F86CC7F13}" srcOrd="0" destOrd="0" presId="urn:microsoft.com/office/officeart/2005/8/layout/lProcess2"/>
    <dgm:cxn modelId="{8F245E04-8DF9-4548-92D1-3655024527CF}" type="presOf" srcId="{D947A9E2-2E97-41F2-A0A4-BF4BF3FB2559}" destId="{D4961126-1C1B-4F88-A93F-D46D2428CFA2}" srcOrd="1" destOrd="0" presId="urn:microsoft.com/office/officeart/2005/8/layout/lProcess2"/>
    <dgm:cxn modelId="{7A5F6A19-7DAC-460E-BBA6-B384A077D6FF}" type="presOf" srcId="{1D647303-1950-49A3-B3E3-511B5EAB22C1}" destId="{522A87F0-0F3E-418E-844F-50D37BC18AE4}" srcOrd="0" destOrd="0" presId="urn:microsoft.com/office/officeart/2005/8/layout/lProcess2"/>
    <dgm:cxn modelId="{299ABB28-1B39-4096-812E-C6AA0CDDD8DA}" type="presOf" srcId="{AB389A4B-81CD-47F4-AC53-77C6CCDA77CA}" destId="{D876CD57-D8B0-4B1D-8A27-4B504FE0CFD4}" srcOrd="0" destOrd="0" presId="urn:microsoft.com/office/officeart/2005/8/layout/lProcess2"/>
    <dgm:cxn modelId="{C1AEFF4B-406F-4617-A89D-BA61E379F596}" srcId="{E38B8181-43EA-4C6C-8C7F-7942035F0720}" destId="{AB389A4B-81CD-47F4-AC53-77C6CCDA77CA}" srcOrd="1" destOrd="0" parTransId="{1957A227-B175-4033-8F1D-F1C3A49DEBE5}" sibTransId="{BFD4BD52-26B4-4D78-A8D4-0D5AE83B8561}"/>
    <dgm:cxn modelId="{A32FD154-FA1F-42EC-A904-99D643BC5003}" type="presOf" srcId="{E5137407-CC18-4373-B384-F7A66AF869B6}" destId="{332FF867-5FFB-469C-995E-0CBE678B8048}" srcOrd="0" destOrd="0" presId="urn:microsoft.com/office/officeart/2005/8/layout/lProcess2"/>
    <dgm:cxn modelId="{5191207E-417E-46C7-B34A-8DDB7C623194}" type="presOf" srcId="{5DFF8D2C-FF16-4189-959A-DA8AF237818F}" destId="{212315B0-941C-424E-9FB8-A723AE83E221}" srcOrd="0" destOrd="0" presId="urn:microsoft.com/office/officeart/2005/8/layout/lProcess2"/>
    <dgm:cxn modelId="{46AA8580-CB6C-47DD-A72E-6CB4DBC796AE}" type="presOf" srcId="{D947A9E2-2E97-41F2-A0A4-BF4BF3FB2559}" destId="{3D118472-EB36-44B0-9CAB-89E96EDD8635}" srcOrd="0" destOrd="0" presId="urn:microsoft.com/office/officeart/2005/8/layout/lProcess2"/>
    <dgm:cxn modelId="{5523898E-814B-4613-82CF-8AC3888E263E}" srcId="{AB389A4B-81CD-47F4-AC53-77C6CCDA77CA}" destId="{5DFF8D2C-FF16-4189-959A-DA8AF237818F}" srcOrd="0" destOrd="0" parTransId="{E4367BA8-3CA9-4C87-B29D-AC36939C7927}" sibTransId="{B5808FB2-8ED5-48B7-94C9-85E33B53CEFA}"/>
    <dgm:cxn modelId="{A75A9195-F7D7-468F-9696-A77A26B18F76}" type="presOf" srcId="{AB389A4B-81CD-47F4-AC53-77C6CCDA77CA}" destId="{753AE736-51A9-4ACF-85CA-A535BD91B08A}" srcOrd="1" destOrd="0" presId="urn:microsoft.com/office/officeart/2005/8/layout/lProcess2"/>
    <dgm:cxn modelId="{209C9C9E-C3F8-4D27-8697-A6FB0C80B67F}" type="presOf" srcId="{91212D5D-B364-44BA-9771-63E526DCA0A1}" destId="{EE092F6B-38EB-47CC-973C-37F9D2288AA3}" srcOrd="1" destOrd="0" presId="urn:microsoft.com/office/officeart/2005/8/layout/lProcess2"/>
    <dgm:cxn modelId="{1D029AA6-958D-47DB-9F92-AA3342059FCC}" type="presOf" srcId="{91212D5D-B364-44BA-9771-63E526DCA0A1}" destId="{A122FDB8-4E52-4F24-924C-55B39B5EEF83}" srcOrd="0" destOrd="0" presId="urn:microsoft.com/office/officeart/2005/8/layout/lProcess2"/>
    <dgm:cxn modelId="{0485C7B9-46CA-4C0E-96B3-8FFF5F37DD6A}" srcId="{E38B8181-43EA-4C6C-8C7F-7942035F0720}" destId="{91212D5D-B364-44BA-9771-63E526DCA0A1}" srcOrd="0" destOrd="0" parTransId="{FC78DAE6-83E5-4BC1-AC49-428A15180E75}" sibTransId="{D781E287-DBE3-4186-9876-37AE3B390319}"/>
    <dgm:cxn modelId="{8FE87FC7-AC18-4165-B440-4AA7AC67A8D9}" srcId="{E38B8181-43EA-4C6C-8C7F-7942035F0720}" destId="{D947A9E2-2E97-41F2-A0A4-BF4BF3FB2559}" srcOrd="2" destOrd="0" parTransId="{F31CB54F-5BC7-406C-A91B-50C08608D24C}" sibTransId="{45F2920D-B956-4AA8-9189-A759A3BF2F00}"/>
    <dgm:cxn modelId="{AD0029D9-5E4E-4AD7-A0EC-A4368455A356}" srcId="{91212D5D-B364-44BA-9771-63E526DCA0A1}" destId="{E5137407-CC18-4373-B384-F7A66AF869B6}" srcOrd="0" destOrd="0" parTransId="{F5863376-7605-42DC-B58D-060041DC79FF}" sibTransId="{504827BD-EDE8-4FEA-B41A-5C51374DAF4F}"/>
    <dgm:cxn modelId="{201120F7-9B21-4830-87D4-34EE8C2CC62D}" srcId="{D947A9E2-2E97-41F2-A0A4-BF4BF3FB2559}" destId="{1D647303-1950-49A3-B3E3-511B5EAB22C1}" srcOrd="0" destOrd="0" parTransId="{D66D6EFC-F33F-49A7-81CA-B602591CF869}" sibTransId="{85CCCEDD-0FA1-4E6A-8302-32155D37CF8E}"/>
    <dgm:cxn modelId="{08E6926F-999E-4517-BB1A-F96A0310265E}" type="presParOf" srcId="{B8929512-66CE-4E69-82E8-652F86CC7F13}" destId="{8AD1CDE0-660F-41C6-A232-AB49A944F4B1}" srcOrd="0" destOrd="0" presId="urn:microsoft.com/office/officeart/2005/8/layout/lProcess2"/>
    <dgm:cxn modelId="{CE9A049D-E141-4083-9323-2C683065397A}" type="presParOf" srcId="{8AD1CDE0-660F-41C6-A232-AB49A944F4B1}" destId="{A122FDB8-4E52-4F24-924C-55B39B5EEF83}" srcOrd="0" destOrd="0" presId="urn:microsoft.com/office/officeart/2005/8/layout/lProcess2"/>
    <dgm:cxn modelId="{C0BB5914-70D5-4110-8C04-9D450E2EDFE8}" type="presParOf" srcId="{8AD1CDE0-660F-41C6-A232-AB49A944F4B1}" destId="{EE092F6B-38EB-47CC-973C-37F9D2288AA3}" srcOrd="1" destOrd="0" presId="urn:microsoft.com/office/officeart/2005/8/layout/lProcess2"/>
    <dgm:cxn modelId="{05DBDA82-E4F4-4AB8-A1EB-7EC172ABBE02}" type="presParOf" srcId="{8AD1CDE0-660F-41C6-A232-AB49A944F4B1}" destId="{0448C864-2F82-4625-BA73-B4FC84AC036D}" srcOrd="2" destOrd="0" presId="urn:microsoft.com/office/officeart/2005/8/layout/lProcess2"/>
    <dgm:cxn modelId="{28C03247-E7BF-4132-B9B5-AA28D4CE75CE}" type="presParOf" srcId="{0448C864-2F82-4625-BA73-B4FC84AC036D}" destId="{28883B9D-21D9-4368-977E-4B0BD2C2A37C}" srcOrd="0" destOrd="0" presId="urn:microsoft.com/office/officeart/2005/8/layout/lProcess2"/>
    <dgm:cxn modelId="{4C34A2E8-D3DD-48CD-96F1-BD14E8265A75}" type="presParOf" srcId="{28883B9D-21D9-4368-977E-4B0BD2C2A37C}" destId="{332FF867-5FFB-469C-995E-0CBE678B8048}" srcOrd="0" destOrd="0" presId="urn:microsoft.com/office/officeart/2005/8/layout/lProcess2"/>
    <dgm:cxn modelId="{250EF62A-AEFF-40E0-A39A-E8780120EB6A}" type="presParOf" srcId="{B8929512-66CE-4E69-82E8-652F86CC7F13}" destId="{A9B3C3CC-83A5-44FD-8337-23960E5C80F6}" srcOrd="1" destOrd="0" presId="urn:microsoft.com/office/officeart/2005/8/layout/lProcess2"/>
    <dgm:cxn modelId="{6C4A4D70-C1C2-4D21-8A99-B71DCD27BB33}" type="presParOf" srcId="{B8929512-66CE-4E69-82E8-652F86CC7F13}" destId="{51288686-012E-497C-AA23-CFA1CCA57442}" srcOrd="2" destOrd="0" presId="urn:microsoft.com/office/officeart/2005/8/layout/lProcess2"/>
    <dgm:cxn modelId="{E09CE3DD-1A3E-4D7A-8D02-75EDE870DD29}" type="presParOf" srcId="{51288686-012E-497C-AA23-CFA1CCA57442}" destId="{D876CD57-D8B0-4B1D-8A27-4B504FE0CFD4}" srcOrd="0" destOrd="0" presId="urn:microsoft.com/office/officeart/2005/8/layout/lProcess2"/>
    <dgm:cxn modelId="{74F7B8D7-D1E3-4561-93EF-FF9712C205DD}" type="presParOf" srcId="{51288686-012E-497C-AA23-CFA1CCA57442}" destId="{753AE736-51A9-4ACF-85CA-A535BD91B08A}" srcOrd="1" destOrd="0" presId="urn:microsoft.com/office/officeart/2005/8/layout/lProcess2"/>
    <dgm:cxn modelId="{56898C8E-CBB4-464E-A05A-A938E6EF7C6F}" type="presParOf" srcId="{51288686-012E-497C-AA23-CFA1CCA57442}" destId="{2037BDEE-75EB-46C8-AD3A-65B225526994}" srcOrd="2" destOrd="0" presId="urn:microsoft.com/office/officeart/2005/8/layout/lProcess2"/>
    <dgm:cxn modelId="{7474C88F-B077-4E52-9389-DB71FE1EE583}" type="presParOf" srcId="{2037BDEE-75EB-46C8-AD3A-65B225526994}" destId="{051F6D2A-97B8-4664-A450-ADDEC308F567}" srcOrd="0" destOrd="0" presId="urn:microsoft.com/office/officeart/2005/8/layout/lProcess2"/>
    <dgm:cxn modelId="{D51C9842-0333-42F3-B1B8-70BB34EF5298}" type="presParOf" srcId="{051F6D2A-97B8-4664-A450-ADDEC308F567}" destId="{212315B0-941C-424E-9FB8-A723AE83E221}" srcOrd="0" destOrd="0" presId="urn:microsoft.com/office/officeart/2005/8/layout/lProcess2"/>
    <dgm:cxn modelId="{D41932D7-DB46-4904-88C2-4968B0EE258B}" type="presParOf" srcId="{B8929512-66CE-4E69-82E8-652F86CC7F13}" destId="{A06D310C-D4D5-42FB-BF30-8EB821EF41B8}" srcOrd="3" destOrd="0" presId="urn:microsoft.com/office/officeart/2005/8/layout/lProcess2"/>
    <dgm:cxn modelId="{AC37D594-B731-481B-B6FC-DF8BB7CC3EEF}" type="presParOf" srcId="{B8929512-66CE-4E69-82E8-652F86CC7F13}" destId="{72FABE35-4F33-4B5B-B72B-CE129740AEE7}" srcOrd="4" destOrd="0" presId="urn:microsoft.com/office/officeart/2005/8/layout/lProcess2"/>
    <dgm:cxn modelId="{20205CCD-3134-441A-BEAF-7C5A6E3D5EC9}" type="presParOf" srcId="{72FABE35-4F33-4B5B-B72B-CE129740AEE7}" destId="{3D118472-EB36-44B0-9CAB-89E96EDD8635}" srcOrd="0" destOrd="0" presId="urn:microsoft.com/office/officeart/2005/8/layout/lProcess2"/>
    <dgm:cxn modelId="{BCB07279-88EC-40FB-BCB3-BF071DDA10B8}" type="presParOf" srcId="{72FABE35-4F33-4B5B-B72B-CE129740AEE7}" destId="{D4961126-1C1B-4F88-A93F-D46D2428CFA2}" srcOrd="1" destOrd="0" presId="urn:microsoft.com/office/officeart/2005/8/layout/lProcess2"/>
    <dgm:cxn modelId="{134B4711-562A-4E32-92F8-7638FD2C4840}" type="presParOf" srcId="{72FABE35-4F33-4B5B-B72B-CE129740AEE7}" destId="{5B693B72-B78F-4290-A233-520D95F4748A}" srcOrd="2" destOrd="0" presId="urn:microsoft.com/office/officeart/2005/8/layout/lProcess2"/>
    <dgm:cxn modelId="{5A6E1D6A-410F-44A8-8D1F-830954F79DCD}" type="presParOf" srcId="{5B693B72-B78F-4290-A233-520D95F4748A}" destId="{3DB0FDFE-0615-4995-85DF-314DBB0DEE15}" srcOrd="0" destOrd="0" presId="urn:microsoft.com/office/officeart/2005/8/layout/lProcess2"/>
    <dgm:cxn modelId="{EC0504A7-74B3-4A45-A806-56DC9387496F}" type="presParOf" srcId="{3DB0FDFE-0615-4995-85DF-314DBB0DEE15}" destId="{522A87F0-0F3E-418E-844F-50D37BC18AE4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D1C852-5D74-4F80-A124-F60AD28CB0FD}" type="doc">
      <dgm:prSet loTypeId="urn:microsoft.com/office/officeart/2005/8/layout/hChevron3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B1946031-CC6F-4798-BB24-30EB0DDC5277}">
      <dgm:prSet phldrT="[Text]" phldr="0"/>
      <dgm:spPr/>
      <dgm:t>
        <a:bodyPr/>
        <a:lstStyle/>
        <a:p>
          <a:pPr algn="l"/>
          <a:r>
            <a:rPr lang="fr-FR" dirty="0"/>
            <a:t>Filtrage électrique interne </a:t>
          </a:r>
        </a:p>
      </dgm:t>
    </dgm:pt>
    <dgm:pt modelId="{DF9440CB-AEE4-4B4A-BAD8-C0D9B8C74E86}" type="parTrans" cxnId="{A54F9490-DB61-4C3A-A7B7-F92EB5A17874}">
      <dgm:prSet/>
      <dgm:spPr/>
      <dgm:t>
        <a:bodyPr/>
        <a:lstStyle/>
        <a:p>
          <a:pPr algn="l"/>
          <a:endParaRPr lang="fr-FR"/>
        </a:p>
      </dgm:t>
    </dgm:pt>
    <dgm:pt modelId="{6409785A-3A6B-45D0-AECD-0CF83416FC6F}" type="sibTrans" cxnId="{A54F9490-DB61-4C3A-A7B7-F92EB5A17874}">
      <dgm:prSet/>
      <dgm:spPr/>
      <dgm:t>
        <a:bodyPr/>
        <a:lstStyle/>
        <a:p>
          <a:pPr algn="l"/>
          <a:endParaRPr lang="fr-FR"/>
        </a:p>
      </dgm:t>
    </dgm:pt>
    <dgm:pt modelId="{E1F92468-EED0-446C-8F01-19EC7893BEB7}">
      <dgm:prSet phldrT="[Text]" phldr="0"/>
      <dgm:spPr/>
      <dgm:t>
        <a:bodyPr/>
        <a:lstStyle/>
        <a:p>
          <a:pPr algn="l"/>
          <a:r>
            <a:rPr lang="fr-FR" dirty="0"/>
            <a:t>Induction et </a:t>
          </a:r>
        </a:p>
        <a:p>
          <a:pPr algn="l"/>
          <a:r>
            <a:rPr lang="fr-FR" dirty="0"/>
            <a:t>filtrage spatial</a:t>
          </a:r>
        </a:p>
      </dgm:t>
    </dgm:pt>
    <dgm:pt modelId="{4C193A07-5FE8-45B1-B54F-43ACFEBFA259}" type="parTrans" cxnId="{F47725DE-476A-4FAB-9188-719AD3DBBAB7}">
      <dgm:prSet/>
      <dgm:spPr/>
      <dgm:t>
        <a:bodyPr/>
        <a:lstStyle/>
        <a:p>
          <a:pPr algn="l"/>
          <a:endParaRPr lang="fr-FR"/>
        </a:p>
      </dgm:t>
    </dgm:pt>
    <dgm:pt modelId="{24A5BA3C-A19D-47E5-9693-F13538540662}" type="sibTrans" cxnId="{F47725DE-476A-4FAB-9188-719AD3DBBAB7}">
      <dgm:prSet/>
      <dgm:spPr/>
      <dgm:t>
        <a:bodyPr/>
        <a:lstStyle/>
        <a:p>
          <a:pPr algn="l"/>
          <a:endParaRPr lang="fr-FR"/>
        </a:p>
      </dgm:t>
    </dgm:pt>
    <dgm:pt modelId="{2999190F-4751-4CC0-8C2C-D4D1BD8541A5}">
      <dgm:prSet phldrT="[Text]" phldr="0"/>
      <dgm:spPr/>
      <dgm:t>
        <a:bodyPr/>
        <a:lstStyle/>
        <a:p>
          <a:pPr algn="l"/>
          <a:r>
            <a:rPr lang="fr-FR" dirty="0"/>
            <a:t>Reduction du « Hum »</a:t>
          </a:r>
        </a:p>
      </dgm:t>
    </dgm:pt>
    <dgm:pt modelId="{B937862D-19FD-452C-9AA2-58269B000A85}" type="parTrans" cxnId="{9D335623-9A20-41EC-8986-84118AEFF14B}">
      <dgm:prSet/>
      <dgm:spPr/>
      <dgm:t>
        <a:bodyPr/>
        <a:lstStyle/>
        <a:p>
          <a:pPr algn="l"/>
          <a:endParaRPr lang="fr-FR"/>
        </a:p>
      </dgm:t>
    </dgm:pt>
    <dgm:pt modelId="{E02B0FFD-8631-41F2-A902-D43C76613677}" type="sibTrans" cxnId="{9D335623-9A20-41EC-8986-84118AEFF14B}">
      <dgm:prSet/>
      <dgm:spPr/>
      <dgm:t>
        <a:bodyPr/>
        <a:lstStyle/>
        <a:p>
          <a:pPr algn="l"/>
          <a:endParaRPr lang="fr-FR"/>
        </a:p>
      </dgm:t>
    </dgm:pt>
    <dgm:pt modelId="{3492A474-1DB8-418E-8701-8300C7EB9CDA}" type="pres">
      <dgm:prSet presAssocID="{AFD1C852-5D74-4F80-A124-F60AD28CB0FD}" presName="Name0" presStyleCnt="0">
        <dgm:presLayoutVars>
          <dgm:dir/>
          <dgm:resizeHandles val="exact"/>
        </dgm:presLayoutVars>
      </dgm:prSet>
      <dgm:spPr/>
    </dgm:pt>
    <dgm:pt modelId="{07B121FE-B513-4273-8542-483E825BE23A}" type="pres">
      <dgm:prSet presAssocID="{B1946031-CC6F-4798-BB24-30EB0DDC5277}" presName="parTxOnly" presStyleLbl="node1" presStyleIdx="0" presStyleCnt="3" custScaleX="90834" custScaleY="433715">
        <dgm:presLayoutVars>
          <dgm:bulletEnabled val="1"/>
        </dgm:presLayoutVars>
      </dgm:prSet>
      <dgm:spPr/>
    </dgm:pt>
    <dgm:pt modelId="{DB817F39-88FC-4708-9DF3-C7F5734050DC}" type="pres">
      <dgm:prSet presAssocID="{6409785A-3A6B-45D0-AECD-0CF83416FC6F}" presName="parSpace" presStyleCnt="0"/>
      <dgm:spPr/>
    </dgm:pt>
    <dgm:pt modelId="{1C5D07C3-19A8-4A2B-ADAD-760FB67323AE}" type="pres">
      <dgm:prSet presAssocID="{E1F92468-EED0-446C-8F01-19EC7893BEB7}" presName="parTxOnly" presStyleLbl="node1" presStyleIdx="1" presStyleCnt="3" custScaleX="85590" custScaleY="433715">
        <dgm:presLayoutVars>
          <dgm:bulletEnabled val="1"/>
        </dgm:presLayoutVars>
      </dgm:prSet>
      <dgm:spPr/>
    </dgm:pt>
    <dgm:pt modelId="{095CFF29-6108-477A-98A8-6875BCA81A2B}" type="pres">
      <dgm:prSet presAssocID="{24A5BA3C-A19D-47E5-9693-F13538540662}" presName="parSpace" presStyleCnt="0"/>
      <dgm:spPr/>
    </dgm:pt>
    <dgm:pt modelId="{EDB0DA63-DB1A-4CF7-9C2D-141473F1AEC3}" type="pres">
      <dgm:prSet presAssocID="{2999190F-4751-4CC0-8C2C-D4D1BD8541A5}" presName="parTxOnly" presStyleLbl="node1" presStyleIdx="2" presStyleCnt="3" custScaleX="77451" custScaleY="433715">
        <dgm:presLayoutVars>
          <dgm:bulletEnabled val="1"/>
        </dgm:presLayoutVars>
      </dgm:prSet>
      <dgm:spPr/>
    </dgm:pt>
  </dgm:ptLst>
  <dgm:cxnLst>
    <dgm:cxn modelId="{9D335623-9A20-41EC-8986-84118AEFF14B}" srcId="{AFD1C852-5D74-4F80-A124-F60AD28CB0FD}" destId="{2999190F-4751-4CC0-8C2C-D4D1BD8541A5}" srcOrd="2" destOrd="0" parTransId="{B937862D-19FD-452C-9AA2-58269B000A85}" sibTransId="{E02B0FFD-8631-41F2-A902-D43C76613677}"/>
    <dgm:cxn modelId="{5087FD27-24EB-4362-B69A-7FAAD70FE1F4}" type="presOf" srcId="{2999190F-4751-4CC0-8C2C-D4D1BD8541A5}" destId="{EDB0DA63-DB1A-4CF7-9C2D-141473F1AEC3}" srcOrd="0" destOrd="0" presId="urn:microsoft.com/office/officeart/2005/8/layout/hChevron3"/>
    <dgm:cxn modelId="{F295B632-26E4-4F8E-AE79-C863461F4647}" type="presOf" srcId="{E1F92468-EED0-446C-8F01-19EC7893BEB7}" destId="{1C5D07C3-19A8-4A2B-ADAD-760FB67323AE}" srcOrd="0" destOrd="0" presId="urn:microsoft.com/office/officeart/2005/8/layout/hChevron3"/>
    <dgm:cxn modelId="{0A6C1934-F3BE-4907-9741-F2ECA6A31CF0}" type="presOf" srcId="{AFD1C852-5D74-4F80-A124-F60AD28CB0FD}" destId="{3492A474-1DB8-418E-8701-8300C7EB9CDA}" srcOrd="0" destOrd="0" presId="urn:microsoft.com/office/officeart/2005/8/layout/hChevron3"/>
    <dgm:cxn modelId="{A54F9490-DB61-4C3A-A7B7-F92EB5A17874}" srcId="{AFD1C852-5D74-4F80-A124-F60AD28CB0FD}" destId="{B1946031-CC6F-4798-BB24-30EB0DDC5277}" srcOrd="0" destOrd="0" parTransId="{DF9440CB-AEE4-4B4A-BAD8-C0D9B8C74E86}" sibTransId="{6409785A-3A6B-45D0-AECD-0CF83416FC6F}"/>
    <dgm:cxn modelId="{A28B0F9F-7F70-4B9B-AD8E-DEBE0C3994F7}" type="presOf" srcId="{B1946031-CC6F-4798-BB24-30EB0DDC5277}" destId="{07B121FE-B513-4273-8542-483E825BE23A}" srcOrd="0" destOrd="0" presId="urn:microsoft.com/office/officeart/2005/8/layout/hChevron3"/>
    <dgm:cxn modelId="{F47725DE-476A-4FAB-9188-719AD3DBBAB7}" srcId="{AFD1C852-5D74-4F80-A124-F60AD28CB0FD}" destId="{E1F92468-EED0-446C-8F01-19EC7893BEB7}" srcOrd="1" destOrd="0" parTransId="{4C193A07-5FE8-45B1-B54F-43ACFEBFA259}" sibTransId="{24A5BA3C-A19D-47E5-9693-F13538540662}"/>
    <dgm:cxn modelId="{183DF5FB-2D9F-4A87-A6B3-1671C769EC58}" type="presParOf" srcId="{3492A474-1DB8-418E-8701-8300C7EB9CDA}" destId="{07B121FE-B513-4273-8542-483E825BE23A}" srcOrd="0" destOrd="0" presId="urn:microsoft.com/office/officeart/2005/8/layout/hChevron3"/>
    <dgm:cxn modelId="{DFE9872F-29F9-4634-B09D-A4AB7A045767}" type="presParOf" srcId="{3492A474-1DB8-418E-8701-8300C7EB9CDA}" destId="{DB817F39-88FC-4708-9DF3-C7F5734050DC}" srcOrd="1" destOrd="0" presId="urn:microsoft.com/office/officeart/2005/8/layout/hChevron3"/>
    <dgm:cxn modelId="{BE1A6A62-7316-4FD4-9DD5-327C01F70C73}" type="presParOf" srcId="{3492A474-1DB8-418E-8701-8300C7EB9CDA}" destId="{1C5D07C3-19A8-4A2B-ADAD-760FB67323AE}" srcOrd="2" destOrd="0" presId="urn:microsoft.com/office/officeart/2005/8/layout/hChevron3"/>
    <dgm:cxn modelId="{C7840BB5-EAAD-4336-89F2-604ABDBD43C8}" type="presParOf" srcId="{3492A474-1DB8-418E-8701-8300C7EB9CDA}" destId="{095CFF29-6108-477A-98A8-6875BCA81A2B}" srcOrd="3" destOrd="0" presId="urn:microsoft.com/office/officeart/2005/8/layout/hChevron3"/>
    <dgm:cxn modelId="{AAC58604-1623-4538-B840-D6B80108F5A3}" type="presParOf" srcId="{3492A474-1DB8-418E-8701-8300C7EB9CDA}" destId="{EDB0DA63-DB1A-4CF7-9C2D-141473F1AEC3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2FDB8-4E52-4F24-924C-55B39B5EEF83}">
      <dsp:nvSpPr>
        <dsp:cNvPr id="0" name=""/>
        <dsp:cNvSpPr/>
      </dsp:nvSpPr>
      <dsp:spPr>
        <a:xfrm>
          <a:off x="964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50M</a:t>
          </a:r>
          <a:endParaRPr lang="fr-FR" sz="5400" kern="1200" dirty="0">
            <a:latin typeface="Arial Black" panose="020B0A04020102020204" pitchFamily="34" charset="0"/>
          </a:endParaRPr>
        </a:p>
      </dsp:txBody>
      <dsp:txXfrm>
        <a:off x="964" y="0"/>
        <a:ext cx="2507184" cy="940174"/>
      </dsp:txXfrm>
    </dsp:sp>
    <dsp:sp modelId="{332FF867-5FFB-469C-995E-0CBE678B8048}">
      <dsp:nvSpPr>
        <dsp:cNvPr id="0" name=""/>
        <dsp:cNvSpPr/>
      </dsp:nvSpPr>
      <dsp:spPr>
        <a:xfrm>
          <a:off x="251682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Nombre de guitare estimé dans le monde</a:t>
          </a:r>
        </a:p>
      </dsp:txBody>
      <dsp:txXfrm>
        <a:off x="293858" y="1280868"/>
        <a:ext cx="1921395" cy="1355654"/>
      </dsp:txXfrm>
    </dsp:sp>
    <dsp:sp modelId="{D876CD57-D8B0-4B1D-8A27-4B504FE0CFD4}">
      <dsp:nvSpPr>
        <dsp:cNvPr id="0" name=""/>
        <dsp:cNvSpPr/>
      </dsp:nvSpPr>
      <dsp:spPr>
        <a:xfrm>
          <a:off x="2696188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10,3B</a:t>
          </a:r>
        </a:p>
      </dsp:txBody>
      <dsp:txXfrm>
        <a:off x="2696188" y="0"/>
        <a:ext cx="2507184" cy="940174"/>
      </dsp:txXfrm>
    </dsp:sp>
    <dsp:sp modelId="{212315B0-941C-424E-9FB8-A723AE83E221}">
      <dsp:nvSpPr>
        <dsp:cNvPr id="0" name=""/>
        <dsp:cNvSpPr/>
      </dsp:nvSpPr>
      <dsp:spPr>
        <a:xfrm>
          <a:off x="2946906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Valeur du marché de la guitare en 2024</a:t>
          </a:r>
        </a:p>
      </dsp:txBody>
      <dsp:txXfrm>
        <a:off x="2989082" y="1280868"/>
        <a:ext cx="1921395" cy="1355654"/>
      </dsp:txXfrm>
    </dsp:sp>
    <dsp:sp modelId="{3D118472-EB36-44B0-9CAB-89E96EDD8635}">
      <dsp:nvSpPr>
        <dsp:cNvPr id="0" name=""/>
        <dsp:cNvSpPr/>
      </dsp:nvSpPr>
      <dsp:spPr>
        <a:xfrm>
          <a:off x="5391411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48%</a:t>
          </a:r>
        </a:p>
      </dsp:txBody>
      <dsp:txXfrm>
        <a:off x="5391411" y="0"/>
        <a:ext cx="2507184" cy="940174"/>
      </dsp:txXfrm>
    </dsp:sp>
    <dsp:sp modelId="{522A87F0-0F3E-418E-844F-50D37BC18AE4}">
      <dsp:nvSpPr>
        <dsp:cNvPr id="0" name=""/>
        <dsp:cNvSpPr/>
      </dsp:nvSpPr>
      <dsp:spPr>
        <a:xfrm>
          <a:off x="5642130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Part de marché des guitares électriques </a:t>
          </a:r>
        </a:p>
      </dsp:txBody>
      <dsp:txXfrm>
        <a:off x="5684306" y="1280868"/>
        <a:ext cx="1921395" cy="1355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121FE-B513-4273-8542-483E825BE23A}">
      <dsp:nvSpPr>
        <dsp:cNvPr id="0" name=""/>
        <dsp:cNvSpPr/>
      </dsp:nvSpPr>
      <dsp:spPr>
        <a:xfrm>
          <a:off x="2067" y="0"/>
          <a:ext cx="2955431" cy="47223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Filtrage électrique interne </a:t>
          </a:r>
        </a:p>
      </dsp:txBody>
      <dsp:txXfrm>
        <a:off x="2067" y="0"/>
        <a:ext cx="2837372" cy="472237"/>
      </dsp:txXfrm>
    </dsp:sp>
    <dsp:sp modelId="{1C5D07C3-19A8-4A2B-ADAD-760FB67323AE}">
      <dsp:nvSpPr>
        <dsp:cNvPr id="0" name=""/>
        <dsp:cNvSpPr/>
      </dsp:nvSpPr>
      <dsp:spPr>
        <a:xfrm>
          <a:off x="2306766" y="0"/>
          <a:ext cx="2784809" cy="4722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Induction et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filtrage spatial</a:t>
          </a:r>
        </a:p>
      </dsp:txBody>
      <dsp:txXfrm>
        <a:off x="2542885" y="0"/>
        <a:ext cx="2312572" cy="472237"/>
      </dsp:txXfrm>
    </dsp:sp>
    <dsp:sp modelId="{EDB0DA63-DB1A-4CF7-9C2D-141473F1AEC3}">
      <dsp:nvSpPr>
        <dsp:cNvPr id="0" name=""/>
        <dsp:cNvSpPr/>
      </dsp:nvSpPr>
      <dsp:spPr>
        <a:xfrm>
          <a:off x="4440842" y="0"/>
          <a:ext cx="2519993" cy="4722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Reduction du « Hum »</a:t>
          </a:r>
        </a:p>
      </dsp:txBody>
      <dsp:txXfrm>
        <a:off x="4676961" y="0"/>
        <a:ext cx="2047756" cy="472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54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9924-4D85-1D24-FD57-C1C57323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7FBF6-954E-174E-9BA2-B4BC50FE7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8284A-A707-148D-40DD-E5BD26968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76E1-6CD1-CD7C-AB4C-E63A4F6CF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149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76C9-2125-A9B2-8374-6EE28345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BEBB7-C6A9-F035-C798-5E939F3A4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D1DC4-D857-6ABF-3DDC-E4E7A0922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B737E-2622-AA4F-316B-3548DE862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628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DC8-F1D2-F48F-5144-29C93AD3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3ED31-35E2-A213-E2DC-429767622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960C-93AA-3EA5-8A9A-E9404EC97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C1EA0-8E19-54B2-AF8F-866210607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95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19CC-8F2E-E730-26C5-50B13133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DB5F9-19A2-8239-EF2B-F99FDE45A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59BC5-E338-8D25-9AFB-D31191AB4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1B000-4390-D34E-E236-7CDF47B3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188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3F19-FC15-FF58-F6DC-6A5CB966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94F60-8385-2E11-EAD0-9A2DE7129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9070F-D77F-D61D-1636-7AA560F64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7FC55-50FC-C09A-3D98-7BA145570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028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F5D8-B5ED-3A5C-25AA-355EA500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B50A7-9125-FF61-C35A-0BAAB7787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A70C6-EF27-F3BA-F99C-2D1A0396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F1CD-8CD2-A36F-E4D6-6DC1E0CE9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183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6850-C3D8-4967-E994-01E39D0B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C4ACC-CC35-5895-5BAC-0D53DBA82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04066-1246-1CA3-2E85-6F8B1FE69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FB24B-053C-5A82-E979-432DD32C2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713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55E5-34B6-A91D-57BA-0BA2E1F3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1174F-4483-8765-082B-6AD207855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2B9F3-31ED-588E-D434-8E1DD3459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CEEC3-FD3F-2A98-CBC3-30A11301A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3347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BD48A-42F1-BCC3-B764-CF12237D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9E708-F8D7-41C7-2CA7-3919B95D0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87EFF-D37C-DFB8-A161-2C7CD3B50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18E74-CD61-AF8C-7F1E-04A7E2032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334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A336-7D3A-EAE6-9F30-4197D11A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56105-101D-4ABB-45A9-D39435CAD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C566F-8BBA-5FAB-C7D8-8B782678D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6955B-7625-293A-C6C0-9FA48F69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352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 : Equation de mouvement de la corde</a:t>
            </a:r>
          </a:p>
          <a:p>
            <a:r>
              <a:rPr lang="fr-FR" dirty="0"/>
              <a:t>2 : Idée Maquette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61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41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5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6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microsoft.com/office/2007/relationships/hdphoto" Target="../media/hdphoto3.wdp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15.png"/><Relationship Id="rId3" Type="http://schemas.openxmlformats.org/officeDocument/2006/relationships/image" Target="../media/image35.jpeg"/><Relationship Id="rId7" Type="http://schemas.openxmlformats.org/officeDocument/2006/relationships/image" Target="../media/image342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2.png"/><Relationship Id="rId11" Type="http://schemas.openxmlformats.org/officeDocument/2006/relationships/image" Target="../media/image38.png"/><Relationship Id="rId5" Type="http://schemas.openxmlformats.org/officeDocument/2006/relationships/image" Target="../media/image36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16.png"/><Relationship Id="rId4" Type="http://schemas.openxmlformats.org/officeDocument/2006/relationships/image" Target="../media/image311.png"/><Relationship Id="rId9" Type="http://schemas.openxmlformats.org/officeDocument/2006/relationships/image" Target="../media/image360.png"/><Relationship Id="rId1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16.png"/><Relationship Id="rId3" Type="http://schemas.openxmlformats.org/officeDocument/2006/relationships/image" Target="../media/image35.jpeg"/><Relationship Id="rId21" Type="http://schemas.microsoft.com/office/2007/relationships/hdphoto" Target="../media/hdphoto2.wdp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7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10" Type="http://schemas.openxmlformats.org/officeDocument/2006/relationships/image" Target="../media/image51.png"/><Relationship Id="rId19" Type="http://schemas.openxmlformats.org/officeDocument/2006/relationships/image" Target="../media/image58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4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microsoft.com/office/2007/relationships/hdphoto" Target="../media/hdphoto5.wdp"/><Relationship Id="rId7" Type="http://schemas.microsoft.com/office/2007/relationships/hdphoto" Target="../media/hdphoto6.wdp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320.png"/><Relationship Id="rId4" Type="http://schemas.openxmlformats.org/officeDocument/2006/relationships/image" Target="../media/image66.png"/><Relationship Id="rId9" Type="http://schemas.openxmlformats.org/officeDocument/2006/relationships/image" Target="../media/image3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1.png"/><Relationship Id="rId3" Type="http://schemas.openxmlformats.org/officeDocument/2006/relationships/image" Target="../media/image68.png"/><Relationship Id="rId7" Type="http://schemas.openxmlformats.org/officeDocument/2006/relationships/image" Target="../media/image4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0.png"/><Relationship Id="rId5" Type="http://schemas.openxmlformats.org/officeDocument/2006/relationships/image" Target="../media/image69.png"/><Relationship Id="rId10" Type="http://schemas.openxmlformats.org/officeDocument/2006/relationships/image" Target="../media/image401.png"/><Relationship Id="rId4" Type="http://schemas.openxmlformats.org/officeDocument/2006/relationships/image" Target="../media/image35.jpeg"/><Relationship Id="rId9" Type="http://schemas.openxmlformats.org/officeDocument/2006/relationships/image" Target="../media/image44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5.jpeg"/><Relationship Id="rId7" Type="http://schemas.openxmlformats.org/officeDocument/2006/relationships/image" Target="../media/image442.png"/><Relationship Id="rId12" Type="http://schemas.openxmlformats.org/officeDocument/2006/relationships/image" Target="../media/image40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1.png"/><Relationship Id="rId11" Type="http://schemas.openxmlformats.org/officeDocument/2006/relationships/image" Target="../media/image450.png"/><Relationship Id="rId5" Type="http://schemas.openxmlformats.org/officeDocument/2006/relationships/image" Target="../media/image420.png"/><Relationship Id="rId10" Type="http://schemas.openxmlformats.org/officeDocument/2006/relationships/image" Target="../media/image441.png"/><Relationship Id="rId4" Type="http://schemas.openxmlformats.org/officeDocument/2006/relationships/image" Target="../media/image410.png"/><Relationship Id="rId9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92.png"/><Relationship Id="rId7" Type="http://schemas.openxmlformats.org/officeDocument/2006/relationships/image" Target="../media/image22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11" Type="http://schemas.openxmlformats.org/officeDocument/2006/relationships/image" Target="../media/image74.png"/><Relationship Id="rId5" Type="http://schemas.openxmlformats.org/officeDocument/2006/relationships/image" Target="../media/image72.png"/><Relationship Id="rId10" Type="http://schemas.openxmlformats.org/officeDocument/2006/relationships/image" Target="../media/image73.png"/><Relationship Id="rId4" Type="http://schemas.openxmlformats.org/officeDocument/2006/relationships/image" Target="../media/image35.jpeg"/><Relationship Id="rId9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png"/><Relationship Id="rId3" Type="http://schemas.openxmlformats.org/officeDocument/2006/relationships/image" Target="../media/image521.png"/><Relationship Id="rId7" Type="http://schemas.openxmlformats.org/officeDocument/2006/relationships/image" Target="../media/image77.png"/><Relationship Id="rId12" Type="http://schemas.openxmlformats.org/officeDocument/2006/relationships/image" Target="../media/image81.png"/><Relationship Id="rId2" Type="http://schemas.openxmlformats.org/officeDocument/2006/relationships/image" Target="../media/image740.png"/><Relationship Id="rId16" Type="http://schemas.openxmlformats.org/officeDocument/2006/relationships/image" Target="../media/image53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0.png"/><Relationship Id="rId5" Type="http://schemas.openxmlformats.org/officeDocument/2006/relationships/image" Target="../media/image18.png"/><Relationship Id="rId15" Type="http://schemas.openxmlformats.org/officeDocument/2006/relationships/image" Target="../media/image520.png"/><Relationship Id="rId10" Type="http://schemas.openxmlformats.org/officeDocument/2006/relationships/image" Target="../media/image79.png"/><Relationship Id="rId4" Type="http://schemas.openxmlformats.org/officeDocument/2006/relationships/image" Target="../media/image76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jpeg"/><Relationship Id="rId5" Type="http://schemas.openxmlformats.org/officeDocument/2006/relationships/image" Target="../media/image670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8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0.png"/><Relationship Id="rId5" Type="http://schemas.openxmlformats.org/officeDocument/2006/relationships/image" Target="../media/image87.png"/><Relationship Id="rId4" Type="http://schemas.openxmlformats.org/officeDocument/2006/relationships/image" Target="../media/image3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jpeg"/><Relationship Id="rId4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3" Type="http://schemas.openxmlformats.org/officeDocument/2006/relationships/image" Target="../media/image16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blog/latest-updates/seymour-w-duncans-interview-with-seth-love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80.png"/><Relationship Id="rId7" Type="http://schemas.openxmlformats.org/officeDocument/2006/relationships/image" Target="../media/image30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2.png"/><Relationship Id="rId7" Type="http://schemas.openxmlformats.org/officeDocument/2006/relationships/image" Target="../media/image30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9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440.png"/><Relationship Id="rId7" Type="http://schemas.openxmlformats.org/officeDocument/2006/relationships/image" Target="../media/image30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11" Type="http://schemas.openxmlformats.org/officeDocument/2006/relationships/image" Target="../media/image85.jpeg"/><Relationship Id="rId10" Type="http://schemas.openxmlformats.org/officeDocument/2006/relationships/image" Target="../media/image330.png"/><Relationship Id="rId9" Type="http://schemas.openxmlformats.org/officeDocument/2006/relationships/image" Target="../media/image99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3.png"/><Relationship Id="rId7" Type="http://schemas.openxmlformats.org/officeDocument/2006/relationships/image" Target="../media/image11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106.png"/><Relationship Id="rId10" Type="http://schemas.openxmlformats.org/officeDocument/2006/relationships/image" Target="../media/image113.png"/><Relationship Id="rId4" Type="http://schemas.openxmlformats.org/officeDocument/2006/relationships/image" Target="../media/image105.png"/><Relationship Id="rId9" Type="http://schemas.openxmlformats.org/officeDocument/2006/relationships/image" Target="../media/image1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121F9-7273-1CF4-F60D-E01BEEB3AF96}"/>
              </a:ext>
            </a:extLst>
          </p:cNvPr>
          <p:cNvSpPr/>
          <p:nvPr/>
        </p:nvSpPr>
        <p:spPr>
          <a:xfrm>
            <a:off x="628649" y="262383"/>
            <a:ext cx="7886701" cy="7752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50" dirty="0">
                <a:latin typeface="Arial Black" panose="020B0A04020102020204" pitchFamily="34" charset="0"/>
              </a:rPr>
              <a:t>Guitare électrique : Etude de l’influence du type de bobinage dans le micro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CA91E38-0C9E-C7FB-9A24-FA98AC9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z="1050" b="1" dirty="0"/>
              <a:t>2026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1FCC0EF-4B1B-F41C-656B-2BE699CD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305C624-2E1B-C39E-B3B4-807FF6A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</a:t>
            </a:fld>
            <a:endParaRPr lang="fr-FR" b="1" dirty="0"/>
          </a:p>
        </p:txBody>
      </p:sp>
      <p:pic>
        <p:nvPicPr>
          <p:cNvPr id="1026" name="Picture 2" descr="Guitare, La Musique, Guitare Électrique">
            <a:extLst>
              <a:ext uri="{FF2B5EF4-FFF2-40B4-BE49-F238E27FC236}">
                <a16:creationId xmlns:a16="http://schemas.microsoft.com/office/drawing/2014/main" id="{0098F414-3793-7E07-8CE1-A5A56D7C2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423"/>
          <a:stretch>
            <a:fillRect/>
          </a:stretch>
        </p:blipFill>
        <p:spPr bwMode="auto">
          <a:xfrm>
            <a:off x="628662" y="1210868"/>
            <a:ext cx="7886688" cy="48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6559-264F-60FB-1D37-320CA1D9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643E5-0F2B-2FE2-DE0E-F9374C232A58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EE70EB-793F-4DE4-5CD3-06C1970A54E3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06D130B-046F-5180-5387-DB486A265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2026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01B0276-EFF9-456D-E1E7-4ED3C710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2</a:t>
            </a:fld>
            <a:endParaRPr lang="fr-F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7DB1DB-6877-AD95-7BFA-723F07652E4D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3F7BFC6-A0BB-58CB-0A26-507B2DF051F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oter Placeholder 2">
              <a:extLst>
                <a:ext uri="{FF2B5EF4-FFF2-40B4-BE49-F238E27FC236}">
                  <a16:creationId xmlns:a16="http://schemas.microsoft.com/office/drawing/2014/main" id="{C41DAE65-9B17-4A9F-2325-941B2D69EBC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404F2-95E1-6C3C-2AC8-4C3EA8AF8028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7685325-6DB0-D00D-F7AE-FBD7499B9A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5423282"/>
              </p:ext>
            </p:extLst>
          </p:nvPr>
        </p:nvGraphicFramePr>
        <p:xfrm>
          <a:off x="622219" y="1862043"/>
          <a:ext cx="7899561" cy="3133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Graphic 14" descr="Bank with solid fill">
            <a:extLst>
              <a:ext uri="{FF2B5EF4-FFF2-40B4-BE49-F238E27FC236}">
                <a16:creationId xmlns:a16="http://schemas.microsoft.com/office/drawing/2014/main" id="{0A05600E-BBED-713B-0765-F9FC4C8B4F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1043" y="4992646"/>
            <a:ext cx="914400" cy="914400"/>
          </a:xfrm>
          <a:prstGeom prst="rect">
            <a:avLst/>
          </a:prstGeom>
        </p:spPr>
      </p:pic>
      <p:pic>
        <p:nvPicPr>
          <p:cNvPr id="19" name="Graphic 18" descr="Earth globe: Africa and Europe with solid fill">
            <a:extLst>
              <a:ext uri="{FF2B5EF4-FFF2-40B4-BE49-F238E27FC236}">
                <a16:creationId xmlns:a16="http://schemas.microsoft.com/office/drawing/2014/main" id="{18E70CB9-42FE-B71F-A1C8-24CE93E332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6203" y="5040021"/>
            <a:ext cx="914400" cy="914400"/>
          </a:xfrm>
          <a:prstGeom prst="rect">
            <a:avLst/>
          </a:prstGeom>
        </p:spPr>
      </p:pic>
      <p:pic>
        <p:nvPicPr>
          <p:cNvPr id="21" name="Graphic 20" descr="Music note with solid fill">
            <a:extLst>
              <a:ext uri="{FF2B5EF4-FFF2-40B4-BE49-F238E27FC236}">
                <a16:creationId xmlns:a16="http://schemas.microsoft.com/office/drawing/2014/main" id="{84DFF8B1-F884-2B2A-7E80-9BC9C2825C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3397" y="503477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C7AD5E-8D0B-A100-8BC7-8968AFC40EF4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[1]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91B9131-EB23-2B12-2B61-FA931564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98856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04F0-B502-65BC-6A09-35CFB45E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6A58F24-9212-A31F-655A-74C609D63B8A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BCC782-0D3B-CED9-60B9-795B1EBEEAEE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D6EDA89-9709-22F1-2CE0-CBAB49D2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70CCCFE-D2CF-F036-A6E9-C8D4FF0A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3</a:t>
            </a:fld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CF84F-B284-FFE6-89D6-BC064CAF24E5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BD08EE-D283-DD4F-BD91-A527520D3F09}"/>
              </a:ext>
            </a:extLst>
          </p:cNvPr>
          <p:cNvGrpSpPr/>
          <p:nvPr/>
        </p:nvGrpSpPr>
        <p:grpSpPr>
          <a:xfrm>
            <a:off x="-136497" y="1186363"/>
            <a:ext cx="9223365" cy="3939301"/>
            <a:chOff x="-143123" y="1695451"/>
            <a:chExt cx="9223365" cy="389376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AD59C-BE3D-5354-10F1-5FB60C9BA5F8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93765"/>
              <a:chOff x="1006751" y="1255937"/>
              <a:chExt cx="6952009" cy="3872654"/>
            </a:xfrm>
          </p:grpSpPr>
          <p:pic>
            <p:nvPicPr>
              <p:cNvPr id="16" name="Picture 15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8671EF1F-85A1-8978-42ED-6DC100D8E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1026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CC805345-A78D-D399-DA6C-BFFD053F56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E11A188-CC0E-DA89-77CB-1A851E9A6CC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76318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31" name="Picture 8" descr="Sound PNG Transparent Images">
              <a:extLst>
                <a:ext uri="{FF2B5EF4-FFF2-40B4-BE49-F238E27FC236}">
                  <a16:creationId xmlns:a16="http://schemas.microsoft.com/office/drawing/2014/main" id="{C5A23D53-5DDB-D416-A41A-F727728A5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4464" y="2449034"/>
              <a:ext cx="2325778" cy="2325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27FF2A-9CB1-1AF7-C7B2-1DA1B28400B9}"/>
              </a:ext>
            </a:extLst>
          </p:cNvPr>
          <p:cNvGrpSpPr/>
          <p:nvPr/>
        </p:nvGrpSpPr>
        <p:grpSpPr>
          <a:xfrm>
            <a:off x="385745" y="5434033"/>
            <a:ext cx="8293184" cy="739359"/>
            <a:chOff x="385745" y="5494993"/>
            <a:chExt cx="8293184" cy="73935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4A1EF4-71C5-AFEC-F51C-54253E6418D7}"/>
                </a:ext>
              </a:extLst>
            </p:cNvPr>
            <p:cNvGrpSpPr/>
            <p:nvPr/>
          </p:nvGrpSpPr>
          <p:grpSpPr>
            <a:xfrm>
              <a:off x="385745" y="5495226"/>
              <a:ext cx="8293184" cy="739126"/>
              <a:chOff x="385745" y="5495226"/>
              <a:chExt cx="8293184" cy="73912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4F9E293-216E-15DD-4F6F-A29FF3E6E51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2C0AC77-D285-65B0-D66E-4E098D9D4641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E0D4AE5-9607-4DB4-BE36-56A5094F4DD2}"/>
                    </a:ext>
                  </a:extLst>
                </p:cNvPr>
                <p:cNvCxnSpPr>
                  <a:cxnSpLocks/>
                  <a:stCxn id="29" idx="3"/>
                  <a:endCxn id="12" idx="1"/>
                </p:cNvCxnSpPr>
                <p:nvPr/>
              </p:nvCxnSpPr>
              <p:spPr>
                <a:xfrm>
                  <a:off x="5467171" y="3428768"/>
                  <a:ext cx="572727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C0C996A-BF1C-90EE-8498-2E1A93560CCF}"/>
                    </a:ext>
                  </a:extLst>
                </p:cNvPr>
                <p:cNvCxnSpPr>
                  <a:cxnSpLocks/>
                  <a:endCxn id="29" idx="1"/>
                </p:cNvCxnSpPr>
                <p:nvPr/>
              </p:nvCxnSpPr>
              <p:spPr>
                <a:xfrm flipV="1">
                  <a:off x="1833334" y="3428768"/>
                  <a:ext cx="572726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2A0A7D1-8E1F-6D54-6F03-9C163D4121DE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259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574FC-33E4-37D5-8403-057A812BEBA3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96A4DF-AA46-B362-6EF6-93AC149BD5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3F6E7F-9ED7-799A-C6AD-763658746D8C}"/>
                </a:ext>
              </a:extLst>
            </p:cNvPr>
            <p:cNvSpPr/>
            <p:nvPr/>
          </p:nvSpPr>
          <p:spPr>
            <a:xfrm>
              <a:off x="1854515" y="5494993"/>
              <a:ext cx="3061111" cy="73912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Micro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E09AD39-0921-EB4A-1080-583A356887F2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[2]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8E4CD4-00A8-3FA0-0551-6DB2B6DC9710}"/>
              </a:ext>
            </a:extLst>
          </p:cNvPr>
          <p:cNvGrpSpPr/>
          <p:nvPr/>
        </p:nvGrpSpPr>
        <p:grpSpPr>
          <a:xfrm>
            <a:off x="0" y="2871"/>
            <a:ext cx="9144000" cy="457200"/>
            <a:chOff x="0" y="-4624"/>
            <a:chExt cx="91440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469BF9-1B77-D487-E34B-BA7FE33C007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Footer Placeholder 2">
              <a:extLst>
                <a:ext uri="{FF2B5EF4-FFF2-40B4-BE49-F238E27FC236}">
                  <a16:creationId xmlns:a16="http://schemas.microsoft.com/office/drawing/2014/main" id="{55F797F5-28D9-E72A-3828-5A4E5762DF7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75457-0E9C-DB85-2DE0-B08ED03C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428314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11099-0B67-D045-8865-09C50052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2321691-D7BF-2AF8-8675-49BED2CEB0AC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2EF41A-60DC-66CC-75A8-537EEA9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1A4F1CE-3A04-B681-3406-915026EC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4</a:t>
            </a:fld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C50ED2-D5FA-AD40-3121-5CBF693E87A5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 descr="Guitar Pickup Market By Region">
            <a:extLst>
              <a:ext uri="{FF2B5EF4-FFF2-40B4-BE49-F238E27FC236}">
                <a16:creationId xmlns:a16="http://schemas.microsoft.com/office/drawing/2014/main" id="{802ACDBF-FDCB-8D8E-2413-1C229B6DD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1" t="1" r="88" b="1662"/>
          <a:stretch>
            <a:fillRect/>
          </a:stretch>
        </p:blipFill>
        <p:spPr>
          <a:xfrm>
            <a:off x="330200" y="1423280"/>
            <a:ext cx="8498627" cy="46968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EA63F4-D860-8504-87A9-107CE6582E3C}"/>
              </a:ext>
            </a:extLst>
          </p:cNvPr>
          <p:cNvSpPr txBox="1"/>
          <p:nvPr/>
        </p:nvSpPr>
        <p:spPr>
          <a:xfrm>
            <a:off x="1323304" y="5115199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23.9%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A505B-E6DB-0F7F-FEDB-9A1443F4EE9B}"/>
              </a:ext>
            </a:extLst>
          </p:cNvPr>
          <p:cNvSpPr txBox="1"/>
          <p:nvPr/>
        </p:nvSpPr>
        <p:spPr>
          <a:xfrm>
            <a:off x="4427184" y="342900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18.0%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DD4FE6-684A-FDAD-A1EA-A9D7B890968F}"/>
              </a:ext>
            </a:extLst>
          </p:cNvPr>
          <p:cNvSpPr txBox="1"/>
          <p:nvPr/>
        </p:nvSpPr>
        <p:spPr>
          <a:xfrm>
            <a:off x="5935944" y="2970029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13.0%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78AF9-E908-446E-FF2D-427E7C3A2F17}"/>
              </a:ext>
            </a:extLst>
          </p:cNvPr>
          <p:cNvSpPr txBox="1"/>
          <p:nvPr/>
        </p:nvSpPr>
        <p:spPr>
          <a:xfrm>
            <a:off x="7483800" y="2662851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9.0%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982E51-6C2B-8ACF-880A-415E94B20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85" y="5785023"/>
            <a:ext cx="766733" cy="54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849ACA9-163C-6215-6E51-42DBC5316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697" y="5785023"/>
            <a:ext cx="766313" cy="54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51FAA9A-7462-BE8B-460B-EFCB9367AD19}"/>
              </a:ext>
            </a:extLst>
          </p:cNvPr>
          <p:cNvSpPr txBox="1"/>
          <p:nvPr/>
        </p:nvSpPr>
        <p:spPr>
          <a:xfrm>
            <a:off x="2874194" y="415263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36.1%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6E6BC-8C92-4F8C-9491-222C5A36E7EF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[1]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BCEE5-5183-DB97-9218-02677D2D77D7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A6B31C-A895-9DAD-8403-22D5A4842858}"/>
              </a:ext>
            </a:extLst>
          </p:cNvPr>
          <p:cNvSpPr/>
          <p:nvPr/>
        </p:nvSpPr>
        <p:spPr>
          <a:xfrm>
            <a:off x="1119987" y="3792511"/>
            <a:ext cx="2627554" cy="179670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E6B642-B609-22B2-66C3-744C7C6DC071}"/>
              </a:ext>
            </a:extLst>
          </p:cNvPr>
          <p:cNvSpPr txBox="1"/>
          <p:nvPr/>
        </p:nvSpPr>
        <p:spPr>
          <a:xfrm>
            <a:off x="1985724" y="3452852"/>
            <a:ext cx="785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C00000"/>
                </a:solidFill>
                <a:latin typeface="Arial Black" panose="020B0A04020102020204" pitchFamily="34" charset="0"/>
              </a:rPr>
              <a:t>60%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191606-F356-18B8-7060-5FE25908E21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C971E0-D12E-C9B4-706F-439E03FA4C8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Footer Placeholder 2">
              <a:extLst>
                <a:ext uri="{FF2B5EF4-FFF2-40B4-BE49-F238E27FC236}">
                  <a16:creationId xmlns:a16="http://schemas.microsoft.com/office/drawing/2014/main" id="{B0F71C06-FC89-064C-08DC-160CF4F89C3F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2D79C-69CE-1C6D-6D4B-69E550DB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56004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BA01-5E57-F9AD-7FB1-9B31B40E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EE4635-0063-BDB8-5C00-81533E5D3062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ABC560-5331-C119-99E8-E7E487C7F79C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169199-8D0C-60A6-8967-E16A78FE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2EDCE98-18ED-99C0-05A3-B2ABDB23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5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658A02-6127-85C2-C96E-6360A48C80D9}"/>
              </a:ext>
            </a:extLst>
          </p:cNvPr>
          <p:cNvSpPr/>
          <p:nvPr/>
        </p:nvSpPr>
        <p:spPr>
          <a:xfrm>
            <a:off x="678973" y="1178781"/>
            <a:ext cx="418307" cy="49533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60A34-3C0D-7ED1-37AC-A59777E64D3C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CBCFC-B5B7-AE0C-CD83-2301C046DD2B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5C0811-70DD-0811-C4AB-C5BA5BEE7798}"/>
              </a:ext>
            </a:extLst>
          </p:cNvPr>
          <p:cNvGrpSpPr/>
          <p:nvPr/>
        </p:nvGrpSpPr>
        <p:grpSpPr>
          <a:xfrm>
            <a:off x="757357" y="1267336"/>
            <a:ext cx="2794357" cy="1456239"/>
            <a:chOff x="757357" y="3644776"/>
            <a:chExt cx="2794357" cy="145623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B888DA-EA85-BACA-4DA1-AC7AADA6FDED}"/>
                </a:ext>
              </a:extLst>
            </p:cNvPr>
            <p:cNvSpPr/>
            <p:nvPr/>
          </p:nvSpPr>
          <p:spPr>
            <a:xfrm>
              <a:off x="757357" y="426327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E0E33EAE-DCBB-59AD-9586-0B278CCFB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7" r="7227"/>
            <a:stretch/>
          </p:blipFill>
          <p:spPr bwMode="auto">
            <a:xfrm>
              <a:off x="1802614" y="3655444"/>
              <a:ext cx="1749100" cy="1440000"/>
            </a:xfrm>
            <a:prstGeom prst="rect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A955A1-3FE8-E23C-FB32-197625FCE777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V="1">
              <a:off x="794262" y="3644776"/>
              <a:ext cx="1008352" cy="655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9FA4007-D881-298D-16E0-8B10B844EC49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794262" y="4478374"/>
              <a:ext cx="1008352" cy="622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C89D83A-8EAF-A29A-3D99-1A5A4BA3B567}"/>
              </a:ext>
            </a:extLst>
          </p:cNvPr>
          <p:cNvSpPr txBox="1"/>
          <p:nvPr/>
        </p:nvSpPr>
        <p:spPr>
          <a:xfrm>
            <a:off x="1071094" y="1826633"/>
            <a:ext cx="731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1931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1B0F9D-8566-0C35-DA3D-12B83B1D5D8F}"/>
              </a:ext>
            </a:extLst>
          </p:cNvPr>
          <p:cNvGrpSpPr/>
          <p:nvPr/>
        </p:nvGrpSpPr>
        <p:grpSpPr>
          <a:xfrm>
            <a:off x="4257048" y="1278005"/>
            <a:ext cx="4556752" cy="4679896"/>
            <a:chOff x="5128260" y="2555821"/>
            <a:chExt cx="3281103" cy="2838917"/>
          </a:xfrm>
        </p:grpSpPr>
        <p:pic>
          <p:nvPicPr>
            <p:cNvPr id="10" name="Picture 9" descr="A blue and white drawing of a square and a rectangle&#10;&#10;AI-generated content may be incorrect.">
              <a:extLst>
                <a:ext uri="{FF2B5EF4-FFF2-40B4-BE49-F238E27FC236}">
                  <a16:creationId xmlns:a16="http://schemas.microsoft.com/office/drawing/2014/main" id="{35B1D760-66A7-4EF2-06F7-CEB0F7405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161" r="12491"/>
            <a:stretch>
              <a:fillRect/>
            </a:stretch>
          </p:blipFill>
          <p:spPr>
            <a:xfrm>
              <a:off x="5128260" y="2555821"/>
              <a:ext cx="3281103" cy="283891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6B4602-42B8-CD9D-7B5A-B72982226E4D}"/>
                </a:ext>
              </a:extLst>
            </p:cNvPr>
            <p:cNvSpPr/>
            <p:nvPr/>
          </p:nvSpPr>
          <p:spPr>
            <a:xfrm>
              <a:off x="6606541" y="3415664"/>
              <a:ext cx="308610" cy="2698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BEE47B49-AC29-0A5B-BE91-5834088C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2494" b="70953" l="13960" r="44675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20" t="27687" r="51486" b="24239"/>
            <a:stretch>
              <a:fillRect/>
            </a:stretch>
          </p:blipFill>
          <p:spPr>
            <a:xfrm>
              <a:off x="5573128" y="3130807"/>
              <a:ext cx="2477717" cy="1693612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30357CB-6D07-11C5-8EC3-85C6EB5CB4BF}"/>
                </a:ext>
              </a:extLst>
            </p:cNvPr>
            <p:cNvSpPr/>
            <p:nvPr/>
          </p:nvSpPr>
          <p:spPr>
            <a:xfrm>
              <a:off x="6704837" y="3200415"/>
              <a:ext cx="103688" cy="8735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369F20-F607-9F18-F30E-4FC8F48B5B99}"/>
              </a:ext>
            </a:extLst>
          </p:cNvPr>
          <p:cNvSpPr txBox="1"/>
          <p:nvPr/>
        </p:nvSpPr>
        <p:spPr>
          <a:xfrm>
            <a:off x="1951551" y="2415066"/>
            <a:ext cx="145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SingleCoil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53688-28E3-395D-70F6-E50EF0BE10AB}"/>
              </a:ext>
            </a:extLst>
          </p:cNvPr>
          <p:cNvSpPr txBox="1"/>
          <p:nvPr/>
        </p:nvSpPr>
        <p:spPr>
          <a:xfrm flipH="1">
            <a:off x="2037872" y="3211542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181BAC7-2F05-D532-04C6-1C065A8CDC42}"/>
              </a:ext>
            </a:extLst>
          </p:cNvPr>
          <p:cNvCxnSpPr>
            <a:cxnSpLocks/>
            <a:stCxn id="14" idx="1"/>
          </p:cNvCxnSpPr>
          <p:nvPr/>
        </p:nvCxnSpPr>
        <p:spPr>
          <a:xfrm flipV="1">
            <a:off x="3491406" y="2410534"/>
            <a:ext cx="2993270" cy="939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750372-0D76-1A6A-DD9B-C7FF226BC376}"/>
              </a:ext>
            </a:extLst>
          </p:cNvPr>
          <p:cNvSpPr txBox="1"/>
          <p:nvPr/>
        </p:nvSpPr>
        <p:spPr>
          <a:xfrm flipH="1">
            <a:off x="2037872" y="3973760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CDBB6C-E453-637C-7462-FBC874B60003}"/>
              </a:ext>
            </a:extLst>
          </p:cNvPr>
          <p:cNvSpPr txBox="1"/>
          <p:nvPr/>
        </p:nvSpPr>
        <p:spPr>
          <a:xfrm flipH="1">
            <a:off x="2033051" y="4735978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 permanent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1FCA9BF-D568-7FEF-8F3A-CC03ABDECFCE}"/>
              </a:ext>
            </a:extLst>
          </p:cNvPr>
          <p:cNvCxnSpPr>
            <a:cxnSpLocks/>
            <a:stCxn id="20" idx="1"/>
          </p:cNvCxnSpPr>
          <p:nvPr/>
        </p:nvCxnSpPr>
        <p:spPr>
          <a:xfrm flipV="1">
            <a:off x="3491406" y="3542645"/>
            <a:ext cx="2249820" cy="5696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D422936-A5EF-FA57-44E3-7B65B2489857}"/>
              </a:ext>
            </a:extLst>
          </p:cNvPr>
          <p:cNvCxnSpPr>
            <a:cxnSpLocks/>
            <a:stCxn id="22" idx="2"/>
          </p:cNvCxnSpPr>
          <p:nvPr/>
        </p:nvCxnSpPr>
        <p:spPr>
          <a:xfrm rot="5400000" flipH="1" flipV="1">
            <a:off x="4491508" y="2982771"/>
            <a:ext cx="298515" cy="3761897"/>
          </a:xfrm>
          <a:prstGeom prst="bentConnector4">
            <a:avLst>
              <a:gd name="adj1" fmla="val -76579"/>
              <a:gd name="adj2" fmla="val 10002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Free femm 4.2 software download (Windows)">
            <a:extLst>
              <a:ext uri="{FF2B5EF4-FFF2-40B4-BE49-F238E27FC236}">
                <a16:creationId xmlns:a16="http://schemas.microsoft.com/office/drawing/2014/main" id="{7E23C437-0ABF-7719-0798-576ADE15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368BD-720D-61CB-9C35-FD2F182B225B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[3]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3ED0EB-ADA7-D81C-5F05-2B5D2AD07D1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F004B6D-96AC-28F8-21DD-0746899C49D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Footer Placeholder 2">
              <a:extLst>
                <a:ext uri="{FF2B5EF4-FFF2-40B4-BE49-F238E27FC236}">
                  <a16:creationId xmlns:a16="http://schemas.microsoft.com/office/drawing/2014/main" id="{6D4BF689-D8A2-78A0-F585-E663844622D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0EE9C1D9-D262-11D0-9BC5-9F3CCB21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52776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5CDC-E18A-6821-CC67-B07651DB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8092A65-490B-4AC0-8393-01D12A337A0D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94324AA-72FC-C282-79A1-90C96CC9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1DEB640-326C-4C8A-4353-C88BEC4C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6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875690-14A5-1EF6-BD3E-E169BCC560FD}"/>
              </a:ext>
            </a:extLst>
          </p:cNvPr>
          <p:cNvSpPr/>
          <p:nvPr/>
        </p:nvSpPr>
        <p:spPr>
          <a:xfrm>
            <a:off x="678973" y="1178781"/>
            <a:ext cx="418307" cy="49533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37ED1-A8A1-92A6-E436-7B0AE35C232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39AF3-B671-1A96-D11D-9164EFD8F565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07AC0-394D-84B1-8162-3042EECBDF45}"/>
              </a:ext>
            </a:extLst>
          </p:cNvPr>
          <p:cNvSpPr/>
          <p:nvPr/>
        </p:nvSpPr>
        <p:spPr>
          <a:xfrm>
            <a:off x="622219" y="1351909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5D5EF-60B2-6FAD-3936-D1828DDA27A4}"/>
              </a:ext>
            </a:extLst>
          </p:cNvPr>
          <p:cNvSpPr/>
          <p:nvPr/>
        </p:nvSpPr>
        <p:spPr>
          <a:xfrm>
            <a:off x="642999" y="1720375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AA9F8-0DCE-F3A1-2774-4F4BB52CB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1489540" y="1506714"/>
            <a:ext cx="7074840" cy="4297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19AA84-9CCA-017E-FDA8-64E4C692C133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[4]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2C74A-2D39-290A-3B7E-9289C14E27F8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rial Black" panose="020B0A04020102020204" pitchFamily="34" charset="0"/>
              </a:rPr>
              <a:t>Contexte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2A2EE1-E8ED-145D-23DC-A42B417BD1CE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F5C53E-7258-89EE-AB47-C65C987E144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1670C4DF-4D6D-CC6F-D012-E1872949C00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7BDCDD4D-4B66-2C58-F3EC-5C0B5C1B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91952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3F0E-84CD-C391-808C-60FB199D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0877C8-3F34-D58C-1038-34894EB0E4EB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A72259-54E2-49A4-C520-ECE0702321F5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72C224-2B65-C621-0EC0-73274997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9ED0F94-BE44-0B30-1195-0C653D9E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7</a:t>
            </a:fld>
            <a:endParaRPr lang="fr-FR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3DE5677-D04C-C907-22CF-48E34F9CEF3C}"/>
              </a:ext>
            </a:extLst>
          </p:cNvPr>
          <p:cNvSpPr/>
          <p:nvPr/>
        </p:nvSpPr>
        <p:spPr>
          <a:xfrm>
            <a:off x="322686" y="1178781"/>
            <a:ext cx="1125078" cy="4500438"/>
          </a:xfrm>
          <a:prstGeom prst="downArrow">
            <a:avLst>
              <a:gd name="adj1" fmla="val 37279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67775C-D727-1789-6DAC-ED5112DC6709}"/>
              </a:ext>
            </a:extLst>
          </p:cNvPr>
          <p:cNvSpPr/>
          <p:nvPr/>
        </p:nvSpPr>
        <p:spPr>
          <a:xfrm>
            <a:off x="640098" y="1353566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66C38B-927C-53CF-E6AB-365D740BBA91}"/>
              </a:ext>
            </a:extLst>
          </p:cNvPr>
          <p:cNvSpPr/>
          <p:nvPr/>
        </p:nvSpPr>
        <p:spPr>
          <a:xfrm>
            <a:off x="622370" y="171795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2E47D5-1C5D-136A-061D-9A1220859249}"/>
              </a:ext>
            </a:extLst>
          </p:cNvPr>
          <p:cNvGrpSpPr/>
          <p:nvPr/>
        </p:nvGrpSpPr>
        <p:grpSpPr>
          <a:xfrm>
            <a:off x="757357" y="3644776"/>
            <a:ext cx="2840277" cy="1456239"/>
            <a:chOff x="757357" y="3644776"/>
            <a:chExt cx="2840277" cy="145623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69E515-1F8E-1A6F-32EB-A4113124209A}"/>
                </a:ext>
              </a:extLst>
            </p:cNvPr>
            <p:cNvSpPr/>
            <p:nvPr/>
          </p:nvSpPr>
          <p:spPr>
            <a:xfrm>
              <a:off x="757357" y="426327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C077574-15D0-65B4-FDC0-91F3532B9BE6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V="1">
              <a:off x="794262" y="3644776"/>
              <a:ext cx="1008352" cy="655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8D1783E-179B-5321-AD09-59B4859B3E63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794262" y="4478374"/>
              <a:ext cx="1008352" cy="622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EEB520E7-EF31-D47F-BBBC-DF62DEF6C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3" r="6123"/>
            <a:stretch/>
          </p:blipFill>
          <p:spPr bwMode="auto">
            <a:xfrm>
              <a:off x="1804368" y="3652396"/>
              <a:ext cx="1793266" cy="1440000"/>
            </a:xfrm>
            <a:prstGeom prst="rect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611BF4-7805-35AB-84D0-864D256DA30B}"/>
                </a:ext>
              </a:extLst>
            </p:cNvPr>
            <p:cNvSpPr txBox="1"/>
            <p:nvPr/>
          </p:nvSpPr>
          <p:spPr>
            <a:xfrm>
              <a:off x="1071094" y="4204613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/>
                <a:t>1955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FB490B0-BCD6-A56F-0B4F-C5F684FE9AB2}"/>
              </a:ext>
            </a:extLst>
          </p:cNvPr>
          <p:cNvSpPr txBox="1"/>
          <p:nvPr/>
        </p:nvSpPr>
        <p:spPr>
          <a:xfrm>
            <a:off x="1975388" y="4810594"/>
            <a:ext cx="145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Humbucker</a:t>
            </a:r>
          </a:p>
        </p:txBody>
      </p:sp>
      <p:pic>
        <p:nvPicPr>
          <p:cNvPr id="22" name="Picture 21" descr="A drawing of a computer&#10;&#10;AI-generated content may be incorrect.">
            <a:extLst>
              <a:ext uri="{FF2B5EF4-FFF2-40B4-BE49-F238E27FC236}">
                <a16:creationId xmlns:a16="http://schemas.microsoft.com/office/drawing/2014/main" id="{D940559A-4517-B76C-7191-DBF90D78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05567"/>
            <a:ext cx="4303537" cy="39380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B783AE6-51CF-96D4-FF4F-76A91E4D70CC}"/>
              </a:ext>
            </a:extLst>
          </p:cNvPr>
          <p:cNvSpPr/>
          <p:nvPr/>
        </p:nvSpPr>
        <p:spPr>
          <a:xfrm>
            <a:off x="5953149" y="2713650"/>
            <a:ext cx="428593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9966DA-65A5-0089-96C5-341C4C44043D}"/>
              </a:ext>
            </a:extLst>
          </p:cNvPr>
          <p:cNvSpPr/>
          <p:nvPr/>
        </p:nvSpPr>
        <p:spPr>
          <a:xfrm>
            <a:off x="7250271" y="2713650"/>
            <a:ext cx="247651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2B7CE4-DCA4-58A6-9A88-29EF0568BDAF}"/>
              </a:ext>
            </a:extLst>
          </p:cNvPr>
          <p:cNvSpPr/>
          <p:nvPr/>
        </p:nvSpPr>
        <p:spPr>
          <a:xfrm>
            <a:off x="5419725" y="2891036"/>
            <a:ext cx="468895" cy="1200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ACEF00-6939-5D0B-A13E-4FE798F62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>
            <a:off x="5252630" y="2402996"/>
            <a:ext cx="3113821" cy="206033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F916CAF-70B9-62A8-15A1-E542690D7E33}"/>
              </a:ext>
            </a:extLst>
          </p:cNvPr>
          <p:cNvSpPr txBox="1"/>
          <p:nvPr/>
        </p:nvSpPr>
        <p:spPr>
          <a:xfrm flipH="1">
            <a:off x="2037872" y="1405602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8500AF0-2911-5316-990D-909F60C91DD4}"/>
              </a:ext>
            </a:extLst>
          </p:cNvPr>
          <p:cNvCxnSpPr>
            <a:cxnSpLocks/>
            <a:stCxn id="27" idx="1"/>
            <a:endCxn id="33" idx="1"/>
          </p:cNvCxnSpPr>
          <p:nvPr/>
        </p:nvCxnSpPr>
        <p:spPr>
          <a:xfrm>
            <a:off x="3491406" y="1544102"/>
            <a:ext cx="1097739" cy="7330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4B729FB-031A-BAE3-5916-1E9BCF4B4649}"/>
              </a:ext>
            </a:extLst>
          </p:cNvPr>
          <p:cNvSpPr txBox="1"/>
          <p:nvPr/>
        </p:nvSpPr>
        <p:spPr>
          <a:xfrm flipH="1">
            <a:off x="1802613" y="2167820"/>
            <a:ext cx="1683971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Aimants permanents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93002B-9402-19C4-80AB-1BF0833056FE}"/>
              </a:ext>
            </a:extLst>
          </p:cNvPr>
          <p:cNvSpPr txBox="1"/>
          <p:nvPr/>
        </p:nvSpPr>
        <p:spPr>
          <a:xfrm flipH="1">
            <a:off x="2033051" y="2930038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Bobines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27D8FF0-B915-4B4D-DDF6-06610E686E7C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4256375" y="833042"/>
            <a:ext cx="174504" cy="33980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8CECA19-DB69-E156-5705-713CB10CF7E3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3991493" y="1975362"/>
            <a:ext cx="270852" cy="273420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A070375-38D7-0425-E55D-0B48FE1180FC}"/>
              </a:ext>
            </a:extLst>
          </p:cNvPr>
          <p:cNvSpPr/>
          <p:nvPr/>
        </p:nvSpPr>
        <p:spPr>
          <a:xfrm>
            <a:off x="4589145" y="2237711"/>
            <a:ext cx="4276317" cy="7881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2" descr="Free femm 4.2 software download (Windows)">
            <a:extLst>
              <a:ext uri="{FF2B5EF4-FFF2-40B4-BE49-F238E27FC236}">
                <a16:creationId xmlns:a16="http://schemas.microsoft.com/office/drawing/2014/main" id="{3FA0ADC1-9B0B-00B1-E104-3F4417610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47C867-1F90-B54D-5817-E5B6C9DDDF8B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[4]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43A01D-9EAC-A043-6930-6CDD3B7BD02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266ADC-C1AA-F577-8E6D-3B9D08336CD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Footer Placeholder 2">
              <a:extLst>
                <a:ext uri="{FF2B5EF4-FFF2-40B4-BE49-F238E27FC236}">
                  <a16:creationId xmlns:a16="http://schemas.microsoft.com/office/drawing/2014/main" id="{6D8CEED2-0E6C-12E7-408D-63D1C066F85B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075A36E-F98A-813D-84C4-58FB63CA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68086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0E-A710-B751-21D5-1465D95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CE604F-6BFC-79C1-4FC3-CA1EA53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A6762A-3000-D56B-00BC-9C877DB7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8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0A1813A-2397-9FF3-55B4-A7083DA4BF3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6A7184-965A-9FF1-E334-6E902599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71" y="2055421"/>
            <a:ext cx="74253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Dans quelle mesure </a:t>
            </a:r>
            <a:r>
              <a:rPr lang="fr-FR" b="1" dirty="0"/>
              <a:t>l'ajout d'une seconde bobine 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permet-il </a:t>
            </a:r>
            <a:r>
              <a:rPr lang="fr-FR" b="1" dirty="0"/>
              <a:t>d'éliminer les parasites </a:t>
            </a:r>
            <a:r>
              <a:rPr lang="fr-FR" dirty="0"/>
              <a:t>?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Comment cela impacte-t-il </a:t>
            </a:r>
            <a:r>
              <a:rPr lang="fr-FR" b="1" dirty="0"/>
              <a:t>la richesse du son </a:t>
            </a:r>
            <a:r>
              <a:rPr lang="fr-FR" dirty="0"/>
              <a:t>?</a:t>
            </a: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EE9D4-1D4E-E6DD-563B-928B9E769F11}"/>
              </a:ext>
            </a:extLst>
          </p:cNvPr>
          <p:cNvSpPr txBox="1"/>
          <p:nvPr/>
        </p:nvSpPr>
        <p:spPr>
          <a:xfrm>
            <a:off x="822961" y="4436823"/>
            <a:ext cx="3749039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SingleCoil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F5EE0-EFED-C507-DAB9-15D261AF6049}"/>
              </a:ext>
            </a:extLst>
          </p:cNvPr>
          <p:cNvSpPr txBox="1"/>
          <p:nvPr/>
        </p:nvSpPr>
        <p:spPr>
          <a:xfrm>
            <a:off x="4572000" y="4436823"/>
            <a:ext cx="3837363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Humbucker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DBB3E-CACA-593E-E545-39E8047A68D3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Types de micro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92DDB-5107-9492-084E-A03244946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2067480" y="3425036"/>
            <a:ext cx="1260000" cy="1037332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E83BBAA-0E05-C329-303D-8623CD619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5860681" y="3425036"/>
            <a:ext cx="1260000" cy="10117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A2E5A45-09B6-6201-9655-31940D8E76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000343"/>
              </p:ext>
            </p:extLst>
          </p:nvPr>
        </p:nvGraphicFramePr>
        <p:xfrm>
          <a:off x="1215239" y="5535351"/>
          <a:ext cx="6962904" cy="47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094F3D5-9355-C183-0051-5A525B2FEB08}"/>
              </a:ext>
            </a:extLst>
          </p:cNvPr>
          <p:cNvSpPr txBox="1"/>
          <p:nvPr/>
        </p:nvSpPr>
        <p:spPr>
          <a:xfrm>
            <a:off x="322686" y="737873"/>
            <a:ext cx="849111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rial Black" panose="020B0A04020102020204" pitchFamily="34" charset="0"/>
              </a:rPr>
              <a:t>Problématique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CB6DFE-9DCE-7015-9FA8-9E678322DE7D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7B675E-C794-FA61-C6CF-1E8B427604C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2DB22642-B50B-7C34-0232-2F3D1155C6D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15C5062-7476-D32D-8882-11E83F15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42404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C728-A276-BD6F-B1A1-73D1F90E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2BE61F3-98BD-710E-BAED-39EA2E83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AFC78A4-5A40-488E-CAD5-2FB8ECCA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9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09688F-5B12-79E1-1E86-6709835E8D4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A2C485-C6DF-E159-7051-CC67CB6B749A}"/>
              </a:ext>
            </a:extLst>
          </p:cNvPr>
          <p:cNvGrpSpPr/>
          <p:nvPr/>
        </p:nvGrpSpPr>
        <p:grpSpPr>
          <a:xfrm>
            <a:off x="1071545" y="4838220"/>
            <a:ext cx="7869519" cy="1210580"/>
            <a:chOff x="385745" y="5083538"/>
            <a:chExt cx="8293184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A235FAC-1816-2621-D75E-ECE249D01798}"/>
                </a:ext>
              </a:extLst>
            </p:cNvPr>
            <p:cNvGrpSpPr/>
            <p:nvPr/>
          </p:nvGrpSpPr>
          <p:grpSpPr>
            <a:xfrm>
              <a:off x="385745" y="5083538"/>
              <a:ext cx="8293184" cy="1150814"/>
              <a:chOff x="385745" y="5083538"/>
              <a:chExt cx="8293184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763671F-376D-3A28-FE6B-4D527CEABA44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A19E74E8-8FB5-3724-59F5-5D59E0C74A59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56314C5-F5BB-C6BA-D1FF-CCE8FD3852E7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F56ED56-D806-9650-B8AC-2417D1AB08F7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9BF26410-CFAB-C09E-4325-65476E831000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9936EE64-0BBC-4292-5B15-126AC522E309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ACCE01AA-96DD-BE87-8097-D101B7604EC9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7E489F27-484A-D27F-1D09-DEAEDDE4544F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9516378D-EA5E-799D-7662-6EFE897982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9516378D-EA5E-799D-7662-6EFE8979826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9FA2B951-6352-70F1-3CF5-32BFCC6440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9FA2B951-6352-70F1-3CF5-32BFCC6440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D1768AA6-1B96-8342-C374-671FDD9B50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D1768AA6-1B96-8342-C374-671FDD9B50B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00F4CE7F-7A00-B21F-4655-0E73055F8E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00F4CE7F-7A00-B21F-4655-0E73055F8E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28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5D3EFC3-19DA-B7F0-5821-F800B0919B1D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3FC628C-84DD-BA1D-CD14-6F12A0D08967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21FBF65-C5F9-2536-099D-BF9856442B6F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F4CCE26-EFBA-2D5B-D6E7-1338F478E5DF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BCB7869-9EAF-0B66-27C0-ECC3479448D1}"/>
              </a:ext>
            </a:extLst>
          </p:cNvPr>
          <p:cNvGrpSpPr/>
          <p:nvPr/>
        </p:nvGrpSpPr>
        <p:grpSpPr>
          <a:xfrm>
            <a:off x="758331" y="1002105"/>
            <a:ext cx="8378236" cy="3871961"/>
            <a:chOff x="-143123" y="1695451"/>
            <a:chExt cx="8378236" cy="38272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C91FEDC-6488-8B24-0B65-4758A6F64531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27203"/>
              <a:chOff x="1006751" y="1255937"/>
              <a:chExt cx="6952009" cy="3806453"/>
            </a:xfrm>
          </p:grpSpPr>
          <p:pic>
            <p:nvPicPr>
              <p:cNvPr id="68" name="Picture 67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65A87B68-C1FB-FD05-00C6-048368A43A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69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F6C1D0F5-3350-CA8C-9635-45B135D991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BFE2619-898B-BCA8-665C-4FA487B52AA8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10117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67" name="Picture 8" descr="Sound PNG Transparent Images">
              <a:extLst>
                <a:ext uri="{FF2B5EF4-FFF2-40B4-BE49-F238E27FC236}">
                  <a16:creationId xmlns:a16="http://schemas.microsoft.com/office/drawing/2014/main" id="{E4E79733-7519-9D1B-CACF-29E1516176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8608" y="2831113"/>
              <a:ext cx="1476505" cy="1476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0985173-BCAA-706B-CF53-65F6293BA17D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Filtrage électrique interne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068F1F-6B40-C837-A4CF-4DF09C222333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4" name="Arrow: Notched Right 3">
              <a:extLst>
                <a:ext uri="{FF2B5EF4-FFF2-40B4-BE49-F238E27FC236}">
                  <a16:creationId xmlns:a16="http://schemas.microsoft.com/office/drawing/2014/main" id="{E2561626-2C98-09F1-0E0B-471B36884DBF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8" name="Arrow: Notched Right 7">
              <a:extLst>
                <a:ext uri="{FF2B5EF4-FFF2-40B4-BE49-F238E27FC236}">
                  <a16:creationId xmlns:a16="http://schemas.microsoft.com/office/drawing/2014/main" id="{B0B4E057-5976-E51F-1FE8-B8FF1C1F4F4B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C1C3D24C-A82B-568A-7EF8-53F39B8B0C62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9A8CB3-AEC5-4C1A-1777-B554650A865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98CEA6-4380-542D-75AA-71E77BDC1D9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52724399-3584-9C0A-D693-3FB61CB1046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D026D54C-7693-74F3-E8C5-95115B38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069943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3876-19B1-E4B6-716D-FD5FA24B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C70D36F4-D5FF-945D-E39A-606CC8E48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7623" y="591089"/>
            <a:ext cx="756000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ECB0D33-C7A4-8A73-9AEE-71A29782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986005C-A574-5528-5018-7A91E88D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10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1E79BA3-AB92-32BA-3883-6CA7CE319C5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205F42-26E0-2632-97A3-AB63C2B354A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0F545D-50D5-FBF2-9B53-ED2282786BF3}"/>
                  </a:ext>
                </a:extLst>
              </p:cNvPr>
              <p:cNvSpPr txBox="1"/>
              <p:nvPr/>
            </p:nvSpPr>
            <p:spPr>
              <a:xfrm>
                <a:off x="4234905" y="5052548"/>
                <a:ext cx="4654783" cy="688073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+ </m:t>
                          </m:r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LC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0F545D-50D5-FBF2-9B53-ED2282786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905" y="5052548"/>
                <a:ext cx="4654783" cy="6880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D2AAE83-25D6-5C8B-6786-A77DE700832E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Simulation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5CF74A-3235-334E-632B-CC390B45C369}"/>
              </a:ext>
            </a:extLst>
          </p:cNvPr>
          <p:cNvSpPr/>
          <p:nvPr/>
        </p:nvSpPr>
        <p:spPr>
          <a:xfrm flipV="1">
            <a:off x="7457440" y="3112184"/>
            <a:ext cx="34883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F9204D-E32E-5B95-5640-B88E7B17169B}"/>
              </a:ext>
            </a:extLst>
          </p:cNvPr>
          <p:cNvSpPr/>
          <p:nvPr/>
        </p:nvSpPr>
        <p:spPr>
          <a:xfrm flipV="1">
            <a:off x="8306560" y="3163393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B75D12-6B9E-4593-678A-EE6E88218F7F}"/>
              </a:ext>
            </a:extLst>
          </p:cNvPr>
          <p:cNvSpPr/>
          <p:nvPr/>
        </p:nvSpPr>
        <p:spPr>
          <a:xfrm flipV="1">
            <a:off x="6182131" y="4000962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55C530-9B63-4FD8-E152-A4133E03F058}"/>
              </a:ext>
            </a:extLst>
          </p:cNvPr>
          <p:cNvSpPr txBox="1"/>
          <p:nvPr/>
        </p:nvSpPr>
        <p:spPr>
          <a:xfrm>
            <a:off x="4407430" y="5783476"/>
            <a:ext cx="4347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Passe bas 2</a:t>
            </a:r>
            <a:r>
              <a:rPr lang="fr-FR" sz="1200" b="1" baseline="30000" dirty="0"/>
              <a:t>nd</a:t>
            </a:r>
            <a:r>
              <a:rPr lang="fr-FR" sz="1200" b="1" dirty="0"/>
              <a:t> Ordre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C52100-2078-7084-F07D-5ED9A35E972E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[5]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94FD46-4DBB-7AE8-02E4-2E08C2E89131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9" name="Arrow: Notched Right 28">
              <a:extLst>
                <a:ext uri="{FF2B5EF4-FFF2-40B4-BE49-F238E27FC236}">
                  <a16:creationId xmlns:a16="http://schemas.microsoft.com/office/drawing/2014/main" id="{30A4728F-D819-2CDE-E57D-393578E9C087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30" name="Arrow: Notched Right 29">
              <a:extLst>
                <a:ext uri="{FF2B5EF4-FFF2-40B4-BE49-F238E27FC236}">
                  <a16:creationId xmlns:a16="http://schemas.microsoft.com/office/drawing/2014/main" id="{AA1DC1C9-D3A2-7904-9F92-B08B357C886F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37" name="Arrow: Notched Right 36">
              <a:extLst>
                <a:ext uri="{FF2B5EF4-FFF2-40B4-BE49-F238E27FC236}">
                  <a16:creationId xmlns:a16="http://schemas.microsoft.com/office/drawing/2014/main" id="{5CA1BD4F-D0AB-2830-EE36-AC49BF65B3D9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8DE0F6-F3D3-60E9-AC95-080A1CFD27A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DAFFA78-1391-21A7-5466-4FF63E94793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Footer Placeholder 2">
              <a:extLst>
                <a:ext uri="{FF2B5EF4-FFF2-40B4-BE49-F238E27FC236}">
                  <a16:creationId xmlns:a16="http://schemas.microsoft.com/office/drawing/2014/main" id="{681DBAC5-62E8-3152-7554-3CBF30156F3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B7C302-CEAE-E02C-8A9F-5586C3510386}"/>
                  </a:ext>
                </a:extLst>
              </p:cNvPr>
              <p:cNvSpPr/>
              <p:nvPr/>
            </p:nvSpPr>
            <p:spPr>
              <a:xfrm>
                <a:off x="1054903" y="1110401"/>
                <a:ext cx="2878491" cy="4960615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Modèle</a:t>
                </a:r>
              </a:p>
              <a:p>
                <a:pPr algn="ctr"/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Force électromotrice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FEM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Tension induite dans le micro par la vibration de la corde</a:t>
                </a:r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Inductance série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Inductance de la bobine du micro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série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Resistance en CC du micro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Condensateur parallèle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Capacité interne du micro</a:t>
                </a: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parallèle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Resistance due aux courants de Foucault</a:t>
                </a: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amp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Resistance d’entrée d’un amplificateur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B7C302-CEAE-E02C-8A9F-5586C3510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03" y="1110401"/>
                <a:ext cx="2878491" cy="49606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C03D690-8EC1-39C0-78A9-76F7F54EC971}"/>
              </a:ext>
            </a:extLst>
          </p:cNvPr>
          <p:cNvGrpSpPr/>
          <p:nvPr/>
        </p:nvGrpSpPr>
        <p:grpSpPr>
          <a:xfrm>
            <a:off x="4248829" y="1363393"/>
            <a:ext cx="4626939" cy="3600000"/>
            <a:chOff x="1054903" y="1363393"/>
            <a:chExt cx="4626939" cy="3600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5F175ED-75BD-0594-4496-836405341042}"/>
                </a:ext>
              </a:extLst>
            </p:cNvPr>
            <p:cNvGrpSpPr/>
            <p:nvPr/>
          </p:nvGrpSpPr>
          <p:grpSpPr>
            <a:xfrm>
              <a:off x="1054903" y="1363393"/>
              <a:ext cx="4626939" cy="3600000"/>
              <a:chOff x="1054904" y="1200155"/>
              <a:chExt cx="4927617" cy="3601072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2C8B805-5A00-DF26-9274-1372E1E8BC4E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54904" y="1200155"/>
                <a:ext cx="4927617" cy="36010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4FF6692-02DB-2BAD-9736-3F7A9C46E824}"/>
                  </a:ext>
                </a:extLst>
              </p:cNvPr>
              <p:cNvSpPr/>
              <p:nvPr/>
            </p:nvSpPr>
            <p:spPr>
              <a:xfrm>
                <a:off x="1486014" y="210415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733BCE-A9AF-5C2C-0150-DCF00D160A00}"/>
                  </a:ext>
                </a:extLst>
              </p:cNvPr>
              <p:cNvSpPr/>
              <p:nvPr/>
            </p:nvSpPr>
            <p:spPr>
              <a:xfrm>
                <a:off x="2555070" y="303342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A97779-86EB-D4C5-0616-D79902CA7A03}"/>
                  </a:ext>
                </a:extLst>
              </p:cNvPr>
              <p:cNvSpPr/>
              <p:nvPr/>
            </p:nvSpPr>
            <p:spPr>
              <a:xfrm>
                <a:off x="3715970" y="3073533"/>
                <a:ext cx="703406" cy="2401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666622-D887-C02B-48A3-3C066C5B2CED}"/>
                  </a:ext>
                </a:extLst>
              </p:cNvPr>
              <p:cNvSpPr/>
              <p:nvPr/>
            </p:nvSpPr>
            <p:spPr>
              <a:xfrm>
                <a:off x="5397029" y="3091033"/>
                <a:ext cx="527521" cy="2011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C13F4F8-18A5-4057-201D-4D1070B2E781}"/>
                  </a:ext>
                </a:extLst>
              </p:cNvPr>
              <p:cNvSpPr/>
              <p:nvPr/>
            </p:nvSpPr>
            <p:spPr>
              <a:xfrm>
                <a:off x="1468417" y="3119201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3943E8A-1FC6-FC7C-384C-53948D2FB57F}"/>
                </a:ext>
              </a:extLst>
            </p:cNvPr>
            <p:cNvCxnSpPr/>
            <p:nvPr/>
          </p:nvCxnSpPr>
          <p:spPr>
            <a:xfrm flipV="1">
              <a:off x="1601848" y="3920464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06677D-0818-3210-9991-80EAAFAEA943}"/>
                    </a:ext>
                  </a:extLst>
                </p:cNvPr>
                <p:cNvSpPr txBox="1"/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06677D-0818-3210-9991-80EAAFAEA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5769" t="-3333" r="-15385" b="-4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2D71FB5-B582-D158-98B2-AFA7CCD504A8}"/>
                </a:ext>
              </a:extLst>
            </p:cNvPr>
            <p:cNvCxnSpPr/>
            <p:nvPr/>
          </p:nvCxnSpPr>
          <p:spPr>
            <a:xfrm flipV="1">
              <a:off x="4752281" y="2872673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BEA564-E231-D34A-1E71-EDA0435E746B}"/>
                    </a:ext>
                  </a:extLst>
                </p:cNvPr>
                <p:cNvSpPr txBox="1"/>
                <p:nvPr/>
              </p:nvSpPr>
              <p:spPr>
                <a:xfrm>
                  <a:off x="4413719" y="3036680"/>
                  <a:ext cx="32117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BEA564-E231-D34A-1E71-EDA0435E74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3719" y="3036680"/>
                  <a:ext cx="321178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5660" r="-13208" b="-4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812AC73-6CEC-C446-2C29-D16FE96678A7}"/>
              </a:ext>
            </a:extLst>
          </p:cNvPr>
          <p:cNvSpPr txBox="1"/>
          <p:nvPr/>
        </p:nvSpPr>
        <p:spPr>
          <a:xfrm>
            <a:off x="4248828" y="4675115"/>
            <a:ext cx="4626939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Schéma électrique équivalent d’un micro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B61DF536-AB20-09C4-4CD2-C37677694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75549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095B-CBBF-28A8-4ECB-2036D2BA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C174FD-251E-6617-96DC-59EDC4D1886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C0E1E9-9630-1795-4D01-63EDE489C412}"/>
              </a:ext>
            </a:extLst>
          </p:cNvPr>
          <p:cNvSpPr/>
          <p:nvPr/>
        </p:nvSpPr>
        <p:spPr>
          <a:xfrm>
            <a:off x="6453713" y="1358001"/>
            <a:ext cx="2485046" cy="4758929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Protocole</a:t>
            </a:r>
          </a:p>
          <a:p>
            <a:endParaRPr lang="fr-FR" sz="1600" b="1" dirty="0">
              <a:solidFill>
                <a:schemeClr val="tx1"/>
              </a:solidFill>
            </a:endParaRPr>
          </a:p>
          <a:p>
            <a:r>
              <a:rPr lang="fr-FR" sz="1600" b="1" u="sng" dirty="0">
                <a:solidFill>
                  <a:schemeClr val="tx1"/>
                </a:solidFill>
              </a:rPr>
              <a:t>Objectif :</a:t>
            </a:r>
          </a:p>
          <a:p>
            <a:r>
              <a:rPr lang="fr-FR" sz="1600" dirty="0">
                <a:solidFill>
                  <a:schemeClr val="tx1"/>
                </a:solidFill>
              </a:rPr>
              <a:t>Déterminer l’impédance du micro en fonction de la fréquence</a:t>
            </a:r>
          </a:p>
          <a:p>
            <a:endParaRPr lang="fr-FR" sz="1600" b="1" u="sng" dirty="0">
              <a:solidFill>
                <a:schemeClr val="tx1"/>
              </a:solidFill>
            </a:endParaRPr>
          </a:p>
          <a:p>
            <a:r>
              <a:rPr lang="fr-FR" sz="1600" b="1" u="sng" dirty="0">
                <a:solidFill>
                  <a:schemeClr val="tx1"/>
                </a:solidFill>
              </a:rPr>
              <a:t>Méthode :</a:t>
            </a:r>
          </a:p>
          <a:p>
            <a:r>
              <a:rPr lang="fr-FR" sz="1600" dirty="0">
                <a:solidFill>
                  <a:schemeClr val="tx1"/>
                </a:solidFill>
              </a:rPr>
              <a:t>Pont diviseur de tension</a:t>
            </a:r>
          </a:p>
          <a:p>
            <a:endParaRPr lang="fr-FR" sz="1600" dirty="0">
              <a:solidFill>
                <a:schemeClr val="tx1"/>
              </a:solidFill>
            </a:endParaRPr>
          </a:p>
          <a:p>
            <a:endParaRPr lang="fr-FR" sz="1600" dirty="0">
              <a:solidFill>
                <a:schemeClr val="tx1"/>
              </a:solidFill>
            </a:endParaRPr>
          </a:p>
          <a:p>
            <a:pPr/>
            <a:endParaRPr lang="fr-FR" sz="1600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  <a:p>
            <a:endParaRPr lang="fr-FR" sz="1600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C1C5097-5663-EE26-5A50-7D842017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B1C5B82-F24C-54E1-B2B4-47EDF43A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11</a:t>
            </a:fld>
            <a:endParaRPr lang="fr-FR" sz="1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0F540E-DE24-A629-17F9-FED8C4C38554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A8F708-C88A-E8E8-FD69-804BC786E135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4" name="Arrow: Notched Right 3">
              <a:extLst>
                <a:ext uri="{FF2B5EF4-FFF2-40B4-BE49-F238E27FC236}">
                  <a16:creationId xmlns:a16="http://schemas.microsoft.com/office/drawing/2014/main" id="{6F727A3E-660E-F523-F72F-6F1015FC2AF1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8" name="Arrow: Notched Right 7">
              <a:extLst>
                <a:ext uri="{FF2B5EF4-FFF2-40B4-BE49-F238E27FC236}">
                  <a16:creationId xmlns:a16="http://schemas.microsoft.com/office/drawing/2014/main" id="{80194B9F-39BB-A656-F85A-D39BF0002FB9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139A8F48-9A36-D977-2F7B-3EA1EF4F2B75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840323-D421-9975-E022-715C81AAE9F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59CBEC-6A66-3C03-69BA-0B6C7EDE554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36A16625-5967-D680-5029-0BF57049FBA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01DC408-888A-6405-0042-8A6DE09D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A675C6-213A-E88E-59F1-7172A6896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613" b="5641"/>
          <a:stretch>
            <a:fillRect/>
          </a:stretch>
        </p:blipFill>
        <p:spPr>
          <a:xfrm>
            <a:off x="1045291" y="1313654"/>
            <a:ext cx="5286067" cy="3634009"/>
          </a:xfrm>
          <a:prstGeom prst="rect">
            <a:avLst/>
          </a:prstGeom>
          <a:effectLst>
            <a:softEdge rad="31750"/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40AE3B0-3622-A0A7-43DB-F941CD823C60}"/>
                  </a:ext>
                </a:extLst>
              </p:cNvPr>
              <p:cNvSpPr txBox="1"/>
              <p:nvPr/>
            </p:nvSpPr>
            <p:spPr>
              <a:xfrm>
                <a:off x="1045291" y="5264931"/>
                <a:ext cx="5286067" cy="491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800" b="0" dirty="0">
                    <a:solidFill>
                      <a:schemeClr val="tx1"/>
                    </a:solidFill>
                  </a:rPr>
                  <a:t>On a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fr-F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fr-F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fr-F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fr-F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fr-F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den>
                    </m:f>
                    <m:sSub>
                      <m:sSubPr>
                        <m:ctrlPr>
                          <a:rPr lang="fr-F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GBF</m:t>
                        </m:r>
                      </m:sub>
                    </m:sSub>
                  </m:oMath>
                </a14:m>
                <a:r>
                  <a:rPr lang="fr-FR" dirty="0"/>
                  <a:t>  d’où : 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fr-F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fr-F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m:rPr>
                        <m:sty m:val="p"/>
                      </m:rPr>
                      <a:rPr lang="fr-F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fr-F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GBF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den>
                    </m:f>
                    <m:r>
                      <a:rPr lang="fr-F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40AE3B0-3622-A0A7-43DB-F941CD823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91" y="5264931"/>
                <a:ext cx="5286067" cy="491673"/>
              </a:xfrm>
              <a:prstGeom prst="rect">
                <a:avLst/>
              </a:prstGeom>
              <a:blipFill>
                <a:blip r:embed="rId4"/>
                <a:stretch>
                  <a:fillRect l="-922" b="-7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A723D10F-DC3E-0502-B8F8-4D38F5670C0A}"/>
              </a:ext>
            </a:extLst>
          </p:cNvPr>
          <p:cNvGrpSpPr/>
          <p:nvPr/>
        </p:nvGrpSpPr>
        <p:grpSpPr>
          <a:xfrm>
            <a:off x="6542865" y="3679700"/>
            <a:ext cx="2319661" cy="2383821"/>
            <a:chOff x="6497896" y="3679700"/>
            <a:chExt cx="1608308" cy="238382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BA87804-E793-D915-5A30-57C6AEB52B60}"/>
                </a:ext>
              </a:extLst>
            </p:cNvPr>
            <p:cNvGrpSpPr/>
            <p:nvPr/>
          </p:nvGrpSpPr>
          <p:grpSpPr>
            <a:xfrm>
              <a:off x="6497896" y="3679700"/>
              <a:ext cx="1608308" cy="2383821"/>
              <a:chOff x="6497896" y="3679700"/>
              <a:chExt cx="1608308" cy="238382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514A741-CB88-186A-C4B1-6DCE3856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6306" t="10463" r="4185" b="8803"/>
              <a:stretch>
                <a:fillRect/>
              </a:stretch>
            </p:blipFill>
            <p:spPr>
              <a:xfrm>
                <a:off x="6497896" y="3679700"/>
                <a:ext cx="1608308" cy="2383821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442F70-CCD4-8D46-B6DE-910E10217EA2}"/>
                  </a:ext>
                </a:extLst>
              </p:cNvPr>
              <p:cNvSpPr/>
              <p:nvPr/>
            </p:nvSpPr>
            <p:spPr>
              <a:xfrm>
                <a:off x="7432839" y="4056920"/>
                <a:ext cx="337279" cy="5461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7671E79-08BE-83DE-FA73-714A8E9F71DE}"/>
                </a:ext>
              </a:extLst>
            </p:cNvPr>
            <p:cNvGrpSpPr/>
            <p:nvPr/>
          </p:nvGrpSpPr>
          <p:grpSpPr>
            <a:xfrm>
              <a:off x="6928661" y="4756793"/>
              <a:ext cx="368691" cy="333760"/>
              <a:chOff x="6928661" y="4756793"/>
              <a:chExt cx="368691" cy="333760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7D492C5-9B73-C6CA-041A-FE1E349AD3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43869" y="4756793"/>
                <a:ext cx="0" cy="333760"/>
              </a:xfrm>
              <a:prstGeom prst="straightConnector1">
                <a:avLst/>
              </a:prstGeom>
              <a:ln>
                <a:solidFill>
                  <a:srgbClr val="3890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F415487-9BB7-B80B-8283-C78CB2FEBF88}"/>
                      </a:ext>
                    </a:extLst>
                  </p:cNvPr>
                  <p:cNvSpPr txBox="1"/>
                  <p:nvPr/>
                </p:nvSpPr>
                <p:spPr>
                  <a:xfrm>
                    <a:off x="6928661" y="4831340"/>
                    <a:ext cx="368691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  <m:t>GBF</m:t>
                              </m:r>
                            </m:sub>
                          </m:sSub>
                        </m:oMath>
                      </m:oMathPara>
                    </a14:m>
                    <a:endParaRPr lang="fr-FR" sz="1200" dirty="0">
                      <a:solidFill>
                        <a:srgbClr val="38903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F415487-9BB7-B80B-8283-C78CB2FEB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8661" y="4831340"/>
                    <a:ext cx="368691" cy="1846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EA8C134-BA8E-CC3F-12D8-CF0F721FA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5402" y="5313463"/>
              <a:ext cx="0" cy="33376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CAE14E7-0E0B-1399-EDCF-F1EE790AA363}"/>
                    </a:ext>
                  </a:extLst>
                </p:cNvPr>
                <p:cNvSpPr txBox="1"/>
                <p:nvPr/>
              </p:nvSpPr>
              <p:spPr>
                <a:xfrm>
                  <a:off x="7297352" y="5388010"/>
                  <a:ext cx="14266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CAE14E7-0E0B-1399-EDCF-F1EE790AA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352" y="5388010"/>
                  <a:ext cx="142668" cy="184666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66DF18A-1892-5FE0-EB86-11E4337FC251}"/>
              </a:ext>
            </a:extLst>
          </p:cNvPr>
          <p:cNvSpPr txBox="1"/>
          <p:nvPr/>
        </p:nvSpPr>
        <p:spPr>
          <a:xfrm>
            <a:off x="8293068" y="4105798"/>
            <a:ext cx="7015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Arial Black" panose="020B0A04020102020204" pitchFamily="34" charset="0"/>
              </a:rPr>
              <a:t>MICRO</a:t>
            </a:r>
          </a:p>
        </p:txBody>
      </p:sp>
    </p:spTree>
    <p:extLst>
      <p:ext uri="{BB962C8B-B14F-4D97-AF65-F5344CB8AC3E}">
        <p14:creationId xmlns:p14="http://schemas.microsoft.com/office/powerpoint/2010/main" val="180898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18B5-54AA-3079-566C-736CFE78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5CE00B-FC79-81FF-86A6-285CABA510BD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C71C571-0E5F-3D4C-EAFA-E4D0E697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E8E22F3-36AA-64A0-F7DA-405F92FD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12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9DDD954-4CB1-5C4D-D33E-CFAF6AFEA11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pic>
        <p:nvPicPr>
          <p:cNvPr id="14" name="Picture 2" descr="Python Logo PNG Transparent – Brands Logos">
            <a:extLst>
              <a:ext uri="{FF2B5EF4-FFF2-40B4-BE49-F238E27FC236}">
                <a16:creationId xmlns:a16="http://schemas.microsoft.com/office/drawing/2014/main" id="{F1C82144-927B-4AF8-0078-296BB4BDF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56000" cy="75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/>
              <p:nvPr/>
            </p:nvSpPr>
            <p:spPr>
              <a:xfrm>
                <a:off x="6122542" y="1396728"/>
                <a:ext cx="2878491" cy="2283357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Méthode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Déterminer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Observer la résistance en CC avec un multimètre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Determiner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Approximation numérique via une algorithme d’apprentissage IA : </a:t>
                </a:r>
                <a:r>
                  <a:rPr lang="fr-FR" sz="1400" dirty="0"/>
                  <a:t>Levenberg-Marquardt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542" y="1396728"/>
                <a:ext cx="2878491" cy="2283357"/>
              </a:xfrm>
              <a:prstGeom prst="rect">
                <a:avLst/>
              </a:prstGeom>
              <a:blipFill>
                <a:blip r:embed="rId4"/>
                <a:stretch>
                  <a:fillRect b="-262"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A0507F6-1CAF-6D7E-A062-151372E24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440" y="1396728"/>
            <a:ext cx="4914598" cy="456553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ADA63D2-9CEB-AC0C-9B82-8E7C4C1BAC64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5" name="Arrow: Notched Right 14">
              <a:extLst>
                <a:ext uri="{FF2B5EF4-FFF2-40B4-BE49-F238E27FC236}">
                  <a16:creationId xmlns:a16="http://schemas.microsoft.com/office/drawing/2014/main" id="{24A28D03-1ACA-522A-A681-60E488EBA85F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17" name="Arrow: Notched Right 16">
              <a:extLst>
                <a:ext uri="{FF2B5EF4-FFF2-40B4-BE49-F238E27FC236}">
                  <a16:creationId xmlns:a16="http://schemas.microsoft.com/office/drawing/2014/main" id="{5285111C-3E06-E8E3-A492-DF582EA0CFEC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18" name="Arrow: Notched Right 17">
              <a:extLst>
                <a:ext uri="{FF2B5EF4-FFF2-40B4-BE49-F238E27FC236}">
                  <a16:creationId xmlns:a16="http://schemas.microsoft.com/office/drawing/2014/main" id="{65550AEA-7ED9-4550-941F-B72882F9AA58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31B521F-AFDC-D9C5-028E-C5CB3D8FDF4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94F355-A446-D356-7486-C332C08027A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8D546518-E475-76BF-FDD7-AAAC59D808E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3CF6CC7-C2A9-D2EB-0FC4-A98DAEFFDC33}"/>
              </a:ext>
            </a:extLst>
          </p:cNvPr>
          <p:cNvSpPr/>
          <p:nvPr/>
        </p:nvSpPr>
        <p:spPr>
          <a:xfrm>
            <a:off x="6122541" y="3781186"/>
            <a:ext cx="2878490" cy="218107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Mesures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DB194F1-0075-78A8-D900-8165D3AE9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587028"/>
              </p:ext>
            </p:extLst>
          </p:nvPr>
        </p:nvGraphicFramePr>
        <p:xfrm>
          <a:off x="6178279" y="4052869"/>
          <a:ext cx="2767013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0575">
                  <a:extLst>
                    <a:ext uri="{9D8B030D-6E8A-4147-A177-3AD203B41FA5}">
                      <a16:colId xmlns:a16="http://schemas.microsoft.com/office/drawing/2014/main" val="887859225"/>
                    </a:ext>
                  </a:extLst>
                </a:gridCol>
                <a:gridCol w="988219">
                  <a:extLst>
                    <a:ext uri="{9D8B030D-6E8A-4147-A177-3AD203B41FA5}">
                      <a16:colId xmlns:a16="http://schemas.microsoft.com/office/drawing/2014/main" val="2798946589"/>
                    </a:ext>
                  </a:extLst>
                </a:gridCol>
                <a:gridCol w="988219">
                  <a:extLst>
                    <a:ext uri="{9D8B030D-6E8A-4147-A177-3AD203B41FA5}">
                      <a16:colId xmlns:a16="http://schemas.microsoft.com/office/drawing/2014/main" val="381279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147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9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42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/>
              <p:nvPr/>
            </p:nvSpPr>
            <p:spPr>
              <a:xfrm>
                <a:off x="6190647" y="4467161"/>
                <a:ext cx="797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647" y="4467161"/>
                <a:ext cx="797654" cy="276999"/>
              </a:xfrm>
              <a:prstGeom prst="rect">
                <a:avLst/>
              </a:prstGeom>
              <a:blipFill>
                <a:blip r:embed="rId6"/>
                <a:stretch>
                  <a:fillRect l="-6154" t="-2222" r="-10769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/>
              <p:nvPr/>
            </p:nvSpPr>
            <p:spPr>
              <a:xfrm>
                <a:off x="6338008" y="4830320"/>
                <a:ext cx="5578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008" y="4830320"/>
                <a:ext cx="557845" cy="276999"/>
              </a:xfrm>
              <a:prstGeom prst="rect">
                <a:avLst/>
              </a:prstGeom>
              <a:blipFill>
                <a:blip r:embed="rId7"/>
                <a:stretch>
                  <a:fillRect l="-8791" r="-14286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/>
              <p:nvPr/>
            </p:nvSpPr>
            <p:spPr>
              <a:xfrm>
                <a:off x="6260859" y="5200274"/>
                <a:ext cx="657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pF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859" y="5200274"/>
                <a:ext cx="657231" cy="276999"/>
              </a:xfrm>
              <a:prstGeom prst="rect">
                <a:avLst/>
              </a:prstGeom>
              <a:blipFill>
                <a:blip r:embed="rId8"/>
                <a:stretch>
                  <a:fillRect l="-6481" r="-12037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/>
              <p:nvPr/>
            </p:nvSpPr>
            <p:spPr>
              <a:xfrm>
                <a:off x="6178279" y="5570228"/>
                <a:ext cx="821700" cy="3016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279" y="5570228"/>
                <a:ext cx="821700" cy="301686"/>
              </a:xfrm>
              <a:prstGeom prst="rect">
                <a:avLst/>
              </a:prstGeom>
              <a:blipFill>
                <a:blip r:embed="rId9"/>
                <a:stretch>
                  <a:fillRect l="-5185" t="-2041" r="-10370" b="-28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FEA2D9-79F1-7D11-1325-861A26FFAE88}"/>
                  </a:ext>
                </a:extLst>
              </p:cNvPr>
              <p:cNvSpPr txBox="1"/>
              <p:nvPr/>
            </p:nvSpPr>
            <p:spPr>
              <a:xfrm>
                <a:off x="7176878" y="4467161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5,30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FEA2D9-79F1-7D11-1325-861A26FFA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878" y="4467161"/>
                <a:ext cx="496931" cy="276999"/>
              </a:xfrm>
              <a:prstGeom prst="rect">
                <a:avLst/>
              </a:prstGeom>
              <a:blipFill>
                <a:blip r:embed="rId10"/>
                <a:stretch>
                  <a:fillRect l="-9756" r="-1097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08778-1B73-0628-895B-B342F3B665CA}"/>
                  </a:ext>
                </a:extLst>
              </p:cNvPr>
              <p:cNvSpPr txBox="1"/>
              <p:nvPr/>
            </p:nvSpPr>
            <p:spPr>
              <a:xfrm>
                <a:off x="8201788" y="4472812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4,52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08778-1B73-0628-895B-B342F3B6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788" y="4472812"/>
                <a:ext cx="496931" cy="276999"/>
              </a:xfrm>
              <a:prstGeom prst="rect">
                <a:avLst/>
              </a:prstGeom>
              <a:blipFill>
                <a:blip r:embed="rId11"/>
                <a:stretch>
                  <a:fillRect l="-8537" r="-1097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53456E5-E853-A4FE-EFAC-CC6B3ECCDCD2}"/>
                  </a:ext>
                </a:extLst>
              </p:cNvPr>
              <p:cNvSpPr txBox="1"/>
              <p:nvPr/>
            </p:nvSpPr>
            <p:spPr>
              <a:xfrm>
                <a:off x="7176877" y="4833071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3,75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53456E5-E853-A4FE-EFAC-CC6B3ECCD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877" y="4833071"/>
                <a:ext cx="496931" cy="276999"/>
              </a:xfrm>
              <a:prstGeom prst="rect">
                <a:avLst/>
              </a:prstGeom>
              <a:blipFill>
                <a:blip r:embed="rId12"/>
                <a:stretch>
                  <a:fillRect l="-8537" r="-1097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C5D21F-FCF1-F74B-E5B5-F1A43ECCC887}"/>
                  </a:ext>
                </a:extLst>
              </p:cNvPr>
              <p:cNvSpPr txBox="1"/>
              <p:nvPr/>
            </p:nvSpPr>
            <p:spPr>
              <a:xfrm>
                <a:off x="7200921" y="5195680"/>
                <a:ext cx="44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270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C5D21F-FCF1-F74B-E5B5-F1A43ECCC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921" y="5195680"/>
                <a:ext cx="448841" cy="276999"/>
              </a:xfrm>
              <a:prstGeom prst="rect">
                <a:avLst/>
              </a:prstGeom>
              <a:blipFill>
                <a:blip r:embed="rId13"/>
                <a:stretch>
                  <a:fillRect l="-10811" r="-10811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F28906-22A0-559E-7F1A-A74554E132D7}"/>
                  </a:ext>
                </a:extLst>
              </p:cNvPr>
              <p:cNvSpPr txBox="1"/>
              <p:nvPr/>
            </p:nvSpPr>
            <p:spPr>
              <a:xfrm>
                <a:off x="7112755" y="5589569"/>
                <a:ext cx="625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305,8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F28906-22A0-559E-7F1A-A74554E13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755" y="5589569"/>
                <a:ext cx="625171" cy="276999"/>
              </a:xfrm>
              <a:prstGeom prst="rect">
                <a:avLst/>
              </a:prstGeom>
              <a:blipFill>
                <a:blip r:embed="rId14"/>
                <a:stretch>
                  <a:fillRect l="-7843" r="-8824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6A8249-5B4E-315E-0B47-E01977932166}"/>
                  </a:ext>
                </a:extLst>
              </p:cNvPr>
              <p:cNvSpPr txBox="1"/>
              <p:nvPr/>
            </p:nvSpPr>
            <p:spPr>
              <a:xfrm>
                <a:off x="8206291" y="4830319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2,50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6A8249-5B4E-315E-0B47-E01977932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291" y="4830319"/>
                <a:ext cx="496931" cy="276999"/>
              </a:xfrm>
              <a:prstGeom prst="rect">
                <a:avLst/>
              </a:prstGeom>
              <a:blipFill>
                <a:blip r:embed="rId15"/>
                <a:stretch>
                  <a:fillRect l="-8537" r="-10976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69FF50-C911-DA9C-9E7F-230E239FCA3E}"/>
                  </a:ext>
                </a:extLst>
              </p:cNvPr>
              <p:cNvSpPr txBox="1"/>
              <p:nvPr/>
            </p:nvSpPr>
            <p:spPr>
              <a:xfrm>
                <a:off x="8213743" y="5219114"/>
                <a:ext cx="44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150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69FF50-C911-DA9C-9E7F-230E239FC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743" y="5219114"/>
                <a:ext cx="448841" cy="276999"/>
              </a:xfrm>
              <a:prstGeom prst="rect">
                <a:avLst/>
              </a:prstGeom>
              <a:blipFill>
                <a:blip r:embed="rId16"/>
                <a:stretch>
                  <a:fillRect l="-12162" r="-10811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45B47F-AF8D-1C10-143E-2FABAB6625B1}"/>
                  </a:ext>
                </a:extLst>
              </p:cNvPr>
              <p:cNvSpPr txBox="1"/>
              <p:nvPr/>
            </p:nvSpPr>
            <p:spPr>
              <a:xfrm>
                <a:off x="8125577" y="5570228"/>
                <a:ext cx="625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246,8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45B47F-AF8D-1C10-143E-2FABAB662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577" y="5570228"/>
                <a:ext cx="625171" cy="276999"/>
              </a:xfrm>
              <a:prstGeom prst="rect">
                <a:avLst/>
              </a:prstGeom>
              <a:blipFill>
                <a:blip r:embed="rId17"/>
                <a:stretch>
                  <a:fillRect l="-7843" r="-8824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4EAD3AE-C225-14EF-269F-5B5AE150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7244857" y="4044999"/>
            <a:ext cx="451379" cy="371611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605931B4-D82E-5BAF-958F-6B5A64B60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8183673" y="4052869"/>
            <a:ext cx="451379" cy="3624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ooter Placeholder 2">
            <a:extLst>
              <a:ext uri="{FF2B5EF4-FFF2-40B4-BE49-F238E27FC236}">
                <a16:creationId xmlns:a16="http://schemas.microsoft.com/office/drawing/2014/main" id="{96AD9D58-FAFC-CBE8-A6DF-0867908D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D3A24-B808-74F2-AB89-A325641DFC77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31233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2422-0593-98CE-0BC1-D9A0BE05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3D31D4-FFA1-BFF2-889B-9A83090A38E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3249544-0A0A-C649-155C-A9E1F782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28BACC0-48BC-CC88-7B3A-B5A7AC62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13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6E554F1-44BD-8B7F-91BB-367D7780CA1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pic>
        <p:nvPicPr>
          <p:cNvPr id="14" name="Picture 2" descr="Python Logo PNG Transparent – Brands Logos">
            <a:extLst>
              <a:ext uri="{FF2B5EF4-FFF2-40B4-BE49-F238E27FC236}">
                <a16:creationId xmlns:a16="http://schemas.microsoft.com/office/drawing/2014/main" id="{C04A41E5-50B4-42D4-6FA7-4B417CDD4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56000" cy="75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947833-463C-EB44-5963-1AAF0DF2B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440" y="1398894"/>
            <a:ext cx="4914598" cy="47180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D058C2-FA86-0CE6-1F22-D2B6A9ECC442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8C53F9-674F-FF39-483E-2E6227463819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9" name="Arrow: Notched Right 18">
              <a:extLst>
                <a:ext uri="{FF2B5EF4-FFF2-40B4-BE49-F238E27FC236}">
                  <a16:creationId xmlns:a16="http://schemas.microsoft.com/office/drawing/2014/main" id="{AE58B520-3693-5E48-EE97-B4496C164187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21" name="Arrow: Notched Right 20">
              <a:extLst>
                <a:ext uri="{FF2B5EF4-FFF2-40B4-BE49-F238E27FC236}">
                  <a16:creationId xmlns:a16="http://schemas.microsoft.com/office/drawing/2014/main" id="{8A4289A1-CA60-8011-FF10-2CC8FFE5C50C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22" name="Arrow: Notched Right 21">
              <a:extLst>
                <a:ext uri="{FF2B5EF4-FFF2-40B4-BE49-F238E27FC236}">
                  <a16:creationId xmlns:a16="http://schemas.microsoft.com/office/drawing/2014/main" id="{8AECCBDC-2C2E-5B2B-D57B-60DF42C617AD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EA3527-CBE4-BB1E-8E8A-8B21A1F88B1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91E480-CEFE-D580-938C-FDAA725FDA6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ooter Placeholder 2">
              <a:extLst>
                <a:ext uri="{FF2B5EF4-FFF2-40B4-BE49-F238E27FC236}">
                  <a16:creationId xmlns:a16="http://schemas.microsoft.com/office/drawing/2014/main" id="{024BCF65-762C-3EB5-9AA3-CD664A82060E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C04EFB-BC59-E67C-009B-150F73FBDE59}"/>
              </a:ext>
            </a:extLst>
          </p:cNvPr>
          <p:cNvSpPr/>
          <p:nvPr/>
        </p:nvSpPr>
        <p:spPr>
          <a:xfrm>
            <a:off x="6118311" y="2773418"/>
            <a:ext cx="2878490" cy="2181076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Mesures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960CFE0-2431-2CD5-946C-A5785058E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636384"/>
              </p:ext>
            </p:extLst>
          </p:nvPr>
        </p:nvGraphicFramePr>
        <p:xfrm>
          <a:off x="6174049" y="3045101"/>
          <a:ext cx="2767013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0575">
                  <a:extLst>
                    <a:ext uri="{9D8B030D-6E8A-4147-A177-3AD203B41FA5}">
                      <a16:colId xmlns:a16="http://schemas.microsoft.com/office/drawing/2014/main" val="887859225"/>
                    </a:ext>
                  </a:extLst>
                </a:gridCol>
                <a:gridCol w="988219">
                  <a:extLst>
                    <a:ext uri="{9D8B030D-6E8A-4147-A177-3AD203B41FA5}">
                      <a16:colId xmlns:a16="http://schemas.microsoft.com/office/drawing/2014/main" val="2798946589"/>
                    </a:ext>
                  </a:extLst>
                </a:gridCol>
                <a:gridCol w="988219">
                  <a:extLst>
                    <a:ext uri="{9D8B030D-6E8A-4147-A177-3AD203B41FA5}">
                      <a16:colId xmlns:a16="http://schemas.microsoft.com/office/drawing/2014/main" val="3812795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147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9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429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2B6D7-1E3E-57B9-337F-D57EADCA0A2A}"/>
                  </a:ext>
                </a:extLst>
              </p:cNvPr>
              <p:cNvSpPr txBox="1"/>
              <p:nvPr/>
            </p:nvSpPr>
            <p:spPr>
              <a:xfrm>
                <a:off x="6186417" y="3459393"/>
                <a:ext cx="797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2B6D7-1E3E-57B9-337F-D57EADCA0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417" y="3459393"/>
                <a:ext cx="797654" cy="276999"/>
              </a:xfrm>
              <a:prstGeom prst="rect">
                <a:avLst/>
              </a:prstGeom>
              <a:blipFill>
                <a:blip r:embed="rId5"/>
                <a:stretch>
                  <a:fillRect l="-6107" r="-9924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C4BEDD-6682-EA1A-43CC-C0ABE7C7464D}"/>
                  </a:ext>
                </a:extLst>
              </p:cNvPr>
              <p:cNvSpPr txBox="1"/>
              <p:nvPr/>
            </p:nvSpPr>
            <p:spPr>
              <a:xfrm>
                <a:off x="6333778" y="3822552"/>
                <a:ext cx="5578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C4BEDD-6682-EA1A-43CC-C0ABE7C74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778" y="3822552"/>
                <a:ext cx="557845" cy="276999"/>
              </a:xfrm>
              <a:prstGeom prst="rect">
                <a:avLst/>
              </a:prstGeom>
              <a:blipFill>
                <a:blip r:embed="rId6"/>
                <a:stretch>
                  <a:fillRect l="-7609" r="-14130" b="-4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CA6CE8-E25D-CC70-B264-EE5AEC8DA223}"/>
                  </a:ext>
                </a:extLst>
              </p:cNvPr>
              <p:cNvSpPr txBox="1"/>
              <p:nvPr/>
            </p:nvSpPr>
            <p:spPr>
              <a:xfrm>
                <a:off x="6256629" y="4192506"/>
                <a:ext cx="657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pF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2CA6CE8-E25D-CC70-B264-EE5AEC8D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629" y="4192506"/>
                <a:ext cx="657231" cy="276999"/>
              </a:xfrm>
              <a:prstGeom prst="rect">
                <a:avLst/>
              </a:prstGeom>
              <a:blipFill>
                <a:blip r:embed="rId7"/>
                <a:stretch>
                  <a:fillRect l="-6481" t="-2222" r="-12037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A25541A-2E15-AD10-E20F-AF2B19E7EFD0}"/>
                  </a:ext>
                </a:extLst>
              </p:cNvPr>
              <p:cNvSpPr txBox="1"/>
              <p:nvPr/>
            </p:nvSpPr>
            <p:spPr>
              <a:xfrm>
                <a:off x="6174049" y="4562460"/>
                <a:ext cx="821700" cy="3016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A25541A-2E15-AD10-E20F-AF2B19E7E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049" y="4562460"/>
                <a:ext cx="821700" cy="301686"/>
              </a:xfrm>
              <a:prstGeom prst="rect">
                <a:avLst/>
              </a:prstGeom>
              <a:blipFill>
                <a:blip r:embed="rId8"/>
                <a:stretch>
                  <a:fillRect l="-5926" r="-9630" b="-28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BAAB8C-252C-39D5-5BFE-38CD949D6834}"/>
                  </a:ext>
                </a:extLst>
              </p:cNvPr>
              <p:cNvSpPr txBox="1"/>
              <p:nvPr/>
            </p:nvSpPr>
            <p:spPr>
              <a:xfrm>
                <a:off x="7172648" y="3459393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5,30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BAAB8C-252C-39D5-5BFE-38CD949D6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648" y="3459393"/>
                <a:ext cx="496931" cy="276999"/>
              </a:xfrm>
              <a:prstGeom prst="rect">
                <a:avLst/>
              </a:prstGeom>
              <a:blipFill>
                <a:blip r:embed="rId9"/>
                <a:stretch>
                  <a:fillRect l="-9877" r="-11111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4788BD5-0AEC-1875-65D0-53FC4942D945}"/>
                  </a:ext>
                </a:extLst>
              </p:cNvPr>
              <p:cNvSpPr txBox="1"/>
              <p:nvPr/>
            </p:nvSpPr>
            <p:spPr>
              <a:xfrm>
                <a:off x="8197558" y="3465044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4,52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4788BD5-0AEC-1875-65D0-53FC4942D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558" y="3465044"/>
                <a:ext cx="496931" cy="276999"/>
              </a:xfrm>
              <a:prstGeom prst="rect">
                <a:avLst/>
              </a:prstGeom>
              <a:blipFill>
                <a:blip r:embed="rId10"/>
                <a:stretch>
                  <a:fillRect l="-9877" r="-12346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93BC6E-B896-2C54-1FD2-24CD9F02ACD6}"/>
                  </a:ext>
                </a:extLst>
              </p:cNvPr>
              <p:cNvSpPr txBox="1"/>
              <p:nvPr/>
            </p:nvSpPr>
            <p:spPr>
              <a:xfrm>
                <a:off x="7172647" y="3825303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3,75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93BC6E-B896-2C54-1FD2-24CD9F02A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647" y="3825303"/>
                <a:ext cx="496931" cy="276999"/>
              </a:xfrm>
              <a:prstGeom prst="rect">
                <a:avLst/>
              </a:prstGeom>
              <a:blipFill>
                <a:blip r:embed="rId11"/>
                <a:stretch>
                  <a:fillRect l="-9877" r="-1234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24B8E28-0B95-6151-7B45-4FCFBE57312A}"/>
                  </a:ext>
                </a:extLst>
              </p:cNvPr>
              <p:cNvSpPr txBox="1"/>
              <p:nvPr/>
            </p:nvSpPr>
            <p:spPr>
              <a:xfrm>
                <a:off x="7196691" y="4187912"/>
                <a:ext cx="44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270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24B8E28-0B95-6151-7B45-4FCFBE573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691" y="4187912"/>
                <a:ext cx="448841" cy="276999"/>
              </a:xfrm>
              <a:prstGeom prst="rect">
                <a:avLst/>
              </a:prstGeom>
              <a:blipFill>
                <a:blip r:embed="rId12"/>
                <a:stretch>
                  <a:fillRect l="-12329" r="-10959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7FEF32A-67B8-C195-383B-DB932F01ACE2}"/>
                  </a:ext>
                </a:extLst>
              </p:cNvPr>
              <p:cNvSpPr txBox="1"/>
              <p:nvPr/>
            </p:nvSpPr>
            <p:spPr>
              <a:xfrm>
                <a:off x="7108525" y="4581801"/>
                <a:ext cx="625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305,8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7FEF32A-67B8-C195-383B-DB932F01A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525" y="4581801"/>
                <a:ext cx="625171" cy="276999"/>
              </a:xfrm>
              <a:prstGeom prst="rect">
                <a:avLst/>
              </a:prstGeom>
              <a:blipFill>
                <a:blip r:embed="rId13"/>
                <a:stretch>
                  <a:fillRect l="-7767" r="-8738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BFF2795-457B-5ABF-75CA-1E1436DE8DCE}"/>
                  </a:ext>
                </a:extLst>
              </p:cNvPr>
              <p:cNvSpPr txBox="1"/>
              <p:nvPr/>
            </p:nvSpPr>
            <p:spPr>
              <a:xfrm>
                <a:off x="8202061" y="3822551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2,50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BFF2795-457B-5ABF-75CA-1E1436DE8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2061" y="3822551"/>
                <a:ext cx="496931" cy="276999"/>
              </a:xfrm>
              <a:prstGeom prst="rect">
                <a:avLst/>
              </a:prstGeom>
              <a:blipFill>
                <a:blip r:embed="rId14"/>
                <a:stretch>
                  <a:fillRect l="-8537" r="-1097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5576D12-ED88-3B66-1344-0D67B1015248}"/>
                  </a:ext>
                </a:extLst>
              </p:cNvPr>
              <p:cNvSpPr txBox="1"/>
              <p:nvPr/>
            </p:nvSpPr>
            <p:spPr>
              <a:xfrm>
                <a:off x="8209513" y="4211346"/>
                <a:ext cx="44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150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5576D12-ED88-3B66-1344-0D67B1015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513" y="4211346"/>
                <a:ext cx="448841" cy="276999"/>
              </a:xfrm>
              <a:prstGeom prst="rect">
                <a:avLst/>
              </a:prstGeom>
              <a:blipFill>
                <a:blip r:embed="rId15"/>
                <a:stretch>
                  <a:fillRect l="-12329" r="-12329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8A60CC-9B9A-2D88-BFD8-B52003BE79F2}"/>
                  </a:ext>
                </a:extLst>
              </p:cNvPr>
              <p:cNvSpPr txBox="1"/>
              <p:nvPr/>
            </p:nvSpPr>
            <p:spPr>
              <a:xfrm>
                <a:off x="8121347" y="4562460"/>
                <a:ext cx="625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246,8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8A60CC-9B9A-2D88-BFD8-B52003BE7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347" y="4562460"/>
                <a:ext cx="625171" cy="276999"/>
              </a:xfrm>
              <a:prstGeom prst="rect">
                <a:avLst/>
              </a:prstGeom>
              <a:blipFill>
                <a:blip r:embed="rId16"/>
                <a:stretch>
                  <a:fillRect l="-6796" r="-8738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" name="Picture 51">
            <a:extLst>
              <a:ext uri="{FF2B5EF4-FFF2-40B4-BE49-F238E27FC236}">
                <a16:creationId xmlns:a16="http://schemas.microsoft.com/office/drawing/2014/main" id="{41BA7F39-FF36-ADD9-D90E-ED1319EA2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7240627" y="3037231"/>
            <a:ext cx="451379" cy="371611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DD724051-C6CF-FBC1-FEDE-204BEB2A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8179443" y="3045101"/>
            <a:ext cx="451379" cy="3624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9349B35-E6B7-9E01-F26A-2A7F7B8E63D3}"/>
                  </a:ext>
                </a:extLst>
              </p:cNvPr>
              <p:cNvSpPr/>
              <p:nvPr/>
            </p:nvSpPr>
            <p:spPr>
              <a:xfrm>
                <a:off x="6118312" y="5125921"/>
                <a:ext cx="2878489" cy="1001254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Conclusion</a:t>
                </a: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r>
                  <a:rPr lang="fr-FR" sz="1400" b="1" dirty="0">
                    <a:solidFill>
                      <a:schemeClr val="tx1"/>
                    </a:solidFill>
                  </a:rPr>
                  <a:t>En basses fréquences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9349B35-E6B7-9E01-F26A-2A7F7B8E63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312" y="5125921"/>
                <a:ext cx="2878489" cy="10012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E7C2BCAC-574B-57EB-E52C-8270D11EE01C}"/>
              </a:ext>
            </a:extLst>
          </p:cNvPr>
          <p:cNvGrpSpPr/>
          <p:nvPr/>
        </p:nvGrpSpPr>
        <p:grpSpPr>
          <a:xfrm>
            <a:off x="6118311" y="1381675"/>
            <a:ext cx="2878490" cy="1270807"/>
            <a:chOff x="1054904" y="1200155"/>
            <a:chExt cx="4927617" cy="3601072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D705EA26-1D4C-7DDB-DC00-9789B1B1199D}"/>
                </a:ext>
              </a:extLst>
            </p:cNvPr>
            <p:cNvPicPr>
              <a:picLocks/>
            </p:cNvPicPr>
            <p:nvPr/>
          </p:nvPicPr>
          <p:blipFill>
            <a:blip r:embed="rId20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54904" y="1200155"/>
              <a:ext cx="4927617" cy="36010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05BA284-9FE3-C2E0-4B18-C347D0056B73}"/>
                </a:ext>
              </a:extLst>
            </p:cNvPr>
            <p:cNvSpPr/>
            <p:nvPr/>
          </p:nvSpPr>
          <p:spPr>
            <a:xfrm>
              <a:off x="1486014" y="2104150"/>
              <a:ext cx="569627" cy="19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AC686AB-67CB-AD1B-5341-694E42F381F6}"/>
                </a:ext>
              </a:extLst>
            </p:cNvPr>
            <p:cNvSpPr/>
            <p:nvPr/>
          </p:nvSpPr>
          <p:spPr>
            <a:xfrm>
              <a:off x="2555070" y="3033420"/>
              <a:ext cx="569627" cy="19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C983CA8-983B-4B0A-8691-58F7971A6BC8}"/>
                </a:ext>
              </a:extLst>
            </p:cNvPr>
            <p:cNvSpPr/>
            <p:nvPr/>
          </p:nvSpPr>
          <p:spPr>
            <a:xfrm>
              <a:off x="3715970" y="3073533"/>
              <a:ext cx="703406" cy="2401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60BBA2B-D46B-CAB2-C1AA-BFC085A668A6}"/>
                </a:ext>
              </a:extLst>
            </p:cNvPr>
            <p:cNvSpPr/>
            <p:nvPr/>
          </p:nvSpPr>
          <p:spPr>
            <a:xfrm>
              <a:off x="5397029" y="3091033"/>
              <a:ext cx="527521" cy="2011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95ECC14-3541-0557-7429-A355B09A0F80}"/>
                </a:ext>
              </a:extLst>
            </p:cNvPr>
            <p:cNvSpPr/>
            <p:nvPr/>
          </p:nvSpPr>
          <p:spPr>
            <a:xfrm>
              <a:off x="1468417" y="3119201"/>
              <a:ext cx="569627" cy="194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37E2390-42D5-25B6-5177-FDCED4D0DE9B}"/>
              </a:ext>
            </a:extLst>
          </p:cNvPr>
          <p:cNvCxnSpPr>
            <a:cxnSpLocks/>
          </p:cNvCxnSpPr>
          <p:nvPr/>
        </p:nvCxnSpPr>
        <p:spPr>
          <a:xfrm flipV="1">
            <a:off x="6539033" y="2291482"/>
            <a:ext cx="0" cy="206240"/>
          </a:xfrm>
          <a:prstGeom prst="straightConnector1">
            <a:avLst/>
          </a:prstGeom>
          <a:ln>
            <a:solidFill>
              <a:srgbClr val="3890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64DB8A1-BD5A-2EF2-6776-71288B2195B3}"/>
                  </a:ext>
                </a:extLst>
              </p:cNvPr>
              <p:cNvSpPr txBox="1"/>
              <p:nvPr/>
            </p:nvSpPr>
            <p:spPr>
              <a:xfrm>
                <a:off x="6575061" y="2305020"/>
                <a:ext cx="31656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>
                  <a:solidFill>
                    <a:srgbClr val="38903A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64DB8A1-BD5A-2EF2-6776-71288B219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061" y="2305020"/>
                <a:ext cx="316562" cy="184666"/>
              </a:xfrm>
              <a:prstGeom prst="rect">
                <a:avLst/>
              </a:prstGeom>
              <a:blipFill>
                <a:blip r:embed="rId22"/>
                <a:stretch>
                  <a:fillRect l="-5769" r="-15385" b="-4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1E2BAB-5645-112B-4E77-DFC5F72D1FA8}"/>
              </a:ext>
            </a:extLst>
          </p:cNvPr>
          <p:cNvCxnSpPr>
            <a:cxnSpLocks/>
          </p:cNvCxnSpPr>
          <p:nvPr/>
        </p:nvCxnSpPr>
        <p:spPr>
          <a:xfrm flipV="1">
            <a:off x="8405132" y="1913713"/>
            <a:ext cx="0" cy="206240"/>
          </a:xfrm>
          <a:prstGeom prst="straightConnector1">
            <a:avLst/>
          </a:prstGeom>
          <a:ln>
            <a:solidFill>
              <a:srgbClr val="3890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70DB5AF-B81B-2CBE-83D8-43B1046274CA}"/>
                  </a:ext>
                </a:extLst>
              </p:cNvPr>
              <p:cNvSpPr txBox="1"/>
              <p:nvPr/>
            </p:nvSpPr>
            <p:spPr>
              <a:xfrm>
                <a:off x="8078560" y="1928668"/>
                <a:ext cx="32117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>
                  <a:solidFill>
                    <a:srgbClr val="38903A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70DB5AF-B81B-2CBE-83D8-43B104627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60" y="1928668"/>
                <a:ext cx="321178" cy="184666"/>
              </a:xfrm>
              <a:prstGeom prst="rect">
                <a:avLst/>
              </a:prstGeom>
              <a:blipFill>
                <a:blip r:embed="rId23"/>
                <a:stretch>
                  <a:fillRect l="-3774" r="-15094" b="-387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2FCA72B-A395-406E-8C4A-C20084E7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415195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FCD4-D77B-F1C4-55DD-38C4A934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6C5A857-3856-ABEB-0586-58660E5A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3353FF4-31AA-5E70-D72A-ECD17373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14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176C0-9C44-1775-37E4-AD2AFEED5530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AF150A1-C0FD-2A31-918E-93B83058E113}"/>
              </a:ext>
            </a:extLst>
          </p:cNvPr>
          <p:cNvGrpSpPr/>
          <p:nvPr/>
        </p:nvGrpSpPr>
        <p:grpSpPr>
          <a:xfrm>
            <a:off x="1071545" y="4838220"/>
            <a:ext cx="7869519" cy="1210580"/>
            <a:chOff x="385745" y="5083538"/>
            <a:chExt cx="8293184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1E8A2-562F-2391-DE82-01FB673AEF5C}"/>
                </a:ext>
              </a:extLst>
            </p:cNvPr>
            <p:cNvGrpSpPr/>
            <p:nvPr/>
          </p:nvGrpSpPr>
          <p:grpSpPr>
            <a:xfrm>
              <a:off x="385745" y="5083538"/>
              <a:ext cx="8293184" cy="1150814"/>
              <a:chOff x="385745" y="5083538"/>
              <a:chExt cx="8293184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CC22706-E154-E480-834B-0A0914D263CE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8D96272-AB69-A3F2-22CA-7CB0AF5B7115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2482C0E-9587-3BAE-6CD8-E6F6F1AC4195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rgbClr val="559AD7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04BD342-1123-F804-2806-2DFDD4AC9A26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DF1803B1-9D88-36E3-0A95-86E105BC2365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8E4A1CAC-CFDD-3534-8AA1-4979F7B51B35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AE6E9B31-F506-D994-C412-03730C5F49D8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85B4BC89-9F96-94D7-6A77-412D6FACFCE0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35B79A7-CE76-21F2-4764-BFF291CE56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35B79A7-CE76-21F2-4764-BFF291CE56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30E53824-5154-9021-5E92-F61E789FEE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30E53824-5154-9021-5E92-F61E789FEE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B07A5120-CACE-7227-3E1A-512C8B3FEF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B07A5120-CACE-7227-3E1A-512C8B3FEF9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8E7C32FB-5DCC-5278-06CE-1337AEF841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8E7C32FB-5DCC-5278-06CE-1337AEF841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128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6A8F45-F97F-1579-0616-154D45687B1D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08772BC-B767-5069-5611-84F2D865EA5D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8CC04AB-3F10-7818-1627-D458DD445E99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A3BDDDA-3141-7E4A-0F8B-25F068259B22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CB0E4D0-484C-0B4E-BDE7-3504057701ED}"/>
              </a:ext>
            </a:extLst>
          </p:cNvPr>
          <p:cNvGrpSpPr/>
          <p:nvPr/>
        </p:nvGrpSpPr>
        <p:grpSpPr>
          <a:xfrm>
            <a:off x="758331" y="1002105"/>
            <a:ext cx="8378236" cy="3871961"/>
            <a:chOff x="-143123" y="1695451"/>
            <a:chExt cx="8378236" cy="38272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8D23FFC-B47E-B3BA-1B54-489B1B98EC82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27203"/>
              <a:chOff x="1006751" y="1255937"/>
              <a:chExt cx="6952009" cy="3806453"/>
            </a:xfrm>
          </p:grpSpPr>
          <p:pic>
            <p:nvPicPr>
              <p:cNvPr id="68" name="Picture 67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9E3ADCD7-C186-B526-3478-BB91B2959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69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84FFA659-5182-64DC-FE6E-6A51D79B76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2BC230A-33A9-0CE3-C146-6A6EFA12400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10117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67" name="Picture 8" descr="Sound PNG Transparent Images">
              <a:extLst>
                <a:ext uri="{FF2B5EF4-FFF2-40B4-BE49-F238E27FC236}">
                  <a16:creationId xmlns:a16="http://schemas.microsoft.com/office/drawing/2014/main" id="{D32D96BA-E861-4A25-8537-B34D005C1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8608" y="2831113"/>
              <a:ext cx="1476505" cy="1476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A3249BC-8CE7-CDA3-3B94-E7F3EF3B59FC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Induction et filtrage spatial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396C41-374B-1D09-9629-C60E3A9CCA81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8" name="Arrow: Notched Right 7">
              <a:extLst>
                <a:ext uri="{FF2B5EF4-FFF2-40B4-BE49-F238E27FC236}">
                  <a16:creationId xmlns:a16="http://schemas.microsoft.com/office/drawing/2014/main" id="{10A645F3-7664-0F4D-13A2-E50C5ECC87AD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5DA8B901-57E6-DDC6-CEAD-D65243DA96B0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17" name="Arrow: Notched Right 16">
              <a:extLst>
                <a:ext uri="{FF2B5EF4-FFF2-40B4-BE49-F238E27FC236}">
                  <a16:creationId xmlns:a16="http://schemas.microsoft.com/office/drawing/2014/main" id="{88D84FF5-0693-73B8-1733-F1DA5CB3FCD8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4ADB00-D268-0454-EE6E-4FC9D2A0571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3B424D-5FFE-4A76-56AC-BBA4DFB3F60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Footer Placeholder 2">
              <a:extLst>
                <a:ext uri="{FF2B5EF4-FFF2-40B4-BE49-F238E27FC236}">
                  <a16:creationId xmlns:a16="http://schemas.microsoft.com/office/drawing/2014/main" id="{0042A8E5-0D8C-FE6B-92B0-F65BDE2E3BC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E3A26E4-93FB-9F10-6EB6-2D1E5A8A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11159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1A89-AE2B-E041-5B38-418F6180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954A7EF-E819-7403-B518-89541C0929F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8AFA9E9-9719-679C-6FBE-1201DA0B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D01C7BF-D0F9-5DDA-0EB7-BA641961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15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1B1DFE7-8FA8-677E-D0C4-9ECAB1E04C00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1F8A49-A641-A223-BC2B-565D3A9EA4F1}"/>
                  </a:ext>
                </a:extLst>
              </p:cNvPr>
              <p:cNvSpPr/>
              <p:nvPr/>
            </p:nvSpPr>
            <p:spPr>
              <a:xfrm>
                <a:off x="1131100" y="1260117"/>
                <a:ext cx="3842591" cy="1423878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Vibration de la corde : Onde stationnaire dans le plan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1600" b="0" i="1" smtClean="0">
                        <a:latin typeface="Cambria Math" panose="02040503050406030204" pitchFamily="18" charset="0"/>
                      </a:rPr>
                      <m:t>O</m:t>
                    </m:r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1F8A49-A641-A223-BC2B-565D3A9EA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00" y="1260117"/>
                <a:ext cx="3842591" cy="1423878"/>
              </a:xfrm>
              <a:prstGeom prst="rect">
                <a:avLst/>
              </a:prstGeom>
              <a:blipFill>
                <a:blip r:embed="rId2"/>
                <a:stretch>
                  <a:fillRect l="-472" t="-837" b="-5021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75243A0-1FE9-8074-A10B-6683AE34908D}"/>
                  </a:ext>
                </a:extLst>
              </p:cNvPr>
              <p:cNvSpPr/>
              <p:nvPr/>
            </p:nvSpPr>
            <p:spPr>
              <a:xfrm>
                <a:off x="5097198" y="1260117"/>
                <a:ext cx="3842591" cy="4810899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600" dirty="0"/>
                  <a:t>L’équation d’onde de la corde est régie par l’équation différentielle :</a:t>
                </a:r>
              </a:p>
              <a:p>
                <a:endParaRPr lang="fr-FR" sz="16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200" dirty="0"/>
                  <a:t>D’où :	     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func>
                          <m:func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200" dirty="0">
                    <a:solidFill>
                      <a:schemeClr val="tx1"/>
                    </a:solidFill>
                  </a:rPr>
                  <a:t>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2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75243A0-1FE9-8074-A10B-6683AE349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98" y="1260117"/>
                <a:ext cx="3842591" cy="4810899"/>
              </a:xfrm>
              <a:prstGeom prst="rect">
                <a:avLst/>
              </a:prstGeom>
              <a:blipFill>
                <a:blip r:embed="rId3"/>
                <a:stretch>
                  <a:fillRect l="-3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911BEFF-6FB0-C592-5173-789210A75215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  <p:pic>
        <p:nvPicPr>
          <p:cNvPr id="10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81906A3C-88C9-1D36-3F04-582CE4AFF6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8040987" y="605107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4542817-0D26-16DE-05F1-42109423F7B5}"/>
              </a:ext>
            </a:extLst>
          </p:cNvPr>
          <p:cNvGrpSpPr/>
          <p:nvPr/>
        </p:nvGrpSpPr>
        <p:grpSpPr>
          <a:xfrm>
            <a:off x="1131099" y="2817570"/>
            <a:ext cx="3842591" cy="3253445"/>
            <a:chOff x="1131100" y="2976855"/>
            <a:chExt cx="3842591" cy="32182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2987E6F-BA8C-5202-2C1C-6F726B798189}"/>
                    </a:ext>
                  </a:extLst>
                </p:cNvPr>
                <p:cNvSpPr/>
                <p:nvPr/>
              </p:nvSpPr>
              <p:spPr>
                <a:xfrm>
                  <a:off x="1131100" y="2976855"/>
                  <a:ext cx="3842591" cy="3218206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numCol="1" rtlCol="0" anchor="t"/>
                <a:lstStyle/>
                <a:p>
                  <a:r>
                    <a:rPr lang="fr-FR" sz="1600" b="1" dirty="0"/>
                    <a:t>Notations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F.E.M. dans le micro SingleCoil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Nombre de spire du micro SingleCoil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Surface active du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Gradient du champ B de la corde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Fréquence fondamentale de la corde</a:t>
                  </a:r>
                </a:p>
              </p:txBody>
            </p:sp>
          </mc:Choice>
          <mc:Fallback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2987E6F-BA8C-5202-2C1C-6F726B7981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00" y="2976855"/>
                  <a:ext cx="3842591" cy="3218206"/>
                </a:xfrm>
                <a:prstGeom prst="rect">
                  <a:avLst/>
                </a:prstGeom>
                <a:blipFill>
                  <a:blip r:embed="rId5"/>
                  <a:stretch>
                    <a:fillRect l="-472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E99069D-051E-87CC-1880-C585FCEAC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1" y="4577744"/>
              <a:ext cx="3680460" cy="152484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6407A35-DBAA-281B-6DDA-73426A4020F8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[3]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E23B1E-D22B-C1C3-211C-4098B0633DE8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1" name="Arrow: Notched Right 20">
              <a:extLst>
                <a:ext uri="{FF2B5EF4-FFF2-40B4-BE49-F238E27FC236}">
                  <a16:creationId xmlns:a16="http://schemas.microsoft.com/office/drawing/2014/main" id="{13998A97-F2D5-B1C0-C170-A264D774C088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22" name="Arrow: Notched Right 21">
              <a:extLst>
                <a:ext uri="{FF2B5EF4-FFF2-40B4-BE49-F238E27FC236}">
                  <a16:creationId xmlns:a16="http://schemas.microsoft.com/office/drawing/2014/main" id="{274C26BD-0BEA-AB24-5A09-47BB79EA0F5C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23" name="Arrow: Notched Right 22">
              <a:extLst>
                <a:ext uri="{FF2B5EF4-FFF2-40B4-BE49-F238E27FC236}">
                  <a16:creationId xmlns:a16="http://schemas.microsoft.com/office/drawing/2014/main" id="{46F2E6FF-603E-8503-4C70-916C21ACE0F5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C69331-5718-E0EA-991B-6D586EE81AA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5852F1-EC13-BF09-0DFA-BE103B31840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8E2E46A3-2221-A2D5-54B9-A262D8F6744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32302FE-C087-438E-ED4E-ACC60AFC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499339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513E-37CC-0777-9DD6-ED38E2EF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9778B6-4640-3777-106C-B2E81C72F006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5B422C-332E-F0F8-A11E-5F71F437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3E3C6F8-227B-9DAC-05A8-6050A1DB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16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B049565-EA1F-D493-3653-16E2BD0D20AE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54C36CF-5FC4-DEED-4595-E69C59A5490B}"/>
                  </a:ext>
                </a:extLst>
              </p:cNvPr>
              <p:cNvSpPr/>
              <p:nvPr/>
            </p:nvSpPr>
            <p:spPr>
              <a:xfrm>
                <a:off x="1131100" y="1260116"/>
                <a:ext cx="3842591" cy="1423879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Vibration de la corde : Onde stationnaire dans le plan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1600" i="1">
                        <a:latin typeface="Cambria Math" panose="02040503050406030204" pitchFamily="18" charset="0"/>
                      </a:rPr>
                      <m:t>O</m:t>
                    </m:r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fr-FR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54C36CF-5FC4-DEED-4595-E69C59A54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00" y="1260116"/>
                <a:ext cx="3842591" cy="1423879"/>
              </a:xfrm>
              <a:prstGeom prst="rect">
                <a:avLst/>
              </a:prstGeom>
              <a:blipFill>
                <a:blip r:embed="rId2"/>
                <a:stretch>
                  <a:fillRect l="-472" t="-837" b="-5021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29DBC45-4208-EB2C-566B-C727C2C36B18}"/>
                  </a:ext>
                </a:extLst>
              </p:cNvPr>
              <p:cNvSpPr/>
              <p:nvPr/>
            </p:nvSpPr>
            <p:spPr>
              <a:xfrm>
                <a:off x="5097198" y="1260117"/>
                <a:ext cx="3842591" cy="4810899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600" dirty="0"/>
                  <a:t>L’équation d’onde de la corde est régie par l’équation différentielle :</a:t>
                </a:r>
              </a:p>
              <a:p>
                <a:endParaRPr lang="fr-FR" sz="16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200" dirty="0"/>
                  <a:t>D’où :	     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func>
                          <m:func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fr-FR" sz="1200" dirty="0"/>
              </a:p>
              <a:p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200" dirty="0">
                    <a:solidFill>
                      <a:schemeClr val="tx1"/>
                    </a:solidFill>
                  </a:rPr>
                  <a:t>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2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29DBC45-4208-EB2C-566B-C727C2C36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98" y="1260117"/>
                <a:ext cx="3842591" cy="4810899"/>
              </a:xfrm>
              <a:prstGeom prst="rect">
                <a:avLst/>
              </a:prstGeom>
              <a:blipFill>
                <a:blip r:embed="rId3"/>
                <a:stretch>
                  <a:fillRect l="-3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>
            <a:extLst>
              <a:ext uri="{FF2B5EF4-FFF2-40B4-BE49-F238E27FC236}">
                <a16:creationId xmlns:a16="http://schemas.microsoft.com/office/drawing/2014/main" id="{1CB52F20-067F-B398-1BBC-A12EBFC85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7" b="3027"/>
          <a:stretch/>
        </p:blipFill>
        <p:spPr bwMode="auto">
          <a:xfrm>
            <a:off x="8040987" y="639069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6CF2F2-A7C7-F1BD-72F6-03BF835FF9D8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269041E-5D7E-53B4-6EA8-C73694BF2E92}"/>
                  </a:ext>
                </a:extLst>
              </p:cNvPr>
              <p:cNvSpPr/>
              <p:nvPr/>
            </p:nvSpPr>
            <p:spPr>
              <a:xfrm>
                <a:off x="1131099" y="2817568"/>
                <a:ext cx="3842591" cy="3253447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t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F.E.M. dans le micro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</m:oMath>
                </a14:m>
                <a:r>
                  <a:rPr lang="fr-FR" sz="1400" dirty="0"/>
                  <a:t>: Nombre de spire du micro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Surface active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Gradient du champ B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: Fréquence fondamentale de la corde</a:t>
                </a: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269041E-5D7E-53B4-6EA8-C73694BF2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099" y="2817568"/>
                <a:ext cx="3842591" cy="3253447"/>
              </a:xfrm>
              <a:prstGeom prst="rect">
                <a:avLst/>
              </a:prstGeom>
              <a:blipFill>
                <a:blip r:embed="rId5"/>
                <a:stretch>
                  <a:fillRect l="-472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F964D86-6E5C-B2D0-40FE-435125A796F8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[3]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C7690E-626C-C246-8037-6F9AE911FA04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1" name="Arrow: Notched Right 20">
              <a:extLst>
                <a:ext uri="{FF2B5EF4-FFF2-40B4-BE49-F238E27FC236}">
                  <a16:creationId xmlns:a16="http://schemas.microsoft.com/office/drawing/2014/main" id="{2D16F32C-8EDC-0178-A964-793FB5A4F528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22" name="Arrow: Notched Right 21">
              <a:extLst>
                <a:ext uri="{FF2B5EF4-FFF2-40B4-BE49-F238E27FC236}">
                  <a16:creationId xmlns:a16="http://schemas.microsoft.com/office/drawing/2014/main" id="{8F2B37B6-0884-6BE6-7801-976136CE96EB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23" name="Arrow: Notched Right 22">
              <a:extLst>
                <a:ext uri="{FF2B5EF4-FFF2-40B4-BE49-F238E27FC236}">
                  <a16:creationId xmlns:a16="http://schemas.microsoft.com/office/drawing/2014/main" id="{A36492CC-C5EA-1EA4-CE62-515629578CB6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F22D463-47F8-956A-3F2F-CF897649A0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435989"/>
            <a:ext cx="3680460" cy="154154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FBE7F5A-3536-7CF0-14B1-DE357590CC1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0C852B-1950-4746-3FBA-D747D6BA222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F3B8F8D4-1699-00FC-51A7-889678BE648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BAFEDEF-AAE4-6C4C-924E-1CC92F88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151114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DC96-7D6B-022A-BC8C-33392430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359E262-01D9-BF02-4695-E9718D933A6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2D5DECE-2A60-2317-83E1-58347A3F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5306DF-F81B-2F74-5E66-B9A57BEB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17</a:t>
            </a:fld>
            <a:endParaRPr lang="fr-FR" sz="1200" b="1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5F6D45-9037-6C83-8CAB-4DE7CB47F0D9}"/>
              </a:ext>
            </a:extLst>
          </p:cNvPr>
          <p:cNvGrpSpPr/>
          <p:nvPr/>
        </p:nvGrpSpPr>
        <p:grpSpPr>
          <a:xfrm>
            <a:off x="1151432" y="1287780"/>
            <a:ext cx="6551579" cy="4759218"/>
            <a:chOff x="1040582" y="1319307"/>
            <a:chExt cx="8606514" cy="477249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F8B616C-BA44-CC85-7A63-484E9D8C67D2}"/>
                </a:ext>
              </a:extLst>
            </p:cNvPr>
            <p:cNvGrpSpPr/>
            <p:nvPr/>
          </p:nvGrpSpPr>
          <p:grpSpPr>
            <a:xfrm>
              <a:off x="1040582" y="1319307"/>
              <a:ext cx="8606514" cy="4772492"/>
              <a:chOff x="1040582" y="1319307"/>
              <a:chExt cx="8606514" cy="4772492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51ECDDAB-FE4C-91AF-6FF8-D226B63E5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470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36" r="27170"/>
              <a:stretch>
                <a:fillRect/>
              </a:stretch>
            </p:blipFill>
            <p:spPr>
              <a:xfrm rot="5400000">
                <a:off x="2729400" y="-369511"/>
                <a:ext cx="3437289" cy="6814925"/>
              </a:xfrm>
              <a:prstGeom prst="rect">
                <a:avLst/>
              </a:prstGeom>
              <a:ln w="28575">
                <a:noFill/>
              </a:ln>
              <a:effectLst>
                <a:softEdge rad="31750"/>
              </a:effectLst>
            </p:spPr>
          </p:pic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9F7DA611-55F3-BB6C-D4A0-D9C1F2AEF5CE}"/>
                  </a:ext>
                </a:extLst>
              </p:cNvPr>
              <p:cNvGrpSpPr/>
              <p:nvPr/>
            </p:nvGrpSpPr>
            <p:grpSpPr>
              <a:xfrm flipH="1">
                <a:off x="1433594" y="4843239"/>
                <a:ext cx="8213502" cy="1248560"/>
                <a:chOff x="-317043" y="2948866"/>
                <a:chExt cx="8020224" cy="1248560"/>
              </a:xfrm>
            </p:grpSpPr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7628D95F-B909-97AA-8AF0-643319E2F9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 rot="16140000">
                  <a:off x="3331331" y="-174423"/>
                  <a:ext cx="723475" cy="8020224"/>
                </a:xfrm>
                <a:prstGeom prst="rect">
                  <a:avLst/>
                </a:prstGeom>
              </p:spPr>
            </p:pic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A0B5C525-B1D9-149D-1C21-32C54BFA8514}"/>
                    </a:ext>
                  </a:extLst>
                </p:cNvPr>
                <p:cNvSpPr txBox="1"/>
                <p:nvPr/>
              </p:nvSpPr>
              <p:spPr>
                <a:xfrm>
                  <a:off x="1495088" y="2948866"/>
                  <a:ext cx="1107789" cy="248040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sz="1200" dirty="0"/>
                    <a:t>Corde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896C0D-356A-1130-A43B-569F02015153}"/>
                  </a:ext>
                </a:extLst>
              </p:cNvPr>
              <p:cNvSpPr txBox="1"/>
              <p:nvPr/>
            </p:nvSpPr>
            <p:spPr>
              <a:xfrm flipH="1">
                <a:off x="1147351" y="4826753"/>
                <a:ext cx="1325159" cy="41678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Micro SingleCoil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4D3656-6CBC-8BF0-2BAB-244DCEE4D29A}"/>
                  </a:ext>
                </a:extLst>
              </p:cNvPr>
              <p:cNvSpPr txBox="1"/>
              <p:nvPr/>
            </p:nvSpPr>
            <p:spPr>
              <a:xfrm flipH="1">
                <a:off x="3985961" y="4843239"/>
                <a:ext cx="1611658" cy="41339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Micro Humbucker</a:t>
                </a:r>
              </a:p>
            </p:txBody>
          </p:sp>
          <p:cxnSp>
            <p:nvCxnSpPr>
              <p:cNvPr id="51" name="Connector: Elbow 50">
                <a:extLst>
                  <a:ext uri="{FF2B5EF4-FFF2-40B4-BE49-F238E27FC236}">
                    <a16:creationId xmlns:a16="http://schemas.microsoft.com/office/drawing/2014/main" id="{ED1E97F8-A8FA-1050-B6EB-F4BACD4BECC6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>
                <a:off x="2472509" y="5035144"/>
                <a:ext cx="655756" cy="48497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or: Elbow 57">
                <a:extLst>
                  <a:ext uri="{FF2B5EF4-FFF2-40B4-BE49-F238E27FC236}">
                    <a16:creationId xmlns:a16="http://schemas.microsoft.com/office/drawing/2014/main" id="{5A12C03A-AC35-78C7-64F8-0CD2464AEE27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>
              <a:xfrm rot="10800000" flipV="1">
                <a:off x="3612100" y="5049938"/>
                <a:ext cx="373862" cy="47017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nector: Elbow 140">
                <a:extLst>
                  <a:ext uri="{FF2B5EF4-FFF2-40B4-BE49-F238E27FC236}">
                    <a16:creationId xmlns:a16="http://schemas.microsoft.com/office/drawing/2014/main" id="{E958A863-0B06-BFF6-31E6-930BF8318979}"/>
                  </a:ext>
                </a:extLst>
              </p:cNvPr>
              <p:cNvCxnSpPr>
                <a:cxnSpLocks/>
                <a:stCxn id="161" idx="3"/>
              </p:cNvCxnSpPr>
              <p:nvPr/>
            </p:nvCxnSpPr>
            <p:spPr>
              <a:xfrm rot="10800000" flipV="1">
                <a:off x="6353339" y="4967259"/>
                <a:ext cx="303470" cy="850606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: Elbow 28">
                <a:extLst>
                  <a:ext uri="{FF2B5EF4-FFF2-40B4-BE49-F238E27FC236}">
                    <a16:creationId xmlns:a16="http://schemas.microsoft.com/office/drawing/2014/main" id="{34A3299A-CB86-52FB-03E5-0995B8449F4C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>
              <a:xfrm rot="10800000">
                <a:off x="3741263" y="4208082"/>
                <a:ext cx="244697" cy="84185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or: Elbow 45">
                <a:extLst>
                  <a:ext uri="{FF2B5EF4-FFF2-40B4-BE49-F238E27FC236}">
                    <a16:creationId xmlns:a16="http://schemas.microsoft.com/office/drawing/2014/main" id="{748DA0E0-3241-0B77-F0EB-1D0C22CC53F4}"/>
                  </a:ext>
                </a:extLst>
              </p:cNvPr>
              <p:cNvCxnSpPr>
                <a:cxnSpLocks/>
                <a:stCxn id="161" idx="3"/>
              </p:cNvCxnSpPr>
              <p:nvPr/>
            </p:nvCxnSpPr>
            <p:spPr>
              <a:xfrm rot="10800000">
                <a:off x="6057887" y="4658298"/>
                <a:ext cx="598922" cy="308961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: Elbow 10">
                <a:extLst>
                  <a:ext uri="{FF2B5EF4-FFF2-40B4-BE49-F238E27FC236}">
                    <a16:creationId xmlns:a16="http://schemas.microsoft.com/office/drawing/2014/main" id="{750B4731-EC69-1E7A-E492-1FDDC929851E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 flipV="1">
                <a:off x="2472509" y="4042296"/>
                <a:ext cx="920269" cy="99285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3206AAC-BE44-239A-2F98-44FDDFB5C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9658" y="3370548"/>
              <a:ext cx="3080036" cy="13434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89EE43-4C1C-B53A-481A-3B95B1A1E364}"/>
              </a:ext>
            </a:extLst>
          </p:cNvPr>
          <p:cNvCxnSpPr>
            <a:cxnSpLocks/>
          </p:cNvCxnSpPr>
          <p:nvPr/>
        </p:nvCxnSpPr>
        <p:spPr>
          <a:xfrm flipH="1">
            <a:off x="2049780" y="5781295"/>
            <a:ext cx="52501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652D22F-CABB-77B2-FA12-0A1F4414A2B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338D3F1-E023-E957-7E93-0E852832BB7E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Footer Placeholder 2">
              <a:extLst>
                <a:ext uri="{FF2B5EF4-FFF2-40B4-BE49-F238E27FC236}">
                  <a16:creationId xmlns:a16="http://schemas.microsoft.com/office/drawing/2014/main" id="{6CEAFEBB-B7D7-A979-765E-DCADAB67C2C2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D1CDCC24-52FC-A6FC-AF35-DBBA86C51873}"/>
                  </a:ext>
                </a:extLst>
              </p:cNvPr>
              <p:cNvSpPr/>
              <p:nvPr/>
            </p:nvSpPr>
            <p:spPr>
              <a:xfrm>
                <a:off x="6457016" y="1318510"/>
                <a:ext cx="2485046" cy="377980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Excitation de la corde ‘’à la main’’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Relevé de la tension aux bornes la résistance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𝑎𝑚𝑝</m:t>
                        </m:r>
                      </m:sub>
                    </m:sSub>
                  </m:oMath>
                </a14:m>
                <a:endParaRPr lang="fr-F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D1CDCC24-52FC-A6FC-AF35-DBBA86C518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016" y="1318510"/>
                <a:ext cx="2485046" cy="3779800"/>
              </a:xfrm>
              <a:prstGeom prst="rect">
                <a:avLst/>
              </a:prstGeom>
              <a:blipFill>
                <a:blip r:embed="rId5"/>
                <a:stretch>
                  <a:fillRect l="-24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985EE0D-F2B6-D1EF-898E-9DF666DFB442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3E68A-A65C-A12E-753D-45B38F124E8F}"/>
              </a:ext>
            </a:extLst>
          </p:cNvPr>
          <p:cNvSpPr/>
          <p:nvPr/>
        </p:nvSpPr>
        <p:spPr>
          <a:xfrm rot="16200000">
            <a:off x="6269362" y="4195744"/>
            <a:ext cx="1312065" cy="4571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7392EF7-E69A-FBBE-FF61-674BDCF2226A}"/>
              </a:ext>
            </a:extLst>
          </p:cNvPr>
          <p:cNvGrpSpPr/>
          <p:nvPr/>
        </p:nvGrpSpPr>
        <p:grpSpPr>
          <a:xfrm>
            <a:off x="7114959" y="3562570"/>
            <a:ext cx="1800921" cy="1110504"/>
            <a:chOff x="7133777" y="3809995"/>
            <a:chExt cx="1683780" cy="76146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AD72CAD-7612-3CF0-D4E3-C46A4DFF0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989763" y="3876498"/>
              <a:ext cx="827794" cy="69011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2AD20C-FA20-6811-A6D9-40C43C57256C}"/>
                </a:ext>
              </a:extLst>
            </p:cNvPr>
            <p:cNvSpPr/>
            <p:nvPr/>
          </p:nvSpPr>
          <p:spPr>
            <a:xfrm>
              <a:off x="7133777" y="3881349"/>
              <a:ext cx="179882" cy="690115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BA47D6C8-36D4-44AD-CA04-1DB90FF0D34A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rot="10800000" flipV="1">
              <a:off x="7223719" y="4453242"/>
              <a:ext cx="935397" cy="118221"/>
            </a:xfrm>
            <a:prstGeom prst="bentConnector4">
              <a:avLst>
                <a:gd name="adj1" fmla="val 388"/>
                <a:gd name="adj2" fmla="val 293367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7D855CD3-8716-F3D8-180F-1F7F063076E1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rot="10800000" flipV="1">
              <a:off x="7223718" y="3809995"/>
              <a:ext cx="925872" cy="71353"/>
            </a:xfrm>
            <a:prstGeom prst="bentConnector2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00744D9-C28C-C8A8-7738-98A294579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9590" y="3810000"/>
              <a:ext cx="0" cy="18557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6ECB0DE-2F92-E777-710D-46FE392347D3}"/>
                </a:ext>
              </a:extLst>
            </p:cNvPr>
            <p:cNvSpPr txBox="1"/>
            <p:nvPr/>
          </p:nvSpPr>
          <p:spPr>
            <a:xfrm>
              <a:off x="7215489" y="3860089"/>
              <a:ext cx="6074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dirty="0"/>
                <a:t>Micro</a:t>
              </a:r>
              <a:endParaRPr lang="fr-FR" b="1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9AF6A25-32DF-F6FA-62E8-D619AC7C340C}"/>
              </a:ext>
            </a:extLst>
          </p:cNvPr>
          <p:cNvSpPr txBox="1"/>
          <p:nvPr/>
        </p:nvSpPr>
        <p:spPr>
          <a:xfrm>
            <a:off x="6429026" y="3345405"/>
            <a:ext cx="607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Corde</a:t>
            </a:r>
            <a:endParaRPr lang="fr-FR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47045F-3CC6-9ECE-B003-4ABC5359256F}"/>
              </a:ext>
            </a:extLst>
          </p:cNvPr>
          <p:cNvCxnSpPr/>
          <p:nvPr/>
        </p:nvCxnSpPr>
        <p:spPr>
          <a:xfrm flipV="1">
            <a:off x="7388051" y="3926343"/>
            <a:ext cx="0" cy="540000"/>
          </a:xfrm>
          <a:prstGeom prst="straightConnector1">
            <a:avLst/>
          </a:prstGeom>
          <a:ln>
            <a:solidFill>
              <a:srgbClr val="3890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AE08B2-6F4F-B387-66ED-7ABA96619EA9}"/>
                  </a:ext>
                </a:extLst>
              </p:cNvPr>
              <p:cNvSpPr txBox="1"/>
              <p:nvPr/>
            </p:nvSpPr>
            <p:spPr>
              <a:xfrm>
                <a:off x="7392712" y="4017150"/>
                <a:ext cx="31656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>
                  <a:solidFill>
                    <a:srgbClr val="38903A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AE08B2-6F4F-B387-66ED-7ABA96619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712" y="4017150"/>
                <a:ext cx="316562" cy="184666"/>
              </a:xfrm>
              <a:prstGeom prst="rect">
                <a:avLst/>
              </a:prstGeom>
              <a:blipFill>
                <a:blip r:embed="rId8"/>
                <a:stretch>
                  <a:fillRect l="-5769" t="-3333" r="-15385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5B622C-2AE6-B718-55A0-799064579779}"/>
              </a:ext>
            </a:extLst>
          </p:cNvPr>
          <p:cNvCxnSpPr/>
          <p:nvPr/>
        </p:nvCxnSpPr>
        <p:spPr>
          <a:xfrm flipV="1">
            <a:off x="8030496" y="3899852"/>
            <a:ext cx="0" cy="540000"/>
          </a:xfrm>
          <a:prstGeom prst="straightConnector1">
            <a:avLst/>
          </a:prstGeom>
          <a:ln>
            <a:solidFill>
              <a:srgbClr val="3890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79757A-F1CA-727B-3EAE-68CAA7284482}"/>
                  </a:ext>
                </a:extLst>
              </p:cNvPr>
              <p:cNvSpPr txBox="1"/>
              <p:nvPr/>
            </p:nvSpPr>
            <p:spPr>
              <a:xfrm>
                <a:off x="7727026" y="4220013"/>
                <a:ext cx="31656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sz="1200" b="0" i="1" smtClean="0">
                          <a:solidFill>
                            <a:srgbClr val="38903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>
                  <a:solidFill>
                    <a:srgbClr val="38903A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79757A-F1CA-727B-3EAE-68CAA7284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026" y="4220013"/>
                <a:ext cx="316562" cy="184666"/>
              </a:xfrm>
              <a:prstGeom prst="rect">
                <a:avLst/>
              </a:prstGeom>
              <a:blipFill>
                <a:blip r:embed="rId9"/>
                <a:stretch>
                  <a:fillRect l="-5882" r="-17647" b="-387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B333434C-E0AE-A015-4682-6A3CFAF2B69C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15" name="Arrow: Notched Right 14">
              <a:extLst>
                <a:ext uri="{FF2B5EF4-FFF2-40B4-BE49-F238E27FC236}">
                  <a16:creationId xmlns:a16="http://schemas.microsoft.com/office/drawing/2014/main" id="{4D9BA6C9-1419-8CAD-9538-E0AAD8477086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17" name="Arrow: Notched Right 16">
              <a:extLst>
                <a:ext uri="{FF2B5EF4-FFF2-40B4-BE49-F238E27FC236}">
                  <a16:creationId xmlns:a16="http://schemas.microsoft.com/office/drawing/2014/main" id="{3CEF1F90-C8C9-EFDD-5E04-01202774DB7C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18" name="Arrow: Notched Right 17">
              <a:extLst>
                <a:ext uri="{FF2B5EF4-FFF2-40B4-BE49-F238E27FC236}">
                  <a16:creationId xmlns:a16="http://schemas.microsoft.com/office/drawing/2014/main" id="{A1EEDE2E-FA18-CE7E-30C9-727188A7B465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686A051F-9DAE-A8C6-000C-F8E486C0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596835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C121-196D-B280-2659-B969A21D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C9B5D88-FDE6-E3A7-51AD-089C3F31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087F9B-168A-BB0B-C61B-7988E2A0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18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14F2C-529C-4FAF-4F41-2E4E75650E9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831AD5-3BA8-F330-6E59-627CDF882B9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252" y="1647754"/>
            <a:ext cx="3779996" cy="3149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060ADC2C-B38D-B11B-810B-940D54072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95B009F-B96E-9B87-61A7-F2485C2D90C3}"/>
              </a:ext>
            </a:extLst>
          </p:cNvPr>
          <p:cNvSpPr txBox="1"/>
          <p:nvPr/>
        </p:nvSpPr>
        <p:spPr>
          <a:xfrm>
            <a:off x="1054904" y="487540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9D97FD-6B83-C324-B6C0-BC4B9DC437F7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5CE785-2413-FA0C-B860-AACDD4563B5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905" y="1647095"/>
            <a:ext cx="3779996" cy="314999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508577-BE3B-4C81-A644-AF32CA74DAEB}"/>
                  </a:ext>
                </a:extLst>
              </p:cNvPr>
              <p:cNvSpPr txBox="1"/>
              <p:nvPr/>
            </p:nvSpPr>
            <p:spPr>
              <a:xfrm>
                <a:off x="166188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508577-BE3B-4C81-A644-AF32CA74D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886" y="5281705"/>
                <a:ext cx="2566035" cy="540533"/>
              </a:xfrm>
              <a:prstGeom prst="rect">
                <a:avLst/>
              </a:prstGeom>
              <a:blipFill>
                <a:blip r:embed="rId6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5F245-D290-7375-6E3E-0B133ADDA201}"/>
                  </a:ext>
                </a:extLst>
              </p:cNvPr>
              <p:cNvSpPr txBox="1"/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5F245-D290-7375-6E3E-0B133ADDA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blipFill>
                <a:blip r:embed="rId7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E9C5E-82AF-8457-0EA0-C7469D26678D}"/>
                  </a:ext>
                </a:extLst>
              </p:cNvPr>
              <p:cNvSpPr txBox="1"/>
              <p:nvPr/>
            </p:nvSpPr>
            <p:spPr>
              <a:xfrm>
                <a:off x="1568728" y="5859029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E9C5E-82AF-8457-0EA0-C7469D266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728" y="5859029"/>
                <a:ext cx="2752349" cy="3781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713475-27D9-E2C4-19D6-EB314FA1D777}"/>
                  </a:ext>
                </a:extLst>
              </p:cNvPr>
              <p:cNvSpPr txBox="1"/>
              <p:nvPr/>
            </p:nvSpPr>
            <p:spPr>
              <a:xfrm>
                <a:off x="5480696" y="5859029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713475-27D9-E2C4-19D6-EB314FA1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696" y="5859029"/>
                <a:ext cx="2752349" cy="3781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29D7D0E-393F-2A3A-6785-4CD09BB5482E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2C6C4-7726-1D99-BBAE-1A107256985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D0399C1C-C0CB-8BC1-D1D5-3734F40CD9A8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Loi d’induction de faraday : Le fonctionnement d’une guitare électrique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AF5280-3AA5-1B44-8C3A-87275694BB13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1D48AA-71C9-A7F8-0D24-E665B883315B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1" name="Arrow: Notched Right 20">
              <a:extLst>
                <a:ext uri="{FF2B5EF4-FFF2-40B4-BE49-F238E27FC236}">
                  <a16:creationId xmlns:a16="http://schemas.microsoft.com/office/drawing/2014/main" id="{8C97CD50-58E7-6748-6E75-9521AA7B384B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22" name="Arrow: Notched Right 21">
              <a:extLst>
                <a:ext uri="{FF2B5EF4-FFF2-40B4-BE49-F238E27FC236}">
                  <a16:creationId xmlns:a16="http://schemas.microsoft.com/office/drawing/2014/main" id="{738A9CC1-944D-D4F5-87AE-D807BB4F22F8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23" name="Arrow: Notched Right 22">
              <a:extLst>
                <a:ext uri="{FF2B5EF4-FFF2-40B4-BE49-F238E27FC236}">
                  <a16:creationId xmlns:a16="http://schemas.microsoft.com/office/drawing/2014/main" id="{F1D0898C-70A4-CB34-3467-AA35C697B953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95F3D-7C52-DDA5-58D3-BF33A6D9BA96}"/>
                  </a:ext>
                </a:extLst>
              </p:cNvPr>
              <p:cNvSpPr txBox="1"/>
              <p:nvPr/>
            </p:nvSpPr>
            <p:spPr>
              <a:xfrm>
                <a:off x="4540885" y="5822238"/>
                <a:ext cx="720002" cy="408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95F3D-7C52-DDA5-58D3-BF33A6D9B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885" y="5822238"/>
                <a:ext cx="720002" cy="4087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D15E045-16DB-F511-190B-24133BD0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3244738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BF31-E821-6728-8E36-B1099664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4B0B741-545A-D68A-8952-4EDCE703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CAE67E7-325B-A442-4AC4-87E82005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19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F0354A-5BAE-D59C-011E-94CD7A8C139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8A4BA533-9059-7C5E-704B-0229E4610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CBD1878-4ECE-5A45-5102-8635728F222F}"/>
              </a:ext>
            </a:extLst>
          </p:cNvPr>
          <p:cNvSpPr txBox="1"/>
          <p:nvPr/>
        </p:nvSpPr>
        <p:spPr>
          <a:xfrm>
            <a:off x="1054904" y="487540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D6E9F1-5F99-B827-FBC9-5EAE06A91D90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D58936-2546-51C5-057D-441EA23AB3BD}"/>
                  </a:ext>
                </a:extLst>
              </p:cNvPr>
              <p:cNvSpPr txBox="1"/>
              <p:nvPr/>
            </p:nvSpPr>
            <p:spPr>
              <a:xfrm>
                <a:off x="166188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D58936-2546-51C5-057D-441EA23AB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886" y="5281705"/>
                <a:ext cx="2566035" cy="540533"/>
              </a:xfrm>
              <a:prstGeom prst="rect">
                <a:avLst/>
              </a:prstGeom>
              <a:blipFill>
                <a:blip r:embed="rId4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3AB1F1-5F0A-AABC-284D-E0702F0C75F3}"/>
                  </a:ext>
                </a:extLst>
              </p:cNvPr>
              <p:cNvSpPr txBox="1"/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3AB1F1-5F0A-AABC-284D-E0702F0C7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236" y="5281705"/>
                <a:ext cx="2566035" cy="540533"/>
              </a:xfrm>
              <a:prstGeom prst="rect">
                <a:avLst/>
              </a:prstGeom>
              <a:blipFill>
                <a:blip r:embed="rId5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03DC35-6662-A54A-97E3-F31B70B1393E}"/>
                  </a:ext>
                </a:extLst>
              </p:cNvPr>
              <p:cNvSpPr txBox="1"/>
              <p:nvPr/>
            </p:nvSpPr>
            <p:spPr>
              <a:xfrm>
                <a:off x="1568728" y="5859029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603DC35-6662-A54A-97E3-F31B70B13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728" y="5859029"/>
                <a:ext cx="2752349" cy="3781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4BF7F6-E87C-3E5E-36EE-4D75917740C5}"/>
                  </a:ext>
                </a:extLst>
              </p:cNvPr>
              <p:cNvSpPr txBox="1"/>
              <p:nvPr/>
            </p:nvSpPr>
            <p:spPr>
              <a:xfrm>
                <a:off x="5480696" y="5859029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4BF7F6-E87C-3E5E-36EE-4D7591774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696" y="5859029"/>
                <a:ext cx="2752349" cy="3781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1FA3D01-767B-F75B-D388-668D594FB1E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905" y="1647753"/>
            <a:ext cx="3779996" cy="31499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9FB2D9-16CB-E2B5-AF61-0D4CF37873D8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254" y="1647753"/>
            <a:ext cx="3779995" cy="314999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0C13F47-2FA4-AEFE-6475-709019BC670A}"/>
              </a:ext>
            </a:extLst>
          </p:cNvPr>
          <p:cNvGrpSpPr/>
          <p:nvPr/>
        </p:nvGrpSpPr>
        <p:grpSpPr>
          <a:xfrm>
            <a:off x="1731574" y="4405980"/>
            <a:ext cx="355600" cy="375297"/>
            <a:chOff x="1276060" y="5077968"/>
            <a:chExt cx="355600" cy="375297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2246581-1E3F-C376-EE9B-51D8410EA4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17207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B8E6BC3-802C-881E-B97D-79CA33F962B8}"/>
                    </a:ext>
                  </a:extLst>
                </p:cNvPr>
                <p:cNvSpPr txBox="1"/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B8E6BC3-802C-881E-B97D-79CA33F96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EE4536-26B1-2B40-D8BF-7685C5D4CC1B}"/>
              </a:ext>
            </a:extLst>
          </p:cNvPr>
          <p:cNvGrpSpPr/>
          <p:nvPr/>
        </p:nvGrpSpPr>
        <p:grpSpPr>
          <a:xfrm>
            <a:off x="5643538" y="4410461"/>
            <a:ext cx="355600" cy="375297"/>
            <a:chOff x="1276060" y="5077968"/>
            <a:chExt cx="355600" cy="37529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B9F7230-A85C-CFE7-3A4C-A4E31E0D1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17207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5F5FE91-15A2-EC81-88D6-69F493F1A42A}"/>
                    </a:ext>
                  </a:extLst>
                </p:cNvPr>
                <p:cNvSpPr txBox="1"/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5F5FE91-15A2-EC81-88D6-69F493F1A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F260DF8-7C16-C630-753B-924737FB9F3C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5FE662-20B9-FDA7-5421-DC6F8E322DAA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21" name="Arrow: Notched Right 20">
              <a:extLst>
                <a:ext uri="{FF2B5EF4-FFF2-40B4-BE49-F238E27FC236}">
                  <a16:creationId xmlns:a16="http://schemas.microsoft.com/office/drawing/2014/main" id="{3419AE0F-2DB3-15FB-A87C-192FEF9F5519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22" name="Arrow: Notched Right 21">
              <a:extLst>
                <a:ext uri="{FF2B5EF4-FFF2-40B4-BE49-F238E27FC236}">
                  <a16:creationId xmlns:a16="http://schemas.microsoft.com/office/drawing/2014/main" id="{14A0456A-81E2-9AB1-5784-BCA96F0A441F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23" name="Arrow: Notched Right 22">
              <a:extLst>
                <a:ext uri="{FF2B5EF4-FFF2-40B4-BE49-F238E27FC236}">
                  <a16:creationId xmlns:a16="http://schemas.microsoft.com/office/drawing/2014/main" id="{2AE978F8-610B-DDB8-4A40-4F47868BD789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FB55FF-6AA6-A43E-1798-1138E071BA53}"/>
                  </a:ext>
                </a:extLst>
              </p:cNvPr>
              <p:cNvSpPr txBox="1"/>
              <p:nvPr/>
            </p:nvSpPr>
            <p:spPr>
              <a:xfrm>
                <a:off x="4540885" y="5822238"/>
                <a:ext cx="720002" cy="408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05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FB55FF-6AA6-A43E-1798-1138E071B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885" y="5822238"/>
                <a:ext cx="720002" cy="40876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BABE2FC-67BF-42FF-6590-B6CCC3747F5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83FCE0-7361-8B86-C2D4-845368F74E2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Footer Placeholder 2">
              <a:extLst>
                <a:ext uri="{FF2B5EF4-FFF2-40B4-BE49-F238E27FC236}">
                  <a16:creationId xmlns:a16="http://schemas.microsoft.com/office/drawing/2014/main" id="{0730AE4D-952C-BC66-3EC8-221522D8D50F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F19667C-A37B-B1F1-50F4-E9FECA43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271429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BAE8-7762-46B2-E907-AD709936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EB2398-EFF8-C9A2-49F0-95D4E4A8CC35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D8542C0-197A-96FC-F849-6D84EC76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6F0E06E-2288-33E6-28E3-CCE75F99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20</a:t>
            </a:fld>
            <a:endParaRPr lang="fr-FR" sz="12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/>
              <p:nvPr/>
            </p:nvSpPr>
            <p:spPr>
              <a:xfrm>
                <a:off x="6115470" y="1390254"/>
                <a:ext cx="2721084" cy="915896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du gain d’atténuation relatif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/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470" y="1390254"/>
                <a:ext cx="2721084" cy="915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D8CDDD17-77F4-AB75-F09C-BCEFD8A01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FC82B-F70C-8D5D-E171-A36BE02D4021}"/>
              </a:ext>
            </a:extLst>
          </p:cNvPr>
          <p:cNvGrpSpPr/>
          <p:nvPr/>
        </p:nvGrpSpPr>
        <p:grpSpPr>
          <a:xfrm>
            <a:off x="6114891" y="2389099"/>
            <a:ext cx="2721663" cy="3573164"/>
            <a:chOff x="5958063" y="2389099"/>
            <a:chExt cx="2878491" cy="3573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A3093A-8816-005B-D928-3B44B655C8E2}"/>
                </a:ext>
              </a:extLst>
            </p:cNvPr>
            <p:cNvSpPr/>
            <p:nvPr/>
          </p:nvSpPr>
          <p:spPr>
            <a:xfrm>
              <a:off x="5958063" y="2389099"/>
              <a:ext cx="2878491" cy="3573164"/>
            </a:xfrm>
            <a:prstGeom prst="rect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400" b="1" u="sng" dirty="0">
                  <a:solidFill>
                    <a:schemeClr val="tx1"/>
                  </a:solidFill>
                </a:rPr>
                <a:t>Nœuds de vibration :</a:t>
              </a: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r>
                <a:rPr lang="fr-FR" sz="1400" b="1" u="sng" dirty="0">
                  <a:solidFill>
                    <a:schemeClr val="tx1"/>
                  </a:solidFill>
                </a:rPr>
                <a:t>Filtrage en peigne spatial :</a:t>
              </a: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  <a:p>
              <a:endParaRPr lang="fr-FR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3C3E0C0-FBAB-DC78-5B15-476675A96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rcRect l="3726" t="8959" r="3236" b="4515"/>
            <a:stretch>
              <a:fillRect/>
            </a:stretch>
          </p:blipFill>
          <p:spPr>
            <a:xfrm>
              <a:off x="6477938" y="4604155"/>
              <a:ext cx="1798321" cy="37753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40B446E-9BC2-8E92-5207-9220276E3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76" t="6786" r="5431" b="11456"/>
            <a:stretch>
              <a:fillRect/>
            </a:stretch>
          </p:blipFill>
          <p:spPr>
            <a:xfrm>
              <a:off x="6988242" y="5064642"/>
              <a:ext cx="793915" cy="525312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21575B3-C3E7-D035-FD8D-5A909416EA0A}"/>
                </a:ext>
              </a:extLst>
            </p:cNvPr>
            <p:cNvGrpSpPr/>
            <p:nvPr/>
          </p:nvGrpSpPr>
          <p:grpSpPr>
            <a:xfrm>
              <a:off x="6100686" y="2976560"/>
              <a:ext cx="2593244" cy="1059640"/>
              <a:chOff x="6082122" y="3612551"/>
              <a:chExt cx="2593242" cy="1010417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B147258-36F6-4862-BCFA-8C34DAA43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3236" b="4515"/>
              <a:stretch>
                <a:fillRect/>
              </a:stretch>
            </p:blipFill>
            <p:spPr>
              <a:xfrm>
                <a:off x="6467476" y="3612551"/>
                <a:ext cx="1798320" cy="360000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6A19C6E1-1347-2947-0051-4E4B5CAD3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32494" b="70953" l="13960" r="44675"/>
                        </a14:imgEffect>
                        <a14:imgEffect>
                          <a14:brightnessContrast bright="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20" t="27687" r="51486" b="24239"/>
              <a:stretch>
                <a:fillRect/>
              </a:stretch>
            </p:blipFill>
            <p:spPr>
              <a:xfrm>
                <a:off x="6920250" y="3866659"/>
                <a:ext cx="932157" cy="756309"/>
              </a:xfrm>
              <a:prstGeom prst="rect">
                <a:avLst/>
              </a:prstGeom>
            </p:spPr>
          </p:pic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D459B7B-7876-DECC-7C5D-6EF7F711F3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70935" y="3612551"/>
                <a:ext cx="0" cy="863841"/>
              </a:xfrm>
              <a:prstGeom prst="line">
                <a:avLst/>
              </a:prstGeom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69C823F4-FBD6-6BF7-DDFC-373F3F49B1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76827" t="8959" r="3236" b="4515"/>
              <a:stretch>
                <a:fillRect/>
              </a:stretch>
            </p:blipFill>
            <p:spPr>
              <a:xfrm>
                <a:off x="6082122" y="3612551"/>
                <a:ext cx="385354" cy="360000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849EE9B9-324D-BB3C-541F-721FD32B50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75085" b="4515"/>
              <a:stretch>
                <a:fillRect/>
              </a:stretch>
            </p:blipFill>
            <p:spPr>
              <a:xfrm>
                <a:off x="8265796" y="3612551"/>
                <a:ext cx="409568" cy="360000"/>
              </a:xfrm>
              <a:prstGeom prst="rect">
                <a:avLst/>
              </a:prstGeom>
            </p:spPr>
          </p:pic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5BA09B4-C52E-B87A-CF04-8232C165DF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2582" y="4874895"/>
              <a:ext cx="0" cy="696047"/>
            </a:xfrm>
            <a:prstGeom prst="line">
              <a:avLst/>
            </a:prstGeom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B93E4C2-FBE4-4065-9278-90914A6EC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1982" y="4703445"/>
              <a:ext cx="0" cy="867498"/>
            </a:xfrm>
            <a:prstGeom prst="line">
              <a:avLst/>
            </a:prstGeom>
            <a:ln w="9525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C7D0547-D387-B897-E456-A805D590BB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440" y="1398893"/>
            <a:ext cx="4914598" cy="45633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E397FF-C015-EFB0-8B23-1CAD33D41E2A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3025DD0-215E-234D-A6A2-1FD5805F9C02}"/>
              </a:ext>
            </a:extLst>
          </p:cNvPr>
          <p:cNvGrpSpPr/>
          <p:nvPr/>
        </p:nvGrpSpPr>
        <p:grpSpPr>
          <a:xfrm>
            <a:off x="202936" y="639070"/>
            <a:ext cx="720000" cy="5555990"/>
            <a:chOff x="297252" y="756100"/>
            <a:chExt cx="720000" cy="4890538"/>
          </a:xfrm>
        </p:grpSpPr>
        <p:sp>
          <p:nvSpPr>
            <p:cNvPr id="31" name="Arrow: Notched Right 30">
              <a:extLst>
                <a:ext uri="{FF2B5EF4-FFF2-40B4-BE49-F238E27FC236}">
                  <a16:creationId xmlns:a16="http://schemas.microsoft.com/office/drawing/2014/main" id="{D3A4AB58-3A63-9814-076B-2FC4796E289D}"/>
                </a:ext>
              </a:extLst>
            </p:cNvPr>
            <p:cNvSpPr/>
            <p:nvPr/>
          </p:nvSpPr>
          <p:spPr>
            <a:xfrm rot="5400000">
              <a:off x="-242748" y="1296100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32" name="Arrow: Notched Right 31">
              <a:extLst>
                <a:ext uri="{FF2B5EF4-FFF2-40B4-BE49-F238E27FC236}">
                  <a16:creationId xmlns:a16="http://schemas.microsoft.com/office/drawing/2014/main" id="{4197452A-40AD-A015-B333-911394D6D8A2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33" name="Arrow: Notched Right 32">
              <a:extLst>
                <a:ext uri="{FF2B5EF4-FFF2-40B4-BE49-F238E27FC236}">
                  <a16:creationId xmlns:a16="http://schemas.microsoft.com/office/drawing/2014/main" id="{AD2B9C32-4F6B-825A-F2F7-6B13BC2A1D4D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06407F-AE7F-3BBE-2F75-7730253F21E7}"/>
                  </a:ext>
                </a:extLst>
              </p:cNvPr>
              <p:cNvSpPr txBox="1"/>
              <p:nvPr/>
            </p:nvSpPr>
            <p:spPr>
              <a:xfrm>
                <a:off x="6591942" y="3940434"/>
                <a:ext cx="174838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06407F-AE7F-3BBE-2F75-7730253F2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942" y="3940434"/>
                <a:ext cx="1748389" cy="3781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CAC20F-EC26-B5B1-7233-C097D272BB96}"/>
                  </a:ext>
                </a:extLst>
              </p:cNvPr>
              <p:cNvSpPr txBox="1"/>
              <p:nvPr/>
            </p:nvSpPr>
            <p:spPr>
              <a:xfrm>
                <a:off x="6240422" y="5556492"/>
                <a:ext cx="247059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1CAC20F-EC26-B5B1-7233-C097D272B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422" y="5556492"/>
                <a:ext cx="2470599" cy="37811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C7C8EA8-F319-D7E0-8067-9D1EAC76E64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DA953AF-25C3-1D39-4B06-09ED975BB1A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4BCE2257-F05E-832B-4E41-697261064FA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A77982B-C36B-8EDB-5099-18085A7B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584840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443C-1132-470C-D64F-59D770C6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7ADF0A-BC65-2B59-DB0A-5AC2D897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46AB8D3-DEB4-0AE6-6FE3-850FB50B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21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FC845-40D7-1D84-2831-0F5EB2B9A9BD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2D14195-002C-3AC6-91BA-38D5950E6A8F}"/>
              </a:ext>
            </a:extLst>
          </p:cNvPr>
          <p:cNvGrpSpPr/>
          <p:nvPr/>
        </p:nvGrpSpPr>
        <p:grpSpPr>
          <a:xfrm>
            <a:off x="890041" y="4838220"/>
            <a:ext cx="8051023" cy="1210580"/>
            <a:chOff x="194470" y="5083538"/>
            <a:chExt cx="8484459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8A93C6F-6963-CF1D-4030-848C335D32BA}"/>
                </a:ext>
              </a:extLst>
            </p:cNvPr>
            <p:cNvGrpSpPr/>
            <p:nvPr/>
          </p:nvGrpSpPr>
          <p:grpSpPr>
            <a:xfrm>
              <a:off x="194470" y="5083538"/>
              <a:ext cx="8484459" cy="1150814"/>
              <a:chOff x="194470" y="5083538"/>
              <a:chExt cx="8484459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EC0EFE0-5A7E-434A-48B5-6D0BDA324E7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24626F8-3405-7B94-857D-F1F2A8E46808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65B8228-B903-2034-466C-E1CF7CE3C58B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7C62744-6624-30B8-4516-B89653B12216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BE861EC0-ADFA-BFD5-9A59-357BF9F8DA0C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CBAA01B1-07B4-0E8E-EA74-4165A97C907C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2351D297-C352-0650-1F96-4B946D7E8EDF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2C793BFD-06C9-831C-9B6A-6D0B4AB1F2FB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C89B3A1-9684-D240-5467-3E82410169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C89B3A1-9684-D240-5467-3E82410169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A65CBD3-56E2-8142-5CE2-5D9B819463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A65CBD3-56E2-8142-5CE2-5D9B819463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74510184-3A41-CDD1-88B7-90ACF554C7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74510184-3A41-CDD1-88B7-90ACF554C7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8AEFA58-920D-CA4B-0F07-1505906941E3}"/>
                  </a:ext>
                </a:extLst>
              </p:cNvPr>
              <p:cNvSpPr txBox="1"/>
              <p:nvPr/>
            </p:nvSpPr>
            <p:spPr>
              <a:xfrm>
                <a:off x="194470" y="5571687"/>
                <a:ext cx="13135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Champ Magnétique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E9D5FC-7311-9DE7-224D-265153585F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E58AEB-3C8B-BEE6-23D3-28ACF6A082A1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9D5AB90-5B5D-299C-905F-5A23D8466EEA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E631FB0-AF2B-52D9-ABF9-A8C72A563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1734842" y="1174970"/>
            <a:ext cx="6192596" cy="37615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53E6B5-774E-45B6-DA00-9F5B475B3E3F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Réduction du bourdonnement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0706A1-BAF8-0ABA-BBB5-9605B362C076}"/>
              </a:ext>
            </a:extLst>
          </p:cNvPr>
          <p:cNvGrpSpPr/>
          <p:nvPr/>
        </p:nvGrpSpPr>
        <p:grpSpPr>
          <a:xfrm>
            <a:off x="202936" y="594095"/>
            <a:ext cx="720000" cy="5600965"/>
            <a:chOff x="297252" y="716513"/>
            <a:chExt cx="720000" cy="4930125"/>
          </a:xfrm>
        </p:grpSpPr>
        <p:sp>
          <p:nvSpPr>
            <p:cNvPr id="20" name="Arrow: Notched Right 19">
              <a:extLst>
                <a:ext uri="{FF2B5EF4-FFF2-40B4-BE49-F238E27FC236}">
                  <a16:creationId xmlns:a16="http://schemas.microsoft.com/office/drawing/2014/main" id="{8A9C9857-0BF1-6B0C-D679-EB7A3B5B769B}"/>
                </a:ext>
              </a:extLst>
            </p:cNvPr>
            <p:cNvSpPr/>
            <p:nvPr/>
          </p:nvSpPr>
          <p:spPr>
            <a:xfrm rot="5400000">
              <a:off x="-242748" y="1256513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21" name="Arrow: Notched Right 20">
              <a:extLst>
                <a:ext uri="{FF2B5EF4-FFF2-40B4-BE49-F238E27FC236}">
                  <a16:creationId xmlns:a16="http://schemas.microsoft.com/office/drawing/2014/main" id="{80F90705-71A0-2149-EA0C-E35C0DE32146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22" name="Arrow: Notched Right 21">
              <a:extLst>
                <a:ext uri="{FF2B5EF4-FFF2-40B4-BE49-F238E27FC236}">
                  <a16:creationId xmlns:a16="http://schemas.microsoft.com/office/drawing/2014/main" id="{227E36FC-9D2E-DFD4-4123-DC5A431AF29D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7D1DE63-1FBC-6661-9677-B384958B383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F19366-E464-2982-AC55-682B5038ECC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Footer Placeholder 2">
              <a:extLst>
                <a:ext uri="{FF2B5EF4-FFF2-40B4-BE49-F238E27FC236}">
                  <a16:creationId xmlns:a16="http://schemas.microsoft.com/office/drawing/2014/main" id="{D84F2450-77A8-A713-52EC-5795B2CDDA3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F9072DF-6B10-F3FF-2E80-2B8708D4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3548799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C3C5-724E-6B47-34F2-CF92308B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23932D-DB1E-0F79-2630-BD139B43CBE1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165BD7B-D6B6-F854-07A0-F8064B514725}"/>
                  </a:ext>
                </a:extLst>
              </p:cNvPr>
              <p:cNvSpPr/>
              <p:nvPr/>
            </p:nvSpPr>
            <p:spPr>
              <a:xfrm>
                <a:off x="1211000" y="2537460"/>
                <a:ext cx="3842591" cy="3657600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t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500" dirty="0"/>
                  <a:t>: Gradient du champ parasite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du champ parasite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165BD7B-D6B6-F854-07A0-F8064B5147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000" y="2537460"/>
                <a:ext cx="3842591" cy="3657600"/>
              </a:xfrm>
              <a:prstGeom prst="rect">
                <a:avLst/>
              </a:prstGeom>
              <a:blipFill>
                <a:blip r:embed="rId2"/>
                <a:stretch>
                  <a:fillRect l="-472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9FDBC51-B7C5-D612-8598-965C48AC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ADAE1A4-DBF7-136C-C7FB-905349CD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22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B6957C-FA40-780F-7F7C-92FF0723E95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/>
              <p:nvPr/>
            </p:nvSpPr>
            <p:spPr>
              <a:xfrm>
                <a:off x="5153163" y="1371600"/>
                <a:ext cx="3797279" cy="482346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On considère un champ parasite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pPr algn="ctr"/>
                <a:endParaRPr lang="fr-FR" sz="1600" dirty="0"/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SingleCoil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On place le micro tel que </a:t>
                </a:r>
                <a14:m>
                  <m:oMath xmlns:m="http://schemas.openxmlformats.org/officeDocument/2006/math"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′=0</m:t>
                    </m:r>
                  </m:oMath>
                </a14:m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u="sng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(0, 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pPr algn="ctr"/>
                <a:endParaRPr lang="fr-FR" sz="1600" dirty="0"/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Humbucker :</a:t>
                </a:r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u="sng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+(−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𝑁𝑆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163" y="1371600"/>
                <a:ext cx="3797279" cy="4823460"/>
              </a:xfrm>
              <a:prstGeom prst="rect">
                <a:avLst/>
              </a:prstGeom>
              <a:blipFill>
                <a:blip r:embed="rId3"/>
                <a:stretch>
                  <a:fillRect l="-318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2" descr="Image de ">
            <a:extLst>
              <a:ext uri="{FF2B5EF4-FFF2-40B4-BE49-F238E27FC236}">
                <a16:creationId xmlns:a16="http://schemas.microsoft.com/office/drawing/2014/main" id="{191D9128-D82D-813C-F887-06FAE524B6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5F50479-08FB-2EE6-757E-66C7267A670D}"/>
                  </a:ext>
                </a:extLst>
              </p:cNvPr>
              <p:cNvSpPr/>
              <p:nvPr/>
            </p:nvSpPr>
            <p:spPr>
              <a:xfrm>
                <a:off x="1210999" y="1371600"/>
                <a:ext cx="3842591" cy="1023002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5F50479-08FB-2EE6-757E-66C7267A67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999" y="1371600"/>
                <a:ext cx="3842591" cy="1023002"/>
              </a:xfrm>
              <a:prstGeom prst="rect">
                <a:avLst/>
              </a:prstGeom>
              <a:blipFill>
                <a:blip r:embed="rId4"/>
                <a:stretch>
                  <a:fillRect l="-472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AA40752-E5E1-66A7-7976-506A1FE13A71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3D4D17-B068-BC08-FD30-C054806AF9D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62" t="33994" r="56355" b="28677"/>
          <a:stretch>
            <a:fillRect/>
          </a:stretch>
        </p:blipFill>
        <p:spPr>
          <a:xfrm rot="16200000">
            <a:off x="3789600" y="4075725"/>
            <a:ext cx="540000" cy="72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37DEA7-2203-42F7-6199-1F53CB0FEEA9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165" t="31109" r="16927" b="29421"/>
          <a:stretch>
            <a:fillRect/>
          </a:stretch>
        </p:blipFill>
        <p:spPr>
          <a:xfrm rot="16200000">
            <a:off x="3519600" y="5043882"/>
            <a:ext cx="1080000" cy="72000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BE12A478-9168-E9A7-08C1-904DA5C9D11F}"/>
              </a:ext>
            </a:extLst>
          </p:cNvPr>
          <p:cNvGrpSpPr/>
          <p:nvPr/>
        </p:nvGrpSpPr>
        <p:grpSpPr>
          <a:xfrm>
            <a:off x="3464259" y="4302651"/>
            <a:ext cx="1304635" cy="1803753"/>
            <a:chOff x="1435741" y="3154410"/>
            <a:chExt cx="1304635" cy="1803753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3BE3CFB-79EF-46B3-B885-C590E1FFCC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5090" y="4255046"/>
              <a:ext cx="487716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3CEC012-6C4D-4FA6-13FD-D7443D6FED09}"/>
                    </a:ext>
                  </a:extLst>
                </p:cNvPr>
                <p:cNvSpPr txBox="1"/>
                <p:nvPr/>
              </p:nvSpPr>
              <p:spPr>
                <a:xfrm>
                  <a:off x="1435741" y="4143861"/>
                  <a:ext cx="169918" cy="2223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3CEC012-6C4D-4FA6-13FD-D7443D6FE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5741" y="4143861"/>
                  <a:ext cx="169918" cy="222369"/>
                </a:xfrm>
                <a:prstGeom prst="rect">
                  <a:avLst/>
                </a:prstGeom>
                <a:blipFill>
                  <a:blip r:embed="rId9"/>
                  <a:stretch>
                    <a:fillRect l="-28571" r="-32143" b="-2973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0A816B5-53E3-F589-38D2-8FB5899DC46E}"/>
                </a:ext>
              </a:extLst>
            </p:cNvPr>
            <p:cNvCxnSpPr>
              <a:cxnSpLocks/>
            </p:cNvCxnSpPr>
            <p:nvPr/>
          </p:nvCxnSpPr>
          <p:spPr>
            <a:xfrm>
              <a:off x="2072806" y="4255046"/>
              <a:ext cx="0" cy="41656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DD4A81F-E446-8C5B-C4B6-971AC4B98CD1}"/>
                    </a:ext>
                  </a:extLst>
                </p:cNvPr>
                <p:cNvSpPr txBox="1"/>
                <p:nvPr/>
              </p:nvSpPr>
              <p:spPr>
                <a:xfrm>
                  <a:off x="1990251" y="4735794"/>
                  <a:ext cx="165110" cy="2223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DD4A81F-E446-8C5B-C4B6-971AC4B98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0251" y="4735794"/>
                  <a:ext cx="165110" cy="222369"/>
                </a:xfrm>
                <a:prstGeom prst="rect">
                  <a:avLst/>
                </a:prstGeom>
                <a:blipFill>
                  <a:blip r:embed="rId10"/>
                  <a:stretch>
                    <a:fillRect l="-22222" r="-22222" b="-810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C432440-AFBD-FE2E-238F-FB732EA55D33}"/>
                    </a:ext>
                  </a:extLst>
                </p:cNvPr>
                <p:cNvSpPr txBox="1"/>
                <p:nvPr/>
              </p:nvSpPr>
              <p:spPr>
                <a:xfrm>
                  <a:off x="2391082" y="4290780"/>
                  <a:ext cx="346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C432440-AFBD-FE2E-238F-FB732EA55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1082" y="4290780"/>
                  <a:ext cx="346633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8772" t="-2174" r="-17544" b="-1521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066B23E-CB7A-24DB-69DB-5E458707C247}"/>
                    </a:ext>
                  </a:extLst>
                </p:cNvPr>
                <p:cNvSpPr txBox="1"/>
                <p:nvPr/>
              </p:nvSpPr>
              <p:spPr>
                <a:xfrm>
                  <a:off x="2388421" y="3868311"/>
                  <a:ext cx="3519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066B23E-CB7A-24DB-69DB-5E458707C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8421" y="3868311"/>
                  <a:ext cx="351955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8772" t="-2222" r="-19298" b="-1777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329C849-FD05-E48F-7B3A-455288FE67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85090" y="3279270"/>
              <a:ext cx="487716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91721E5-D838-9684-957E-F4B2D764E8F9}"/>
                    </a:ext>
                  </a:extLst>
                </p:cNvPr>
                <p:cNvSpPr txBox="1"/>
                <p:nvPr/>
              </p:nvSpPr>
              <p:spPr>
                <a:xfrm>
                  <a:off x="1435741" y="3154410"/>
                  <a:ext cx="169918" cy="2223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91721E5-D838-9684-957E-F4B2D764E8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5741" y="3154410"/>
                  <a:ext cx="169918" cy="222369"/>
                </a:xfrm>
                <a:prstGeom prst="rect">
                  <a:avLst/>
                </a:prstGeom>
                <a:blipFill>
                  <a:blip r:embed="rId13"/>
                  <a:stretch>
                    <a:fillRect l="-28571" r="-32143" b="-3055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CCB477B-68D4-66E8-9099-532A344293A4}"/>
                </a:ext>
              </a:extLst>
            </p:cNvPr>
            <p:cNvCxnSpPr>
              <a:cxnSpLocks/>
            </p:cNvCxnSpPr>
            <p:nvPr/>
          </p:nvCxnSpPr>
          <p:spPr>
            <a:xfrm>
              <a:off x="2072806" y="3279270"/>
              <a:ext cx="0" cy="16605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9B3E65F-92A4-D8EE-10ED-0F9447D71CBD}"/>
                    </a:ext>
                  </a:extLst>
                </p:cNvPr>
                <p:cNvSpPr txBox="1"/>
                <p:nvPr/>
              </p:nvSpPr>
              <p:spPr>
                <a:xfrm>
                  <a:off x="1990251" y="3430485"/>
                  <a:ext cx="165110" cy="2223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9B3E65F-92A4-D8EE-10ED-0F9447D71C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0251" y="3430485"/>
                  <a:ext cx="165110" cy="222369"/>
                </a:xfrm>
                <a:prstGeom prst="rect">
                  <a:avLst/>
                </a:prstGeom>
                <a:blipFill>
                  <a:blip r:embed="rId14"/>
                  <a:stretch>
                    <a:fillRect l="-22222" r="-22222" b="-810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25323C-5C14-F193-F991-30FAE1066184}"/>
              </a:ext>
            </a:extLst>
          </p:cNvPr>
          <p:cNvGrpSpPr/>
          <p:nvPr/>
        </p:nvGrpSpPr>
        <p:grpSpPr>
          <a:xfrm>
            <a:off x="1699654" y="4952326"/>
            <a:ext cx="1544379" cy="901924"/>
            <a:chOff x="1699654" y="4952326"/>
            <a:chExt cx="1544379" cy="901924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E8E7F2C-74F6-4532-DDC7-7644551959A7}"/>
                </a:ext>
              </a:extLst>
            </p:cNvPr>
            <p:cNvCxnSpPr/>
            <p:nvPr/>
          </p:nvCxnSpPr>
          <p:spPr>
            <a:xfrm>
              <a:off x="1700920" y="5403881"/>
              <a:ext cx="1508760" cy="0"/>
            </a:xfrm>
            <a:prstGeom prst="straightConnector1">
              <a:avLst/>
            </a:prstGeom>
            <a:ln w="38100"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48B2373-3BE8-8DA8-0C01-F9A3AD3ED065}"/>
                    </a:ext>
                  </a:extLst>
                </p:cNvPr>
                <p:cNvSpPr txBox="1"/>
                <p:nvPr/>
              </p:nvSpPr>
              <p:spPr>
                <a:xfrm>
                  <a:off x="2283738" y="5006421"/>
                  <a:ext cx="347211" cy="3451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2000" i="1" smtClean="0">
                                <a:solidFill>
                                  <a:srgbClr val="3890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20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48B2373-3BE8-8DA8-0C01-F9A3AD3ED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738" y="5006421"/>
                  <a:ext cx="347211" cy="345159"/>
                </a:xfrm>
                <a:prstGeom prst="rect">
                  <a:avLst/>
                </a:prstGeom>
                <a:blipFill>
                  <a:blip r:embed="rId15"/>
                  <a:stretch>
                    <a:fillRect l="-15789" r="-3509" b="-157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85D0D423-6440-EDF0-0B59-8D2843A8BF31}"/>
                </a:ext>
              </a:extLst>
            </p:cNvPr>
            <p:cNvSpPr/>
            <p:nvPr/>
          </p:nvSpPr>
          <p:spPr>
            <a:xfrm>
              <a:off x="1700920" y="5403288"/>
              <a:ext cx="1508760" cy="450962"/>
            </a:xfrm>
            <a:prstGeom prst="arc">
              <a:avLst>
                <a:gd name="adj1" fmla="val 16200000"/>
                <a:gd name="adj2" fmla="val 21318415"/>
              </a:avLst>
            </a:prstGeom>
            <a:ln w="28575">
              <a:solidFill>
                <a:srgbClr val="38903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FE8E84BD-8DB9-8C32-A2D5-836E000D5D67}"/>
                </a:ext>
              </a:extLst>
            </p:cNvPr>
            <p:cNvSpPr/>
            <p:nvPr/>
          </p:nvSpPr>
          <p:spPr>
            <a:xfrm flipV="1">
              <a:off x="1699654" y="4952326"/>
              <a:ext cx="1508760" cy="450962"/>
            </a:xfrm>
            <a:prstGeom prst="arc">
              <a:avLst>
                <a:gd name="adj1" fmla="val 16200000"/>
                <a:gd name="adj2" fmla="val 21318415"/>
              </a:avLst>
            </a:prstGeom>
            <a:ln w="28575">
              <a:solidFill>
                <a:srgbClr val="38903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E8F1C0D4-E7BF-A56A-66B8-2EF66503523C}"/>
                </a:ext>
              </a:extLst>
            </p:cNvPr>
            <p:cNvSpPr/>
            <p:nvPr/>
          </p:nvSpPr>
          <p:spPr>
            <a:xfrm rot="2778153">
              <a:off x="3174565" y="5186224"/>
              <a:ext cx="67698" cy="71238"/>
            </a:xfrm>
            <a:prstGeom prst="triangle">
              <a:avLst/>
            </a:prstGeom>
            <a:solidFill>
              <a:srgbClr val="38903A"/>
            </a:solidFill>
            <a:ln>
              <a:solidFill>
                <a:srgbClr val="3890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FF99D8DF-EB3C-7D2B-91C5-6DA397B1020C}"/>
                </a:ext>
              </a:extLst>
            </p:cNvPr>
            <p:cNvSpPr/>
            <p:nvPr/>
          </p:nvSpPr>
          <p:spPr>
            <a:xfrm rot="8004520">
              <a:off x="3164379" y="5548707"/>
              <a:ext cx="67698" cy="71238"/>
            </a:xfrm>
            <a:prstGeom prst="triangle">
              <a:avLst/>
            </a:prstGeom>
            <a:solidFill>
              <a:srgbClr val="38903A"/>
            </a:solidFill>
            <a:ln>
              <a:solidFill>
                <a:srgbClr val="3890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80C00-81CF-0ACA-2B22-AD88491FC8A1}"/>
              </a:ext>
            </a:extLst>
          </p:cNvPr>
          <p:cNvCxnSpPr/>
          <p:nvPr/>
        </p:nvCxnSpPr>
        <p:spPr>
          <a:xfrm flipH="1">
            <a:off x="1447764" y="4792980"/>
            <a:ext cx="32766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4F9E354E-E60E-E463-62F4-338A1F273E89}"/>
              </a:ext>
            </a:extLst>
          </p:cNvPr>
          <p:cNvGrpSpPr/>
          <p:nvPr/>
        </p:nvGrpSpPr>
        <p:grpSpPr>
          <a:xfrm>
            <a:off x="202936" y="594095"/>
            <a:ext cx="720000" cy="5600965"/>
            <a:chOff x="297252" y="716513"/>
            <a:chExt cx="720000" cy="4930125"/>
          </a:xfrm>
        </p:grpSpPr>
        <p:sp>
          <p:nvSpPr>
            <p:cNvPr id="26" name="Arrow: Notched Right 25">
              <a:extLst>
                <a:ext uri="{FF2B5EF4-FFF2-40B4-BE49-F238E27FC236}">
                  <a16:creationId xmlns:a16="http://schemas.microsoft.com/office/drawing/2014/main" id="{084A79AB-938F-F853-693D-A39ACF5ECD5D}"/>
                </a:ext>
              </a:extLst>
            </p:cNvPr>
            <p:cNvSpPr/>
            <p:nvPr/>
          </p:nvSpPr>
          <p:spPr>
            <a:xfrm rot="5400000">
              <a:off x="-242748" y="1256513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27" name="Arrow: Notched Right 26">
              <a:extLst>
                <a:ext uri="{FF2B5EF4-FFF2-40B4-BE49-F238E27FC236}">
                  <a16:creationId xmlns:a16="http://schemas.microsoft.com/office/drawing/2014/main" id="{5937F862-1D7F-4ECB-C0DA-79BE4F378E6D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28" name="Arrow: Notched Right 27">
              <a:extLst>
                <a:ext uri="{FF2B5EF4-FFF2-40B4-BE49-F238E27FC236}">
                  <a16:creationId xmlns:a16="http://schemas.microsoft.com/office/drawing/2014/main" id="{E8C4B8AB-41E2-8F9C-E48B-41BBE0CAC648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8DBCAD-8DE2-B26A-F28F-DE975A13CF1C}"/>
              </a:ext>
            </a:extLst>
          </p:cNvPr>
          <p:cNvGrpSpPr/>
          <p:nvPr/>
        </p:nvGrpSpPr>
        <p:grpSpPr>
          <a:xfrm>
            <a:off x="1713173" y="3988565"/>
            <a:ext cx="1544379" cy="901924"/>
            <a:chOff x="1699654" y="4952326"/>
            <a:chExt cx="1544379" cy="901924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3F9B1D8-9D10-F88F-4092-C5BE6B1D1EAA}"/>
                </a:ext>
              </a:extLst>
            </p:cNvPr>
            <p:cNvCxnSpPr/>
            <p:nvPr/>
          </p:nvCxnSpPr>
          <p:spPr>
            <a:xfrm>
              <a:off x="1700920" y="5403881"/>
              <a:ext cx="1508760" cy="0"/>
            </a:xfrm>
            <a:prstGeom prst="straightConnector1">
              <a:avLst/>
            </a:prstGeom>
            <a:ln w="38100"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DB244FD-9C5A-2D4B-196B-CA6F26C94AEF}"/>
                    </a:ext>
                  </a:extLst>
                </p:cNvPr>
                <p:cNvSpPr txBox="1"/>
                <p:nvPr/>
              </p:nvSpPr>
              <p:spPr>
                <a:xfrm>
                  <a:off x="2283738" y="5006421"/>
                  <a:ext cx="347211" cy="3451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2000" i="1" smtClean="0">
                                <a:solidFill>
                                  <a:srgbClr val="3890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fr-FR" sz="2000" b="0" i="1" smtClean="0">
                                    <a:solidFill>
                                      <a:srgbClr val="38903A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20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DB244FD-9C5A-2D4B-196B-CA6F26C94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738" y="5006421"/>
                  <a:ext cx="347211" cy="345159"/>
                </a:xfrm>
                <a:prstGeom prst="rect">
                  <a:avLst/>
                </a:prstGeom>
                <a:blipFill>
                  <a:blip r:embed="rId16"/>
                  <a:stretch>
                    <a:fillRect l="-15789" r="-3509" b="-157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3E97DF05-5490-31B1-A805-F06F41AA3A12}"/>
                </a:ext>
              </a:extLst>
            </p:cNvPr>
            <p:cNvSpPr/>
            <p:nvPr/>
          </p:nvSpPr>
          <p:spPr>
            <a:xfrm>
              <a:off x="1700920" y="5403288"/>
              <a:ext cx="1508760" cy="450962"/>
            </a:xfrm>
            <a:prstGeom prst="arc">
              <a:avLst>
                <a:gd name="adj1" fmla="val 16200000"/>
                <a:gd name="adj2" fmla="val 21318415"/>
              </a:avLst>
            </a:prstGeom>
            <a:ln w="28575">
              <a:solidFill>
                <a:srgbClr val="38903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B2354A2E-C08C-81D8-2AFE-6DC06DC0D8B4}"/>
                </a:ext>
              </a:extLst>
            </p:cNvPr>
            <p:cNvSpPr/>
            <p:nvPr/>
          </p:nvSpPr>
          <p:spPr>
            <a:xfrm flipV="1">
              <a:off x="1699654" y="4952326"/>
              <a:ext cx="1508760" cy="450962"/>
            </a:xfrm>
            <a:prstGeom prst="arc">
              <a:avLst>
                <a:gd name="adj1" fmla="val 16200000"/>
                <a:gd name="adj2" fmla="val 21318415"/>
              </a:avLst>
            </a:prstGeom>
            <a:ln w="28575">
              <a:solidFill>
                <a:srgbClr val="38903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96F9CB74-D7AB-3B25-38FB-F4F08ECD4546}"/>
                </a:ext>
              </a:extLst>
            </p:cNvPr>
            <p:cNvSpPr/>
            <p:nvPr/>
          </p:nvSpPr>
          <p:spPr>
            <a:xfrm rot="2778153">
              <a:off x="3174565" y="5186224"/>
              <a:ext cx="67698" cy="71238"/>
            </a:xfrm>
            <a:prstGeom prst="triangle">
              <a:avLst/>
            </a:prstGeom>
            <a:solidFill>
              <a:srgbClr val="38903A"/>
            </a:solidFill>
            <a:ln>
              <a:solidFill>
                <a:srgbClr val="3890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83616F32-5E18-8F61-D331-A3D22F87DE3F}"/>
                </a:ext>
              </a:extLst>
            </p:cNvPr>
            <p:cNvSpPr/>
            <p:nvPr/>
          </p:nvSpPr>
          <p:spPr>
            <a:xfrm rot="8004520">
              <a:off x="3164379" y="5548707"/>
              <a:ext cx="67698" cy="71238"/>
            </a:xfrm>
            <a:prstGeom prst="triangle">
              <a:avLst/>
            </a:prstGeom>
            <a:solidFill>
              <a:srgbClr val="38903A"/>
            </a:solidFill>
            <a:ln>
              <a:solidFill>
                <a:srgbClr val="3890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6E3F63-18A3-9498-5073-A5EF88801CC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D188FC-F06E-EA7C-476B-D42BE57B1E8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Footer Placeholder 2">
              <a:extLst>
                <a:ext uri="{FF2B5EF4-FFF2-40B4-BE49-F238E27FC236}">
                  <a16:creationId xmlns:a16="http://schemas.microsoft.com/office/drawing/2014/main" id="{8E4F5BB7-84F5-256D-1766-FF80BA3A668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702EA55-3B7D-8E0A-598A-0BCE3646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4288459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17EF-1FA9-4C71-24AC-92C2CCED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7A830A7-B734-AAE1-B623-C2C7A033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2644A6-17D6-7DD7-E116-6CC65045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23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7026C-30AC-055B-0F5E-C7C1D3422A7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E267BF-F8C8-7B9F-086E-2829E24D70E2}"/>
              </a:ext>
            </a:extLst>
          </p:cNvPr>
          <p:cNvGrpSpPr/>
          <p:nvPr/>
        </p:nvGrpSpPr>
        <p:grpSpPr>
          <a:xfrm>
            <a:off x="1159140" y="1536491"/>
            <a:ext cx="6758213" cy="4658569"/>
            <a:chOff x="1088521" y="1146180"/>
            <a:chExt cx="6758213" cy="49349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325D940-13FD-EE6E-C1BF-2EAC1C5E3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27" b="5227"/>
            <a:stretch/>
          </p:blipFill>
          <p:spPr>
            <a:xfrm rot="16200000">
              <a:off x="2190128" y="306547"/>
              <a:ext cx="2942282" cy="4621547"/>
            </a:xfrm>
            <a:prstGeom prst="rect">
              <a:avLst/>
            </a:prstGeom>
            <a:ln w="28575">
              <a:noFill/>
            </a:ln>
            <a:effectLst>
              <a:softEdge rad="31750"/>
            </a:effectLst>
          </p:spPr>
        </p:pic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C1537CB8-8F77-3361-FCF5-324906ABEE21}"/>
                </a:ext>
              </a:extLst>
            </p:cNvPr>
            <p:cNvGrpSpPr/>
            <p:nvPr/>
          </p:nvGrpSpPr>
          <p:grpSpPr>
            <a:xfrm flipH="1">
              <a:off x="1433732" y="4360802"/>
              <a:ext cx="6413002" cy="1720288"/>
              <a:chOff x="1440953" y="2466429"/>
              <a:chExt cx="6262094" cy="1720288"/>
            </a:xfrm>
          </p:grpSpPr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485931D7-3E78-6020-17E4-F6EE0BB401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 rot="16140000">
                <a:off x="4210262" y="693933"/>
                <a:ext cx="723475" cy="6262094"/>
              </a:xfrm>
              <a:prstGeom prst="rect">
                <a:avLst/>
              </a:prstGeom>
            </p:spPr>
          </p:pic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749D53FD-1AA2-3F26-4A50-75DD1D2E5A33}"/>
                  </a:ext>
                </a:extLst>
              </p:cNvPr>
              <p:cNvSpPr txBox="1"/>
              <p:nvPr/>
            </p:nvSpPr>
            <p:spPr>
              <a:xfrm>
                <a:off x="4052454" y="2466429"/>
                <a:ext cx="633157" cy="27699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Corde</a:t>
                </a:r>
              </a:p>
            </p:txBody>
          </p:sp>
        </p:grp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3EE8BFC5-F2AA-D1A3-380C-6809D26261A6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rot="5400000" flipH="1" flipV="1">
              <a:off x="1274767" y="3531748"/>
              <a:ext cx="1167611" cy="25641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729105-5D1B-BD47-7B86-BF65201E2C22}"/>
                </a:ext>
              </a:extLst>
            </p:cNvPr>
            <p:cNvSpPr txBox="1"/>
            <p:nvPr/>
          </p:nvSpPr>
          <p:spPr>
            <a:xfrm flipH="1">
              <a:off x="2525532" y="4255954"/>
              <a:ext cx="1387055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Micro Humbucker</a:t>
              </a:r>
            </a:p>
          </p:txBody>
        </p: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3736A5C1-091B-7125-5BE6-37A8B606888F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rot="16200000" flipH="1">
              <a:off x="1724074" y="4527051"/>
              <a:ext cx="1036591" cy="1024010"/>
            </a:xfrm>
            <a:prstGeom prst="bentConnector3">
              <a:avLst>
                <a:gd name="adj1" fmla="val 1961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9A269F26-F8FB-BD35-8D1C-147049D4D4C3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rot="5400000">
              <a:off x="2678638" y="4956566"/>
              <a:ext cx="964034" cy="116808"/>
            </a:xfrm>
            <a:prstGeom prst="bentConnector3">
              <a:avLst>
                <a:gd name="adj1" fmla="val 20491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CD4B400A-45D8-1178-C9C6-D74658FD0F2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rot="16200000" flipV="1">
              <a:off x="2166435" y="3203329"/>
              <a:ext cx="1167611" cy="9376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: Elbow 140">
              <a:extLst>
                <a:ext uri="{FF2B5EF4-FFF2-40B4-BE49-F238E27FC236}">
                  <a16:creationId xmlns:a16="http://schemas.microsoft.com/office/drawing/2014/main" id="{2B74BC81-0396-58E2-4F5F-25A19BB7D6D7}"/>
                </a:ext>
              </a:extLst>
            </p:cNvPr>
            <p:cNvCxnSpPr>
              <a:cxnSpLocks/>
              <a:stCxn id="161" idx="2"/>
            </p:cNvCxnSpPr>
            <p:nvPr/>
          </p:nvCxnSpPr>
          <p:spPr>
            <a:xfrm rot="5400000">
              <a:off x="3978664" y="4933548"/>
              <a:ext cx="1165175" cy="57368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: Elbow 145">
              <a:extLst>
                <a:ext uri="{FF2B5EF4-FFF2-40B4-BE49-F238E27FC236}">
                  <a16:creationId xmlns:a16="http://schemas.microsoft.com/office/drawing/2014/main" id="{4427088E-AEAA-CC36-74E4-446F94028ABB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rot="16200000" flipV="1">
              <a:off x="3888275" y="3400986"/>
              <a:ext cx="1295657" cy="62397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AC37F92-0300-2194-BBFA-28D6CCCBFC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4620" y="3077337"/>
              <a:ext cx="45090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98F84A-A707-90F0-135B-B3D6DB647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1685" y="5819775"/>
              <a:ext cx="537365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7AF251-442D-D41A-2407-64D8B6581262}"/>
                </a:ext>
              </a:extLst>
            </p:cNvPr>
            <p:cNvSpPr txBox="1"/>
            <p:nvPr/>
          </p:nvSpPr>
          <p:spPr>
            <a:xfrm flipH="1">
              <a:off x="1088521" y="4243762"/>
              <a:ext cx="1283687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Micro SingleCoil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AA78053-9B3F-8A75-512E-06D3655B0586}"/>
                  </a:ext>
                </a:extLst>
              </p:cNvPr>
              <p:cNvSpPr/>
              <p:nvPr/>
            </p:nvSpPr>
            <p:spPr>
              <a:xfrm>
                <a:off x="6451777" y="1536488"/>
                <a:ext cx="2485046" cy="391970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schemeClr val="tx1"/>
                    </a:solidFill>
                  </a:rPr>
                  <a:t>Utilisation de Bobine Helmholtz pour contrôler le champ parasite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2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box>
                        <m:box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h𝑒𝑙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AA78053-9B3F-8A75-512E-06D3655B05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777" y="1536488"/>
                <a:ext cx="2485046" cy="3919700"/>
              </a:xfrm>
              <a:prstGeom prst="rect">
                <a:avLst/>
              </a:prstGeom>
              <a:blipFill>
                <a:blip r:embed="rId5"/>
                <a:stretch>
                  <a:fillRect l="-24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2" descr="Bobine de Helmholtz sur socle : PAM067370">
            <a:extLst>
              <a:ext uri="{FF2B5EF4-FFF2-40B4-BE49-F238E27FC236}">
                <a16:creationId xmlns:a16="http://schemas.microsoft.com/office/drawing/2014/main" id="{97F9CA38-454F-5EAF-74D4-E7E8E328C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839" y="3222403"/>
            <a:ext cx="2227030" cy="147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1A8287-CC45-F296-8ECB-B5F08F23D09F}"/>
              </a:ext>
            </a:extLst>
          </p:cNvPr>
          <p:cNvSpPr txBox="1"/>
          <p:nvPr/>
        </p:nvSpPr>
        <p:spPr>
          <a:xfrm>
            <a:off x="1151432" y="757210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5C99DC4-F3DF-C32D-947D-3E2B0DFF7179}"/>
              </a:ext>
            </a:extLst>
          </p:cNvPr>
          <p:cNvGrpSpPr/>
          <p:nvPr/>
        </p:nvGrpSpPr>
        <p:grpSpPr>
          <a:xfrm>
            <a:off x="202936" y="594095"/>
            <a:ext cx="720000" cy="5600965"/>
            <a:chOff x="297252" y="716513"/>
            <a:chExt cx="720000" cy="4930125"/>
          </a:xfrm>
        </p:grpSpPr>
        <p:sp>
          <p:nvSpPr>
            <p:cNvPr id="18" name="Arrow: Notched Right 17">
              <a:extLst>
                <a:ext uri="{FF2B5EF4-FFF2-40B4-BE49-F238E27FC236}">
                  <a16:creationId xmlns:a16="http://schemas.microsoft.com/office/drawing/2014/main" id="{537A9D31-F37A-8C5A-EB4B-54CA2888191F}"/>
                </a:ext>
              </a:extLst>
            </p:cNvPr>
            <p:cNvSpPr/>
            <p:nvPr/>
          </p:nvSpPr>
          <p:spPr>
            <a:xfrm rot="5400000">
              <a:off x="-242748" y="1256513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19" name="Arrow: Notched Right 18">
              <a:extLst>
                <a:ext uri="{FF2B5EF4-FFF2-40B4-BE49-F238E27FC236}">
                  <a16:creationId xmlns:a16="http://schemas.microsoft.com/office/drawing/2014/main" id="{0B3EADAE-1E5A-7804-AD1A-2E7ABB862D59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20" name="Arrow: Notched Right 19">
              <a:extLst>
                <a:ext uri="{FF2B5EF4-FFF2-40B4-BE49-F238E27FC236}">
                  <a16:creationId xmlns:a16="http://schemas.microsoft.com/office/drawing/2014/main" id="{7542F3D2-755E-67CE-3305-5C8CAC5DA620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4D060AE-4742-D8B5-61B6-553566A7F6A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A61D3E-6CDD-7313-43C9-D2F0E63324C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Footer Placeholder 2">
              <a:extLst>
                <a:ext uri="{FF2B5EF4-FFF2-40B4-BE49-F238E27FC236}">
                  <a16:creationId xmlns:a16="http://schemas.microsoft.com/office/drawing/2014/main" id="{391E767F-0360-B146-2D34-43323635A9B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8480ED95-278F-2E07-99E5-455FF7B8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662445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6AFA-70C9-B7FE-A472-60C4C2783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A348215-9595-C53C-9D1F-0AE71554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EEB7A66-3E79-4383-848F-4D2E2E6C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24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549BE0-B26C-0AB6-EB7D-9447C548FAE3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F41339-ACB6-8863-7950-5672C56AEF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7252" y="1647754"/>
            <a:ext cx="3779997" cy="3149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2" descr="Python Logo PNG Transparent – Brands Logos">
            <a:extLst>
              <a:ext uri="{FF2B5EF4-FFF2-40B4-BE49-F238E27FC236}">
                <a16:creationId xmlns:a16="http://schemas.microsoft.com/office/drawing/2014/main" id="{5582A0BE-17D0-6897-21C0-590EC1950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D2E2814-83D3-CDD3-DC54-C42B81F387CD}"/>
              </a:ext>
            </a:extLst>
          </p:cNvPr>
          <p:cNvSpPr txBox="1"/>
          <p:nvPr/>
        </p:nvSpPr>
        <p:spPr>
          <a:xfrm>
            <a:off x="1054904" y="4875400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712810-785D-7528-A8C6-78D6B9BF007F}"/>
              </a:ext>
            </a:extLst>
          </p:cNvPr>
          <p:cNvSpPr txBox="1"/>
          <p:nvPr/>
        </p:nvSpPr>
        <p:spPr>
          <a:xfrm>
            <a:off x="4966872" y="4895376"/>
            <a:ext cx="3780000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EF38C6-5917-7E73-6FF0-C484BB1275D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4905" y="1647095"/>
            <a:ext cx="3779996" cy="314999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D8AC4E-A10C-73EE-FA95-EAC26325FA84}"/>
                  </a:ext>
                </a:extLst>
              </p:cNvPr>
              <p:cNvSpPr txBox="1"/>
              <p:nvPr/>
            </p:nvSpPr>
            <p:spPr>
              <a:xfrm>
                <a:off x="1054902" y="5281705"/>
                <a:ext cx="3780001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D8AC4E-A10C-73EE-FA95-EAC26325F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02" y="5281705"/>
                <a:ext cx="3780001" cy="276999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0FF9EE-9AB4-8DB0-9E80-35E7FA1749EF}"/>
                  </a:ext>
                </a:extLst>
              </p:cNvPr>
              <p:cNvSpPr txBox="1"/>
              <p:nvPr/>
            </p:nvSpPr>
            <p:spPr>
              <a:xfrm>
                <a:off x="4966870" y="5281705"/>
                <a:ext cx="3780002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0FF9EE-9AB4-8DB0-9E80-35E7FA174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870" y="5281705"/>
                <a:ext cx="3780002" cy="276999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BEB6DEA-6687-34D8-298A-343E3C0CC09A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5ECA57-6933-57BD-366F-AD8B13CE52D9}"/>
              </a:ext>
            </a:extLst>
          </p:cNvPr>
          <p:cNvGrpSpPr/>
          <p:nvPr/>
        </p:nvGrpSpPr>
        <p:grpSpPr>
          <a:xfrm>
            <a:off x="202936" y="594095"/>
            <a:ext cx="720000" cy="5600965"/>
            <a:chOff x="297252" y="716513"/>
            <a:chExt cx="720000" cy="4930125"/>
          </a:xfrm>
        </p:grpSpPr>
        <p:sp>
          <p:nvSpPr>
            <p:cNvPr id="4" name="Arrow: Notched Right 3">
              <a:extLst>
                <a:ext uri="{FF2B5EF4-FFF2-40B4-BE49-F238E27FC236}">
                  <a16:creationId xmlns:a16="http://schemas.microsoft.com/office/drawing/2014/main" id="{EB2061F9-A72F-B2CB-5A23-51E1F5036801}"/>
                </a:ext>
              </a:extLst>
            </p:cNvPr>
            <p:cNvSpPr/>
            <p:nvPr/>
          </p:nvSpPr>
          <p:spPr>
            <a:xfrm rot="5400000">
              <a:off x="-242748" y="1256513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8" name="Arrow: Notched Right 7">
              <a:extLst>
                <a:ext uri="{FF2B5EF4-FFF2-40B4-BE49-F238E27FC236}">
                  <a16:creationId xmlns:a16="http://schemas.microsoft.com/office/drawing/2014/main" id="{03845822-C55D-966B-4B3F-9A39D61F7D39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18" name="Arrow: Notched Right 17">
              <a:extLst>
                <a:ext uri="{FF2B5EF4-FFF2-40B4-BE49-F238E27FC236}">
                  <a16:creationId xmlns:a16="http://schemas.microsoft.com/office/drawing/2014/main" id="{62926A4D-5D56-0DD3-0766-578FE01DA908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00F479B-F6C9-DCB8-465D-82AB5E7D5AB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0FD158-F7CC-BF97-4506-C6C4480FEBB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Footer Placeholder 2">
              <a:extLst>
                <a:ext uri="{FF2B5EF4-FFF2-40B4-BE49-F238E27FC236}">
                  <a16:creationId xmlns:a16="http://schemas.microsoft.com/office/drawing/2014/main" id="{86EFEB16-0B2D-3D86-D7F0-B4BE4AF9744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67004240-9EF1-1DFA-4A2A-8CC299923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726721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E352-AE06-E004-5CFF-5213AB19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DE84039-989B-A9DF-DE7E-BBEA6F1F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B6BDE8C-2386-2827-B841-0C05C323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25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ACE4722-9215-C766-B596-8EAAE3E1C7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C72D6-A81E-FE9B-6FA7-B4EAF9D122A2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217ECAE-8489-89FE-382A-0CCCFD537475}"/>
                  </a:ext>
                </a:extLst>
              </p:cNvPr>
              <p:cNvSpPr/>
              <p:nvPr/>
            </p:nvSpPr>
            <p:spPr>
              <a:xfrm>
                <a:off x="5958063" y="1390254"/>
                <a:ext cx="2840497" cy="4572009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endParaRPr lang="fr-FR" sz="1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Mesures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Théoriquement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b="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05 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=29,3 </m:t>
                      </m:r>
                      <m:r>
                        <m:rPr>
                          <m:nor/>
                        </m:rPr>
                        <a:rPr lang="fr-FR" sz="1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Expérimentalement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50 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0,61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𝑒𝑥𝑝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7,7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217ECAE-8489-89FE-382A-0CCCFD537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63" y="1390254"/>
                <a:ext cx="2840497" cy="45720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4DA0E7B2-A0B5-774E-ADC9-6B74F1FE1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7C8F5F-29B0-45A8-4977-1B10256AE062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3A6606-217B-AACE-C117-A97EFC222185}"/>
              </a:ext>
            </a:extLst>
          </p:cNvPr>
          <p:cNvGrpSpPr/>
          <p:nvPr/>
        </p:nvGrpSpPr>
        <p:grpSpPr>
          <a:xfrm>
            <a:off x="202936" y="594095"/>
            <a:ext cx="720000" cy="5600965"/>
            <a:chOff x="297252" y="716513"/>
            <a:chExt cx="720000" cy="4930125"/>
          </a:xfrm>
        </p:grpSpPr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6B7D2A0E-475D-0B36-BCFC-76B4036604B8}"/>
                </a:ext>
              </a:extLst>
            </p:cNvPr>
            <p:cNvSpPr/>
            <p:nvPr/>
          </p:nvSpPr>
          <p:spPr>
            <a:xfrm rot="5400000">
              <a:off x="-242748" y="1256513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13" name="Arrow: Notched Right 12">
              <a:extLst>
                <a:ext uri="{FF2B5EF4-FFF2-40B4-BE49-F238E27FC236}">
                  <a16:creationId xmlns:a16="http://schemas.microsoft.com/office/drawing/2014/main" id="{4119228B-90D0-DB2C-409A-EB96BF052E38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D6AFC58E-8A0B-7319-A652-CE3B92C6602F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E62176-6A79-DD4C-108A-F005EEA2AB1E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A4CAB60-75F8-B2A7-399E-0F6B0763FA3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Footer Placeholder 2">
              <a:extLst>
                <a:ext uri="{FF2B5EF4-FFF2-40B4-BE49-F238E27FC236}">
                  <a16:creationId xmlns:a16="http://schemas.microsoft.com/office/drawing/2014/main" id="{003448A4-F15B-6F57-E347-FF9EB227249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0103DAC-E798-1BDF-3529-82C1DD1A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2568B9-DD4F-20D8-2DA1-6A68D642D3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441" y="1398893"/>
            <a:ext cx="4766410" cy="45633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2712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9FE8-1127-F575-0447-3478363B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3C8419B-0177-C930-0E43-94FCC830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EB1E59C-A699-9949-E8F0-3E90B953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26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5C75146-3100-0E49-B845-B7D950CC6C30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48BD8-B708-6C06-BD2B-ECAE798E7365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C7B469-2ADA-BBCE-92BD-B49F8B8C9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5441" y="1398893"/>
            <a:ext cx="4766410" cy="456336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E12A7D-97D9-5A8F-62B0-EDA3A1F689CF}"/>
                  </a:ext>
                </a:extLst>
              </p:cNvPr>
              <p:cNvSpPr/>
              <p:nvPr/>
            </p:nvSpPr>
            <p:spPr>
              <a:xfrm>
                <a:off x="5958063" y="1390254"/>
                <a:ext cx="2840497" cy="4572009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endParaRPr lang="fr-FR" sz="1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Ecarts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Mesures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29,3 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7,7</m:t>
                      </m:r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Ecarts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fr-FR" b="1" u="sng" dirty="0">
                  <a:solidFill>
                    <a:schemeClr val="tx1"/>
                  </a:solidFill>
                </a:endParaRP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Limites du modèle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tx1"/>
                    </a:solidFill>
                  </a:rPr>
                  <a:t>Estimation de</a:t>
                </a:r>
                <a14:m>
                  <m:oMath xmlns:m="http://schemas.openxmlformats.org/officeDocument/2006/math">
                    <m: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fr-FR" sz="1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sz="1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Limites expérimentales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tx1"/>
                    </a:solidFill>
                  </a:rPr>
                  <a:t>Asymétrie de bobinage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BE12A7D-97D9-5A8F-62B0-EDA3A1F689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63" y="1390254"/>
                <a:ext cx="2840497" cy="45720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4F8CD0CD-B4B8-EB91-4A7A-4CD584DF0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2CCB41-345B-4119-A54E-456340214EC0}"/>
              </a:ext>
            </a:extLst>
          </p:cNvPr>
          <p:cNvSpPr txBox="1"/>
          <p:nvPr/>
        </p:nvSpPr>
        <p:spPr>
          <a:xfrm>
            <a:off x="983730" y="741069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BC7A20-E631-F468-5510-59831BA3F1CC}"/>
              </a:ext>
            </a:extLst>
          </p:cNvPr>
          <p:cNvGrpSpPr/>
          <p:nvPr/>
        </p:nvGrpSpPr>
        <p:grpSpPr>
          <a:xfrm>
            <a:off x="202936" y="594095"/>
            <a:ext cx="720000" cy="5600965"/>
            <a:chOff x="297252" y="716513"/>
            <a:chExt cx="720000" cy="4930125"/>
          </a:xfrm>
        </p:grpSpPr>
        <p:sp>
          <p:nvSpPr>
            <p:cNvPr id="9" name="Arrow: Notched Right 8">
              <a:extLst>
                <a:ext uri="{FF2B5EF4-FFF2-40B4-BE49-F238E27FC236}">
                  <a16:creationId xmlns:a16="http://schemas.microsoft.com/office/drawing/2014/main" id="{ECA02325-D26C-4349-5E35-D3B013B67B89}"/>
                </a:ext>
              </a:extLst>
            </p:cNvPr>
            <p:cNvSpPr/>
            <p:nvPr/>
          </p:nvSpPr>
          <p:spPr>
            <a:xfrm rot="5400000">
              <a:off x="-242748" y="1256513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Filtrage électrique interne</a:t>
              </a:r>
            </a:p>
          </p:txBody>
        </p:sp>
        <p:sp>
          <p:nvSpPr>
            <p:cNvPr id="13" name="Arrow: Notched Right 12">
              <a:extLst>
                <a:ext uri="{FF2B5EF4-FFF2-40B4-BE49-F238E27FC236}">
                  <a16:creationId xmlns:a16="http://schemas.microsoft.com/office/drawing/2014/main" id="{7EF26806-FC8D-D72D-14B9-1EFD129B4F4F}"/>
                </a:ext>
              </a:extLst>
            </p:cNvPr>
            <p:cNvSpPr/>
            <p:nvPr/>
          </p:nvSpPr>
          <p:spPr>
            <a:xfrm rot="5400000">
              <a:off x="-242748" y="2841369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Induction et filtrage spatial</a:t>
              </a:r>
            </a:p>
          </p:txBody>
        </p:sp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C2169601-784A-5365-9442-C6127DE22FA9}"/>
                </a:ext>
              </a:extLst>
            </p:cNvPr>
            <p:cNvSpPr/>
            <p:nvPr/>
          </p:nvSpPr>
          <p:spPr>
            <a:xfrm rot="5400000">
              <a:off x="-242748" y="4386638"/>
              <a:ext cx="1800000" cy="720000"/>
            </a:xfrm>
            <a:prstGeom prst="notchedRightArrow">
              <a:avLst>
                <a:gd name="adj1" fmla="val 100000"/>
                <a:gd name="adj2" fmla="val 34659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fr-FR" sz="1050" dirty="0">
                  <a:solidFill>
                    <a:schemeClr val="tx1"/>
                  </a:solidFill>
                </a:rPr>
                <a:t>Réduction du « Hum »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D4B7898-815B-8406-A88F-9DCA97B03A1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FB2FF53-3D6F-846F-6D46-F5BE9CF6DD7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Footer Placeholder 2">
              <a:extLst>
                <a:ext uri="{FF2B5EF4-FFF2-40B4-BE49-F238E27FC236}">
                  <a16:creationId xmlns:a16="http://schemas.microsoft.com/office/drawing/2014/main" id="{23A2B37A-C7D2-11E4-2309-F4541C3C86F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5446C9-0130-9174-5A5C-454D03C9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4268118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9A9E-1C8C-7508-4A99-E9E72DA0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00E49-9BB6-266A-A15B-45A7A7E94780}"/>
              </a:ext>
            </a:extLst>
          </p:cNvPr>
          <p:cNvSpPr/>
          <p:nvPr/>
        </p:nvSpPr>
        <p:spPr>
          <a:xfrm>
            <a:off x="326443" y="419481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6C661-B607-061A-A9F8-3C818C718700}"/>
              </a:ext>
            </a:extLst>
          </p:cNvPr>
          <p:cNvSpPr txBox="1"/>
          <p:nvPr/>
        </p:nvSpPr>
        <p:spPr>
          <a:xfrm>
            <a:off x="349675" y="2989072"/>
            <a:ext cx="84446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Micro Singlecoil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Sensible aux champs extérieurs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Spectre riche dans les hautes fréquences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r>
              <a:rPr lang="fr-FR" b="1" u="sng" dirty="0"/>
              <a:t>Micro Humbucker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Reduction efficace du bourdonnement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Filtrage spatial accru qui atténue certaines harmoniques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r>
              <a:rPr lang="fr-FR" b="1" u="sng" dirty="0"/>
              <a:t>Donc :</a:t>
            </a:r>
          </a:p>
          <a:p>
            <a:r>
              <a:rPr lang="fr-FR" dirty="0"/>
              <a:t>Nécessité de faire des </a:t>
            </a:r>
            <a:r>
              <a:rPr lang="fr-FR" u="sng" dirty="0">
                <a:solidFill>
                  <a:srgbClr val="C00000"/>
                </a:solidFill>
              </a:rPr>
              <a:t>compromis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9CF280-6AA1-02B9-5766-0A88FFF4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28" y="1181389"/>
            <a:ext cx="742534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Dans quelle mesure </a:t>
            </a:r>
            <a:r>
              <a:rPr lang="fr-FR" sz="1600" b="1" dirty="0"/>
              <a:t>l'ajout d'une seconde bobine 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permet-il </a:t>
            </a:r>
            <a:r>
              <a:rPr lang="fr-FR" sz="1600" b="1" dirty="0"/>
              <a:t>d'éliminer les parasites </a:t>
            </a:r>
            <a:r>
              <a:rPr lang="fr-FR" sz="1600" dirty="0"/>
              <a:t>?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Comment cela impacte-t-il </a:t>
            </a:r>
            <a:r>
              <a:rPr lang="fr-FR" sz="1600" b="1" dirty="0"/>
              <a:t>la richesse du son </a:t>
            </a:r>
            <a:r>
              <a:rPr lang="fr-FR" sz="1600" dirty="0"/>
              <a:t>?</a:t>
            </a:r>
            <a:endParaRPr kumimoji="0" lang="fr-FR" altLang="fr-F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C41BDD6-0B7E-DB68-BFEB-ED6C52B4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83BD53-0BEB-220C-AC97-3EEC3B15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27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5DCA8F8-D862-BC8C-AF76-12EA5860996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7B024F95-B138-985B-1165-9E0306675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2658019" y="3900085"/>
            <a:ext cx="672476" cy="540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A9A0B97-C62F-658B-F983-80B2EEFBB94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559317-5E18-475F-41AB-2D45B40A5AB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57C2ED85-A2C2-A521-06FA-698ECFF1563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dirty="0"/>
                <a:t>GUITARE électrique : étude de l’influence du type de bobinage dans le micro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B4953A3-EECA-18B3-CF42-FBC3F980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1E4BF96-13FC-AAE7-FE03-F72E37775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2436682" y="2838894"/>
            <a:ext cx="655914" cy="540000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79A5BE-F8B6-F182-EAE5-5A74F73561AD}"/>
              </a:ext>
            </a:extLst>
          </p:cNvPr>
          <p:cNvSpPr txBox="1"/>
          <p:nvPr/>
        </p:nvSpPr>
        <p:spPr>
          <a:xfrm>
            <a:off x="720826" y="772958"/>
            <a:ext cx="7702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 Black" panose="020B0A04020102020204" pitchFamily="34" charset="0"/>
              </a:rPr>
              <a:t>Problématique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53EAE-61C2-F213-92AF-9F717B075800}"/>
              </a:ext>
            </a:extLst>
          </p:cNvPr>
          <p:cNvSpPr txBox="1"/>
          <p:nvPr/>
        </p:nvSpPr>
        <p:spPr>
          <a:xfrm>
            <a:off x="720825" y="2388402"/>
            <a:ext cx="7702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 Black" panose="020B0A04020102020204" pitchFamily="34" charset="0"/>
              </a:rPr>
              <a:t>Conclusion </a:t>
            </a:r>
          </a:p>
        </p:txBody>
      </p:sp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5012B3B3-5B7E-B87A-8C7E-CE9EC85084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920" y="3551700"/>
            <a:ext cx="252000" cy="252000"/>
          </a:xfrm>
          <a:prstGeom prst="rect">
            <a:avLst/>
          </a:prstGeom>
        </p:spPr>
      </p:pic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2F3153A6-DA11-EE61-3CA2-F2B46B137E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920" y="4377858"/>
            <a:ext cx="252000" cy="252000"/>
          </a:xfrm>
          <a:prstGeom prst="rect">
            <a:avLst/>
          </a:prstGeom>
        </p:spPr>
      </p:pic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24AE6B43-99B1-097D-E732-FBC3A25B7F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775" y="3317129"/>
            <a:ext cx="252000" cy="252000"/>
          </a:xfrm>
          <a:prstGeom prst="rect">
            <a:avLst/>
          </a:prstGeom>
        </p:spPr>
      </p:pic>
      <p:pic>
        <p:nvPicPr>
          <p:cNvPr id="23" name="Graphic 22" descr="Close with solid fill">
            <a:extLst>
              <a:ext uri="{FF2B5EF4-FFF2-40B4-BE49-F238E27FC236}">
                <a16:creationId xmlns:a16="http://schemas.microsoft.com/office/drawing/2014/main" id="{4E04D3B4-BD96-EA47-260F-84C021B0D3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775" y="4690634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87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67F8-102B-ED7B-0DE1-585BD24C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574C88C-C846-3D06-3760-839BCCE4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67D19BA-9241-DDAC-50D0-86F96248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CCB68E-E8C2-CC4C-3A75-B5BA7F6D35A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F93ABBD-287B-55E3-11A3-68FE11A2765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BD774-13EC-37E7-5421-E3BB7AFFF9C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Annexes : Sommaire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C8F2F-1A54-CCBE-AAF5-AE4AD230532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F1C7E-5DAA-15EF-C04B-EF6B2C9D445E}"/>
              </a:ext>
            </a:extLst>
          </p:cNvPr>
          <p:cNvSpPr txBox="1"/>
          <p:nvPr/>
        </p:nvSpPr>
        <p:spPr>
          <a:xfrm>
            <a:off x="345440" y="1390254"/>
            <a:ext cx="8472118" cy="33239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Sources et Bibliographie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Remerciements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Démonstration du modèle Théorique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Notations 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SingleCoil excité par une corde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Humbucker excité par une corde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SingleCoil &amp; Humbucker excité par un Champ Parasite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Expérimentation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Dimensionnement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Filtrage des données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Algorithme de Levenberg-Marquardt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Difficultés rencontrées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non fonctionnel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Signal non exploitable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endParaRPr lang="fr-FR" sz="1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AA300-0088-5FE7-E14B-005D0418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4086697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C011195-2549-BCE2-65E7-95D97701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DCD4202-BEB8-74F4-5148-FD85D148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29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65F9-2328-58C8-82DC-3D4C33494CA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6118C6D-1578-28CB-51EF-9F9921702B3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1. Sources &amp; Bibliographie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45439" y="1254482"/>
            <a:ext cx="849111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[1] </a:t>
            </a:r>
            <a:r>
              <a:rPr lang="en-GB" sz="1400" dirty="0" err="1"/>
              <a:t>WiseGuy</a:t>
            </a:r>
            <a:r>
              <a:rPr lang="en-GB" sz="1400" dirty="0"/>
              <a:t> Research Consultants, "Global Electric Guitar Pickup Market Research Report 2024," Pune, India, 2024.</a:t>
            </a:r>
            <a:endParaRPr lang="en-GB" sz="1400" b="1" dirty="0"/>
          </a:p>
          <a:p>
            <a:endParaRPr lang="en-GB" sz="1400" b="1" dirty="0"/>
          </a:p>
          <a:p>
            <a:r>
              <a:rPr lang="en-GB" sz="1400" b="1" dirty="0"/>
              <a:t>[2]</a:t>
            </a:r>
            <a:r>
              <a:rPr lang="en-GB" sz="1400" dirty="0"/>
              <a:t> Matthew W. Hill, "The hidden history of the electric guitar", in </a:t>
            </a:r>
            <a:r>
              <a:rPr lang="en-GB" sz="1400" i="1" dirty="0"/>
              <a:t>Quand la </a:t>
            </a:r>
            <a:r>
              <a:rPr lang="en-GB" sz="1400" i="1" dirty="0" err="1"/>
              <a:t>guitare</a:t>
            </a:r>
            <a:r>
              <a:rPr lang="en-GB" sz="1400" i="1" dirty="0"/>
              <a:t> [s']</a:t>
            </a:r>
            <a:r>
              <a:rPr lang="en-GB" sz="1400" i="1" dirty="0" err="1"/>
              <a:t>électrise</a:t>
            </a:r>
            <a:r>
              <a:rPr lang="en-GB" sz="1400" i="1" dirty="0"/>
              <a:t> !</a:t>
            </a:r>
            <a:r>
              <a:rPr lang="en-GB" sz="1400" dirty="0"/>
              <a:t>, Benoît Navarret et al. (dir.), Sorbonne Université Presses, pp. 33-61, 2022.</a:t>
            </a:r>
          </a:p>
          <a:p>
            <a:endParaRPr lang="fr-FR" sz="1400" dirty="0"/>
          </a:p>
          <a:p>
            <a:r>
              <a:rPr lang="en-GB" sz="1400" b="1" dirty="0"/>
              <a:t>[3]</a:t>
            </a:r>
            <a:r>
              <a:rPr lang="fr-FR" sz="1400" dirty="0"/>
              <a:t> B. d’Andréa-Novel, B. Fabre, et P. </a:t>
            </a:r>
            <a:r>
              <a:rPr lang="fr-FR" sz="1400" dirty="0" err="1"/>
              <a:t>Jouvelot</a:t>
            </a:r>
            <a:r>
              <a:rPr lang="fr-FR" sz="1400" dirty="0"/>
              <a:t>, </a:t>
            </a:r>
            <a:r>
              <a:rPr lang="fr-FR" sz="1400" i="1" dirty="0"/>
              <a:t>Acoustique Informatique </a:t>
            </a:r>
            <a:r>
              <a:rPr lang="fr-FR" sz="1400" i="1" dirty="0" err="1"/>
              <a:t>MusiquE</a:t>
            </a:r>
            <a:r>
              <a:rPr lang="fr-FR" sz="1400" i="1" dirty="0"/>
              <a:t> : Outils scientifiques pour la musique</a:t>
            </a:r>
            <a:r>
              <a:rPr lang="fr-FR" sz="1400" dirty="0"/>
              <a:t>. Paris, France : Presses des Mines, 2010, ch. 4</a:t>
            </a:r>
          </a:p>
          <a:p>
            <a:endParaRPr lang="fr-FR" sz="1400" dirty="0"/>
          </a:p>
          <a:p>
            <a:r>
              <a:rPr lang="en-GB" sz="1400" b="1" dirty="0"/>
              <a:t>[4]</a:t>
            </a:r>
            <a:r>
              <a:rPr lang="en-GB" sz="1400" dirty="0"/>
              <a:t> S. W. Duncan, "Interview With Seth Lover", </a:t>
            </a:r>
            <a:r>
              <a:rPr lang="en-GB" sz="1400" i="1" dirty="0"/>
              <a:t>Seymour Duncan</a:t>
            </a:r>
            <a:r>
              <a:rPr lang="en-GB" sz="1400" dirty="0"/>
              <a:t>.  </a:t>
            </a:r>
            <a:r>
              <a:rPr lang="fr-FR" sz="1400" dirty="0"/>
              <a:t>[En ligne]. Disponible sur: </a:t>
            </a:r>
            <a:br>
              <a:rPr lang="fr-FR" sz="1400" dirty="0"/>
            </a:br>
            <a:r>
              <a:rPr lang="fr-FR" sz="1400" i="1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https://www.seymourduncan.com/blog/latest-updates/seymour-w-duncans-interview-with-seth-lover</a:t>
            </a:r>
            <a:br>
              <a:rPr lang="fr-FR" sz="1400" u="sng" dirty="0"/>
            </a:br>
            <a:endParaRPr lang="fr-FR" sz="1400" u="sng" dirty="0"/>
          </a:p>
          <a:p>
            <a:r>
              <a:rPr lang="en-GB" sz="1400" b="1" dirty="0"/>
              <a:t>[5]</a:t>
            </a:r>
            <a:r>
              <a:rPr lang="en-GB" sz="1400" dirty="0"/>
              <a:t> Dan Carson, "Investigation of the Electromagnetic Properties of Electric Guitar Pickups", </a:t>
            </a:r>
            <a:r>
              <a:rPr lang="en-GB" sz="1400" i="1" dirty="0"/>
              <a:t>University of Illinois at Urbana-Champaign</a:t>
            </a:r>
            <a:r>
              <a:rPr lang="en-GB" sz="1400" dirty="0"/>
              <a:t>, Physics Senior Thesis, 2009.</a:t>
            </a:r>
          </a:p>
          <a:p>
            <a:endParaRPr lang="fr-FR" sz="1400" dirty="0"/>
          </a:p>
          <a:p>
            <a:r>
              <a:rPr lang="en-GB" sz="1400" b="1" dirty="0"/>
              <a:t>[6]</a:t>
            </a:r>
            <a:r>
              <a:rPr lang="en-GB" sz="1400" dirty="0"/>
              <a:t> A. Novak, B. </a:t>
            </a:r>
            <a:r>
              <a:rPr lang="en-GB" sz="1400" dirty="0" err="1"/>
              <a:t>Lihoreau</a:t>
            </a:r>
            <a:r>
              <a:rPr lang="en-GB" sz="1400" dirty="0"/>
              <a:t>, E. Brasseur, P. Lotton et L. Simon, "Guitar Pickup: Measurement of its Two-Dimensional Nonlinear Function", </a:t>
            </a:r>
            <a:r>
              <a:rPr lang="en-GB" sz="1400" i="1" dirty="0"/>
              <a:t>Journal of the Audio Engineering Society</a:t>
            </a:r>
            <a:r>
              <a:rPr lang="en-GB" sz="1400" dirty="0"/>
              <a:t>, vol. 68, no. 3, pp. 184-192, 2020.</a:t>
            </a:r>
          </a:p>
          <a:p>
            <a:endParaRPr lang="fr-FR" sz="1400" dirty="0"/>
          </a:p>
          <a:p>
            <a:r>
              <a:rPr lang="en-GB" sz="1400" b="1" dirty="0"/>
              <a:t>[7]</a:t>
            </a:r>
            <a:r>
              <a:rPr lang="en-GB" sz="1400" dirty="0"/>
              <a:t> R. </a:t>
            </a:r>
            <a:r>
              <a:rPr lang="en-GB" sz="1400" dirty="0" err="1"/>
              <a:t>Giampiccolo</a:t>
            </a:r>
            <a:r>
              <a:rPr lang="en-GB" sz="1400" dirty="0"/>
              <a:t>, A. Bernardini et A. Sarti, "Virtualization of Guitar Pickups Through Circuit Inversion", </a:t>
            </a:r>
            <a:r>
              <a:rPr lang="en-GB" sz="1400" i="1" dirty="0"/>
              <a:t>IEEE Signal Processing Letters</a:t>
            </a:r>
            <a:r>
              <a:rPr lang="en-GB" sz="1400" dirty="0"/>
              <a:t>, vol. 30, pp. 458-462, 2023.</a:t>
            </a:r>
            <a:endParaRPr lang="fr-FR" sz="1400" dirty="0"/>
          </a:p>
          <a:p>
            <a:endParaRPr lang="fr-FR" sz="1400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91F70DF-5274-3947-B274-A2EAF490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E6D5-1701-3BEE-B0A5-E256A3A6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9093611-3561-6AFC-8B29-235BE2B5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EE7CF6-6544-6E25-5056-82E21022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023A3-599A-FB7A-D703-1D211D7CCED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650CE6B-EA61-AA9D-5CD4-B098290A02B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E578E-E842-899B-459C-15B4BA0F22E9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2. Remerciements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99E44F-1F36-18D2-50B8-92E3C5465C7A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D91B2-998A-B850-BFB6-9B10EF3C3C36}"/>
              </a:ext>
            </a:extLst>
          </p:cNvPr>
          <p:cNvSpPr txBox="1"/>
          <p:nvPr/>
        </p:nvSpPr>
        <p:spPr>
          <a:xfrm>
            <a:off x="1744980" y="1390254"/>
            <a:ext cx="7072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Art Music Store</a:t>
            </a:r>
            <a:r>
              <a:rPr lang="fr-FR" sz="1600" dirty="0"/>
              <a:t>,</a:t>
            </a:r>
            <a:r>
              <a:rPr lang="fr-FR" sz="1600" b="1" dirty="0"/>
              <a:t> </a:t>
            </a:r>
            <a:r>
              <a:rPr lang="fr-FR" sz="1600" dirty="0"/>
              <a:t>3800, Grenoble, Place Victor Hugo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Menuiserie Paradis</a:t>
            </a:r>
            <a:r>
              <a:rPr lang="fr-FR" sz="1600" dirty="0"/>
              <a:t>, 38590, Brézins, Rue des Caillères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pic>
        <p:nvPicPr>
          <p:cNvPr id="2050" name="Picture 2" descr="Les Boutiques | Art Rock Music Store, Magasin de Musique à Crolles et à ...">
            <a:extLst>
              <a:ext uri="{FF2B5EF4-FFF2-40B4-BE49-F238E27FC236}">
                <a16:creationId xmlns:a16="http://schemas.microsoft.com/office/drawing/2014/main" id="{6B5FA1A0-A21F-2704-4B07-98DC048FD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" y="1344216"/>
            <a:ext cx="1239000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Menuiserie Jérôme Paradis | Brézins">
            <a:extLst>
              <a:ext uri="{FF2B5EF4-FFF2-40B4-BE49-F238E27FC236}">
                <a16:creationId xmlns:a16="http://schemas.microsoft.com/office/drawing/2014/main" id="{60E6E8E9-ADE0-B962-617A-584376023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5BC96-6601-01EF-A1A8-0CDE5F128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63" y="2750010"/>
            <a:ext cx="1346717" cy="1260000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D5FC0E5-64EB-8361-1BFF-E07DE317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190240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C47B-CF41-2900-27D1-46C22C90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2B99003-69ED-29F2-2154-EF399E28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630691B-0CB2-5EB8-C15E-7B7CC27F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31</a:t>
            </a:fld>
            <a:endParaRPr lang="fr-FR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329F9A-04DF-6D44-BE37-517D9275BA9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00D7958-9538-AA0F-07AD-58D3D9A6A30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09EDA-BBC9-C23C-F784-E5E302DC689C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3.1. Modèle Théorique : Notations</a:t>
            </a:r>
            <a:endParaRPr lang="fr-FR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88B616-4201-AC96-BA95-677E016CA99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0560B29-A1C4-46F9-1E1D-BC1F80949B6B}"/>
                  </a:ext>
                </a:extLst>
              </p:cNvPr>
              <p:cNvSpPr/>
              <p:nvPr/>
            </p:nvSpPr>
            <p:spPr>
              <a:xfrm>
                <a:off x="345439" y="1240558"/>
                <a:ext cx="8472118" cy="4896082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2" rtlCol="0" anchor="ctr"/>
              <a:lstStyle/>
              <a:p>
                <a:r>
                  <a:rPr lang="fr-FR" sz="1200" b="1" dirty="0"/>
                  <a:t>Paramètres des micros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F.E.M. induite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spires du micro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spires du micro Humbucker</a:t>
                </a:r>
                <a:endParaRPr lang="fr-FR" sz="12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Surface active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Gradient du champ magnétique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 du micro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Positions respectives des deux bobinages du </a:t>
                </a:r>
                <a:r>
                  <a:rPr lang="fr-FR" sz="1200" i="1" dirty="0"/>
                  <a:t>Humbucker</a:t>
                </a:r>
                <a:r>
                  <a:rPr lang="fr-FR" sz="1200" dirty="0"/>
                  <a:t>.</a:t>
                </a:r>
              </a:p>
              <a:p>
                <a:endParaRPr lang="fr-FR" sz="1200" b="1" dirty="0"/>
              </a:p>
              <a:p>
                <a:r>
                  <a:rPr lang="fr-FR" sz="1200" b="1" dirty="0"/>
                  <a:t>Modélisation de la corde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2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Longueur vibrante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fondamentale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initiale de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 de la source d’excitation </a:t>
                </a:r>
              </a:p>
              <a:p>
                <a:endParaRPr lang="fr-FR" sz="1200" dirty="0"/>
              </a:p>
              <a:p>
                <a:r>
                  <a:rPr lang="fr-FR" sz="1200" b="1" dirty="0"/>
                  <a:t>Analyse du signal et performance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de coupure du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de coupure du Humbucker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sz="1200" dirty="0"/>
                  <a:t>: Bande passante à -3dB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fr-FR" sz="1200" dirty="0"/>
                  <a:t>: Taux de rejection de Mode commun théorique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dirty="0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 dirty="0">
                            <a:latin typeface="Cambria Math" panose="02040503050406030204" pitchFamily="18" charset="0"/>
                          </a:rPr>
                          <m:t>𝑒𝑥𝑝</m:t>
                        </m:r>
                      </m:sub>
                    </m:sSub>
                  </m:oMath>
                </a14:m>
                <a:r>
                  <a:rPr lang="fr-FR" sz="1200" dirty="0"/>
                  <a:t>: Taux de rejection de Mode commun expérimental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fr-FR" sz="1200" dirty="0"/>
                  <a:t> : Ecart à la théorie</a:t>
                </a:r>
              </a:p>
              <a:p>
                <a:endParaRPr lang="fr-FR" sz="1200" dirty="0"/>
              </a:p>
              <a:p>
                <a:r>
                  <a:rPr lang="fr-FR" sz="1200" b="1" dirty="0"/>
                  <a:t>Dispositif expérimental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200" dirty="0"/>
                  <a:t>: Champ magnétique au centre du système de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 par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Rayon de chaque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Resistance et Inductance de chaque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du champ magnétique généré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du champ parasite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200" dirty="0"/>
                  <a:t>: Gradient du champ parasite</a:t>
                </a:r>
              </a:p>
              <a:p>
                <a:endParaRPr lang="fr-FR" sz="1200" b="1" dirty="0"/>
              </a:p>
              <a:p>
                <a:r>
                  <a:rPr lang="fr-FR" sz="1200" b="1" dirty="0"/>
                  <a:t>Constantes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: Perméabilité du vide</a:t>
                </a:r>
              </a:p>
              <a:p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2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0560B29-A1C4-46F9-1E1D-BC1F80949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1240558"/>
                <a:ext cx="8472118" cy="4896082"/>
              </a:xfrm>
              <a:prstGeom prst="rect">
                <a:avLst/>
              </a:prstGeom>
              <a:blipFill>
                <a:blip r:embed="rId2"/>
                <a:stretch>
                  <a:fillRect l="-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D22C1-5163-DFF3-B750-9677CA9F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3837036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10E9A24-B484-295A-C630-F6DE6A33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39197A-E1E0-DE57-ABEA-CF1EC736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32</a:t>
            </a:fld>
            <a:endParaRPr lang="fr-FR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89EBA-FB81-9346-F14B-289AA14F693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3.2. Modèle Théorique : Micro SingleCoil </a:t>
            </a:r>
            <a:r>
              <a:rPr lang="fr-FR" sz="1050" i="1" dirty="0"/>
              <a:t>cf. [3] </a:t>
            </a:r>
            <a:endParaRPr lang="fr-FR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279650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avec une force de pincement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279650"/>
              </a:xfrm>
              <a:prstGeom prst="rect">
                <a:avLst/>
              </a:prstGeom>
              <a:blipFill>
                <a:blip r:embed="rId2"/>
                <a:stretch>
                  <a:fillRect t="-115" r="-888" b="-157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284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En supposant que la variation de flux est principalement due au déplacement de la corde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On pose alors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r>
                  <a:rPr lang="fr-FR" sz="1200" dirty="0"/>
                  <a:t>  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sz="120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284588"/>
              </a:xfrm>
              <a:prstGeom prst="rect">
                <a:avLst/>
              </a:prstGeom>
              <a:blipFill>
                <a:blip r:embed="rId3"/>
                <a:stretch>
                  <a:fillRect t="-231" b="-7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A777B76-EF7C-8876-1D5D-D609496C95D8}"/>
              </a:ext>
            </a:extLst>
          </p:cNvPr>
          <p:cNvGrpSpPr/>
          <p:nvPr/>
        </p:nvGrpSpPr>
        <p:grpSpPr>
          <a:xfrm>
            <a:off x="3035508" y="2752725"/>
            <a:ext cx="1623736" cy="676275"/>
            <a:chOff x="3501390" y="2752725"/>
            <a:chExt cx="1157854" cy="67627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A38606B-02D3-FB4F-4E84-A06CC752B21A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7E64599-1C52-9F19-E75C-1C83054A9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98173CE4-32B0-FCB4-0133-B7F7F801D647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30515D-0CF5-C54C-6696-F26CC43280DD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241828B-5116-7216-6B5A-F400AF0BB812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1FB3372-8A72-8A3C-4185-141A249DDF65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0714" r="-3571" b="-2272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6C170-7191-7DC0-F875-65C4BD15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86607-AF33-333D-A48D-AA97A0210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6420539-7C82-3DC3-D605-71C74034FA1D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6D2CB-1A06-EE4B-DEFC-C26A1576D75F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279650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avec une force de pincement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6D2CB-1A06-EE4B-DEFC-C26A1576D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279650"/>
              </a:xfrm>
              <a:prstGeom prst="rect">
                <a:avLst/>
              </a:prstGeom>
              <a:blipFill>
                <a:blip r:embed="rId2"/>
                <a:stretch>
                  <a:fillRect t="-115" r="-888" b="-157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12D3D3-39DC-2244-F3FD-49F86491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6DDDF7F-2340-DA52-AD2C-73D63FC3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33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A031C7-F8C9-3D51-FCA5-4FB45D9F8B4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3C4E3F2-185F-33C0-706F-4AE175C9604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31495-1EB2-6E55-EC77-D35C50372978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3.3 Modèle Théorique : Micro Humbucker </a:t>
            </a:r>
            <a:r>
              <a:rPr lang="fr-FR" sz="1050" i="1" dirty="0"/>
              <a:t>cf. [3] </a:t>
            </a:r>
            <a:endParaRPr lang="fr-FR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F03F-A374-F037-922D-D02B8D7303BF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230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En supposant que la variation de flux est principalement due au déplacement de la corde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05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050" dirty="0">
                  <a:solidFill>
                    <a:schemeClr val="tx1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On pose alors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r>
                  <a:rPr lang="fr-FR" sz="1200" dirty="0"/>
                  <a:t>  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fr-FR" sz="120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F03F-A374-F037-922D-D02B8D730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230984"/>
              </a:xfrm>
              <a:prstGeom prst="rect">
                <a:avLst/>
              </a:prstGeom>
              <a:blipFill>
                <a:blip r:embed="rId3"/>
                <a:stretch>
                  <a:fillRect t="-233" b="-72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EE3699D-46D5-2B36-C196-9E11A94CA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EFADAD-C3A6-A8E3-9DC1-9398FA59CC54}"/>
              </a:ext>
            </a:extLst>
          </p:cNvPr>
          <p:cNvGrpSpPr/>
          <p:nvPr/>
        </p:nvGrpSpPr>
        <p:grpSpPr>
          <a:xfrm>
            <a:off x="3035508" y="2752725"/>
            <a:ext cx="1623736" cy="676275"/>
            <a:chOff x="3501390" y="2752725"/>
            <a:chExt cx="1157854" cy="67627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F3696E1-2746-792F-E1BE-E73591F4906A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B6D7A170-2D3D-68AD-F6C5-30ED8CE3B4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A5ACE84-5626-8115-C7EF-EDF0A9FC34EA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AB326F-B451-3291-F97D-2AF3285609EF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664590-68FE-ADBC-2FE3-CBDCBE8C5CA4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939978-C48D-DF75-B928-C37568D0A9D7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0714" r="-3571" b="-2272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8543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B5F2-B144-CF76-1F8C-26C914C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BB62E9F-C416-8E56-1CDE-C3F6958E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DC783EB-893F-C311-8294-9AEF8605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34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1EA3AD-E635-C8B5-91C8-B28A2A0C9F48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06A6A33-5483-E45A-C886-DB9DB0F3FCE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70956-3195-813A-9090-176A89DD32F0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3.4. Modèle Théorique : Action d’un champ parasite</a:t>
            </a:r>
            <a:endParaRPr lang="fr-FR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B61CD-D09F-44E9-C03D-924382A1A1A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4769191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400" b="1" u="sng" dirty="0"/>
                  <a:t>Modèle du champ parasite :</a:t>
                </a:r>
                <a:endParaRPr lang="fr-FR" sz="1400" dirty="0"/>
              </a:p>
              <a:p>
                <a:r>
                  <a:rPr lang="fr-FR" sz="1400" dirty="0"/>
                  <a:t>On étudie un champ parasite d’amplitude B0, de fréquence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400" dirty="0"/>
                  <a:t> et de gradient </a:t>
                </a:r>
                <a14:m>
                  <m:oMath xmlns:m="http://schemas.openxmlformats.org/officeDocument/2006/math"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400" dirty="0"/>
                  <a:t> régie par l’équation:</a:t>
                </a:r>
              </a:p>
              <a:p>
                <a:pPr algn="ctr"/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′, 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pPr algn="ctr"/>
                <a:endParaRPr lang="fr-FR" sz="1400" dirty="0"/>
              </a:p>
              <a:p>
                <a:r>
                  <a:rPr lang="fr-FR" sz="1400" dirty="0"/>
                  <a:t>Ainsi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′)2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La FEM induite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4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400" dirty="0"/>
                  <a:t> spire est régie par la </a:t>
                </a:r>
                <a:r>
                  <a:rPr lang="fr-FR" sz="1400" u="sng" dirty="0"/>
                  <a:t>Loi d’induction de Faraday</a:t>
                </a:r>
                <a:r>
                  <a:rPr lang="fr-FR" sz="14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b="1" u="sng" dirty="0"/>
                  <a:t>Pour un micro SingleCoil :</a:t>
                </a:r>
              </a:p>
              <a:p>
                <a:r>
                  <a:rPr lang="fr-FR" sz="1400" dirty="0"/>
                  <a:t>On génère alors une FEM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r>
                  <a:rPr lang="fr-FR" sz="1400" dirty="0"/>
                  <a:t>Ainsi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4769191"/>
              </a:xfrm>
              <a:prstGeom prst="rect">
                <a:avLst/>
              </a:prstGeom>
              <a:blipFill>
                <a:blip r:embed="rId3"/>
                <a:stretch>
                  <a:fillRect l="-444" t="-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4673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u="sng" dirty="0"/>
                  <a:t>Pour un micro Humbucker :</a:t>
                </a:r>
              </a:p>
              <a:p>
                <a:r>
                  <a:rPr lang="fr-FR" sz="14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Le micro est composé de deux bobine à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spire câblée en opposition de phase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+(−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  <m:f>
                            <m:f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C’est-à-dire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/>
              </a:p>
              <a:p>
                <a:r>
                  <a:rPr lang="fr-FR" sz="1400" dirty="0"/>
                  <a:t>NB 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On a une annulation totale du bruit si et seulement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4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400" dirty="0"/>
                  <a:t> proche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En pratique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 </m:t>
                    </m:r>
                  </m:oMath>
                </a14:m>
                <a:r>
                  <a:rPr lang="fr-FR" sz="1400" dirty="0"/>
                  <a:t>mètre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D’où l’efficacité du Humbucker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4673652"/>
              </a:xfrm>
              <a:prstGeom prst="rect">
                <a:avLst/>
              </a:prstGeom>
              <a:blipFill>
                <a:blip r:embed="rId4"/>
                <a:stretch>
                  <a:fillRect l="-444" t="-261" b="-1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7B6E3-8EE4-F64E-7E5A-C4237D3C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959520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87C1C-A9E7-26DD-5A78-3FADD678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8DA6C4D-4525-E18F-9555-CAEE2FF0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F3027C7-92F3-E063-932E-3B94F56C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35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D9A809-BAA5-C2C3-A094-88CF56D19A0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30EEE73-BB7D-C4D0-738A-79B41E9FA3C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C9C9A-6414-9E44-333A-AA367358FB3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4C63B-D2E6-7A26-7BC5-409FA36680C2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4.1. Dimensionnement de l’expérimentation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9E6B13-6A5D-2DAE-9C77-B81DD77F1C63}"/>
              </a:ext>
            </a:extLst>
          </p:cNvPr>
          <p:cNvSpPr txBox="1"/>
          <p:nvPr/>
        </p:nvSpPr>
        <p:spPr>
          <a:xfrm>
            <a:off x="345440" y="1315849"/>
            <a:ext cx="520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générer et contrôler un champ magnétique parasite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562C425-904A-2A3C-3B12-5EF4B04D2F2B}"/>
                  </a:ext>
                </a:extLst>
              </p:cNvPr>
              <p:cNvSpPr/>
              <p:nvPr/>
            </p:nvSpPr>
            <p:spPr>
              <a:xfrm>
                <a:off x="345439" y="2104641"/>
                <a:ext cx="5053497" cy="2203772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par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Inductance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Resistance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Rayon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Perméabilité du vide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500" dirty="0"/>
                  <a:t>: Champ magnétique au centre du système</a:t>
                </a: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562C425-904A-2A3C-3B12-5EF4B04D2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2104641"/>
                <a:ext cx="5053497" cy="2203772"/>
              </a:xfrm>
              <a:prstGeom prst="rect">
                <a:avLst/>
              </a:prstGeom>
              <a:blipFill>
                <a:blip r:embed="rId2"/>
                <a:stretch>
                  <a:fillRect l="-359" b="-1359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D5EE7BFD-22A9-C42D-D83F-4ED3539508EB}"/>
              </a:ext>
            </a:extLst>
          </p:cNvPr>
          <p:cNvSpPr txBox="1"/>
          <p:nvPr/>
        </p:nvSpPr>
        <p:spPr>
          <a:xfrm>
            <a:off x="345439" y="4696284"/>
            <a:ext cx="282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on obtient la relation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18BB12-3DFF-14DE-54E5-3D8FFFF54153}"/>
                  </a:ext>
                </a:extLst>
              </p:cNvPr>
              <p:cNvSpPr txBox="1"/>
              <p:nvPr/>
            </p:nvSpPr>
            <p:spPr>
              <a:xfrm>
                <a:off x="740591" y="5157523"/>
                <a:ext cx="4048096" cy="718338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box>
                        <m:box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)²</m:t>
                                  </m:r>
                                </m:e>
                              </m:rad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18BB12-3DFF-14DE-54E5-3D8FFFF54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91" y="5157523"/>
                <a:ext cx="4048096" cy="718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8E582-4EAC-8C67-F875-BE10AAAA0350}"/>
                  </a:ext>
                </a:extLst>
              </p:cNvPr>
              <p:cNvSpPr txBox="1"/>
              <p:nvPr/>
            </p:nvSpPr>
            <p:spPr>
              <a:xfrm>
                <a:off x="6172817" y="2855748"/>
                <a:ext cx="23873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8E582-4EAC-8C67-F875-BE10AAAA0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817" y="2855748"/>
                <a:ext cx="2387379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341FB-75B3-A274-F364-7E99C8B4857A}"/>
                  </a:ext>
                </a:extLst>
              </p:cNvPr>
              <p:cNvSpPr txBox="1"/>
              <p:nvPr/>
            </p:nvSpPr>
            <p:spPr>
              <a:xfrm>
                <a:off x="5910424" y="3885461"/>
                <a:ext cx="3069137" cy="688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fr-FR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fr-FR" sz="18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)²</m:t>
                                  </m:r>
                                </m:e>
                              </m:rad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341FB-75B3-A274-F364-7E99C8B48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424" y="3885461"/>
                <a:ext cx="3069137" cy="688137"/>
              </a:xfrm>
              <a:prstGeom prst="rect">
                <a:avLst/>
              </a:prstGeom>
              <a:blipFill>
                <a:blip r:embed="rId7"/>
                <a:stretch>
                  <a:fillRect r="-5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A20D67A-ABBB-0F42-5126-090B491D5C6A}"/>
              </a:ext>
            </a:extLst>
          </p:cNvPr>
          <p:cNvSpPr txBox="1"/>
          <p:nvPr/>
        </p:nvSpPr>
        <p:spPr>
          <a:xfrm>
            <a:off x="5956224" y="2455967"/>
            <a:ext cx="282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GBF délivre une tension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82485-A8DF-8912-5129-AE9F97A8E14E}"/>
              </a:ext>
            </a:extLst>
          </p:cNvPr>
          <p:cNvSpPr txBox="1"/>
          <p:nvPr/>
        </p:nvSpPr>
        <p:spPr>
          <a:xfrm>
            <a:off x="5956223" y="3269908"/>
            <a:ext cx="28205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l’intensité dans la bobine de Helmholtz</a:t>
            </a:r>
            <a:r>
              <a:rPr lang="fr-FR" dirty="0"/>
              <a:t> </a:t>
            </a:r>
            <a:r>
              <a:rPr lang="fr-FR" sz="1600" dirty="0"/>
              <a:t>est : </a:t>
            </a:r>
          </a:p>
        </p:txBody>
      </p:sp>
      <p:pic>
        <p:nvPicPr>
          <p:cNvPr id="14" name="Graphic 13" descr="Right pointing backhand index with solid fill">
            <a:extLst>
              <a:ext uri="{FF2B5EF4-FFF2-40B4-BE49-F238E27FC236}">
                <a16:creationId xmlns:a16="http://schemas.microsoft.com/office/drawing/2014/main" id="{D43490FA-7939-0BC0-E2E1-D0079CA8B2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4131" y="5317433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4851F-608A-0C07-0307-D6CD6D30E07E}"/>
                  </a:ext>
                </a:extLst>
              </p:cNvPr>
              <p:cNvSpPr txBox="1"/>
              <p:nvPr/>
            </p:nvSpPr>
            <p:spPr>
              <a:xfrm>
                <a:off x="5734131" y="5331062"/>
                <a:ext cx="32454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Ordre de Grandeur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4851F-608A-0C07-0307-D6CD6D30E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31" y="5331062"/>
                <a:ext cx="3245430" cy="338554"/>
              </a:xfrm>
              <a:prstGeom prst="rect">
                <a:avLst/>
              </a:prstGeom>
              <a:blipFill>
                <a:blip r:embed="rId10"/>
                <a:stretch>
                  <a:fillRect l="-1128" t="-5455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Bobine de Helmholtz sur socle : PAM067370">
            <a:extLst>
              <a:ext uri="{FF2B5EF4-FFF2-40B4-BE49-F238E27FC236}">
                <a16:creationId xmlns:a16="http://schemas.microsoft.com/office/drawing/2014/main" id="{451DB793-FC6C-87B9-4DF0-4142BD349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24" y="575668"/>
            <a:ext cx="2649772" cy="17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ADCD0-05A8-4491-060C-60273600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822869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108C-A3BE-9F30-5F6D-AE6C160E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AE4AA4-C3C7-2E15-4FE6-655BAA3E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EF6E153-E804-1E6D-AC1A-DA165A12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36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8B654-1B83-0BB3-377A-8226457F88A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06A84A3-244C-E4E5-16D2-E0D81E52023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9AD8E1-E315-A065-149E-7D95BAB5C66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8F16D-9EEC-BD13-9BA6-4441C8EDBF7E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4.2. Filtrage des données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FF123-A369-3024-2D63-5BC511850FC0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passer de données bruitées non exploitables a des données exploitables?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60F269-E440-1BF8-F93A-BDF8772DA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4411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par Moyenne Mobile </a:t>
                </a:r>
                <a:r>
                  <a:rPr lang="fr-FR" sz="1400" dirty="0">
                    <a:sym typeface="Wingdings" panose="05000000000000000000" pitchFamily="2" charset="2"/>
                  </a:rPr>
                  <a:t>Chaque point est la moyenne des 50 précédents et 50 suivants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Temps de calcul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Risque de ‘’raboter’’ les pics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Aucun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numérique passe-bas</a:t>
                </a:r>
              </a:p>
              <a:p>
                <a:r>
                  <a:rPr lang="fr-FR" sz="1400" b="0" dirty="0">
                    <a:sym typeface="Wingdings" panose="05000000000000000000" pitchFamily="2" charset="2"/>
                  </a:rPr>
                  <a:t>Méthode d’Euler 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H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p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 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 + </m:t>
                          </m:r>
                          <m:r>
                            <m:rPr>
                              <m:sty m:val="p"/>
                            </m:r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τp</m:t>
                          </m:r>
                        </m:den>
                      </m:f>
                    </m:oMath>
                  </m:oMathPara>
                </a14:m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Temps de calcul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Preserve l’allure globale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Introduit 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4411336"/>
              </a:xfrm>
              <a:prstGeom prst="rect">
                <a:avLst/>
              </a:prstGeom>
              <a:blipFill>
                <a:blip r:embed="rId3"/>
                <a:stretch>
                  <a:fillRect l="-633" t="-2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9AED8-D051-72A1-0FAB-7881F8AC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800294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2C5B-8D73-CCE6-C1F4-7842FE0B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AF5A9F0-2A4C-02C4-E2F8-B040A3F3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534992-DB8E-40A8-C706-E82CEB30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37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27665-A735-5AEC-9DB4-494F608942E6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7D9F10B-2163-F771-FC03-D7518738EB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F3FB8-1FB5-8F1E-C164-C844ECA3D0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B39E1-B87E-8759-1895-1DEFEB3BB07E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4.3. Algorithme de Levenberg-Marquardt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58F603-827C-9F7F-25B9-66795A26B2C3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déterminer les valeurs des caractéristiques électriques des micros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/>
              <p:nvPr/>
            </p:nvSpPr>
            <p:spPr>
              <a:xfrm>
                <a:off x="4572000" y="1564631"/>
                <a:ext cx="4264554" cy="4428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Principe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Variante de l’algorithme des moindres carrés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b="1" u="sng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Combine 2 méthodes :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Descente de gradient</a:t>
                </a:r>
                <a:r>
                  <a:rPr lang="fr-FR" altLang="fr-FR" sz="1400" dirty="0"/>
                  <a:t> : Utilisée loin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Stabilité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Méthode de Gauss-Newton</a:t>
                </a:r>
                <a:r>
                  <a:rPr lang="fr-FR" altLang="fr-FR" sz="1400" dirty="0"/>
                  <a:t> : Utilisée proche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rapidité</a:t>
                </a: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Fonctionnement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b="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1" i="1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fr-FR" altLang="fr-FR" sz="1400" dirty="0"/>
                  <a:t> : Matrice Jacobienne 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fr-FR" altLang="fr-FR" sz="1400" dirty="0"/>
                  <a:t> : Vecteur résidus : image de l’erreur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fr-FR" altLang="fr-FR" sz="1400" dirty="0"/>
                  <a:t> : Taux d’apprentissage variable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↘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Gauss Newton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↗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Descente de Gradient 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564631"/>
                <a:ext cx="4264554" cy="4428905"/>
              </a:xfrm>
              <a:prstGeom prst="rect">
                <a:avLst/>
              </a:prstGeom>
              <a:blipFill>
                <a:blip r:embed="rId2"/>
                <a:stretch>
                  <a:fillRect l="-429" t="-2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89229-D649-26C3-F99E-5A1F94B1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0C246C-3384-6CE8-D081-A3B270E39908}"/>
              </a:ext>
            </a:extLst>
          </p:cNvPr>
          <p:cNvGrpSpPr/>
          <p:nvPr/>
        </p:nvGrpSpPr>
        <p:grpSpPr>
          <a:xfrm>
            <a:off x="345440" y="1587720"/>
            <a:ext cx="3617103" cy="4428906"/>
            <a:chOff x="345440" y="1587720"/>
            <a:chExt cx="3617103" cy="44289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C7B3D5-E778-E53F-4C95-9EB24A7DB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440" y="1587720"/>
              <a:ext cx="3617103" cy="442890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/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400" b="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0.01</m:t>
                        </m:r>
                      </m:oMath>
                    </m:oMathPara>
                  </a14:m>
                  <a:endParaRPr lang="fr-FR" sz="400" b="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-7</m:t>
                            </m:r>
                          </m:sup>
                        </m:sSup>
                      </m:oMath>
                    </m:oMathPara>
                  </a14:m>
                  <a:endParaRPr lang="fr-FR" sz="4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blipFill>
                  <a:blip r:embed="rId4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/>
                <p:nvPr/>
              </p:nvSpPr>
              <p:spPr>
                <a:xfrm>
                  <a:off x="1655445" y="3320037"/>
                  <a:ext cx="1021719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400" dirty="0"/>
                    <a:t>Calcul de la descente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400" b="0" i="1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a14:m>
                  <a:endParaRPr lang="fr-FR" sz="4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5" y="3320037"/>
                  <a:ext cx="1021719" cy="61555"/>
                </a:xfrm>
                <a:prstGeom prst="rect">
                  <a:avLst/>
                </a:prstGeom>
                <a:blipFill>
                  <a:blip r:embed="rId5"/>
                  <a:stretch>
                    <a:fillRect t="-30000" b="-5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/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fr-FR" sz="400" dirty="0"/>
                    <a:t>Calcul du nouveau coût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</m:oMath>
                  </a14:m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/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blipFill>
                  <a:blip r:embed="rId7"/>
                  <a:stretch>
                    <a:fillRect b="-3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/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fr-FR" sz="4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blipFill>
                  <a:blip r:embed="rId8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/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/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i="1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ϵ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13253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032B-5CBA-D58B-6BE3-2ED288DB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8EB8047-B6FD-C262-D749-BA281272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73D2A4C-27D1-DFAF-6C8D-8C59AA46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38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212FC-BA55-7339-B303-E92B692503D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D7F8ED1-3EF2-8A6F-4CB4-0CF972E8B4D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3105C7-994D-34E1-D1CE-ED0E36ED91C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7367D-863A-93E2-06BC-B67FD2AE2D27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4.3. Algorithme de Levenberg-Marquardt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9C9AA1-328D-AAD8-510E-EFF1E2B2A387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déterminer les valeurs des caractéristiques électriques des micros 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023245-9CE3-A4CE-BCE1-4AF643DD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des résidus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2, 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wn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du coût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i="1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Avec :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</a:rPr>
                      <m:t>J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den>
                              </m:f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</m:mr>
                        </m:m>
                        <m:eqArr>
                          <m:eqArr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1)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2)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...</m:t>
                            </m:r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ωn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fr-FR" altLang="fr-FR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blipFill>
                <a:blip r:embed="rId3"/>
                <a:stretch>
                  <a:fillRect l="-633" t="-270" r="-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58A68-4175-1FE0-DFCA-73363B0F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35581720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1AB9-AA17-A289-4177-5B57B838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8461287-D707-9296-0912-13EC57D9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1BD5E36-8BC4-63CE-35F9-3C9F06D3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39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C0AA14-238A-42B0-5558-9D209D649823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0EEE6E3-6825-09CC-8862-418DD007C63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990FB-38EB-5B30-B3B4-746837CB7A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DE8E9-33F3-561B-57C9-2E08CDBD205D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5.1. Micro non fonctionnel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EF09A-3743-0F99-88E7-941B18BE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E53AF-2DFC-2830-AB17-39F8A9CFCD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" t="21864" r="1" b="35960"/>
          <a:stretch>
            <a:fillRect/>
          </a:stretch>
        </p:blipFill>
        <p:spPr>
          <a:xfrm>
            <a:off x="345440" y="1220122"/>
            <a:ext cx="8626173" cy="485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80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F1A6-7284-DDB9-89E2-31D242A1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1A8F8BC-5457-F637-253E-501D5B3F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56C9157-C10C-5A98-91D7-0B32B393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40</a:t>
            </a:fld>
            <a:endParaRPr lang="fr-FR" sz="1200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B1AA4D-0FA6-958F-1D84-C6A43A086028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AD740C7-6183-2A85-C9EE-E8A2AE58902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0915BC-9847-71E7-29FD-55679B3E5BA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12408-1335-7F77-5E5C-005F476AC790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5.2. Signal non exploitable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A4084-0161-71FA-C96F-CB2E64B2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59B488-EBE7-4249-E492-60486C906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45439" y="1390254"/>
            <a:ext cx="8472117" cy="47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834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4190</Words>
  <Application>Microsoft Office PowerPoint</Application>
  <PresentationFormat>On-screen Show (4:3)</PresentationFormat>
  <Paragraphs>866</Paragraphs>
  <Slides>40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Arial Black</vt:lpstr>
      <vt:lpstr>Calibri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650</cp:revision>
  <dcterms:created xsi:type="dcterms:W3CDTF">2025-06-09T15:35:56Z</dcterms:created>
  <dcterms:modified xsi:type="dcterms:W3CDTF">2026-02-02T21:25:51Z</dcterms:modified>
</cp:coreProperties>
</file>