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78" r:id="rId4"/>
    <p:sldId id="265" r:id="rId5"/>
    <p:sldId id="280" r:id="rId6"/>
    <p:sldId id="281" r:id="rId7"/>
    <p:sldId id="283" r:id="rId8"/>
    <p:sldId id="284" r:id="rId9"/>
    <p:sldId id="279" r:id="rId10"/>
    <p:sldId id="271" r:id="rId11"/>
    <p:sldId id="272" r:id="rId12"/>
    <p:sldId id="277" r:id="rId13"/>
    <p:sldId id="287" r:id="rId14"/>
    <p:sldId id="275" r:id="rId15"/>
    <p:sldId id="286" r:id="rId16"/>
    <p:sldId id="285" r:id="rId17"/>
    <p:sldId id="282" r:id="rId18"/>
    <p:sldId id="266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2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146B5B-27FC-4E92-A7E9-B2BA5E180101}" type="doc">
      <dgm:prSet loTypeId="urn:microsoft.com/office/officeart/2005/8/layout/hProcess11" loCatId="process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1740D2F9-678E-44B8-AE25-24CF18DBBA55}">
      <dgm:prSet custT="1"/>
      <dgm:spPr/>
      <dgm:t>
        <a:bodyPr/>
        <a:lstStyle/>
        <a:p>
          <a:r>
            <a:rPr lang="fr-FR" sz="1200" b="1" dirty="0"/>
            <a:t>1931</a:t>
          </a:r>
          <a:r>
            <a:rPr lang="fr-FR" sz="1200" dirty="0"/>
            <a:t>: </a:t>
          </a:r>
        </a:p>
        <a:p>
          <a:r>
            <a:rPr lang="fr-FR" sz="1200" dirty="0" err="1"/>
            <a:t>Rickenbacker</a:t>
          </a:r>
          <a:endParaRPr lang="fr-FR" sz="1200" dirty="0"/>
        </a:p>
      </dgm:t>
    </dgm:pt>
    <dgm:pt modelId="{71CD5373-9C1D-43F1-A920-FC1C5A544639}" type="parTrans" cxnId="{5C64BF8E-5E68-4736-BF4E-182CB0BF3723}">
      <dgm:prSet/>
      <dgm:spPr/>
      <dgm:t>
        <a:bodyPr/>
        <a:lstStyle/>
        <a:p>
          <a:endParaRPr lang="fr-FR"/>
        </a:p>
      </dgm:t>
    </dgm:pt>
    <dgm:pt modelId="{B0595235-3F4C-4F97-B2E0-9D4715B9E9C4}" type="sibTrans" cxnId="{5C64BF8E-5E68-4736-BF4E-182CB0BF3723}">
      <dgm:prSet/>
      <dgm:spPr/>
      <dgm:t>
        <a:bodyPr/>
        <a:lstStyle/>
        <a:p>
          <a:endParaRPr lang="fr-FR"/>
        </a:p>
      </dgm:t>
    </dgm:pt>
    <dgm:pt modelId="{EA0EAC3E-4BB0-47E8-B6E6-D9AE2CB66F31}">
      <dgm:prSet custT="1"/>
      <dgm:spPr/>
      <dgm:t>
        <a:bodyPr/>
        <a:lstStyle/>
        <a:p>
          <a:r>
            <a:rPr lang="fr-FR" sz="1200" b="1" dirty="0"/>
            <a:t>1950</a:t>
          </a:r>
          <a:r>
            <a:rPr lang="fr-FR" sz="1200" dirty="0"/>
            <a:t> : </a:t>
          </a:r>
        </a:p>
        <a:p>
          <a:r>
            <a:rPr lang="fr-FR" sz="1200" b="1" dirty="0"/>
            <a:t>Micro simple bobinage</a:t>
          </a:r>
        </a:p>
      </dgm:t>
    </dgm:pt>
    <dgm:pt modelId="{EDB1ECC7-21EE-47A5-876B-02163F33EC72}" type="parTrans" cxnId="{31986500-64CD-4FA4-9C87-EFEAA43A873E}">
      <dgm:prSet/>
      <dgm:spPr/>
      <dgm:t>
        <a:bodyPr/>
        <a:lstStyle/>
        <a:p>
          <a:endParaRPr lang="fr-FR"/>
        </a:p>
      </dgm:t>
    </dgm:pt>
    <dgm:pt modelId="{69851E5B-8612-4E7F-9AE6-732A2EB9E348}" type="sibTrans" cxnId="{31986500-64CD-4FA4-9C87-EFEAA43A873E}">
      <dgm:prSet/>
      <dgm:spPr/>
      <dgm:t>
        <a:bodyPr/>
        <a:lstStyle/>
        <a:p>
          <a:endParaRPr lang="fr-FR"/>
        </a:p>
      </dgm:t>
    </dgm:pt>
    <dgm:pt modelId="{40F498D0-4DB8-4CBD-AEBC-BF065F6703E9}">
      <dgm:prSet custT="1"/>
      <dgm:spPr/>
      <dgm:t>
        <a:bodyPr/>
        <a:lstStyle/>
        <a:p>
          <a:r>
            <a:rPr lang="fr-FR" sz="1200" b="1" dirty="0"/>
            <a:t>1955</a:t>
          </a:r>
          <a:r>
            <a:rPr lang="fr-FR" sz="1200" dirty="0"/>
            <a:t> : </a:t>
          </a:r>
          <a:r>
            <a:rPr lang="fr-FR" sz="1200" b="1" dirty="0" err="1"/>
            <a:t>Humbucker</a:t>
          </a:r>
          <a:endParaRPr lang="fr-FR" sz="1200" b="1" dirty="0"/>
        </a:p>
      </dgm:t>
    </dgm:pt>
    <dgm:pt modelId="{DD57AAD6-DF6D-4276-99BA-F789F1541F81}" type="parTrans" cxnId="{1473F517-AA2F-483F-89BB-6A980BB807A2}">
      <dgm:prSet/>
      <dgm:spPr/>
      <dgm:t>
        <a:bodyPr/>
        <a:lstStyle/>
        <a:p>
          <a:endParaRPr lang="fr-FR"/>
        </a:p>
      </dgm:t>
    </dgm:pt>
    <dgm:pt modelId="{D5779445-452C-4755-8B9E-CD0B5FDFEEA4}" type="sibTrans" cxnId="{1473F517-AA2F-483F-89BB-6A980BB807A2}">
      <dgm:prSet/>
      <dgm:spPr/>
      <dgm:t>
        <a:bodyPr/>
        <a:lstStyle/>
        <a:p>
          <a:endParaRPr lang="fr-FR"/>
        </a:p>
      </dgm:t>
    </dgm:pt>
    <dgm:pt modelId="{11F70490-FDCB-4296-BD03-F126680F92F5}">
      <dgm:prSet custT="1"/>
      <dgm:spPr/>
      <dgm:t>
        <a:bodyPr/>
        <a:lstStyle/>
        <a:p>
          <a:r>
            <a:rPr lang="fr-FR" sz="1200" b="1" dirty="0"/>
            <a:t>1970</a:t>
          </a:r>
          <a:r>
            <a:rPr lang="fr-FR" sz="1200" dirty="0"/>
            <a:t> : Micro Actifs</a:t>
          </a:r>
        </a:p>
      </dgm:t>
    </dgm:pt>
    <dgm:pt modelId="{A1114C04-2403-4F4B-AE04-0339E2308374}" type="parTrans" cxnId="{BAB677CF-EB56-475B-888A-1B024C48D34E}">
      <dgm:prSet/>
      <dgm:spPr/>
      <dgm:t>
        <a:bodyPr/>
        <a:lstStyle/>
        <a:p>
          <a:endParaRPr lang="fr-FR"/>
        </a:p>
      </dgm:t>
    </dgm:pt>
    <dgm:pt modelId="{7E84F8C0-57A3-4160-A2DF-EF9DACA9E859}" type="sibTrans" cxnId="{BAB677CF-EB56-475B-888A-1B024C48D34E}">
      <dgm:prSet/>
      <dgm:spPr/>
      <dgm:t>
        <a:bodyPr/>
        <a:lstStyle/>
        <a:p>
          <a:endParaRPr lang="fr-FR"/>
        </a:p>
      </dgm:t>
    </dgm:pt>
    <dgm:pt modelId="{B5B088C7-773A-4F0C-A51F-BB779C5F7020}">
      <dgm:prSet custT="1"/>
      <dgm:spPr/>
      <dgm:t>
        <a:bodyPr/>
        <a:lstStyle/>
        <a:p>
          <a:r>
            <a:rPr lang="fr-FR" sz="1200" b="1" dirty="0"/>
            <a:t>2000</a:t>
          </a:r>
          <a:r>
            <a:rPr lang="fr-FR" sz="1200" dirty="0"/>
            <a:t> : Micro numérique</a:t>
          </a:r>
        </a:p>
      </dgm:t>
    </dgm:pt>
    <dgm:pt modelId="{04F6818D-87CB-4446-9C15-780BA3EF4116}" type="parTrans" cxnId="{9967ECAF-1F2B-4925-AFFF-568BDD48A21D}">
      <dgm:prSet/>
      <dgm:spPr/>
      <dgm:t>
        <a:bodyPr/>
        <a:lstStyle/>
        <a:p>
          <a:endParaRPr lang="fr-FR"/>
        </a:p>
      </dgm:t>
    </dgm:pt>
    <dgm:pt modelId="{94362981-A040-486A-9551-7A40AB4CDADD}" type="sibTrans" cxnId="{9967ECAF-1F2B-4925-AFFF-568BDD48A21D}">
      <dgm:prSet/>
      <dgm:spPr/>
      <dgm:t>
        <a:bodyPr/>
        <a:lstStyle/>
        <a:p>
          <a:endParaRPr lang="fr-FR"/>
        </a:p>
      </dgm:t>
    </dgm:pt>
    <dgm:pt modelId="{9B7B5DDF-1D0A-4DFA-8E23-816D420C59A2}" type="pres">
      <dgm:prSet presAssocID="{18146B5B-27FC-4E92-A7E9-B2BA5E180101}" presName="Name0" presStyleCnt="0">
        <dgm:presLayoutVars>
          <dgm:dir/>
          <dgm:resizeHandles val="exact"/>
        </dgm:presLayoutVars>
      </dgm:prSet>
      <dgm:spPr/>
    </dgm:pt>
    <dgm:pt modelId="{9B5B5819-67A6-4D14-A3CB-2E0323D7CD61}" type="pres">
      <dgm:prSet presAssocID="{18146B5B-27FC-4E92-A7E9-B2BA5E180101}" presName="arrow" presStyleLbl="bgShp" presStyleIdx="0" presStyleCnt="1"/>
      <dgm:spPr/>
    </dgm:pt>
    <dgm:pt modelId="{26C345E0-3BAF-4470-9580-311F9B64076C}" type="pres">
      <dgm:prSet presAssocID="{18146B5B-27FC-4E92-A7E9-B2BA5E180101}" presName="points" presStyleCnt="0"/>
      <dgm:spPr/>
    </dgm:pt>
    <dgm:pt modelId="{6020D687-7D80-4A7C-9F0E-67B100465DE2}" type="pres">
      <dgm:prSet presAssocID="{1740D2F9-678E-44B8-AE25-24CF18DBBA55}" presName="compositeA" presStyleCnt="0"/>
      <dgm:spPr/>
    </dgm:pt>
    <dgm:pt modelId="{4F4419F5-D0A2-4FAA-B36B-C2AD0FB6A05D}" type="pres">
      <dgm:prSet presAssocID="{1740D2F9-678E-44B8-AE25-24CF18DBBA55}" presName="textA" presStyleLbl="revTx" presStyleIdx="0" presStyleCnt="5">
        <dgm:presLayoutVars>
          <dgm:bulletEnabled val="1"/>
        </dgm:presLayoutVars>
      </dgm:prSet>
      <dgm:spPr/>
    </dgm:pt>
    <dgm:pt modelId="{098DA2F0-3C23-48B5-A511-90FCB31A97B9}" type="pres">
      <dgm:prSet presAssocID="{1740D2F9-678E-44B8-AE25-24CF18DBBA55}" presName="circleA" presStyleLbl="node1" presStyleIdx="0" presStyleCnt="5"/>
      <dgm:spPr/>
    </dgm:pt>
    <dgm:pt modelId="{D1B07441-543E-4E48-B14D-E2B5110D21F8}" type="pres">
      <dgm:prSet presAssocID="{1740D2F9-678E-44B8-AE25-24CF18DBBA55}" presName="spaceA" presStyleCnt="0"/>
      <dgm:spPr/>
    </dgm:pt>
    <dgm:pt modelId="{6FC0ECD6-FEF7-4F94-852E-D1A2E5CEC073}" type="pres">
      <dgm:prSet presAssocID="{B0595235-3F4C-4F97-B2E0-9D4715B9E9C4}" presName="space" presStyleCnt="0"/>
      <dgm:spPr/>
    </dgm:pt>
    <dgm:pt modelId="{0F23A0C8-2A93-4311-AAD8-E90CB516A9E3}" type="pres">
      <dgm:prSet presAssocID="{EA0EAC3E-4BB0-47E8-B6E6-D9AE2CB66F31}" presName="compositeB" presStyleCnt="0"/>
      <dgm:spPr/>
    </dgm:pt>
    <dgm:pt modelId="{7F12F2DC-F5CF-450E-B4BA-4871C2EE2843}" type="pres">
      <dgm:prSet presAssocID="{EA0EAC3E-4BB0-47E8-B6E6-D9AE2CB66F31}" presName="textB" presStyleLbl="revTx" presStyleIdx="1" presStyleCnt="5">
        <dgm:presLayoutVars>
          <dgm:bulletEnabled val="1"/>
        </dgm:presLayoutVars>
      </dgm:prSet>
      <dgm:spPr/>
    </dgm:pt>
    <dgm:pt modelId="{0B0DFF14-9FE7-4AAB-BB1E-F3DAC6818702}" type="pres">
      <dgm:prSet presAssocID="{EA0EAC3E-4BB0-47E8-B6E6-D9AE2CB66F31}" presName="circleB" presStyleLbl="node1" presStyleIdx="1" presStyleCnt="5"/>
      <dgm:spPr/>
    </dgm:pt>
    <dgm:pt modelId="{EEA45B75-76CC-472F-9CCE-CAF568FFE3C5}" type="pres">
      <dgm:prSet presAssocID="{EA0EAC3E-4BB0-47E8-B6E6-D9AE2CB66F31}" presName="spaceB" presStyleCnt="0"/>
      <dgm:spPr/>
    </dgm:pt>
    <dgm:pt modelId="{1FAAEA00-FC54-4E92-B24C-4154C31A4701}" type="pres">
      <dgm:prSet presAssocID="{69851E5B-8612-4E7F-9AE6-732A2EB9E348}" presName="space" presStyleCnt="0"/>
      <dgm:spPr/>
    </dgm:pt>
    <dgm:pt modelId="{4069843E-D611-4A1C-AB3A-6E94EBD37D8E}" type="pres">
      <dgm:prSet presAssocID="{40F498D0-4DB8-4CBD-AEBC-BF065F6703E9}" presName="compositeA" presStyleCnt="0"/>
      <dgm:spPr/>
    </dgm:pt>
    <dgm:pt modelId="{3712BF27-ED62-451E-BA1F-D9C8BD17217C}" type="pres">
      <dgm:prSet presAssocID="{40F498D0-4DB8-4CBD-AEBC-BF065F6703E9}" presName="textA" presStyleLbl="revTx" presStyleIdx="2" presStyleCnt="5">
        <dgm:presLayoutVars>
          <dgm:bulletEnabled val="1"/>
        </dgm:presLayoutVars>
      </dgm:prSet>
      <dgm:spPr/>
    </dgm:pt>
    <dgm:pt modelId="{4EE35D07-07D8-482E-B9DF-01305C082DEE}" type="pres">
      <dgm:prSet presAssocID="{40F498D0-4DB8-4CBD-AEBC-BF065F6703E9}" presName="circleA" presStyleLbl="node1" presStyleIdx="2" presStyleCnt="5"/>
      <dgm:spPr/>
    </dgm:pt>
    <dgm:pt modelId="{26CD849F-E4E9-4459-B47B-8CDEEE221E4F}" type="pres">
      <dgm:prSet presAssocID="{40F498D0-4DB8-4CBD-AEBC-BF065F6703E9}" presName="spaceA" presStyleCnt="0"/>
      <dgm:spPr/>
    </dgm:pt>
    <dgm:pt modelId="{E7E607B6-DB41-49DC-B914-4BE9CCF5005B}" type="pres">
      <dgm:prSet presAssocID="{D5779445-452C-4755-8B9E-CD0B5FDFEEA4}" presName="space" presStyleCnt="0"/>
      <dgm:spPr/>
    </dgm:pt>
    <dgm:pt modelId="{5CEEAD0F-5968-4E3E-A462-E5A0DD758831}" type="pres">
      <dgm:prSet presAssocID="{11F70490-FDCB-4296-BD03-F126680F92F5}" presName="compositeB" presStyleCnt="0"/>
      <dgm:spPr/>
    </dgm:pt>
    <dgm:pt modelId="{E9CEB07F-8B8C-4D24-BEE7-3AA4E358C283}" type="pres">
      <dgm:prSet presAssocID="{11F70490-FDCB-4296-BD03-F126680F92F5}" presName="textB" presStyleLbl="revTx" presStyleIdx="3" presStyleCnt="5">
        <dgm:presLayoutVars>
          <dgm:bulletEnabled val="1"/>
        </dgm:presLayoutVars>
      </dgm:prSet>
      <dgm:spPr/>
    </dgm:pt>
    <dgm:pt modelId="{C4BADD68-C0ED-4845-877D-663C4B301E13}" type="pres">
      <dgm:prSet presAssocID="{11F70490-FDCB-4296-BD03-F126680F92F5}" presName="circleB" presStyleLbl="node1" presStyleIdx="3" presStyleCnt="5"/>
      <dgm:spPr/>
    </dgm:pt>
    <dgm:pt modelId="{38345F0A-BCE4-4989-8C7B-E8ED3B36EF35}" type="pres">
      <dgm:prSet presAssocID="{11F70490-FDCB-4296-BD03-F126680F92F5}" presName="spaceB" presStyleCnt="0"/>
      <dgm:spPr/>
    </dgm:pt>
    <dgm:pt modelId="{FD433746-402C-4313-B761-D92BD3EC5B41}" type="pres">
      <dgm:prSet presAssocID="{7E84F8C0-57A3-4160-A2DF-EF9DACA9E859}" presName="space" presStyleCnt="0"/>
      <dgm:spPr/>
    </dgm:pt>
    <dgm:pt modelId="{5EDEBAE9-C65A-4C58-B06B-3E40FAC7C89A}" type="pres">
      <dgm:prSet presAssocID="{B5B088C7-773A-4F0C-A51F-BB779C5F7020}" presName="compositeA" presStyleCnt="0"/>
      <dgm:spPr/>
    </dgm:pt>
    <dgm:pt modelId="{D75D1DB6-9055-47D4-AF85-C552A3FD7E43}" type="pres">
      <dgm:prSet presAssocID="{B5B088C7-773A-4F0C-A51F-BB779C5F7020}" presName="textA" presStyleLbl="revTx" presStyleIdx="4" presStyleCnt="5">
        <dgm:presLayoutVars>
          <dgm:bulletEnabled val="1"/>
        </dgm:presLayoutVars>
      </dgm:prSet>
      <dgm:spPr/>
    </dgm:pt>
    <dgm:pt modelId="{A306CFD3-EFE6-4761-A915-C5C9BD605920}" type="pres">
      <dgm:prSet presAssocID="{B5B088C7-773A-4F0C-A51F-BB779C5F7020}" presName="circleA" presStyleLbl="node1" presStyleIdx="4" presStyleCnt="5"/>
      <dgm:spPr/>
    </dgm:pt>
    <dgm:pt modelId="{5D409099-B442-4ABE-A43D-4B317962AD38}" type="pres">
      <dgm:prSet presAssocID="{B5B088C7-773A-4F0C-A51F-BB779C5F7020}" presName="spaceA" presStyleCnt="0"/>
      <dgm:spPr/>
    </dgm:pt>
  </dgm:ptLst>
  <dgm:cxnLst>
    <dgm:cxn modelId="{31986500-64CD-4FA4-9C87-EFEAA43A873E}" srcId="{18146B5B-27FC-4E92-A7E9-B2BA5E180101}" destId="{EA0EAC3E-4BB0-47E8-B6E6-D9AE2CB66F31}" srcOrd="1" destOrd="0" parTransId="{EDB1ECC7-21EE-47A5-876B-02163F33EC72}" sibTransId="{69851E5B-8612-4E7F-9AE6-732A2EB9E348}"/>
    <dgm:cxn modelId="{1473F517-AA2F-483F-89BB-6A980BB807A2}" srcId="{18146B5B-27FC-4E92-A7E9-B2BA5E180101}" destId="{40F498D0-4DB8-4CBD-AEBC-BF065F6703E9}" srcOrd="2" destOrd="0" parTransId="{DD57AAD6-DF6D-4276-99BA-F789F1541F81}" sibTransId="{D5779445-452C-4755-8B9E-CD0B5FDFEEA4}"/>
    <dgm:cxn modelId="{79CBC952-8B29-4957-BD55-5FFD8439AAC4}" type="presOf" srcId="{40F498D0-4DB8-4CBD-AEBC-BF065F6703E9}" destId="{3712BF27-ED62-451E-BA1F-D9C8BD17217C}" srcOrd="0" destOrd="0" presId="urn:microsoft.com/office/officeart/2005/8/layout/hProcess11"/>
    <dgm:cxn modelId="{5C64BF8E-5E68-4736-BF4E-182CB0BF3723}" srcId="{18146B5B-27FC-4E92-A7E9-B2BA5E180101}" destId="{1740D2F9-678E-44B8-AE25-24CF18DBBA55}" srcOrd="0" destOrd="0" parTransId="{71CD5373-9C1D-43F1-A920-FC1C5A544639}" sibTransId="{B0595235-3F4C-4F97-B2E0-9D4715B9E9C4}"/>
    <dgm:cxn modelId="{B50CA5AA-AFD3-4237-9E0D-DCDDBCE11638}" type="presOf" srcId="{1740D2F9-678E-44B8-AE25-24CF18DBBA55}" destId="{4F4419F5-D0A2-4FAA-B36B-C2AD0FB6A05D}" srcOrd="0" destOrd="0" presId="urn:microsoft.com/office/officeart/2005/8/layout/hProcess11"/>
    <dgm:cxn modelId="{9967ECAF-1F2B-4925-AFFF-568BDD48A21D}" srcId="{18146B5B-27FC-4E92-A7E9-B2BA5E180101}" destId="{B5B088C7-773A-4F0C-A51F-BB779C5F7020}" srcOrd="4" destOrd="0" parTransId="{04F6818D-87CB-4446-9C15-780BA3EF4116}" sibTransId="{94362981-A040-486A-9551-7A40AB4CDADD}"/>
    <dgm:cxn modelId="{AA6268CE-BEA8-4EE7-B6E1-0BD1F77E67CD}" type="presOf" srcId="{18146B5B-27FC-4E92-A7E9-B2BA5E180101}" destId="{9B7B5DDF-1D0A-4DFA-8E23-816D420C59A2}" srcOrd="0" destOrd="0" presId="urn:microsoft.com/office/officeart/2005/8/layout/hProcess11"/>
    <dgm:cxn modelId="{BAB677CF-EB56-475B-888A-1B024C48D34E}" srcId="{18146B5B-27FC-4E92-A7E9-B2BA5E180101}" destId="{11F70490-FDCB-4296-BD03-F126680F92F5}" srcOrd="3" destOrd="0" parTransId="{A1114C04-2403-4F4B-AE04-0339E2308374}" sibTransId="{7E84F8C0-57A3-4160-A2DF-EF9DACA9E859}"/>
    <dgm:cxn modelId="{FEAEEDE7-8997-47A7-BD48-D7BB4BD068EB}" type="presOf" srcId="{11F70490-FDCB-4296-BD03-F126680F92F5}" destId="{E9CEB07F-8B8C-4D24-BEE7-3AA4E358C283}" srcOrd="0" destOrd="0" presId="urn:microsoft.com/office/officeart/2005/8/layout/hProcess11"/>
    <dgm:cxn modelId="{E22F74F0-A4CF-42D9-A103-797502A36150}" type="presOf" srcId="{B5B088C7-773A-4F0C-A51F-BB779C5F7020}" destId="{D75D1DB6-9055-47D4-AF85-C552A3FD7E43}" srcOrd="0" destOrd="0" presId="urn:microsoft.com/office/officeart/2005/8/layout/hProcess11"/>
    <dgm:cxn modelId="{3F79C0F5-F5A0-47CB-950A-C6BA9F738897}" type="presOf" srcId="{EA0EAC3E-4BB0-47E8-B6E6-D9AE2CB66F31}" destId="{7F12F2DC-F5CF-450E-B4BA-4871C2EE2843}" srcOrd="0" destOrd="0" presId="urn:microsoft.com/office/officeart/2005/8/layout/hProcess11"/>
    <dgm:cxn modelId="{32D3458C-BE06-4C17-BA89-C9449A5EA55D}" type="presParOf" srcId="{9B7B5DDF-1D0A-4DFA-8E23-816D420C59A2}" destId="{9B5B5819-67A6-4D14-A3CB-2E0323D7CD61}" srcOrd="0" destOrd="0" presId="urn:microsoft.com/office/officeart/2005/8/layout/hProcess11"/>
    <dgm:cxn modelId="{88518F7B-4EE5-49C0-88AF-B2B3ACAA4734}" type="presParOf" srcId="{9B7B5DDF-1D0A-4DFA-8E23-816D420C59A2}" destId="{26C345E0-3BAF-4470-9580-311F9B64076C}" srcOrd="1" destOrd="0" presId="urn:microsoft.com/office/officeart/2005/8/layout/hProcess11"/>
    <dgm:cxn modelId="{C89DD40C-D59A-4499-BC77-CD75A4DF91D7}" type="presParOf" srcId="{26C345E0-3BAF-4470-9580-311F9B64076C}" destId="{6020D687-7D80-4A7C-9F0E-67B100465DE2}" srcOrd="0" destOrd="0" presId="urn:microsoft.com/office/officeart/2005/8/layout/hProcess11"/>
    <dgm:cxn modelId="{FA46A669-5BBB-408B-AC01-6D168A23F210}" type="presParOf" srcId="{6020D687-7D80-4A7C-9F0E-67B100465DE2}" destId="{4F4419F5-D0A2-4FAA-B36B-C2AD0FB6A05D}" srcOrd="0" destOrd="0" presId="urn:microsoft.com/office/officeart/2005/8/layout/hProcess11"/>
    <dgm:cxn modelId="{F362E46D-8FC9-4D57-B976-5D0EE9B0C351}" type="presParOf" srcId="{6020D687-7D80-4A7C-9F0E-67B100465DE2}" destId="{098DA2F0-3C23-48B5-A511-90FCB31A97B9}" srcOrd="1" destOrd="0" presId="urn:microsoft.com/office/officeart/2005/8/layout/hProcess11"/>
    <dgm:cxn modelId="{07ACF76A-B4FC-408E-9261-FA8D0EF79241}" type="presParOf" srcId="{6020D687-7D80-4A7C-9F0E-67B100465DE2}" destId="{D1B07441-543E-4E48-B14D-E2B5110D21F8}" srcOrd="2" destOrd="0" presId="urn:microsoft.com/office/officeart/2005/8/layout/hProcess11"/>
    <dgm:cxn modelId="{5E85FF63-F3A9-435F-B02A-4C0CEE58B97C}" type="presParOf" srcId="{26C345E0-3BAF-4470-9580-311F9B64076C}" destId="{6FC0ECD6-FEF7-4F94-852E-D1A2E5CEC073}" srcOrd="1" destOrd="0" presId="urn:microsoft.com/office/officeart/2005/8/layout/hProcess11"/>
    <dgm:cxn modelId="{FC25C42B-9D93-4A0F-AC85-B7BEC72026E5}" type="presParOf" srcId="{26C345E0-3BAF-4470-9580-311F9B64076C}" destId="{0F23A0C8-2A93-4311-AAD8-E90CB516A9E3}" srcOrd="2" destOrd="0" presId="urn:microsoft.com/office/officeart/2005/8/layout/hProcess11"/>
    <dgm:cxn modelId="{006B8E88-A2FD-4102-9E82-1FBDBEF9322A}" type="presParOf" srcId="{0F23A0C8-2A93-4311-AAD8-E90CB516A9E3}" destId="{7F12F2DC-F5CF-450E-B4BA-4871C2EE2843}" srcOrd="0" destOrd="0" presId="urn:microsoft.com/office/officeart/2005/8/layout/hProcess11"/>
    <dgm:cxn modelId="{CF331561-DDEE-42E3-882A-B8817C9B1050}" type="presParOf" srcId="{0F23A0C8-2A93-4311-AAD8-E90CB516A9E3}" destId="{0B0DFF14-9FE7-4AAB-BB1E-F3DAC6818702}" srcOrd="1" destOrd="0" presId="urn:microsoft.com/office/officeart/2005/8/layout/hProcess11"/>
    <dgm:cxn modelId="{EA1316FD-990C-4649-9799-0B2AD11E0C0C}" type="presParOf" srcId="{0F23A0C8-2A93-4311-AAD8-E90CB516A9E3}" destId="{EEA45B75-76CC-472F-9CCE-CAF568FFE3C5}" srcOrd="2" destOrd="0" presId="urn:microsoft.com/office/officeart/2005/8/layout/hProcess11"/>
    <dgm:cxn modelId="{CFDC0F83-B62C-43F9-B61C-6E987E039AFC}" type="presParOf" srcId="{26C345E0-3BAF-4470-9580-311F9B64076C}" destId="{1FAAEA00-FC54-4E92-B24C-4154C31A4701}" srcOrd="3" destOrd="0" presId="urn:microsoft.com/office/officeart/2005/8/layout/hProcess11"/>
    <dgm:cxn modelId="{28EFC52F-7061-444B-9401-CDBF3115F2ED}" type="presParOf" srcId="{26C345E0-3BAF-4470-9580-311F9B64076C}" destId="{4069843E-D611-4A1C-AB3A-6E94EBD37D8E}" srcOrd="4" destOrd="0" presId="urn:microsoft.com/office/officeart/2005/8/layout/hProcess11"/>
    <dgm:cxn modelId="{9C0764F0-1A5D-4D04-AD6C-BA46F6F9EBD8}" type="presParOf" srcId="{4069843E-D611-4A1C-AB3A-6E94EBD37D8E}" destId="{3712BF27-ED62-451E-BA1F-D9C8BD17217C}" srcOrd="0" destOrd="0" presId="urn:microsoft.com/office/officeart/2005/8/layout/hProcess11"/>
    <dgm:cxn modelId="{867720DE-7BC3-44B2-B8E4-C1C84CC5EB56}" type="presParOf" srcId="{4069843E-D611-4A1C-AB3A-6E94EBD37D8E}" destId="{4EE35D07-07D8-482E-B9DF-01305C082DEE}" srcOrd="1" destOrd="0" presId="urn:microsoft.com/office/officeart/2005/8/layout/hProcess11"/>
    <dgm:cxn modelId="{EE456188-5DDB-485A-ABF4-9E3C2C4A8C34}" type="presParOf" srcId="{4069843E-D611-4A1C-AB3A-6E94EBD37D8E}" destId="{26CD849F-E4E9-4459-B47B-8CDEEE221E4F}" srcOrd="2" destOrd="0" presId="urn:microsoft.com/office/officeart/2005/8/layout/hProcess11"/>
    <dgm:cxn modelId="{CA197A5A-9C99-488A-BDA7-E62DAC593282}" type="presParOf" srcId="{26C345E0-3BAF-4470-9580-311F9B64076C}" destId="{E7E607B6-DB41-49DC-B914-4BE9CCF5005B}" srcOrd="5" destOrd="0" presId="urn:microsoft.com/office/officeart/2005/8/layout/hProcess11"/>
    <dgm:cxn modelId="{BDC74739-223B-4D2A-BFD8-64530FDEA65F}" type="presParOf" srcId="{26C345E0-3BAF-4470-9580-311F9B64076C}" destId="{5CEEAD0F-5968-4E3E-A462-E5A0DD758831}" srcOrd="6" destOrd="0" presId="urn:microsoft.com/office/officeart/2005/8/layout/hProcess11"/>
    <dgm:cxn modelId="{4428A538-41B6-4FBF-852F-98F17D4D4425}" type="presParOf" srcId="{5CEEAD0F-5968-4E3E-A462-E5A0DD758831}" destId="{E9CEB07F-8B8C-4D24-BEE7-3AA4E358C283}" srcOrd="0" destOrd="0" presId="urn:microsoft.com/office/officeart/2005/8/layout/hProcess11"/>
    <dgm:cxn modelId="{A32CEBFC-0DD9-4B12-BBD7-E4E3D34042C7}" type="presParOf" srcId="{5CEEAD0F-5968-4E3E-A462-E5A0DD758831}" destId="{C4BADD68-C0ED-4845-877D-663C4B301E13}" srcOrd="1" destOrd="0" presId="urn:microsoft.com/office/officeart/2005/8/layout/hProcess11"/>
    <dgm:cxn modelId="{56226DBD-6209-4891-AE80-F3F6B959EC04}" type="presParOf" srcId="{5CEEAD0F-5968-4E3E-A462-E5A0DD758831}" destId="{38345F0A-BCE4-4989-8C7B-E8ED3B36EF35}" srcOrd="2" destOrd="0" presId="urn:microsoft.com/office/officeart/2005/8/layout/hProcess11"/>
    <dgm:cxn modelId="{DBE50C7A-2F55-4816-86AF-02A6E44A0FF6}" type="presParOf" srcId="{26C345E0-3BAF-4470-9580-311F9B64076C}" destId="{FD433746-402C-4313-B761-D92BD3EC5B41}" srcOrd="7" destOrd="0" presId="urn:microsoft.com/office/officeart/2005/8/layout/hProcess11"/>
    <dgm:cxn modelId="{81393C8F-9ECE-45AE-A1D1-C32DBBA07D17}" type="presParOf" srcId="{26C345E0-3BAF-4470-9580-311F9B64076C}" destId="{5EDEBAE9-C65A-4C58-B06B-3E40FAC7C89A}" srcOrd="8" destOrd="0" presId="urn:microsoft.com/office/officeart/2005/8/layout/hProcess11"/>
    <dgm:cxn modelId="{1C190774-F5D0-4976-9117-06BF11BE3C32}" type="presParOf" srcId="{5EDEBAE9-C65A-4C58-B06B-3E40FAC7C89A}" destId="{D75D1DB6-9055-47D4-AF85-C552A3FD7E43}" srcOrd="0" destOrd="0" presId="urn:microsoft.com/office/officeart/2005/8/layout/hProcess11"/>
    <dgm:cxn modelId="{4B60302B-C81F-4ABC-B899-AF7194485380}" type="presParOf" srcId="{5EDEBAE9-C65A-4C58-B06B-3E40FAC7C89A}" destId="{A306CFD3-EFE6-4761-A915-C5C9BD605920}" srcOrd="1" destOrd="0" presId="urn:microsoft.com/office/officeart/2005/8/layout/hProcess11"/>
    <dgm:cxn modelId="{2713B029-4B85-48D6-9E3A-408618EA9DD4}" type="presParOf" srcId="{5EDEBAE9-C65A-4C58-B06B-3E40FAC7C89A}" destId="{5D409099-B442-4ABE-A43D-4B317962AD38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5B5819-67A6-4D14-A3CB-2E0323D7CD61}">
      <dsp:nvSpPr>
        <dsp:cNvPr id="0" name=""/>
        <dsp:cNvSpPr/>
      </dsp:nvSpPr>
      <dsp:spPr>
        <a:xfrm>
          <a:off x="0" y="581697"/>
          <a:ext cx="8063923" cy="775596"/>
        </a:xfrm>
        <a:prstGeom prst="notched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F4419F5-D0A2-4FAA-B36B-C2AD0FB6A05D}">
      <dsp:nvSpPr>
        <dsp:cNvPr id="0" name=""/>
        <dsp:cNvSpPr/>
      </dsp:nvSpPr>
      <dsp:spPr>
        <a:xfrm>
          <a:off x="3189" y="0"/>
          <a:ext cx="1394452" cy="775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1931</a:t>
          </a:r>
          <a:r>
            <a:rPr lang="fr-FR" sz="1200" kern="1200" dirty="0"/>
            <a:t>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Rickenbacker</a:t>
          </a:r>
          <a:endParaRPr lang="fr-FR" sz="1200" kern="1200" dirty="0"/>
        </a:p>
      </dsp:txBody>
      <dsp:txXfrm>
        <a:off x="3189" y="0"/>
        <a:ext cx="1394452" cy="775596"/>
      </dsp:txXfrm>
    </dsp:sp>
    <dsp:sp modelId="{098DA2F0-3C23-48B5-A511-90FCB31A97B9}">
      <dsp:nvSpPr>
        <dsp:cNvPr id="0" name=""/>
        <dsp:cNvSpPr/>
      </dsp:nvSpPr>
      <dsp:spPr>
        <a:xfrm>
          <a:off x="603465" y="872546"/>
          <a:ext cx="193899" cy="1938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12F2DC-F5CF-450E-B4BA-4871C2EE2843}">
      <dsp:nvSpPr>
        <dsp:cNvPr id="0" name=""/>
        <dsp:cNvSpPr/>
      </dsp:nvSpPr>
      <dsp:spPr>
        <a:xfrm>
          <a:off x="1467364" y="1163395"/>
          <a:ext cx="1394452" cy="775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1950</a:t>
          </a:r>
          <a:r>
            <a:rPr lang="fr-FR" sz="1200" kern="1200" dirty="0"/>
            <a:t> 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Micro simple bobinage</a:t>
          </a:r>
        </a:p>
      </dsp:txBody>
      <dsp:txXfrm>
        <a:off x="1467364" y="1163395"/>
        <a:ext cx="1394452" cy="775596"/>
      </dsp:txXfrm>
    </dsp:sp>
    <dsp:sp modelId="{0B0DFF14-9FE7-4AAB-BB1E-F3DAC6818702}">
      <dsp:nvSpPr>
        <dsp:cNvPr id="0" name=""/>
        <dsp:cNvSpPr/>
      </dsp:nvSpPr>
      <dsp:spPr>
        <a:xfrm>
          <a:off x="2067640" y="872546"/>
          <a:ext cx="193899" cy="1938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12BF27-ED62-451E-BA1F-D9C8BD17217C}">
      <dsp:nvSpPr>
        <dsp:cNvPr id="0" name=""/>
        <dsp:cNvSpPr/>
      </dsp:nvSpPr>
      <dsp:spPr>
        <a:xfrm>
          <a:off x="2931539" y="0"/>
          <a:ext cx="1394452" cy="775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1955</a:t>
          </a:r>
          <a:r>
            <a:rPr lang="fr-FR" sz="1200" kern="1200" dirty="0"/>
            <a:t> : </a:t>
          </a:r>
          <a:r>
            <a:rPr lang="fr-FR" sz="1200" b="1" kern="1200" dirty="0" err="1"/>
            <a:t>Humbucker</a:t>
          </a:r>
          <a:endParaRPr lang="fr-FR" sz="1200" b="1" kern="1200" dirty="0"/>
        </a:p>
      </dsp:txBody>
      <dsp:txXfrm>
        <a:off x="2931539" y="0"/>
        <a:ext cx="1394452" cy="775596"/>
      </dsp:txXfrm>
    </dsp:sp>
    <dsp:sp modelId="{4EE35D07-07D8-482E-B9DF-01305C082DEE}">
      <dsp:nvSpPr>
        <dsp:cNvPr id="0" name=""/>
        <dsp:cNvSpPr/>
      </dsp:nvSpPr>
      <dsp:spPr>
        <a:xfrm>
          <a:off x="3531815" y="872546"/>
          <a:ext cx="193899" cy="1938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9CEB07F-8B8C-4D24-BEE7-3AA4E358C283}">
      <dsp:nvSpPr>
        <dsp:cNvPr id="0" name=""/>
        <dsp:cNvSpPr/>
      </dsp:nvSpPr>
      <dsp:spPr>
        <a:xfrm>
          <a:off x="4395714" y="1163395"/>
          <a:ext cx="1394452" cy="775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1970</a:t>
          </a:r>
          <a:r>
            <a:rPr lang="fr-FR" sz="1200" kern="1200" dirty="0"/>
            <a:t> : Micro Actifs</a:t>
          </a:r>
        </a:p>
      </dsp:txBody>
      <dsp:txXfrm>
        <a:off x="4395714" y="1163395"/>
        <a:ext cx="1394452" cy="775596"/>
      </dsp:txXfrm>
    </dsp:sp>
    <dsp:sp modelId="{C4BADD68-C0ED-4845-877D-663C4B301E13}">
      <dsp:nvSpPr>
        <dsp:cNvPr id="0" name=""/>
        <dsp:cNvSpPr/>
      </dsp:nvSpPr>
      <dsp:spPr>
        <a:xfrm>
          <a:off x="4995990" y="872546"/>
          <a:ext cx="193899" cy="1938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75D1DB6-9055-47D4-AF85-C552A3FD7E43}">
      <dsp:nvSpPr>
        <dsp:cNvPr id="0" name=""/>
        <dsp:cNvSpPr/>
      </dsp:nvSpPr>
      <dsp:spPr>
        <a:xfrm>
          <a:off x="5859889" y="0"/>
          <a:ext cx="1394452" cy="775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2000</a:t>
          </a:r>
          <a:r>
            <a:rPr lang="fr-FR" sz="1200" kern="1200" dirty="0"/>
            <a:t> : Micro numérique</a:t>
          </a:r>
        </a:p>
      </dsp:txBody>
      <dsp:txXfrm>
        <a:off x="5859889" y="0"/>
        <a:ext cx="1394452" cy="775596"/>
      </dsp:txXfrm>
    </dsp:sp>
    <dsp:sp modelId="{A306CFD3-EFE6-4761-A915-C5C9BD605920}">
      <dsp:nvSpPr>
        <dsp:cNvPr id="0" name=""/>
        <dsp:cNvSpPr/>
      </dsp:nvSpPr>
      <dsp:spPr>
        <a:xfrm>
          <a:off x="6460165" y="872546"/>
          <a:ext cx="193899" cy="1938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7C724F-4508-4890-B18E-3F5BB1B02F24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hdphoto" Target="../media/hdphoto1.wdp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" TargetMode="External"/><Relationship Id="rId2" Type="http://schemas.openxmlformats.org/officeDocument/2006/relationships/hyperlink" Target="https://www.thomann.de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121F9-7273-1CF4-F60D-E01BEEB3AF96}"/>
              </a:ext>
            </a:extLst>
          </p:cNvPr>
          <p:cNvSpPr/>
          <p:nvPr/>
        </p:nvSpPr>
        <p:spPr>
          <a:xfrm>
            <a:off x="628649" y="262383"/>
            <a:ext cx="7886701" cy="7752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50" dirty="0">
                <a:latin typeface="Arial Black" panose="020B0A04020102020204" pitchFamily="34" charset="0"/>
              </a:rPr>
              <a:t>TIPE</a:t>
            </a:r>
          </a:p>
          <a:p>
            <a:pPr algn="ctr"/>
            <a:r>
              <a:rPr lang="fr-FR" sz="1350" dirty="0">
                <a:latin typeface="Arial Black" panose="020B0A04020102020204" pitchFamily="34" charset="0"/>
              </a:rPr>
              <a:t>Loi d’induction de Faraday : Le fonctionnement d’une guitare électrique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CA91E38-0C9E-C7FB-9A24-FA98AC9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1FCC0EF-4B1B-F41C-656B-2BE699CD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305C624-2E1B-C39E-B3B4-807FF6A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</a:t>
            </a:fld>
            <a:endParaRPr lang="fr-FR"/>
          </a:p>
        </p:txBody>
      </p:sp>
      <p:pic>
        <p:nvPicPr>
          <p:cNvPr id="1026" name="Picture 2" descr="Guitare, La Musique, Guitare Électrique">
            <a:extLst>
              <a:ext uri="{FF2B5EF4-FFF2-40B4-BE49-F238E27FC236}">
                <a16:creationId xmlns:a16="http://schemas.microsoft.com/office/drawing/2014/main" id="{0098F414-3793-7E07-8CE1-A5A56D7C2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423"/>
          <a:stretch>
            <a:fillRect/>
          </a:stretch>
        </p:blipFill>
        <p:spPr bwMode="auto">
          <a:xfrm>
            <a:off x="628662" y="1210868"/>
            <a:ext cx="7886688" cy="48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9DDE-6CD0-29B1-A3F5-C40C7FF2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FCB84D0-2B68-061D-ECB2-98FEDC4139BF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856BE7D-4DED-CCEC-C281-71EDD79F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F46D3DD-7A20-C261-51E3-6921150B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1DE89BA-3A9E-3DD3-870C-B9DFDFB9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2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4D9AB7-5846-CB19-49CF-7BE20BA89B44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1459EB4-7B75-BCE8-D7CB-E99B8AFFC63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BD185-2E13-F0AD-276C-B9CC1A35E471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Contexte &amp; Etat de l’art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2CB2FA0-35B9-FAE0-868A-5C01CF8B13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731860"/>
              </p:ext>
            </p:extLst>
          </p:nvPr>
        </p:nvGraphicFramePr>
        <p:xfrm>
          <a:off x="345440" y="1725664"/>
          <a:ext cx="8063923" cy="1938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FD02441C-CE44-2F8B-CD3E-4D3CD66AAD1D}"/>
              </a:ext>
            </a:extLst>
          </p:cNvPr>
          <p:cNvGrpSpPr/>
          <p:nvPr/>
        </p:nvGrpSpPr>
        <p:grpSpPr>
          <a:xfrm>
            <a:off x="2554098" y="3599956"/>
            <a:ext cx="2576701" cy="2333484"/>
            <a:chOff x="2180409" y="2341260"/>
            <a:chExt cx="2222220" cy="2098783"/>
          </a:xfrm>
        </p:grpSpPr>
        <p:pic>
          <p:nvPicPr>
            <p:cNvPr id="10" name="Picture 2" descr="5 Best Humbuckers: Gear Guide to Amazing Pickups | Equipboard®">
              <a:extLst>
                <a:ext uri="{FF2B5EF4-FFF2-40B4-BE49-F238E27FC236}">
                  <a16:creationId xmlns:a16="http://schemas.microsoft.com/office/drawing/2014/main" id="{FDCD076C-AAE7-892C-DE33-F492CC8F90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3" t="-8093" r="50325" b="-7437"/>
            <a:stretch>
              <a:fillRect/>
            </a:stretch>
          </p:blipFill>
          <p:spPr bwMode="auto">
            <a:xfrm>
              <a:off x="2764639" y="3033676"/>
              <a:ext cx="1637990" cy="1406367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300120BE-8584-E8F6-1232-236F9101CF9E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rot="16200000" flipH="1">
              <a:off x="2143276" y="2378393"/>
              <a:ext cx="898374" cy="824108"/>
            </a:xfrm>
            <a:prstGeom prst="curvedConnector3">
              <a:avLst>
                <a:gd name="adj1" fmla="val 63571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4E9667C-1136-0737-5AA4-BC42F342A861}"/>
                </a:ext>
              </a:extLst>
            </p:cNvPr>
            <p:cNvSpPr/>
            <p:nvPr/>
          </p:nvSpPr>
          <p:spPr>
            <a:xfrm>
              <a:off x="3074458" y="4114800"/>
              <a:ext cx="1018352" cy="108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/>
                  </a:solidFill>
                </a:rPr>
                <a:t>Micro Simple Bobinage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89EC3D7-8443-1072-BB2B-8EDA8CAF94E3}"/>
              </a:ext>
            </a:extLst>
          </p:cNvPr>
          <p:cNvGrpSpPr/>
          <p:nvPr/>
        </p:nvGrpSpPr>
        <p:grpSpPr>
          <a:xfrm>
            <a:off x="4074161" y="721360"/>
            <a:ext cx="2147619" cy="1265531"/>
            <a:chOff x="4074161" y="721360"/>
            <a:chExt cx="2147619" cy="1265531"/>
          </a:xfrm>
        </p:grpSpPr>
        <p:pic>
          <p:nvPicPr>
            <p:cNvPr id="19" name="Picture 2" descr="5 Best Humbuckers: Gear Guide to Amazing Pickups | Equipboard®">
              <a:extLst>
                <a:ext uri="{FF2B5EF4-FFF2-40B4-BE49-F238E27FC236}">
                  <a16:creationId xmlns:a16="http://schemas.microsoft.com/office/drawing/2014/main" id="{464F3B0F-4802-9DF5-4355-ACADD9B85C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66" t="-7130" r="-141" b="-876"/>
            <a:stretch>
              <a:fillRect/>
            </a:stretch>
          </p:blipFill>
          <p:spPr bwMode="auto">
            <a:xfrm>
              <a:off x="4645786" y="721360"/>
              <a:ext cx="1575994" cy="1265531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60ACADE5-3F41-CF2A-20B7-144C592D8C5C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rot="5400000" flipH="1" flipV="1">
              <a:off x="4050734" y="1377553"/>
              <a:ext cx="618479" cy="571626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6" name="Picture 2" descr="Accessoire pour guitare EMG sa simple alnico - micro guitare electrique ...">
            <a:extLst>
              <a:ext uri="{FF2B5EF4-FFF2-40B4-BE49-F238E27FC236}">
                <a16:creationId xmlns:a16="http://schemas.microsoft.com/office/drawing/2014/main" id="{FF44326F-442A-C831-EE89-CCD6A239C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2" r="9101"/>
          <a:stretch>
            <a:fillRect/>
          </a:stretch>
        </p:blipFill>
        <p:spPr bwMode="auto">
          <a:xfrm>
            <a:off x="6536778" y="3987988"/>
            <a:ext cx="1872585" cy="17645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30C6B7F1-3256-7957-4014-3B09CFB76C32}"/>
              </a:ext>
            </a:extLst>
          </p:cNvPr>
          <p:cNvCxnSpPr>
            <a:cxnSpLocks/>
            <a:endCxn id="36" idx="2"/>
          </p:cNvCxnSpPr>
          <p:nvPr/>
        </p:nvCxnSpPr>
        <p:spPr>
          <a:xfrm rot="16200000" flipH="1">
            <a:off x="5265555" y="3599045"/>
            <a:ext cx="1441268" cy="110117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Rickenbacker Guitar History | ElectricGuitarSetup.com">
            <a:extLst>
              <a:ext uri="{FF2B5EF4-FFF2-40B4-BE49-F238E27FC236}">
                <a16:creationId xmlns:a16="http://schemas.microsoft.com/office/drawing/2014/main" id="{A8639E4A-7D0F-7B23-DED4-BA9F35FD01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662" t="-3658" r="-48245" b="-6856"/>
          <a:stretch>
            <a:fillRect/>
          </a:stretch>
        </p:blipFill>
        <p:spPr bwMode="auto">
          <a:xfrm rot="546741">
            <a:off x="798331" y="3501689"/>
            <a:ext cx="1121212" cy="25503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987DA514-6D74-FA46-D78A-FAB923546364}"/>
              </a:ext>
            </a:extLst>
          </p:cNvPr>
          <p:cNvCxnSpPr>
            <a:cxnSpLocks/>
            <a:endCxn id="1028" idx="1"/>
          </p:cNvCxnSpPr>
          <p:nvPr/>
        </p:nvCxnSpPr>
        <p:spPr>
          <a:xfrm rot="16200000" flipH="1">
            <a:off x="591030" y="3304477"/>
            <a:ext cx="954435" cy="841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30" name="Picture 6" descr="Micro guitare electrique Fishman Fluence Classic Humbucker set Gold">
            <a:extLst>
              <a:ext uri="{FF2B5EF4-FFF2-40B4-BE49-F238E27FC236}">
                <a16:creationId xmlns:a16="http://schemas.microsoft.com/office/drawing/2014/main" id="{4E409D2B-2C38-A860-3EBF-D4223A7771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823" b="61719" l="1477" r="66456">
                        <a14:foregroundMark x1="8861" y1="54688" x2="1688" y2="28646"/>
                        <a14:foregroundMark x1="1688" y1="28646" x2="8228" y2="16667"/>
                        <a14:foregroundMark x1="8228" y1="16667" x2="30380" y2="5990"/>
                        <a14:foregroundMark x1="30380" y1="5990" x2="57806" y2="2083"/>
                        <a14:foregroundMark x1="57806" y1="2083" x2="47257" y2="20052"/>
                        <a14:foregroundMark x1="47257" y1="20052" x2="12236" y2="53646"/>
                        <a14:foregroundMark x1="12236" y1="53646" x2="9494" y2="54948"/>
                        <a14:foregroundMark x1="6329" y1="44010" x2="1688" y2="31510"/>
                        <a14:foregroundMark x1="1688" y1="31510" x2="6751" y2="42969"/>
                        <a14:foregroundMark x1="6751" y1="42969" x2="6751" y2="42969"/>
                        <a14:foregroundMark x1="4641" y1="31510" x2="4641" y2="31510"/>
                        <a14:foregroundMark x1="7173" y1="31510" x2="7173" y2="31510"/>
                        <a14:foregroundMark x1="7595" y1="34896" x2="7595" y2="34896"/>
                        <a14:foregroundMark x1="10127" y1="42708" x2="10127" y2="42708"/>
                        <a14:foregroundMark x1="10338" y1="41146" x2="10338" y2="41146"/>
                        <a14:foregroundMark x1="1477" y1="48438" x2="1477" y2="48438"/>
                        <a14:foregroundMark x1="66456" y1="24479" x2="66456" y2="24479"/>
                        <a14:foregroundMark x1="33122" y1="20573" x2="33122" y2="20573"/>
                        <a14:foregroundMark x1="19198" y1="28125" x2="19198" y2="28125"/>
                        <a14:foregroundMark x1="7595" y1="23177" x2="38819" y2="10417"/>
                        <a14:foregroundMark x1="38819" y1="10417" x2="28270" y2="34375"/>
                        <a14:foregroundMark x1="28270" y1="34375" x2="16456" y2="35677"/>
                        <a14:foregroundMark x1="16456" y1="35677" x2="7806" y2="24479"/>
                        <a14:foregroundMark x1="7806" y1="24479" x2="7384" y2="22656"/>
                        <a14:foregroundMark x1="21730" y1="18750" x2="21519" y2="21354"/>
                        <a14:foregroundMark x1="43671" y1="9375" x2="42616" y2="10156"/>
                        <a14:foregroundMark x1="50211" y1="6250" x2="40506" y2="12760"/>
                        <a14:foregroundMark x1="40506" y1="12760" x2="52110" y2="16667"/>
                        <a14:foregroundMark x1="52110" y1="16667" x2="47890" y2="6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9184" t="-6727" r="27272" b="30882"/>
          <a:stretch>
            <a:fillRect/>
          </a:stretch>
        </p:blipFill>
        <p:spPr bwMode="auto">
          <a:xfrm>
            <a:off x="7128389" y="687400"/>
            <a:ext cx="1577928" cy="11836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48C75EEB-CA7D-1DDE-EBB5-8FFE65CCADD2}"/>
              </a:ext>
            </a:extLst>
          </p:cNvPr>
          <p:cNvCxnSpPr>
            <a:cxnSpLocks/>
            <a:endCxn id="1030" idx="2"/>
          </p:cNvCxnSpPr>
          <p:nvPr/>
        </p:nvCxnSpPr>
        <p:spPr>
          <a:xfrm rot="5400000" flipH="1" flipV="1">
            <a:off x="6667018" y="1534687"/>
            <a:ext cx="716834" cy="20590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C9B9CE2-4DC3-1D11-BB26-3B95C6C9E8B6}"/>
              </a:ext>
            </a:extLst>
          </p:cNvPr>
          <p:cNvSpPr txBox="1"/>
          <p:nvPr/>
        </p:nvSpPr>
        <p:spPr>
          <a:xfrm>
            <a:off x="47310" y="6015269"/>
            <a:ext cx="2711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Rickenbacker.com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263EB5-4D28-EA75-5AFA-4D82A93E9ABA}"/>
              </a:ext>
            </a:extLst>
          </p:cNvPr>
          <p:cNvSpPr txBox="1"/>
          <p:nvPr/>
        </p:nvSpPr>
        <p:spPr>
          <a:xfrm>
            <a:off x="3510673" y="5986252"/>
            <a:ext cx="2711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zonagitar.net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BD8AA998-1618-8AE6-939F-77811BAE902D}"/>
              </a:ext>
            </a:extLst>
          </p:cNvPr>
          <p:cNvSpPr txBox="1"/>
          <p:nvPr/>
        </p:nvSpPr>
        <p:spPr>
          <a:xfrm>
            <a:off x="4577244" y="1983441"/>
            <a:ext cx="1804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zonagitar.net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B4D683C3-B607-1F50-2A29-74CD9DF57D1A}"/>
              </a:ext>
            </a:extLst>
          </p:cNvPr>
          <p:cNvSpPr txBox="1"/>
          <p:nvPr/>
        </p:nvSpPr>
        <p:spPr>
          <a:xfrm>
            <a:off x="7876774" y="1892934"/>
            <a:ext cx="1280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</a:t>
            </a:r>
          </a:p>
          <a:p>
            <a:pPr algn="ctr"/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thomann.de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2DC7018A-C59E-98A3-2377-A20206122137}"/>
              </a:ext>
            </a:extLst>
          </p:cNvPr>
          <p:cNvSpPr txBox="1"/>
          <p:nvPr/>
        </p:nvSpPr>
        <p:spPr>
          <a:xfrm>
            <a:off x="6537983" y="5904948"/>
            <a:ext cx="2711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thomann.de</a:t>
            </a:r>
          </a:p>
        </p:txBody>
      </p:sp>
    </p:spTree>
    <p:extLst>
      <p:ext uri="{BB962C8B-B14F-4D97-AF65-F5344CB8AC3E}">
        <p14:creationId xmlns:p14="http://schemas.microsoft.com/office/powerpoint/2010/main" val="2094592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B8DB-462A-9B19-1F31-BB4FD26B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4FB20C-02CF-35BD-3AB9-670C42C7A9C6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EDDED1E-275F-6831-62E9-95476B04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1D5E31-18D5-EFA4-FF70-9C214035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16D650-4C5C-541D-6925-FDAE466C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3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88C05C-557A-D965-1B57-D283BF34BE5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018A027-1E36-7A49-BFE5-C63B39A43736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D89E9-806A-4E89-859A-696AFF1D31B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Comment fonctionne une guitare électrique 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E26F642-1EDB-D9D0-339B-2432C09158E6}"/>
              </a:ext>
            </a:extLst>
          </p:cNvPr>
          <p:cNvGrpSpPr/>
          <p:nvPr/>
        </p:nvGrpSpPr>
        <p:grpSpPr>
          <a:xfrm>
            <a:off x="-34756" y="1586102"/>
            <a:ext cx="4437385" cy="4404065"/>
            <a:chOff x="-34756" y="1586102"/>
            <a:chExt cx="4437385" cy="4404065"/>
          </a:xfrm>
        </p:grpSpPr>
        <p:pic>
          <p:nvPicPr>
            <p:cNvPr id="11" name="Picture 2" descr="5 Best Humbuckers: Gear Guide to Amazing Pickups | Equipboard®">
              <a:extLst>
                <a:ext uri="{FF2B5EF4-FFF2-40B4-BE49-F238E27FC236}">
                  <a16:creationId xmlns:a16="http://schemas.microsoft.com/office/drawing/2014/main" id="{EF933A2A-B5DF-0F82-4FC8-301F3207B1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66" t="-7130" r="-141" b="-876"/>
            <a:stretch>
              <a:fillRect/>
            </a:stretch>
          </p:blipFill>
          <p:spPr bwMode="auto">
            <a:xfrm>
              <a:off x="2677164" y="4674853"/>
              <a:ext cx="1637990" cy="1315314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5 Best Humbuckers: Gear Guide to Amazing Pickups | Equipboard®">
              <a:extLst>
                <a:ext uri="{FF2B5EF4-FFF2-40B4-BE49-F238E27FC236}">
                  <a16:creationId xmlns:a16="http://schemas.microsoft.com/office/drawing/2014/main" id="{D101A5E5-BA4D-16F2-BED9-3954FE2B9A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3" t="-8093" r="50325" b="-7437"/>
            <a:stretch>
              <a:fillRect/>
            </a:stretch>
          </p:blipFill>
          <p:spPr bwMode="auto">
            <a:xfrm>
              <a:off x="2764639" y="3033676"/>
              <a:ext cx="1637990" cy="1406367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A86E6CB6-2C7D-D59A-DF2C-EA03047A1D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87223">
              <a:off x="-34756" y="1586102"/>
              <a:ext cx="3569635" cy="3569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9CC502A0-585D-65D8-BE79-3175E05CA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7764" y="3668769"/>
              <a:ext cx="1229400" cy="446031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8EFCF990-1181-93F4-481C-E26808409BF1}"/>
                </a:ext>
              </a:extLst>
            </p:cNvPr>
            <p:cNvCxnSpPr>
              <a:cxnSpLocks/>
            </p:cNvCxnSpPr>
            <p:nvPr/>
          </p:nvCxnSpPr>
          <p:spPr>
            <a:xfrm>
              <a:off x="1210381" y="4529667"/>
              <a:ext cx="1397352" cy="91440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" name="Picture 2" descr="How does a Guitar Pickup work? | CircuitBread">
            <a:extLst>
              <a:ext uri="{FF2B5EF4-FFF2-40B4-BE49-F238E27FC236}">
                <a16:creationId xmlns:a16="http://schemas.microsoft.com/office/drawing/2014/main" id="{7F83AB6B-4EC7-8334-1628-20CC685A5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104" y="1707657"/>
            <a:ext cx="4323695" cy="3442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B270C04-EA57-651F-EDDD-A94BAC32E88F}"/>
              </a:ext>
            </a:extLst>
          </p:cNvPr>
          <p:cNvSpPr/>
          <p:nvPr/>
        </p:nvSpPr>
        <p:spPr>
          <a:xfrm>
            <a:off x="3074458" y="4114800"/>
            <a:ext cx="1018352" cy="108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Micro Simple Bobinage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71E06E-24A1-72B4-FDB8-7EF1C91610E7}"/>
              </a:ext>
            </a:extLst>
          </p:cNvPr>
          <p:cNvSpPr txBox="1"/>
          <p:nvPr/>
        </p:nvSpPr>
        <p:spPr>
          <a:xfrm>
            <a:off x="115978" y="5305567"/>
            <a:ext cx="2049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Ibanez.com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107C41-0105-178A-FD27-7A8169B1D63D}"/>
              </a:ext>
            </a:extLst>
          </p:cNvPr>
          <p:cNvSpPr txBox="1"/>
          <p:nvPr/>
        </p:nvSpPr>
        <p:spPr>
          <a:xfrm>
            <a:off x="4181018" y="5698502"/>
            <a:ext cx="163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zonagitar.net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053A86-AC52-0251-D413-508C3F6E37D4}"/>
              </a:ext>
            </a:extLst>
          </p:cNvPr>
          <p:cNvSpPr txBox="1"/>
          <p:nvPr/>
        </p:nvSpPr>
        <p:spPr>
          <a:xfrm>
            <a:off x="7175810" y="4982401"/>
            <a:ext cx="163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circuitbread.com</a:t>
            </a:r>
          </a:p>
        </p:txBody>
      </p:sp>
    </p:spTree>
    <p:extLst>
      <p:ext uri="{BB962C8B-B14F-4D97-AF65-F5344CB8AC3E}">
        <p14:creationId xmlns:p14="http://schemas.microsoft.com/office/powerpoint/2010/main" val="345628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0E-A710-B751-21D5-1465D95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CE604F-6BFC-79C1-4FC3-CA1EA53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9A119C-A152-8451-8BAD-3058A883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A6762A-3000-D56B-00BC-9C877DB7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4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B7045-CF40-0E65-A5C7-9FB0BF30525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0A1813A-2397-9FF3-55B4-A7083DA4BF3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AB908-2C09-A846-F7C5-107A095B6297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Problématique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6A7184-965A-9FF1-E334-6E902599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19" y="1834834"/>
            <a:ext cx="74253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Comment les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caractéristiques du micro </a:t>
            </a: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influencent-elles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l’amplitude</a:t>
            </a: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 le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spectre</a:t>
            </a: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 signal électrique produit par une guitare électrique ?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EE9D4-1D4E-E6DD-563B-928B9E769F11}"/>
              </a:ext>
            </a:extLst>
          </p:cNvPr>
          <p:cNvSpPr txBox="1"/>
          <p:nvPr/>
        </p:nvSpPr>
        <p:spPr>
          <a:xfrm>
            <a:off x="984020" y="4436823"/>
            <a:ext cx="2681532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Type de bobinage (Simple vs Double)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F5EE0-EFED-C507-DAB9-15D261AF6049}"/>
              </a:ext>
            </a:extLst>
          </p:cNvPr>
          <p:cNvSpPr txBox="1"/>
          <p:nvPr/>
        </p:nvSpPr>
        <p:spPr>
          <a:xfrm>
            <a:off x="3355925" y="4436368"/>
            <a:ext cx="2681532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Nombre de Spire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FC6429-DA1D-4C33-5CC5-8562ED483502}"/>
              </a:ext>
            </a:extLst>
          </p:cNvPr>
          <p:cNvSpPr txBox="1"/>
          <p:nvPr/>
        </p:nvSpPr>
        <p:spPr>
          <a:xfrm>
            <a:off x="6037457" y="4436368"/>
            <a:ext cx="2681532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Position du micro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DBB3E-CACA-593E-E545-39E8047A68D3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Caractéristique du micro :</a:t>
            </a:r>
          </a:p>
        </p:txBody>
      </p:sp>
    </p:spTree>
    <p:extLst>
      <p:ext uri="{BB962C8B-B14F-4D97-AF65-F5344CB8AC3E}">
        <p14:creationId xmlns:p14="http://schemas.microsoft.com/office/powerpoint/2010/main" val="142404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177C-23F3-0239-E9F1-2AB3B11D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EEEE9C2-6687-7CC9-5AFF-2D28EB5E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7502A80-A80B-1BA8-9011-67C7BEE0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7BD5D6F-14E2-30B9-3098-379DADE8F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5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1A0323-D867-ADC1-C76E-3515D6C53B6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85902B5-6F4B-71E8-F0E2-89917C367DF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C9E80-45FB-A8A8-0614-A9841C2A43DD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Modélisation : 1</a:t>
            </a:r>
            <a:r>
              <a:rPr lang="fr-FR" sz="2000" b="1" baseline="30000" dirty="0">
                <a:latin typeface="+mj-lt"/>
              </a:rPr>
              <a:t>er</a:t>
            </a:r>
            <a:r>
              <a:rPr lang="fr-FR" sz="2000" b="1" dirty="0">
                <a:latin typeface="+mj-lt"/>
              </a:rPr>
              <a:t> Modèle (Micro simple bobinage)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CF28A5-AA8C-B779-88F0-022790A27249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633DB-2ECC-A54B-74C9-3950210A5FDE}"/>
              </a:ext>
            </a:extLst>
          </p:cNvPr>
          <p:cNvSpPr/>
          <p:nvPr/>
        </p:nvSpPr>
        <p:spPr>
          <a:xfrm>
            <a:off x="462440" y="1303261"/>
            <a:ext cx="4496905" cy="856091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Uniforme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E8CED55-BF35-1774-B3B7-95D93E8D646A}"/>
                  </a:ext>
                </a:extLst>
              </p:cNvPr>
              <p:cNvSpPr txBox="1"/>
              <p:nvPr/>
            </p:nvSpPr>
            <p:spPr>
              <a:xfrm>
                <a:off x="5139498" y="1951822"/>
                <a:ext cx="3825791" cy="722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E8CED55-BF35-1774-B3B7-95D93E8D6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498" y="1951822"/>
                <a:ext cx="3825791" cy="7222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612C9AA-8F52-0D45-799D-17A2F29C7F4B}"/>
              </a:ext>
            </a:extLst>
          </p:cNvPr>
          <p:cNvSpPr txBox="1"/>
          <p:nvPr/>
        </p:nvSpPr>
        <p:spPr>
          <a:xfrm>
            <a:off x="5134702" y="1305491"/>
            <a:ext cx="380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Equation de l’onde de vibration de la corde 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EEE2F3-5E47-A596-0274-67A5A067A461}"/>
              </a:ext>
            </a:extLst>
          </p:cNvPr>
          <p:cNvSpPr txBox="1"/>
          <p:nvPr/>
        </p:nvSpPr>
        <p:spPr>
          <a:xfrm>
            <a:off x="5142199" y="2663332"/>
            <a:ext cx="380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31CFE91-125F-3E93-6FDD-4F5E4BBA3420}"/>
                  </a:ext>
                </a:extLst>
              </p:cNvPr>
              <p:cNvSpPr txBox="1"/>
              <p:nvPr/>
            </p:nvSpPr>
            <p:spPr>
              <a:xfrm>
                <a:off x="5674376" y="4237602"/>
                <a:ext cx="2997167" cy="573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31CFE91-125F-3E93-6FDD-4F5E4BBA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376" y="4237602"/>
                <a:ext cx="2997167" cy="5732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FEA9BCE8-A5C1-3E79-ADAB-600612541326}"/>
              </a:ext>
            </a:extLst>
          </p:cNvPr>
          <p:cNvSpPr txBox="1"/>
          <p:nvPr/>
        </p:nvSpPr>
        <p:spPr>
          <a:xfrm>
            <a:off x="449950" y="5668761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Ainsi, on obtient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9F455AC-75F0-C60E-16FF-85FC8B24430C}"/>
                  </a:ext>
                </a:extLst>
              </p:cNvPr>
              <p:cNvSpPr txBox="1"/>
              <p:nvPr/>
            </p:nvSpPr>
            <p:spPr>
              <a:xfrm>
                <a:off x="2620776" y="5525454"/>
                <a:ext cx="5757923" cy="72224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𝑚𝑖𝑐𝑟𝑜</m:t>
                                  </m:r>
                                </m:sub>
                              </m:s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9F455AC-75F0-C60E-16FF-85FC8B244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76" y="5525454"/>
                <a:ext cx="5757923" cy="7222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34E30CD-438B-ECBF-94BC-0838E5668ADB}"/>
                  </a:ext>
                </a:extLst>
              </p:cNvPr>
              <p:cNvSpPr/>
              <p:nvPr/>
            </p:nvSpPr>
            <p:spPr>
              <a:xfrm>
                <a:off x="462440" y="2302659"/>
                <a:ext cx="4496905" cy="3022757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Masse linéique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𝑚𝑖𝑐𝑟𝑜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de la source de la vibration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34E30CD-438B-ECBF-94BC-0838E5668A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40" y="2302659"/>
                <a:ext cx="4496905" cy="3022757"/>
              </a:xfrm>
              <a:prstGeom prst="rect">
                <a:avLst/>
              </a:prstGeom>
              <a:blipFill>
                <a:blip r:embed="rId5"/>
                <a:stretch>
                  <a:fillRect l="-403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DD12546-2769-1140-57AD-8F083DA57989}"/>
                  </a:ext>
                </a:extLst>
              </p:cNvPr>
              <p:cNvSpPr txBox="1"/>
              <p:nvPr/>
            </p:nvSpPr>
            <p:spPr>
              <a:xfrm>
                <a:off x="5217034" y="2757283"/>
                <a:ext cx="3641698" cy="941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DD12546-2769-1140-57AD-8F083DA57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34" y="2757283"/>
                <a:ext cx="3641698" cy="9414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1450583C-8B9B-995D-0496-55C4A40687C7}"/>
              </a:ext>
            </a:extLst>
          </p:cNvPr>
          <p:cNvSpPr txBox="1"/>
          <p:nvPr/>
        </p:nvSpPr>
        <p:spPr>
          <a:xfrm>
            <a:off x="5142199" y="3781336"/>
            <a:ext cx="4623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Avec la loi d’induction de Faraday :</a:t>
            </a:r>
          </a:p>
        </p:txBody>
      </p:sp>
    </p:spTree>
    <p:extLst>
      <p:ext uri="{BB962C8B-B14F-4D97-AF65-F5344CB8AC3E}">
        <p14:creationId xmlns:p14="http://schemas.microsoft.com/office/powerpoint/2010/main" val="170181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010F-DF56-9432-02C2-D32A2736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D9F0C0B-1CCE-1701-4564-9070DD87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6F42ED7-BDC4-FA14-71AC-33563D8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576DF31-6CF8-BA8E-5EFA-8E5389AC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6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2B99EE-5C41-4EA9-BB98-7ED5E47D8DC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ADF3B29-6309-63E4-DAC0-4D3C3D7A4D7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1B16E-6C41-9660-8DE9-A37A0AB7E175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Modélisation : 2</a:t>
            </a:r>
            <a:r>
              <a:rPr lang="fr-FR" sz="2000" b="1" baseline="30000" dirty="0">
                <a:latin typeface="+mj-lt"/>
              </a:rPr>
              <a:t>e</a:t>
            </a:r>
            <a:r>
              <a:rPr lang="fr-FR" sz="2000" b="1" dirty="0">
                <a:latin typeface="+mj-lt"/>
              </a:rPr>
              <a:t> Modèle (Micro double bobinage </a:t>
            </a:r>
            <a:r>
              <a:rPr lang="fr-FR" sz="2000" b="1" dirty="0" err="1">
                <a:latin typeface="+mj-lt"/>
              </a:rPr>
              <a:t>humbucker</a:t>
            </a:r>
            <a:r>
              <a:rPr lang="fr-FR" sz="2000" b="1" dirty="0">
                <a:latin typeface="+mj-lt"/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60DBF-34A0-70F3-18A5-EAC899830298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F6DBD-695B-4189-F38D-DDC03E7AACDF}"/>
              </a:ext>
            </a:extLst>
          </p:cNvPr>
          <p:cNvSpPr/>
          <p:nvPr/>
        </p:nvSpPr>
        <p:spPr>
          <a:xfrm>
            <a:off x="462440" y="1303262"/>
            <a:ext cx="4496905" cy="882058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Uniforme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909946-3B9D-129C-3DE7-A95220250E9B}"/>
                  </a:ext>
                </a:extLst>
              </p:cNvPr>
              <p:cNvSpPr txBox="1"/>
              <p:nvPr/>
            </p:nvSpPr>
            <p:spPr>
              <a:xfrm>
                <a:off x="5139498" y="1951822"/>
                <a:ext cx="3825791" cy="722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909946-3B9D-129C-3DE7-A95220250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498" y="1951822"/>
                <a:ext cx="3825791" cy="7222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EDF9590-EBE6-7EA3-64D0-B4149FE43086}"/>
              </a:ext>
            </a:extLst>
          </p:cNvPr>
          <p:cNvSpPr txBox="1"/>
          <p:nvPr/>
        </p:nvSpPr>
        <p:spPr>
          <a:xfrm>
            <a:off x="5134702" y="1305491"/>
            <a:ext cx="380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Equation de l’onde de vibration de la corde 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BB03C-E8E8-CBED-6993-F1E9B406E89B}"/>
              </a:ext>
            </a:extLst>
          </p:cNvPr>
          <p:cNvSpPr txBox="1"/>
          <p:nvPr/>
        </p:nvSpPr>
        <p:spPr>
          <a:xfrm>
            <a:off x="5142199" y="2663332"/>
            <a:ext cx="380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291411E-F40C-C06E-6993-B8D0908A9CBA}"/>
                  </a:ext>
                </a:extLst>
              </p:cNvPr>
              <p:cNvSpPr txBox="1"/>
              <p:nvPr/>
            </p:nvSpPr>
            <p:spPr>
              <a:xfrm>
                <a:off x="5427858" y="4405716"/>
                <a:ext cx="3220049" cy="573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ⅆ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fr-FR" dirty="0"/>
                        <m:t>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291411E-F40C-C06E-6993-B8D0908A9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858" y="4405716"/>
                <a:ext cx="3220049" cy="5732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907D3140-8ECA-CFC1-FF10-11A7070E2C1E}"/>
              </a:ext>
            </a:extLst>
          </p:cNvPr>
          <p:cNvSpPr txBox="1"/>
          <p:nvPr/>
        </p:nvSpPr>
        <p:spPr>
          <a:xfrm>
            <a:off x="449950" y="5668761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Ainsi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A9F52FB-8CC9-7E9F-BC07-904E55692F48}"/>
                  </a:ext>
                </a:extLst>
              </p:cNvPr>
              <p:cNvSpPr txBox="1"/>
              <p:nvPr/>
            </p:nvSpPr>
            <p:spPr>
              <a:xfrm>
                <a:off x="2072582" y="5438522"/>
                <a:ext cx="6868482" cy="72224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fr-FR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fr-FR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fr-FR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fr-FR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A9F52FB-8CC9-7E9F-BC07-904E55692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582" y="5438522"/>
                <a:ext cx="6868482" cy="7222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6A25780-A78E-0C68-4708-9ED7CF9A05B6}"/>
                  </a:ext>
                </a:extLst>
              </p:cNvPr>
              <p:cNvSpPr/>
              <p:nvPr/>
            </p:nvSpPr>
            <p:spPr>
              <a:xfrm>
                <a:off x="462440" y="2348707"/>
                <a:ext cx="4496905" cy="2976709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Masse linéique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1</a:t>
                </a:r>
                <a:r>
                  <a:rPr lang="fr-FR" sz="1500" baseline="30000" dirty="0"/>
                  <a:t>er</a:t>
                </a:r>
                <a:r>
                  <a:rPr lang="fr-FR" sz="1500" dirty="0"/>
                  <a:t> bobinage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2</a:t>
                </a:r>
                <a:r>
                  <a:rPr lang="fr-FR" sz="1500" baseline="30000" dirty="0"/>
                  <a:t>nd</a:t>
                </a:r>
                <a:r>
                  <a:rPr lang="fr-FR" sz="1500" dirty="0"/>
                  <a:t> bobinage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6A25780-A78E-0C68-4708-9ED7CF9A0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40" y="2348707"/>
                <a:ext cx="4496905" cy="2976709"/>
              </a:xfrm>
              <a:prstGeom prst="rect">
                <a:avLst/>
              </a:prstGeom>
              <a:blipFill>
                <a:blip r:embed="rId5"/>
                <a:stretch>
                  <a:fillRect l="-403" b="-1616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629DA16-4755-68EB-F50D-55B9EF63B645}"/>
                  </a:ext>
                </a:extLst>
              </p:cNvPr>
              <p:cNvSpPr txBox="1"/>
              <p:nvPr/>
            </p:nvSpPr>
            <p:spPr>
              <a:xfrm>
                <a:off x="5217034" y="2757283"/>
                <a:ext cx="3641698" cy="941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629DA16-4755-68EB-F50D-55B9EF63B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34" y="2757283"/>
                <a:ext cx="3641698" cy="9414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499AC186-2A71-1860-9210-66B02B1CB3D0}"/>
              </a:ext>
            </a:extLst>
          </p:cNvPr>
          <p:cNvSpPr txBox="1"/>
          <p:nvPr/>
        </p:nvSpPr>
        <p:spPr>
          <a:xfrm>
            <a:off x="5142199" y="3781336"/>
            <a:ext cx="4623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Avec la loi d’induction de Faraday :</a:t>
            </a:r>
          </a:p>
        </p:txBody>
      </p:sp>
    </p:spTree>
    <p:extLst>
      <p:ext uri="{BB962C8B-B14F-4D97-AF65-F5344CB8AC3E}">
        <p14:creationId xmlns:p14="http://schemas.microsoft.com/office/powerpoint/2010/main" val="1107787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DB72-DB08-FA1F-70A3-81C7AA4B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B708A14-7AD8-F906-9428-55AA733330A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ACA7FB-0C13-C50F-4218-9D5AA75AC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65" y="1134021"/>
            <a:ext cx="6248472" cy="5002619"/>
          </a:xfrm>
          <a:prstGeom prst="rect">
            <a:avLst/>
          </a:prstGeom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02E3EBF-83CF-CDAB-6E81-3F5619A0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2C509BE-47CE-CB4E-000E-B6A2469EF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5E222B1-ADC7-D7FE-D74A-FE5F72B6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7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76040-3426-383D-7370-6C008C2818B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79C7B5A-3DE1-8202-E607-0ABC8D3D8DE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03D6B-CAB7-46D7-8378-CCB85960F286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Comparaison des modèles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84167BCF-6F35-D8AA-74C8-D3F4C965A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01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424FC-DE16-72B5-4E32-E5F89BDB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CCFAA7C-D7B7-E184-9D5C-111099C9C2EF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D6E705C-7309-D776-4FD6-26C9D2269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8DA819D-0A20-E046-459B-71B43716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9B776FD-3D6C-F020-C8A0-F8BD34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8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29B8-CE06-4008-392E-0E7D8F3EE0E4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AA996A7-38A4-CA09-01D3-D845147988D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862D2-66C9-548A-EF18-8A998AADB929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Cas d’un bruit parasite (50Hz)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F0AD37B3-DE0E-E581-0B82-8DC8D5DB2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7DCD5A-7223-5880-4D13-F86B9B6D1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05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AD859-B8B5-8797-6B9A-FE9F2AEA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520869B-887A-A23B-0D0C-062F5ABD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96CCBAC-AF2D-CA38-6365-DE0602AC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7D0557B-7C2F-3FC7-D495-261AF77F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9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DE4872-9D8C-4A26-B0D3-0DB0B393FC96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FBB9180-18F7-9264-3825-9DA603D15A6E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AAB4A-1F7B-4435-266F-D9DDD4665A29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Expérimentation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913BD4-075D-C31D-2B65-6F7B9A19EB99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CCBBD5-CD86-8615-6C25-A85B93690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698" t="16353" r="18624" b="16753"/>
          <a:stretch>
            <a:fillRect/>
          </a:stretch>
        </p:blipFill>
        <p:spPr>
          <a:xfrm rot="16200000">
            <a:off x="5197159" y="48882"/>
            <a:ext cx="2401294" cy="45875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FD7C1D-6943-3D2C-2C75-0B8F6C5F6BD2}"/>
              </a:ext>
            </a:extLst>
          </p:cNvPr>
          <p:cNvSpPr txBox="1"/>
          <p:nvPr/>
        </p:nvSpPr>
        <p:spPr>
          <a:xfrm>
            <a:off x="452411" y="1241427"/>
            <a:ext cx="3030260" cy="480131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Matériel :</a:t>
            </a:r>
          </a:p>
          <a:p>
            <a:r>
              <a:rPr lang="fr-FR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Guitare électrique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ym typeface="Wingdings" panose="05000000000000000000" pitchFamily="2" charset="2"/>
              </a:rPr>
              <a:t>Corde Métallique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Sillet &amp; Chevalets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ym typeface="Wingdings" panose="05000000000000000000" pitchFamily="2" charset="2"/>
              </a:rPr>
              <a:t>Système d’excitation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Clé de tension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ym typeface="Wingdings" panose="05000000000000000000" pitchFamily="2" charset="2"/>
              </a:rPr>
              <a:t>Bobine parasite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ym typeface="Wingdings" panose="05000000000000000000" pitchFamily="2" charset="2"/>
              </a:rPr>
              <a:t>Micros</a:t>
            </a:r>
            <a:r>
              <a:rPr lang="fr-FR" dirty="0">
                <a:sym typeface="Wingdings" panose="05000000000000000000" pitchFamily="2" charset="2"/>
              </a:rPr>
              <a:t> (Simple &amp; double bobinage)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Préampli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Carte d’acquisition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Oscilloscope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Ordinateur + Logiciel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60B59-B485-023A-928E-1C9CAA0053FE}"/>
              </a:ext>
            </a:extLst>
          </p:cNvPr>
          <p:cNvSpPr txBox="1"/>
          <p:nvPr/>
        </p:nvSpPr>
        <p:spPr>
          <a:xfrm>
            <a:off x="3759200" y="4288415"/>
            <a:ext cx="5064543" cy="1754326"/>
          </a:xfrm>
          <a:prstGeom prst="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numCol="2" rtlCol="0">
            <a:spAutoFit/>
          </a:bodyPr>
          <a:lstStyle/>
          <a:p>
            <a:r>
              <a:rPr lang="fr-FR" b="1" dirty="0"/>
              <a:t>Paramètres variables 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ym typeface="Wingdings" panose="05000000000000000000" pitchFamily="2" charset="2"/>
              </a:rPr>
              <a:t>Type de micro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ym typeface="Wingdings" panose="05000000000000000000" pitchFamily="2" charset="2"/>
              </a:rPr>
              <a:t>Position du micro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Bruit résiduel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i="1" dirty="0"/>
              <a:t>Nombre de Spires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i="1" dirty="0"/>
              <a:t>Tension de la corde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228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C011195-2549-BCE2-65E7-95D97701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D27B990-34B8-0612-B00F-135A3864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DCD4202-BEB8-74F4-5148-FD85D148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10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65F9-2328-58C8-82DC-3D4C33494CA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6118C6D-1578-28CB-51EF-9F9921702B3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Sources &amp; Bibliographie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45439" y="1254482"/>
            <a:ext cx="8491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[1] </a:t>
            </a:r>
            <a:r>
              <a:rPr lang="fr-FR" sz="1200" dirty="0"/>
              <a:t>P. </a:t>
            </a:r>
            <a:r>
              <a:rPr lang="fr-FR" sz="1200" dirty="0" err="1"/>
              <a:t>Perov</a:t>
            </a:r>
            <a:r>
              <a:rPr lang="fr-FR" sz="1200" dirty="0"/>
              <a:t>, W. Johnson, and N. </a:t>
            </a:r>
            <a:r>
              <a:rPr lang="fr-FR" sz="1200" dirty="0" err="1"/>
              <a:t>Perova</a:t>
            </a:r>
            <a:r>
              <a:rPr lang="fr-FR" sz="1200" dirty="0"/>
              <a:t>-Mello, "The </a:t>
            </a:r>
            <a:r>
              <a:rPr lang="fr-FR" sz="1200" dirty="0" err="1"/>
              <a:t>physics</a:t>
            </a:r>
            <a:r>
              <a:rPr lang="fr-FR" sz="1200" dirty="0"/>
              <a:t> of </a:t>
            </a:r>
            <a:r>
              <a:rPr lang="fr-FR" sz="1200" dirty="0" err="1"/>
              <a:t>guitar</a:t>
            </a:r>
            <a:r>
              <a:rPr lang="fr-FR" sz="1200" dirty="0"/>
              <a:t> string vibrations," </a:t>
            </a:r>
            <a:r>
              <a:rPr lang="fr-FR" sz="1200" i="1" dirty="0"/>
              <a:t>American Journal of </a:t>
            </a:r>
            <a:r>
              <a:rPr lang="fr-FR" sz="1200" i="1" dirty="0" err="1"/>
              <a:t>Physics</a:t>
            </a:r>
            <a:r>
              <a:rPr lang="fr-FR" sz="1200" dirty="0"/>
              <a:t>, vol. 84, pp. 38–43, 2016.</a:t>
            </a:r>
          </a:p>
          <a:p>
            <a:r>
              <a:rPr lang="fr-FR" sz="1200" b="1" dirty="0"/>
              <a:t>[2] </a:t>
            </a:r>
            <a:r>
              <a:rPr lang="fr-FR" sz="1200" dirty="0"/>
              <a:t>T. Ray, J. </a:t>
            </a:r>
            <a:r>
              <a:rPr lang="fr-FR" sz="1200" dirty="0" err="1"/>
              <a:t>Kaljun</a:t>
            </a:r>
            <a:r>
              <a:rPr lang="fr-FR" sz="1200" dirty="0"/>
              <a:t>, and B. </a:t>
            </a:r>
            <a:r>
              <a:rPr lang="fr-FR" sz="1200" dirty="0" err="1"/>
              <a:t>Dolsak</a:t>
            </a:r>
            <a:r>
              <a:rPr lang="fr-FR" sz="1200" dirty="0"/>
              <a:t>, "</a:t>
            </a:r>
            <a:r>
              <a:rPr lang="fr-FR" sz="1200" dirty="0" err="1"/>
              <a:t>Numerical</a:t>
            </a:r>
            <a:r>
              <a:rPr lang="fr-FR" sz="1200" dirty="0"/>
              <a:t> model application to </a:t>
            </a:r>
            <a:r>
              <a:rPr lang="fr-FR" sz="1200" dirty="0" err="1"/>
              <a:t>predict</a:t>
            </a:r>
            <a:r>
              <a:rPr lang="fr-FR" sz="1200" dirty="0"/>
              <a:t> the </a:t>
            </a:r>
            <a:r>
              <a:rPr lang="fr-FR" sz="1200" dirty="0" err="1"/>
              <a:t>sound</a:t>
            </a:r>
            <a:r>
              <a:rPr lang="fr-FR" sz="1200" dirty="0"/>
              <a:t> </a:t>
            </a:r>
            <a:r>
              <a:rPr lang="fr-FR" sz="1200" dirty="0" err="1"/>
              <a:t>quality</a:t>
            </a:r>
            <a:r>
              <a:rPr lang="fr-FR" sz="1200" dirty="0"/>
              <a:t> of an instrument," </a:t>
            </a:r>
            <a:r>
              <a:rPr lang="fr-FR" sz="1200" i="1" dirty="0" err="1"/>
              <a:t>University</a:t>
            </a:r>
            <a:r>
              <a:rPr lang="fr-FR" sz="1200" i="1" dirty="0"/>
              <a:t> of Maribor, </a:t>
            </a:r>
            <a:r>
              <a:rPr lang="fr-FR" sz="1200" i="1" dirty="0" err="1"/>
              <a:t>Faculty</a:t>
            </a:r>
            <a:r>
              <a:rPr lang="fr-FR" sz="1200" i="1" dirty="0"/>
              <a:t> of </a:t>
            </a:r>
            <a:r>
              <a:rPr lang="fr-FR" sz="1200" i="1" dirty="0" err="1"/>
              <a:t>Mechanical</a:t>
            </a:r>
            <a:r>
              <a:rPr lang="fr-FR" sz="1200" i="1" dirty="0"/>
              <a:t> Engineering</a:t>
            </a:r>
            <a:r>
              <a:rPr lang="fr-FR" sz="1200" dirty="0"/>
              <a:t>, </a:t>
            </a:r>
            <a:r>
              <a:rPr lang="fr-FR" sz="1200" dirty="0" err="1"/>
              <a:t>Slovenia</a:t>
            </a:r>
            <a:r>
              <a:rPr lang="fr-FR" sz="1200" dirty="0"/>
              <a:t>.</a:t>
            </a:r>
          </a:p>
          <a:p>
            <a:r>
              <a:rPr lang="fr-FR" sz="1200" b="1" dirty="0"/>
              <a:t>[3] </a:t>
            </a:r>
            <a:r>
              <a:rPr lang="fr-FR" sz="1200" dirty="0"/>
              <a:t>C. </a:t>
            </a:r>
            <a:r>
              <a:rPr lang="fr-FR" sz="1200" dirty="0" err="1"/>
              <a:t>Issanchou</a:t>
            </a:r>
            <a:r>
              <a:rPr lang="fr-FR" sz="1200" dirty="0"/>
              <a:t>, J.-L. Le </a:t>
            </a:r>
            <a:r>
              <a:rPr lang="fr-FR" sz="1200" dirty="0" err="1"/>
              <a:t>Carrou</a:t>
            </a:r>
            <a:r>
              <a:rPr lang="fr-FR" sz="1200" dirty="0"/>
              <a:t>, C. </a:t>
            </a:r>
            <a:r>
              <a:rPr lang="fr-FR" sz="1200" dirty="0" err="1"/>
              <a:t>Touzé</a:t>
            </a:r>
            <a:r>
              <a:rPr lang="fr-FR" sz="1200" dirty="0"/>
              <a:t>, and O. </a:t>
            </a:r>
            <a:r>
              <a:rPr lang="fr-FR" sz="1200" dirty="0" err="1"/>
              <a:t>Doaré</a:t>
            </a:r>
            <a:r>
              <a:rPr lang="fr-FR" sz="1200" dirty="0"/>
              <a:t>, "Étude du contact corde / frette," 2015.</a:t>
            </a:r>
          </a:p>
          <a:p>
            <a:r>
              <a:rPr lang="fr-FR" sz="1200" b="1" dirty="0"/>
              <a:t>[4] </a:t>
            </a:r>
            <a:r>
              <a:rPr lang="fr-FR" sz="1200" dirty="0"/>
              <a:t>Q. </a:t>
            </a:r>
            <a:r>
              <a:rPr lang="fr-FR" sz="1200" dirty="0" err="1"/>
              <a:t>Leclère</a:t>
            </a:r>
            <a:r>
              <a:rPr lang="fr-FR" sz="1200" dirty="0"/>
              <a:t>, J.-L. Le </a:t>
            </a:r>
            <a:r>
              <a:rPr lang="fr-FR" sz="1200" dirty="0" err="1"/>
              <a:t>Carrou</a:t>
            </a:r>
            <a:r>
              <a:rPr lang="fr-FR" sz="1200" dirty="0"/>
              <a:t>, and P.-A. </a:t>
            </a:r>
            <a:r>
              <a:rPr lang="fr-FR" sz="1200" dirty="0" err="1"/>
              <a:t>Roiron</a:t>
            </a:r>
            <a:r>
              <a:rPr lang="fr-FR" sz="1200" dirty="0"/>
              <a:t>, "Caractérisation expérimentale de la réponse d'une corde vibrante sollicitée par un plectre."</a:t>
            </a:r>
          </a:p>
          <a:p>
            <a:r>
              <a:rPr lang="fr-FR" sz="1200" b="1" dirty="0"/>
              <a:t>[5] </a:t>
            </a:r>
            <a:r>
              <a:rPr lang="fr-FR" sz="1200" dirty="0"/>
              <a:t>Thomann, "Thomann Online Music Store.’’ [Online]. </a:t>
            </a:r>
            <a:r>
              <a:rPr lang="fr-FR" sz="1200" dirty="0" err="1"/>
              <a:t>Available</a:t>
            </a:r>
            <a:r>
              <a:rPr lang="fr-FR" sz="1200" dirty="0"/>
              <a:t>: </a:t>
            </a:r>
            <a:r>
              <a:rPr lang="fr-FR" sz="1200" dirty="0">
                <a:hlinkClick r:id="rId2"/>
              </a:rPr>
              <a:t>https://www.thomann.de</a:t>
            </a:r>
            <a:endParaRPr lang="fr-FR" sz="1200" dirty="0"/>
          </a:p>
          <a:p>
            <a:r>
              <a:rPr lang="fr-FR" sz="1200" b="1" dirty="0"/>
              <a:t>[6] </a:t>
            </a:r>
            <a:r>
              <a:rPr lang="fr-FR" sz="1200" dirty="0"/>
              <a:t>S. W. Duncan, "Interview </a:t>
            </a:r>
            <a:r>
              <a:rPr lang="fr-FR" sz="1200" dirty="0" err="1"/>
              <a:t>With</a:t>
            </a:r>
            <a:r>
              <a:rPr lang="fr-FR" sz="1200" dirty="0"/>
              <a:t> Seth Lover.’’ [Online]. </a:t>
            </a:r>
            <a:r>
              <a:rPr lang="fr-FR" sz="1200" dirty="0" err="1"/>
              <a:t>Available</a:t>
            </a:r>
            <a:r>
              <a:rPr lang="fr-FR" sz="1200" dirty="0"/>
              <a:t>: </a:t>
            </a:r>
            <a:r>
              <a:rPr lang="fr-FR" sz="1200" dirty="0">
                <a:hlinkClick r:id="rId3"/>
              </a:rPr>
              <a:t>https://www.seymourduncan.com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EEA9-F7B8-9D5F-AC77-42444A77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0697540-CBC1-7307-57A5-D4FD6B78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2AD455C-4E0F-8C44-FB73-C500A0B3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CE99780-CA7B-47C1-ABE2-119498B5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11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A568D-A22D-99BA-EE74-88DC5BA3799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5695410-0F63-6315-9F97-C9017F7BE1F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4EA3F-0ED5-07EF-A5BD-494C702F369B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1 : Loi d’induction de Faraday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F56A8-C29C-5426-89FC-284E560D8A8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E1D4B-FF0A-ADB0-43F0-458577E9DE7F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029F39-5C02-3985-AF5F-A28D263A7881}"/>
              </a:ext>
            </a:extLst>
          </p:cNvPr>
          <p:cNvGrpSpPr/>
          <p:nvPr/>
        </p:nvGrpSpPr>
        <p:grpSpPr>
          <a:xfrm rot="10800000">
            <a:off x="-736802" y="1802750"/>
            <a:ext cx="4973727" cy="2925771"/>
            <a:chOff x="4696904" y="1390254"/>
            <a:chExt cx="4973727" cy="292577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A4741D-B170-2F09-583D-545C54E14DE0}"/>
                </a:ext>
              </a:extLst>
            </p:cNvPr>
            <p:cNvGrpSpPr/>
            <p:nvPr/>
          </p:nvGrpSpPr>
          <p:grpSpPr>
            <a:xfrm>
              <a:off x="5907188" y="1390254"/>
              <a:ext cx="2527760" cy="2925771"/>
              <a:chOff x="5907188" y="1390254"/>
              <a:chExt cx="2527760" cy="292577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21CFDF9-4291-8D12-74B3-B173DE76F8DE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109894D-0C13-D7BC-0A38-126F9177B79E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A38F9B1-D91D-1218-899D-63801034424A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EFA7991-B1FD-4D9F-E2A8-E8EE349CA2DE}"/>
                  </a:ext>
                </a:extLst>
              </p:cNvPr>
              <p:cNvSpPr/>
              <p:nvPr/>
            </p:nvSpPr>
            <p:spPr>
              <a:xfrm>
                <a:off x="5991859" y="315726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F4AE618D-44F2-E55D-1043-667FB8FBF8FA}"/>
                  </a:ext>
                </a:extLst>
              </p:cNvPr>
              <p:cNvSpPr/>
              <p:nvPr/>
            </p:nvSpPr>
            <p:spPr>
              <a:xfrm rot="5400000">
                <a:off x="5166741" y="2301751"/>
                <a:ext cx="2672806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572B0B0-2176-7203-972E-1EA06FB2A7CD}"/>
                  </a:ext>
                </a:extLst>
              </p:cNvPr>
              <p:cNvSpPr/>
              <p:nvPr/>
            </p:nvSpPr>
            <p:spPr>
              <a:xfrm rot="5400000" flipV="1">
                <a:off x="6501124" y="2298382"/>
                <a:ext cx="2675737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DDF69DD-1E42-2112-9BF5-84E28D6B5F92}"/>
                  </a:ext>
                </a:extLst>
              </p:cNvPr>
              <p:cNvCxnSpPr>
                <a:cxnSpLocks/>
                <a:stCxn id="42" idx="1"/>
              </p:cNvCxnSpPr>
              <p:nvPr/>
            </p:nvCxnSpPr>
            <p:spPr>
              <a:xfrm rot="10800000" flipH="1" flipV="1">
                <a:off x="7172960" y="2917222"/>
                <a:ext cx="19314" cy="1398803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7205DBE-459C-B395-3584-9F4722AB6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82847AF-498C-DF5E-BDE4-017FDB6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5F6D1BD-9F89-FCC2-B040-CD22C7FB6A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150BE16-5E9F-407A-16A7-6130EBF540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CA8DA61-3CB2-1EF9-0F7D-89B45934C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B967B8D-E992-37D1-73EF-496B4779B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3B2475F-F2A5-6B66-44F9-7385BA187E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63F86B7-F05C-00CA-4D2F-CC9B3737F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4675CC6-5BA0-23F3-5EA6-AB7ADCC40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39CC67-64C7-AF1A-9F7A-208E6F90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C9386F2B-937C-216F-8A7D-DB7A20EB35C8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27" name="TextBox 1026">
                    <a:extLst>
                      <a:ext uri="{FF2B5EF4-FFF2-40B4-BE49-F238E27FC236}">
                        <a16:creationId xmlns:a16="http://schemas.microsoft.com/office/drawing/2014/main" id="{38FD531E-F5DC-BB2B-7744-9747DCF9AB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5000" r="-19444" b="-980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5D0BAF00-F5A2-ADBD-073E-C00978D6471C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29A901C5-9433-402F-B6E7-920E3568775F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/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E6379458-06A2-8BE6-84DA-CDDF9B5A55A1}"/>
              </a:ext>
            </a:extLst>
          </p:cNvPr>
          <p:cNvGrpSpPr/>
          <p:nvPr/>
        </p:nvGrpSpPr>
        <p:grpSpPr>
          <a:xfrm rot="10800000">
            <a:off x="2222427" y="1802749"/>
            <a:ext cx="4744887" cy="2939324"/>
            <a:chOff x="4696904" y="1390254"/>
            <a:chExt cx="4973727" cy="33366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66DA6C7-65F1-7B57-BA30-F55D1109FDA7}"/>
                </a:ext>
              </a:extLst>
            </p:cNvPr>
            <p:cNvGrpSpPr/>
            <p:nvPr/>
          </p:nvGrpSpPr>
          <p:grpSpPr>
            <a:xfrm>
              <a:off x="5837879" y="1390254"/>
              <a:ext cx="2597068" cy="3336602"/>
              <a:chOff x="5837879" y="1390254"/>
              <a:chExt cx="2597068" cy="3336602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5A41D1F-96FD-ABAF-2D61-59961D5F60C8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A4AB24D2-E5CC-651D-CBD4-6E4E03DBFC19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02E2B5F-45EC-5E56-4C43-1E1AD9649537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AB23C8A-12E2-A70F-DA1F-5F7A290E69D8}"/>
                  </a:ext>
                </a:extLst>
              </p:cNvPr>
              <p:cNvSpPr/>
              <p:nvPr/>
            </p:nvSpPr>
            <p:spPr>
              <a:xfrm>
                <a:off x="5974194" y="406420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18C1FC13-5AA2-560D-DD00-4E43B2CA7F47}"/>
                  </a:ext>
                </a:extLst>
              </p:cNvPr>
              <p:cNvSpPr/>
              <p:nvPr/>
            </p:nvSpPr>
            <p:spPr>
              <a:xfrm rot="5400000">
                <a:off x="5128641" y="2300660"/>
                <a:ext cx="2749012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B2322817-EDBD-2DC7-B5B5-7D90D12FBA8A}"/>
                  </a:ext>
                </a:extLst>
              </p:cNvPr>
              <p:cNvSpPr/>
              <p:nvPr/>
            </p:nvSpPr>
            <p:spPr>
              <a:xfrm rot="5400000" flipV="1">
                <a:off x="6480374" y="2301307"/>
                <a:ext cx="2717236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D2797B2-7C00-FB64-3F35-4B733C60B4BC}"/>
                  </a:ext>
                </a:extLst>
              </p:cNvPr>
              <p:cNvCxnSpPr>
                <a:cxnSpLocks/>
                <a:stCxn id="68" idx="1"/>
              </p:cNvCxnSpPr>
              <p:nvPr/>
            </p:nvCxnSpPr>
            <p:spPr>
              <a:xfrm rot="10800000" flipH="1" flipV="1">
                <a:off x="7172960" y="2917222"/>
                <a:ext cx="842" cy="1475009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967282-0FD1-2B99-0A9F-12EB732A8BA6}"/>
                  </a:ext>
                </a:extLst>
              </p:cNvPr>
              <p:cNvSpPr txBox="1"/>
              <p:nvPr/>
            </p:nvSpPr>
            <p:spPr>
              <a:xfrm rot="10800000">
                <a:off x="5837879" y="4357524"/>
                <a:ext cx="2726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rgbClr val="C00000"/>
                    </a:solidFill>
                  </a:rPr>
                  <a:t>i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0C68269-9448-F8FA-F1B2-4684A925FF31}"/>
                  </a:ext>
                </a:extLst>
              </p:cNvPr>
              <p:cNvCxnSpPr>
                <a:cxnSpLocks/>
                <a:endCxn id="50" idx="3"/>
              </p:cNvCxnSpPr>
              <p:nvPr/>
            </p:nvCxnSpPr>
            <p:spPr>
              <a:xfrm flipV="1">
                <a:off x="6154535" y="4512258"/>
                <a:ext cx="165595" cy="37229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CF4A742-FFB2-EA95-12B9-60EED3BA4CBC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H="1" flipV="1">
                <a:off x="6256062" y="4392230"/>
                <a:ext cx="64068" cy="120028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D6708DB-8DD5-1664-B357-BD630BD0E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897620C-1260-B939-E21B-D505923541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2E4FD29-97F3-8025-A398-8E33D4BBB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B34D579-0D90-49AF-EB49-36B656F65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F05426E-36B0-A234-10C7-460D1B0BA4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4FAABA4-1527-1FDF-36E6-8CC489C59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00C5091-6592-C43E-7830-CB28A68888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2932CA7-7A48-C6E0-39CC-B82392318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7D9F166-CCCC-C2E3-61BC-825383407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E4DA187-A8B1-5C37-3CB8-F84175BF7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74C7FF2-F223-3375-DFB5-85944DE2C6A7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56" name="TextBox 1055">
                    <a:extLst>
                      <a:ext uri="{FF2B5EF4-FFF2-40B4-BE49-F238E27FC236}">
                        <a16:creationId xmlns:a16="http://schemas.microsoft.com/office/drawing/2014/main" id="{F7E63660-0DD0-CEC0-8FAF-7979B94659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5714" r="-22857" b="-2444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BC829507-AA5C-C0B3-B29F-46A9EA5EBA49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F6686F3D-53BD-B64B-E53B-5C8C11606DED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AE1717-2D77-09AF-B9F7-AFBE8B19269C}"/>
              </a:ext>
            </a:extLst>
          </p:cNvPr>
          <p:cNvCxnSpPr/>
          <p:nvPr/>
        </p:nvCxnSpPr>
        <p:spPr>
          <a:xfrm>
            <a:off x="2710866" y="4268850"/>
            <a:ext cx="8689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B13798B-711E-BD04-CAB9-6C762668F066}"/>
              </a:ext>
            </a:extLst>
          </p:cNvPr>
          <p:cNvSpPr txBox="1"/>
          <p:nvPr/>
        </p:nvSpPr>
        <p:spPr>
          <a:xfrm>
            <a:off x="6116245" y="1648429"/>
            <a:ext cx="2701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Dans un circuit fermé conducteur, une variation de flux magnétique entraine la formation d’un courant induit</a:t>
            </a:r>
          </a:p>
          <a:p>
            <a:pPr algn="ctr"/>
            <a:endParaRPr lang="fr-FR" sz="1600" dirty="0"/>
          </a:p>
          <a:p>
            <a:pPr algn="ctr"/>
            <a:endParaRPr lang="fr-FR" sz="1600" dirty="0"/>
          </a:p>
          <a:p>
            <a:pPr algn="ctr"/>
            <a:r>
              <a:rPr lang="fr-FR" sz="1600" dirty="0"/>
              <a:t>L’effet de la F.E.M induite est tel qu’il s’oppose à la variation de flux</a:t>
            </a:r>
          </a:p>
        </p:txBody>
      </p:sp>
    </p:spTree>
    <p:extLst>
      <p:ext uri="{BB962C8B-B14F-4D97-AF65-F5344CB8AC3E}">
        <p14:creationId xmlns:p14="http://schemas.microsoft.com/office/powerpoint/2010/main" val="3010136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10E9A24-B484-295A-C630-F6DE6A33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7083A4E-2E4A-99E1-8563-6734096B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39197A-E1E0-DE57-ABEA-CF1EC736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12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89EBA-FB81-9346-F14B-289AA14F693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2 : Démonstration Modèle 1 (Micro Simple) </a:t>
            </a:r>
            <a:r>
              <a:rPr lang="fr-FR" sz="1000" i="1" dirty="0"/>
              <a:t>cf. Source [1] 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5B142-67A4-A817-F539-9E5FF0838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3" y="4427234"/>
            <a:ext cx="4020249" cy="1409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 fixé de chaque coté, le déplacement transversal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200" dirty="0"/>
                  <a:t> est régit par l’équation différentielle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r>
                  <a:rPr lang="fr-FR" sz="1200" dirty="0"/>
                  <a:t> la vitesse de l’onde,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la tension de la corde et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fr-FR" sz="1200" dirty="0"/>
                  <a:t> la masse linéique de la corde.</a:t>
                </a:r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 err="1"/>
                  <a:t>ème</a:t>
                </a:r>
                <a:r>
                  <a:rPr lang="fr-FR" sz="1200" dirty="0"/>
                  <a:t>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blipFill>
                <a:blip r:embed="rId3"/>
                <a:stretch>
                  <a:fillRect t="-141" b="-29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521182" y="1232452"/>
                <a:ext cx="4121885" cy="5194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on obtient 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la loi d’induction de Faraday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𝑚𝑖𝑐𝑟𝑜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182" y="1232452"/>
                <a:ext cx="4121885" cy="5194820"/>
              </a:xfrm>
              <a:prstGeom prst="rect">
                <a:avLst/>
              </a:prstGeom>
              <a:blipFill>
                <a:blip r:embed="rId4"/>
                <a:stretch>
                  <a:fillRect l="-148" t="-117" b="-91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D0EC3-584D-8431-D1DA-D93C4A505153}"/>
                  </a:ext>
                </a:extLst>
              </p:cNvPr>
              <p:cNvSpPr txBox="1"/>
              <p:nvPr/>
            </p:nvSpPr>
            <p:spPr>
              <a:xfrm>
                <a:off x="1554367" y="5573503"/>
                <a:ext cx="195695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D0EC3-584D-8431-D1DA-D93C4A50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367" y="5573503"/>
                <a:ext cx="195695" cy="184666"/>
              </a:xfrm>
              <a:prstGeom prst="rect">
                <a:avLst/>
              </a:prstGeom>
              <a:blipFill>
                <a:blip r:embed="rId5"/>
                <a:stretch>
                  <a:fillRect l="-9375" r="-3125" b="-129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11F5-E24D-9411-5E6C-12A01813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A41EE07-4006-7CB8-085E-290BB2BB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38707BA-0D24-7AAE-1AD8-828D7EE8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2453AC4-1208-D410-96BF-4082CAF2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13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4B9FA-87FC-D467-19FB-B9E4D845B0C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B13F1CA-BB66-383D-CEB1-8E16B8422B5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82BD2-8E79-25C3-CD5A-92EC04FFFA2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3 : Démonstration Modèle 2 (</a:t>
            </a:r>
            <a:r>
              <a:rPr lang="fr-FR" sz="2000" b="1" dirty="0" err="1"/>
              <a:t>Humbucker</a:t>
            </a:r>
            <a:r>
              <a:rPr lang="fr-FR" sz="2000" b="1" dirty="0"/>
              <a:t>) </a:t>
            </a:r>
            <a:r>
              <a:rPr lang="fr-FR" sz="1000" i="1" dirty="0"/>
              <a:t>cf. Source [1]</a:t>
            </a:r>
            <a:r>
              <a:rPr lang="fr-FR" sz="1000" b="1" dirty="0"/>
              <a:t> </a:t>
            </a:r>
            <a:endParaRPr lang="fr-FR" sz="20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48EC05-3337-D2C1-4786-E33CB2A751D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0AA5F-DDF2-AEC4-B3B6-6DAAC7409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3" y="4427234"/>
            <a:ext cx="4020249" cy="1409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D93710-B14B-B3AE-EC83-DF8CF40D553A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 fixé de chaque coté, le déplacement transversal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200" dirty="0"/>
                  <a:t> est régit par l’équation différentielle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r>
                  <a:rPr lang="fr-FR" sz="1200" dirty="0"/>
                  <a:t> la vitesse de l’onde,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la tension de la corde et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fr-FR" sz="1200" dirty="0"/>
                  <a:t> la masse linéique de la corde.</a:t>
                </a:r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 err="1"/>
                  <a:t>ème</a:t>
                </a:r>
                <a:r>
                  <a:rPr lang="fr-FR" sz="1200" dirty="0"/>
                  <a:t>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D93710-B14B-B3AE-EC83-DF8CF40D5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blipFill>
                <a:blip r:embed="rId3"/>
                <a:stretch>
                  <a:fillRect t="-141" b="-29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4700D-4EE4-A8FA-DE2E-020E3F4F0936}"/>
                  </a:ext>
                </a:extLst>
              </p:cNvPr>
              <p:cNvSpPr txBox="1"/>
              <p:nvPr/>
            </p:nvSpPr>
            <p:spPr>
              <a:xfrm>
                <a:off x="4521182" y="1232452"/>
                <a:ext cx="4121885" cy="5669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on obtient 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la loi d’induction de Faraday et sachant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05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4700D-4EE4-A8FA-DE2E-020E3F4F0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182" y="1232452"/>
                <a:ext cx="4121885" cy="5669822"/>
              </a:xfrm>
              <a:prstGeom prst="rect">
                <a:avLst/>
              </a:prstGeom>
              <a:blipFill>
                <a:blip r:embed="rId4"/>
                <a:stretch>
                  <a:fillRect l="-148" t="-108" b="-29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CDF0E6-3584-AC38-6324-40DDB4A24BD0}"/>
                  </a:ext>
                </a:extLst>
              </p:cNvPr>
              <p:cNvSpPr txBox="1"/>
              <p:nvPr/>
            </p:nvSpPr>
            <p:spPr>
              <a:xfrm>
                <a:off x="1554367" y="5573503"/>
                <a:ext cx="195695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CDF0E6-3584-AC38-6324-40DDB4A24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367" y="5573503"/>
                <a:ext cx="195695" cy="184666"/>
              </a:xfrm>
              <a:prstGeom prst="rect">
                <a:avLst/>
              </a:prstGeom>
              <a:blipFill>
                <a:blip r:embed="rId5"/>
                <a:stretch>
                  <a:fillRect l="-9375" r="-3125" b="-129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2152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AAD9-A422-7202-0B30-0D28B5E9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D1B4FF1-9E06-8C21-3237-98056660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1FF31C7-6DE8-9F8E-C316-27342893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78E00E3-9107-F660-4465-7D796FF2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14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6B6054-7546-BF4C-05E8-838799AD94F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889E58-42C8-3971-7404-080199592D5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322EC-5E0A-C386-1A8F-6C04DB50602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 Modélisation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7FDBA9-87D9-FF36-0C64-B77D97DFCB7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56163-D1F2-A6E9-A147-4700D613A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24" t="52919" r="4488" b="3304"/>
          <a:stretch>
            <a:fillRect/>
          </a:stretch>
        </p:blipFill>
        <p:spPr>
          <a:xfrm>
            <a:off x="4707172" y="1850167"/>
            <a:ext cx="4389120" cy="3886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0422E6-1080-9082-3A8A-3C2CCDC56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24" t="5928" r="4488" b="48029"/>
          <a:stretch>
            <a:fillRect/>
          </a:stretch>
        </p:blipFill>
        <p:spPr>
          <a:xfrm>
            <a:off x="345440" y="1850168"/>
            <a:ext cx="4389120" cy="3886360"/>
          </a:xfrm>
          <a:prstGeom prst="rect">
            <a:avLst/>
          </a:prstGeom>
        </p:spPr>
      </p:pic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204532C9-1EF7-26FA-8D12-D5A9A1630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095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A0D83-3D06-9CFF-78D4-0445EAD3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9F907FA-CED1-54E9-17E7-416C91EE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33C6B84-846B-2215-13B3-782CBD08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88646EA-FF63-7E24-3792-C56BC14E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15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E3D7A7-AC51-8A50-88FE-7A809CDB3BF1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7DF6B46-A7D2-9FF3-D8B4-09037F978036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C9D4E-A510-2975-30A6-4A399BB51973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5 : Code Python Modélisation (Bruit Parasite)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C5C503-F3FC-7353-B31B-042B3CC23495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156E56-7F7C-1D9A-8B5E-CD998C3B4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5072" r="6353" b="4348"/>
          <a:stretch>
            <a:fillRect/>
          </a:stretch>
        </p:blipFill>
        <p:spPr>
          <a:xfrm>
            <a:off x="4753557" y="1838242"/>
            <a:ext cx="4045003" cy="38982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7830C8-85E2-1DDA-9A3E-34DD98D81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53" t="7270" r="6353" b="46339"/>
          <a:stretch>
            <a:fillRect/>
          </a:stretch>
        </p:blipFill>
        <p:spPr>
          <a:xfrm>
            <a:off x="326442" y="1838241"/>
            <a:ext cx="4389120" cy="3898285"/>
          </a:xfrm>
          <a:prstGeom prst="rect">
            <a:avLst/>
          </a:prstGeom>
        </p:spPr>
      </p:pic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EE492694-F03C-B441-C89A-2A70AC5EC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469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92842E-33D7-43D3-4A8A-6B3D6EB081C3}"/>
              </a:ext>
            </a:extLst>
          </p:cNvPr>
          <p:cNvSpPr/>
          <p:nvPr/>
        </p:nvSpPr>
        <p:spPr>
          <a:xfrm>
            <a:off x="-63611" y="-33793"/>
            <a:ext cx="9271221" cy="69255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b="1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4259711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9C79-A896-7E7B-C513-0EEBC6F3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066EE6F-D1B8-F4E8-6351-9EE111B7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14D4928-5BA2-BAF4-078A-8BA51DAC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C45C1CF-C176-15BC-A9C1-DBD487B7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17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914E8D-8F8E-8EB5-86C5-4CB56459C7C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F5B8FE0-D724-2D85-732D-4375B8AA058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0F546-1BE7-6353-776F-6DC91BF42E00}"/>
              </a:ext>
            </a:extLst>
          </p:cNvPr>
          <p:cNvSpPr txBox="1"/>
          <p:nvPr/>
        </p:nvSpPr>
        <p:spPr>
          <a:xfrm>
            <a:off x="345439" y="721360"/>
            <a:ext cx="8170407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Modélisation : 3</a:t>
            </a:r>
            <a:r>
              <a:rPr lang="fr-FR" sz="2000" b="1" baseline="30000" dirty="0">
                <a:latin typeface="+mj-lt"/>
              </a:rPr>
              <a:t>e</a:t>
            </a:r>
            <a:r>
              <a:rPr lang="fr-FR" sz="2000" b="1" dirty="0">
                <a:latin typeface="+mj-lt"/>
              </a:rPr>
              <a:t> Modèle (Micro double bobinage </a:t>
            </a:r>
            <a:r>
              <a:rPr lang="fr-FR" sz="2000" b="1" dirty="0" err="1">
                <a:latin typeface="+mj-lt"/>
              </a:rPr>
              <a:t>humbucker</a:t>
            </a:r>
            <a:r>
              <a:rPr lang="fr-FR" sz="2000" b="1" dirty="0">
                <a:latin typeface="+mj-lt"/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4EB74E-8402-F9BA-A9C1-8D990C2B586D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A6D75-EA28-A378-638E-F730399C2B27}"/>
              </a:ext>
            </a:extLst>
          </p:cNvPr>
          <p:cNvSpPr/>
          <p:nvPr/>
        </p:nvSpPr>
        <p:spPr>
          <a:xfrm>
            <a:off x="462440" y="1303261"/>
            <a:ext cx="4496905" cy="1076609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sinusoïdale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Uniforme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E6C982E-8B91-9434-0114-7D8AE40066B8}"/>
                  </a:ext>
                </a:extLst>
              </p:cNvPr>
              <p:cNvSpPr txBox="1"/>
              <p:nvPr/>
            </p:nvSpPr>
            <p:spPr>
              <a:xfrm>
                <a:off x="5139498" y="1951822"/>
                <a:ext cx="380636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i="1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fr-FR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E6C982E-8B91-9434-0114-7D8AE4006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498" y="1951822"/>
                <a:ext cx="3806363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CEC9BFD-3B53-3C92-324C-5008EF94D657}"/>
              </a:ext>
            </a:extLst>
          </p:cNvPr>
          <p:cNvSpPr txBox="1"/>
          <p:nvPr/>
        </p:nvSpPr>
        <p:spPr>
          <a:xfrm>
            <a:off x="5134702" y="1305491"/>
            <a:ext cx="380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Equation de l’onde de vibration de la corde 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7282CC-10A4-830A-228D-3671AB67F31F}"/>
              </a:ext>
            </a:extLst>
          </p:cNvPr>
          <p:cNvSpPr txBox="1"/>
          <p:nvPr/>
        </p:nvSpPr>
        <p:spPr>
          <a:xfrm>
            <a:off x="5142199" y="2663332"/>
            <a:ext cx="380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la loi d’induction de Faraday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0CA5F1-FCE3-9CC1-2BED-9FB25EFF9ABE}"/>
                  </a:ext>
                </a:extLst>
              </p:cNvPr>
              <p:cNvSpPr txBox="1"/>
              <p:nvPr/>
            </p:nvSpPr>
            <p:spPr>
              <a:xfrm>
                <a:off x="5592327" y="4587950"/>
                <a:ext cx="2891112" cy="436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𝑁𝑆</m:t>
                    </m:r>
                    <m:f>
                      <m:fPr>
                        <m:ctrlPr>
                          <a:rPr lang="fr-F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ⅆ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0CA5F1-FCE3-9CC1-2BED-9FB25EFF9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327" y="4587950"/>
                <a:ext cx="2891112" cy="436530"/>
              </a:xfrm>
              <a:prstGeom prst="rect">
                <a:avLst/>
              </a:prstGeom>
              <a:blipFill>
                <a:blip r:embed="rId3"/>
                <a:stretch>
                  <a:fillRect l="-2105" t="-1408" r="-2737" b="-126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614E5887-08A7-F46E-4BA0-A40F4E47564B}"/>
              </a:ext>
            </a:extLst>
          </p:cNvPr>
          <p:cNvSpPr txBox="1"/>
          <p:nvPr/>
        </p:nvSpPr>
        <p:spPr>
          <a:xfrm>
            <a:off x="449950" y="5668761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Ainsi, on obtient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784999B-6D26-F9D1-544F-F5806D42E611}"/>
                  </a:ext>
                </a:extLst>
              </p:cNvPr>
              <p:cNvSpPr txBox="1"/>
              <p:nvPr/>
            </p:nvSpPr>
            <p:spPr>
              <a:xfrm>
                <a:off x="2620776" y="5525454"/>
                <a:ext cx="6313780" cy="566502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fName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den>
                              </m:f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𝑓𝑡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784999B-6D26-F9D1-544F-F5806D42E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76" y="5525454"/>
                <a:ext cx="6313780" cy="5665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6B01FD3-DE3F-E82B-F545-C6EF34165ADB}"/>
                  </a:ext>
                </a:extLst>
              </p:cNvPr>
              <p:cNvSpPr/>
              <p:nvPr/>
            </p:nvSpPr>
            <p:spPr>
              <a:xfrm>
                <a:off x="462440" y="2528664"/>
                <a:ext cx="4496905" cy="2796752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fr-FR" sz="15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Masse linéique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1</a:t>
                </a:r>
                <a:r>
                  <a:rPr lang="fr-FR" sz="1500" baseline="30000" dirty="0"/>
                  <a:t>er</a:t>
                </a:r>
                <a:r>
                  <a:rPr lang="fr-FR" sz="1500" dirty="0"/>
                  <a:t> bobinage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2</a:t>
                </a:r>
                <a:r>
                  <a:rPr lang="fr-FR" sz="1500" baseline="30000" dirty="0"/>
                  <a:t>nd</a:t>
                </a:r>
                <a:r>
                  <a:rPr lang="fr-FR" sz="1500" dirty="0"/>
                  <a:t> bobinage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6B01FD3-DE3F-E82B-F545-C6EF34165A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40" y="2528664"/>
                <a:ext cx="4496905" cy="2796752"/>
              </a:xfrm>
              <a:prstGeom prst="rect">
                <a:avLst/>
              </a:prstGeom>
              <a:blipFill>
                <a:blip r:embed="rId5"/>
                <a:stretch>
                  <a:fillRect l="-403" b="-860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51DE61A-D58E-1017-4B6C-029CEFABC144}"/>
                  </a:ext>
                </a:extLst>
              </p:cNvPr>
              <p:cNvSpPr txBox="1"/>
              <p:nvPr/>
            </p:nvSpPr>
            <p:spPr>
              <a:xfrm>
                <a:off x="6328776" y="3052303"/>
                <a:ext cx="1433208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51DE61A-D58E-1017-4B6C-029CEFABC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776" y="3052303"/>
                <a:ext cx="1433208" cy="618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D5F80944-47D8-4F41-1B9A-FCE809DA1F92}"/>
              </a:ext>
            </a:extLst>
          </p:cNvPr>
          <p:cNvSpPr txBox="1"/>
          <p:nvPr/>
        </p:nvSpPr>
        <p:spPr>
          <a:xfrm>
            <a:off x="5142199" y="3741581"/>
            <a:ext cx="37988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Les bobinages et les pôles des aimants étant inversés</a:t>
            </a:r>
          </a:p>
        </p:txBody>
      </p:sp>
    </p:spTree>
    <p:extLst>
      <p:ext uri="{BB962C8B-B14F-4D97-AF65-F5344CB8AC3E}">
        <p14:creationId xmlns:p14="http://schemas.microsoft.com/office/powerpoint/2010/main" val="2025381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7823-BD3F-4D49-EF81-B0A9D905B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17AADEE-DEDF-660B-30DC-3CE54238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7881790-E908-25FD-A514-AFDA74065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367B2FF-395F-2519-0284-EB4646C4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18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D32C55-B54F-2B1A-AF0C-E5CD802B49D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30FF39B-A84D-2F82-2E14-25F0A74DB556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3E78F-69BC-5506-DDF2-828BBBE949E6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Modélisation : 1</a:t>
            </a:r>
            <a:r>
              <a:rPr lang="fr-FR" sz="2000" b="1" baseline="30000" dirty="0">
                <a:latin typeface="+mj-lt"/>
              </a:rPr>
              <a:t>er</a:t>
            </a:r>
            <a:r>
              <a:rPr lang="fr-FR" sz="2000" b="1" dirty="0">
                <a:latin typeface="+mj-lt"/>
              </a:rPr>
              <a:t> Modèle (Micro simple bobinage)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FCD485-F6B1-2983-9C6B-FAD00B01942B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8E817-F8FB-F533-0808-7692D5D77FBB}"/>
              </a:ext>
            </a:extLst>
          </p:cNvPr>
          <p:cNvSpPr/>
          <p:nvPr/>
        </p:nvSpPr>
        <p:spPr>
          <a:xfrm>
            <a:off x="462440" y="1303261"/>
            <a:ext cx="4496905" cy="1076609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sinusoïdale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Uniforme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EF1446A-764B-6D1D-C5D5-705A67DC237B}"/>
                  </a:ext>
                </a:extLst>
              </p:cNvPr>
              <p:cNvSpPr txBox="1"/>
              <p:nvPr/>
            </p:nvSpPr>
            <p:spPr>
              <a:xfrm>
                <a:off x="5139498" y="1951822"/>
                <a:ext cx="380636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i="1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fr-FR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EF1446A-764B-6D1D-C5D5-705A67DC2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498" y="1951822"/>
                <a:ext cx="3806363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4C09BEC-80D8-234D-128D-68A739E735C5}"/>
              </a:ext>
            </a:extLst>
          </p:cNvPr>
          <p:cNvSpPr txBox="1"/>
          <p:nvPr/>
        </p:nvSpPr>
        <p:spPr>
          <a:xfrm>
            <a:off x="5134702" y="1305491"/>
            <a:ext cx="380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Equation de l’onde de vibration de la corde 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B1D93B-E7C1-E80C-284D-DC44205A93BA}"/>
              </a:ext>
            </a:extLst>
          </p:cNvPr>
          <p:cNvSpPr txBox="1"/>
          <p:nvPr/>
        </p:nvSpPr>
        <p:spPr>
          <a:xfrm>
            <a:off x="5142199" y="2663332"/>
            <a:ext cx="380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la loi d’induction de Faraday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091E267-74A6-1908-4A6F-A953DA2744F8}"/>
                  </a:ext>
                </a:extLst>
              </p:cNvPr>
              <p:cNvSpPr txBox="1"/>
              <p:nvPr/>
            </p:nvSpPr>
            <p:spPr>
              <a:xfrm>
                <a:off x="5674376" y="4237602"/>
                <a:ext cx="2997167" cy="573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091E267-74A6-1908-4A6F-A953DA27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376" y="4237602"/>
                <a:ext cx="2997167" cy="5732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FCFF05A8-2506-2AD2-5CBB-F4CA1F858520}"/>
              </a:ext>
            </a:extLst>
          </p:cNvPr>
          <p:cNvSpPr txBox="1"/>
          <p:nvPr/>
        </p:nvSpPr>
        <p:spPr>
          <a:xfrm>
            <a:off x="449950" y="5668761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Ainsi, on obtient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44055BE-6E31-A72D-54E9-F9FD8775B48A}"/>
                  </a:ext>
                </a:extLst>
              </p:cNvPr>
              <p:cNvSpPr txBox="1"/>
              <p:nvPr/>
            </p:nvSpPr>
            <p:spPr>
              <a:xfrm>
                <a:off x="2620776" y="5525454"/>
                <a:ext cx="5258683" cy="588944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fName>
                        <m:e>
                          <m:f>
                            <m:f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𝑚𝑖𝑐𝑟𝑜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func>
                        <m:func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44055BE-6E31-A72D-54E9-F9FD8775B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776" y="5525454"/>
                <a:ext cx="5258683" cy="5889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0A04208-379A-34B0-60E6-F722B7D8356B}"/>
                  </a:ext>
                </a:extLst>
              </p:cNvPr>
              <p:cNvSpPr/>
              <p:nvPr/>
            </p:nvSpPr>
            <p:spPr>
              <a:xfrm>
                <a:off x="462440" y="2528664"/>
                <a:ext cx="4496905" cy="2796752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fr-FR" sz="15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Masse linéique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𝑚𝑖𝑐𝑟𝑜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micro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0A04208-379A-34B0-60E6-F722B7D835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40" y="2528664"/>
                <a:ext cx="4496905" cy="2796752"/>
              </a:xfrm>
              <a:prstGeom prst="rect">
                <a:avLst/>
              </a:prstGeom>
              <a:blipFill>
                <a:blip r:embed="rId5"/>
                <a:stretch>
                  <a:fillRect l="-403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00BC94E-580D-A410-A758-3D63D8A07908}"/>
                  </a:ext>
                </a:extLst>
              </p:cNvPr>
              <p:cNvSpPr txBox="1"/>
              <p:nvPr/>
            </p:nvSpPr>
            <p:spPr>
              <a:xfrm>
                <a:off x="6328776" y="3076156"/>
                <a:ext cx="1433208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00BC94E-580D-A410-A758-3D63D8A07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776" y="3076156"/>
                <a:ext cx="1433208" cy="618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E8AE420-E942-CC62-D1B8-1849E1353979}"/>
                  </a:ext>
                </a:extLst>
              </p:cNvPr>
              <p:cNvSpPr txBox="1"/>
              <p:nvPr/>
            </p:nvSpPr>
            <p:spPr>
              <a:xfrm>
                <a:off x="5142199" y="3781336"/>
                <a:ext cx="46236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r-FR" dirty="0"/>
                  <a:t>, donc on a :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E8AE420-E942-CC62-D1B8-1849E135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199" y="3781336"/>
                <a:ext cx="4623682" cy="369332"/>
              </a:xfrm>
              <a:prstGeom prst="rect">
                <a:avLst/>
              </a:prstGeom>
              <a:blipFill>
                <a:blip r:embed="rId7"/>
                <a:stretch>
                  <a:fillRect l="-1187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689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0BF6-1FCF-9C30-4397-07ECE429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3789602-4B67-03B7-BC2A-607D305D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A629D49-76AC-5B16-D63D-8E3F86F10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78A8620-B59C-0AF9-87D6-40CC36F7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19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343C3D-AD20-F003-BCCA-F97E01A6145D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A9B7283-16EA-BB98-C97E-79579A956C5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5F756-7439-879D-1FCB-BAD6FEB8BB68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Comparaison des modèles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A2910-9CC3-E122-D519-993EF0DCCDA7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009C85-09B1-6C44-AD5D-5D64575BAE9A}"/>
              </a:ext>
            </a:extLst>
          </p:cNvPr>
          <p:cNvSpPr txBox="1"/>
          <p:nvPr/>
        </p:nvSpPr>
        <p:spPr>
          <a:xfrm>
            <a:off x="1824240" y="4964489"/>
            <a:ext cx="1137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Modèle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078FA6-F05D-A539-505B-A18232ACD5D5}"/>
              </a:ext>
            </a:extLst>
          </p:cNvPr>
          <p:cNvSpPr txBox="1"/>
          <p:nvPr/>
        </p:nvSpPr>
        <p:spPr>
          <a:xfrm>
            <a:off x="6044850" y="4964489"/>
            <a:ext cx="1137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Modèle 2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4B8ADFCE-E88D-07D5-A03E-A871B00DC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18EB20-1ECC-A2C4-6F90-A5CE61D06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34" y="1671226"/>
            <a:ext cx="4032847" cy="3024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1CA547-1C98-2A19-51FA-CA8DC551D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042" y="1792962"/>
            <a:ext cx="3996653" cy="299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471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1945</Words>
  <Application>Microsoft Office PowerPoint</Application>
  <PresentationFormat>On-screen Show (4:3)</PresentationFormat>
  <Paragraphs>308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Calibri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96</cp:revision>
  <dcterms:created xsi:type="dcterms:W3CDTF">2025-06-09T15:35:56Z</dcterms:created>
  <dcterms:modified xsi:type="dcterms:W3CDTF">2025-09-08T19:24:22Z</dcterms:modified>
</cp:coreProperties>
</file>