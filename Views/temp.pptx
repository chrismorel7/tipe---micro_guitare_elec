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35"/>
  </p:notesMasterIdLst>
  <p:sldIdLst>
    <p:sldId id="387" r:id="rId2"/>
    <p:sldId id="340" r:id="rId3"/>
    <p:sldId id="338" r:id="rId4"/>
    <p:sldId id="380" r:id="rId5"/>
    <p:sldId id="335" r:id="rId6"/>
    <p:sldId id="337" r:id="rId7"/>
    <p:sldId id="336" r:id="rId8"/>
    <p:sldId id="403" r:id="rId9"/>
    <p:sldId id="404" r:id="rId10"/>
    <p:sldId id="356" r:id="rId11"/>
    <p:sldId id="345" r:id="rId12"/>
    <p:sldId id="346" r:id="rId13"/>
    <p:sldId id="401" r:id="rId14"/>
    <p:sldId id="329" r:id="rId15"/>
    <p:sldId id="393" r:id="rId16"/>
    <p:sldId id="394" r:id="rId17"/>
    <p:sldId id="333" r:id="rId18"/>
    <p:sldId id="402" r:id="rId19"/>
    <p:sldId id="313" r:id="rId20"/>
    <p:sldId id="397" r:id="rId21"/>
    <p:sldId id="378" r:id="rId22"/>
    <p:sldId id="398" r:id="rId23"/>
    <p:sldId id="303" r:id="rId24"/>
    <p:sldId id="271" r:id="rId25"/>
    <p:sldId id="348" r:id="rId26"/>
    <p:sldId id="277" r:id="rId27"/>
    <p:sldId id="305" r:id="rId28"/>
    <p:sldId id="365" r:id="rId29"/>
    <p:sldId id="370" r:id="rId30"/>
    <p:sldId id="368" r:id="rId31"/>
    <p:sldId id="372" r:id="rId32"/>
    <p:sldId id="373" r:id="rId33"/>
    <p:sldId id="38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F200"/>
    <a:srgbClr val="38903A"/>
    <a:srgbClr val="4A66AC"/>
    <a:srgbClr val="014095"/>
    <a:srgbClr val="629DD1"/>
    <a:srgbClr val="559AD7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5975" autoAdjust="0"/>
  </p:normalViewPr>
  <p:slideViewPr>
    <p:cSldViewPr snapToGrid="0">
      <p:cViewPr varScale="1">
        <p:scale>
          <a:sx n="119" d="100"/>
          <a:sy n="119" d="100"/>
        </p:scale>
        <p:origin x="115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B8181-43EA-4C6C-8C7F-7942035F0720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91212D5D-B364-44BA-9771-63E526DCA0A1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50M</a:t>
          </a:r>
          <a:endParaRPr lang="fr-FR" sz="5400" dirty="0">
            <a:latin typeface="Arial Black" panose="020B0A04020102020204" pitchFamily="34" charset="0"/>
          </a:endParaRPr>
        </a:p>
      </dgm:t>
    </dgm:pt>
    <dgm:pt modelId="{FC78DAE6-83E5-4BC1-AC49-428A15180E75}" type="parTrans" cxnId="{0485C7B9-46CA-4C0E-96B3-8FFF5F37DD6A}">
      <dgm:prSet/>
      <dgm:spPr/>
      <dgm:t>
        <a:bodyPr/>
        <a:lstStyle/>
        <a:p>
          <a:endParaRPr lang="fr-FR"/>
        </a:p>
      </dgm:t>
    </dgm:pt>
    <dgm:pt modelId="{D781E287-DBE3-4186-9876-37AE3B390319}" type="sibTrans" cxnId="{0485C7B9-46CA-4C0E-96B3-8FFF5F37DD6A}">
      <dgm:prSet/>
      <dgm:spPr/>
      <dgm:t>
        <a:bodyPr/>
        <a:lstStyle/>
        <a:p>
          <a:endParaRPr lang="fr-FR"/>
        </a:p>
      </dgm:t>
    </dgm:pt>
    <dgm:pt modelId="{E5137407-CC18-4373-B384-F7A66AF869B6}">
      <dgm:prSet phldrT="[Text]" phldr="0" custT="1"/>
      <dgm:spPr/>
      <dgm:t>
        <a:bodyPr/>
        <a:lstStyle/>
        <a:p>
          <a:r>
            <a:rPr lang="fr-FR" sz="1800" dirty="0"/>
            <a:t>Nombre de guitare estimé dans le monde</a:t>
          </a:r>
        </a:p>
      </dgm:t>
    </dgm:pt>
    <dgm:pt modelId="{F5863376-7605-42DC-B58D-060041DC79FF}" type="parTrans" cxnId="{AD0029D9-5E4E-4AD7-A0EC-A4368455A356}">
      <dgm:prSet/>
      <dgm:spPr/>
      <dgm:t>
        <a:bodyPr/>
        <a:lstStyle/>
        <a:p>
          <a:endParaRPr lang="fr-FR"/>
        </a:p>
      </dgm:t>
    </dgm:pt>
    <dgm:pt modelId="{504827BD-EDE8-4FEA-B41A-5C51374DAF4F}" type="sibTrans" cxnId="{AD0029D9-5E4E-4AD7-A0EC-A4368455A356}">
      <dgm:prSet/>
      <dgm:spPr/>
      <dgm:t>
        <a:bodyPr/>
        <a:lstStyle/>
        <a:p>
          <a:endParaRPr lang="fr-FR"/>
        </a:p>
      </dgm:t>
    </dgm:pt>
    <dgm:pt modelId="{AB389A4B-81CD-47F4-AC53-77C6CCDA77CA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10,3B</a:t>
          </a:r>
        </a:p>
      </dgm:t>
    </dgm:pt>
    <dgm:pt modelId="{1957A227-B175-4033-8F1D-F1C3A49DEBE5}" type="parTrans" cxnId="{C1AEFF4B-406F-4617-A89D-BA61E379F596}">
      <dgm:prSet/>
      <dgm:spPr/>
      <dgm:t>
        <a:bodyPr/>
        <a:lstStyle/>
        <a:p>
          <a:endParaRPr lang="fr-FR"/>
        </a:p>
      </dgm:t>
    </dgm:pt>
    <dgm:pt modelId="{BFD4BD52-26B4-4D78-A8D4-0D5AE83B8561}" type="sibTrans" cxnId="{C1AEFF4B-406F-4617-A89D-BA61E379F596}">
      <dgm:prSet/>
      <dgm:spPr/>
      <dgm:t>
        <a:bodyPr/>
        <a:lstStyle/>
        <a:p>
          <a:endParaRPr lang="fr-FR"/>
        </a:p>
      </dgm:t>
    </dgm:pt>
    <dgm:pt modelId="{5DFF8D2C-FF16-4189-959A-DA8AF237818F}">
      <dgm:prSet phldrT="[Text]" phldr="0" custT="1"/>
      <dgm:spPr/>
      <dgm:t>
        <a:bodyPr/>
        <a:lstStyle/>
        <a:p>
          <a:r>
            <a:rPr lang="fr-FR" sz="1800" dirty="0"/>
            <a:t>Valeur du marché de la guitare en 2024</a:t>
          </a:r>
        </a:p>
      </dgm:t>
    </dgm:pt>
    <dgm:pt modelId="{E4367BA8-3CA9-4C87-B29D-AC36939C7927}" type="parTrans" cxnId="{5523898E-814B-4613-82CF-8AC3888E263E}">
      <dgm:prSet/>
      <dgm:spPr/>
      <dgm:t>
        <a:bodyPr/>
        <a:lstStyle/>
        <a:p>
          <a:endParaRPr lang="fr-FR"/>
        </a:p>
      </dgm:t>
    </dgm:pt>
    <dgm:pt modelId="{B5808FB2-8ED5-48B7-94C9-85E33B53CEFA}" type="sibTrans" cxnId="{5523898E-814B-4613-82CF-8AC3888E263E}">
      <dgm:prSet/>
      <dgm:spPr/>
      <dgm:t>
        <a:bodyPr/>
        <a:lstStyle/>
        <a:p>
          <a:endParaRPr lang="fr-FR"/>
        </a:p>
      </dgm:t>
    </dgm:pt>
    <dgm:pt modelId="{D947A9E2-2E97-41F2-A0A4-BF4BF3FB2559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48%</a:t>
          </a:r>
        </a:p>
      </dgm:t>
    </dgm:pt>
    <dgm:pt modelId="{F31CB54F-5BC7-406C-A91B-50C08608D24C}" type="parTrans" cxnId="{8FE87FC7-AC18-4165-B440-4AA7AC67A8D9}">
      <dgm:prSet/>
      <dgm:spPr/>
      <dgm:t>
        <a:bodyPr/>
        <a:lstStyle/>
        <a:p>
          <a:endParaRPr lang="fr-FR"/>
        </a:p>
      </dgm:t>
    </dgm:pt>
    <dgm:pt modelId="{45F2920D-B956-4AA8-9189-A759A3BF2F00}" type="sibTrans" cxnId="{8FE87FC7-AC18-4165-B440-4AA7AC67A8D9}">
      <dgm:prSet/>
      <dgm:spPr/>
      <dgm:t>
        <a:bodyPr/>
        <a:lstStyle/>
        <a:p>
          <a:endParaRPr lang="fr-FR"/>
        </a:p>
      </dgm:t>
    </dgm:pt>
    <dgm:pt modelId="{1D647303-1950-49A3-B3E3-511B5EAB22C1}">
      <dgm:prSet phldrT="[Text]" custT="1"/>
      <dgm:spPr/>
      <dgm:t>
        <a:bodyPr/>
        <a:lstStyle/>
        <a:p>
          <a:r>
            <a:rPr lang="fr-FR" sz="1800" dirty="0"/>
            <a:t>Part de marché des guitares électriques </a:t>
          </a:r>
        </a:p>
      </dgm:t>
    </dgm:pt>
    <dgm:pt modelId="{D66D6EFC-F33F-49A7-81CA-B602591CF869}" type="parTrans" cxnId="{201120F7-9B21-4830-87D4-34EE8C2CC62D}">
      <dgm:prSet/>
      <dgm:spPr/>
      <dgm:t>
        <a:bodyPr/>
        <a:lstStyle/>
        <a:p>
          <a:endParaRPr lang="fr-FR"/>
        </a:p>
      </dgm:t>
    </dgm:pt>
    <dgm:pt modelId="{85CCCEDD-0FA1-4E6A-8302-32155D37CF8E}" type="sibTrans" cxnId="{201120F7-9B21-4830-87D4-34EE8C2CC62D}">
      <dgm:prSet/>
      <dgm:spPr/>
      <dgm:t>
        <a:bodyPr/>
        <a:lstStyle/>
        <a:p>
          <a:endParaRPr lang="fr-FR"/>
        </a:p>
      </dgm:t>
    </dgm:pt>
    <dgm:pt modelId="{B8929512-66CE-4E69-82E8-652F86CC7F13}" type="pres">
      <dgm:prSet presAssocID="{E38B8181-43EA-4C6C-8C7F-7942035F0720}" presName="theList" presStyleCnt="0">
        <dgm:presLayoutVars>
          <dgm:dir/>
          <dgm:animLvl val="lvl"/>
          <dgm:resizeHandles val="exact"/>
        </dgm:presLayoutVars>
      </dgm:prSet>
      <dgm:spPr/>
    </dgm:pt>
    <dgm:pt modelId="{8AD1CDE0-660F-41C6-A232-AB49A944F4B1}" type="pres">
      <dgm:prSet presAssocID="{91212D5D-B364-44BA-9771-63E526DCA0A1}" presName="compNode" presStyleCnt="0"/>
      <dgm:spPr/>
    </dgm:pt>
    <dgm:pt modelId="{A122FDB8-4E52-4F24-924C-55B39B5EEF83}" type="pres">
      <dgm:prSet presAssocID="{91212D5D-B364-44BA-9771-63E526DCA0A1}" presName="aNode" presStyleLbl="bgShp" presStyleIdx="0" presStyleCnt="3"/>
      <dgm:spPr/>
    </dgm:pt>
    <dgm:pt modelId="{EE092F6B-38EB-47CC-973C-37F9D2288AA3}" type="pres">
      <dgm:prSet presAssocID="{91212D5D-B364-44BA-9771-63E526DCA0A1}" presName="textNode" presStyleLbl="bgShp" presStyleIdx="0" presStyleCnt="3"/>
      <dgm:spPr/>
    </dgm:pt>
    <dgm:pt modelId="{0448C864-2F82-4625-BA73-B4FC84AC036D}" type="pres">
      <dgm:prSet presAssocID="{91212D5D-B364-44BA-9771-63E526DCA0A1}" presName="compChildNode" presStyleCnt="0"/>
      <dgm:spPr/>
    </dgm:pt>
    <dgm:pt modelId="{28883B9D-21D9-4368-977E-4B0BD2C2A37C}" type="pres">
      <dgm:prSet presAssocID="{91212D5D-B364-44BA-9771-63E526DCA0A1}" presName="theInnerList" presStyleCnt="0"/>
      <dgm:spPr/>
    </dgm:pt>
    <dgm:pt modelId="{332FF867-5FFB-469C-995E-0CBE678B8048}" type="pres">
      <dgm:prSet presAssocID="{E5137407-CC18-4373-B384-F7A66AF869B6}" presName="childNode" presStyleLbl="node1" presStyleIdx="0" presStyleCnt="3" custScaleY="70691">
        <dgm:presLayoutVars>
          <dgm:bulletEnabled val="1"/>
        </dgm:presLayoutVars>
      </dgm:prSet>
      <dgm:spPr/>
    </dgm:pt>
    <dgm:pt modelId="{A9B3C3CC-83A5-44FD-8337-23960E5C80F6}" type="pres">
      <dgm:prSet presAssocID="{91212D5D-B364-44BA-9771-63E526DCA0A1}" presName="aSpace" presStyleCnt="0"/>
      <dgm:spPr/>
    </dgm:pt>
    <dgm:pt modelId="{51288686-012E-497C-AA23-CFA1CCA57442}" type="pres">
      <dgm:prSet presAssocID="{AB389A4B-81CD-47F4-AC53-77C6CCDA77CA}" presName="compNode" presStyleCnt="0"/>
      <dgm:spPr/>
    </dgm:pt>
    <dgm:pt modelId="{D876CD57-D8B0-4B1D-8A27-4B504FE0CFD4}" type="pres">
      <dgm:prSet presAssocID="{AB389A4B-81CD-47F4-AC53-77C6CCDA77CA}" presName="aNode" presStyleLbl="bgShp" presStyleIdx="1" presStyleCnt="3"/>
      <dgm:spPr/>
    </dgm:pt>
    <dgm:pt modelId="{753AE736-51A9-4ACF-85CA-A535BD91B08A}" type="pres">
      <dgm:prSet presAssocID="{AB389A4B-81CD-47F4-AC53-77C6CCDA77CA}" presName="textNode" presStyleLbl="bgShp" presStyleIdx="1" presStyleCnt="3"/>
      <dgm:spPr/>
    </dgm:pt>
    <dgm:pt modelId="{2037BDEE-75EB-46C8-AD3A-65B225526994}" type="pres">
      <dgm:prSet presAssocID="{AB389A4B-81CD-47F4-AC53-77C6CCDA77CA}" presName="compChildNode" presStyleCnt="0"/>
      <dgm:spPr/>
    </dgm:pt>
    <dgm:pt modelId="{051F6D2A-97B8-4664-A450-ADDEC308F567}" type="pres">
      <dgm:prSet presAssocID="{AB389A4B-81CD-47F4-AC53-77C6CCDA77CA}" presName="theInnerList" presStyleCnt="0"/>
      <dgm:spPr/>
    </dgm:pt>
    <dgm:pt modelId="{212315B0-941C-424E-9FB8-A723AE83E221}" type="pres">
      <dgm:prSet presAssocID="{5DFF8D2C-FF16-4189-959A-DA8AF237818F}" presName="childNode" presStyleLbl="node1" presStyleIdx="1" presStyleCnt="3" custScaleY="70691">
        <dgm:presLayoutVars>
          <dgm:bulletEnabled val="1"/>
        </dgm:presLayoutVars>
      </dgm:prSet>
      <dgm:spPr/>
    </dgm:pt>
    <dgm:pt modelId="{A06D310C-D4D5-42FB-BF30-8EB821EF41B8}" type="pres">
      <dgm:prSet presAssocID="{AB389A4B-81CD-47F4-AC53-77C6CCDA77CA}" presName="aSpace" presStyleCnt="0"/>
      <dgm:spPr/>
    </dgm:pt>
    <dgm:pt modelId="{72FABE35-4F33-4B5B-B72B-CE129740AEE7}" type="pres">
      <dgm:prSet presAssocID="{D947A9E2-2E97-41F2-A0A4-BF4BF3FB2559}" presName="compNode" presStyleCnt="0"/>
      <dgm:spPr/>
    </dgm:pt>
    <dgm:pt modelId="{3D118472-EB36-44B0-9CAB-89E96EDD8635}" type="pres">
      <dgm:prSet presAssocID="{D947A9E2-2E97-41F2-A0A4-BF4BF3FB2559}" presName="aNode" presStyleLbl="bgShp" presStyleIdx="2" presStyleCnt="3"/>
      <dgm:spPr/>
    </dgm:pt>
    <dgm:pt modelId="{D4961126-1C1B-4F88-A93F-D46D2428CFA2}" type="pres">
      <dgm:prSet presAssocID="{D947A9E2-2E97-41F2-A0A4-BF4BF3FB2559}" presName="textNode" presStyleLbl="bgShp" presStyleIdx="2" presStyleCnt="3"/>
      <dgm:spPr/>
    </dgm:pt>
    <dgm:pt modelId="{5B693B72-B78F-4290-A233-520D95F4748A}" type="pres">
      <dgm:prSet presAssocID="{D947A9E2-2E97-41F2-A0A4-BF4BF3FB2559}" presName="compChildNode" presStyleCnt="0"/>
      <dgm:spPr/>
    </dgm:pt>
    <dgm:pt modelId="{3DB0FDFE-0615-4995-85DF-314DBB0DEE15}" type="pres">
      <dgm:prSet presAssocID="{D947A9E2-2E97-41F2-A0A4-BF4BF3FB2559}" presName="theInnerList" presStyleCnt="0"/>
      <dgm:spPr/>
    </dgm:pt>
    <dgm:pt modelId="{522A87F0-0F3E-418E-844F-50D37BC18AE4}" type="pres">
      <dgm:prSet presAssocID="{1D647303-1950-49A3-B3E3-511B5EAB22C1}" presName="childNode" presStyleLbl="node1" presStyleIdx="2" presStyleCnt="3" custScaleY="70691">
        <dgm:presLayoutVars>
          <dgm:bulletEnabled val="1"/>
        </dgm:presLayoutVars>
      </dgm:prSet>
      <dgm:spPr/>
    </dgm:pt>
  </dgm:ptLst>
  <dgm:cxnLst>
    <dgm:cxn modelId="{94D40702-587D-4465-BCBA-552514180BBE}" type="presOf" srcId="{E38B8181-43EA-4C6C-8C7F-7942035F0720}" destId="{B8929512-66CE-4E69-82E8-652F86CC7F13}" srcOrd="0" destOrd="0" presId="urn:microsoft.com/office/officeart/2005/8/layout/lProcess2"/>
    <dgm:cxn modelId="{8F245E04-8DF9-4548-92D1-3655024527CF}" type="presOf" srcId="{D947A9E2-2E97-41F2-A0A4-BF4BF3FB2559}" destId="{D4961126-1C1B-4F88-A93F-D46D2428CFA2}" srcOrd="1" destOrd="0" presId="urn:microsoft.com/office/officeart/2005/8/layout/lProcess2"/>
    <dgm:cxn modelId="{7A5F6A19-7DAC-460E-BBA6-B384A077D6FF}" type="presOf" srcId="{1D647303-1950-49A3-B3E3-511B5EAB22C1}" destId="{522A87F0-0F3E-418E-844F-50D37BC18AE4}" srcOrd="0" destOrd="0" presId="urn:microsoft.com/office/officeart/2005/8/layout/lProcess2"/>
    <dgm:cxn modelId="{299ABB28-1B39-4096-812E-C6AA0CDDD8DA}" type="presOf" srcId="{AB389A4B-81CD-47F4-AC53-77C6CCDA77CA}" destId="{D876CD57-D8B0-4B1D-8A27-4B504FE0CFD4}" srcOrd="0" destOrd="0" presId="urn:microsoft.com/office/officeart/2005/8/layout/lProcess2"/>
    <dgm:cxn modelId="{C1AEFF4B-406F-4617-A89D-BA61E379F596}" srcId="{E38B8181-43EA-4C6C-8C7F-7942035F0720}" destId="{AB389A4B-81CD-47F4-AC53-77C6CCDA77CA}" srcOrd="1" destOrd="0" parTransId="{1957A227-B175-4033-8F1D-F1C3A49DEBE5}" sibTransId="{BFD4BD52-26B4-4D78-A8D4-0D5AE83B8561}"/>
    <dgm:cxn modelId="{A32FD154-FA1F-42EC-A904-99D643BC5003}" type="presOf" srcId="{E5137407-CC18-4373-B384-F7A66AF869B6}" destId="{332FF867-5FFB-469C-995E-0CBE678B8048}" srcOrd="0" destOrd="0" presId="urn:microsoft.com/office/officeart/2005/8/layout/lProcess2"/>
    <dgm:cxn modelId="{5191207E-417E-46C7-B34A-8DDB7C623194}" type="presOf" srcId="{5DFF8D2C-FF16-4189-959A-DA8AF237818F}" destId="{212315B0-941C-424E-9FB8-A723AE83E221}" srcOrd="0" destOrd="0" presId="urn:microsoft.com/office/officeart/2005/8/layout/lProcess2"/>
    <dgm:cxn modelId="{46AA8580-CB6C-47DD-A72E-6CB4DBC796AE}" type="presOf" srcId="{D947A9E2-2E97-41F2-A0A4-BF4BF3FB2559}" destId="{3D118472-EB36-44B0-9CAB-89E96EDD8635}" srcOrd="0" destOrd="0" presId="urn:microsoft.com/office/officeart/2005/8/layout/lProcess2"/>
    <dgm:cxn modelId="{5523898E-814B-4613-82CF-8AC3888E263E}" srcId="{AB389A4B-81CD-47F4-AC53-77C6CCDA77CA}" destId="{5DFF8D2C-FF16-4189-959A-DA8AF237818F}" srcOrd="0" destOrd="0" parTransId="{E4367BA8-3CA9-4C87-B29D-AC36939C7927}" sibTransId="{B5808FB2-8ED5-48B7-94C9-85E33B53CEFA}"/>
    <dgm:cxn modelId="{A75A9195-F7D7-468F-9696-A77A26B18F76}" type="presOf" srcId="{AB389A4B-81CD-47F4-AC53-77C6CCDA77CA}" destId="{753AE736-51A9-4ACF-85CA-A535BD91B08A}" srcOrd="1" destOrd="0" presId="urn:microsoft.com/office/officeart/2005/8/layout/lProcess2"/>
    <dgm:cxn modelId="{209C9C9E-C3F8-4D27-8697-A6FB0C80B67F}" type="presOf" srcId="{91212D5D-B364-44BA-9771-63E526DCA0A1}" destId="{EE092F6B-38EB-47CC-973C-37F9D2288AA3}" srcOrd="1" destOrd="0" presId="urn:microsoft.com/office/officeart/2005/8/layout/lProcess2"/>
    <dgm:cxn modelId="{1D029AA6-958D-47DB-9F92-AA3342059FCC}" type="presOf" srcId="{91212D5D-B364-44BA-9771-63E526DCA0A1}" destId="{A122FDB8-4E52-4F24-924C-55B39B5EEF83}" srcOrd="0" destOrd="0" presId="urn:microsoft.com/office/officeart/2005/8/layout/lProcess2"/>
    <dgm:cxn modelId="{0485C7B9-46CA-4C0E-96B3-8FFF5F37DD6A}" srcId="{E38B8181-43EA-4C6C-8C7F-7942035F0720}" destId="{91212D5D-B364-44BA-9771-63E526DCA0A1}" srcOrd="0" destOrd="0" parTransId="{FC78DAE6-83E5-4BC1-AC49-428A15180E75}" sibTransId="{D781E287-DBE3-4186-9876-37AE3B390319}"/>
    <dgm:cxn modelId="{8FE87FC7-AC18-4165-B440-4AA7AC67A8D9}" srcId="{E38B8181-43EA-4C6C-8C7F-7942035F0720}" destId="{D947A9E2-2E97-41F2-A0A4-BF4BF3FB2559}" srcOrd="2" destOrd="0" parTransId="{F31CB54F-5BC7-406C-A91B-50C08608D24C}" sibTransId="{45F2920D-B956-4AA8-9189-A759A3BF2F00}"/>
    <dgm:cxn modelId="{AD0029D9-5E4E-4AD7-A0EC-A4368455A356}" srcId="{91212D5D-B364-44BA-9771-63E526DCA0A1}" destId="{E5137407-CC18-4373-B384-F7A66AF869B6}" srcOrd="0" destOrd="0" parTransId="{F5863376-7605-42DC-B58D-060041DC79FF}" sibTransId="{504827BD-EDE8-4FEA-B41A-5C51374DAF4F}"/>
    <dgm:cxn modelId="{201120F7-9B21-4830-87D4-34EE8C2CC62D}" srcId="{D947A9E2-2E97-41F2-A0A4-BF4BF3FB2559}" destId="{1D647303-1950-49A3-B3E3-511B5EAB22C1}" srcOrd="0" destOrd="0" parTransId="{D66D6EFC-F33F-49A7-81CA-B602591CF869}" sibTransId="{85CCCEDD-0FA1-4E6A-8302-32155D37CF8E}"/>
    <dgm:cxn modelId="{08E6926F-999E-4517-BB1A-F96A0310265E}" type="presParOf" srcId="{B8929512-66CE-4E69-82E8-652F86CC7F13}" destId="{8AD1CDE0-660F-41C6-A232-AB49A944F4B1}" srcOrd="0" destOrd="0" presId="urn:microsoft.com/office/officeart/2005/8/layout/lProcess2"/>
    <dgm:cxn modelId="{CE9A049D-E141-4083-9323-2C683065397A}" type="presParOf" srcId="{8AD1CDE0-660F-41C6-A232-AB49A944F4B1}" destId="{A122FDB8-4E52-4F24-924C-55B39B5EEF83}" srcOrd="0" destOrd="0" presId="urn:microsoft.com/office/officeart/2005/8/layout/lProcess2"/>
    <dgm:cxn modelId="{C0BB5914-70D5-4110-8C04-9D450E2EDFE8}" type="presParOf" srcId="{8AD1CDE0-660F-41C6-A232-AB49A944F4B1}" destId="{EE092F6B-38EB-47CC-973C-37F9D2288AA3}" srcOrd="1" destOrd="0" presId="urn:microsoft.com/office/officeart/2005/8/layout/lProcess2"/>
    <dgm:cxn modelId="{05DBDA82-E4F4-4AB8-A1EB-7EC172ABBE02}" type="presParOf" srcId="{8AD1CDE0-660F-41C6-A232-AB49A944F4B1}" destId="{0448C864-2F82-4625-BA73-B4FC84AC036D}" srcOrd="2" destOrd="0" presId="urn:microsoft.com/office/officeart/2005/8/layout/lProcess2"/>
    <dgm:cxn modelId="{28C03247-E7BF-4132-B9B5-AA28D4CE75CE}" type="presParOf" srcId="{0448C864-2F82-4625-BA73-B4FC84AC036D}" destId="{28883B9D-21D9-4368-977E-4B0BD2C2A37C}" srcOrd="0" destOrd="0" presId="urn:microsoft.com/office/officeart/2005/8/layout/lProcess2"/>
    <dgm:cxn modelId="{4C34A2E8-D3DD-48CD-96F1-BD14E8265A75}" type="presParOf" srcId="{28883B9D-21D9-4368-977E-4B0BD2C2A37C}" destId="{332FF867-5FFB-469C-995E-0CBE678B8048}" srcOrd="0" destOrd="0" presId="urn:microsoft.com/office/officeart/2005/8/layout/lProcess2"/>
    <dgm:cxn modelId="{250EF62A-AEFF-40E0-A39A-E8780120EB6A}" type="presParOf" srcId="{B8929512-66CE-4E69-82E8-652F86CC7F13}" destId="{A9B3C3CC-83A5-44FD-8337-23960E5C80F6}" srcOrd="1" destOrd="0" presId="urn:microsoft.com/office/officeart/2005/8/layout/lProcess2"/>
    <dgm:cxn modelId="{6C4A4D70-C1C2-4D21-8A99-B71DCD27BB33}" type="presParOf" srcId="{B8929512-66CE-4E69-82E8-652F86CC7F13}" destId="{51288686-012E-497C-AA23-CFA1CCA57442}" srcOrd="2" destOrd="0" presId="urn:microsoft.com/office/officeart/2005/8/layout/lProcess2"/>
    <dgm:cxn modelId="{E09CE3DD-1A3E-4D7A-8D02-75EDE870DD29}" type="presParOf" srcId="{51288686-012E-497C-AA23-CFA1CCA57442}" destId="{D876CD57-D8B0-4B1D-8A27-4B504FE0CFD4}" srcOrd="0" destOrd="0" presId="urn:microsoft.com/office/officeart/2005/8/layout/lProcess2"/>
    <dgm:cxn modelId="{74F7B8D7-D1E3-4561-93EF-FF9712C205DD}" type="presParOf" srcId="{51288686-012E-497C-AA23-CFA1CCA57442}" destId="{753AE736-51A9-4ACF-85CA-A535BD91B08A}" srcOrd="1" destOrd="0" presId="urn:microsoft.com/office/officeart/2005/8/layout/lProcess2"/>
    <dgm:cxn modelId="{56898C8E-CBB4-464E-A05A-A938E6EF7C6F}" type="presParOf" srcId="{51288686-012E-497C-AA23-CFA1CCA57442}" destId="{2037BDEE-75EB-46C8-AD3A-65B225526994}" srcOrd="2" destOrd="0" presId="urn:microsoft.com/office/officeart/2005/8/layout/lProcess2"/>
    <dgm:cxn modelId="{7474C88F-B077-4E52-9389-DB71FE1EE583}" type="presParOf" srcId="{2037BDEE-75EB-46C8-AD3A-65B225526994}" destId="{051F6D2A-97B8-4664-A450-ADDEC308F567}" srcOrd="0" destOrd="0" presId="urn:microsoft.com/office/officeart/2005/8/layout/lProcess2"/>
    <dgm:cxn modelId="{D51C9842-0333-42F3-B1B8-70BB34EF5298}" type="presParOf" srcId="{051F6D2A-97B8-4664-A450-ADDEC308F567}" destId="{212315B0-941C-424E-9FB8-A723AE83E221}" srcOrd="0" destOrd="0" presId="urn:microsoft.com/office/officeart/2005/8/layout/lProcess2"/>
    <dgm:cxn modelId="{D41932D7-DB46-4904-88C2-4968B0EE258B}" type="presParOf" srcId="{B8929512-66CE-4E69-82E8-652F86CC7F13}" destId="{A06D310C-D4D5-42FB-BF30-8EB821EF41B8}" srcOrd="3" destOrd="0" presId="urn:microsoft.com/office/officeart/2005/8/layout/lProcess2"/>
    <dgm:cxn modelId="{AC37D594-B731-481B-B6FC-DF8BB7CC3EEF}" type="presParOf" srcId="{B8929512-66CE-4E69-82E8-652F86CC7F13}" destId="{72FABE35-4F33-4B5B-B72B-CE129740AEE7}" srcOrd="4" destOrd="0" presId="urn:microsoft.com/office/officeart/2005/8/layout/lProcess2"/>
    <dgm:cxn modelId="{20205CCD-3134-441A-BEAF-7C5A6E3D5EC9}" type="presParOf" srcId="{72FABE35-4F33-4B5B-B72B-CE129740AEE7}" destId="{3D118472-EB36-44B0-9CAB-89E96EDD8635}" srcOrd="0" destOrd="0" presId="urn:microsoft.com/office/officeart/2005/8/layout/lProcess2"/>
    <dgm:cxn modelId="{BCB07279-88EC-40FB-BCB3-BF071DDA10B8}" type="presParOf" srcId="{72FABE35-4F33-4B5B-B72B-CE129740AEE7}" destId="{D4961126-1C1B-4F88-A93F-D46D2428CFA2}" srcOrd="1" destOrd="0" presId="urn:microsoft.com/office/officeart/2005/8/layout/lProcess2"/>
    <dgm:cxn modelId="{134B4711-562A-4E32-92F8-7638FD2C4840}" type="presParOf" srcId="{72FABE35-4F33-4B5B-B72B-CE129740AEE7}" destId="{5B693B72-B78F-4290-A233-520D95F4748A}" srcOrd="2" destOrd="0" presId="urn:microsoft.com/office/officeart/2005/8/layout/lProcess2"/>
    <dgm:cxn modelId="{5A6E1D6A-410F-44A8-8D1F-830954F79DCD}" type="presParOf" srcId="{5B693B72-B78F-4290-A233-520D95F4748A}" destId="{3DB0FDFE-0615-4995-85DF-314DBB0DEE15}" srcOrd="0" destOrd="0" presId="urn:microsoft.com/office/officeart/2005/8/layout/lProcess2"/>
    <dgm:cxn modelId="{EC0504A7-74B3-4A45-A806-56DC9387496F}" type="presParOf" srcId="{3DB0FDFE-0615-4995-85DF-314DBB0DEE15}" destId="{522A87F0-0F3E-418E-844F-50D37BC18AE4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2FDB8-4E52-4F24-924C-55B39B5EEF83}">
      <dsp:nvSpPr>
        <dsp:cNvPr id="0" name=""/>
        <dsp:cNvSpPr/>
      </dsp:nvSpPr>
      <dsp:spPr>
        <a:xfrm>
          <a:off x="964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50M</a:t>
          </a:r>
          <a:endParaRPr lang="fr-FR" sz="5400" kern="1200" dirty="0">
            <a:latin typeface="Arial Black" panose="020B0A04020102020204" pitchFamily="34" charset="0"/>
          </a:endParaRPr>
        </a:p>
      </dsp:txBody>
      <dsp:txXfrm>
        <a:off x="964" y="0"/>
        <a:ext cx="2507184" cy="940174"/>
      </dsp:txXfrm>
    </dsp:sp>
    <dsp:sp modelId="{332FF867-5FFB-469C-995E-0CBE678B8048}">
      <dsp:nvSpPr>
        <dsp:cNvPr id="0" name=""/>
        <dsp:cNvSpPr/>
      </dsp:nvSpPr>
      <dsp:spPr>
        <a:xfrm>
          <a:off x="251682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Nombre de guitare estimé dans le monde</a:t>
          </a:r>
        </a:p>
      </dsp:txBody>
      <dsp:txXfrm>
        <a:off x="293858" y="1280868"/>
        <a:ext cx="1921395" cy="1355654"/>
      </dsp:txXfrm>
    </dsp:sp>
    <dsp:sp modelId="{D876CD57-D8B0-4B1D-8A27-4B504FE0CFD4}">
      <dsp:nvSpPr>
        <dsp:cNvPr id="0" name=""/>
        <dsp:cNvSpPr/>
      </dsp:nvSpPr>
      <dsp:spPr>
        <a:xfrm>
          <a:off x="2696188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10,3B</a:t>
          </a:r>
        </a:p>
      </dsp:txBody>
      <dsp:txXfrm>
        <a:off x="2696188" y="0"/>
        <a:ext cx="2507184" cy="940174"/>
      </dsp:txXfrm>
    </dsp:sp>
    <dsp:sp modelId="{212315B0-941C-424E-9FB8-A723AE83E221}">
      <dsp:nvSpPr>
        <dsp:cNvPr id="0" name=""/>
        <dsp:cNvSpPr/>
      </dsp:nvSpPr>
      <dsp:spPr>
        <a:xfrm>
          <a:off x="2946906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Valeur du marché de la guitare en 2024</a:t>
          </a:r>
        </a:p>
      </dsp:txBody>
      <dsp:txXfrm>
        <a:off x="2989082" y="1280868"/>
        <a:ext cx="1921395" cy="1355654"/>
      </dsp:txXfrm>
    </dsp:sp>
    <dsp:sp modelId="{3D118472-EB36-44B0-9CAB-89E96EDD8635}">
      <dsp:nvSpPr>
        <dsp:cNvPr id="0" name=""/>
        <dsp:cNvSpPr/>
      </dsp:nvSpPr>
      <dsp:spPr>
        <a:xfrm>
          <a:off x="5391411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48%</a:t>
          </a:r>
        </a:p>
      </dsp:txBody>
      <dsp:txXfrm>
        <a:off x="5391411" y="0"/>
        <a:ext cx="2507184" cy="940174"/>
      </dsp:txXfrm>
    </dsp:sp>
    <dsp:sp modelId="{522A87F0-0F3E-418E-844F-50D37BC18AE4}">
      <dsp:nvSpPr>
        <dsp:cNvPr id="0" name=""/>
        <dsp:cNvSpPr/>
      </dsp:nvSpPr>
      <dsp:spPr>
        <a:xfrm>
          <a:off x="5642130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Part de marché des guitares électriques </a:t>
          </a:r>
        </a:p>
      </dsp:txBody>
      <dsp:txXfrm>
        <a:off x="5684306" y="1280868"/>
        <a:ext cx="1921395" cy="1355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60C5-B86F-D3A7-9ADA-FE71CF974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38F1B-2B45-3780-15CD-865A9F7E5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AA60B-6559-980F-7FA4-1F7CFAD65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E360E-9150-85F9-DFE7-118450DA5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37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76C9-2125-A9B2-8374-6EE28345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BEBB7-C6A9-F035-C798-5E939F3A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D1DC4-D857-6ABF-3DDC-E4E7A0922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B737E-2622-AA4F-316B-3548DE862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62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DC8-F1D2-F48F-5144-29C93AD3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3ED31-35E2-A213-E2DC-429767622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960C-93AA-3EA5-8A9A-E9404EC9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1EA0-8E19-54B2-AF8F-86621060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95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5D8-B5ED-3A5C-25AA-355EA500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B50A7-9125-FF61-C35A-0BAAB7787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70C6-EF27-F3BA-F99C-2D1A0396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F1CD-8CD2-A36F-E4D6-6DC1E0CE9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183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5F695-4E49-870A-29E7-C511751B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64BC5-1BB3-FFE7-EC85-E200E9442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F961D-1039-9AE2-52D5-0A1669232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10549-939F-B010-DB99-3739C13F2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690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C0FC-4B23-C77D-909C-EB608CE5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2F030-0C12-3582-3DB2-9E259F530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B7B4B-AE32-9530-A187-40C0045B6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0C1BB-4E2B-DE55-18E9-70B9A677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386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: Equation de mouvement de la corde</a:t>
            </a:r>
          </a:p>
          <a:p>
            <a:r>
              <a:rPr lang="fr-FR" dirty="0"/>
              <a:t>2 : Idée Maquette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1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41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TIPE 39662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TIPE 39662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TIPE 39662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25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9.jpeg"/><Relationship Id="rId3" Type="http://schemas.openxmlformats.org/officeDocument/2006/relationships/image" Target="../media/image26.png"/><Relationship Id="rId7" Type="http://schemas.openxmlformats.org/officeDocument/2006/relationships/image" Target="../media/image35.png"/><Relationship Id="rId12" Type="http://schemas.microsoft.com/office/2007/relationships/hdphoto" Target="../media/hdphoto5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8.png"/><Relationship Id="rId5" Type="http://schemas.openxmlformats.org/officeDocument/2006/relationships/image" Target="../media/image33.png"/><Relationship Id="rId10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3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4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371.png"/><Relationship Id="rId5" Type="http://schemas.openxmlformats.org/officeDocument/2006/relationships/image" Target="../media/image43.png"/><Relationship Id="rId10" Type="http://schemas.openxmlformats.org/officeDocument/2006/relationships/image" Target="../media/image320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image" Target="../media/image2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microsoft.com/office/2007/relationships/hdphoto" Target="../media/hdphoto9.wdp"/><Relationship Id="rId4" Type="http://schemas.microsoft.com/office/2007/relationships/hdphoto" Target="../media/hdphoto6.wdp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59.png"/><Relationship Id="rId3" Type="http://schemas.openxmlformats.org/officeDocument/2006/relationships/image" Target="../media/image560.png"/><Relationship Id="rId7" Type="http://schemas.openxmlformats.org/officeDocument/2006/relationships/image" Target="../media/image15.png"/><Relationship Id="rId12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58.png"/><Relationship Id="rId5" Type="http://schemas.microsoft.com/office/2007/relationships/hdphoto" Target="../media/hdphoto9.wdp"/><Relationship Id="rId10" Type="http://schemas.openxmlformats.org/officeDocument/2006/relationships/image" Target="../media/image63.png"/><Relationship Id="rId4" Type="http://schemas.openxmlformats.org/officeDocument/2006/relationships/image" Target="../media/image42.png"/><Relationship Id="rId9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microsoft.com/office/2007/relationships/hdphoto" Target="../media/hdphoto11.wdp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690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blog/latest-updates/seymour-w-duncans-interview-with-seth-lov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6.png"/><Relationship Id="rId7" Type="http://schemas.openxmlformats.org/officeDocument/2006/relationships/image" Target="../media/image30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0.png"/><Relationship Id="rId4" Type="http://schemas.openxmlformats.org/officeDocument/2006/relationships/image" Target="../media/image9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77.png"/><Relationship Id="rId7" Type="http://schemas.openxmlformats.org/officeDocument/2006/relationships/image" Target="../media/image11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03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microsoft.com/office/2007/relationships/hdphoto" Target="../media/hdphoto14.wdp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AC26-A7A2-65B6-7B29-11EC07A6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 Black" panose="020B0A04020102020204" pitchFamily="34" charset="0"/>
              </a:rPr>
              <a:t>Guitare électrique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40984-6D77-4428-740A-A1707BD7F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Etude de l’influence du type de bobinage dans le micro</a:t>
            </a:r>
          </a:p>
        </p:txBody>
      </p:sp>
      <p:pic>
        <p:nvPicPr>
          <p:cNvPr id="8" name="Picture 2" descr="Guitare, La Musique, Guitare Électrique">
            <a:extLst>
              <a:ext uri="{FF2B5EF4-FFF2-40B4-BE49-F238E27FC236}">
                <a16:creationId xmlns:a16="http://schemas.microsoft.com/office/drawing/2014/main" id="{89657AC2-F3D9-A8C8-AAAD-B6D3F242C614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2" b="9672"/>
          <a:stretch>
            <a:fillRect/>
          </a:stretch>
        </p:blipFill>
        <p:spPr bwMode="auto">
          <a:xfrm>
            <a:off x="0" y="0"/>
            <a:ext cx="91440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DC964-7FE6-9F87-25A2-2DE66A95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259636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6559-264F-60FB-1D37-320CA1D9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1EE70EB-793F-4DE4-5CD3-06C1970A54E3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404F2-95E1-6C3C-2AC8-4C3EA8AF8028}"/>
              </a:ext>
            </a:extLst>
          </p:cNvPr>
          <p:cNvSpPr/>
          <p:nvPr/>
        </p:nvSpPr>
        <p:spPr>
          <a:xfrm>
            <a:off x="622219" y="50899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7685325-6DB0-D00D-F7AE-FBD7499B9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177681"/>
              </p:ext>
            </p:extLst>
          </p:nvPr>
        </p:nvGraphicFramePr>
        <p:xfrm>
          <a:off x="622219" y="1557243"/>
          <a:ext cx="7899561" cy="3133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0A05600E-BBED-713B-0765-F9FC4C8B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1043" y="4687846"/>
            <a:ext cx="914400" cy="914400"/>
          </a:xfrm>
          <a:prstGeom prst="rect">
            <a:avLst/>
          </a:prstGeom>
        </p:spPr>
      </p:pic>
      <p:pic>
        <p:nvPicPr>
          <p:cNvPr id="19" name="Graphic 18" descr="Earth globe: Africa and Europe with solid fill">
            <a:extLst>
              <a:ext uri="{FF2B5EF4-FFF2-40B4-BE49-F238E27FC236}">
                <a16:creationId xmlns:a16="http://schemas.microsoft.com/office/drawing/2014/main" id="{18E70CB9-42FE-B71F-A1C8-24CE93E332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6203" y="4735221"/>
            <a:ext cx="914400" cy="914400"/>
          </a:xfrm>
          <a:prstGeom prst="rect">
            <a:avLst/>
          </a:prstGeom>
        </p:spPr>
      </p:pic>
      <p:pic>
        <p:nvPicPr>
          <p:cNvPr id="21" name="Graphic 20" descr="Music note with solid fill">
            <a:extLst>
              <a:ext uri="{FF2B5EF4-FFF2-40B4-BE49-F238E27FC236}">
                <a16:creationId xmlns:a16="http://schemas.microsoft.com/office/drawing/2014/main" id="{84DFF8B1-F884-2B2A-7E80-9BC9C2825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3397" y="472997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C7AD5E-8D0B-A100-8BC7-8968AFC40EF4}"/>
              </a:ext>
            </a:extLst>
          </p:cNvPr>
          <p:cNvSpPr txBox="1"/>
          <p:nvPr/>
        </p:nvSpPr>
        <p:spPr>
          <a:xfrm>
            <a:off x="5921829" y="6071016"/>
            <a:ext cx="32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[1] </a:t>
            </a:r>
            <a:r>
              <a:rPr lang="en-GB" sz="1100" dirty="0" err="1"/>
              <a:t>WiseGuy</a:t>
            </a:r>
            <a:r>
              <a:rPr lang="en-GB" sz="1100" dirty="0"/>
              <a:t> Research Consultants</a:t>
            </a:r>
            <a:endParaRPr lang="fr-FR" sz="11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21CB03-8FB3-DCCC-1E6A-468CBF66A0C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DEB56B-5E6F-7F53-5602-DC58EDC1646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5B19474D-95C6-FB1A-CC9F-918E0FC5501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2551F-BBF9-4810-F2AF-2838FCD6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1EA654-5847-FC21-5C05-227A415B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z="1400" b="1" smtClean="0"/>
              <a:t>2</a:t>
            </a:fld>
            <a:endParaRPr lang="fr-FR" sz="14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13F58-63AC-F0D3-5446-33ECFA46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</p:spTree>
    <p:extLst>
      <p:ext uri="{BB962C8B-B14F-4D97-AF65-F5344CB8AC3E}">
        <p14:creationId xmlns:p14="http://schemas.microsoft.com/office/powerpoint/2010/main" val="298856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04F0-B502-65BC-6A09-35CFB45E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9BCC782-0D3B-CED9-60B9-795B1EBEEAEE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CF84F-B284-FFE6-89D6-BC064CAF24E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BD08EE-D283-DD4F-BD91-A527520D3F09}"/>
              </a:ext>
            </a:extLst>
          </p:cNvPr>
          <p:cNvGrpSpPr/>
          <p:nvPr/>
        </p:nvGrpSpPr>
        <p:grpSpPr>
          <a:xfrm>
            <a:off x="-43440" y="924437"/>
            <a:ext cx="9223365" cy="3939301"/>
            <a:chOff x="-143123" y="1695451"/>
            <a:chExt cx="9223365" cy="389376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AD59C-BE3D-5354-10F1-5FB60C9BA5F8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93765"/>
              <a:chOff x="1006751" y="1255937"/>
              <a:chExt cx="6952009" cy="3872654"/>
            </a:xfrm>
          </p:grpSpPr>
          <p:pic>
            <p:nvPicPr>
              <p:cNvPr id="16" name="Picture 15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671EF1F-85A1-8978-42ED-6DC100D8E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1026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CC805345-A78D-D399-DA6C-BFFD053F5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E11A188-CC0E-DA89-77CB-1A851E9A6CC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76318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31" name="Picture 8" descr="Sound PNG Transparent Images">
              <a:extLst>
                <a:ext uri="{FF2B5EF4-FFF2-40B4-BE49-F238E27FC236}">
                  <a16:creationId xmlns:a16="http://schemas.microsoft.com/office/drawing/2014/main" id="{C5A23D53-5DDB-D416-A41A-F727728A5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4464" y="2449034"/>
              <a:ext cx="2325778" cy="2325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27FF2A-9CB1-1AF7-C7B2-1DA1B28400B9}"/>
              </a:ext>
            </a:extLst>
          </p:cNvPr>
          <p:cNvGrpSpPr/>
          <p:nvPr/>
        </p:nvGrpSpPr>
        <p:grpSpPr>
          <a:xfrm>
            <a:off x="421651" y="5064229"/>
            <a:ext cx="8293184" cy="739359"/>
            <a:chOff x="385745" y="5494993"/>
            <a:chExt cx="8293184" cy="7393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4A1EF4-71C5-AFEC-F51C-54253E6418D7}"/>
                </a:ext>
              </a:extLst>
            </p:cNvPr>
            <p:cNvGrpSpPr/>
            <p:nvPr/>
          </p:nvGrpSpPr>
          <p:grpSpPr>
            <a:xfrm>
              <a:off x="385745" y="5495226"/>
              <a:ext cx="8293184" cy="739126"/>
              <a:chOff x="385745" y="5495226"/>
              <a:chExt cx="8293184" cy="73912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4F9E293-216E-15DD-4F6F-A29FF3E6E51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02C0AC77-D285-65B0-D66E-4E098D9D4641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0D4AE5-9607-4DB4-BE36-56A5094F4D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67171" y="3428768"/>
                  <a:ext cx="572727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C0C996A-BF1C-90EE-8498-2E1A93560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3334" y="3428768"/>
                  <a:ext cx="572726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2A0A7D1-8E1F-6D54-6F03-9C163D412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59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574FC-33E4-37D5-8403-057A812BEBA3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96A4DF-AA46-B362-6EF6-93AC149BD5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</p:grp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B3F6E7F-9ED7-799A-C6AD-763658746D8C}"/>
                </a:ext>
              </a:extLst>
            </p:cNvPr>
            <p:cNvSpPr/>
            <p:nvPr/>
          </p:nvSpPr>
          <p:spPr>
            <a:xfrm>
              <a:off x="1854515" y="5494993"/>
              <a:ext cx="3061111" cy="739127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Micro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09AD39-0921-EB4A-1080-583A356887F2}"/>
              </a:ext>
            </a:extLst>
          </p:cNvPr>
          <p:cNvSpPr txBox="1"/>
          <p:nvPr/>
        </p:nvSpPr>
        <p:spPr>
          <a:xfrm>
            <a:off x="4915627" y="6071016"/>
            <a:ext cx="4287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[2] </a:t>
            </a:r>
            <a:r>
              <a:rPr lang="en-GB" sz="1100" dirty="0"/>
              <a:t>Matthew W. Hill, Sorbonne Université Presse</a:t>
            </a:r>
            <a:endParaRPr lang="fr-FR" sz="1100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8417795-70F9-02E7-96CE-574852CA0F0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7FF5D9-EF18-24AF-8AB4-7DAB59DDE23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54CFB6A-7BE4-336E-497B-88F584AC08BE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4" name="Footer Placeholder 2">
              <a:extLst>
                <a:ext uri="{FF2B5EF4-FFF2-40B4-BE49-F238E27FC236}">
                  <a16:creationId xmlns:a16="http://schemas.microsoft.com/office/drawing/2014/main" id="{81FB907C-1F88-1B14-226E-07CDAD186F1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61853-FCE9-DA8F-F77F-DBFD494B4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FF95-1FEB-A5EE-FCFC-F7BB71FD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7EDE2C3-3CCE-BE30-6104-A13D47AA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428314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5C65-7A37-1B90-FBC8-8C517E9F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B411610-91CC-1D3E-B007-8E0F6F5EEE2B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A5B9C0-C73A-6300-0522-20EE954AE8F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8FB3C2F-F634-79DF-634E-4FB985FD79C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AE2E80-E912-D97C-8D4D-D8FA1169D84C}"/>
              </a:ext>
            </a:extLst>
          </p:cNvPr>
          <p:cNvGrpSpPr/>
          <p:nvPr/>
        </p:nvGrpSpPr>
        <p:grpSpPr>
          <a:xfrm>
            <a:off x="330200" y="978128"/>
            <a:ext cx="8498627" cy="4901743"/>
            <a:chOff x="330200" y="1423280"/>
            <a:chExt cx="8498627" cy="4901743"/>
          </a:xfrm>
        </p:grpSpPr>
        <p:pic>
          <p:nvPicPr>
            <p:cNvPr id="6" name="Picture 5" descr="Guitar Pickup Market By Region">
              <a:extLst>
                <a:ext uri="{FF2B5EF4-FFF2-40B4-BE49-F238E27FC236}">
                  <a16:creationId xmlns:a16="http://schemas.microsoft.com/office/drawing/2014/main" id="{6DA00D97-DD6A-62D3-2FEF-6FDA183FC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1" t="1" r="88" b="1662"/>
            <a:stretch>
              <a:fillRect/>
            </a:stretch>
          </p:blipFill>
          <p:spPr>
            <a:xfrm>
              <a:off x="330200" y="1423280"/>
              <a:ext cx="8498627" cy="469684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E4591E-213D-DD3D-F756-86FF1B678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4285" y="5785023"/>
              <a:ext cx="766733" cy="54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935B24-D3D4-E1C7-7221-E3E13E20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1697" y="5785023"/>
              <a:ext cx="766313" cy="5400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5A42A2-4676-292B-E960-C64B3D3DE5C5}"/>
                </a:ext>
              </a:extLst>
            </p:cNvPr>
            <p:cNvSpPr/>
            <p:nvPr/>
          </p:nvSpPr>
          <p:spPr>
            <a:xfrm>
              <a:off x="1119987" y="3792511"/>
              <a:ext cx="2627554" cy="179670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3B1C9B-ECF9-F287-89FF-67656642FDEC}"/>
                </a:ext>
              </a:extLst>
            </p:cNvPr>
            <p:cNvSpPr txBox="1"/>
            <p:nvPr/>
          </p:nvSpPr>
          <p:spPr>
            <a:xfrm>
              <a:off x="1985724" y="3452852"/>
              <a:ext cx="7859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60%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5538530-AEDA-8079-4FC7-7FE95B066120}"/>
              </a:ext>
            </a:extLst>
          </p:cNvPr>
          <p:cNvSpPr txBox="1"/>
          <p:nvPr/>
        </p:nvSpPr>
        <p:spPr>
          <a:xfrm>
            <a:off x="1323303" y="4636845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23.9%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D38844-6458-856C-27C9-4A869A89F20A}"/>
              </a:ext>
            </a:extLst>
          </p:cNvPr>
          <p:cNvSpPr txBox="1"/>
          <p:nvPr/>
        </p:nvSpPr>
        <p:spPr>
          <a:xfrm>
            <a:off x="4427185" y="300770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18.2%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E00042-FA40-4722-DEE9-BCC43CF6F914}"/>
              </a:ext>
            </a:extLst>
          </p:cNvPr>
          <p:cNvSpPr txBox="1"/>
          <p:nvPr/>
        </p:nvSpPr>
        <p:spPr>
          <a:xfrm>
            <a:off x="5919010" y="2526212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13.1%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81727A-1BF8-121E-D477-3D1C7E718221}"/>
              </a:ext>
            </a:extLst>
          </p:cNvPr>
          <p:cNvSpPr txBox="1"/>
          <p:nvPr/>
        </p:nvSpPr>
        <p:spPr>
          <a:xfrm>
            <a:off x="7475333" y="221595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8.7%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582498-A12E-C1F5-F376-6C09D43F7F4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FE9E1E-C8F4-E203-5640-8217B20F502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4468C78C-C5D3-2CC7-D96D-98F1E6CC8C4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4C715-1FC7-1020-3096-E8C89B6E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2C755-F442-740C-3610-5B4E39BBF131}"/>
              </a:ext>
            </a:extLst>
          </p:cNvPr>
          <p:cNvSpPr txBox="1"/>
          <p:nvPr/>
        </p:nvSpPr>
        <p:spPr>
          <a:xfrm>
            <a:off x="5921829" y="6071016"/>
            <a:ext cx="32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[1] </a:t>
            </a:r>
            <a:r>
              <a:rPr lang="en-GB" sz="1100" dirty="0" err="1"/>
              <a:t>WiseGuy</a:t>
            </a:r>
            <a:r>
              <a:rPr lang="en-GB" sz="1100" dirty="0"/>
              <a:t> Research Consultants</a:t>
            </a:r>
            <a:endParaRPr lang="fr-FR" sz="11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749FD6-7341-29D8-2EFF-027559DD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6EC049F-B723-0C3E-A041-0F11D0EA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4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18377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BA01-5E57-F9AD-7FB1-9B31B40E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7ABC560-5331-C119-99E8-E7E487C7F79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60A34-3C0D-7ED1-37AC-A59777E64D3C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CBCFC-B5B7-AE0C-CD83-2301C046DD2B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756C83-7AA3-F936-101B-DF3BB74A0CF5}"/>
              </a:ext>
            </a:extLst>
          </p:cNvPr>
          <p:cNvGrpSpPr/>
          <p:nvPr/>
        </p:nvGrpSpPr>
        <p:grpSpPr>
          <a:xfrm>
            <a:off x="642999" y="1268784"/>
            <a:ext cx="7766364" cy="4679896"/>
            <a:chOff x="2391413" y="1278005"/>
            <a:chExt cx="7766364" cy="467989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1B0F9D-8566-0C35-DA3D-12B83B1D5D8F}"/>
                </a:ext>
              </a:extLst>
            </p:cNvPr>
            <p:cNvGrpSpPr/>
            <p:nvPr/>
          </p:nvGrpSpPr>
          <p:grpSpPr>
            <a:xfrm>
              <a:off x="4257048" y="1278005"/>
              <a:ext cx="4556752" cy="4679896"/>
              <a:chOff x="5128260" y="2555821"/>
              <a:chExt cx="3281103" cy="2838917"/>
            </a:xfrm>
          </p:grpSpPr>
          <p:pic>
            <p:nvPicPr>
              <p:cNvPr id="10" name="Picture 9" descr="A blue and white drawing of a square and a rectangle&#10;&#10;AI-generated content may be incorrect.">
                <a:extLst>
                  <a:ext uri="{FF2B5EF4-FFF2-40B4-BE49-F238E27FC236}">
                    <a16:creationId xmlns:a16="http://schemas.microsoft.com/office/drawing/2014/main" id="{35B1D760-66A7-4EF2-06F7-CEB0F7405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7161" r="12491"/>
              <a:stretch>
                <a:fillRect/>
              </a:stretch>
            </p:blipFill>
            <p:spPr>
              <a:xfrm>
                <a:off x="5128260" y="2555821"/>
                <a:ext cx="3281103" cy="2838917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6B4602-42B8-CD9D-7B5A-B72982226E4D}"/>
                  </a:ext>
                </a:extLst>
              </p:cNvPr>
              <p:cNvSpPr/>
              <p:nvPr/>
            </p:nvSpPr>
            <p:spPr>
              <a:xfrm>
                <a:off x="6606541" y="3415664"/>
                <a:ext cx="308610" cy="2698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29" name="Picture 1028">
                <a:extLst>
                  <a:ext uri="{FF2B5EF4-FFF2-40B4-BE49-F238E27FC236}">
                    <a16:creationId xmlns:a16="http://schemas.microsoft.com/office/drawing/2014/main" id="{BEE47B49-AC29-0A5B-BE91-5834088C24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32494" b="70953" l="13960" r="44675"/>
                        </a14:imgEffect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20" t="27687" r="51486" b="24239"/>
              <a:stretch>
                <a:fillRect/>
              </a:stretch>
            </p:blipFill>
            <p:spPr>
              <a:xfrm>
                <a:off x="5513338" y="3130807"/>
                <a:ext cx="2568446" cy="1693612"/>
              </a:xfrm>
              <a:prstGeom prst="rect">
                <a:avLst/>
              </a:prstGeom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30357CB-6D07-11C5-8EC3-85C6EB5CB4BF}"/>
                  </a:ext>
                </a:extLst>
              </p:cNvPr>
              <p:cNvSpPr/>
              <p:nvPr/>
            </p:nvSpPr>
            <p:spPr>
              <a:xfrm>
                <a:off x="6704837" y="3200415"/>
                <a:ext cx="103688" cy="8735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E53688-28E3-395D-70F6-E50EF0BE10AB}"/>
                </a:ext>
              </a:extLst>
            </p:cNvPr>
            <p:cNvSpPr txBox="1"/>
            <p:nvPr/>
          </p:nvSpPr>
          <p:spPr>
            <a:xfrm flipH="1">
              <a:off x="2391413" y="2759586"/>
              <a:ext cx="1453534" cy="276999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Corde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F181BAC7-2F05-D532-04C6-1C065A8CDC42}"/>
                </a:ext>
              </a:extLst>
            </p:cNvPr>
            <p:cNvCxnSpPr>
              <a:cxnSpLocks/>
              <a:stCxn id="14" idx="0"/>
              <a:endCxn id="12" idx="2"/>
            </p:cNvCxnSpPr>
            <p:nvPr/>
          </p:nvCxnSpPr>
          <p:spPr>
            <a:xfrm rot="5400000" flipH="1" flipV="1">
              <a:off x="4608888" y="921898"/>
              <a:ext cx="346981" cy="3328397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750372-0D76-1A6A-DD9B-C7FF226BC376}"/>
                </a:ext>
              </a:extLst>
            </p:cNvPr>
            <p:cNvSpPr txBox="1"/>
            <p:nvPr/>
          </p:nvSpPr>
          <p:spPr>
            <a:xfrm flipH="1">
              <a:off x="8704243" y="2418439"/>
              <a:ext cx="1453534" cy="276999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Bobine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CDBB6C-E453-637C-7462-FBC874B60003}"/>
                </a:ext>
              </a:extLst>
            </p:cNvPr>
            <p:cNvSpPr txBox="1"/>
            <p:nvPr/>
          </p:nvSpPr>
          <p:spPr>
            <a:xfrm flipH="1">
              <a:off x="2391413" y="3842342"/>
              <a:ext cx="1453534" cy="276999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Aimant permanent</a:t>
              </a:r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11FCA9BF-D568-7FEF-8F3A-CC03ABDECFCE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rot="5400000">
              <a:off x="7897567" y="1990055"/>
              <a:ext cx="828061" cy="2238826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BD422936-A5EF-FA57-44E3-7B65B2489857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rot="5400000" flipH="1" flipV="1">
              <a:off x="4590100" y="1985866"/>
              <a:ext cx="384556" cy="3328396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Picture 2" descr="Free femm 4.2 software download (Windows)">
            <a:extLst>
              <a:ext uri="{FF2B5EF4-FFF2-40B4-BE49-F238E27FC236}">
                <a16:creationId xmlns:a16="http://schemas.microsoft.com/office/drawing/2014/main" id="{7E23C437-0ABF-7719-0798-576ADE15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80" y="5431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368BD-720D-61CB-9C35-FD2F182B225B}"/>
              </a:ext>
            </a:extLst>
          </p:cNvPr>
          <p:cNvSpPr txBox="1"/>
          <p:nvPr/>
        </p:nvSpPr>
        <p:spPr>
          <a:xfrm>
            <a:off x="5500915" y="6071016"/>
            <a:ext cx="3702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[4] </a:t>
            </a:r>
            <a:r>
              <a:rPr lang="en-GB" sz="1100" dirty="0"/>
              <a:t>S. W. Duncan, "Interview With Seth Lover"</a:t>
            </a:r>
            <a:endParaRPr lang="fr-FR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EFCE6-1325-4661-AA72-4FFBB63CEFF5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Micro SingleCoil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AF7F45-52A3-9483-9C58-D4A5D32B0F4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3EF40E8-F99F-B462-8250-77A4C4061D8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Footer Placeholder 2">
              <a:extLst>
                <a:ext uri="{FF2B5EF4-FFF2-40B4-BE49-F238E27FC236}">
                  <a16:creationId xmlns:a16="http://schemas.microsoft.com/office/drawing/2014/main" id="{19F03FE6-1C4E-947B-FA91-0A23A23336D8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4D5B1-9014-DA13-332D-861F4AAD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0DB0-A6E5-9C62-A429-F3920061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FD8EB-97F7-35B8-C300-7336CE17CC36}"/>
              </a:ext>
            </a:extLst>
          </p:cNvPr>
          <p:cNvSpPr txBox="1"/>
          <p:nvPr/>
        </p:nvSpPr>
        <p:spPr>
          <a:xfrm>
            <a:off x="4570127" y="2991386"/>
            <a:ext cx="392079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6C5D8-B656-F7A3-CC83-FC76F4C1E262}"/>
              </a:ext>
            </a:extLst>
          </p:cNvPr>
          <p:cNvSpPr txBox="1"/>
          <p:nvPr/>
        </p:nvSpPr>
        <p:spPr>
          <a:xfrm>
            <a:off x="4570127" y="4222612"/>
            <a:ext cx="392079" cy="369332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F05E82A5-EBC8-504A-BD59-F5FAB488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5</a:t>
            </a:fld>
            <a:endParaRPr lang="fr-FR" sz="14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54492E-813C-5706-A577-F0D7E77B9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556920" y="517553"/>
            <a:ext cx="1260000" cy="1037332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76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5CDC-E18A-6821-CC67-B07651DB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8092A65-490B-4AC0-8393-01D12A337A0D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37ED1-A8A1-92A6-E436-7B0AE35C232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39AF3-B671-1A96-D11D-9164EFD8F565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07AC0-394D-84B1-8162-3042EECBDF45}"/>
              </a:ext>
            </a:extLst>
          </p:cNvPr>
          <p:cNvSpPr/>
          <p:nvPr/>
        </p:nvSpPr>
        <p:spPr>
          <a:xfrm>
            <a:off x="622219" y="1351909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5D5EF-60B2-6FAD-3936-D1828DDA27A4}"/>
              </a:ext>
            </a:extLst>
          </p:cNvPr>
          <p:cNvSpPr/>
          <p:nvPr/>
        </p:nvSpPr>
        <p:spPr>
          <a:xfrm>
            <a:off x="642999" y="1720375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AA9F8-0DCE-F3A1-2774-4F4BB52C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622219" y="954461"/>
            <a:ext cx="7984008" cy="484971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86814AB-8380-0640-C9A3-B61B1F95450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CC6DF1-F332-A203-EE77-C772AC9C18B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97DD3AD4-78A0-831B-7B26-AF4449B0D39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A0D0A-9CE4-B35F-DED9-B8F9D290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70900-36E2-535F-E2A2-C1BB77EB8900}"/>
              </a:ext>
            </a:extLst>
          </p:cNvPr>
          <p:cNvSpPr txBox="1"/>
          <p:nvPr/>
        </p:nvSpPr>
        <p:spPr>
          <a:xfrm>
            <a:off x="5500915" y="6071016"/>
            <a:ext cx="3702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[4] </a:t>
            </a:r>
            <a:r>
              <a:rPr lang="en-GB" sz="1100" dirty="0"/>
              <a:t>S. W. Duncan, "Interview With Seth Lover"</a:t>
            </a:r>
            <a:endParaRPr lang="fr-FR" sz="11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CE46BE-99A1-C396-1439-D5023E5B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414B8C1-87A9-3C45-48CB-A14FD9AB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6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91952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3F0E-84CD-C391-808C-60FB199D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CA72259-54E2-49A4-C520-ECE0702321F5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783AE6-51CF-96D4-FF4F-76A91E4D70CC}"/>
              </a:ext>
            </a:extLst>
          </p:cNvPr>
          <p:cNvSpPr/>
          <p:nvPr/>
        </p:nvSpPr>
        <p:spPr>
          <a:xfrm>
            <a:off x="5953149" y="2713650"/>
            <a:ext cx="428593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9966DA-65A5-0089-96C5-341C4C44043D}"/>
              </a:ext>
            </a:extLst>
          </p:cNvPr>
          <p:cNvSpPr/>
          <p:nvPr/>
        </p:nvSpPr>
        <p:spPr>
          <a:xfrm>
            <a:off x="7250271" y="2713650"/>
            <a:ext cx="247651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2B7CE4-DCA4-58A6-9A88-29EF0568BDAF}"/>
              </a:ext>
            </a:extLst>
          </p:cNvPr>
          <p:cNvSpPr/>
          <p:nvPr/>
        </p:nvSpPr>
        <p:spPr>
          <a:xfrm>
            <a:off x="5419725" y="2891036"/>
            <a:ext cx="468895" cy="1200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C2055B-F368-6E9D-0494-ABBA449BB687}"/>
              </a:ext>
            </a:extLst>
          </p:cNvPr>
          <p:cNvGrpSpPr>
            <a:grpSpLocks noChangeAspect="1"/>
          </p:cNvGrpSpPr>
          <p:nvPr/>
        </p:nvGrpSpPr>
        <p:grpSpPr>
          <a:xfrm>
            <a:off x="1592129" y="498613"/>
            <a:ext cx="5952228" cy="5446688"/>
            <a:chOff x="4572000" y="1105567"/>
            <a:chExt cx="4303537" cy="3938025"/>
          </a:xfrm>
        </p:grpSpPr>
        <p:pic>
          <p:nvPicPr>
            <p:cNvPr id="22" name="Picture 21" descr="A drawing of a computer&#10;&#10;AI-generated content may be incorrect.">
              <a:extLst>
                <a:ext uri="{FF2B5EF4-FFF2-40B4-BE49-F238E27FC236}">
                  <a16:creationId xmlns:a16="http://schemas.microsoft.com/office/drawing/2014/main" id="{D940559A-4517-B76C-7191-DBF90D784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105567"/>
              <a:ext cx="4303537" cy="393802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4ACEF00-6939-5D0B-A13E-4FE798F62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76" t="6786" r="5431" b="11456"/>
            <a:stretch>
              <a:fillRect/>
            </a:stretch>
          </p:blipFill>
          <p:spPr>
            <a:xfrm>
              <a:off x="5043879" y="2370603"/>
              <a:ext cx="3400522" cy="2092725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A070375-38D7-0425-E55D-0B48FE1180FC}"/>
                </a:ext>
              </a:extLst>
            </p:cNvPr>
            <p:cNvSpPr/>
            <p:nvPr/>
          </p:nvSpPr>
          <p:spPr>
            <a:xfrm>
              <a:off x="4589145" y="2237711"/>
              <a:ext cx="4276317" cy="788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2B4F244-6F4C-3EAA-965E-76F8DAA7B14C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Micro Humbucker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593F41-6F39-361E-0A62-C3B67BE71D93}"/>
              </a:ext>
            </a:extLst>
          </p:cNvPr>
          <p:cNvSpPr txBox="1"/>
          <p:nvPr/>
        </p:nvSpPr>
        <p:spPr>
          <a:xfrm flipH="1">
            <a:off x="162308" y="2219528"/>
            <a:ext cx="1453534" cy="2769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F77FEB0-F50B-87D1-B05A-F03C82BDF92D}"/>
              </a:ext>
            </a:extLst>
          </p:cNvPr>
          <p:cNvCxnSpPr>
            <a:cxnSpLocks/>
            <a:stCxn id="37" idx="0"/>
            <a:endCxn id="33" idx="1"/>
          </p:cNvCxnSpPr>
          <p:nvPr/>
        </p:nvCxnSpPr>
        <p:spPr>
          <a:xfrm rot="5400000" flipH="1" flipV="1">
            <a:off x="1202188" y="1805875"/>
            <a:ext cx="100541" cy="72676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BADA61-5B9D-A516-A70E-04D7AA645191}"/>
              </a:ext>
            </a:extLst>
          </p:cNvPr>
          <p:cNvSpPr txBox="1"/>
          <p:nvPr/>
        </p:nvSpPr>
        <p:spPr>
          <a:xfrm flipH="1">
            <a:off x="72320" y="3495964"/>
            <a:ext cx="1622577" cy="2769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Aimants permanents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1CFDA93-F6CC-0567-B5D1-51470F715D93}"/>
              </a:ext>
            </a:extLst>
          </p:cNvPr>
          <p:cNvCxnSpPr>
            <a:cxnSpLocks/>
            <a:stCxn id="40" idx="0"/>
          </p:cNvCxnSpPr>
          <p:nvPr/>
        </p:nvCxnSpPr>
        <p:spPr>
          <a:xfrm rot="5400000" flipH="1" flipV="1">
            <a:off x="1781112" y="1732008"/>
            <a:ext cx="866453" cy="266146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AF1B7B9-1C45-C088-4CB0-28717C74BDF2}"/>
              </a:ext>
            </a:extLst>
          </p:cNvPr>
          <p:cNvCxnSpPr>
            <a:cxnSpLocks/>
            <a:stCxn id="40" idx="0"/>
          </p:cNvCxnSpPr>
          <p:nvPr/>
        </p:nvCxnSpPr>
        <p:spPr>
          <a:xfrm rot="5400000" flipH="1" flipV="1">
            <a:off x="2629508" y="976208"/>
            <a:ext cx="773856" cy="42656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467D2B5-392A-FE74-4310-84CCCF4527BB}"/>
              </a:ext>
            </a:extLst>
          </p:cNvPr>
          <p:cNvSpPr txBox="1"/>
          <p:nvPr/>
        </p:nvSpPr>
        <p:spPr>
          <a:xfrm flipH="1">
            <a:off x="7447429" y="3364925"/>
            <a:ext cx="1453534" cy="2769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79DD24F-CDD7-E624-5F20-C27C82B2FBB1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>
            <a:off x="7141995" y="2855301"/>
            <a:ext cx="245578" cy="181882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78FAB7A-9FB1-C9C0-4840-E3A7DD272F73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>
            <a:off x="6076439" y="1978159"/>
            <a:ext cx="433993" cy="376152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5A6B271-E2D8-B11C-AC3A-41C087E067C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16B81DE-CE67-4B5A-3895-DD224A2F4D3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0" name="Footer Placeholder 2">
              <a:extLst>
                <a:ext uri="{FF2B5EF4-FFF2-40B4-BE49-F238E27FC236}">
                  <a16:creationId xmlns:a16="http://schemas.microsoft.com/office/drawing/2014/main" id="{ED27BAC7-A23D-18ED-EB0C-C289ED77629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FFD95-280A-DA7B-3174-834A58BB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031E5-F817-247E-643D-F0D1019CEEBD}"/>
              </a:ext>
            </a:extLst>
          </p:cNvPr>
          <p:cNvSpPr txBox="1"/>
          <p:nvPr/>
        </p:nvSpPr>
        <p:spPr>
          <a:xfrm>
            <a:off x="5500915" y="6071016"/>
            <a:ext cx="3702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[4] </a:t>
            </a:r>
            <a:r>
              <a:rPr lang="en-GB" sz="1100" dirty="0"/>
              <a:t>S. W. Duncan, "Interview With Seth Lover"</a:t>
            </a:r>
            <a:endParaRPr lang="fr-FR" sz="11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90AA6-1EE8-EF08-E227-88553644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CCC4F-5C65-DD91-8A61-17E888BB2326}"/>
              </a:ext>
            </a:extLst>
          </p:cNvPr>
          <p:cNvSpPr txBox="1"/>
          <p:nvPr/>
        </p:nvSpPr>
        <p:spPr>
          <a:xfrm>
            <a:off x="3545069" y="2778610"/>
            <a:ext cx="392079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E1A32-81FA-D10B-F3D8-BD7081109444}"/>
              </a:ext>
            </a:extLst>
          </p:cNvPr>
          <p:cNvSpPr txBox="1"/>
          <p:nvPr/>
        </p:nvSpPr>
        <p:spPr>
          <a:xfrm>
            <a:off x="5195699" y="2782495"/>
            <a:ext cx="392079" cy="369332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83196-DCA2-B166-452A-75A892D29BD8}"/>
              </a:ext>
            </a:extLst>
          </p:cNvPr>
          <p:cNvSpPr txBox="1"/>
          <p:nvPr/>
        </p:nvSpPr>
        <p:spPr>
          <a:xfrm>
            <a:off x="5195698" y="4320785"/>
            <a:ext cx="392079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31F120-E518-5CCD-6BEA-2B95E2C97550}"/>
              </a:ext>
            </a:extLst>
          </p:cNvPr>
          <p:cNvSpPr txBox="1"/>
          <p:nvPr/>
        </p:nvSpPr>
        <p:spPr>
          <a:xfrm>
            <a:off x="3545069" y="4317910"/>
            <a:ext cx="392079" cy="369332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F1BF78-7771-183F-5E10-7EAB30E1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7</a:t>
            </a:fld>
            <a:endParaRPr lang="fr-FR" sz="1400" b="1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361DA7D-3E77-57F3-D00B-30AF85B8C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556920" y="527318"/>
            <a:ext cx="1260000" cy="1011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Free femm 4.2 software download (Windows)">
            <a:extLst>
              <a:ext uri="{FF2B5EF4-FFF2-40B4-BE49-F238E27FC236}">
                <a16:creationId xmlns:a16="http://schemas.microsoft.com/office/drawing/2014/main" id="{7E7337E8-045B-F730-06E8-1B07E3C60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80" y="5431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86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F0D54-FAC9-FCA9-394E-7B3DE258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60F02AB-D7B2-21C7-8CF3-B0397A4CD4A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D1F8F13-01D1-BC37-8265-087B65EA5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1" y="1666551"/>
            <a:ext cx="74253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Dans quelle mesure </a:t>
            </a:r>
            <a:r>
              <a:rPr lang="fr-FR" sz="2000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permet-il </a:t>
            </a:r>
            <a:r>
              <a:rPr lang="fr-FR" sz="2000" b="1" dirty="0"/>
              <a:t>d'éliminer les parasites </a:t>
            </a:r>
            <a:r>
              <a:rPr lang="fr-FR" sz="2000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Comment cela impacte-t-il </a:t>
            </a:r>
            <a:r>
              <a:rPr lang="fr-FR" sz="2000" b="1" dirty="0"/>
              <a:t>la richesse du son </a:t>
            </a:r>
            <a:r>
              <a:rPr lang="fr-FR" sz="2000" dirty="0"/>
              <a:t>?</a:t>
            </a:r>
            <a:endParaRPr kumimoji="0" lang="fr-FR" altLang="fr-F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982658-753F-B2E5-001D-310CC260A660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Sommaire 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0ABA61-984D-B447-A033-A6A7FFDC69D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C140FC-790F-04FC-AC3A-83A9A1BB822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47852B36-A24B-2C71-7860-E989BB6DD960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6FA17-6035-14D8-CA98-C35920B8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70AC2D-7072-3959-CB0B-9F887617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3D97407F-6104-F5BB-6541-7F3AFD5F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8</a:t>
            </a:fld>
            <a:endParaRPr lang="fr-FR" sz="1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EC9287-4771-2C76-EF81-1887B1756CCD}"/>
              </a:ext>
            </a:extLst>
          </p:cNvPr>
          <p:cNvSpPr txBox="1">
            <a:spLocks/>
          </p:cNvSpPr>
          <p:nvPr/>
        </p:nvSpPr>
        <p:spPr>
          <a:xfrm>
            <a:off x="822961" y="4488869"/>
            <a:ext cx="7586402" cy="16279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fr-FR" sz="1600" dirty="0">
                <a:solidFill>
                  <a:schemeClr val="tx1"/>
                </a:solidFill>
                <a:latin typeface="Arial Black" panose="020B0A04020102020204" pitchFamily="34" charset="0"/>
              </a:rPr>
              <a:t>Filtrage électrique interne</a:t>
            </a: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endParaRPr lang="fr-FR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fr-FR" sz="1600" dirty="0">
                <a:solidFill>
                  <a:schemeClr val="tx1"/>
                </a:solidFill>
                <a:latin typeface="Arial Black" panose="020B0A04020102020204" pitchFamily="34" charset="0"/>
              </a:rPr>
              <a:t>Induction et filtrage spatial</a:t>
            </a: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endParaRPr lang="fr-FR" sz="1600" dirty="0">
              <a:solidFill>
                <a:schemeClr val="tx1"/>
              </a:solidFill>
            </a:endParaRPr>
          </a:p>
          <a:p>
            <a:pPr marL="400050" indent="-4000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fr-FR" sz="1600" dirty="0">
                <a:solidFill>
                  <a:schemeClr val="tx1"/>
                </a:solidFill>
                <a:latin typeface="Arial Black" panose="020B0A04020102020204" pitchFamily="34" charset="0"/>
              </a:rPr>
              <a:t>Réduction du bourdonnement</a:t>
            </a:r>
          </a:p>
        </p:txBody>
      </p:sp>
    </p:spTree>
    <p:extLst>
      <p:ext uri="{BB962C8B-B14F-4D97-AF65-F5344CB8AC3E}">
        <p14:creationId xmlns:p14="http://schemas.microsoft.com/office/powerpoint/2010/main" val="7180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70DF-C183-6295-4303-D3CF9E22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C4B8770-573B-C831-FFA0-861520C1811C}"/>
              </a:ext>
            </a:extLst>
          </p:cNvPr>
          <p:cNvSpPr/>
          <p:nvPr/>
        </p:nvSpPr>
        <p:spPr>
          <a:xfrm>
            <a:off x="326174" y="1202288"/>
            <a:ext cx="2779881" cy="418998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Hypothèses</a:t>
            </a:r>
          </a:p>
          <a:p>
            <a:pPr algn="ctr"/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/>
                </a:solidFill>
              </a:rPr>
              <a:t>Symétrie parfaite des bobinages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Conséquences</a:t>
            </a:r>
          </a:p>
          <a:p>
            <a:pPr algn="ctr"/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/>
                </a:solidFill>
              </a:rPr>
              <a:t>Schéma équivalent identique peu importe le montage</a:t>
            </a:r>
          </a:p>
          <a:p>
            <a:pPr algn="ctr"/>
            <a:endParaRPr lang="fr-F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7F45E-CD1D-2164-9701-C1A6AFEE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961" y="6459786"/>
            <a:ext cx="1854203" cy="365125"/>
          </a:xfrm>
        </p:spPr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C62C1-232D-7788-1243-02E35FDD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dirty="0"/>
              <a:t>TIPE 39662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1D84D8-D07A-452D-142A-2CD131E7DD05}"/>
              </a:ext>
            </a:extLst>
          </p:cNvPr>
          <p:cNvSpPr txBox="1"/>
          <p:nvPr/>
        </p:nvSpPr>
        <p:spPr>
          <a:xfrm>
            <a:off x="3353555" y="5050200"/>
            <a:ext cx="4906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Interprétation :</a:t>
            </a:r>
            <a:r>
              <a:rPr lang="fr-FR" sz="1600" b="1" dirty="0"/>
              <a:t> </a:t>
            </a:r>
            <a:r>
              <a:rPr lang="fr-FR" sz="1600" dirty="0"/>
              <a:t>Filtrage passe-bas du 2</a:t>
            </a:r>
            <a:r>
              <a:rPr lang="fr-FR" sz="1600" baseline="30000" dirty="0"/>
              <a:t>nd</a:t>
            </a:r>
            <a:r>
              <a:rPr lang="fr-FR" sz="1600" dirty="0"/>
              <a:t> Ordre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0734A4-CBE8-4C4A-910C-9F7CCDD83A63}"/>
              </a:ext>
            </a:extLst>
          </p:cNvPr>
          <p:cNvSpPr txBox="1"/>
          <p:nvPr/>
        </p:nvSpPr>
        <p:spPr>
          <a:xfrm>
            <a:off x="6241143" y="6071016"/>
            <a:ext cx="2962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[5] </a:t>
            </a:r>
            <a:r>
              <a:rPr lang="en-GB" sz="1100" dirty="0"/>
              <a:t>Dan Carson, University of Illinois</a:t>
            </a:r>
            <a:endParaRPr lang="fr-FR" sz="11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24E380-E400-02D9-9B4F-DC6873BCB19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3CB2540-958A-8C94-57AA-27887906B7E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3" name="Footer Placeholder 2">
              <a:extLst>
                <a:ext uri="{FF2B5EF4-FFF2-40B4-BE49-F238E27FC236}">
                  <a16:creationId xmlns:a16="http://schemas.microsoft.com/office/drawing/2014/main" id="{C2B128A9-5235-454F-1106-72738D1505F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F024D89A-CA89-BBFD-E6D0-5A9B3DEAC26C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41" name="Footer Placeholder 2">
            <a:extLst>
              <a:ext uri="{FF2B5EF4-FFF2-40B4-BE49-F238E27FC236}">
                <a16:creationId xmlns:a16="http://schemas.microsoft.com/office/drawing/2014/main" id="{ABD457B7-BD9A-9D40-E8CC-DC7DE0DF59E8}"/>
              </a:ext>
            </a:extLst>
          </p:cNvPr>
          <p:cNvSpPr txBox="1">
            <a:spLocks/>
          </p:cNvSpPr>
          <p:nvPr/>
        </p:nvSpPr>
        <p:spPr>
          <a:xfrm>
            <a:off x="15096" y="6335178"/>
            <a:ext cx="9144000" cy="6309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4F3B522-0042-98CF-348C-D6321DB40BBF}"/>
              </a:ext>
            </a:extLst>
          </p:cNvPr>
          <p:cNvSpPr txBox="1">
            <a:spLocks/>
          </p:cNvSpPr>
          <p:nvPr/>
        </p:nvSpPr>
        <p:spPr>
          <a:xfrm>
            <a:off x="3137564" y="542454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THEORIE</a:t>
            </a:r>
            <a:endParaRPr lang="fr-FR" sz="1900" dirty="0">
              <a:solidFill>
                <a:schemeClr val="tx1"/>
              </a:solidFill>
            </a:endParaRP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8686E06C-61F4-DB46-F230-CE883897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9</a:t>
            </a:fld>
            <a:endParaRPr lang="fr-FR" sz="1400" b="1" dirty="0"/>
          </a:p>
        </p:txBody>
      </p:sp>
      <p:pic>
        <p:nvPicPr>
          <p:cNvPr id="40" name="Picture 39" descr="Projects and products | Open CASCADE Technology">
            <a:extLst>
              <a:ext uri="{FF2B5EF4-FFF2-40B4-BE49-F238E27FC236}">
                <a16:creationId xmlns:a16="http://schemas.microsoft.com/office/drawing/2014/main" id="{AD9C3F1F-5B42-9258-4D58-4DB0DBB6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7898889-B1A9-29F4-1012-B5D67653414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3555" y="1202288"/>
            <a:ext cx="5464271" cy="3436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502A36-DF3E-BE68-A0FD-82BD38E88D13}"/>
                  </a:ext>
                </a:extLst>
              </p:cNvPr>
              <p:cNvSpPr txBox="1"/>
              <p:nvPr/>
            </p:nvSpPr>
            <p:spPr>
              <a:xfrm>
                <a:off x="4797348" y="4085188"/>
                <a:ext cx="2887589" cy="768352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+ 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502A36-DF3E-BE68-A0FD-82BD38E8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348" y="4085188"/>
                <a:ext cx="2887589" cy="768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27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095B-CBBF-28A8-4ECB-2036D2BA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319EB6-D050-8DBB-4112-2E3F1B093E1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BC0D67-2425-4D0E-3776-899C928CB41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5C8F3993-2355-171A-9FBE-F8EA50A5C35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3C174FD-251E-6617-96DC-59EDC4D1886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/>
              <p:nvPr/>
            </p:nvSpPr>
            <p:spPr>
              <a:xfrm>
                <a:off x="329334" y="1202288"/>
                <a:ext cx="3533931" cy="2309783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Objectif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Déterminer l’impédance du micro en fonction de la fréquence</a:t>
                </a:r>
              </a:p>
              <a:p>
                <a:endParaRPr lang="fr-FR" sz="8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Méthode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Pont diviseur de tension :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fr-FR" sz="12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fr-FR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 =</m:t>
                      </m:r>
                      <m:f>
                        <m:fPr>
                          <m:ctrlP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𝑽𝑹</m:t>
                          </m:r>
                        </m:num>
                        <m:den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fr-FR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34" y="1202288"/>
                <a:ext cx="3533931" cy="230978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3A675C6-213A-E88E-59F1-7172A6896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9" b="79"/>
          <a:stretch/>
        </p:blipFill>
        <p:spPr>
          <a:xfrm>
            <a:off x="3975817" y="1187775"/>
            <a:ext cx="4913871" cy="4906153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CD795CE-C17B-8143-0B6D-604D6D299D4D}"/>
              </a:ext>
            </a:extLst>
          </p:cNvPr>
          <p:cNvCxnSpPr>
            <a:cxnSpLocks/>
          </p:cNvCxnSpPr>
          <p:nvPr/>
        </p:nvCxnSpPr>
        <p:spPr>
          <a:xfrm rot="5400000">
            <a:off x="4407269" y="3273293"/>
            <a:ext cx="230192" cy="735119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A638B-D00C-84A5-7F3F-9DEF548B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FF317D-0E3D-2149-FF14-7FB5BF57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68B502-C852-DA7A-06E1-C9E1DD295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86369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3AB365AE-8582-AF86-8AE4-7690CDAE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10</a:t>
            </a:fld>
            <a:endParaRPr lang="fr-FR" sz="1400" b="1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E02DBE5-6DB0-1AAF-91F1-849CDD773B81}"/>
              </a:ext>
            </a:extLst>
          </p:cNvPr>
          <p:cNvCxnSpPr>
            <a:cxnSpLocks/>
          </p:cNvCxnSpPr>
          <p:nvPr/>
        </p:nvCxnSpPr>
        <p:spPr>
          <a:xfrm flipV="1">
            <a:off x="4642718" y="3737466"/>
            <a:ext cx="3151248" cy="354714"/>
          </a:xfrm>
          <a:prstGeom prst="bentConnector3">
            <a:avLst>
              <a:gd name="adj1" fmla="val 99890"/>
            </a:avLst>
          </a:prstGeom>
          <a:ln w="38100">
            <a:solidFill>
              <a:srgbClr val="4A66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159EB506-5CA6-10DC-1561-DFDEFE9D4584}"/>
              </a:ext>
            </a:extLst>
          </p:cNvPr>
          <p:cNvSpPr txBox="1">
            <a:spLocks/>
          </p:cNvSpPr>
          <p:nvPr/>
        </p:nvSpPr>
        <p:spPr>
          <a:xfrm>
            <a:off x="3137564" y="578739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tx1"/>
                </a:solidFill>
                <a:latin typeface="Arial Black" panose="020B0A04020102020204" pitchFamily="34" charset="0"/>
              </a:rPr>
              <a:t>EXPERIMENTATION</a:t>
            </a:r>
            <a:endParaRPr lang="fr-FR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7EE6B7-DAEB-9C3D-2C72-7EF6622A98C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0601" y="3640851"/>
            <a:ext cx="3111766" cy="2449203"/>
          </a:xfrm>
          <a:prstGeom prst="rect">
            <a:avLst/>
          </a:prstGeom>
        </p:spPr>
      </p:pic>
      <p:pic>
        <p:nvPicPr>
          <p:cNvPr id="9" name="Picture 8" descr="Projects and products | Open CASCADE Technology">
            <a:extLst>
              <a:ext uri="{FF2B5EF4-FFF2-40B4-BE49-F238E27FC236}">
                <a16:creationId xmlns:a16="http://schemas.microsoft.com/office/drawing/2014/main" id="{317D818C-DF3F-D52C-9FD6-77C9A22A298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84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18B5-54AA-3079-566C-736CFE7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5CE00B-FC79-81FF-86A6-285CABA510BD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9DDD954-4CB1-5C4D-D33E-CFAF6AFEA11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/>
              <p:nvPr/>
            </p:nvSpPr>
            <p:spPr>
              <a:xfrm>
                <a:off x="5459695" y="1085287"/>
                <a:ext cx="3499012" cy="1943015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Méthode</a:t>
                </a:r>
                <a:endParaRPr lang="fr-FR" sz="1400" b="1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Déterminer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Avec un Ohmmètre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Determiner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u="sng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1" i="1" u="sng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1" i="1" u="sng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600" b="1" u="sng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Approximation numérique via les </a:t>
                </a:r>
                <a:r>
                  <a:rPr lang="fr-FR" sz="1400" b="1" dirty="0">
                    <a:solidFill>
                      <a:schemeClr val="tx1"/>
                    </a:solidFill>
                  </a:rPr>
                  <a:t>moindres carrés.</a:t>
                </a:r>
                <a:endParaRPr lang="fr-FR" sz="1400" u="sng" dirty="0"/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695" y="1085287"/>
                <a:ext cx="3499012" cy="194301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A0507F6-1CAF-6D7E-A062-151372E24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77" y="1085287"/>
            <a:ext cx="4907929" cy="4089940"/>
          </a:xfrm>
          <a:prstGeom prst="rect">
            <a:avLst/>
          </a:prstGeom>
          <a:ln cap="rnd">
            <a:solidFill>
              <a:schemeClr val="bg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31B521F-AFDC-D9C5-028E-C5CB3D8FDF4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94F355-A446-D356-7486-C332C08027A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8D546518-E475-76BF-FDD7-AAAC59D808E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CF6CC7-C2A9-D2EB-0FC4-A98DAEFFDC33}"/>
              </a:ext>
            </a:extLst>
          </p:cNvPr>
          <p:cNvSpPr/>
          <p:nvPr/>
        </p:nvSpPr>
        <p:spPr>
          <a:xfrm>
            <a:off x="5459695" y="3111285"/>
            <a:ext cx="3499012" cy="3005167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Mesures</a:t>
            </a:r>
            <a:endParaRPr lang="fr-FR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DB194F1-0075-78A8-D900-8165D3AE9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891759"/>
              </p:ext>
            </p:extLst>
          </p:nvPr>
        </p:nvGraphicFramePr>
        <p:xfrm>
          <a:off x="5559081" y="3550080"/>
          <a:ext cx="3323180" cy="233539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830795">
                  <a:extLst>
                    <a:ext uri="{9D8B030D-6E8A-4147-A177-3AD203B41FA5}">
                      <a16:colId xmlns:a16="http://schemas.microsoft.com/office/drawing/2014/main" val="887859225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2798946589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3812795422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3496875843"/>
                    </a:ext>
                  </a:extLst>
                </a:gridCol>
              </a:tblGrid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47041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5,26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4,52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15,10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5096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2,43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1,77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4,71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6117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360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110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905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499,6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351,1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1069</a:t>
                      </a:r>
                      <a:endParaRPr lang="fr-FR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42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/>
              <p:nvPr/>
            </p:nvSpPr>
            <p:spPr>
              <a:xfrm>
                <a:off x="5576403" y="4084397"/>
                <a:ext cx="797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4084397"/>
                <a:ext cx="797654" cy="276999"/>
              </a:xfrm>
              <a:prstGeom prst="rect">
                <a:avLst/>
              </a:prstGeom>
              <a:blipFill>
                <a:blip r:embed="rId5"/>
                <a:stretch>
                  <a:fillRect l="-6107" r="-9924" b="-4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/>
              <p:nvPr/>
            </p:nvSpPr>
            <p:spPr>
              <a:xfrm>
                <a:off x="5576403" y="4580964"/>
                <a:ext cx="5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4580964"/>
                <a:ext cx="557845" cy="276999"/>
              </a:xfrm>
              <a:prstGeom prst="rect">
                <a:avLst/>
              </a:prstGeom>
              <a:blipFill>
                <a:blip r:embed="rId6"/>
                <a:stretch>
                  <a:fillRect l="-8791" r="-14286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/>
              <p:nvPr/>
            </p:nvSpPr>
            <p:spPr>
              <a:xfrm>
                <a:off x="5576403" y="5024340"/>
                <a:ext cx="657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pF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5024340"/>
                <a:ext cx="657231" cy="276999"/>
              </a:xfrm>
              <a:prstGeom prst="rect">
                <a:avLst/>
              </a:prstGeom>
              <a:blipFill>
                <a:blip r:embed="rId7"/>
                <a:stretch>
                  <a:fillRect l="-7407" r="-11111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/>
              <p:nvPr/>
            </p:nvSpPr>
            <p:spPr>
              <a:xfrm>
                <a:off x="5576403" y="5498154"/>
                <a:ext cx="821700" cy="30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403" y="5498154"/>
                <a:ext cx="821700" cy="301686"/>
              </a:xfrm>
              <a:prstGeom prst="rect">
                <a:avLst/>
              </a:prstGeom>
              <a:blipFill>
                <a:blip r:embed="rId8"/>
                <a:stretch>
                  <a:fillRect l="-5926" t="-2041" r="-9630" b="-28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4EAD3AE-C225-14EF-269F-5B5AE150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6537794" y="3537452"/>
            <a:ext cx="568459" cy="468000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605931B4-D82E-5BAF-958F-6B5A64B60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7368525" y="3541815"/>
            <a:ext cx="582811" cy="46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4AE11E-94DD-BEBA-B1D0-26ABBE2E48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734" b="94964" l="9577" r="89978">
                        <a14:foregroundMark x1="58463" y1="9353" x2="66036" y2="7014"/>
                        <a14:foregroundMark x1="66036" y1="7014" x2="71715" y2="7734"/>
                        <a14:foregroundMark x1="71715" y1="7734" x2="62695" y2="8813"/>
                        <a14:foregroundMark x1="74833" y1="40827" x2="76503" y2="42446"/>
                        <a14:foregroundMark x1="64143" y1="47302" x2="64143" y2="47302"/>
                        <a14:foregroundMark x1="55457" y1="52698" x2="55457" y2="52698"/>
                        <a14:foregroundMark x1="45323" y1="59532" x2="45323" y2="59532"/>
                        <a14:foregroundMark x1="34187" y1="65108" x2="34187" y2="65108"/>
                        <a14:foregroundMark x1="22717" y1="70324" x2="22717" y2="70324"/>
                        <a14:foregroundMark x1="9688" y1="69604" x2="10802" y2="81475"/>
                        <a14:foregroundMark x1="10802" y1="81475" x2="13252" y2="82914"/>
                        <a14:foregroundMark x1="21604" y1="90468" x2="30178" y2="86511"/>
                        <a14:foregroundMark x1="22829" y1="94964" x2="22829" y2="94964"/>
                        <a14:foregroundMark x1="73942" y1="43165" x2="73942" y2="43165"/>
                      </a14:backgroundRemoval>
                    </a14:imgEffect>
                  </a14:imgLayer>
                </a14:imgProps>
              </a:ext>
            </a:extLst>
          </a:blip>
          <a:srcRect l="6039" t="3464" r="11427" b="863"/>
          <a:stretch>
            <a:fillRect/>
          </a:stretch>
        </p:blipFill>
        <p:spPr>
          <a:xfrm>
            <a:off x="8184352" y="3550080"/>
            <a:ext cx="601890" cy="432000"/>
          </a:xfrm>
          <a:prstGeom prst="rect">
            <a:avLst/>
          </a:prstGeom>
        </p:spPr>
      </p:pic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4BBCE65E-32DD-5E3F-FB43-54F44397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F54AAF-1F00-4A5D-972C-B8793ABDB31E}"/>
              </a:ext>
            </a:extLst>
          </p:cNvPr>
          <p:cNvSpPr txBox="1"/>
          <p:nvPr/>
        </p:nvSpPr>
        <p:spPr>
          <a:xfrm>
            <a:off x="342305" y="5193122"/>
            <a:ext cx="5009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Interprétation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2 bobinages </a:t>
            </a:r>
            <a:r>
              <a:rPr lang="fr-FR" dirty="0">
                <a:sym typeface="Wingdings" panose="05000000000000000000" pitchFamily="2" charset="2"/>
              </a:rPr>
              <a:t> Impédance plus élevée</a:t>
            </a: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❌ </a:t>
            </a:r>
            <a:r>
              <a:rPr lang="fr-FR" dirty="0"/>
              <a:t>Asymétrie de bobinage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0EFF090-BF0A-0471-2711-EC67DE0C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2C3CE1E-2176-A2FA-66DD-2825EA60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4E8BA1-2670-8152-1740-E703D32C7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86369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E15E85E2-3972-C82C-AA31-3DF274E7E3F8}"/>
              </a:ext>
            </a:extLst>
          </p:cNvPr>
          <p:cNvSpPr/>
          <p:nvPr/>
        </p:nvSpPr>
        <p:spPr>
          <a:xfrm>
            <a:off x="2192999" y="2962704"/>
            <a:ext cx="540000" cy="5400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36E53F-6C18-D61D-21EC-086093EE1878}"/>
              </a:ext>
            </a:extLst>
          </p:cNvPr>
          <p:cNvSpPr/>
          <p:nvPr/>
        </p:nvSpPr>
        <p:spPr>
          <a:xfrm>
            <a:off x="3005319" y="2610954"/>
            <a:ext cx="540000" cy="5400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8D7582FE-4322-E4D9-50B3-0F9F7BFB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11</a:t>
            </a:fld>
            <a:endParaRPr lang="fr-FR" sz="1400" b="1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89A4FE8-569E-A552-3A6D-10ADFC74BC44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3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2422-0593-98CE-0BC1-D9A0BE0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3D31D4-FFA1-BFF2-889B-9A83090A38E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F49161-7DA7-CBAD-DA69-F6204EDAF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2" b="3542"/>
          <a:stretch/>
        </p:blipFill>
        <p:spPr>
          <a:xfrm>
            <a:off x="1447764" y="1017665"/>
            <a:ext cx="5977580" cy="396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F15115-6003-EC7E-DAC7-C2810368AF60}"/>
              </a:ext>
            </a:extLst>
          </p:cNvPr>
          <p:cNvSpPr txBox="1"/>
          <p:nvPr/>
        </p:nvSpPr>
        <p:spPr>
          <a:xfrm>
            <a:off x="326176" y="4977665"/>
            <a:ext cx="8132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Interprétation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Humbucker </a:t>
            </a:r>
            <a:r>
              <a:rPr lang="fr-FR" dirty="0">
                <a:sym typeface="Wingdings" panose="05000000000000000000" pitchFamily="2" charset="2"/>
              </a:rPr>
              <a:t> Gain plat  Son ‘’brut’’</a:t>
            </a:r>
          </a:p>
          <a:p>
            <a:r>
              <a:rPr lang="fr-FR" dirty="0">
                <a:sym typeface="Wingdings" panose="05000000000000000000" pitchFamily="2" charset="2"/>
              </a:rPr>
              <a:t>✅ SingleCoil  Amplification des harmoniques  Son ‘’brillant’’</a:t>
            </a: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En basse fréquence : 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6E554F1-44BD-8B7F-91BB-367D7780CA1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EA3527-CBE4-BB1E-8E8A-8B21A1F88B1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91E480-CEFE-D580-938C-FDAA725FDA6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ooter Placeholder 2">
              <a:extLst>
                <a:ext uri="{FF2B5EF4-FFF2-40B4-BE49-F238E27FC236}">
                  <a16:creationId xmlns:a16="http://schemas.microsoft.com/office/drawing/2014/main" id="{024BCF65-762C-3EB5-9AA3-CD664A82060E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999D8F-5B32-DA14-93D6-5EBB9D1420D7}"/>
                  </a:ext>
                </a:extLst>
              </p:cNvPr>
              <p:cNvSpPr txBox="1"/>
              <p:nvPr/>
            </p:nvSpPr>
            <p:spPr>
              <a:xfrm>
                <a:off x="3018758" y="5865798"/>
                <a:ext cx="1288892" cy="27699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999D8F-5B32-DA14-93D6-5EBB9D142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758" y="5865798"/>
                <a:ext cx="1288892" cy="276999"/>
              </a:xfrm>
              <a:prstGeom prst="rect">
                <a:avLst/>
              </a:prstGeom>
              <a:blipFill>
                <a:blip r:embed="rId4"/>
                <a:stretch>
                  <a:fillRect r="-930" b="-28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7137A-2DF8-0791-F8A8-F30EA22E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78B1C69-CA78-8148-C0E7-1AAEB429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99404B-C1DA-0DFF-BFA6-4B629B35C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86369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7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15" name="Picture 14" descr="Python Logo PNG Transparent – Brands Logos">
            <a:extLst>
              <a:ext uri="{FF2B5EF4-FFF2-40B4-BE49-F238E27FC236}">
                <a16:creationId xmlns:a16="http://schemas.microsoft.com/office/drawing/2014/main" id="{39801DB7-87F1-E2FA-E3AB-1FF4FDB11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A117BC8-A91E-D34D-A263-E9D4907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12</a:t>
            </a:fld>
            <a:endParaRPr lang="fr-FR" sz="14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6465AC-3297-9552-A833-635A6DEEB7B4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19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777E-787B-7FA7-4B02-9F25CC13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0CA7A20-16A1-755D-6552-ABA4AF85F49B}"/>
              </a:ext>
            </a:extLst>
          </p:cNvPr>
          <p:cNvGrpSpPr/>
          <p:nvPr/>
        </p:nvGrpSpPr>
        <p:grpSpPr>
          <a:xfrm>
            <a:off x="0" y="6395093"/>
            <a:ext cx="9144000" cy="479397"/>
            <a:chOff x="0" y="-4624"/>
            <a:chExt cx="9144000" cy="457200"/>
          </a:xfrm>
          <a:solidFill>
            <a:srgbClr val="629DD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C0C66A-28E4-399D-5BF8-B198E576525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Footer Placeholder 2">
              <a:extLst>
                <a:ext uri="{FF2B5EF4-FFF2-40B4-BE49-F238E27FC236}">
                  <a16:creationId xmlns:a16="http://schemas.microsoft.com/office/drawing/2014/main" id="{F046C010-248D-9EF3-8C23-CBA994762F9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48581962-2856-7171-2332-CC82601DD226}"/>
              </a:ext>
            </a:extLst>
          </p:cNvPr>
          <p:cNvSpPr txBox="1">
            <a:spLocks/>
          </p:cNvSpPr>
          <p:nvPr/>
        </p:nvSpPr>
        <p:spPr>
          <a:xfrm>
            <a:off x="15096" y="6335178"/>
            <a:ext cx="9144000" cy="6309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5EB2C-C3F5-B258-941A-EF13F3C0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95791-4886-23E8-4BC0-C10246B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TIPE 39662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48C746B-BF5D-0D2D-2D11-C62DC6E4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z="1400" b="1" smtClean="0">
                <a:solidFill>
                  <a:schemeClr val="bg1"/>
                </a:solidFill>
              </a:rPr>
              <a:t>13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09775A-3002-ACB6-40BC-02CB4A78E01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3C80249-BC97-3678-2BF1-A9F381D82F9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F9F05AD4-6707-8DCF-247F-074861539BE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8E99884-F11A-7D1F-24AD-3E8AE5487D4C}"/>
              </a:ext>
            </a:extLst>
          </p:cNvPr>
          <p:cNvSpPr txBox="1"/>
          <p:nvPr/>
        </p:nvSpPr>
        <p:spPr>
          <a:xfrm>
            <a:off x="5747657" y="6071016"/>
            <a:ext cx="3455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[6] </a:t>
            </a:r>
            <a:r>
              <a:rPr lang="en-GB" sz="1100" dirty="0"/>
              <a:t>B. D'Andrea-Novel, Presse des Mines</a:t>
            </a:r>
            <a:endParaRPr lang="fr-FR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9A41CB-93E0-F186-1666-DD9CC49F5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xfrm>
            <a:off x="3288074" y="1069044"/>
            <a:ext cx="5541604" cy="1443579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A85ABAC-EF74-3BBC-26AF-326F8EB90715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1587682D-D214-C28A-D093-E91499755791}"/>
              </a:ext>
            </a:extLst>
          </p:cNvPr>
          <p:cNvGrpSpPr/>
          <p:nvPr/>
        </p:nvGrpSpPr>
        <p:grpSpPr>
          <a:xfrm>
            <a:off x="3288074" y="2574481"/>
            <a:ext cx="5661623" cy="791642"/>
            <a:chOff x="3255428" y="2471938"/>
            <a:chExt cx="5661623" cy="79164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D57863F-AA11-3364-F115-237A45CB06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5428" y="2476080"/>
              <a:ext cx="1260000" cy="7875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Aimants permanents des micros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7264CEC-964C-9380-C7BA-8B9A33DA35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4592" y="2476080"/>
              <a:ext cx="1260000" cy="78335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Champ magnétique induit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1E7B9BB-3AEF-9F7B-B03A-D6A6BB79D3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93756" y="2471938"/>
              <a:ext cx="1260000" cy="7875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Flux variable à travers le micro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B00B074-C57B-4E0E-60C0-A1CE443C1A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7051" y="2471938"/>
              <a:ext cx="1260000" cy="7875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F.E.M.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EF020ED-7A9C-2C36-7501-75C0CED64A00}"/>
                </a:ext>
              </a:extLst>
            </p:cNvPr>
            <p:cNvCxnSpPr>
              <a:cxnSpLocks/>
              <a:stCxn id="6" idx="3"/>
              <a:endCxn id="27" idx="1"/>
            </p:cNvCxnSpPr>
            <p:nvPr/>
          </p:nvCxnSpPr>
          <p:spPr>
            <a:xfrm flipV="1">
              <a:off x="4515428" y="2867759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2FAEEFE-50B6-5C8D-6004-254D924C97EA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 flipV="1">
              <a:off x="5984592" y="2865688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1D8A7D7-6CAE-F375-D462-82C4B8428134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7453756" y="2865688"/>
              <a:ext cx="2032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9E1A3DB-344B-71EB-E252-81C126B9B2BC}"/>
                  </a:ext>
                </a:extLst>
              </p:cNvPr>
              <p:cNvSpPr txBox="1"/>
              <p:nvPr/>
            </p:nvSpPr>
            <p:spPr>
              <a:xfrm>
                <a:off x="3370230" y="3448009"/>
                <a:ext cx="5519458" cy="615168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1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400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400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400" b="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400" b="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400" b="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𝑛𝐹𝑡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fr-FR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9E1A3DB-344B-71EB-E252-81C126B9B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230" y="3448009"/>
                <a:ext cx="5519458" cy="615168"/>
              </a:xfrm>
              <a:prstGeom prst="rect">
                <a:avLst/>
              </a:prstGeom>
              <a:blipFill>
                <a:blip r:embed="rId3"/>
                <a:stretch>
                  <a:fillRect t="-111538" b="-159615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959A2E5C-1CF6-3B83-BF67-CFD4839520A6}"/>
              </a:ext>
            </a:extLst>
          </p:cNvPr>
          <p:cNvGrpSpPr/>
          <p:nvPr/>
        </p:nvGrpSpPr>
        <p:grpSpPr>
          <a:xfrm>
            <a:off x="6258999" y="4148311"/>
            <a:ext cx="2658052" cy="1763070"/>
            <a:chOff x="6258999" y="4221512"/>
            <a:chExt cx="2658052" cy="1262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C17C2D44-2A10-A2BC-3588-33517D1145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258999" y="4221512"/>
                  <a:ext cx="2658052" cy="1262742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fr-FR" sz="1200" b="1" dirty="0"/>
                    <a:t> : Signature mécanique</a:t>
                  </a:r>
                </a:p>
                <a:p>
                  <a:pPr algn="ctr"/>
                  <a:endParaRPr lang="fr-FR" sz="1200" b="1" dirty="0"/>
                </a:p>
                <a:p>
                  <a:r>
                    <a:rPr lang="fr-FR" sz="1200" dirty="0"/>
                    <a:t>Dépend de l’excitation initiale de la corde</a:t>
                  </a:r>
                </a:p>
              </p:txBody>
            </p:sp>
          </mc:Choice>
          <mc:Fallback xmlns=""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C17C2D44-2A10-A2BC-3588-33517D1145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999" y="4221512"/>
                  <a:ext cx="2658052" cy="126274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CA2A111-C6D7-FFD4-2EA1-032C53C0873D}"/>
                    </a:ext>
                  </a:extLst>
                </p:cNvPr>
                <p:cNvSpPr txBox="1"/>
                <p:nvPr/>
              </p:nvSpPr>
              <p:spPr>
                <a:xfrm>
                  <a:off x="6394651" y="4942097"/>
                  <a:ext cx="2386748" cy="343098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𝑩𝒏</m:t>
                        </m:r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fr-FR" sz="11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sSup>
                              <m:sSup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𝝅</m:t>
                                </m:r>
                              </m:e>
                              <m:sup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f>
                          <m:fPr>
                            <m:ctrlP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fName>
                              <m:e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fr-FR" sz="11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num>
                          <m:den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²</m:t>
                            </m:r>
                          </m:den>
                        </m:f>
                      </m:oMath>
                    </m:oMathPara>
                  </a14:m>
                  <a:endParaRPr lang="fr-FR" sz="1100" b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CA2A111-C6D7-FFD4-2EA1-032C53C08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651" y="4942097"/>
                  <a:ext cx="2386748" cy="343098"/>
                </a:xfrm>
                <a:prstGeom prst="rect">
                  <a:avLst/>
                </a:prstGeom>
                <a:blipFill>
                  <a:blip r:embed="rId6"/>
                  <a:stretch>
                    <a:fillRect b="-1250"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797D4FC-1190-4B0D-17BC-EC1BCFC7FF2B}"/>
              </a:ext>
            </a:extLst>
          </p:cNvPr>
          <p:cNvGrpSpPr/>
          <p:nvPr/>
        </p:nvGrpSpPr>
        <p:grpSpPr>
          <a:xfrm>
            <a:off x="3258070" y="4148311"/>
            <a:ext cx="2658052" cy="1968832"/>
            <a:chOff x="3255428" y="4221511"/>
            <a:chExt cx="2658052" cy="1968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5FC6D03B-FE55-7B39-2E26-E0C6F16F19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55428" y="4221511"/>
                  <a:ext cx="2658052" cy="1968832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fr-FR" sz="1200" b="1" dirty="0"/>
                    <a:t> : filtrage spatial</a:t>
                  </a:r>
                </a:p>
                <a:p>
                  <a:pPr algn="ctr"/>
                  <a:endParaRPr lang="fr-FR" sz="1200" b="1" dirty="0"/>
                </a:p>
                <a:p>
                  <a:r>
                    <a:rPr lang="fr-FR" sz="1200" dirty="0"/>
                    <a:t>Dépend de la position du micro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200" dirty="0"/>
                    <a:t>Singlecoil :</a:t>
                  </a:r>
                </a:p>
                <a:p>
                  <a:endParaRPr lang="fr-FR" sz="1200" dirty="0"/>
                </a:p>
                <a:p>
                  <a:endParaRPr lang="fr-FR" sz="1200" dirty="0"/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200" dirty="0"/>
                    <a:t>Micro Humbucker :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endParaRPr lang="fr-FR" sz="1200" dirty="0"/>
                </a:p>
              </p:txBody>
            </p:sp>
          </mc:Choice>
          <mc:Fallback xmlns="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5FC6D03B-FE55-7B39-2E26-E0C6F16F19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428" y="4221511"/>
                  <a:ext cx="2658052" cy="1968832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C68385A-3248-3E9E-6DB3-3E575A82C051}"/>
                    </a:ext>
                  </a:extLst>
                </p:cNvPr>
                <p:cNvSpPr txBox="1"/>
                <p:nvPr/>
              </p:nvSpPr>
              <p:spPr>
                <a:xfrm>
                  <a:off x="3747061" y="5132726"/>
                  <a:ext cx="1740613" cy="26161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1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l-GR" sz="11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  <m:r>
                              <a:rPr lang="fr-FR" sz="11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𝒏𝑭</m:t>
                            </m:r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1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1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fr-FR" sz="1100" b="1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fr-FR" sz="11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fr-FR" sz="1100" b="1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C68385A-3248-3E9E-6DB3-3E575A82C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7061" y="5132726"/>
                  <a:ext cx="1740613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5AEDA01-758B-3F00-4A60-265DC91BE166}"/>
                    </a:ext>
                  </a:extLst>
                </p:cNvPr>
                <p:cNvSpPr txBox="1"/>
                <p:nvPr/>
              </p:nvSpPr>
              <p:spPr>
                <a:xfrm>
                  <a:off x="3446292" y="5666793"/>
                  <a:ext cx="2275418" cy="41274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11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𝒏𝑭</m:t>
                        </m:r>
                        <m:func>
                          <m:func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100" b="1" i="0" smtClean="0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fName>
                          <m:e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fr-FR" sz="11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fr-FR" sz="1100" b="1" i="0" smtClean="0"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</m:num>
                              <m:den>
                                <m:r>
                                  <a:rPr lang="fr-FR" sz="1100" b="1" i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fr-FR" sz="1100" b="1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100" b="1" i="0" smtClean="0"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r>
                              <a:rPr lang="fr-FR" sz="11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11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sub>
                            </m:sSub>
                          </m:e>
                        </m:func>
                        <m:r>
                          <a:rPr lang="fr-FR" sz="11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100" b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5AEDA01-758B-3F00-4A60-265DC91BE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6292" y="5666793"/>
                  <a:ext cx="2275418" cy="41274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D964581-6A29-FF5B-C928-9EF35ED9F9C5}"/>
              </a:ext>
            </a:extLst>
          </p:cNvPr>
          <p:cNvCxnSpPr>
            <a:cxnSpLocks/>
          </p:cNvCxnSpPr>
          <p:nvPr/>
        </p:nvCxnSpPr>
        <p:spPr>
          <a:xfrm>
            <a:off x="4718123" y="1653396"/>
            <a:ext cx="0" cy="405949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150900-F07D-E6EB-A191-A9E8215410D5}"/>
                  </a:ext>
                </a:extLst>
              </p:cNvPr>
              <p:cNvSpPr txBox="1"/>
              <p:nvPr/>
            </p:nvSpPr>
            <p:spPr>
              <a:xfrm>
                <a:off x="4757238" y="1697555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150900-F07D-E6EB-A191-A9E82154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38" y="1697555"/>
                <a:ext cx="180306" cy="276999"/>
              </a:xfrm>
              <a:prstGeom prst="rect">
                <a:avLst/>
              </a:prstGeom>
              <a:blipFill>
                <a:blip r:embed="rId10"/>
                <a:stretch>
                  <a:fillRect l="-16667" r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F140CC7-2332-0D32-0B62-8061AE938083}"/>
                  </a:ext>
                </a:extLst>
              </p:cNvPr>
              <p:cNvSpPr/>
              <p:nvPr/>
            </p:nvSpPr>
            <p:spPr>
              <a:xfrm>
                <a:off x="326176" y="987790"/>
                <a:ext cx="2779881" cy="5129353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b="1" dirty="0">
                    <a:solidFill>
                      <a:schemeClr val="tx1"/>
                    </a:solidFill>
                  </a:rPr>
                  <a:t>Hypothèses</a:t>
                </a:r>
              </a:p>
              <a:p>
                <a:pPr algn="ctr"/>
                <a:endParaRPr lang="fr-FR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Onde stationnaire dans le plan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  <m:acc>
                          <m:accPr>
                            <m:chr m:val="⃗"/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Micros ponctuels</a:t>
                </a:r>
              </a:p>
              <a:p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Induction mutuelle négligée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Champ induit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aux micros</a:t>
                </a:r>
              </a:p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b="1" dirty="0">
                    <a:solidFill>
                      <a:schemeClr val="tx1"/>
                    </a:solidFill>
                  </a:rPr>
                  <a:t>Conséquences</a:t>
                </a:r>
              </a:p>
              <a:p>
                <a:pPr algn="ctr"/>
                <a:endParaRPr lang="fr-FR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>
                    <a:solidFill>
                      <a:schemeClr val="tx1"/>
                    </a:solidFill>
                  </a:rPr>
                  <a:t>Calculs simplifiés</a:t>
                </a: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F140CC7-2332-0D32-0B62-8061AE938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987790"/>
                <a:ext cx="2779881" cy="5129353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E517F0F1-CBA0-FB5D-D8AE-FE466AE9F33E}"/>
              </a:ext>
            </a:extLst>
          </p:cNvPr>
          <p:cNvSpPr txBox="1">
            <a:spLocks/>
          </p:cNvSpPr>
          <p:nvPr/>
        </p:nvSpPr>
        <p:spPr>
          <a:xfrm>
            <a:off x="3137564" y="542454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THEORIE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260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96-7D6B-022A-BC8C-33392430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61BBAE7-6160-B5DF-F3DF-EB85F20260CC}"/>
                  </a:ext>
                </a:extLst>
              </p:cNvPr>
              <p:cNvSpPr/>
              <p:nvPr/>
            </p:nvSpPr>
            <p:spPr>
              <a:xfrm>
                <a:off x="322077" y="1187775"/>
                <a:ext cx="3533931" cy="1968002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Objectif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Déterminer le spectre du signal induit par une vibration de la corde</a:t>
                </a:r>
              </a:p>
              <a:p>
                <a:endParaRPr lang="fr-FR" sz="8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Méthode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Excitation manuelle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cm  et </a:t>
                </a:r>
                <a14:m>
                  <m:oMath xmlns:m="http://schemas.openxmlformats.org/officeDocument/2006/math"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=80</m:t>
                    </m:r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Hz car </a:t>
                </a:r>
                <a14:m>
                  <m:oMath xmlns:m="http://schemas.openxmlformats.org/officeDocument/2006/math"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d>
                      <m:dPr>
                        <m:ctrlPr>
                          <a:rPr lang="fr-FR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FR" sz="1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400" b="1" dirty="0">
                  <a:solidFill>
                    <a:srgbClr val="C00000"/>
                  </a:solidFill>
                </a:endParaRPr>
              </a:p>
              <a:p>
                <a:endParaRPr lang="fr-FR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61BBAE7-6160-B5DF-F3DF-EB85F2026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77" y="1187775"/>
                <a:ext cx="3533931" cy="19680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8BD061B-D33F-5C6C-7159-62D2EA49DA0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49283F-B7C2-323C-E9F5-655766F58916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9B218E2D-41F2-8DB6-FF3F-307297FEA32F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359E262-01D9-BF02-4695-E9718D933A6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ooter Placeholder 2">
            <a:extLst>
              <a:ext uri="{FF2B5EF4-FFF2-40B4-BE49-F238E27FC236}">
                <a16:creationId xmlns:a16="http://schemas.microsoft.com/office/drawing/2014/main" id="{6CEAFEBB-B7D7-A979-765E-DCADAB67C2C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340835-A145-5373-DEB1-EFF2B2EE0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1" b="3828"/>
          <a:stretch>
            <a:fillRect/>
          </a:stretch>
        </p:blipFill>
        <p:spPr>
          <a:xfrm>
            <a:off x="3975817" y="1128398"/>
            <a:ext cx="4913871" cy="4935123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F56B911-BB28-4CBE-3881-6EC2093B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82A5C74-26D9-E102-B27C-C61F193E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FEB00C1-4A21-7BA9-DCEE-A1EF3054B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081C8B4-641B-F61E-5A65-035612AE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14</a:t>
            </a:fld>
            <a:endParaRPr lang="fr-FR" sz="14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6504D44-9253-8884-42D6-27114C59190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5975" y="5380434"/>
            <a:ext cx="205518" cy="238100"/>
          </a:xfrm>
          <a:prstGeom prst="rect">
            <a:avLst/>
          </a:prstGeom>
        </p:spPr>
      </p:pic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F91A0F7-0A8A-6942-5619-89D8D96F223A}"/>
              </a:ext>
            </a:extLst>
          </p:cNvPr>
          <p:cNvCxnSpPr>
            <a:cxnSpLocks/>
          </p:cNvCxnSpPr>
          <p:nvPr/>
        </p:nvCxnSpPr>
        <p:spPr>
          <a:xfrm>
            <a:off x="5007840" y="5505955"/>
            <a:ext cx="38407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454D7CB-FE59-BE2C-343B-76D29DF6B0F5}"/>
              </a:ext>
            </a:extLst>
          </p:cNvPr>
          <p:cNvSpPr txBox="1">
            <a:spLocks/>
          </p:cNvSpPr>
          <p:nvPr/>
        </p:nvSpPr>
        <p:spPr>
          <a:xfrm>
            <a:off x="3137564" y="578739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tx1"/>
                </a:solidFill>
                <a:latin typeface="Arial Black" panose="020B0A04020102020204" pitchFamily="34" charset="0"/>
              </a:rPr>
              <a:t>EXPERIMENTATION</a:t>
            </a:r>
            <a:endParaRPr lang="fr-FR" sz="28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7C820C-5F54-00F0-45C7-A684FF0C7ACD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7589" y="3242369"/>
            <a:ext cx="2042906" cy="198077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1FF020D-0DC9-DD09-EFA8-178AAF75BC02}"/>
              </a:ext>
            </a:extLst>
          </p:cNvPr>
          <p:cNvGrpSpPr/>
          <p:nvPr/>
        </p:nvGrpSpPr>
        <p:grpSpPr>
          <a:xfrm>
            <a:off x="433260" y="5287864"/>
            <a:ext cx="3422748" cy="432697"/>
            <a:chOff x="372643" y="5293257"/>
            <a:chExt cx="3422748" cy="43269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F8BA0E2-E32E-F12C-538C-A7D7999C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3236" b="4515"/>
            <a:stretch>
              <a:fillRect/>
            </a:stretch>
          </p:blipFill>
          <p:spPr>
            <a:xfrm rot="10800000">
              <a:off x="372643" y="5293257"/>
              <a:ext cx="2042905" cy="42191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18BD196-F401-5F73-F650-EA0156F55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49077" b="4515"/>
            <a:stretch>
              <a:fillRect/>
            </a:stretch>
          </p:blipFill>
          <p:spPr>
            <a:xfrm>
              <a:off x="2411235" y="5304042"/>
              <a:ext cx="1036338" cy="42191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4BE9C19-194D-AF04-F1A9-4218F6E58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artisticPencilSketch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79077" b="4515"/>
            <a:stretch>
              <a:fillRect/>
            </a:stretch>
          </p:blipFill>
          <p:spPr>
            <a:xfrm>
              <a:off x="3417803" y="5304042"/>
              <a:ext cx="377588" cy="421912"/>
            </a:xfrm>
            <a:prstGeom prst="rect">
              <a:avLst/>
            </a:prstGeom>
          </p:spPr>
        </p:pic>
      </p:grpSp>
      <p:pic>
        <p:nvPicPr>
          <p:cNvPr id="30" name="Picture 29" descr="Projects and products | Open CASCADE Technology">
            <a:extLst>
              <a:ext uri="{FF2B5EF4-FFF2-40B4-BE49-F238E27FC236}">
                <a16:creationId xmlns:a16="http://schemas.microsoft.com/office/drawing/2014/main" id="{EA72AF15-2363-BAD5-AE89-1654CD59850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5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35FA2-0849-EE37-8E55-ACA53FD9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CB08A6-75F3-C217-089B-94DA3EE536F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A11090-9E47-E883-0F29-75609AC1E27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5A8CAB53-01B8-7DD4-BABD-161C3B42FE7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917C206-7D8F-F87C-A464-C28158F26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762" y="1243154"/>
            <a:ext cx="3600000" cy="299999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71E75F-9259-7FAA-45E5-54846152DA8A}"/>
              </a:ext>
            </a:extLst>
          </p:cNvPr>
          <p:cNvSpPr txBox="1"/>
          <p:nvPr/>
        </p:nvSpPr>
        <p:spPr>
          <a:xfrm>
            <a:off x="655762" y="4295251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 (Théorie)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AD8DFC-CCA3-143E-1C3A-755E2E49D659}"/>
              </a:ext>
            </a:extLst>
          </p:cNvPr>
          <p:cNvSpPr txBox="1"/>
          <p:nvPr/>
        </p:nvSpPr>
        <p:spPr>
          <a:xfrm>
            <a:off x="4888238" y="4291643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 (Expérience)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ABFBD4-0070-EF04-AA46-1FCDEC8DDE48}"/>
                  </a:ext>
                </a:extLst>
              </p:cNvPr>
              <p:cNvSpPr txBox="1"/>
              <p:nvPr/>
            </p:nvSpPr>
            <p:spPr>
              <a:xfrm>
                <a:off x="517169" y="4776032"/>
                <a:ext cx="8372519" cy="1038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u="sng" dirty="0"/>
                  <a:t>Interprétation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Décroissance 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/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Modes 2, 4, 5 et 6 amplifiés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ABFBD4-0070-EF04-AA46-1FCDEC8DD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9" y="4776032"/>
                <a:ext cx="8372519" cy="1038939"/>
              </a:xfrm>
              <a:prstGeom prst="rect">
                <a:avLst/>
              </a:prstGeom>
              <a:blipFill>
                <a:blip r:embed="rId3"/>
                <a:stretch>
                  <a:fillRect l="-655" t="-2924" b="-81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624D57-F4C1-F5D8-3CC9-E0209DB5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74625C-1157-F956-CC44-D38484D63704}"/>
                  </a:ext>
                </a:extLst>
              </p:cNvPr>
              <p:cNvSpPr txBox="1"/>
              <p:nvPr/>
            </p:nvSpPr>
            <p:spPr>
              <a:xfrm>
                <a:off x="5372035" y="5203303"/>
                <a:ext cx="2504185" cy="405496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74625C-1157-F956-CC44-D38484D63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035" y="5203303"/>
                <a:ext cx="2504185" cy="405496"/>
              </a:xfrm>
              <a:prstGeom prst="rect">
                <a:avLst/>
              </a:prstGeom>
              <a:blipFill>
                <a:blip r:embed="rId4"/>
                <a:stretch>
                  <a:fillRect l="-2174" t="-1449" b="-15942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9C4E2F6-656E-8266-5DE2-F8CA51BB84A7}"/>
              </a:ext>
            </a:extLst>
          </p:cNvPr>
          <p:cNvSpPr txBox="1"/>
          <p:nvPr/>
        </p:nvSpPr>
        <p:spPr>
          <a:xfrm>
            <a:off x="4827758" y="4787347"/>
            <a:ext cx="4613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/>
              <a:t>Explication</a:t>
            </a:r>
            <a:endParaRPr lang="fr-FR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FF3B87D-F3B2-17A1-9B13-5DACB3E7A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758" y="1249201"/>
            <a:ext cx="3592740" cy="2993950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926BDE1-7057-6CAA-D208-1327F028F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29" name="Picture 28" descr="Python Logo PNG Transparent – Brands Logos">
            <a:extLst>
              <a:ext uri="{FF2B5EF4-FFF2-40B4-BE49-F238E27FC236}">
                <a16:creationId xmlns:a16="http://schemas.microsoft.com/office/drawing/2014/main" id="{90270A4D-19B9-ADC9-8698-382483258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45832-E47B-15C0-52AF-DE2EDF18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15</a:t>
            </a:fld>
            <a:endParaRPr lang="fr-FR" sz="14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B94AC1-7153-2F0A-269A-8184D9192467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200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776-6070-B8A2-6D9F-E5C0B68D5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B68D66-9E95-3048-2E0B-343D3B2583D0}"/>
                  </a:ext>
                </a:extLst>
              </p:cNvPr>
              <p:cNvSpPr txBox="1"/>
              <p:nvPr/>
            </p:nvSpPr>
            <p:spPr>
              <a:xfrm>
                <a:off x="517169" y="4798890"/>
                <a:ext cx="8372519" cy="1315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u="sng" dirty="0"/>
                  <a:t>Interprétation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Décroissance 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/>
              </a:p>
              <a:p>
                <a:r>
                  <a:rPr lang="fr-FR" dirty="0">
                    <a:sym typeface="Wingdings" panose="05000000000000000000" pitchFamily="2" charset="2"/>
                  </a:rPr>
                  <a:t>✅ </a:t>
                </a:r>
                <a:r>
                  <a:rPr lang="fr-FR" dirty="0"/>
                  <a:t>Modes 2 et 4 amplifiés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❌ </a:t>
                </a:r>
                <a:r>
                  <a:rPr lang="fr-FR" dirty="0"/>
                  <a:t>Ecart au mode 4 (320 Hz)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B68D66-9E95-3048-2E0B-343D3B258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9" y="4798890"/>
                <a:ext cx="8372519" cy="1315938"/>
              </a:xfrm>
              <a:prstGeom prst="rect">
                <a:avLst/>
              </a:prstGeom>
              <a:blipFill>
                <a:blip r:embed="rId2"/>
                <a:stretch>
                  <a:fillRect l="-655" t="-2315" b="-64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0AC9B-8262-9B48-47CD-FC997E4B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3B99880-11E0-A7BA-ED53-2BF29D230E7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BDBE29-3737-3A36-9F03-6A308E78064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168428B4-D9A1-DA21-A141-7F89B05F1DB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E6CA2-8879-E8E8-EC0B-E3AF58AA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A97981-7912-272E-7ACF-6108A251F5DE}"/>
                  </a:ext>
                </a:extLst>
              </p:cNvPr>
              <p:cNvSpPr txBox="1"/>
              <p:nvPr/>
            </p:nvSpPr>
            <p:spPr>
              <a:xfrm>
                <a:off x="4960189" y="5266577"/>
                <a:ext cx="3218413" cy="52046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</m:num>
                              <m:den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A97981-7912-272E-7ACF-6108A251F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189" y="5266577"/>
                <a:ext cx="3218413" cy="520463"/>
              </a:xfrm>
              <a:prstGeom prst="rect">
                <a:avLst/>
              </a:prstGeom>
              <a:blipFill>
                <a:blip r:embed="rId3"/>
                <a:stretch>
                  <a:fillRect l="-1507" b="-1136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2E9BE76-3E1C-DD1F-D8A7-D7C6D9593C6B}"/>
              </a:ext>
            </a:extLst>
          </p:cNvPr>
          <p:cNvSpPr txBox="1"/>
          <p:nvPr/>
        </p:nvSpPr>
        <p:spPr>
          <a:xfrm>
            <a:off x="4852555" y="4805451"/>
            <a:ext cx="4613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/>
              <a:t>Explication</a:t>
            </a:r>
            <a:endParaRPr lang="fr-FR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01F9E83-A6F3-6D91-CA14-B7F3AFCB9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020" y="1249202"/>
            <a:ext cx="3592740" cy="299395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0C8D0D-93B5-CCBA-2B39-9C042195F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758" y="1249201"/>
            <a:ext cx="3592740" cy="2993949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A0DE2CE-31CB-5804-5054-16DE572DF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34" name="Picture 33" descr="Python Logo PNG Transparent – Brands Logos">
            <a:extLst>
              <a:ext uri="{FF2B5EF4-FFF2-40B4-BE49-F238E27FC236}">
                <a16:creationId xmlns:a16="http://schemas.microsoft.com/office/drawing/2014/main" id="{D03D47F7-7ACE-3539-D126-594A312E6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00F24D5-E92A-9FA3-3B43-11FAB4F9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16</a:t>
            </a:fld>
            <a:endParaRPr lang="fr-FR" sz="14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EB6150-7123-0603-320D-C7BD8C68B6BA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CDD31-D82F-9474-42AF-7056818C6A62}"/>
              </a:ext>
            </a:extLst>
          </p:cNvPr>
          <p:cNvSpPr txBox="1"/>
          <p:nvPr/>
        </p:nvSpPr>
        <p:spPr>
          <a:xfrm>
            <a:off x="655762" y="4295251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série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46CC5-F89F-E3EE-98E4-547926C047EC}"/>
              </a:ext>
            </a:extLst>
          </p:cNvPr>
          <p:cNvSpPr txBox="1"/>
          <p:nvPr/>
        </p:nvSpPr>
        <p:spPr>
          <a:xfrm>
            <a:off x="4888238" y="4291643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parallèle</a:t>
            </a:r>
          </a:p>
        </p:txBody>
      </p:sp>
    </p:spTree>
    <p:extLst>
      <p:ext uri="{BB962C8B-B14F-4D97-AF65-F5344CB8AC3E}">
        <p14:creationId xmlns:p14="http://schemas.microsoft.com/office/powerpoint/2010/main" val="2389985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BAE8-7762-46B2-E907-AD709936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1E5EDFB-C840-65AB-C6E3-90FB7CB6E4A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845F26-B0CA-A491-4DA1-1F594CFBD876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82433090-BC1B-2216-FF85-994BBF3E9F7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7EB2398-EFF8-C9A2-49F0-95D4E4A8CC35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/>
              <p:nvPr/>
            </p:nvSpPr>
            <p:spPr>
              <a:xfrm>
                <a:off x="5681666" y="1128398"/>
                <a:ext cx="3208021" cy="915896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Calcul du gain d’atténuation relatif</a:t>
                </a:r>
              </a:p>
              <a:p>
                <a:endParaRPr lang="fr-FR" sz="1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/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8"/>
                <a:ext cx="3208021" cy="91589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FC82B-F70C-8D5D-E171-A36BE02D4021}"/>
              </a:ext>
            </a:extLst>
          </p:cNvPr>
          <p:cNvGrpSpPr/>
          <p:nvPr/>
        </p:nvGrpSpPr>
        <p:grpSpPr>
          <a:xfrm>
            <a:off x="5714016" y="2163818"/>
            <a:ext cx="3269985" cy="3993142"/>
            <a:chOff x="5958063" y="2389099"/>
            <a:chExt cx="2878491" cy="3573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A3093A-8816-005B-D928-3B44B655C8E2}"/>
                </a:ext>
              </a:extLst>
            </p:cNvPr>
            <p:cNvSpPr/>
            <p:nvPr/>
          </p:nvSpPr>
          <p:spPr>
            <a:xfrm>
              <a:off x="5958063" y="2389099"/>
              <a:ext cx="2878491" cy="3573164"/>
            </a:xfrm>
            <a:prstGeom prst="rect">
              <a:avLst/>
            </a:prstGeom>
            <a:ln w="38100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fr-FR" sz="1400" b="1" u="sng" dirty="0">
                  <a:solidFill>
                    <a:schemeClr val="tx1"/>
                  </a:solidFill>
                </a:rPr>
                <a:t>Nœuds de vibration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u="sng" dirty="0">
                <a:solidFill>
                  <a:schemeClr val="tx1"/>
                </a:solidFill>
              </a:endParaRPr>
            </a:p>
            <a:p>
              <a:endParaRPr lang="fr-FR" sz="1400" b="1" u="sng" dirty="0">
                <a:solidFill>
                  <a:schemeClr val="tx1"/>
                </a:solidFill>
              </a:endParaRPr>
            </a:p>
            <a:p>
              <a:r>
                <a:rPr lang="fr-FR" sz="1400" b="1" u="sng" dirty="0">
                  <a:solidFill>
                    <a:schemeClr val="tx1"/>
                  </a:solidFill>
                </a:rPr>
                <a:t>Filtrage en peigne spatial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C3E0C0-FBAB-DC78-5B15-476675A96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3236" b="4515"/>
            <a:stretch>
              <a:fillRect/>
            </a:stretch>
          </p:blipFill>
          <p:spPr>
            <a:xfrm>
              <a:off x="6477938" y="4604155"/>
              <a:ext cx="1798321" cy="37753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40B446E-9BC2-8E92-5207-9220276E3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76" t="6786" r="5431" b="11456"/>
            <a:stretch>
              <a:fillRect/>
            </a:stretch>
          </p:blipFill>
          <p:spPr>
            <a:xfrm>
              <a:off x="6988242" y="5064642"/>
              <a:ext cx="793915" cy="525312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21575B3-C3E7-D035-FD8D-5A909416EA0A}"/>
                </a:ext>
              </a:extLst>
            </p:cNvPr>
            <p:cNvGrpSpPr/>
            <p:nvPr/>
          </p:nvGrpSpPr>
          <p:grpSpPr>
            <a:xfrm>
              <a:off x="6092582" y="2976561"/>
              <a:ext cx="2601348" cy="2005132"/>
              <a:chOff x="6074018" y="3612551"/>
              <a:chExt cx="2601346" cy="191198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B147258-36F6-4862-BCFA-8C34DAA43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3236" b="4515"/>
              <a:stretch>
                <a:fillRect/>
              </a:stretch>
            </p:blipFill>
            <p:spPr>
              <a:xfrm>
                <a:off x="6467476" y="3612551"/>
                <a:ext cx="1798320" cy="360000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6A19C6E1-1347-2947-0051-4E4B5CAD3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32494" b="70953" l="13960" r="44675"/>
                        </a14:imgEffect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20" t="27687" r="51486" b="24239"/>
              <a:stretch>
                <a:fillRect/>
              </a:stretch>
            </p:blipFill>
            <p:spPr>
              <a:xfrm>
                <a:off x="6920250" y="3866659"/>
                <a:ext cx="932157" cy="756309"/>
              </a:xfrm>
              <a:prstGeom prst="rect">
                <a:avLst/>
              </a:prstGeom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D459B7B-7876-DECC-7C5D-6EF7F711F3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70935" y="3612551"/>
                <a:ext cx="0" cy="863841"/>
              </a:xfrm>
              <a:prstGeom prst="line">
                <a:avLst/>
              </a:prstGeom>
              <a:ln w="12700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9C823F4-FBD6-6BF7-DDFC-373F3F49B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76827" t="8959" r="3236" b="4515"/>
              <a:stretch>
                <a:fillRect/>
              </a:stretch>
            </p:blipFill>
            <p:spPr>
              <a:xfrm>
                <a:off x="6082122" y="3612551"/>
                <a:ext cx="385354" cy="360000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849EE9B9-324D-BB3C-541F-721FD32B50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75085" b="4515"/>
              <a:stretch>
                <a:fillRect/>
              </a:stretch>
            </p:blipFill>
            <p:spPr>
              <a:xfrm>
                <a:off x="8265796" y="3612551"/>
                <a:ext cx="409568" cy="3600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73F8ABF-37B1-C042-48E3-54079A812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76827" t="8959" r="3236" b="4515"/>
              <a:stretch>
                <a:fillRect/>
              </a:stretch>
            </p:blipFill>
            <p:spPr>
              <a:xfrm>
                <a:off x="6074018" y="5164377"/>
                <a:ext cx="385354" cy="36000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55D2A8C-C203-0783-181A-D6DC107E7E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75085" b="4515"/>
              <a:stretch>
                <a:fillRect/>
              </a:stretch>
            </p:blipFill>
            <p:spPr>
              <a:xfrm>
                <a:off x="8257693" y="5164539"/>
                <a:ext cx="409568" cy="360000"/>
              </a:xfrm>
              <a:prstGeom prst="rect">
                <a:avLst/>
              </a:prstGeom>
            </p:spPr>
          </p:pic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5BA09B4-C52E-B87A-CF04-8232C165D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2582" y="4874895"/>
              <a:ext cx="0" cy="696047"/>
            </a:xfrm>
            <a:prstGeom prst="line">
              <a:avLst/>
            </a:prstGeom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93E4C2-FBE4-4065-9278-90914A6EC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982" y="4703445"/>
              <a:ext cx="0" cy="867498"/>
            </a:xfrm>
            <a:prstGeom prst="line">
              <a:avLst/>
            </a:prstGeom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4BCE2257-F05E-832B-4E41-697261064FA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6EC09A-1CE2-C57C-EA75-CE25A5404F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40697"/>
            <a:ext cx="5175257" cy="5093661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1065C-A20A-A288-0085-D396B6CE6BAB}"/>
              </a:ext>
            </a:extLst>
          </p:cNvPr>
          <p:cNvCxnSpPr>
            <a:cxnSpLocks/>
          </p:cNvCxnSpPr>
          <p:nvPr/>
        </p:nvCxnSpPr>
        <p:spPr>
          <a:xfrm>
            <a:off x="2545383" y="3592786"/>
            <a:ext cx="0" cy="1307018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AC77C0-992D-6FEB-50E1-07C49D290036}"/>
                  </a:ext>
                </a:extLst>
              </p:cNvPr>
              <p:cNvSpPr txBox="1"/>
              <p:nvPr/>
            </p:nvSpPr>
            <p:spPr>
              <a:xfrm>
                <a:off x="2610806" y="4649765"/>
                <a:ext cx="4953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𝟑𝟐𝟎</m:t>
                    </m:r>
                    <m:r>
                      <a:rPr lang="fr-FR" sz="1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b="1" dirty="0">
                    <a:solidFill>
                      <a:srgbClr val="C00000"/>
                    </a:solidFill>
                  </a:rPr>
                  <a:t>Hz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AC77C0-992D-6FEB-50E1-07C49D290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806" y="4649765"/>
                <a:ext cx="495328" cy="184666"/>
              </a:xfrm>
              <a:prstGeom prst="rect">
                <a:avLst/>
              </a:prstGeom>
              <a:blipFill>
                <a:blip r:embed="rId10"/>
                <a:stretch>
                  <a:fillRect l="-10976" t="-30000" r="-18293" b="-4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E1A2621-99DB-BABC-D8E3-49A97B68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CC0FE738-C281-1177-AD0D-5BE61161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C52325-88C1-A427-ED20-29C118D8B26E}"/>
                  </a:ext>
                </a:extLst>
              </p:cNvPr>
              <p:cNvSpPr txBox="1"/>
              <p:nvPr/>
            </p:nvSpPr>
            <p:spPr>
              <a:xfrm>
                <a:off x="6261555" y="3945584"/>
                <a:ext cx="2042905" cy="315407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sz="1400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C52325-88C1-A427-ED20-29C118D8B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555" y="3945584"/>
                <a:ext cx="2042905" cy="315407"/>
              </a:xfrm>
              <a:prstGeom prst="rect">
                <a:avLst/>
              </a:prstGeom>
              <a:blipFill>
                <a:blip r:embed="rId11"/>
                <a:stretch>
                  <a:fillRect b="-12727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7D52926-2903-DDB1-463C-CF6DDA0BA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8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33" name="Picture 32" descr="Python Logo PNG Transparent – Brands Logos">
            <a:extLst>
              <a:ext uri="{FF2B5EF4-FFF2-40B4-BE49-F238E27FC236}">
                <a16:creationId xmlns:a16="http://schemas.microsoft.com/office/drawing/2014/main" id="{0B55D3CE-AC79-473D-FF58-01B706B2E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89B7671-856C-99CF-B704-3812E7BC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17</a:t>
            </a:fld>
            <a:endParaRPr lang="fr-F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B49B21-A9DD-184A-7858-37E1D03C3D6B}"/>
                  </a:ext>
                </a:extLst>
              </p:cNvPr>
              <p:cNvSpPr txBox="1"/>
              <p:nvPr/>
            </p:nvSpPr>
            <p:spPr>
              <a:xfrm>
                <a:off x="6008919" y="5829440"/>
                <a:ext cx="2569562" cy="404919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fr-FR" sz="1400" b="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Amplitude 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1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f>
                      <m:fPr>
                        <m:ctrlP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</m:num>
                              <m:den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B49B21-A9DD-184A-7858-37E1D03C3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19" y="5829440"/>
                <a:ext cx="2569562" cy="404919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B9FD5754-DA94-067D-CE3F-04AF943A7194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40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1E06-B34E-3529-4ADA-FCF15C35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576AD9E-5978-A85F-4DD1-AD31EFF1B036}"/>
              </a:ext>
            </a:extLst>
          </p:cNvPr>
          <p:cNvGrpSpPr/>
          <p:nvPr/>
        </p:nvGrpSpPr>
        <p:grpSpPr>
          <a:xfrm>
            <a:off x="0" y="6395093"/>
            <a:ext cx="9144000" cy="479397"/>
            <a:chOff x="0" y="-4624"/>
            <a:chExt cx="9144000" cy="457200"/>
          </a:xfrm>
          <a:solidFill>
            <a:srgbClr val="629DD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4C8EA39-E339-660C-139F-23B0FDF8D78B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Footer Placeholder 2">
              <a:extLst>
                <a:ext uri="{FF2B5EF4-FFF2-40B4-BE49-F238E27FC236}">
                  <a16:creationId xmlns:a16="http://schemas.microsoft.com/office/drawing/2014/main" id="{C3516D9B-924B-15E3-4745-04100E82376B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A1E50876-C5CD-CF8F-5734-3A0B9AF3B8F1}"/>
              </a:ext>
            </a:extLst>
          </p:cNvPr>
          <p:cNvSpPr txBox="1">
            <a:spLocks/>
          </p:cNvSpPr>
          <p:nvPr/>
        </p:nvSpPr>
        <p:spPr>
          <a:xfrm>
            <a:off x="15096" y="6335178"/>
            <a:ext cx="9144000" cy="6309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431A7-9B0A-B9A8-8986-3C48D394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C8E0F-97D8-C459-8902-29C0EC89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TIPE 39662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2B4B372-50F7-4DEF-9872-B07E3FB7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z="1400" b="1" smtClean="0">
                <a:solidFill>
                  <a:schemeClr val="bg1"/>
                </a:solidFill>
              </a:rPr>
              <a:t>18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FD7FCAA-66EF-F9B8-3F91-4C074524BE6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7C97A6-CC99-95B7-B8AA-0E6525AACD2B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14C9DAC0-F70B-EC4C-9E13-0437D71420D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2CF5A4B-E4D3-D278-DBA5-35F51AF12956}"/>
              </a:ext>
            </a:extLst>
          </p:cNvPr>
          <p:cNvSpPr txBox="1"/>
          <p:nvPr/>
        </p:nvSpPr>
        <p:spPr>
          <a:xfrm>
            <a:off x="5747657" y="6071016"/>
            <a:ext cx="3455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/>
              <a:t>[6] </a:t>
            </a:r>
            <a:r>
              <a:rPr lang="en-GB" sz="1100" dirty="0"/>
              <a:t>B. D'Andrea-Novel, Presse des Mines</a:t>
            </a:r>
            <a:endParaRPr lang="fr-FR" sz="11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407161F-977C-6AE5-09C1-2E093CADD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013837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22E78-7812-9D07-EA42-6ED12CEB063E}"/>
              </a:ext>
            </a:extLst>
          </p:cNvPr>
          <p:cNvGrpSpPr/>
          <p:nvPr/>
        </p:nvGrpSpPr>
        <p:grpSpPr>
          <a:xfrm>
            <a:off x="3310071" y="2306216"/>
            <a:ext cx="5661623" cy="791642"/>
            <a:chOff x="3310072" y="1946394"/>
            <a:chExt cx="5661623" cy="79164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C9045D8-B0C7-93C3-9AFF-11A518E51C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10072" y="1950536"/>
              <a:ext cx="1260000" cy="7875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Champ parasite à 50Hz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997C8D5-36AA-4B9D-5F50-82FEB07E1A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236" y="1950536"/>
              <a:ext cx="1260000" cy="78335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Flux variable à travers les micros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7CC49079-B891-83BB-B611-814BF0FDDF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8400" y="1946394"/>
              <a:ext cx="1260000" cy="7875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Sommation des tensions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34AE14B-0543-EDD9-79A2-43B973E682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11695" y="1946394"/>
              <a:ext cx="1260000" cy="7875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fr-FR" sz="1200" b="1" dirty="0"/>
                <a:t>F.E.M.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A3A4040-FEF5-3662-2724-C2DEA398FF13}"/>
                </a:ext>
              </a:extLst>
            </p:cNvPr>
            <p:cNvCxnSpPr>
              <a:cxnSpLocks/>
              <a:stCxn id="41" idx="3"/>
              <a:endCxn id="42" idx="1"/>
            </p:cNvCxnSpPr>
            <p:nvPr/>
          </p:nvCxnSpPr>
          <p:spPr>
            <a:xfrm flipV="1">
              <a:off x="4570072" y="2342215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C19F4C1-2EB7-C0A4-329E-0F84865C6F83}"/>
                </a:ext>
              </a:extLst>
            </p:cNvPr>
            <p:cNvCxnSpPr>
              <a:cxnSpLocks/>
              <a:stCxn id="42" idx="3"/>
              <a:endCxn id="43" idx="1"/>
            </p:cNvCxnSpPr>
            <p:nvPr/>
          </p:nvCxnSpPr>
          <p:spPr>
            <a:xfrm flipV="1">
              <a:off x="6039236" y="2340144"/>
              <a:ext cx="209164" cy="20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4F05C1D-B999-AF17-FA72-0ACFD215D8AD}"/>
                </a:ext>
              </a:extLst>
            </p:cNvPr>
            <p:cNvCxnSpPr>
              <a:cxnSpLocks/>
              <a:stCxn id="43" idx="3"/>
              <a:endCxn id="44" idx="1"/>
            </p:cNvCxnSpPr>
            <p:nvPr/>
          </p:nvCxnSpPr>
          <p:spPr>
            <a:xfrm>
              <a:off x="7508400" y="2340144"/>
              <a:ext cx="2032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C55EAD0-35B6-4456-F5A7-BFDA7A9A9651}"/>
              </a:ext>
            </a:extLst>
          </p:cNvPr>
          <p:cNvSpPr>
            <a:spLocks noChangeAspect="1"/>
          </p:cNvSpPr>
          <p:nvPr/>
        </p:nvSpPr>
        <p:spPr>
          <a:xfrm>
            <a:off x="3303790" y="3206875"/>
            <a:ext cx="2658052" cy="144818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200" b="1" dirty="0"/>
              <a:t>Micro SingleCoil</a:t>
            </a:r>
          </a:p>
          <a:p>
            <a:pPr algn="ctr"/>
            <a:endParaRPr lang="fr-FR" sz="1200" b="1" dirty="0"/>
          </a:p>
          <a:p>
            <a:r>
              <a:rPr lang="fr-FR" sz="1200" dirty="0"/>
              <a:t>Le signal est maximal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61D9DD7-A7E2-CC56-CCAD-8AD0BF7B96A1}"/>
                  </a:ext>
                </a:extLst>
              </p:cNvPr>
              <p:cNvSpPr txBox="1"/>
              <p:nvPr/>
            </p:nvSpPr>
            <p:spPr>
              <a:xfrm>
                <a:off x="3370971" y="4065649"/>
                <a:ext cx="2523690" cy="307777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61D9DD7-A7E2-CC56-CCAD-8AD0BF7B9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971" y="4065649"/>
                <a:ext cx="2523690" cy="307777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8FB31C0-701F-9D7A-22A0-0E6EA02179BF}"/>
              </a:ext>
            </a:extLst>
          </p:cNvPr>
          <p:cNvSpPr>
            <a:spLocks noChangeAspect="1"/>
          </p:cNvSpPr>
          <p:nvPr/>
        </p:nvSpPr>
        <p:spPr>
          <a:xfrm>
            <a:off x="6313643" y="3206875"/>
            <a:ext cx="2658052" cy="144818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200" b="1" dirty="0"/>
              <a:t>Micro Humbucker</a:t>
            </a:r>
          </a:p>
          <a:p>
            <a:pPr algn="ctr"/>
            <a:endParaRPr lang="fr-FR" sz="1200" b="1" dirty="0"/>
          </a:p>
          <a:p>
            <a:r>
              <a:rPr lang="fr-FR" sz="1200" dirty="0"/>
              <a:t>L’opposition des sens de bobinage annule le terme principal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C01F551-6FF8-7ED7-954D-339D20B1EB20}"/>
                  </a:ext>
                </a:extLst>
              </p:cNvPr>
              <p:cNvSpPr txBox="1"/>
              <p:nvPr/>
            </p:nvSpPr>
            <p:spPr>
              <a:xfrm>
                <a:off x="6392296" y="4155607"/>
                <a:ext cx="2500746" cy="307777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C01F551-6FF8-7ED7-954D-339D20B1E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296" y="4155607"/>
                <a:ext cx="2500746" cy="307777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D075A4A9-B4A7-B8BB-82F5-4E976FF175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3789" y="4767176"/>
                <a:ext cx="5667905" cy="1242327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200" b="1" dirty="0"/>
                  <a:t>Condition d’efficacité</a:t>
                </a:r>
              </a:p>
              <a:p>
                <a:pPr algn="ctr"/>
                <a:endParaRPr lang="fr-FR" sz="1200" b="1" dirty="0"/>
              </a:p>
              <a:p>
                <a:r>
                  <a:rPr lang="fr-FR" sz="1200" dirty="0"/>
                  <a:t>En pratique,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 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200" dirty="0"/>
                  <a:t> sont faibles :</a:t>
                </a:r>
              </a:p>
              <a:p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fr-FR" sz="1600" b="1" i="0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1600" b="1" i="1" smtClean="0">
                        <a:solidFill>
                          <a:srgbClr val="38903A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fr-FR" sz="1600" b="1" dirty="0">
                    <a:solidFill>
                      <a:srgbClr val="38903A"/>
                    </a:solidFill>
                  </a:rPr>
                  <a:t>réduction du bourdonnement</a:t>
                </a:r>
              </a:p>
            </p:txBody>
          </p:sp>
        </mc:Choice>
        <mc:Fallback xmlns="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D075A4A9-B4A7-B8BB-82F5-4E976FF175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789" y="4767176"/>
                <a:ext cx="5667905" cy="12423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10FC257-90E0-BEBE-6955-CFD4C633949B}"/>
                  </a:ext>
                </a:extLst>
              </p:cNvPr>
              <p:cNvSpPr/>
              <p:nvPr/>
            </p:nvSpPr>
            <p:spPr>
              <a:xfrm>
                <a:off x="326176" y="2306216"/>
                <a:ext cx="2779881" cy="3810927"/>
              </a:xfrm>
              <a:prstGeom prst="roundRect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b="1" dirty="0">
                    <a:solidFill>
                      <a:schemeClr val="tx1"/>
                    </a:solidFill>
                  </a:rPr>
                  <a:t>Hypothèses</a:t>
                </a:r>
              </a:p>
              <a:p>
                <a:pPr algn="ctr"/>
                <a:endParaRPr lang="fr-FR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Gradient magnétique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>
                    <a:solidFill>
                      <a:schemeClr val="tx1"/>
                    </a:solidFill>
                  </a:rPr>
                  <a:t> constant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Micros ponctuels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Induction mutuelle négligée</a:t>
                </a:r>
                <a:endParaRPr lang="fr-FR" sz="1600" b="1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10FC257-90E0-BEBE-6955-CFD4C63394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2306216"/>
                <a:ext cx="2779881" cy="381092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C5856BAE-972B-B62C-95C9-F1E3AC36996D}"/>
              </a:ext>
            </a:extLst>
          </p:cNvPr>
          <p:cNvSpPr txBox="1">
            <a:spLocks/>
          </p:cNvSpPr>
          <p:nvPr/>
        </p:nvSpPr>
        <p:spPr>
          <a:xfrm>
            <a:off x="3137564" y="542454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THEORIE</a:t>
            </a:r>
            <a:endParaRPr lang="fr-FR" sz="19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B7ED3-FEB3-449B-EEFB-EF99C81C59E5}"/>
              </a:ext>
            </a:extLst>
          </p:cNvPr>
          <p:cNvSpPr txBox="1"/>
          <p:nvPr/>
        </p:nvSpPr>
        <p:spPr>
          <a:xfrm>
            <a:off x="3982599" y="1241920"/>
            <a:ext cx="15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SCHEMA</a:t>
            </a:r>
          </a:p>
        </p:txBody>
      </p:sp>
    </p:spTree>
    <p:extLst>
      <p:ext uri="{BB962C8B-B14F-4D97-AF65-F5344CB8AC3E}">
        <p14:creationId xmlns:p14="http://schemas.microsoft.com/office/powerpoint/2010/main" val="2198362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17EF-1FA9-4C71-24AC-92C2CCE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D17026C-30AC-055B-0F5E-C7C1D3422A7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325D95-66BD-B16D-478C-A16E375CA2B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4633CA-79B5-8626-5F5C-961A97B305C7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4D548465-9274-10EF-DF9E-7E195D565F1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5BCA913-E8F4-FEC2-85B5-1EE56140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D275B26-53D5-1DA5-3076-7CA2265F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231334-36C0-5C49-770A-3C438FD9D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8493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1E47C2C-EF11-482F-718A-A277219A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19</a:t>
            </a:fld>
            <a:endParaRPr lang="fr-FR" sz="14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6E31EB-F02C-8FDD-76C6-950022624582}"/>
              </a:ext>
            </a:extLst>
          </p:cNvPr>
          <p:cNvSpPr txBox="1">
            <a:spLocks/>
          </p:cNvSpPr>
          <p:nvPr/>
        </p:nvSpPr>
        <p:spPr>
          <a:xfrm>
            <a:off x="3137564" y="578739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tx1"/>
                </a:solidFill>
                <a:latin typeface="Arial Black" panose="020B0A04020102020204" pitchFamily="34" charset="0"/>
              </a:rPr>
              <a:t>EXPERIMENTATION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795B04-D800-0F8E-4B72-42272A309C66}"/>
              </a:ext>
            </a:extLst>
          </p:cNvPr>
          <p:cNvSpPr/>
          <p:nvPr/>
        </p:nvSpPr>
        <p:spPr>
          <a:xfrm>
            <a:off x="322077" y="1187774"/>
            <a:ext cx="3533931" cy="471426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Protocole</a:t>
            </a:r>
          </a:p>
          <a:p>
            <a:r>
              <a:rPr lang="fr-FR" sz="1600" b="1" u="sng" dirty="0">
                <a:solidFill>
                  <a:schemeClr val="tx1"/>
                </a:solidFill>
              </a:rPr>
              <a:t>Objectif :</a:t>
            </a:r>
          </a:p>
          <a:p>
            <a:r>
              <a:rPr lang="fr-FR" sz="1400" dirty="0">
                <a:solidFill>
                  <a:schemeClr val="tx1"/>
                </a:solidFill>
              </a:rPr>
              <a:t>Déterminer la sensibilité des micros aux champ magnétiques parasites</a:t>
            </a:r>
          </a:p>
          <a:p>
            <a:endParaRPr lang="fr-FR" sz="800" b="1" u="sng" dirty="0">
              <a:solidFill>
                <a:schemeClr val="tx1"/>
              </a:solidFill>
            </a:endParaRPr>
          </a:p>
          <a:p>
            <a:r>
              <a:rPr lang="fr-FR" sz="1600" b="1" u="sng" dirty="0">
                <a:solidFill>
                  <a:schemeClr val="tx1"/>
                </a:solidFill>
              </a:rPr>
              <a:t>Méthode :</a:t>
            </a:r>
          </a:p>
          <a:p>
            <a:r>
              <a:rPr lang="fr-FR" sz="1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fr-FR" sz="1400" dirty="0">
                <a:solidFill>
                  <a:schemeClr val="tx1"/>
                </a:solidFill>
              </a:rPr>
              <a:t>Utilisation de bobine de Helmholtz pour g</a:t>
            </a:r>
            <a:r>
              <a:rPr lang="fr-FR" sz="1400" dirty="0">
                <a:solidFill>
                  <a:schemeClr val="tx1"/>
                </a:solidFill>
                <a:sym typeface="Wingdings" panose="05000000000000000000" pitchFamily="2" charset="2"/>
              </a:rPr>
              <a:t>énérer un champ à 50Hz.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B11993A-5AB5-1C07-152C-950544456D7E}"/>
              </a:ext>
            </a:extLst>
          </p:cNvPr>
          <p:cNvGrpSpPr/>
          <p:nvPr/>
        </p:nvGrpSpPr>
        <p:grpSpPr>
          <a:xfrm>
            <a:off x="440957" y="3209667"/>
            <a:ext cx="3303140" cy="2387944"/>
            <a:chOff x="3972220" y="1402087"/>
            <a:chExt cx="5024460" cy="405382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76EC1FD-3533-8445-C3B4-6F2E966E1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72220" y="1402087"/>
              <a:ext cx="5024460" cy="4053826"/>
            </a:xfrm>
            <a:prstGeom prst="rect">
              <a:avLst/>
            </a:prstGeom>
          </p:spPr>
        </p:pic>
        <p:pic>
          <p:nvPicPr>
            <p:cNvPr id="34" name="Picture 33" descr="40,000+ Free Sine-Waves &amp; Sea Images - Pixabay">
              <a:extLst>
                <a:ext uri="{FF2B5EF4-FFF2-40B4-BE49-F238E27FC236}">
                  <a16:creationId xmlns:a16="http://schemas.microsoft.com/office/drawing/2014/main" id="{FC0C48A5-C46C-8771-0533-71EEB41DA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Marker/>
                      </a14:imgEffect>
                      <a14:imgEffect>
                        <a14:saturation sat="400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 l="-458" t="41462" r="71654" b="41673"/>
            <a:stretch>
              <a:fillRect/>
            </a:stretch>
          </p:blipFill>
          <p:spPr>
            <a:xfrm>
              <a:off x="6036629" y="3092121"/>
              <a:ext cx="1442475" cy="607261"/>
            </a:xfrm>
            <a:prstGeom prst="rect">
              <a:avLst/>
            </a:prstGeom>
          </p:spPr>
        </p:pic>
      </p:grpSp>
      <p:pic>
        <p:nvPicPr>
          <p:cNvPr id="36" name="Picture 35" descr="Projects and products | Open CASCADE Technology">
            <a:extLst>
              <a:ext uri="{FF2B5EF4-FFF2-40B4-BE49-F238E27FC236}">
                <a16:creationId xmlns:a16="http://schemas.microsoft.com/office/drawing/2014/main" id="{9EA07BC6-9999-D8F0-C1C0-45CA847166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80" r="20676"/>
          <a:stretch>
            <a:fillRect/>
          </a:stretch>
        </p:blipFill>
        <p:spPr>
          <a:xfrm>
            <a:off x="8111317" y="525374"/>
            <a:ext cx="934658" cy="36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546651-DDC2-E144-0409-6B41BE9C6392}"/>
              </a:ext>
            </a:extLst>
          </p:cNvPr>
          <p:cNvSpPr txBox="1"/>
          <p:nvPr/>
        </p:nvSpPr>
        <p:spPr>
          <a:xfrm>
            <a:off x="5906290" y="3025001"/>
            <a:ext cx="15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662445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A309-7F61-2078-756A-1BEEE9F9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B1A806C-1E53-4584-380F-1ED7D45FC697}"/>
              </a:ext>
            </a:extLst>
          </p:cNvPr>
          <p:cNvSpPr txBox="1"/>
          <p:nvPr/>
        </p:nvSpPr>
        <p:spPr>
          <a:xfrm>
            <a:off x="655762" y="4910371"/>
            <a:ext cx="8372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Interprétation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Sensibilité accrue du micro SingleCoil</a:t>
            </a:r>
          </a:p>
          <a:p>
            <a:r>
              <a:rPr lang="fr-FR" dirty="0">
                <a:sym typeface="Wingdings" panose="05000000000000000000" pitchFamily="2" charset="2"/>
              </a:rPr>
              <a:t>✅ </a:t>
            </a:r>
            <a:r>
              <a:rPr lang="fr-FR" dirty="0"/>
              <a:t>Reduction efficace du bourdonnement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AC0E9-CB7B-70C2-AA29-F91BBCFF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B9F8804-5B6D-12D8-4525-9D1A7692D87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37DA41-FAE5-2627-6BB9-9A59954ECF3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B5DEB507-C734-74B6-70ED-BBB59A6246A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BFBE-6A19-F245-FD7F-C53C2B85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37CBB98-1E72-A4AD-5597-DC805CAF7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020" y="1249202"/>
            <a:ext cx="3592740" cy="29939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169C8C4-09CE-6F8E-6D72-84E81FBF3C8E}"/>
              </a:ext>
            </a:extLst>
          </p:cNvPr>
          <p:cNvSpPr txBox="1"/>
          <p:nvPr/>
        </p:nvSpPr>
        <p:spPr>
          <a:xfrm>
            <a:off x="655762" y="4381644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6B7DD0-13FB-E3C1-1659-D5681ECB5F8F}"/>
              </a:ext>
            </a:extLst>
          </p:cNvPr>
          <p:cNvSpPr txBox="1"/>
          <p:nvPr/>
        </p:nvSpPr>
        <p:spPr>
          <a:xfrm>
            <a:off x="4824129" y="4381644"/>
            <a:ext cx="36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série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7E454A-6B5E-2A3B-18FA-B63D9BB40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759" y="1249201"/>
            <a:ext cx="3592738" cy="2993949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0B17C0-F8FD-B5AA-43E0-C58AEAD5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76362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20" name="Picture 19" descr="Python Logo PNG Transparent – Brands Logos">
            <a:extLst>
              <a:ext uri="{FF2B5EF4-FFF2-40B4-BE49-F238E27FC236}">
                <a16:creationId xmlns:a16="http://schemas.microsoft.com/office/drawing/2014/main" id="{41F8D0BD-5CE2-656C-AAF1-8AF02632B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AB8F54-AD94-2AB2-9E03-BD06D6E2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20</a:t>
            </a:fld>
            <a:endParaRPr lang="fr-FR" sz="14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DD6048-3A14-DB07-B06D-D475F4C8819C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80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FDCA-BB39-EE18-BB35-2E0E1E4D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515866-5F05-8C01-076C-078FAEECE57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E3100D-75AB-378E-9842-ED0F296E89C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Footer Placeholder 2">
              <a:extLst>
                <a:ext uri="{FF2B5EF4-FFF2-40B4-BE49-F238E27FC236}">
                  <a16:creationId xmlns:a16="http://schemas.microsoft.com/office/drawing/2014/main" id="{45037E6E-E4E2-AC9B-1CB9-6307187141E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639CD3E-4169-1389-4E27-DA0661374473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2A4C42-E8E3-0A32-60A1-2B34526A1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1210"/>
            <a:ext cx="5175257" cy="4677826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/>
              <p:nvPr/>
            </p:nvSpPr>
            <p:spPr>
              <a:xfrm>
                <a:off x="5681666" y="2294930"/>
                <a:ext cx="3208020" cy="3862030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Théorique :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 </a:t>
                </a:r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600" dirty="0">
                  <a:solidFill>
                    <a:srgbClr val="C00000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Expérimental : </a:t>
                </a: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Ecarts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90.3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endParaRPr lang="fr-FR" sz="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Causes 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Asymétrie de bobinage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600" dirty="0">
                    <a:solidFill>
                      <a:schemeClr val="tx1"/>
                    </a:solidFill>
                  </a:rPr>
                  <a:t>Induction mutuelle négligée</a:t>
                </a: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2294930"/>
                <a:ext cx="3208020" cy="3862030"/>
              </a:xfrm>
              <a:prstGeom prst="rect">
                <a:avLst/>
              </a:prstGeom>
              <a:blipFill>
                <a:blip r:embed="rId4"/>
                <a:stretch>
                  <a:fillRect l="-951" t="-47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/>
              <p:nvPr/>
            </p:nvSpPr>
            <p:spPr>
              <a:xfrm>
                <a:off x="5681666" y="1128397"/>
                <a:ext cx="3208021" cy="1047697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Calcul du CMRR</a:t>
                </a:r>
              </a:p>
              <a:p>
                <a:pPr algn="ctr"/>
                <a:endParaRPr lang="fr-FR" sz="6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fr-FR" sz="1200" b="0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𝐶𝑀𝑅𝑅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7"/>
                <a:ext cx="3208021" cy="104769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A4355-9F53-EC56-1C7E-FC7FB883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A21404-EC4C-8456-3B1E-A8B200D8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63A8DD5-EEEE-870C-F78B-64F9974FE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8493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5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16" name="Picture 15" descr="Python Logo PNG Transparent – Brands Logos">
            <a:extLst>
              <a:ext uri="{FF2B5EF4-FFF2-40B4-BE49-F238E27FC236}">
                <a16:creationId xmlns:a16="http://schemas.microsoft.com/office/drawing/2014/main" id="{7FF30083-6AC6-C272-5098-CC8479439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105" y="527823"/>
            <a:ext cx="43383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F77044-98CB-DE1B-50F6-58A7C65DA37E}"/>
                  </a:ext>
                </a:extLst>
              </p:cNvPr>
              <p:cNvSpPr txBox="1"/>
              <p:nvPr/>
            </p:nvSpPr>
            <p:spPr>
              <a:xfrm>
                <a:off x="6033581" y="2656712"/>
                <a:ext cx="2504185" cy="276999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32.0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F77044-98CB-DE1B-50F6-58A7C65DA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81" y="2656712"/>
                <a:ext cx="2504185" cy="27699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522786F-739E-2B8D-1338-5E63FA46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21</a:t>
            </a:fld>
            <a:endParaRPr lang="fr-F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4F0B75-1CAA-EA40-67D4-EBE77C28076F}"/>
                  </a:ext>
                </a:extLst>
              </p:cNvPr>
              <p:cNvSpPr txBox="1"/>
              <p:nvPr/>
            </p:nvSpPr>
            <p:spPr>
              <a:xfrm>
                <a:off x="6033580" y="3023290"/>
                <a:ext cx="2504185" cy="298415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42.3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4F0B75-1CAA-EA40-67D4-EBE77C280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80" y="3023290"/>
                <a:ext cx="2504185" cy="298415"/>
              </a:xfrm>
              <a:prstGeom prst="rect">
                <a:avLst/>
              </a:prstGeom>
              <a:blipFill>
                <a:blip r:embed="rId8"/>
                <a:stretch>
                  <a:fillRect b="-17308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9CA7E0-CD5B-A12D-3D35-46BBF17A9066}"/>
                  </a:ext>
                </a:extLst>
              </p:cNvPr>
              <p:cNvSpPr txBox="1"/>
              <p:nvPr/>
            </p:nvSpPr>
            <p:spPr>
              <a:xfrm>
                <a:off x="6033579" y="3761989"/>
                <a:ext cx="2504185" cy="276999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28.7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9CA7E0-CD5B-A12D-3D35-46BBF17A9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79" y="3761989"/>
                <a:ext cx="2504185" cy="276999"/>
              </a:xfrm>
              <a:prstGeom prst="rect">
                <a:avLst/>
              </a:prstGeom>
              <a:blipFill>
                <a:blip r:embed="rId9"/>
                <a:stretch>
                  <a:fillRect b="-1020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3B16D2-BAA0-11AF-C04C-674221A5B552}"/>
                  </a:ext>
                </a:extLst>
              </p:cNvPr>
              <p:cNvSpPr txBox="1"/>
              <p:nvPr/>
            </p:nvSpPr>
            <p:spPr>
              <a:xfrm>
                <a:off x="6033578" y="4149983"/>
                <a:ext cx="2504185" cy="298415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3.5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3B16D2-BAA0-11AF-C04C-674221A5B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78" y="4149983"/>
                <a:ext cx="2504185" cy="298415"/>
              </a:xfrm>
              <a:prstGeom prst="rect">
                <a:avLst/>
              </a:prstGeom>
              <a:blipFill>
                <a:blip r:embed="rId10"/>
                <a:stretch>
                  <a:fillRect b="-17308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F88C43E9-4978-A6E5-9929-21671D22FF3D}"/>
              </a:ext>
            </a:extLst>
          </p:cNvPr>
          <p:cNvSpPr txBox="1">
            <a:spLocks/>
          </p:cNvSpPr>
          <p:nvPr/>
        </p:nvSpPr>
        <p:spPr>
          <a:xfrm>
            <a:off x="3137564" y="564225"/>
            <a:ext cx="2899064" cy="445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900" dirty="0">
                <a:solidFill>
                  <a:schemeClr val="tx1"/>
                </a:solidFill>
                <a:latin typeface="Arial Black" panose="020B0A04020102020204" pitchFamily="34" charset="0"/>
              </a:rPr>
              <a:t>RESULTATS</a:t>
            </a:r>
            <a:endParaRPr lang="fr-FR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770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F9251-C048-A833-EE53-03159FB9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267B34-E6A1-7278-22E0-AF653B3C067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8E1FFD-CACD-69D5-837A-D84C34CB0776}"/>
              </a:ext>
            </a:extLst>
          </p:cNvPr>
          <p:cNvSpPr/>
          <p:nvPr/>
        </p:nvSpPr>
        <p:spPr>
          <a:xfrm>
            <a:off x="326443" y="419481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6678F9-665C-8A0E-2952-CDB19973E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28" y="682468"/>
            <a:ext cx="74253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Dans quelle mesure </a:t>
            </a:r>
            <a:r>
              <a:rPr lang="fr-FR" b="1" dirty="0"/>
              <a:t>l'ajout d'une seconde bobine </a:t>
            </a:r>
            <a:r>
              <a:rPr lang="fr-FR" dirty="0"/>
              <a:t>impacte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la </a:t>
            </a:r>
            <a:r>
              <a:rPr lang="fr-FR" b="1" dirty="0"/>
              <a:t>richesse du son </a:t>
            </a:r>
            <a:r>
              <a:rPr lang="fr-FR" dirty="0"/>
              <a:t>et permet </a:t>
            </a:r>
            <a:r>
              <a:rPr lang="fr-FR" b="1" dirty="0"/>
              <a:t>d'éliminer les parasites </a:t>
            </a:r>
            <a:r>
              <a:rPr lang="fr-FR" dirty="0"/>
              <a:t>?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325486D-96BE-5856-258F-4751DE1096D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0C2E669F-4BE3-0546-0391-2D466FB6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DB84FC3F-EFF8-CE3B-A8FE-8CF2D6C7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A44EEB4-C7F2-FA48-F73E-95DCE61D3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264147"/>
                  </p:ext>
                </p:extLst>
              </p:nvPr>
            </p:nvGraphicFramePr>
            <p:xfrm>
              <a:off x="721781" y="1674535"/>
              <a:ext cx="7563846" cy="2143760"/>
            </p:xfrm>
            <a:graphic>
              <a:graphicData uri="http://schemas.openxmlformats.org/drawingml/2006/table">
                <a:tbl>
                  <a:tblPr firstRow="1" firstCol="1">
                    <a:tableStyleId>{EB9631B5-78F2-41C9-869B-9F39066F8104}</a:tableStyleId>
                  </a:tblPr>
                  <a:tblGrid>
                    <a:gridCol w="2349222">
                      <a:extLst>
                        <a:ext uri="{9D8B030D-6E8A-4147-A177-3AD203B41FA5}">
                          <a16:colId xmlns:a16="http://schemas.microsoft.com/office/drawing/2014/main" val="1786110228"/>
                        </a:ext>
                      </a:extLst>
                    </a:gridCol>
                    <a:gridCol w="2491596">
                      <a:extLst>
                        <a:ext uri="{9D8B030D-6E8A-4147-A177-3AD203B41FA5}">
                          <a16:colId xmlns:a16="http://schemas.microsoft.com/office/drawing/2014/main" val="634179246"/>
                        </a:ext>
                      </a:extLst>
                    </a:gridCol>
                    <a:gridCol w="2723028">
                      <a:extLst>
                        <a:ext uri="{9D8B030D-6E8A-4147-A177-3AD203B41FA5}">
                          <a16:colId xmlns:a16="http://schemas.microsoft.com/office/drawing/2014/main" val="6771488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Critère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SingleCoil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Humbucker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346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Signature sonore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>
                              <a:solidFill>
                                <a:srgbClr val="38903A"/>
                              </a:solidFill>
                            </a:rPr>
                            <a:t>Richesse en aigus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solidFill>
                                          <a:srgbClr val="3890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0" i="1" smtClean="0">
                                        <a:solidFill>
                                          <a:srgbClr val="38903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fr-FR" sz="2000" b="0" i="1" smtClean="0">
                                        <a:solidFill>
                                          <a:srgbClr val="38903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=10 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0" i="0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38903A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>
                              <a:solidFill>
                                <a:srgbClr val="C00000"/>
                              </a:solidFill>
                            </a:rPr>
                            <a:t>Atténuation des aigus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fr-FR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fr-F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=−20 </m:t>
                                </m:r>
                                <m:r>
                                  <m:rPr>
                                    <m:nor/>
                                  </m:rPr>
                                  <a:rPr lang="fr-FR" sz="20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01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Reduction du bourdonnement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000" i="0" dirty="0">
                              <a:solidFill>
                                <a:srgbClr val="C000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a:t>Inexistante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𝐶𝑀𝑅</m:t>
                                </m:r>
                                <m:r>
                                  <a:rPr lang="fr-F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fr-FR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fr-FR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2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000" i="0" dirty="0">
                              <a:solidFill>
                                <a:srgbClr val="38903A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a:t>Efficace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00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𝐶𝑀𝑅</m:t>
                                </m:r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fr-FR" sz="2000" i="1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28.7</m:t>
                                </m:r>
                                <m:r>
                                  <a:rPr lang="fr-FR" sz="2000" i="1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200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2000" dirty="0">
                            <a:solidFill>
                              <a:srgbClr val="38903A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254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Exemple d’utilisation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Blues, Funk, Rock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Hard Rock, Jazz, Métal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046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A44EEB4-C7F2-FA48-F73E-95DCE61D3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264147"/>
                  </p:ext>
                </p:extLst>
              </p:nvPr>
            </p:nvGraphicFramePr>
            <p:xfrm>
              <a:off x="721781" y="1674535"/>
              <a:ext cx="7563846" cy="2143760"/>
            </p:xfrm>
            <a:graphic>
              <a:graphicData uri="http://schemas.openxmlformats.org/drawingml/2006/table">
                <a:tbl>
                  <a:tblPr firstRow="1" firstCol="1">
                    <a:tableStyleId>{EB9631B5-78F2-41C9-869B-9F39066F8104}</a:tableStyleId>
                  </a:tblPr>
                  <a:tblGrid>
                    <a:gridCol w="2349222">
                      <a:extLst>
                        <a:ext uri="{9D8B030D-6E8A-4147-A177-3AD203B41FA5}">
                          <a16:colId xmlns:a16="http://schemas.microsoft.com/office/drawing/2014/main" val="1786110228"/>
                        </a:ext>
                      </a:extLst>
                    </a:gridCol>
                    <a:gridCol w="2491596">
                      <a:extLst>
                        <a:ext uri="{9D8B030D-6E8A-4147-A177-3AD203B41FA5}">
                          <a16:colId xmlns:a16="http://schemas.microsoft.com/office/drawing/2014/main" val="634179246"/>
                        </a:ext>
                      </a:extLst>
                    </a:gridCol>
                    <a:gridCol w="2723028">
                      <a:extLst>
                        <a:ext uri="{9D8B030D-6E8A-4147-A177-3AD203B41FA5}">
                          <a16:colId xmlns:a16="http://schemas.microsoft.com/office/drawing/2014/main" val="6771488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Critère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SingleCoil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Humbucker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434609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Signature sonore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94377" t="-54310" r="-109780" b="-15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77852" t="-54310" r="-447" b="-15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750150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Reduction du bourdonnement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94377" t="-155652" r="-109780" b="-5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77852" t="-155652" r="-447" b="-547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54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sz="1400" dirty="0"/>
                            <a:t>Exemple d’utilisation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Blues, Funk, Rock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Hard Rock, Jazz, Métal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0468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0E508EE-6FE9-3B4E-313C-4C7B63D0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22</a:t>
            </a:fld>
            <a:endParaRPr lang="fr-FR" sz="1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C8948-019D-5E3C-ECD1-F28BFF870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904" y="4054442"/>
            <a:ext cx="2508375" cy="2090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AACECA-A0B1-BAF4-6C14-464D07B1A2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9517" y="4054441"/>
            <a:ext cx="2508374" cy="20903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DDB650-C704-C2A9-8742-D31F89BA00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6294" y="4054441"/>
            <a:ext cx="2508375" cy="209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35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67F8-102B-ED7B-0DE1-585BD24C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96DEC9D-D575-DBBD-0410-59D2ED43304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DCCB68E-E8C2-CC4C-3A75-B5BA7F6D35A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solidFill>
              <a:srgbClr val="4A66AC"/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F93ABBD-287B-55E3-11A3-68FE11A2765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C8F2F-1A54-CCBE-AAF5-AE4AD230532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F750C-911D-65AC-5250-EA8EDE55DF5D}"/>
              </a:ext>
            </a:extLst>
          </p:cNvPr>
          <p:cNvSpPr txBox="1"/>
          <p:nvPr/>
        </p:nvSpPr>
        <p:spPr>
          <a:xfrm>
            <a:off x="326443" y="1384451"/>
            <a:ext cx="84911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Annexe 1 :</a:t>
            </a:r>
            <a:r>
              <a:rPr lang="fr-FR" dirty="0"/>
              <a:t> Références bibliographiques et sources. </a:t>
            </a:r>
          </a:p>
          <a:p>
            <a:r>
              <a:rPr lang="fr-FR" b="1" dirty="0"/>
              <a:t>Annexe 2 :</a:t>
            </a:r>
            <a:r>
              <a:rPr lang="fr-FR" dirty="0"/>
              <a:t> Notations et valeur numérique. </a:t>
            </a:r>
          </a:p>
          <a:p>
            <a:r>
              <a:rPr lang="fr-FR" b="1" dirty="0"/>
              <a:t>Annexe 3 :</a:t>
            </a:r>
            <a:r>
              <a:rPr lang="fr-FR" dirty="0"/>
              <a:t> Modélisation de l'induction par la corde. </a:t>
            </a:r>
          </a:p>
          <a:p>
            <a:r>
              <a:rPr lang="fr-FR" b="1" dirty="0"/>
              <a:t>Annexe 4 :</a:t>
            </a:r>
            <a:r>
              <a:rPr lang="fr-FR" dirty="0"/>
              <a:t> Théorie de la réjection du champ parasite. </a:t>
            </a:r>
          </a:p>
          <a:p>
            <a:r>
              <a:rPr lang="fr-FR" b="1" dirty="0"/>
              <a:t>Annexe 5 :</a:t>
            </a:r>
            <a:r>
              <a:rPr lang="fr-FR" dirty="0"/>
              <a:t> Méthodes de traitement numérique et filtrage. </a:t>
            </a:r>
          </a:p>
          <a:p>
            <a:r>
              <a:rPr lang="fr-FR" b="1" dirty="0"/>
              <a:t>Annexe 6 :</a:t>
            </a:r>
            <a:r>
              <a:rPr lang="fr-FR" dirty="0"/>
              <a:t> Algorithme de Levenberg-Marquardt. </a:t>
            </a:r>
          </a:p>
          <a:p>
            <a:r>
              <a:rPr lang="fr-FR" b="1" dirty="0"/>
              <a:t>Annexe 7 :</a:t>
            </a:r>
            <a:r>
              <a:rPr lang="fr-FR" dirty="0"/>
              <a:t> Analyse des échecs et difficultés rencontrées.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49A0A-51A0-296B-A228-0C95E4C2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B18BD4-8B0C-2661-3D31-7CBB2D05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BC8A711-C895-FE87-EDAE-8B66C45B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23</a:t>
            </a:fld>
            <a:endParaRPr lang="fr-F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4FCB4-0C72-5A75-20A5-6344A372A637}"/>
              </a:ext>
            </a:extLst>
          </p:cNvPr>
          <p:cNvSpPr txBox="1"/>
          <p:nvPr/>
        </p:nvSpPr>
        <p:spPr>
          <a:xfrm>
            <a:off x="345440" y="721360"/>
            <a:ext cx="8393826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ANNEXES :</a:t>
            </a:r>
            <a:r>
              <a:rPr lang="fr-FR" sz="2000" dirty="0">
                <a:latin typeface="Arial Black" panose="020B0A04020102020204" pitchFamily="34" charset="0"/>
              </a:rPr>
              <a:t> Sommaire </a:t>
            </a:r>
          </a:p>
        </p:txBody>
      </p:sp>
    </p:spTree>
    <p:extLst>
      <p:ext uri="{BB962C8B-B14F-4D97-AF65-F5344CB8AC3E}">
        <p14:creationId xmlns:p14="http://schemas.microsoft.com/office/powerpoint/2010/main" val="4086697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8393826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1:</a:t>
            </a:r>
            <a:r>
              <a:rPr lang="fr-FR" sz="2000" dirty="0">
                <a:latin typeface="Arial Black" panose="020B0A04020102020204" pitchFamily="34" charset="0"/>
              </a:rPr>
              <a:t> Références bibliographiques et sources.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26443" y="1372472"/>
            <a:ext cx="84911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[1] </a:t>
            </a:r>
            <a:r>
              <a:rPr lang="en-GB" sz="1600" dirty="0" err="1"/>
              <a:t>WiseGuy</a:t>
            </a:r>
            <a:r>
              <a:rPr lang="en-GB" sz="1600" dirty="0"/>
              <a:t> Research Consultants, "Global Electric Guitar Pickup Market Research Report 2024," Pune, India, 2024.</a:t>
            </a:r>
          </a:p>
          <a:p>
            <a:endParaRPr lang="en-GB" sz="1600" dirty="0"/>
          </a:p>
          <a:p>
            <a:r>
              <a:rPr lang="en-GB" sz="1600" b="1" dirty="0"/>
              <a:t>[2] </a:t>
            </a:r>
            <a:r>
              <a:rPr lang="en-GB" sz="1600" dirty="0"/>
              <a:t>Matthew W. Hill, "The hidden history of the electric guitar", in Quand la </a:t>
            </a:r>
            <a:r>
              <a:rPr lang="en-GB" sz="1600" dirty="0" err="1"/>
              <a:t>guitare</a:t>
            </a:r>
            <a:r>
              <a:rPr lang="en-GB" sz="1600" dirty="0"/>
              <a:t> [s']</a:t>
            </a:r>
            <a:r>
              <a:rPr lang="en-GB" sz="1600" dirty="0" err="1"/>
              <a:t>électrise</a:t>
            </a:r>
            <a:r>
              <a:rPr lang="en-GB" sz="1600" dirty="0"/>
              <a:t> !, Benoît Navarret et al. (dir.), Sorbonne Université Presses, pp. 33-61, 2022.</a:t>
            </a:r>
          </a:p>
          <a:p>
            <a:endParaRPr lang="en-GB" sz="1600" dirty="0"/>
          </a:p>
          <a:p>
            <a:r>
              <a:rPr lang="en-GB" sz="1600" b="1" dirty="0"/>
              <a:t>[3] </a:t>
            </a:r>
            <a:r>
              <a:rPr lang="en-GB" sz="1600" dirty="0"/>
              <a:t>N. G. Horton &amp; T. R. Moore : </a:t>
            </a:r>
            <a:r>
              <a:rPr lang="en-GB" sz="1600" dirty="0" err="1"/>
              <a:t>Modeling</a:t>
            </a:r>
            <a:r>
              <a:rPr lang="en-GB" sz="1600" dirty="0"/>
              <a:t> the magnetic pickup of an electric guitar :</a:t>
            </a:r>
          </a:p>
          <a:p>
            <a:r>
              <a:rPr lang="en-GB" sz="1600" dirty="0"/>
              <a:t>American Journal of Physics, vol. 77, no. 2, pp. 144–150, 2009, </a:t>
            </a:r>
            <a:r>
              <a:rPr lang="en-GB" sz="1600" dirty="0" err="1"/>
              <a:t>doi</a:t>
            </a:r>
            <a:r>
              <a:rPr lang="en-GB" sz="1600" dirty="0"/>
              <a:t>: 10.1119/1.2990663</a:t>
            </a:r>
          </a:p>
          <a:p>
            <a:endParaRPr lang="en-GB" sz="1600" dirty="0"/>
          </a:p>
          <a:p>
            <a:r>
              <a:rPr lang="en-GB" sz="1600" b="1" dirty="0"/>
              <a:t>[4] </a:t>
            </a:r>
            <a:r>
              <a:rPr lang="en-GB" sz="1600" dirty="0"/>
              <a:t>S. W. Duncan, "Interview With Seth Lover", Seymour Duncan.  [En </a:t>
            </a:r>
            <a:r>
              <a:rPr lang="en-GB" sz="1600" dirty="0" err="1"/>
              <a:t>ligne</a:t>
            </a:r>
            <a:r>
              <a:rPr lang="en-GB" sz="1600" dirty="0"/>
              <a:t>]. Disponible sur: </a:t>
            </a:r>
            <a:r>
              <a:rPr lang="en-GB" sz="1600" dirty="0">
                <a:hlinkClick r:id="rId3"/>
              </a:rPr>
              <a:t>https://www.seymourduncan.com/blog/latest-updates/seymour-w-duncans-interview-with-seth-lover</a:t>
            </a:r>
            <a:endParaRPr lang="en-GB" sz="1600" dirty="0"/>
          </a:p>
          <a:p>
            <a:endParaRPr lang="en-GB" sz="1600" dirty="0"/>
          </a:p>
          <a:p>
            <a:r>
              <a:rPr lang="en-GB" sz="1600" b="1" dirty="0"/>
              <a:t>[5] </a:t>
            </a:r>
            <a:r>
              <a:rPr lang="en-GB" sz="1600" dirty="0"/>
              <a:t>Dan Carson, "Investigation of the Electromagnetic Properties of Electric Guitar Pickups", University of Illinois at Urbana-Champaign, Physics Senior Thesis, 2009.</a:t>
            </a:r>
          </a:p>
          <a:p>
            <a:endParaRPr lang="en-GB" sz="1600" dirty="0"/>
          </a:p>
          <a:p>
            <a:r>
              <a:rPr lang="en-GB" sz="1600" b="1" dirty="0"/>
              <a:t>[6] </a:t>
            </a:r>
            <a:r>
              <a:rPr lang="en-GB" sz="1600" dirty="0"/>
              <a:t>B. </a:t>
            </a:r>
            <a:r>
              <a:rPr lang="en-GB" sz="1600" dirty="0" err="1"/>
              <a:t>d’Andréa</a:t>
            </a:r>
            <a:r>
              <a:rPr lang="en-GB" sz="1600" dirty="0"/>
              <a:t>-Novel, B. Fabre, et P. Jouvelot, </a:t>
            </a:r>
            <a:r>
              <a:rPr lang="en-GB" sz="1600" dirty="0" err="1"/>
              <a:t>Acoustique</a:t>
            </a:r>
            <a:r>
              <a:rPr lang="en-GB" sz="1600" dirty="0"/>
              <a:t> Informatique </a:t>
            </a:r>
            <a:r>
              <a:rPr lang="en-GB" sz="1600" dirty="0" err="1"/>
              <a:t>MusiquE</a:t>
            </a:r>
            <a:r>
              <a:rPr lang="en-GB" sz="1600" dirty="0"/>
              <a:t> : </a:t>
            </a:r>
            <a:r>
              <a:rPr lang="en-GB" sz="1600" dirty="0" err="1"/>
              <a:t>Outils</a:t>
            </a:r>
            <a:r>
              <a:rPr lang="en-GB" sz="1600" dirty="0"/>
              <a:t> </a:t>
            </a:r>
            <a:r>
              <a:rPr lang="en-GB" sz="1600" dirty="0" err="1"/>
              <a:t>scientifiques</a:t>
            </a:r>
            <a:r>
              <a:rPr lang="en-GB" sz="1600" dirty="0"/>
              <a:t> pour la musique. Paris, France : Presses des Mines, 2010, </a:t>
            </a:r>
            <a:r>
              <a:rPr lang="en-GB" sz="1600" dirty="0" err="1"/>
              <a:t>ch.</a:t>
            </a:r>
            <a:r>
              <a:rPr lang="en-GB" sz="1600" dirty="0"/>
              <a:t> 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D43332-F8BD-6E2C-04A6-7CBD2C44837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935E0A-86AC-9436-7A04-23BB4DCFB9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A2E238EA-0333-80E5-6A4E-C1DD63F93CF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A605A-39EA-E26C-D82F-B7364DE6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630A-974D-CC9B-8200-E45D9FB5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1860B60-7DA1-5048-127A-6019A8FF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24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C47B-CF41-2900-27D1-46C22C9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D09EDA-BBC9-C23C-F784-E5E302DC689C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2 :</a:t>
            </a:r>
            <a:r>
              <a:rPr lang="fr-FR" sz="2000" dirty="0">
                <a:latin typeface="Arial Black" panose="020B0A04020102020204" pitchFamily="34" charset="0"/>
              </a:rPr>
              <a:t> Notations et valeur numérique.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88B616-4201-AC96-BA95-677E016CA99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5887BE-C0C6-26B1-F07D-A7C065B7F1E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33D505-1E0C-2999-0AA5-428C61C7DBB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D87F4FDF-66F9-8742-498D-DAA32629EAA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1144795-AC8B-21B2-6726-CE3D16CE5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731092"/>
                  </p:ext>
                </p:extLst>
              </p:nvPr>
            </p:nvGraphicFramePr>
            <p:xfrm>
              <a:off x="345437" y="4827261"/>
              <a:ext cx="4217064" cy="144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3,5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Perméabilité relative de l'Alnico 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528968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100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Susceptibilité magnétique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sz="1000" dirty="0"/>
                            <a:t>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Volume de la portion de la corde active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1144795-AC8B-21B2-6726-CE3D16CE5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731092"/>
                  </p:ext>
                </p:extLst>
              </p:nvPr>
            </p:nvGraphicFramePr>
            <p:xfrm>
              <a:off x="345437" y="4827261"/>
              <a:ext cx="4217064" cy="144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390" r="-514159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3,5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Perméabilité relative de l'Alnico 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528968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000" r="-51415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100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Susceptibilité magnétique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085" r="-51415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923" t="-305085" r="-346923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7143" t="-305085" r="-544286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Volume de la portion de la corde active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B381818-6C77-AF12-22D8-30F5A4EA62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229"/>
                  </p:ext>
                </p:extLst>
              </p:nvPr>
            </p:nvGraphicFramePr>
            <p:xfrm>
              <a:off x="345439" y="1507861"/>
              <a:ext cx="4217062" cy="288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6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0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(SingleCoil)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𝐻𝑃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𝐻𝑃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0,147, 0,165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parallèle)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𝐻𝑆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𝐻𝑆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0,202, 0,220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série)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7105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0,85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Longueur vibrante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358644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0,300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de l'origine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574047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Amplitude initiale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81965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80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fondamentale de vibration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50928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B381818-6C77-AF12-22D8-30F5A4EA62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229"/>
                  </p:ext>
                </p:extLst>
              </p:nvPr>
            </p:nvGraphicFramePr>
            <p:xfrm>
              <a:off x="345439" y="1507861"/>
              <a:ext cx="4217062" cy="288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6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0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101695" r="-514159" b="-6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101695" r="-544286" b="-6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(SingleCoil)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01695" r="-514159" b="-5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0,147, 0,165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201695" r="-544286" b="-5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parallèle)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96667" r="-514159" b="-3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0,202, 0,220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296667" r="-544286" b="-3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série)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7105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03390" r="-514159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0,85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403390" r="-54428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Longueur vibrante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358644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03390" r="-514159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0,300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503390" r="-54428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de l'origine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574047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603390" r="-514159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603390" r="-544286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Amplitude initiale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81965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03390" r="-51415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80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7143" t="-703390" r="-544286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fondamentale de vibration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50928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F42D4E8-367B-CD6E-4006-68B064BCF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652139"/>
                  </p:ext>
                </p:extLst>
              </p:nvPr>
            </p:nvGraphicFramePr>
            <p:xfrm>
              <a:off x="4671437" y="1507861"/>
              <a:ext cx="4324145" cy="1089627"/>
            </p:xfrm>
            <a:graphic>
              <a:graphicData uri="http://schemas.openxmlformats.org/drawingml/2006/table">
                <a:tbl>
                  <a:tblPr/>
                  <a:tblGrid>
                    <a:gridCol w="703333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811082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36736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72994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95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Nombre de spire d’une bobine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0,06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Rayon des bobines de Helmholtz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F42D4E8-367B-CD6E-4006-68B064BCF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652139"/>
                  </p:ext>
                </p:extLst>
              </p:nvPr>
            </p:nvGraphicFramePr>
            <p:xfrm>
              <a:off x="4671437" y="1507861"/>
              <a:ext cx="4324145" cy="1089627"/>
            </p:xfrm>
            <a:graphic>
              <a:graphicData uri="http://schemas.openxmlformats.org/drawingml/2006/table">
                <a:tbl>
                  <a:tblPr/>
                  <a:tblGrid>
                    <a:gridCol w="703333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811082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36736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72994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1667" r="-518261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95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Nombre de spire d’une bobine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667" r="-518261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0,06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0704" t="-201667" r="-550704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Rayon des bobines de Helmholtz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A0FDFD4-ACE1-C723-796E-51848408BDB8}"/>
              </a:ext>
            </a:extLst>
          </p:cNvPr>
          <p:cNvSpPr/>
          <p:nvPr/>
        </p:nvSpPr>
        <p:spPr>
          <a:xfrm>
            <a:off x="345439" y="1174612"/>
            <a:ext cx="4031962" cy="280107"/>
          </a:xfrm>
          <a:prstGeom prst="rect">
            <a:avLst/>
          </a:prstGeom>
          <a:ln w="381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numCol="2" rtlCol="0" anchor="t"/>
          <a:lstStyle/>
          <a:p>
            <a:endParaRPr lang="fr-FR" sz="1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5CD883-82BD-74FC-0CCA-5B43225FB89A}"/>
              </a:ext>
            </a:extLst>
          </p:cNvPr>
          <p:cNvSpPr txBox="1"/>
          <p:nvPr/>
        </p:nvSpPr>
        <p:spPr>
          <a:xfrm>
            <a:off x="326443" y="1142736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mécanique (induction)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4D2AE-FBCD-6DCC-33D2-D0CB6D758659}"/>
              </a:ext>
            </a:extLst>
          </p:cNvPr>
          <p:cNvSpPr txBox="1"/>
          <p:nvPr/>
        </p:nvSpPr>
        <p:spPr>
          <a:xfrm>
            <a:off x="326442" y="4460763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magnétique (induction)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A2E43-0000-4799-8C98-5CF5D3C0AA82}"/>
              </a:ext>
            </a:extLst>
          </p:cNvPr>
          <p:cNvSpPr txBox="1"/>
          <p:nvPr/>
        </p:nvSpPr>
        <p:spPr>
          <a:xfrm>
            <a:off x="4671437" y="1122601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mécanique (parasite)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CB49C052-18CA-D0C9-14A7-3BDB164A18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3473610"/>
                  </p:ext>
                </p:extLst>
              </p:nvPr>
            </p:nvGraphicFramePr>
            <p:xfrm>
              <a:off x="4778519" y="3118385"/>
              <a:ext cx="4217064" cy="1089627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Gradient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50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CB49C052-18CA-D0C9-14A7-3BDB164A18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3473610"/>
                  </p:ext>
                </p:extLst>
              </p:nvPr>
            </p:nvGraphicFramePr>
            <p:xfrm>
              <a:off x="4778519" y="3118385"/>
              <a:ext cx="4217064" cy="1089627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01667" r="-514159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347143" t="-101667" r="-544286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Gradient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1667" r="-514159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50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143" t="-201667" r="-544286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245918D-E210-1F1E-4EC5-A7B43F3E7B84}"/>
              </a:ext>
            </a:extLst>
          </p:cNvPr>
          <p:cNvSpPr txBox="1"/>
          <p:nvPr/>
        </p:nvSpPr>
        <p:spPr>
          <a:xfrm>
            <a:off x="4778519" y="2733125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magnétiques (parasite)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0EF1A-1F6F-9525-65C0-C1F7BBBB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E79A1-0201-53D7-0BB4-C20241C7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1901009-EA74-EC93-E653-CCC6C4D2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25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837036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3 :</a:t>
            </a:r>
            <a:r>
              <a:rPr lang="fr-FR" sz="2000" dirty="0">
                <a:latin typeface="Arial Black" panose="020B0A04020102020204" pitchFamily="34" charset="0"/>
              </a:rPr>
              <a:t> Modélisation de l'induction par la corde.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15641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b="1" u="sng" dirty="0"/>
                  <a:t>Vibration de la corde :</a:t>
                </a:r>
                <a:endParaRPr lang="fr-FR" sz="1200" dirty="0"/>
              </a:p>
              <a:p>
                <a:r>
                  <a:rPr lang="fr-FR" sz="1200" dirty="0"/>
                  <a:t>L’étude de la corde est basée sur l’équation d’Alembert,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avec une force de pincement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fr-FR" sz="1200" dirty="0"/>
                  <a:t>.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𝐹𝑛𝑡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156412"/>
              </a:xfrm>
              <a:prstGeom prst="rect">
                <a:avLst/>
              </a:prstGeom>
              <a:blipFill>
                <a:blip r:embed="rId2"/>
                <a:stretch>
                  <a:fillRect t="-118" b="-197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069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b="1" u="sng" dirty="0"/>
                  <a:t>Induction :</a:t>
                </a:r>
                <a:endParaRPr lang="fr-FR" sz="1200" dirty="0"/>
              </a:p>
              <a:p>
                <a:r>
                  <a:rPr lang="fr-FR" sz="1200" dirty="0"/>
                  <a:t>De plus, une portion de la corde de volume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r-FR" sz="1200" dirty="0"/>
                  <a:t> et de susceptibilité magnétique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fr-FR" sz="1200" dirty="0"/>
                  <a:t> est plongé dans le champ du micro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200" dirty="0"/>
                  <a:t>. Donc elle acquiert un moment magnétique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La corde créée donc un champ magnétique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le flux traversant le bobinage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spires est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d>
                                    <m:dPr>
                                      <m:ctrlPr>
                                        <a:rPr lang="fr-FR" sz="11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1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𝑛𝐹</m:t>
                    </m:r>
                    <m:func>
                      <m:func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069208"/>
              </a:xfrm>
              <a:prstGeom prst="rect">
                <a:avLst/>
              </a:prstGeom>
              <a:blipFill>
                <a:blip r:embed="rId3"/>
                <a:stretch>
                  <a:fillRect t="-2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A777B76-EF7C-8876-1D5D-D609496C95D8}"/>
              </a:ext>
            </a:extLst>
          </p:cNvPr>
          <p:cNvGrpSpPr/>
          <p:nvPr/>
        </p:nvGrpSpPr>
        <p:grpSpPr>
          <a:xfrm>
            <a:off x="3035508" y="2887635"/>
            <a:ext cx="1623736" cy="676275"/>
            <a:chOff x="3501390" y="2752725"/>
            <a:chExt cx="1157854" cy="6762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A38606B-02D3-FB4F-4E84-A06CC752B21A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7E64599-1C52-9F19-E75C-1C83054A9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98173CE4-32B0-FCB4-0133-B7F7F801D647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30515D-0CF5-C54C-6696-F26CC43280DD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241828B-5116-7216-6B5A-F400AF0BB812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1FB3372-8A72-8A3C-4185-141A249DDF65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0714" r="-3571" b="-227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1B331E-825D-7998-84BB-C2CEA27EFC7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A243EF-8D9A-619D-753B-253FFACAA1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E96EF237-2867-B9B6-4D1E-4353B4EF70F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A2407-C86B-F9A7-56CD-2554B091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04519D-51B6-4C5E-B301-3F47D06C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5F648A9-2A1D-AE5D-13D1-19E2A88C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26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F2-B144-CF76-1F8C-26C914C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06A6A33-5483-E45A-C886-DB9DB0F3FCE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70956-3195-813A-9090-176A89DD32F0}"/>
              </a:ext>
            </a:extLst>
          </p:cNvPr>
          <p:cNvSpPr txBox="1"/>
          <p:nvPr/>
        </p:nvSpPr>
        <p:spPr>
          <a:xfrm>
            <a:off x="345439" y="721360"/>
            <a:ext cx="8297628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4 :</a:t>
            </a:r>
            <a:r>
              <a:rPr lang="fr-FR" sz="2000" dirty="0">
                <a:latin typeface="Arial Black" panose="020B0A04020102020204" pitchFamily="34" charset="0"/>
              </a:rPr>
              <a:t> Théorie de la réjection du champ parasite.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B61CD-D09F-44E9-C03D-924382A1A1A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4375813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b="1" u="sng" dirty="0"/>
                  <a:t>Définition :</a:t>
                </a:r>
                <a:endParaRPr lang="fr-FR" sz="1200" dirty="0"/>
              </a:p>
              <a:p>
                <a:r>
                  <a:rPr lang="fr-FR" sz="1200" dirty="0"/>
                  <a:t>On appellera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fr-FR" sz="1200" dirty="0"/>
                  <a:t> le signal utile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fr-FR" sz="1200" dirty="0"/>
                  <a:t> le signal parasite. ON définit le </a:t>
                </a:r>
                <a:r>
                  <a:rPr lang="fr-FR" sz="1200" u="sng" dirty="0"/>
                  <a:t>Taux de Rejection de Mode Commun</a:t>
                </a:r>
                <a:r>
                  <a:rPr lang="fr-FR" sz="1200" dirty="0"/>
                  <a:t> :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𝑆𝑝</m:t>
                            </m:r>
                          </m:den>
                        </m:f>
                      </m:e>
                    </m:func>
                  </m:oMath>
                </a14:m>
                <a:endParaRPr lang="fr-FR" sz="1200" b="1" dirty="0"/>
              </a:p>
              <a:p>
                <a:endParaRPr lang="fr-FR" sz="1200" b="1" u="sng" dirty="0"/>
              </a:p>
              <a:p>
                <a:r>
                  <a:rPr lang="fr-FR" sz="1200" b="1" u="sng" dirty="0"/>
                  <a:t>Modèle du champ parasite :</a:t>
                </a:r>
                <a:endParaRPr lang="fr-FR" sz="1200" dirty="0"/>
              </a:p>
              <a:p>
                <a:r>
                  <a:rPr lang="fr-FR" sz="1200" dirty="0"/>
                  <a:t>On étudie un champ parasite d’amplitude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, de pulsation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200" dirty="0"/>
                  <a:t> et de gradient </a:t>
                </a:r>
                <a14:m>
                  <m:oMath xmlns:m="http://schemas.openxmlformats.org/officeDocument/2006/math">
                    <m:r>
                      <a:rPr lang="fr-FR" sz="12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 régie par l’équation:</a:t>
                </a:r>
              </a:p>
              <a:p>
                <a:pPr algn="ctr"/>
                <a:endParaRPr lang="fr-FR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Ainsi on a le flux à travers une surface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r-FR" sz="1200" dirty="0"/>
                  <a:t> est: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une bobine composée de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b="1" u="sng" dirty="0"/>
                  <a:t>Pour un micro SingleCoil :</a:t>
                </a:r>
              </a:p>
              <a:p>
                <a:r>
                  <a:rPr lang="fr-FR" sz="1200" dirty="0"/>
                  <a:t>On place le micro 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sz="1200" dirty="0"/>
                  <a:t>, 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4375813"/>
              </a:xfrm>
              <a:prstGeom prst="rect">
                <a:avLst/>
              </a:prstGeom>
              <a:blipFill>
                <a:blip r:embed="rId3"/>
                <a:stretch>
                  <a:fillRect t="-139" b="-2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4393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b="1" u="sng" dirty="0"/>
                  <a:t>Pour un micro Humbucker série :</a:t>
                </a:r>
              </a:p>
              <a:p>
                <a:r>
                  <a:rPr lang="fr-FR" sz="12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Le micro est composé de deux bobine espacées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200" dirty="0"/>
                  <a:t> à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spire câblée en opposition de phase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)+(−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𝐻𝑠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𝐻𝑠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200" dirty="0"/>
                  <a:t> </a:t>
                </a:r>
                <a14:m>
                  <m:oMath xmlns:m="http://schemas.openxmlformats.org/officeDocument/2006/math">
                    <m:r>
                      <a:rPr lang="fr-FR" sz="1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1200" b="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b="1" u="sng" dirty="0"/>
                  <a:t>Pour un micro Humbucker parallèle :</a:t>
                </a:r>
              </a:p>
              <a:p>
                <a:r>
                  <a:rPr lang="fr-FR" sz="12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De même, sous les mêmes notations,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sz="1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200" dirty="0"/>
                  <a:t> </a:t>
                </a:r>
                <a14:m>
                  <m:oMath xmlns:m="http://schemas.openxmlformats.org/officeDocument/2006/math"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4393767"/>
              </a:xfrm>
              <a:prstGeom prst="rect">
                <a:avLst/>
              </a:prstGeom>
              <a:blipFill>
                <a:blip r:embed="rId4"/>
                <a:stretch>
                  <a:fillRect t="-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C135CFF-9836-7C54-0BFE-C55DA8EA6DF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27E62F-509A-33EE-39F7-CF12A8D1868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9F154D45-8B11-2E2C-A9CF-70E8DE66B2B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97473-163C-2448-B7A8-744EB33FD861}"/>
                  </a:ext>
                </a:extLst>
              </p:cNvPr>
              <p:cNvSpPr txBox="1"/>
              <p:nvPr/>
            </p:nvSpPr>
            <p:spPr>
              <a:xfrm>
                <a:off x="563660" y="5664788"/>
                <a:ext cx="8191168" cy="523220"/>
              </a:xfrm>
              <a:prstGeom prst="rect">
                <a:avLst/>
              </a:prstGeom>
              <a:ln w="28575">
                <a:solidFill>
                  <a:srgbClr val="4A66AC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dirty="0"/>
                  <a:t>On a une annulation totale du bruit si et seulement 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400" dirty="0"/>
                  <a:t> est petit. En pratique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=0.018 </m:t>
                    </m:r>
                  </m:oMath>
                </a14:m>
                <a:r>
                  <a:rPr lang="fr-FR" sz="1400" dirty="0"/>
                  <a:t>mètre.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dirty="0"/>
                  <a:t>Si les deux Humbucker sont identiques, peu importe le montage, le CMRR est identique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97473-163C-2448-B7A8-744EB33FD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0" y="5664788"/>
                <a:ext cx="8191168" cy="523220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  <a:ln w="28575">
                <a:solidFill>
                  <a:srgbClr val="4A66AC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92343-56BA-21CF-A5F9-30091028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6B05F-F041-5835-3954-BD9D11DD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FD79266-96A3-D472-2024-2DA68574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27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959520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108C-A3BE-9F30-5F6D-AE6C160E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06A84A3-244C-E4E5-16D2-E0D81E52023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9AD8E1-E315-A065-149E-7D95BAB5C66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8F16D-9EEC-BD13-9BA6-4441C8EDBF7E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5 :</a:t>
            </a:r>
            <a:r>
              <a:rPr lang="fr-FR" sz="2000" dirty="0">
                <a:latin typeface="Arial Black" panose="020B0A04020102020204" pitchFamily="34" charset="0"/>
              </a:rPr>
              <a:t> Méthodes de traitement numérique et filtrage.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FF123-A369-3024-2D63-5BC511850FC0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passer de données bruitées non exploitables à des données exploitables?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60F269-E440-1BF8-F93A-BDF8772DA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3980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par Moyenne Mobile </a:t>
                </a:r>
                <a:r>
                  <a:rPr lang="fr-FR" sz="1400" dirty="0">
                    <a:sym typeface="Wingdings" panose="05000000000000000000" pitchFamily="2" charset="2"/>
                  </a:rPr>
                  <a:t>Chaque point est la moyenne des 50 précédents et 50 suivants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Risque de ‘’raboter’’ les pics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Aucun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numérique passe-bas</a:t>
                </a:r>
              </a:p>
              <a:p>
                <a:r>
                  <a:rPr lang="fr-FR" sz="1400" b="0" dirty="0">
                    <a:sym typeface="Wingdings" panose="05000000000000000000" pitchFamily="2" charset="2"/>
                  </a:rPr>
                  <a:t>Méthode d’Euler 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H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p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 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 + </m:t>
                          </m:r>
                          <m:r>
                            <m:rPr>
                              <m:sty m:val="p"/>
                            </m:r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τp</m:t>
                          </m:r>
                        </m:den>
                      </m:f>
                    </m:oMath>
                  </m:oMathPara>
                </a14:m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Preserve l’allure globale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Introduit 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3980449"/>
              </a:xfrm>
              <a:prstGeom prst="rect">
                <a:avLst/>
              </a:prstGeom>
              <a:blipFill>
                <a:blip r:embed="rId3"/>
                <a:stretch>
                  <a:fillRect l="-633" t="-30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EA012CD-4A4F-5077-ED00-68E3057666A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DF584-9CF7-B861-2268-C9DD0FDE37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9E59D5D1-9929-41AC-1C69-EDEF90D47D4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1896C-AC65-64BB-7C08-6B7C16677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6FA9-743F-8037-A7E0-47BBD167F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3CF02AC-9500-9D89-7F29-F3D529C9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28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2800294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2C5B-8D73-CCE6-C1F4-7842FE0B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7D9F10B-2163-F771-FC03-D7518738EB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F3FB8-1FB5-8F1E-C164-C844ECA3D0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B39E1-B87E-8759-1895-1DEFEB3BB07E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6 :</a:t>
            </a:r>
            <a:r>
              <a:rPr lang="fr-FR" sz="2000" dirty="0">
                <a:latin typeface="Arial Black" panose="020B0A04020102020204" pitchFamily="34" charset="0"/>
              </a:rPr>
              <a:t> Algorithme de Levenberg-Marquardt.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/>
              <p:nvPr/>
            </p:nvSpPr>
            <p:spPr>
              <a:xfrm>
                <a:off x="4584727" y="1127661"/>
                <a:ext cx="4264554" cy="5136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sz="1600" u="sng" dirty="0"/>
                  <a:t>Comment déterminer les valeurs des caractéristiques électriques des micros ?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b="1" u="sng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Principe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Variante de l’algorithme des moindres carrés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b="1" u="sng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Combine 2 méthodes :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Descente de gradient</a:t>
                </a:r>
                <a:r>
                  <a:rPr lang="fr-FR" altLang="fr-FR" sz="1400" dirty="0"/>
                  <a:t> : Utilisée loin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Stabilité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Méthode de Gauss-Newton</a:t>
                </a:r>
                <a:r>
                  <a:rPr lang="fr-FR" altLang="fr-FR" sz="1400" dirty="0"/>
                  <a:t> : Utilisée proche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rapidité</a:t>
                </a: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Fonctionnement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b="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1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fr-FR" altLang="fr-FR" sz="1400" dirty="0"/>
                  <a:t> : Matrice Jacobienne 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fr-FR" altLang="fr-FR" sz="1400" dirty="0"/>
                  <a:t> : Vecteur résidus : image de l’erreur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fr-FR" altLang="fr-FR" sz="1400" dirty="0"/>
                  <a:t> : Taux d’apprentissage variable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↘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Gauss Newton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↗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Descente de Gradient 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27" y="1127661"/>
                <a:ext cx="4264554" cy="5136791"/>
              </a:xfrm>
              <a:prstGeom prst="rect">
                <a:avLst/>
              </a:prstGeom>
              <a:blipFill>
                <a:blip r:embed="rId2"/>
                <a:stretch>
                  <a:fillRect l="-714" t="-3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A0C246C-3384-6CE8-D081-A3B270E39908}"/>
              </a:ext>
            </a:extLst>
          </p:cNvPr>
          <p:cNvGrpSpPr/>
          <p:nvPr/>
        </p:nvGrpSpPr>
        <p:grpSpPr>
          <a:xfrm>
            <a:off x="345440" y="1121469"/>
            <a:ext cx="4144114" cy="5136791"/>
            <a:chOff x="345440" y="1587720"/>
            <a:chExt cx="3617103" cy="44289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C7B3D5-E778-E53F-4C95-9EB24A7DB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440" y="1587720"/>
              <a:ext cx="3617103" cy="442890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/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0.01</m:t>
                        </m:r>
                      </m:oMath>
                    </m:oMathPara>
                  </a14:m>
                  <a:endParaRPr lang="fr-FR" sz="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</m:oMath>
                    </m:oMathPara>
                  </a14:m>
                  <a:endParaRPr lang="fr-FR" sz="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/>
                <p:nvPr/>
              </p:nvSpPr>
              <p:spPr>
                <a:xfrm>
                  <a:off x="1655444" y="3282458"/>
                  <a:ext cx="1021719" cy="16601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400" dirty="0"/>
                    <a:t>Calcul de la descente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400" b="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a14:m>
                  <a:r>
                    <a:rPr lang="fr-FR" sz="400" dirty="0"/>
                    <a:t> avec 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fr-FR" altLang="fr-FR" sz="400" i="1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fr-FR" altLang="fr-FR" sz="400" i="1" dirty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fr-FR" altLang="fr-FR" sz="400" i="1" dirty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fr-FR" altLang="fr-FR" sz="400" i="1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fr-FR" altLang="fr-FR" sz="400" i="1" dirty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fr-FR" altLang="fr-FR" sz="400" dirty="0"/>
                </a:p>
                <a:p>
                  <a:pPr algn="ctr"/>
                  <a:endParaRPr lang="fr-FR" sz="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4" y="3282458"/>
                  <a:ext cx="1021719" cy="166018"/>
                </a:xfrm>
                <a:prstGeom prst="rect">
                  <a:avLst/>
                </a:prstGeom>
                <a:blipFill>
                  <a:blip r:embed="rId5"/>
                  <a:stretch>
                    <a:fillRect t="-937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/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fr-FR" sz="400" dirty="0"/>
                    <a:t>Calcul du nouveau coût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</m:oMath>
                  </a14:m>
                  <a:endParaRPr lang="fr-FR" sz="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/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blipFill>
                  <a:blip r:embed="rId7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/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fr-FR" sz="4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blipFill>
                  <a:blip r:embed="rId8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/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/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i="1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ϵ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E15DCC-C532-6C84-21FE-198EF6A3869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93FA2D-845E-3E47-013D-1745D6C5C3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F8F13FDA-57A2-A33C-17C0-BF32E05AA34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DD2F4-E77C-25A5-7094-7F3E5421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9E5A-CB2D-FAE2-094C-0422750E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A470294-45FF-68BE-A857-497FECCC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29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913253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32B-5CBA-D58B-6BE3-2ED288DB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D7F8ED1-3EF2-8A6F-4CB4-0CF972E8B4D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3105C7-994D-34E1-D1CE-ED0E36ED91C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9C9AA1-328D-AAD8-510E-EFF1E2B2A387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023245-9CE3-A4CE-BCE1-4AF643DD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des résidus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2, 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wn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du coût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Avec :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den>
                              </m:f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</m:mr>
                        </m:m>
                        <m:eqArr>
                          <m:eqArr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2)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...</m:t>
                            </m:r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ωn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fr-FR" altLang="fr-FR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blipFill>
                <a:blip r:embed="rId3"/>
                <a:stretch>
                  <a:fillRect l="-633" t="-270" r="-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5A23E38-AFFC-1314-34D8-5F474D741D9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94ED3C-0189-70F2-3340-35139884ACB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AD4961CD-E048-EDA5-4913-3A2CD9E86F6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A788DD-EA1A-EA9F-38E6-52FFF6B6EB98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6 :</a:t>
            </a:r>
            <a:r>
              <a:rPr lang="fr-FR" sz="2000" dirty="0">
                <a:latin typeface="Arial Black" panose="020B0A04020102020204" pitchFamily="34" charset="0"/>
              </a:rPr>
              <a:t> Algorithme de Levenberg-Marquardt.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50684-55AE-30B3-6EA6-ACE246C3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15F5-E718-DC1B-82DA-0E9D49D7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8BAF221-99AE-4F1E-A6F4-87FA14E5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30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558172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1AB9-AA17-A289-4177-5B57B838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0EEE6E3-6825-09CC-8862-418DD007C63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990FB-38EB-5B30-B3B4-746837CB7A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DE8E9-33F3-561B-57C9-2E08CDBD205D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E53AF-2DFC-2830-AB17-39F8A9CFCD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" t="21864" r="1" b="35960"/>
          <a:stretch>
            <a:fillRect/>
          </a:stretch>
        </p:blipFill>
        <p:spPr>
          <a:xfrm>
            <a:off x="345440" y="1220122"/>
            <a:ext cx="8626173" cy="485222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CF1BFFB-993D-B165-6DEA-A362856BAE78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24DCD0-D770-6EEC-A98D-F0CAB5B4CAB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5180DDD7-F016-DA17-C609-C7473F9858D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6F482-7CE7-8509-6D95-51F11BB5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A350-68D0-F903-69F4-2B53C0EE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863E7E1-64AC-F902-58A5-185AD204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31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744580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F1A6-7284-DDB9-89E2-31D242A1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AD740C7-6183-2A85-C9EE-E8A2AE58902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0915BC-9847-71E7-29FD-55679B3E5BA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59B488-EBE7-4249-E492-60486C906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45439" y="1390254"/>
            <a:ext cx="8472117" cy="47655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882774D-4E1C-DAB6-0335-8D40E09BBD1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AA2265-51F0-27F3-BB79-D4CFB818BDD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9363F4C3-D089-5724-B3D9-349343B259F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0782AE-74D3-0F0B-3667-FBE7C228BE64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64E6C-B55D-DF40-A88D-C505A065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E1E5-76CD-C1BE-3624-1818D0A4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AAEB506-DFD5-ADA6-C407-25C436AF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32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3410683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127E-D68A-C4C9-C086-9738F9D5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3FFEE79-B6D9-7DF1-77AC-A2F39E7FB47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3E4F10-BA31-FD17-A59D-7CAA4E9049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5C8C20-B7ED-6551-4D0E-60F6CE1EF6A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  <a:solidFill>
            <a:srgbClr val="4A66AC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17269F-89D7-F4AD-528B-4C77B6A952C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  <a:grpFill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D4433DFC-2955-CE03-9169-35729454E67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4D36202-B3E5-243C-14C2-48434A7DE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9282" r="1566" b="8689"/>
          <a:stretch>
            <a:fillRect/>
          </a:stretch>
        </p:blipFill>
        <p:spPr>
          <a:xfrm rot="16200000">
            <a:off x="2548484" y="118160"/>
            <a:ext cx="4047032" cy="65912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A7F794-6E33-A78A-72E0-E23624390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4914" t="11121" r="5635" b="30934"/>
          <a:stretch>
            <a:fillRect/>
          </a:stretch>
        </p:blipFill>
        <p:spPr>
          <a:xfrm>
            <a:off x="5973557" y="4628840"/>
            <a:ext cx="2844000" cy="15569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2B486F-873B-1C92-486F-11C7767869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10" t="15900" r="12423" b="27097"/>
          <a:stretch>
            <a:fillRect/>
          </a:stretch>
        </p:blipFill>
        <p:spPr>
          <a:xfrm>
            <a:off x="514606" y="4628840"/>
            <a:ext cx="2880000" cy="1533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EF5D67B-65B9-DD8F-74B1-81A310AE71D3}"/>
              </a:ext>
            </a:extLst>
          </p:cNvPr>
          <p:cNvSpPr/>
          <p:nvPr/>
        </p:nvSpPr>
        <p:spPr>
          <a:xfrm>
            <a:off x="1379095" y="1466054"/>
            <a:ext cx="1499017" cy="134545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D180F4-F1E8-39AD-1FE1-134753F82E8C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3DF99-7669-2863-A6C8-AC7C73BA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C8A0D-90FE-540A-ED6A-722FEACD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TIPE 39662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61E94F5-3095-0797-0C4B-2D974D15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477F8A04-938D-4CBF-A3DC-6CB925B6FC34}" type="slidenum">
              <a:rPr lang="fr-FR" sz="1400" b="1" smtClean="0"/>
              <a:t>33</a:t>
            </a:fld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0296420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2535</Words>
  <Application>Microsoft Office PowerPoint</Application>
  <PresentationFormat>On-screen Show (4:3)</PresentationFormat>
  <Paragraphs>672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Arial Black</vt:lpstr>
      <vt:lpstr>Calibri</vt:lpstr>
      <vt:lpstr>Cambria Math</vt:lpstr>
      <vt:lpstr>Wingdings</vt:lpstr>
      <vt:lpstr>Retrospect</vt:lpstr>
      <vt:lpstr>Guitare électrique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833</cp:revision>
  <dcterms:created xsi:type="dcterms:W3CDTF">2025-06-09T15:35:56Z</dcterms:created>
  <dcterms:modified xsi:type="dcterms:W3CDTF">2026-05-16T20:47:32Z</dcterms:modified>
</cp:coreProperties>
</file>