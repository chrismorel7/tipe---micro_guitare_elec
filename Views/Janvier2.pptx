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42"/>
  </p:notesMasterIdLst>
  <p:sldIdLst>
    <p:sldId id="256" r:id="rId2"/>
    <p:sldId id="340" r:id="rId3"/>
    <p:sldId id="338" r:id="rId4"/>
    <p:sldId id="380" r:id="rId5"/>
    <p:sldId id="335" r:id="rId6"/>
    <p:sldId id="337" r:id="rId7"/>
    <p:sldId id="336" r:id="rId8"/>
    <p:sldId id="265" r:id="rId9"/>
    <p:sldId id="374" r:id="rId10"/>
    <p:sldId id="363" r:id="rId11"/>
    <p:sldId id="356" r:id="rId12"/>
    <p:sldId id="345" r:id="rId13"/>
    <p:sldId id="346" r:id="rId14"/>
    <p:sldId id="360" r:id="rId15"/>
    <p:sldId id="362" r:id="rId16"/>
    <p:sldId id="375" r:id="rId17"/>
    <p:sldId id="329" r:id="rId18"/>
    <p:sldId id="327" r:id="rId19"/>
    <p:sldId id="376" r:id="rId20"/>
    <p:sldId id="333" r:id="rId21"/>
    <p:sldId id="361" r:id="rId22"/>
    <p:sldId id="324" r:id="rId23"/>
    <p:sldId id="313" r:id="rId24"/>
    <p:sldId id="377" r:id="rId25"/>
    <p:sldId id="378" r:id="rId26"/>
    <p:sldId id="379" r:id="rId27"/>
    <p:sldId id="330" r:id="rId28"/>
    <p:sldId id="303" r:id="rId29"/>
    <p:sldId id="271" r:id="rId30"/>
    <p:sldId id="302" r:id="rId31"/>
    <p:sldId id="348" r:id="rId32"/>
    <p:sldId id="277" r:id="rId33"/>
    <p:sldId id="304" r:id="rId34"/>
    <p:sldId id="305" r:id="rId35"/>
    <p:sldId id="311" r:id="rId36"/>
    <p:sldId id="365" r:id="rId37"/>
    <p:sldId id="370" r:id="rId38"/>
    <p:sldId id="368" r:id="rId39"/>
    <p:sldId id="372" r:id="rId40"/>
    <p:sldId id="373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095"/>
    <a:srgbClr val="38903A"/>
    <a:srgbClr val="559AD7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5975" autoAdjust="0"/>
  </p:normalViewPr>
  <p:slideViewPr>
    <p:cSldViewPr snapToGrid="0">
      <p:cViewPr varScale="1">
        <p:scale>
          <a:sx n="102" d="100"/>
          <a:sy n="102" d="100"/>
        </p:scale>
        <p:origin x="10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8B8181-43EA-4C6C-8C7F-7942035F0720}" type="doc">
      <dgm:prSet loTypeId="urn:microsoft.com/office/officeart/2005/8/layout/lProcess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91212D5D-B364-44BA-9771-63E526DCA0A1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50M</a:t>
          </a:r>
          <a:endParaRPr lang="fr-FR" sz="5400" dirty="0">
            <a:latin typeface="Arial Black" panose="020B0A04020102020204" pitchFamily="34" charset="0"/>
          </a:endParaRPr>
        </a:p>
      </dgm:t>
    </dgm:pt>
    <dgm:pt modelId="{FC78DAE6-83E5-4BC1-AC49-428A15180E75}" type="parTrans" cxnId="{0485C7B9-46CA-4C0E-96B3-8FFF5F37DD6A}">
      <dgm:prSet/>
      <dgm:spPr/>
      <dgm:t>
        <a:bodyPr/>
        <a:lstStyle/>
        <a:p>
          <a:endParaRPr lang="fr-FR"/>
        </a:p>
      </dgm:t>
    </dgm:pt>
    <dgm:pt modelId="{D781E287-DBE3-4186-9876-37AE3B390319}" type="sibTrans" cxnId="{0485C7B9-46CA-4C0E-96B3-8FFF5F37DD6A}">
      <dgm:prSet/>
      <dgm:spPr/>
      <dgm:t>
        <a:bodyPr/>
        <a:lstStyle/>
        <a:p>
          <a:endParaRPr lang="fr-FR"/>
        </a:p>
      </dgm:t>
    </dgm:pt>
    <dgm:pt modelId="{E5137407-CC18-4373-B384-F7A66AF869B6}">
      <dgm:prSet phldrT="[Text]" phldr="0" custT="1"/>
      <dgm:spPr/>
      <dgm:t>
        <a:bodyPr/>
        <a:lstStyle/>
        <a:p>
          <a:r>
            <a:rPr lang="fr-FR" sz="1800" dirty="0"/>
            <a:t>Nombre de guitare estimé dans le monde</a:t>
          </a:r>
        </a:p>
      </dgm:t>
    </dgm:pt>
    <dgm:pt modelId="{F5863376-7605-42DC-B58D-060041DC79FF}" type="parTrans" cxnId="{AD0029D9-5E4E-4AD7-A0EC-A4368455A356}">
      <dgm:prSet/>
      <dgm:spPr/>
      <dgm:t>
        <a:bodyPr/>
        <a:lstStyle/>
        <a:p>
          <a:endParaRPr lang="fr-FR"/>
        </a:p>
      </dgm:t>
    </dgm:pt>
    <dgm:pt modelId="{504827BD-EDE8-4FEA-B41A-5C51374DAF4F}" type="sibTrans" cxnId="{AD0029D9-5E4E-4AD7-A0EC-A4368455A356}">
      <dgm:prSet/>
      <dgm:spPr/>
      <dgm:t>
        <a:bodyPr/>
        <a:lstStyle/>
        <a:p>
          <a:endParaRPr lang="fr-FR"/>
        </a:p>
      </dgm:t>
    </dgm:pt>
    <dgm:pt modelId="{AB389A4B-81CD-47F4-AC53-77C6CCDA77CA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10,3B</a:t>
          </a:r>
        </a:p>
      </dgm:t>
    </dgm:pt>
    <dgm:pt modelId="{1957A227-B175-4033-8F1D-F1C3A49DEBE5}" type="parTrans" cxnId="{C1AEFF4B-406F-4617-A89D-BA61E379F596}">
      <dgm:prSet/>
      <dgm:spPr/>
      <dgm:t>
        <a:bodyPr/>
        <a:lstStyle/>
        <a:p>
          <a:endParaRPr lang="fr-FR"/>
        </a:p>
      </dgm:t>
    </dgm:pt>
    <dgm:pt modelId="{BFD4BD52-26B4-4D78-A8D4-0D5AE83B8561}" type="sibTrans" cxnId="{C1AEFF4B-406F-4617-A89D-BA61E379F596}">
      <dgm:prSet/>
      <dgm:spPr/>
      <dgm:t>
        <a:bodyPr/>
        <a:lstStyle/>
        <a:p>
          <a:endParaRPr lang="fr-FR"/>
        </a:p>
      </dgm:t>
    </dgm:pt>
    <dgm:pt modelId="{5DFF8D2C-FF16-4189-959A-DA8AF237818F}">
      <dgm:prSet phldrT="[Text]" phldr="0" custT="1"/>
      <dgm:spPr/>
      <dgm:t>
        <a:bodyPr/>
        <a:lstStyle/>
        <a:p>
          <a:r>
            <a:rPr lang="fr-FR" sz="1800" dirty="0"/>
            <a:t>Valeur du marché de la guitare en 2024</a:t>
          </a:r>
        </a:p>
      </dgm:t>
    </dgm:pt>
    <dgm:pt modelId="{E4367BA8-3CA9-4C87-B29D-AC36939C7927}" type="parTrans" cxnId="{5523898E-814B-4613-82CF-8AC3888E263E}">
      <dgm:prSet/>
      <dgm:spPr/>
      <dgm:t>
        <a:bodyPr/>
        <a:lstStyle/>
        <a:p>
          <a:endParaRPr lang="fr-FR"/>
        </a:p>
      </dgm:t>
    </dgm:pt>
    <dgm:pt modelId="{B5808FB2-8ED5-48B7-94C9-85E33B53CEFA}" type="sibTrans" cxnId="{5523898E-814B-4613-82CF-8AC3888E263E}">
      <dgm:prSet/>
      <dgm:spPr/>
      <dgm:t>
        <a:bodyPr/>
        <a:lstStyle/>
        <a:p>
          <a:endParaRPr lang="fr-FR"/>
        </a:p>
      </dgm:t>
    </dgm:pt>
    <dgm:pt modelId="{D947A9E2-2E97-41F2-A0A4-BF4BF3FB2559}">
      <dgm:prSet phldrT="[Text]" phldr="0" custT="1"/>
      <dgm:spPr/>
      <dgm:t>
        <a:bodyPr/>
        <a:lstStyle/>
        <a:p>
          <a:r>
            <a:rPr lang="fr-FR" sz="4800" dirty="0">
              <a:latin typeface="Arial Black" panose="020B0A04020102020204" pitchFamily="34" charset="0"/>
            </a:rPr>
            <a:t>48%</a:t>
          </a:r>
        </a:p>
      </dgm:t>
    </dgm:pt>
    <dgm:pt modelId="{F31CB54F-5BC7-406C-A91B-50C08608D24C}" type="parTrans" cxnId="{8FE87FC7-AC18-4165-B440-4AA7AC67A8D9}">
      <dgm:prSet/>
      <dgm:spPr/>
      <dgm:t>
        <a:bodyPr/>
        <a:lstStyle/>
        <a:p>
          <a:endParaRPr lang="fr-FR"/>
        </a:p>
      </dgm:t>
    </dgm:pt>
    <dgm:pt modelId="{45F2920D-B956-4AA8-9189-A759A3BF2F00}" type="sibTrans" cxnId="{8FE87FC7-AC18-4165-B440-4AA7AC67A8D9}">
      <dgm:prSet/>
      <dgm:spPr/>
      <dgm:t>
        <a:bodyPr/>
        <a:lstStyle/>
        <a:p>
          <a:endParaRPr lang="fr-FR"/>
        </a:p>
      </dgm:t>
    </dgm:pt>
    <dgm:pt modelId="{1D647303-1950-49A3-B3E3-511B5EAB22C1}">
      <dgm:prSet phldrT="[Text]" custT="1"/>
      <dgm:spPr/>
      <dgm:t>
        <a:bodyPr/>
        <a:lstStyle/>
        <a:p>
          <a:r>
            <a:rPr lang="fr-FR" sz="1800" dirty="0"/>
            <a:t>Part de marché des guitares électriques </a:t>
          </a:r>
        </a:p>
      </dgm:t>
    </dgm:pt>
    <dgm:pt modelId="{D66D6EFC-F33F-49A7-81CA-B602591CF869}" type="parTrans" cxnId="{201120F7-9B21-4830-87D4-34EE8C2CC62D}">
      <dgm:prSet/>
      <dgm:spPr/>
      <dgm:t>
        <a:bodyPr/>
        <a:lstStyle/>
        <a:p>
          <a:endParaRPr lang="fr-FR"/>
        </a:p>
      </dgm:t>
    </dgm:pt>
    <dgm:pt modelId="{85CCCEDD-0FA1-4E6A-8302-32155D37CF8E}" type="sibTrans" cxnId="{201120F7-9B21-4830-87D4-34EE8C2CC62D}">
      <dgm:prSet/>
      <dgm:spPr/>
      <dgm:t>
        <a:bodyPr/>
        <a:lstStyle/>
        <a:p>
          <a:endParaRPr lang="fr-FR"/>
        </a:p>
      </dgm:t>
    </dgm:pt>
    <dgm:pt modelId="{B8929512-66CE-4E69-82E8-652F86CC7F13}" type="pres">
      <dgm:prSet presAssocID="{E38B8181-43EA-4C6C-8C7F-7942035F0720}" presName="theList" presStyleCnt="0">
        <dgm:presLayoutVars>
          <dgm:dir/>
          <dgm:animLvl val="lvl"/>
          <dgm:resizeHandles val="exact"/>
        </dgm:presLayoutVars>
      </dgm:prSet>
      <dgm:spPr/>
    </dgm:pt>
    <dgm:pt modelId="{8AD1CDE0-660F-41C6-A232-AB49A944F4B1}" type="pres">
      <dgm:prSet presAssocID="{91212D5D-B364-44BA-9771-63E526DCA0A1}" presName="compNode" presStyleCnt="0"/>
      <dgm:spPr/>
    </dgm:pt>
    <dgm:pt modelId="{A122FDB8-4E52-4F24-924C-55B39B5EEF83}" type="pres">
      <dgm:prSet presAssocID="{91212D5D-B364-44BA-9771-63E526DCA0A1}" presName="aNode" presStyleLbl="bgShp" presStyleIdx="0" presStyleCnt="3"/>
      <dgm:spPr/>
    </dgm:pt>
    <dgm:pt modelId="{EE092F6B-38EB-47CC-973C-37F9D2288AA3}" type="pres">
      <dgm:prSet presAssocID="{91212D5D-B364-44BA-9771-63E526DCA0A1}" presName="textNode" presStyleLbl="bgShp" presStyleIdx="0" presStyleCnt="3"/>
      <dgm:spPr/>
    </dgm:pt>
    <dgm:pt modelId="{0448C864-2F82-4625-BA73-B4FC84AC036D}" type="pres">
      <dgm:prSet presAssocID="{91212D5D-B364-44BA-9771-63E526DCA0A1}" presName="compChildNode" presStyleCnt="0"/>
      <dgm:spPr/>
    </dgm:pt>
    <dgm:pt modelId="{28883B9D-21D9-4368-977E-4B0BD2C2A37C}" type="pres">
      <dgm:prSet presAssocID="{91212D5D-B364-44BA-9771-63E526DCA0A1}" presName="theInnerList" presStyleCnt="0"/>
      <dgm:spPr/>
    </dgm:pt>
    <dgm:pt modelId="{332FF867-5FFB-469C-995E-0CBE678B8048}" type="pres">
      <dgm:prSet presAssocID="{E5137407-CC18-4373-B384-F7A66AF869B6}" presName="childNode" presStyleLbl="node1" presStyleIdx="0" presStyleCnt="3" custScaleY="70691">
        <dgm:presLayoutVars>
          <dgm:bulletEnabled val="1"/>
        </dgm:presLayoutVars>
      </dgm:prSet>
      <dgm:spPr/>
    </dgm:pt>
    <dgm:pt modelId="{A9B3C3CC-83A5-44FD-8337-23960E5C80F6}" type="pres">
      <dgm:prSet presAssocID="{91212D5D-B364-44BA-9771-63E526DCA0A1}" presName="aSpace" presStyleCnt="0"/>
      <dgm:spPr/>
    </dgm:pt>
    <dgm:pt modelId="{51288686-012E-497C-AA23-CFA1CCA57442}" type="pres">
      <dgm:prSet presAssocID="{AB389A4B-81CD-47F4-AC53-77C6CCDA77CA}" presName="compNode" presStyleCnt="0"/>
      <dgm:spPr/>
    </dgm:pt>
    <dgm:pt modelId="{D876CD57-D8B0-4B1D-8A27-4B504FE0CFD4}" type="pres">
      <dgm:prSet presAssocID="{AB389A4B-81CD-47F4-AC53-77C6CCDA77CA}" presName="aNode" presStyleLbl="bgShp" presStyleIdx="1" presStyleCnt="3"/>
      <dgm:spPr/>
    </dgm:pt>
    <dgm:pt modelId="{753AE736-51A9-4ACF-85CA-A535BD91B08A}" type="pres">
      <dgm:prSet presAssocID="{AB389A4B-81CD-47F4-AC53-77C6CCDA77CA}" presName="textNode" presStyleLbl="bgShp" presStyleIdx="1" presStyleCnt="3"/>
      <dgm:spPr/>
    </dgm:pt>
    <dgm:pt modelId="{2037BDEE-75EB-46C8-AD3A-65B225526994}" type="pres">
      <dgm:prSet presAssocID="{AB389A4B-81CD-47F4-AC53-77C6CCDA77CA}" presName="compChildNode" presStyleCnt="0"/>
      <dgm:spPr/>
    </dgm:pt>
    <dgm:pt modelId="{051F6D2A-97B8-4664-A450-ADDEC308F567}" type="pres">
      <dgm:prSet presAssocID="{AB389A4B-81CD-47F4-AC53-77C6CCDA77CA}" presName="theInnerList" presStyleCnt="0"/>
      <dgm:spPr/>
    </dgm:pt>
    <dgm:pt modelId="{212315B0-941C-424E-9FB8-A723AE83E221}" type="pres">
      <dgm:prSet presAssocID="{5DFF8D2C-FF16-4189-959A-DA8AF237818F}" presName="childNode" presStyleLbl="node1" presStyleIdx="1" presStyleCnt="3" custScaleY="70691">
        <dgm:presLayoutVars>
          <dgm:bulletEnabled val="1"/>
        </dgm:presLayoutVars>
      </dgm:prSet>
      <dgm:spPr/>
    </dgm:pt>
    <dgm:pt modelId="{A06D310C-D4D5-42FB-BF30-8EB821EF41B8}" type="pres">
      <dgm:prSet presAssocID="{AB389A4B-81CD-47F4-AC53-77C6CCDA77CA}" presName="aSpace" presStyleCnt="0"/>
      <dgm:spPr/>
    </dgm:pt>
    <dgm:pt modelId="{72FABE35-4F33-4B5B-B72B-CE129740AEE7}" type="pres">
      <dgm:prSet presAssocID="{D947A9E2-2E97-41F2-A0A4-BF4BF3FB2559}" presName="compNode" presStyleCnt="0"/>
      <dgm:spPr/>
    </dgm:pt>
    <dgm:pt modelId="{3D118472-EB36-44B0-9CAB-89E96EDD8635}" type="pres">
      <dgm:prSet presAssocID="{D947A9E2-2E97-41F2-A0A4-BF4BF3FB2559}" presName="aNode" presStyleLbl="bgShp" presStyleIdx="2" presStyleCnt="3"/>
      <dgm:spPr/>
    </dgm:pt>
    <dgm:pt modelId="{D4961126-1C1B-4F88-A93F-D46D2428CFA2}" type="pres">
      <dgm:prSet presAssocID="{D947A9E2-2E97-41F2-A0A4-BF4BF3FB2559}" presName="textNode" presStyleLbl="bgShp" presStyleIdx="2" presStyleCnt="3"/>
      <dgm:spPr/>
    </dgm:pt>
    <dgm:pt modelId="{5B693B72-B78F-4290-A233-520D95F4748A}" type="pres">
      <dgm:prSet presAssocID="{D947A9E2-2E97-41F2-A0A4-BF4BF3FB2559}" presName="compChildNode" presStyleCnt="0"/>
      <dgm:spPr/>
    </dgm:pt>
    <dgm:pt modelId="{3DB0FDFE-0615-4995-85DF-314DBB0DEE15}" type="pres">
      <dgm:prSet presAssocID="{D947A9E2-2E97-41F2-A0A4-BF4BF3FB2559}" presName="theInnerList" presStyleCnt="0"/>
      <dgm:spPr/>
    </dgm:pt>
    <dgm:pt modelId="{522A87F0-0F3E-418E-844F-50D37BC18AE4}" type="pres">
      <dgm:prSet presAssocID="{1D647303-1950-49A3-B3E3-511B5EAB22C1}" presName="childNode" presStyleLbl="node1" presStyleIdx="2" presStyleCnt="3" custScaleY="70691">
        <dgm:presLayoutVars>
          <dgm:bulletEnabled val="1"/>
        </dgm:presLayoutVars>
      </dgm:prSet>
      <dgm:spPr/>
    </dgm:pt>
  </dgm:ptLst>
  <dgm:cxnLst>
    <dgm:cxn modelId="{94D40702-587D-4465-BCBA-552514180BBE}" type="presOf" srcId="{E38B8181-43EA-4C6C-8C7F-7942035F0720}" destId="{B8929512-66CE-4E69-82E8-652F86CC7F13}" srcOrd="0" destOrd="0" presId="urn:microsoft.com/office/officeart/2005/8/layout/lProcess2"/>
    <dgm:cxn modelId="{8F245E04-8DF9-4548-92D1-3655024527CF}" type="presOf" srcId="{D947A9E2-2E97-41F2-A0A4-BF4BF3FB2559}" destId="{D4961126-1C1B-4F88-A93F-D46D2428CFA2}" srcOrd="1" destOrd="0" presId="urn:microsoft.com/office/officeart/2005/8/layout/lProcess2"/>
    <dgm:cxn modelId="{7A5F6A19-7DAC-460E-BBA6-B384A077D6FF}" type="presOf" srcId="{1D647303-1950-49A3-B3E3-511B5EAB22C1}" destId="{522A87F0-0F3E-418E-844F-50D37BC18AE4}" srcOrd="0" destOrd="0" presId="urn:microsoft.com/office/officeart/2005/8/layout/lProcess2"/>
    <dgm:cxn modelId="{299ABB28-1B39-4096-812E-C6AA0CDDD8DA}" type="presOf" srcId="{AB389A4B-81CD-47F4-AC53-77C6CCDA77CA}" destId="{D876CD57-D8B0-4B1D-8A27-4B504FE0CFD4}" srcOrd="0" destOrd="0" presId="urn:microsoft.com/office/officeart/2005/8/layout/lProcess2"/>
    <dgm:cxn modelId="{C1AEFF4B-406F-4617-A89D-BA61E379F596}" srcId="{E38B8181-43EA-4C6C-8C7F-7942035F0720}" destId="{AB389A4B-81CD-47F4-AC53-77C6CCDA77CA}" srcOrd="1" destOrd="0" parTransId="{1957A227-B175-4033-8F1D-F1C3A49DEBE5}" sibTransId="{BFD4BD52-26B4-4D78-A8D4-0D5AE83B8561}"/>
    <dgm:cxn modelId="{A32FD154-FA1F-42EC-A904-99D643BC5003}" type="presOf" srcId="{E5137407-CC18-4373-B384-F7A66AF869B6}" destId="{332FF867-5FFB-469C-995E-0CBE678B8048}" srcOrd="0" destOrd="0" presId="urn:microsoft.com/office/officeart/2005/8/layout/lProcess2"/>
    <dgm:cxn modelId="{5191207E-417E-46C7-B34A-8DDB7C623194}" type="presOf" srcId="{5DFF8D2C-FF16-4189-959A-DA8AF237818F}" destId="{212315B0-941C-424E-9FB8-A723AE83E221}" srcOrd="0" destOrd="0" presId="urn:microsoft.com/office/officeart/2005/8/layout/lProcess2"/>
    <dgm:cxn modelId="{46AA8580-CB6C-47DD-A72E-6CB4DBC796AE}" type="presOf" srcId="{D947A9E2-2E97-41F2-A0A4-BF4BF3FB2559}" destId="{3D118472-EB36-44B0-9CAB-89E96EDD8635}" srcOrd="0" destOrd="0" presId="urn:microsoft.com/office/officeart/2005/8/layout/lProcess2"/>
    <dgm:cxn modelId="{5523898E-814B-4613-82CF-8AC3888E263E}" srcId="{AB389A4B-81CD-47F4-AC53-77C6CCDA77CA}" destId="{5DFF8D2C-FF16-4189-959A-DA8AF237818F}" srcOrd="0" destOrd="0" parTransId="{E4367BA8-3CA9-4C87-B29D-AC36939C7927}" sibTransId="{B5808FB2-8ED5-48B7-94C9-85E33B53CEFA}"/>
    <dgm:cxn modelId="{A75A9195-F7D7-468F-9696-A77A26B18F76}" type="presOf" srcId="{AB389A4B-81CD-47F4-AC53-77C6CCDA77CA}" destId="{753AE736-51A9-4ACF-85CA-A535BD91B08A}" srcOrd="1" destOrd="0" presId="urn:microsoft.com/office/officeart/2005/8/layout/lProcess2"/>
    <dgm:cxn modelId="{209C9C9E-C3F8-4D27-8697-A6FB0C80B67F}" type="presOf" srcId="{91212D5D-B364-44BA-9771-63E526DCA0A1}" destId="{EE092F6B-38EB-47CC-973C-37F9D2288AA3}" srcOrd="1" destOrd="0" presId="urn:microsoft.com/office/officeart/2005/8/layout/lProcess2"/>
    <dgm:cxn modelId="{1D029AA6-958D-47DB-9F92-AA3342059FCC}" type="presOf" srcId="{91212D5D-B364-44BA-9771-63E526DCA0A1}" destId="{A122FDB8-4E52-4F24-924C-55B39B5EEF83}" srcOrd="0" destOrd="0" presId="urn:microsoft.com/office/officeart/2005/8/layout/lProcess2"/>
    <dgm:cxn modelId="{0485C7B9-46CA-4C0E-96B3-8FFF5F37DD6A}" srcId="{E38B8181-43EA-4C6C-8C7F-7942035F0720}" destId="{91212D5D-B364-44BA-9771-63E526DCA0A1}" srcOrd="0" destOrd="0" parTransId="{FC78DAE6-83E5-4BC1-AC49-428A15180E75}" sibTransId="{D781E287-DBE3-4186-9876-37AE3B390319}"/>
    <dgm:cxn modelId="{8FE87FC7-AC18-4165-B440-4AA7AC67A8D9}" srcId="{E38B8181-43EA-4C6C-8C7F-7942035F0720}" destId="{D947A9E2-2E97-41F2-A0A4-BF4BF3FB2559}" srcOrd="2" destOrd="0" parTransId="{F31CB54F-5BC7-406C-A91B-50C08608D24C}" sibTransId="{45F2920D-B956-4AA8-9189-A759A3BF2F00}"/>
    <dgm:cxn modelId="{AD0029D9-5E4E-4AD7-A0EC-A4368455A356}" srcId="{91212D5D-B364-44BA-9771-63E526DCA0A1}" destId="{E5137407-CC18-4373-B384-F7A66AF869B6}" srcOrd="0" destOrd="0" parTransId="{F5863376-7605-42DC-B58D-060041DC79FF}" sibTransId="{504827BD-EDE8-4FEA-B41A-5C51374DAF4F}"/>
    <dgm:cxn modelId="{201120F7-9B21-4830-87D4-34EE8C2CC62D}" srcId="{D947A9E2-2E97-41F2-A0A4-BF4BF3FB2559}" destId="{1D647303-1950-49A3-B3E3-511B5EAB22C1}" srcOrd="0" destOrd="0" parTransId="{D66D6EFC-F33F-49A7-81CA-B602591CF869}" sibTransId="{85CCCEDD-0FA1-4E6A-8302-32155D37CF8E}"/>
    <dgm:cxn modelId="{08E6926F-999E-4517-BB1A-F96A0310265E}" type="presParOf" srcId="{B8929512-66CE-4E69-82E8-652F86CC7F13}" destId="{8AD1CDE0-660F-41C6-A232-AB49A944F4B1}" srcOrd="0" destOrd="0" presId="urn:microsoft.com/office/officeart/2005/8/layout/lProcess2"/>
    <dgm:cxn modelId="{CE9A049D-E141-4083-9323-2C683065397A}" type="presParOf" srcId="{8AD1CDE0-660F-41C6-A232-AB49A944F4B1}" destId="{A122FDB8-4E52-4F24-924C-55B39B5EEF83}" srcOrd="0" destOrd="0" presId="urn:microsoft.com/office/officeart/2005/8/layout/lProcess2"/>
    <dgm:cxn modelId="{C0BB5914-70D5-4110-8C04-9D450E2EDFE8}" type="presParOf" srcId="{8AD1CDE0-660F-41C6-A232-AB49A944F4B1}" destId="{EE092F6B-38EB-47CC-973C-37F9D2288AA3}" srcOrd="1" destOrd="0" presId="urn:microsoft.com/office/officeart/2005/8/layout/lProcess2"/>
    <dgm:cxn modelId="{05DBDA82-E4F4-4AB8-A1EB-7EC172ABBE02}" type="presParOf" srcId="{8AD1CDE0-660F-41C6-A232-AB49A944F4B1}" destId="{0448C864-2F82-4625-BA73-B4FC84AC036D}" srcOrd="2" destOrd="0" presId="urn:microsoft.com/office/officeart/2005/8/layout/lProcess2"/>
    <dgm:cxn modelId="{28C03247-E7BF-4132-B9B5-AA28D4CE75CE}" type="presParOf" srcId="{0448C864-2F82-4625-BA73-B4FC84AC036D}" destId="{28883B9D-21D9-4368-977E-4B0BD2C2A37C}" srcOrd="0" destOrd="0" presId="urn:microsoft.com/office/officeart/2005/8/layout/lProcess2"/>
    <dgm:cxn modelId="{4C34A2E8-D3DD-48CD-96F1-BD14E8265A75}" type="presParOf" srcId="{28883B9D-21D9-4368-977E-4B0BD2C2A37C}" destId="{332FF867-5FFB-469C-995E-0CBE678B8048}" srcOrd="0" destOrd="0" presId="urn:microsoft.com/office/officeart/2005/8/layout/lProcess2"/>
    <dgm:cxn modelId="{250EF62A-AEFF-40E0-A39A-E8780120EB6A}" type="presParOf" srcId="{B8929512-66CE-4E69-82E8-652F86CC7F13}" destId="{A9B3C3CC-83A5-44FD-8337-23960E5C80F6}" srcOrd="1" destOrd="0" presId="urn:microsoft.com/office/officeart/2005/8/layout/lProcess2"/>
    <dgm:cxn modelId="{6C4A4D70-C1C2-4D21-8A99-B71DCD27BB33}" type="presParOf" srcId="{B8929512-66CE-4E69-82E8-652F86CC7F13}" destId="{51288686-012E-497C-AA23-CFA1CCA57442}" srcOrd="2" destOrd="0" presId="urn:microsoft.com/office/officeart/2005/8/layout/lProcess2"/>
    <dgm:cxn modelId="{E09CE3DD-1A3E-4D7A-8D02-75EDE870DD29}" type="presParOf" srcId="{51288686-012E-497C-AA23-CFA1CCA57442}" destId="{D876CD57-D8B0-4B1D-8A27-4B504FE0CFD4}" srcOrd="0" destOrd="0" presId="urn:microsoft.com/office/officeart/2005/8/layout/lProcess2"/>
    <dgm:cxn modelId="{74F7B8D7-D1E3-4561-93EF-FF9712C205DD}" type="presParOf" srcId="{51288686-012E-497C-AA23-CFA1CCA57442}" destId="{753AE736-51A9-4ACF-85CA-A535BD91B08A}" srcOrd="1" destOrd="0" presId="urn:microsoft.com/office/officeart/2005/8/layout/lProcess2"/>
    <dgm:cxn modelId="{56898C8E-CBB4-464E-A05A-A938E6EF7C6F}" type="presParOf" srcId="{51288686-012E-497C-AA23-CFA1CCA57442}" destId="{2037BDEE-75EB-46C8-AD3A-65B225526994}" srcOrd="2" destOrd="0" presId="urn:microsoft.com/office/officeart/2005/8/layout/lProcess2"/>
    <dgm:cxn modelId="{7474C88F-B077-4E52-9389-DB71FE1EE583}" type="presParOf" srcId="{2037BDEE-75EB-46C8-AD3A-65B225526994}" destId="{051F6D2A-97B8-4664-A450-ADDEC308F567}" srcOrd="0" destOrd="0" presId="urn:microsoft.com/office/officeart/2005/8/layout/lProcess2"/>
    <dgm:cxn modelId="{D51C9842-0333-42F3-B1B8-70BB34EF5298}" type="presParOf" srcId="{051F6D2A-97B8-4664-A450-ADDEC308F567}" destId="{212315B0-941C-424E-9FB8-A723AE83E221}" srcOrd="0" destOrd="0" presId="urn:microsoft.com/office/officeart/2005/8/layout/lProcess2"/>
    <dgm:cxn modelId="{D41932D7-DB46-4904-88C2-4968B0EE258B}" type="presParOf" srcId="{B8929512-66CE-4E69-82E8-652F86CC7F13}" destId="{A06D310C-D4D5-42FB-BF30-8EB821EF41B8}" srcOrd="3" destOrd="0" presId="urn:microsoft.com/office/officeart/2005/8/layout/lProcess2"/>
    <dgm:cxn modelId="{AC37D594-B731-481B-B6FC-DF8BB7CC3EEF}" type="presParOf" srcId="{B8929512-66CE-4E69-82E8-652F86CC7F13}" destId="{72FABE35-4F33-4B5B-B72B-CE129740AEE7}" srcOrd="4" destOrd="0" presId="urn:microsoft.com/office/officeart/2005/8/layout/lProcess2"/>
    <dgm:cxn modelId="{20205CCD-3134-441A-BEAF-7C5A6E3D5EC9}" type="presParOf" srcId="{72FABE35-4F33-4B5B-B72B-CE129740AEE7}" destId="{3D118472-EB36-44B0-9CAB-89E96EDD8635}" srcOrd="0" destOrd="0" presId="urn:microsoft.com/office/officeart/2005/8/layout/lProcess2"/>
    <dgm:cxn modelId="{BCB07279-88EC-40FB-BCB3-BF071DDA10B8}" type="presParOf" srcId="{72FABE35-4F33-4B5B-B72B-CE129740AEE7}" destId="{D4961126-1C1B-4F88-A93F-D46D2428CFA2}" srcOrd="1" destOrd="0" presId="urn:microsoft.com/office/officeart/2005/8/layout/lProcess2"/>
    <dgm:cxn modelId="{134B4711-562A-4E32-92F8-7638FD2C4840}" type="presParOf" srcId="{72FABE35-4F33-4B5B-B72B-CE129740AEE7}" destId="{5B693B72-B78F-4290-A233-520D95F4748A}" srcOrd="2" destOrd="0" presId="urn:microsoft.com/office/officeart/2005/8/layout/lProcess2"/>
    <dgm:cxn modelId="{5A6E1D6A-410F-44A8-8D1F-830954F79DCD}" type="presParOf" srcId="{5B693B72-B78F-4290-A233-520D95F4748A}" destId="{3DB0FDFE-0615-4995-85DF-314DBB0DEE15}" srcOrd="0" destOrd="0" presId="urn:microsoft.com/office/officeart/2005/8/layout/lProcess2"/>
    <dgm:cxn modelId="{EC0504A7-74B3-4A45-A806-56DC9387496F}" type="presParOf" srcId="{3DB0FDFE-0615-4995-85DF-314DBB0DEE15}" destId="{522A87F0-0F3E-418E-844F-50D37BC18AE4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D1C852-5D74-4F80-A124-F60AD28CB0FD}" type="doc">
      <dgm:prSet loTypeId="urn:microsoft.com/office/officeart/2005/8/layout/hChevron3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B1946031-CC6F-4798-BB24-30EB0DDC5277}">
      <dgm:prSet phldrT="[Text]" phldr="0"/>
      <dgm:spPr/>
      <dgm:t>
        <a:bodyPr/>
        <a:lstStyle/>
        <a:p>
          <a:pPr algn="l"/>
          <a:r>
            <a:rPr lang="fr-FR" dirty="0"/>
            <a:t>Filtrage électrique interne </a:t>
          </a:r>
        </a:p>
      </dgm:t>
    </dgm:pt>
    <dgm:pt modelId="{DF9440CB-AEE4-4B4A-BAD8-C0D9B8C74E86}" type="parTrans" cxnId="{A54F9490-DB61-4C3A-A7B7-F92EB5A17874}">
      <dgm:prSet/>
      <dgm:spPr/>
      <dgm:t>
        <a:bodyPr/>
        <a:lstStyle/>
        <a:p>
          <a:pPr algn="l"/>
          <a:endParaRPr lang="fr-FR"/>
        </a:p>
      </dgm:t>
    </dgm:pt>
    <dgm:pt modelId="{6409785A-3A6B-45D0-AECD-0CF83416FC6F}" type="sibTrans" cxnId="{A54F9490-DB61-4C3A-A7B7-F92EB5A17874}">
      <dgm:prSet/>
      <dgm:spPr/>
      <dgm:t>
        <a:bodyPr/>
        <a:lstStyle/>
        <a:p>
          <a:pPr algn="l"/>
          <a:endParaRPr lang="fr-FR"/>
        </a:p>
      </dgm:t>
    </dgm:pt>
    <dgm:pt modelId="{E1F92468-EED0-446C-8F01-19EC7893BEB7}">
      <dgm:prSet phldrT="[Text]" phldr="0"/>
      <dgm:spPr/>
      <dgm:t>
        <a:bodyPr/>
        <a:lstStyle/>
        <a:p>
          <a:pPr algn="l"/>
          <a:r>
            <a:rPr lang="fr-FR" dirty="0"/>
            <a:t>Induction et </a:t>
          </a:r>
        </a:p>
        <a:p>
          <a:pPr algn="l"/>
          <a:r>
            <a:rPr lang="fr-FR" dirty="0"/>
            <a:t>filtrage spatial</a:t>
          </a:r>
        </a:p>
      </dgm:t>
    </dgm:pt>
    <dgm:pt modelId="{4C193A07-5FE8-45B1-B54F-43ACFEBFA259}" type="parTrans" cxnId="{F47725DE-476A-4FAB-9188-719AD3DBBAB7}">
      <dgm:prSet/>
      <dgm:spPr/>
      <dgm:t>
        <a:bodyPr/>
        <a:lstStyle/>
        <a:p>
          <a:pPr algn="l"/>
          <a:endParaRPr lang="fr-FR"/>
        </a:p>
      </dgm:t>
    </dgm:pt>
    <dgm:pt modelId="{24A5BA3C-A19D-47E5-9693-F13538540662}" type="sibTrans" cxnId="{F47725DE-476A-4FAB-9188-719AD3DBBAB7}">
      <dgm:prSet/>
      <dgm:spPr/>
      <dgm:t>
        <a:bodyPr/>
        <a:lstStyle/>
        <a:p>
          <a:pPr algn="l"/>
          <a:endParaRPr lang="fr-FR"/>
        </a:p>
      </dgm:t>
    </dgm:pt>
    <dgm:pt modelId="{2999190F-4751-4CC0-8C2C-D4D1BD8541A5}">
      <dgm:prSet phldrT="[Text]" phldr="0"/>
      <dgm:spPr/>
      <dgm:t>
        <a:bodyPr/>
        <a:lstStyle/>
        <a:p>
          <a:pPr algn="l"/>
          <a:r>
            <a:rPr lang="fr-FR" dirty="0"/>
            <a:t>Reduction du « Hum »</a:t>
          </a:r>
        </a:p>
      </dgm:t>
    </dgm:pt>
    <dgm:pt modelId="{B937862D-19FD-452C-9AA2-58269B000A85}" type="parTrans" cxnId="{9D335623-9A20-41EC-8986-84118AEFF14B}">
      <dgm:prSet/>
      <dgm:spPr/>
      <dgm:t>
        <a:bodyPr/>
        <a:lstStyle/>
        <a:p>
          <a:pPr algn="l"/>
          <a:endParaRPr lang="fr-FR"/>
        </a:p>
      </dgm:t>
    </dgm:pt>
    <dgm:pt modelId="{E02B0FFD-8631-41F2-A902-D43C76613677}" type="sibTrans" cxnId="{9D335623-9A20-41EC-8986-84118AEFF14B}">
      <dgm:prSet/>
      <dgm:spPr/>
      <dgm:t>
        <a:bodyPr/>
        <a:lstStyle/>
        <a:p>
          <a:pPr algn="l"/>
          <a:endParaRPr lang="fr-FR"/>
        </a:p>
      </dgm:t>
    </dgm:pt>
    <dgm:pt modelId="{3492A474-1DB8-418E-8701-8300C7EB9CDA}" type="pres">
      <dgm:prSet presAssocID="{AFD1C852-5D74-4F80-A124-F60AD28CB0FD}" presName="Name0" presStyleCnt="0">
        <dgm:presLayoutVars>
          <dgm:dir/>
          <dgm:resizeHandles val="exact"/>
        </dgm:presLayoutVars>
      </dgm:prSet>
      <dgm:spPr/>
    </dgm:pt>
    <dgm:pt modelId="{07B121FE-B513-4273-8542-483E825BE23A}" type="pres">
      <dgm:prSet presAssocID="{B1946031-CC6F-4798-BB24-30EB0DDC5277}" presName="parTxOnly" presStyleLbl="node1" presStyleIdx="0" presStyleCnt="3" custScaleX="90834" custScaleY="433715">
        <dgm:presLayoutVars>
          <dgm:bulletEnabled val="1"/>
        </dgm:presLayoutVars>
      </dgm:prSet>
      <dgm:spPr/>
    </dgm:pt>
    <dgm:pt modelId="{DB817F39-88FC-4708-9DF3-C7F5734050DC}" type="pres">
      <dgm:prSet presAssocID="{6409785A-3A6B-45D0-AECD-0CF83416FC6F}" presName="parSpace" presStyleCnt="0"/>
      <dgm:spPr/>
    </dgm:pt>
    <dgm:pt modelId="{1C5D07C3-19A8-4A2B-ADAD-760FB67323AE}" type="pres">
      <dgm:prSet presAssocID="{E1F92468-EED0-446C-8F01-19EC7893BEB7}" presName="parTxOnly" presStyleLbl="node1" presStyleIdx="1" presStyleCnt="3" custScaleX="85590" custScaleY="433715">
        <dgm:presLayoutVars>
          <dgm:bulletEnabled val="1"/>
        </dgm:presLayoutVars>
      </dgm:prSet>
      <dgm:spPr/>
    </dgm:pt>
    <dgm:pt modelId="{095CFF29-6108-477A-98A8-6875BCA81A2B}" type="pres">
      <dgm:prSet presAssocID="{24A5BA3C-A19D-47E5-9693-F13538540662}" presName="parSpace" presStyleCnt="0"/>
      <dgm:spPr/>
    </dgm:pt>
    <dgm:pt modelId="{EDB0DA63-DB1A-4CF7-9C2D-141473F1AEC3}" type="pres">
      <dgm:prSet presAssocID="{2999190F-4751-4CC0-8C2C-D4D1BD8541A5}" presName="parTxOnly" presStyleLbl="node1" presStyleIdx="2" presStyleCnt="3" custScaleX="77451" custScaleY="433715">
        <dgm:presLayoutVars>
          <dgm:bulletEnabled val="1"/>
        </dgm:presLayoutVars>
      </dgm:prSet>
      <dgm:spPr/>
    </dgm:pt>
  </dgm:ptLst>
  <dgm:cxnLst>
    <dgm:cxn modelId="{9D335623-9A20-41EC-8986-84118AEFF14B}" srcId="{AFD1C852-5D74-4F80-A124-F60AD28CB0FD}" destId="{2999190F-4751-4CC0-8C2C-D4D1BD8541A5}" srcOrd="2" destOrd="0" parTransId="{B937862D-19FD-452C-9AA2-58269B000A85}" sibTransId="{E02B0FFD-8631-41F2-A902-D43C76613677}"/>
    <dgm:cxn modelId="{5087FD27-24EB-4362-B69A-7FAAD70FE1F4}" type="presOf" srcId="{2999190F-4751-4CC0-8C2C-D4D1BD8541A5}" destId="{EDB0DA63-DB1A-4CF7-9C2D-141473F1AEC3}" srcOrd="0" destOrd="0" presId="urn:microsoft.com/office/officeart/2005/8/layout/hChevron3"/>
    <dgm:cxn modelId="{F295B632-26E4-4F8E-AE79-C863461F4647}" type="presOf" srcId="{E1F92468-EED0-446C-8F01-19EC7893BEB7}" destId="{1C5D07C3-19A8-4A2B-ADAD-760FB67323AE}" srcOrd="0" destOrd="0" presId="urn:microsoft.com/office/officeart/2005/8/layout/hChevron3"/>
    <dgm:cxn modelId="{0A6C1934-F3BE-4907-9741-F2ECA6A31CF0}" type="presOf" srcId="{AFD1C852-5D74-4F80-A124-F60AD28CB0FD}" destId="{3492A474-1DB8-418E-8701-8300C7EB9CDA}" srcOrd="0" destOrd="0" presId="urn:microsoft.com/office/officeart/2005/8/layout/hChevron3"/>
    <dgm:cxn modelId="{A54F9490-DB61-4C3A-A7B7-F92EB5A17874}" srcId="{AFD1C852-5D74-4F80-A124-F60AD28CB0FD}" destId="{B1946031-CC6F-4798-BB24-30EB0DDC5277}" srcOrd="0" destOrd="0" parTransId="{DF9440CB-AEE4-4B4A-BAD8-C0D9B8C74E86}" sibTransId="{6409785A-3A6B-45D0-AECD-0CF83416FC6F}"/>
    <dgm:cxn modelId="{A28B0F9F-7F70-4B9B-AD8E-DEBE0C3994F7}" type="presOf" srcId="{B1946031-CC6F-4798-BB24-30EB0DDC5277}" destId="{07B121FE-B513-4273-8542-483E825BE23A}" srcOrd="0" destOrd="0" presId="urn:microsoft.com/office/officeart/2005/8/layout/hChevron3"/>
    <dgm:cxn modelId="{F47725DE-476A-4FAB-9188-719AD3DBBAB7}" srcId="{AFD1C852-5D74-4F80-A124-F60AD28CB0FD}" destId="{E1F92468-EED0-446C-8F01-19EC7893BEB7}" srcOrd="1" destOrd="0" parTransId="{4C193A07-5FE8-45B1-B54F-43ACFEBFA259}" sibTransId="{24A5BA3C-A19D-47E5-9693-F13538540662}"/>
    <dgm:cxn modelId="{183DF5FB-2D9F-4A87-A6B3-1671C769EC58}" type="presParOf" srcId="{3492A474-1DB8-418E-8701-8300C7EB9CDA}" destId="{07B121FE-B513-4273-8542-483E825BE23A}" srcOrd="0" destOrd="0" presId="urn:microsoft.com/office/officeart/2005/8/layout/hChevron3"/>
    <dgm:cxn modelId="{DFE9872F-29F9-4634-B09D-A4AB7A045767}" type="presParOf" srcId="{3492A474-1DB8-418E-8701-8300C7EB9CDA}" destId="{DB817F39-88FC-4708-9DF3-C7F5734050DC}" srcOrd="1" destOrd="0" presId="urn:microsoft.com/office/officeart/2005/8/layout/hChevron3"/>
    <dgm:cxn modelId="{BE1A6A62-7316-4FD4-9DD5-327C01F70C73}" type="presParOf" srcId="{3492A474-1DB8-418E-8701-8300C7EB9CDA}" destId="{1C5D07C3-19A8-4A2B-ADAD-760FB67323AE}" srcOrd="2" destOrd="0" presId="urn:microsoft.com/office/officeart/2005/8/layout/hChevron3"/>
    <dgm:cxn modelId="{C7840BB5-EAAD-4336-89F2-604ABDBD43C8}" type="presParOf" srcId="{3492A474-1DB8-418E-8701-8300C7EB9CDA}" destId="{095CFF29-6108-477A-98A8-6875BCA81A2B}" srcOrd="3" destOrd="0" presId="urn:microsoft.com/office/officeart/2005/8/layout/hChevron3"/>
    <dgm:cxn modelId="{AAC58604-1623-4538-B840-D6B80108F5A3}" type="presParOf" srcId="{3492A474-1DB8-418E-8701-8300C7EB9CDA}" destId="{EDB0DA63-DB1A-4CF7-9C2D-141473F1AEC3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2FDB8-4E52-4F24-924C-55B39B5EEF83}">
      <dsp:nvSpPr>
        <dsp:cNvPr id="0" name=""/>
        <dsp:cNvSpPr/>
      </dsp:nvSpPr>
      <dsp:spPr>
        <a:xfrm>
          <a:off x="964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50M</a:t>
          </a:r>
          <a:endParaRPr lang="fr-FR" sz="5400" kern="1200" dirty="0">
            <a:latin typeface="Arial Black" panose="020B0A04020102020204" pitchFamily="34" charset="0"/>
          </a:endParaRPr>
        </a:p>
      </dsp:txBody>
      <dsp:txXfrm>
        <a:off x="964" y="0"/>
        <a:ext cx="2507184" cy="940174"/>
      </dsp:txXfrm>
    </dsp:sp>
    <dsp:sp modelId="{332FF867-5FFB-469C-995E-0CBE678B8048}">
      <dsp:nvSpPr>
        <dsp:cNvPr id="0" name=""/>
        <dsp:cNvSpPr/>
      </dsp:nvSpPr>
      <dsp:spPr>
        <a:xfrm>
          <a:off x="251682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Nombre de guitare estimé dans le monde</a:t>
          </a:r>
        </a:p>
      </dsp:txBody>
      <dsp:txXfrm>
        <a:off x="293858" y="1280868"/>
        <a:ext cx="1921395" cy="1355654"/>
      </dsp:txXfrm>
    </dsp:sp>
    <dsp:sp modelId="{D876CD57-D8B0-4B1D-8A27-4B504FE0CFD4}">
      <dsp:nvSpPr>
        <dsp:cNvPr id="0" name=""/>
        <dsp:cNvSpPr/>
      </dsp:nvSpPr>
      <dsp:spPr>
        <a:xfrm>
          <a:off x="2696188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10,3B</a:t>
          </a:r>
        </a:p>
      </dsp:txBody>
      <dsp:txXfrm>
        <a:off x="2696188" y="0"/>
        <a:ext cx="2507184" cy="940174"/>
      </dsp:txXfrm>
    </dsp:sp>
    <dsp:sp modelId="{212315B0-941C-424E-9FB8-A723AE83E221}">
      <dsp:nvSpPr>
        <dsp:cNvPr id="0" name=""/>
        <dsp:cNvSpPr/>
      </dsp:nvSpPr>
      <dsp:spPr>
        <a:xfrm>
          <a:off x="2946906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Valeur du marché de la guitare en 2024</a:t>
          </a:r>
        </a:p>
      </dsp:txBody>
      <dsp:txXfrm>
        <a:off x="2989082" y="1280868"/>
        <a:ext cx="1921395" cy="1355654"/>
      </dsp:txXfrm>
    </dsp:sp>
    <dsp:sp modelId="{3D118472-EB36-44B0-9CAB-89E96EDD8635}">
      <dsp:nvSpPr>
        <dsp:cNvPr id="0" name=""/>
        <dsp:cNvSpPr/>
      </dsp:nvSpPr>
      <dsp:spPr>
        <a:xfrm>
          <a:off x="5391411" y="0"/>
          <a:ext cx="2507184" cy="3133914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800" kern="1200" dirty="0">
              <a:latin typeface="Arial Black" panose="020B0A04020102020204" pitchFamily="34" charset="0"/>
            </a:rPr>
            <a:t>48%</a:t>
          </a:r>
        </a:p>
      </dsp:txBody>
      <dsp:txXfrm>
        <a:off x="5391411" y="0"/>
        <a:ext cx="2507184" cy="940174"/>
      </dsp:txXfrm>
    </dsp:sp>
    <dsp:sp modelId="{522A87F0-0F3E-418E-844F-50D37BC18AE4}">
      <dsp:nvSpPr>
        <dsp:cNvPr id="0" name=""/>
        <dsp:cNvSpPr/>
      </dsp:nvSpPr>
      <dsp:spPr>
        <a:xfrm>
          <a:off x="5642130" y="1238692"/>
          <a:ext cx="2005747" cy="14400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Part de marché des guitares électriques </a:t>
          </a:r>
        </a:p>
      </dsp:txBody>
      <dsp:txXfrm>
        <a:off x="5684306" y="1280868"/>
        <a:ext cx="1921395" cy="13556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B121FE-B513-4273-8542-483E825BE23A}">
      <dsp:nvSpPr>
        <dsp:cNvPr id="0" name=""/>
        <dsp:cNvSpPr/>
      </dsp:nvSpPr>
      <dsp:spPr>
        <a:xfrm>
          <a:off x="2067" y="0"/>
          <a:ext cx="2955431" cy="472237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Filtrage électrique interne </a:t>
          </a:r>
        </a:p>
      </dsp:txBody>
      <dsp:txXfrm>
        <a:off x="2067" y="0"/>
        <a:ext cx="2837372" cy="472237"/>
      </dsp:txXfrm>
    </dsp:sp>
    <dsp:sp modelId="{1C5D07C3-19A8-4A2B-ADAD-760FB67323AE}">
      <dsp:nvSpPr>
        <dsp:cNvPr id="0" name=""/>
        <dsp:cNvSpPr/>
      </dsp:nvSpPr>
      <dsp:spPr>
        <a:xfrm>
          <a:off x="2306766" y="0"/>
          <a:ext cx="2784809" cy="4722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Induction et 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filtrage spatial</a:t>
          </a:r>
        </a:p>
      </dsp:txBody>
      <dsp:txXfrm>
        <a:off x="2542885" y="0"/>
        <a:ext cx="2312572" cy="472237"/>
      </dsp:txXfrm>
    </dsp:sp>
    <dsp:sp modelId="{EDB0DA63-DB1A-4CF7-9C2D-141473F1AEC3}">
      <dsp:nvSpPr>
        <dsp:cNvPr id="0" name=""/>
        <dsp:cNvSpPr/>
      </dsp:nvSpPr>
      <dsp:spPr>
        <a:xfrm>
          <a:off x="4440842" y="0"/>
          <a:ext cx="2519993" cy="472237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Reduction du « Hum »</a:t>
          </a:r>
        </a:p>
      </dsp:txBody>
      <dsp:txXfrm>
        <a:off x="4676961" y="0"/>
        <a:ext cx="2047756" cy="4722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646E-8D3C-430C-BFA9-96BAF70313EA}" type="datetimeFigureOut">
              <a:rPr lang="fr-FR" smtClean="0"/>
              <a:t>02/02/2026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F9D8-59C4-4910-A7AD-28D3BB517C7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8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54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C9924-4D85-1D24-FD57-C1C57323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7FBF6-954E-174E-9BA2-B4BC50FE7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8284A-A707-148D-40DD-E5BD26968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76E1-6CD1-CD7C-AB4C-E63A4F6CF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1495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76C9-2125-A9B2-8374-6EE28345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BEBB7-C6A9-F035-C798-5E939F3A4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D1DC4-D857-6ABF-3DDC-E4E7A0922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B737E-2622-AA4F-316B-3548DE862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628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5DC8-F1D2-F48F-5144-29C93AD3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3ED31-35E2-A213-E2DC-429767622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960C-93AA-3EA5-8A9A-E9404EC97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C1EA0-8E19-54B2-AF8F-866210607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095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E19CC-8F2E-E730-26C5-50B131335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DB5F9-19A2-8239-EF2B-F99FDE45A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59BC5-E338-8D25-9AFB-D31191AB4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1B000-4390-D34E-E236-7CDF47B3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188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D983-FEDD-129E-66D3-3E9D68D2B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E9B9E-86DF-68E9-BA09-9A7668894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A0FC2-6DA7-96A4-7FDE-ED9484031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A559B-9094-2297-95FA-531E8A0D5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589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FF5D8-B5ED-3A5C-25AA-355EA500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B50A7-9125-FF61-C35A-0BAAB7787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A70C6-EF27-F3BA-F99C-2D1A0396C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F1CD-8CD2-A36F-E4D6-6DC1E0CE9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183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AC5D8-A135-20B1-7E79-33C2CED3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2B1BA-3D63-7D2F-D40B-22E17C293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11BE0-EEB8-F6A5-81A5-5E2E8282A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B016B-0136-4506-8492-5D80EF245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975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5F695-4E49-870A-29E7-C511751B6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64BC5-1BB3-FFE7-EC85-E200E9442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F961D-1039-9AE2-52D5-0A1669232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10549-939F-B010-DB99-3739C13F2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690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2019F-F1BE-DF3B-F82C-86311F35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5589B-1B2F-16CC-DC16-050AEDD56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C7721-ADC3-F0EE-59B5-95C24C297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639B4-DC19-F263-1927-B1E1323D5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712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A336-7D3A-EAE6-9F30-4197D11A6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56105-101D-4ABB-45A9-D39435CAD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C566F-8BBA-5FAB-C7D8-8B782678D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6955B-7625-293A-C6C0-9FA48F69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3525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 : Equation de mouvement de la corde</a:t>
            </a:r>
          </a:p>
          <a:p>
            <a:r>
              <a:rPr lang="fr-FR" dirty="0"/>
              <a:t>2 : Idée Maquette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3561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41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fr-FR"/>
              <a:t>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Christophe Morel - PTSI Lycée F. Buisson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6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5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6.png"/><Relationship Id="rId9" Type="http://schemas.microsoft.com/office/2007/relationships/diagramDrawing" Target="../diagrams/drawin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2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28.png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33.png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15.png"/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19" Type="http://schemas.openxmlformats.org/officeDocument/2006/relationships/image" Target="../media/image16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3.png"/><Relationship Id="rId4" Type="http://schemas.openxmlformats.org/officeDocument/2006/relationships/image" Target="../media/image36.jpeg"/><Relationship Id="rId9" Type="http://schemas.openxmlformats.org/officeDocument/2006/relationships/image" Target="../media/image28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58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microsoft.com/office/2007/relationships/hdphoto" Target="../media/hdphoto5.wdp"/><Relationship Id="rId7" Type="http://schemas.microsoft.com/office/2007/relationships/hdphoto" Target="../media/hdphoto6.wdp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36.jpe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36.jpe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441.png"/><Relationship Id="rId5" Type="http://schemas.openxmlformats.org/officeDocument/2006/relationships/image" Target="../media/image76.png"/><Relationship Id="rId10" Type="http://schemas.openxmlformats.org/officeDocument/2006/relationships/image" Target="../media/image74.png"/><Relationship Id="rId4" Type="http://schemas.openxmlformats.org/officeDocument/2006/relationships/image" Target="../media/image75.png"/><Relationship Id="rId9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36.jpeg"/><Relationship Id="rId7" Type="http://schemas.openxmlformats.org/officeDocument/2006/relationships/image" Target="../media/image22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11" Type="http://schemas.openxmlformats.org/officeDocument/2006/relationships/image" Target="../media/image80.png"/><Relationship Id="rId5" Type="http://schemas.openxmlformats.org/officeDocument/2006/relationships/image" Target="../media/image78.png"/><Relationship Id="rId10" Type="http://schemas.openxmlformats.org/officeDocument/2006/relationships/image" Target="../media/image79.png"/><Relationship Id="rId4" Type="http://schemas.openxmlformats.org/officeDocument/2006/relationships/image" Target="../media/image77.png"/><Relationship Id="rId9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0.png"/><Relationship Id="rId3" Type="http://schemas.openxmlformats.org/officeDocument/2006/relationships/image" Target="../media/image83.png"/><Relationship Id="rId12" Type="http://schemas.openxmlformats.org/officeDocument/2006/relationships/image" Target="../media/image810.png"/><Relationship Id="rId17" Type="http://schemas.openxmlformats.org/officeDocument/2006/relationships/image" Target="../media/image85.png"/><Relationship Id="rId2" Type="http://schemas.openxmlformats.org/officeDocument/2006/relationships/image" Target="../media/image82.png"/><Relationship Id="rId16" Type="http://schemas.openxmlformats.org/officeDocument/2006/relationships/image" Target="../media/image5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00.png"/><Relationship Id="rId5" Type="http://schemas.microsoft.com/office/2007/relationships/hdphoto" Target="../media/hdphoto1.wdp"/><Relationship Id="rId15" Type="http://schemas.openxmlformats.org/officeDocument/2006/relationships/image" Target="../media/image520.png"/><Relationship Id="rId10" Type="http://schemas.openxmlformats.org/officeDocument/2006/relationships/image" Target="../media/image790.png"/><Relationship Id="rId4" Type="http://schemas.openxmlformats.org/officeDocument/2006/relationships/image" Target="../media/image18.png"/><Relationship Id="rId9" Type="http://schemas.openxmlformats.org/officeDocument/2006/relationships/image" Target="../media/image780.png"/><Relationship Id="rId14" Type="http://schemas.openxmlformats.org/officeDocument/2006/relationships/image" Target="../media/image830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jpeg"/><Relationship Id="rId5" Type="http://schemas.openxmlformats.org/officeDocument/2006/relationships/image" Target="../media/image87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svg"/><Relationship Id="rId3" Type="http://schemas.openxmlformats.org/officeDocument/2006/relationships/image" Target="../media/image16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blog/latest-updates/seymour-w-duncans-interview-with-seth-love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980.png"/><Relationship Id="rId7" Type="http://schemas.openxmlformats.org/officeDocument/2006/relationships/image" Target="../media/image30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10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20.png"/><Relationship Id="rId7" Type="http://schemas.openxmlformats.org/officeDocument/2006/relationships/image" Target="../media/image300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10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440.png"/><Relationship Id="rId7" Type="http://schemas.openxmlformats.org/officeDocument/2006/relationships/image" Target="../media/image301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1.png"/><Relationship Id="rId11" Type="http://schemas.openxmlformats.org/officeDocument/2006/relationships/image" Target="../media/image88.jpeg"/><Relationship Id="rId10" Type="http://schemas.openxmlformats.org/officeDocument/2006/relationships/image" Target="../media/image330.png"/><Relationship Id="rId9" Type="http://schemas.openxmlformats.org/officeDocument/2006/relationships/image" Target="../media/image106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0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121F9-7273-1CF4-F60D-E01BEEB3AF96}"/>
              </a:ext>
            </a:extLst>
          </p:cNvPr>
          <p:cNvSpPr/>
          <p:nvPr/>
        </p:nvSpPr>
        <p:spPr>
          <a:xfrm>
            <a:off x="628649" y="262383"/>
            <a:ext cx="7886701" cy="77525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50" dirty="0">
                <a:latin typeface="Arial Black" panose="020B0A04020102020204" pitchFamily="34" charset="0"/>
              </a:rPr>
              <a:t>Guitare électrique : Etude de l’influence du type de bobinage dans le micro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CA91E38-0C9E-C7FB-9A24-FA98AC9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z="1050" b="1" dirty="0"/>
              <a:t>2026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1FCC0EF-4B1B-F41C-656B-2BE699CD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305C624-2E1B-C39E-B3B4-807FF6A6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</a:t>
            </a:fld>
            <a:endParaRPr lang="fr-FR" b="1" dirty="0"/>
          </a:p>
        </p:txBody>
      </p:sp>
      <p:pic>
        <p:nvPicPr>
          <p:cNvPr id="1026" name="Picture 2" descr="Guitare, La Musique, Guitare Électrique">
            <a:extLst>
              <a:ext uri="{FF2B5EF4-FFF2-40B4-BE49-F238E27FC236}">
                <a16:creationId xmlns:a16="http://schemas.microsoft.com/office/drawing/2014/main" id="{0098F414-3793-7E07-8CE1-A5A56D7C2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1" b="423"/>
          <a:stretch>
            <a:fillRect/>
          </a:stretch>
        </p:blipFill>
        <p:spPr bwMode="auto">
          <a:xfrm>
            <a:off x="628662" y="1210868"/>
            <a:ext cx="7886688" cy="48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87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6559-264F-60FB-1D37-320CA1D94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1EE70EB-793F-4DE4-5CD3-06C1970A54E3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06D130B-046F-5180-5387-DB486A265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dirty="0"/>
              <a:t>2026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01B0276-EFF9-456D-E1E7-4ED3C710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2</a:t>
            </a:fld>
            <a:endParaRPr lang="fr-F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97DB1DB-6877-AD95-7BFA-723F07652E4D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3F7BFC6-A0BB-58CB-0A26-507B2DF051F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ooter Placeholder 2">
              <a:extLst>
                <a:ext uri="{FF2B5EF4-FFF2-40B4-BE49-F238E27FC236}">
                  <a16:creationId xmlns:a16="http://schemas.microsoft.com/office/drawing/2014/main" id="{C41DAE65-9B17-4A9F-2325-941B2D69EBC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403404F2-95E1-6C3C-2AC8-4C3EA8AF8028}"/>
              </a:ext>
            </a:extLst>
          </p:cNvPr>
          <p:cNvSpPr/>
          <p:nvPr/>
        </p:nvSpPr>
        <p:spPr>
          <a:xfrm>
            <a:off x="622219" y="50899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7685325-6DB0-D00D-F7AE-FBD7499B9A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177681"/>
              </p:ext>
            </p:extLst>
          </p:nvPr>
        </p:nvGraphicFramePr>
        <p:xfrm>
          <a:off x="622219" y="1557243"/>
          <a:ext cx="7899561" cy="31339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Graphic 14" descr="Bank with solid fill">
            <a:extLst>
              <a:ext uri="{FF2B5EF4-FFF2-40B4-BE49-F238E27FC236}">
                <a16:creationId xmlns:a16="http://schemas.microsoft.com/office/drawing/2014/main" id="{0A05600E-BBED-713B-0765-F9FC4C8B4F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1043" y="4687846"/>
            <a:ext cx="914400" cy="914400"/>
          </a:xfrm>
          <a:prstGeom prst="rect">
            <a:avLst/>
          </a:prstGeom>
        </p:spPr>
      </p:pic>
      <p:pic>
        <p:nvPicPr>
          <p:cNvPr id="19" name="Graphic 18" descr="Earth globe: Africa and Europe with solid fill">
            <a:extLst>
              <a:ext uri="{FF2B5EF4-FFF2-40B4-BE49-F238E27FC236}">
                <a16:creationId xmlns:a16="http://schemas.microsoft.com/office/drawing/2014/main" id="{18E70CB9-42FE-B71F-A1C8-24CE93E332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6203" y="4735221"/>
            <a:ext cx="914400" cy="914400"/>
          </a:xfrm>
          <a:prstGeom prst="rect">
            <a:avLst/>
          </a:prstGeom>
        </p:spPr>
      </p:pic>
      <p:pic>
        <p:nvPicPr>
          <p:cNvPr id="21" name="Graphic 20" descr="Music note with solid fill">
            <a:extLst>
              <a:ext uri="{FF2B5EF4-FFF2-40B4-BE49-F238E27FC236}">
                <a16:creationId xmlns:a16="http://schemas.microsoft.com/office/drawing/2014/main" id="{84DFF8B1-F884-2B2A-7E80-9BC9C2825C2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3397" y="4729977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C7AD5E-8D0B-A100-8BC7-8968AFC40EF4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[1]</a:t>
            </a:r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391B9131-EB23-2B12-2B61-FA9315644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98856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04F0-B502-65BC-6A09-35CFB45E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9BCC782-0D3B-CED9-60B9-795B1EBEEAEE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D6EDA89-9709-22F1-2CE0-CBAB49D28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70CCCFE-D2CF-F036-A6E9-C8D4FF0A6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3</a:t>
            </a:fld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6CF84F-B284-FFE6-89D6-BC064CAF24E5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8BD08EE-D283-DD4F-BD91-A527520D3F09}"/>
              </a:ext>
            </a:extLst>
          </p:cNvPr>
          <p:cNvGrpSpPr/>
          <p:nvPr/>
        </p:nvGrpSpPr>
        <p:grpSpPr>
          <a:xfrm>
            <a:off x="-136497" y="1186363"/>
            <a:ext cx="9223365" cy="3939301"/>
            <a:chOff x="-143123" y="1695451"/>
            <a:chExt cx="9223365" cy="389376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AD59C-BE3D-5354-10F1-5FB60C9BA5F8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93765"/>
              <a:chOff x="1006751" y="1255937"/>
              <a:chExt cx="6952009" cy="3872654"/>
            </a:xfrm>
          </p:grpSpPr>
          <p:pic>
            <p:nvPicPr>
              <p:cNvPr id="16" name="Picture 15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8671EF1F-85A1-8978-42ED-6DC100D8EC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1026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CC805345-A78D-D399-DA6C-BFFD053F56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EE11A188-CC0E-DA89-77CB-1A851E9A6CC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76318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31" name="Picture 8" descr="Sound PNG Transparent Images">
              <a:extLst>
                <a:ext uri="{FF2B5EF4-FFF2-40B4-BE49-F238E27FC236}">
                  <a16:creationId xmlns:a16="http://schemas.microsoft.com/office/drawing/2014/main" id="{C5A23D53-5DDB-D416-A41A-F727728A50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4464" y="2449034"/>
              <a:ext cx="2325778" cy="23257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627FF2A-9CB1-1AF7-C7B2-1DA1B28400B9}"/>
              </a:ext>
            </a:extLst>
          </p:cNvPr>
          <p:cNvGrpSpPr/>
          <p:nvPr/>
        </p:nvGrpSpPr>
        <p:grpSpPr>
          <a:xfrm>
            <a:off x="385745" y="5434033"/>
            <a:ext cx="8293184" cy="739359"/>
            <a:chOff x="385745" y="5494993"/>
            <a:chExt cx="8293184" cy="73935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4A1EF4-71C5-AFEC-F51C-54253E6418D7}"/>
                </a:ext>
              </a:extLst>
            </p:cNvPr>
            <p:cNvGrpSpPr/>
            <p:nvPr/>
          </p:nvGrpSpPr>
          <p:grpSpPr>
            <a:xfrm>
              <a:off x="385745" y="5495226"/>
              <a:ext cx="8293184" cy="739126"/>
              <a:chOff x="385745" y="5495226"/>
              <a:chExt cx="8293184" cy="739126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4F9E293-216E-15DD-4F6F-A29FF3E6E51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2C0AC77-D285-65B0-D66E-4E098D9D4641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1E0D4AE5-9607-4DB4-BE36-56A5094F4DD2}"/>
                    </a:ext>
                  </a:extLst>
                </p:cNvPr>
                <p:cNvCxnSpPr>
                  <a:cxnSpLocks/>
                  <a:stCxn id="29" idx="3"/>
                  <a:endCxn id="12" idx="1"/>
                </p:cNvCxnSpPr>
                <p:nvPr/>
              </p:nvCxnSpPr>
              <p:spPr>
                <a:xfrm>
                  <a:off x="5467171" y="3428768"/>
                  <a:ext cx="572727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C0C996A-BF1C-90EE-8498-2E1A93560CCF}"/>
                    </a:ext>
                  </a:extLst>
                </p:cNvPr>
                <p:cNvCxnSpPr>
                  <a:cxnSpLocks/>
                  <a:endCxn id="29" idx="1"/>
                </p:cNvCxnSpPr>
                <p:nvPr/>
              </p:nvCxnSpPr>
              <p:spPr>
                <a:xfrm flipV="1">
                  <a:off x="1833334" y="3428768"/>
                  <a:ext cx="572726" cy="232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B2A0A7D1-8E1F-6D54-6F03-9C163D4121DE}"/>
                    </a:ext>
                  </a:extLst>
                </p:cNvPr>
                <p:cNvCxnSpPr>
                  <a:cxnSpLocks/>
                  <a:stCxn id="12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FC6CD4CD-B9B4-4035-2393-BF7AC44EE4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FAD95A0E-467F-A6AA-2FC7-05C2FF1D8BC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259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F1945596-F0F7-D093-5E36-0392482F540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7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3574FC-33E4-37D5-8403-057A812BEBA3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96A4DF-AA46-B362-6EF6-93AC149BD5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B3F6E7F-9ED7-799A-C6AD-763658746D8C}"/>
                </a:ext>
              </a:extLst>
            </p:cNvPr>
            <p:cNvSpPr/>
            <p:nvPr/>
          </p:nvSpPr>
          <p:spPr>
            <a:xfrm>
              <a:off x="1854515" y="5494993"/>
              <a:ext cx="3061111" cy="73912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Micro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E09AD39-0921-EB4A-1080-583A356887F2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[2]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8E4CD4-00A8-3FA0-0551-6DB2B6DC9710}"/>
              </a:ext>
            </a:extLst>
          </p:cNvPr>
          <p:cNvGrpSpPr/>
          <p:nvPr/>
        </p:nvGrpSpPr>
        <p:grpSpPr>
          <a:xfrm>
            <a:off x="0" y="2871"/>
            <a:ext cx="9144000" cy="457200"/>
            <a:chOff x="0" y="-4624"/>
            <a:chExt cx="91440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469BF9-1B77-D487-E34B-BA7FE33C007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Footer Placeholder 2">
              <a:extLst>
                <a:ext uri="{FF2B5EF4-FFF2-40B4-BE49-F238E27FC236}">
                  <a16:creationId xmlns:a16="http://schemas.microsoft.com/office/drawing/2014/main" id="{55F797F5-28D9-E72A-3828-5A4E5762DF7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75457-0E9C-DB85-2DE0-B08ED03C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8417795-70F9-02E7-96CE-574852CA0F0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8314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5C65-7A37-1B90-FBC8-8C517E9F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B411610-91CC-1D3E-B007-8E0F6F5EEE2B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850E460-ACA2-5F53-1BA7-DFA31DA1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C335420-6FBF-ADA3-65E6-29E798D8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4</a:t>
            </a:fld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A5B9C0-C73A-6300-0522-20EE954AE8F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A31A0-C03C-F3ED-69F4-C6FFE6CFE4F6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[2]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F2AC397-DBC1-5503-0B8B-93145E542A30}"/>
              </a:ext>
            </a:extLst>
          </p:cNvPr>
          <p:cNvGrpSpPr/>
          <p:nvPr/>
        </p:nvGrpSpPr>
        <p:grpSpPr>
          <a:xfrm>
            <a:off x="0" y="2871"/>
            <a:ext cx="9144000" cy="457200"/>
            <a:chOff x="0" y="-4624"/>
            <a:chExt cx="9144000" cy="4572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792449-E4D3-8512-C655-89A9C46CAF2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Footer Placeholder 2">
              <a:extLst>
                <a:ext uri="{FF2B5EF4-FFF2-40B4-BE49-F238E27FC236}">
                  <a16:creationId xmlns:a16="http://schemas.microsoft.com/office/drawing/2014/main" id="{B08D73A0-6C90-69E7-457F-60D0EE1AF3F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E365F-73BC-124E-0AA1-05822C89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8FB3C2F-F634-79DF-634E-4FB985FD79C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1" dirty="0"/>
              <a:t>Introduction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DAE2E80-E912-D97C-8D4D-D8FA1169D84C}"/>
              </a:ext>
            </a:extLst>
          </p:cNvPr>
          <p:cNvGrpSpPr/>
          <p:nvPr/>
        </p:nvGrpSpPr>
        <p:grpSpPr>
          <a:xfrm>
            <a:off x="330200" y="978128"/>
            <a:ext cx="8498627" cy="4901743"/>
            <a:chOff x="330200" y="1423280"/>
            <a:chExt cx="8498627" cy="4901743"/>
          </a:xfrm>
        </p:grpSpPr>
        <p:pic>
          <p:nvPicPr>
            <p:cNvPr id="6" name="Picture 5" descr="Guitar Pickup Market By Region">
              <a:extLst>
                <a:ext uri="{FF2B5EF4-FFF2-40B4-BE49-F238E27FC236}">
                  <a16:creationId xmlns:a16="http://schemas.microsoft.com/office/drawing/2014/main" id="{6DA00D97-DD6A-62D3-2FEF-6FDA183FC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01" t="1" r="88" b="1662"/>
            <a:stretch>
              <a:fillRect/>
            </a:stretch>
          </p:blipFill>
          <p:spPr>
            <a:xfrm>
              <a:off x="330200" y="1423280"/>
              <a:ext cx="8498627" cy="469684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2E4591E-213D-DD3D-F756-86FF1B678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4285" y="5785023"/>
              <a:ext cx="766733" cy="540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6935B24-D3D4-E1C7-7221-E3E13E203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31697" y="5785023"/>
              <a:ext cx="766313" cy="540000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65A42A2-4676-292B-E960-C64B3D3DE5C5}"/>
                </a:ext>
              </a:extLst>
            </p:cNvPr>
            <p:cNvSpPr/>
            <p:nvPr/>
          </p:nvSpPr>
          <p:spPr>
            <a:xfrm>
              <a:off x="1119987" y="3792511"/>
              <a:ext cx="2627554" cy="1796705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23B1C9B-ECF9-F287-89FF-67656642FDEC}"/>
                </a:ext>
              </a:extLst>
            </p:cNvPr>
            <p:cNvSpPr txBox="1"/>
            <p:nvPr/>
          </p:nvSpPr>
          <p:spPr>
            <a:xfrm>
              <a:off x="1985724" y="3452852"/>
              <a:ext cx="7859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rgbClr val="C00000"/>
                  </a:solidFill>
                  <a:latin typeface="Arial Black" panose="020B0A04020102020204" pitchFamily="34" charset="0"/>
                </a:rPr>
                <a:t>60%</a:t>
              </a: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5538530-AEDA-8079-4FC7-7FE95B066120}"/>
              </a:ext>
            </a:extLst>
          </p:cNvPr>
          <p:cNvSpPr txBox="1"/>
          <p:nvPr/>
        </p:nvSpPr>
        <p:spPr>
          <a:xfrm>
            <a:off x="1323303" y="4636845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23.9%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D38844-6458-856C-27C9-4A869A89F20A}"/>
              </a:ext>
            </a:extLst>
          </p:cNvPr>
          <p:cNvSpPr txBox="1"/>
          <p:nvPr/>
        </p:nvSpPr>
        <p:spPr>
          <a:xfrm>
            <a:off x="4427185" y="300770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18.2%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E00042-FA40-4722-DEE9-BCC43CF6F914}"/>
              </a:ext>
            </a:extLst>
          </p:cNvPr>
          <p:cNvSpPr txBox="1"/>
          <p:nvPr/>
        </p:nvSpPr>
        <p:spPr>
          <a:xfrm>
            <a:off x="5919010" y="2526212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13.1%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81727A-1BF8-121E-D477-3D1C7E718221}"/>
              </a:ext>
            </a:extLst>
          </p:cNvPr>
          <p:cNvSpPr txBox="1"/>
          <p:nvPr/>
        </p:nvSpPr>
        <p:spPr>
          <a:xfrm>
            <a:off x="7475333" y="2215950"/>
            <a:ext cx="708696" cy="246221"/>
          </a:xfrm>
          <a:prstGeom prst="rect">
            <a:avLst/>
          </a:prstGeom>
          <a:solidFill>
            <a:srgbClr val="014095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solidFill>
                  <a:schemeClr val="bg1"/>
                </a:solidFill>
                <a:latin typeface="Arial Black" panose="020B0A04020102020204" pitchFamily="34" charset="0"/>
              </a:rPr>
              <a:t>8.7%</a:t>
            </a:r>
          </a:p>
        </p:txBody>
      </p:sp>
    </p:spTree>
    <p:extLst>
      <p:ext uri="{BB962C8B-B14F-4D97-AF65-F5344CB8AC3E}">
        <p14:creationId xmlns:p14="http://schemas.microsoft.com/office/powerpoint/2010/main" val="3183775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ABA01-5E57-F9AD-7FB1-9B31B40EB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7ABC560-5331-C119-99E8-E7E487C7F79C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169199-8D0C-60A6-8967-E16A78FE2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2EDCE98-18ED-99C0-05A3-B2ABDB23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5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658A02-6127-85C2-C96E-6360A48C80D9}"/>
              </a:ext>
            </a:extLst>
          </p:cNvPr>
          <p:cNvSpPr/>
          <p:nvPr/>
        </p:nvSpPr>
        <p:spPr>
          <a:xfrm>
            <a:off x="678973" y="1178781"/>
            <a:ext cx="418307" cy="49533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60A34-3C0D-7ED1-37AC-A59777E64D3C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CCBCFC-B5B7-AE0C-CD83-2301C046DD2B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5C0811-70DD-0811-C4AB-C5BA5BEE7798}"/>
              </a:ext>
            </a:extLst>
          </p:cNvPr>
          <p:cNvGrpSpPr/>
          <p:nvPr/>
        </p:nvGrpSpPr>
        <p:grpSpPr>
          <a:xfrm>
            <a:off x="757357" y="1267336"/>
            <a:ext cx="2794357" cy="1456239"/>
            <a:chOff x="757357" y="3644776"/>
            <a:chExt cx="2794357" cy="1456239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4B888DA-EA85-BACA-4DA1-AC7AADA6FDED}"/>
                </a:ext>
              </a:extLst>
            </p:cNvPr>
            <p:cNvSpPr/>
            <p:nvPr/>
          </p:nvSpPr>
          <p:spPr>
            <a:xfrm>
              <a:off x="757357" y="426327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25" name="Picture 2">
              <a:extLst>
                <a:ext uri="{FF2B5EF4-FFF2-40B4-BE49-F238E27FC236}">
                  <a16:creationId xmlns:a16="http://schemas.microsoft.com/office/drawing/2014/main" id="{E0E33EAE-DCBB-59AD-9586-0B278CCFB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27" r="7227"/>
            <a:stretch/>
          </p:blipFill>
          <p:spPr bwMode="auto">
            <a:xfrm>
              <a:off x="1802614" y="3655444"/>
              <a:ext cx="1749100" cy="1440000"/>
            </a:xfrm>
            <a:prstGeom prst="rect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6A955A1-3FE8-E23C-FB32-197625FCE777}"/>
                </a:ext>
              </a:extLst>
            </p:cNvPr>
            <p:cNvCxnSpPr>
              <a:cxnSpLocks/>
              <a:stCxn id="21" idx="1"/>
            </p:cNvCxnSpPr>
            <p:nvPr/>
          </p:nvCxnSpPr>
          <p:spPr>
            <a:xfrm flipV="1">
              <a:off x="794262" y="3644776"/>
              <a:ext cx="1008352" cy="6554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9FA4007-D881-298D-16E0-8B10B844EC49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794262" y="4478374"/>
              <a:ext cx="1008352" cy="622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7C89D83A-8EAF-A29A-3D99-1A5A4BA3B567}"/>
              </a:ext>
            </a:extLst>
          </p:cNvPr>
          <p:cNvSpPr txBox="1"/>
          <p:nvPr/>
        </p:nvSpPr>
        <p:spPr>
          <a:xfrm>
            <a:off x="1071094" y="1826633"/>
            <a:ext cx="7315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/>
              <a:t>1931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E1B0F9D-8566-0C35-DA3D-12B83B1D5D8F}"/>
              </a:ext>
            </a:extLst>
          </p:cNvPr>
          <p:cNvGrpSpPr/>
          <p:nvPr/>
        </p:nvGrpSpPr>
        <p:grpSpPr>
          <a:xfrm>
            <a:off x="4257048" y="1278005"/>
            <a:ext cx="4556752" cy="4679896"/>
            <a:chOff x="5128260" y="2555821"/>
            <a:chExt cx="3281103" cy="2838917"/>
          </a:xfrm>
        </p:grpSpPr>
        <p:pic>
          <p:nvPicPr>
            <p:cNvPr id="10" name="Picture 9" descr="A blue and white drawing of a square and a rectangle&#10;&#10;AI-generated content may be incorrect.">
              <a:extLst>
                <a:ext uri="{FF2B5EF4-FFF2-40B4-BE49-F238E27FC236}">
                  <a16:creationId xmlns:a16="http://schemas.microsoft.com/office/drawing/2014/main" id="{35B1D760-66A7-4EF2-06F7-CEB0F7405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7161" r="12491"/>
            <a:stretch>
              <a:fillRect/>
            </a:stretch>
          </p:blipFill>
          <p:spPr>
            <a:xfrm>
              <a:off x="5128260" y="2555821"/>
              <a:ext cx="3281103" cy="283891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6B4602-42B8-CD9D-7B5A-B72982226E4D}"/>
                </a:ext>
              </a:extLst>
            </p:cNvPr>
            <p:cNvSpPr/>
            <p:nvPr/>
          </p:nvSpPr>
          <p:spPr>
            <a:xfrm>
              <a:off x="6606541" y="3415664"/>
              <a:ext cx="308610" cy="2698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29" name="Picture 1028">
              <a:extLst>
                <a:ext uri="{FF2B5EF4-FFF2-40B4-BE49-F238E27FC236}">
                  <a16:creationId xmlns:a16="http://schemas.microsoft.com/office/drawing/2014/main" id="{BEE47B49-AC29-0A5B-BE91-5834088C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2494" b="70953" l="13960" r="44675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20" t="27687" r="51486" b="24239"/>
            <a:stretch>
              <a:fillRect/>
            </a:stretch>
          </p:blipFill>
          <p:spPr>
            <a:xfrm>
              <a:off x="5573128" y="3130807"/>
              <a:ext cx="2477717" cy="1693612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30357CB-6D07-11C5-8EC3-85C6EB5CB4BF}"/>
                </a:ext>
              </a:extLst>
            </p:cNvPr>
            <p:cNvSpPr/>
            <p:nvPr/>
          </p:nvSpPr>
          <p:spPr>
            <a:xfrm>
              <a:off x="6704837" y="3200415"/>
              <a:ext cx="103688" cy="87353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369F20-F607-9F18-F30E-4FC8F48B5B99}"/>
              </a:ext>
            </a:extLst>
          </p:cNvPr>
          <p:cNvSpPr txBox="1"/>
          <p:nvPr/>
        </p:nvSpPr>
        <p:spPr>
          <a:xfrm>
            <a:off x="1951551" y="2415066"/>
            <a:ext cx="145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SingleCoil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E53688-28E3-395D-70F6-E50EF0BE10AB}"/>
              </a:ext>
            </a:extLst>
          </p:cNvPr>
          <p:cNvSpPr txBox="1"/>
          <p:nvPr/>
        </p:nvSpPr>
        <p:spPr>
          <a:xfrm flipH="1">
            <a:off x="2037872" y="3211542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181BAC7-2F05-D532-04C6-1C065A8CDC42}"/>
              </a:ext>
            </a:extLst>
          </p:cNvPr>
          <p:cNvCxnSpPr>
            <a:cxnSpLocks/>
            <a:stCxn id="14" idx="1"/>
          </p:cNvCxnSpPr>
          <p:nvPr/>
        </p:nvCxnSpPr>
        <p:spPr>
          <a:xfrm flipV="1">
            <a:off x="3491406" y="2410534"/>
            <a:ext cx="2993270" cy="9395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750372-0D76-1A6A-DD9B-C7FF226BC376}"/>
              </a:ext>
            </a:extLst>
          </p:cNvPr>
          <p:cNvSpPr txBox="1"/>
          <p:nvPr/>
        </p:nvSpPr>
        <p:spPr>
          <a:xfrm flipH="1">
            <a:off x="2037872" y="3973760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CDBB6C-E453-637C-7462-FBC874B60003}"/>
              </a:ext>
            </a:extLst>
          </p:cNvPr>
          <p:cNvSpPr txBox="1"/>
          <p:nvPr/>
        </p:nvSpPr>
        <p:spPr>
          <a:xfrm flipH="1">
            <a:off x="2033051" y="4735978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 permanent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1FCA9BF-D568-7FEF-8F3A-CC03ABDECFCE}"/>
              </a:ext>
            </a:extLst>
          </p:cNvPr>
          <p:cNvCxnSpPr>
            <a:cxnSpLocks/>
            <a:stCxn id="20" idx="1"/>
          </p:cNvCxnSpPr>
          <p:nvPr/>
        </p:nvCxnSpPr>
        <p:spPr>
          <a:xfrm flipV="1">
            <a:off x="3491406" y="3542645"/>
            <a:ext cx="2249820" cy="56961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D422936-A5EF-FA57-44E3-7B65B2489857}"/>
              </a:ext>
            </a:extLst>
          </p:cNvPr>
          <p:cNvCxnSpPr>
            <a:cxnSpLocks/>
            <a:stCxn id="22" idx="2"/>
          </p:cNvCxnSpPr>
          <p:nvPr/>
        </p:nvCxnSpPr>
        <p:spPr>
          <a:xfrm rot="5400000" flipH="1" flipV="1">
            <a:off x="4491508" y="2982771"/>
            <a:ext cx="298515" cy="3761897"/>
          </a:xfrm>
          <a:prstGeom prst="bentConnector4">
            <a:avLst>
              <a:gd name="adj1" fmla="val -76579"/>
              <a:gd name="adj2" fmla="val 10002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Free femm 4.2 software download (Windows)">
            <a:extLst>
              <a:ext uri="{FF2B5EF4-FFF2-40B4-BE49-F238E27FC236}">
                <a16:creationId xmlns:a16="http://schemas.microsoft.com/office/drawing/2014/main" id="{7E23C437-0ABF-7719-0798-576ADE154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8368BD-720D-61CB-9C35-FD2F182B225B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[3]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93ED0EB-ADA7-D81C-5F05-2B5D2AD07D1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F004B6D-96AC-28F8-21DD-0746899C49D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Footer Placeholder 2">
              <a:extLst>
                <a:ext uri="{FF2B5EF4-FFF2-40B4-BE49-F238E27FC236}">
                  <a16:creationId xmlns:a16="http://schemas.microsoft.com/office/drawing/2014/main" id="{6D4BF689-D8A2-78A0-F585-E663844622D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0EE9C1D9-D262-11D0-9BC5-9F3CCB213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2527761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5CDC-E18A-6821-CC67-B07651DB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8092A65-490B-4AC0-8393-01D12A337A0D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94324AA-72FC-C282-79A1-90C96CC99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1DEB640-326C-4C8A-4353-C88BEC4C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6</a:t>
            </a:fld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875690-14A5-1EF6-BD3E-E169BCC560FD}"/>
              </a:ext>
            </a:extLst>
          </p:cNvPr>
          <p:cNvSpPr/>
          <p:nvPr/>
        </p:nvSpPr>
        <p:spPr>
          <a:xfrm>
            <a:off x="678973" y="1178781"/>
            <a:ext cx="418307" cy="49533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637ED1-A8A1-92A6-E436-7B0AE35C232B}"/>
              </a:ext>
            </a:extLst>
          </p:cNvPr>
          <p:cNvSpPr/>
          <p:nvPr/>
        </p:nvSpPr>
        <p:spPr>
          <a:xfrm>
            <a:off x="622219" y="5394738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E39AF3-B671-1A96-D11D-9164EFD8F565}"/>
              </a:ext>
            </a:extLst>
          </p:cNvPr>
          <p:cNvSpPr/>
          <p:nvPr/>
        </p:nvSpPr>
        <p:spPr>
          <a:xfrm>
            <a:off x="642999" y="576342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E07AC0-394D-84B1-8162-3042EECBDF45}"/>
              </a:ext>
            </a:extLst>
          </p:cNvPr>
          <p:cNvSpPr/>
          <p:nvPr/>
        </p:nvSpPr>
        <p:spPr>
          <a:xfrm>
            <a:off x="622219" y="1351909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5D5EF-60B2-6FAD-3936-D1828DDA27A4}"/>
              </a:ext>
            </a:extLst>
          </p:cNvPr>
          <p:cNvSpPr/>
          <p:nvPr/>
        </p:nvSpPr>
        <p:spPr>
          <a:xfrm>
            <a:off x="642999" y="1720375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DAA9F8-0DCE-F3A1-2774-4F4BB52CB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1489540" y="1506714"/>
            <a:ext cx="7074840" cy="42974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19AA84-9CCA-017E-FDA8-64E4C692C133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[4]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2A2EE1-E8ED-145D-23DC-A42B417BD1CE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F5C53E-7258-89EE-AB47-C65C987E144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1670C4DF-4D6D-CC6F-D012-E1872949C00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7BDCDD4D-4B66-2C58-F3EC-5C0B5C1B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91952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B3F0E-84CD-C391-808C-60FB199D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CA72259-54E2-49A4-C520-ECE0702321F5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72C224-2B65-C621-0EC0-73274997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9ED0F94-BE44-0B30-1195-0C653D9E4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7</a:t>
            </a:fld>
            <a:endParaRPr lang="fr-FR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3DE5677-D04C-C907-22CF-48E34F9CEF3C}"/>
              </a:ext>
            </a:extLst>
          </p:cNvPr>
          <p:cNvSpPr/>
          <p:nvPr/>
        </p:nvSpPr>
        <p:spPr>
          <a:xfrm>
            <a:off x="322686" y="1178781"/>
            <a:ext cx="1125078" cy="4500438"/>
          </a:xfrm>
          <a:prstGeom prst="downArrow">
            <a:avLst>
              <a:gd name="adj1" fmla="val 37279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67775C-D727-1789-6DAC-ED5112DC6709}"/>
              </a:ext>
            </a:extLst>
          </p:cNvPr>
          <p:cNvSpPr/>
          <p:nvPr/>
        </p:nvSpPr>
        <p:spPr>
          <a:xfrm>
            <a:off x="640098" y="1353566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66C38B-927C-53CF-E6AB-365D740BBA91}"/>
              </a:ext>
            </a:extLst>
          </p:cNvPr>
          <p:cNvSpPr/>
          <p:nvPr/>
        </p:nvSpPr>
        <p:spPr>
          <a:xfrm>
            <a:off x="622370" y="1717953"/>
            <a:ext cx="490254" cy="194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22E47D5-1C5D-136A-061D-9A1220859249}"/>
              </a:ext>
            </a:extLst>
          </p:cNvPr>
          <p:cNvGrpSpPr/>
          <p:nvPr/>
        </p:nvGrpSpPr>
        <p:grpSpPr>
          <a:xfrm>
            <a:off x="757357" y="3644776"/>
            <a:ext cx="2840277" cy="1456239"/>
            <a:chOff x="757357" y="3644776"/>
            <a:chExt cx="2840277" cy="1456239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669E515-1F8E-1A6F-32EB-A4113124209A}"/>
                </a:ext>
              </a:extLst>
            </p:cNvPr>
            <p:cNvSpPr/>
            <p:nvPr/>
          </p:nvSpPr>
          <p:spPr>
            <a:xfrm>
              <a:off x="757357" y="4263279"/>
              <a:ext cx="252000" cy="25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C077574-15D0-65B4-FDC0-91F3532B9BE6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V="1">
              <a:off x="794262" y="3644776"/>
              <a:ext cx="1008352" cy="6554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8D1783E-179B-5321-AD09-59B4859B3E63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>
              <a:off x="794262" y="4478374"/>
              <a:ext cx="1008352" cy="62264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EEB520E7-EF31-D47F-BBBC-DF62DEF6C2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23" r="6123"/>
            <a:stretch/>
          </p:blipFill>
          <p:spPr bwMode="auto">
            <a:xfrm>
              <a:off x="1804368" y="3652396"/>
              <a:ext cx="1793266" cy="1440000"/>
            </a:xfrm>
            <a:prstGeom prst="rect">
              <a:avLst/>
            </a:prstGeom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611BF4-7805-35AB-84D0-864D256DA30B}"/>
                </a:ext>
              </a:extLst>
            </p:cNvPr>
            <p:cNvSpPr txBox="1"/>
            <p:nvPr/>
          </p:nvSpPr>
          <p:spPr>
            <a:xfrm>
              <a:off x="1071094" y="4204613"/>
              <a:ext cx="7315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200" dirty="0"/>
                <a:t>1955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FB490B0-BCD6-A56F-0B4F-C5F684FE9AB2}"/>
              </a:ext>
            </a:extLst>
          </p:cNvPr>
          <p:cNvSpPr txBox="1"/>
          <p:nvPr/>
        </p:nvSpPr>
        <p:spPr>
          <a:xfrm>
            <a:off x="1975388" y="4810594"/>
            <a:ext cx="1451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/>
              <a:t>Humbucker</a:t>
            </a:r>
          </a:p>
        </p:txBody>
      </p:sp>
      <p:pic>
        <p:nvPicPr>
          <p:cNvPr id="22" name="Picture 21" descr="A drawing of a computer&#10;&#10;AI-generated content may be incorrect.">
            <a:extLst>
              <a:ext uri="{FF2B5EF4-FFF2-40B4-BE49-F238E27FC236}">
                <a16:creationId xmlns:a16="http://schemas.microsoft.com/office/drawing/2014/main" id="{D940559A-4517-B76C-7191-DBF90D784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05567"/>
            <a:ext cx="4303537" cy="393802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B783AE6-51CF-96D4-FF4F-76A91E4D70CC}"/>
              </a:ext>
            </a:extLst>
          </p:cNvPr>
          <p:cNvSpPr/>
          <p:nvPr/>
        </p:nvSpPr>
        <p:spPr>
          <a:xfrm>
            <a:off x="5953149" y="2713650"/>
            <a:ext cx="428593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9966DA-65A5-0089-96C5-341C4C44043D}"/>
              </a:ext>
            </a:extLst>
          </p:cNvPr>
          <p:cNvSpPr/>
          <p:nvPr/>
        </p:nvSpPr>
        <p:spPr>
          <a:xfrm>
            <a:off x="7250271" y="2713650"/>
            <a:ext cx="247651" cy="444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2B7CE4-DCA4-58A6-9A88-29EF0568BDAF}"/>
              </a:ext>
            </a:extLst>
          </p:cNvPr>
          <p:cNvSpPr/>
          <p:nvPr/>
        </p:nvSpPr>
        <p:spPr>
          <a:xfrm>
            <a:off x="5419725" y="2891036"/>
            <a:ext cx="468895" cy="12009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ACEF00-6939-5D0B-A13E-4FE798F62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>
            <a:off x="5252630" y="2402996"/>
            <a:ext cx="3113821" cy="206033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F916CAF-70B9-62A8-15A1-E542690D7E33}"/>
              </a:ext>
            </a:extLst>
          </p:cNvPr>
          <p:cNvSpPr txBox="1"/>
          <p:nvPr/>
        </p:nvSpPr>
        <p:spPr>
          <a:xfrm flipH="1">
            <a:off x="2037872" y="1405602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8500AF0-2911-5316-990D-909F60C91DD4}"/>
              </a:ext>
            </a:extLst>
          </p:cNvPr>
          <p:cNvCxnSpPr>
            <a:cxnSpLocks/>
            <a:stCxn id="27" idx="1"/>
            <a:endCxn id="33" idx="1"/>
          </p:cNvCxnSpPr>
          <p:nvPr/>
        </p:nvCxnSpPr>
        <p:spPr>
          <a:xfrm>
            <a:off x="3491406" y="1544102"/>
            <a:ext cx="1097739" cy="7330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4B729FB-031A-BAE3-5916-1E9BCF4B4649}"/>
              </a:ext>
            </a:extLst>
          </p:cNvPr>
          <p:cNvSpPr txBox="1"/>
          <p:nvPr/>
        </p:nvSpPr>
        <p:spPr>
          <a:xfrm flipH="1">
            <a:off x="1802613" y="2167820"/>
            <a:ext cx="1683971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Aimants permanents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93002B-9402-19C4-80AB-1BF0833056FE}"/>
              </a:ext>
            </a:extLst>
          </p:cNvPr>
          <p:cNvSpPr txBox="1"/>
          <p:nvPr/>
        </p:nvSpPr>
        <p:spPr>
          <a:xfrm flipH="1">
            <a:off x="2033051" y="2930038"/>
            <a:ext cx="1453534" cy="27699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Bobines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27D8FF0-B915-4B4D-DDF6-06610E686E7C}"/>
              </a:ext>
            </a:extLst>
          </p:cNvPr>
          <p:cNvCxnSpPr>
            <a:cxnSpLocks/>
            <a:stCxn id="29" idx="2"/>
          </p:cNvCxnSpPr>
          <p:nvPr/>
        </p:nvCxnSpPr>
        <p:spPr>
          <a:xfrm rot="16200000" flipH="1">
            <a:off x="4256375" y="833042"/>
            <a:ext cx="174504" cy="339805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08CECA19-DB69-E156-5705-713CB10CF7E3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3991493" y="1975362"/>
            <a:ext cx="270852" cy="273420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A070375-38D7-0425-E55D-0B48FE1180FC}"/>
              </a:ext>
            </a:extLst>
          </p:cNvPr>
          <p:cNvSpPr/>
          <p:nvPr/>
        </p:nvSpPr>
        <p:spPr>
          <a:xfrm>
            <a:off x="4589145" y="2237711"/>
            <a:ext cx="4276317" cy="78814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Picture 2" descr="Free femm 4.2 software download (Windows)">
            <a:extLst>
              <a:ext uri="{FF2B5EF4-FFF2-40B4-BE49-F238E27FC236}">
                <a16:creationId xmlns:a16="http://schemas.microsoft.com/office/drawing/2014/main" id="{3FA0ADC1-9B0B-00B1-E104-3F4417610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363" y="721360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47C867-1F90-B54D-5817-E5B6C9DDDF8B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[4]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243A01D-9EAC-A043-6930-6CDD3B7BD02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0266ADC-C1AA-F577-8E6D-3B9D08336CD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6" name="Footer Placeholder 2">
              <a:extLst>
                <a:ext uri="{FF2B5EF4-FFF2-40B4-BE49-F238E27FC236}">
                  <a16:creationId xmlns:a16="http://schemas.microsoft.com/office/drawing/2014/main" id="{6D8CEED2-0E6C-12E7-408D-63D1C066F85B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Introduction</a:t>
              </a:r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C075A36E-F98A-813D-84C4-58FB63CAC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680864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AE0E-A710-B751-21D5-1465D956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CE604F-6BFC-79C1-4FC3-CA1EA535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A6762A-3000-D56B-00BC-9C877DB7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8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0A1813A-2397-9FF3-55B4-A7083DA4BF3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6A7184-965A-9FF1-E334-6E902599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27" y="1712718"/>
            <a:ext cx="74253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Dans quelle mesure </a:t>
            </a:r>
            <a:r>
              <a:rPr lang="fr-FR" b="1" dirty="0"/>
              <a:t>l'ajout d'une seconde bobine 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permet-il </a:t>
            </a:r>
            <a:r>
              <a:rPr lang="fr-FR" b="1" dirty="0"/>
              <a:t>d'éliminer les parasites </a:t>
            </a:r>
            <a:r>
              <a:rPr lang="fr-FR" dirty="0"/>
              <a:t>?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/>
              <a:t>Comment cela impacte-t-il </a:t>
            </a:r>
            <a:r>
              <a:rPr lang="fr-FR" b="1" dirty="0"/>
              <a:t>la richesse du son </a:t>
            </a:r>
            <a:r>
              <a:rPr lang="fr-FR" dirty="0"/>
              <a:t>?</a:t>
            </a:r>
            <a:endParaRPr kumimoji="0" lang="fr-FR" altLang="fr-F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EE9D4-1D4E-E6DD-563B-928B9E769F11}"/>
              </a:ext>
            </a:extLst>
          </p:cNvPr>
          <p:cNvSpPr txBox="1"/>
          <p:nvPr/>
        </p:nvSpPr>
        <p:spPr>
          <a:xfrm>
            <a:off x="822961" y="4436823"/>
            <a:ext cx="3749039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SingleCoil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F5EE0-EFED-C507-DAB9-15D261AF6049}"/>
              </a:ext>
            </a:extLst>
          </p:cNvPr>
          <p:cNvSpPr txBox="1"/>
          <p:nvPr/>
        </p:nvSpPr>
        <p:spPr>
          <a:xfrm>
            <a:off x="4572000" y="4436823"/>
            <a:ext cx="3837363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Humbucker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3DBB3E-CACA-593E-E545-39E8047A68D3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Types de micro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92DDB-5107-9492-084E-A03244946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2067480" y="3425036"/>
            <a:ext cx="1260000" cy="1037332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E83BBAA-0E05-C329-303D-8623CD619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5860681" y="3425036"/>
            <a:ext cx="1260000" cy="10117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A2E5A45-09B6-6201-9655-31940D8E76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9000343"/>
              </p:ext>
            </p:extLst>
          </p:nvPr>
        </p:nvGraphicFramePr>
        <p:xfrm>
          <a:off x="1215239" y="5535351"/>
          <a:ext cx="6962904" cy="472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D0CB6DFE-9DCE-7015-9FA8-9E678322DE7D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7B675E-C794-FA61-C6CF-1E8B427604C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2DB22642-B50B-7C34-0232-2F3D1155C6D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Problématique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15C5062-7476-D32D-8882-11E83F15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1424046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729EB-D0D7-3B68-581B-D6A05530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614B4AA-2C2C-7D08-E999-257308E1354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BAC6AF7-D80B-334A-E503-388FBB7F0B40}"/>
              </a:ext>
            </a:extLst>
          </p:cNvPr>
          <p:cNvGrpSpPr/>
          <p:nvPr/>
        </p:nvGrpSpPr>
        <p:grpSpPr>
          <a:xfrm>
            <a:off x="326176" y="1002105"/>
            <a:ext cx="8527603" cy="3871961"/>
            <a:chOff x="-143123" y="1695451"/>
            <a:chExt cx="8378236" cy="382720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B0992E5-AF2D-3639-9696-6FF62E437322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27203"/>
              <a:chOff x="1006751" y="1255937"/>
              <a:chExt cx="6952009" cy="3806453"/>
            </a:xfrm>
          </p:grpSpPr>
          <p:pic>
            <p:nvPicPr>
              <p:cNvPr id="68" name="Picture 67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8E534E1B-4F89-E291-DF2A-28FE3CE800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69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F2B99565-5333-2089-C925-A7A8B6810A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F8341C9F-584A-66FF-9B64-51EB3CCA08E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10117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67" name="Picture 8" descr="Sound PNG Transparent Images">
              <a:extLst>
                <a:ext uri="{FF2B5EF4-FFF2-40B4-BE49-F238E27FC236}">
                  <a16:creationId xmlns:a16="http://schemas.microsoft.com/office/drawing/2014/main" id="{0F9422B7-B165-C834-2130-92D402B216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8608" y="2831113"/>
              <a:ext cx="1476505" cy="1476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7163994-BA1F-AA7D-2A07-3939815A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2CB9E37-9841-478B-DE9B-5613E58F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9</a:t>
            </a:fld>
            <a:endParaRPr lang="fr-FR" sz="1200" b="1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7394BD4-D4CA-42B5-5EB4-DC1CC05CF34C}"/>
              </a:ext>
            </a:extLst>
          </p:cNvPr>
          <p:cNvGrpSpPr/>
          <p:nvPr/>
        </p:nvGrpSpPr>
        <p:grpSpPr>
          <a:xfrm>
            <a:off x="326177" y="4838220"/>
            <a:ext cx="8527602" cy="1210580"/>
            <a:chOff x="385745" y="5083538"/>
            <a:chExt cx="8293184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24B2076-9AFE-688B-EE16-8F10860C9FED}"/>
                </a:ext>
              </a:extLst>
            </p:cNvPr>
            <p:cNvGrpSpPr/>
            <p:nvPr/>
          </p:nvGrpSpPr>
          <p:grpSpPr>
            <a:xfrm>
              <a:off x="385745" y="5083538"/>
              <a:ext cx="8293184" cy="1150814"/>
              <a:chOff x="385745" y="5083538"/>
              <a:chExt cx="8293184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11CE323-5E17-50D8-3A2C-B8E10B291E42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2D4ECFE8-1897-2B65-CB50-2C10194FD700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04352A75-E073-69EF-A7F3-406668A45F3F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9AA72A6-05D9-9C6E-8AFF-9F0BEAFF5662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1FBCB9F7-25DC-0140-A000-2C3DA2824B6A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132DFFD4-5F74-1958-26B5-5C4362EBA6F1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6444AEF1-23EB-B69E-8CD3-608C85D7C2F6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41344805-0219-20D8-6BF5-5DE11A767CB9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8EC0128F-C980-BFF5-B028-824BED7C9B0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8EC0128F-C980-BFF5-B028-824BED7C9B0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1C6AF476-6EEB-B5C8-234C-FE6F30DB81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1C6AF476-6EEB-B5C8-234C-FE6F30DB81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0FEE6261-805B-2861-9864-57E78B72CB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0FEE6261-805B-2861-9864-57E78B72CB2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377AB9F7-D223-922E-30F2-4B5238ED60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377AB9F7-D223-922E-30F2-4B5238ED60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5333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6ABAACC-CFA5-03E7-D930-3BCEFDFA9F4A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3FED51-CB52-7E5B-F5E6-F6CBC427541B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E4D2AFF-C6FC-91C7-0345-000C3DB9D86F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8A99ED0-7F9A-4A1A-990B-68E0E783AC40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771D1D5-65D4-6ED8-C991-CB32106BCDB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563003-8BF6-82A1-7DDE-D67535E7DF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Footer Placeholder 2">
              <a:extLst>
                <a:ext uri="{FF2B5EF4-FFF2-40B4-BE49-F238E27FC236}">
                  <a16:creationId xmlns:a16="http://schemas.microsoft.com/office/drawing/2014/main" id="{F3EC3ECE-C50D-0611-3EF8-8F9F94A8443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AC152979-7945-49EF-C493-E02BDDCAE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665977-0C92-8AFF-0119-0F568D315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36078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95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3876-19B1-E4B6-716D-FD5FA24B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ECB0D33-C7A4-8A73-9AEE-71A297826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986005C-A574-5528-5018-7A91E88D4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10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1E79BA3-AB92-32BA-3883-6CA7CE319C5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205F42-26E0-2632-97A3-AB63C2B354A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0F545D-50D5-FBF2-9B53-ED2282786BF3}"/>
                  </a:ext>
                </a:extLst>
              </p:cNvPr>
              <p:cNvSpPr txBox="1"/>
              <p:nvPr/>
            </p:nvSpPr>
            <p:spPr>
              <a:xfrm>
                <a:off x="3838524" y="5091480"/>
                <a:ext cx="4654783" cy="688073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fr-F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+ </m:t>
                          </m:r>
                          <m:f>
                            <m:fPr>
                              <m:ctrl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</m:t>
                              </m:r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 </m:t>
                          </m:r>
                          <m:f>
                            <m:fPr>
                              <m:ctrl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LC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amp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den>
                          </m:f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  <m:r>
                            <a:rPr lang="fr-F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05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0F545D-50D5-FBF2-9B53-ED2282786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524" y="5091480"/>
                <a:ext cx="4654783" cy="6880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D2AAE83-25D6-5C8B-6786-A77DE700832E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Simulation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5CF74A-3235-334E-632B-CC390B45C369}"/>
              </a:ext>
            </a:extLst>
          </p:cNvPr>
          <p:cNvSpPr/>
          <p:nvPr/>
        </p:nvSpPr>
        <p:spPr>
          <a:xfrm flipV="1">
            <a:off x="7457440" y="3112184"/>
            <a:ext cx="34883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F9204D-E32E-5B95-5640-B88E7B17169B}"/>
              </a:ext>
            </a:extLst>
          </p:cNvPr>
          <p:cNvSpPr/>
          <p:nvPr/>
        </p:nvSpPr>
        <p:spPr>
          <a:xfrm flipV="1">
            <a:off x="8306560" y="3163393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B75D12-6B9E-4593-678A-EE6E88218F7F}"/>
              </a:ext>
            </a:extLst>
          </p:cNvPr>
          <p:cNvSpPr/>
          <p:nvPr/>
        </p:nvSpPr>
        <p:spPr>
          <a:xfrm flipV="1">
            <a:off x="6182131" y="4000962"/>
            <a:ext cx="399222" cy="18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55C530-9B63-4FD8-E152-A4133E03F058}"/>
              </a:ext>
            </a:extLst>
          </p:cNvPr>
          <p:cNvSpPr txBox="1"/>
          <p:nvPr/>
        </p:nvSpPr>
        <p:spPr>
          <a:xfrm>
            <a:off x="4008208" y="5823997"/>
            <a:ext cx="43478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b="1" dirty="0"/>
              <a:t>Passe bas 2</a:t>
            </a:r>
            <a:r>
              <a:rPr lang="fr-FR" sz="1200" b="1" baseline="30000" dirty="0"/>
              <a:t>nd</a:t>
            </a:r>
            <a:r>
              <a:rPr lang="fr-FR" sz="1200" b="1" dirty="0"/>
              <a:t> Ordre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C52100-2078-7084-F07D-5ED9A35E972E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[5]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8DE0F6-F3D3-60E9-AC95-080A1CFD27A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DAFFA78-1391-21A7-5466-4FF63E94793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Footer Placeholder 2">
              <a:extLst>
                <a:ext uri="{FF2B5EF4-FFF2-40B4-BE49-F238E27FC236}">
                  <a16:creationId xmlns:a16="http://schemas.microsoft.com/office/drawing/2014/main" id="{681DBAC5-62E8-3152-7554-3CBF30156F3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B7C302-CEAE-E02C-8A9F-5586C3510386}"/>
                  </a:ext>
                </a:extLst>
              </p:cNvPr>
              <p:cNvSpPr/>
              <p:nvPr/>
            </p:nvSpPr>
            <p:spPr>
              <a:xfrm>
                <a:off x="326176" y="1110401"/>
                <a:ext cx="2878491" cy="4960615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Modèle</a:t>
                </a:r>
              </a:p>
              <a:p>
                <a:pPr algn="ctr"/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Force électromotrice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FEM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Tension induite dans le micro par la vibration de la corde</a:t>
                </a:r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Inductance série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Inductance de la bobine du micro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Resistance série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Resistance en CC du micro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Condensateur parallèle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Capacité interne du micro</a:t>
                </a: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Resistance parallèle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Resistance due aux courants de Foucault</a:t>
                </a: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amp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Resistance d’entrée d’un amplificateur</a:t>
                </a:r>
              </a:p>
            </p:txBody>
          </p:sp>
        </mc:Choice>
        <mc:Fallback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3B7C302-CEAE-E02C-8A9F-5586C3510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1110401"/>
                <a:ext cx="2878491" cy="4960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3C03D690-8EC1-39C0-78A9-76F7F54EC971}"/>
              </a:ext>
            </a:extLst>
          </p:cNvPr>
          <p:cNvGrpSpPr/>
          <p:nvPr/>
        </p:nvGrpSpPr>
        <p:grpSpPr>
          <a:xfrm>
            <a:off x="3442144" y="1139891"/>
            <a:ext cx="5447544" cy="3869802"/>
            <a:chOff x="1054903" y="1363393"/>
            <a:chExt cx="4626939" cy="3600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5F175ED-75BD-0594-4496-836405341042}"/>
                </a:ext>
              </a:extLst>
            </p:cNvPr>
            <p:cNvGrpSpPr/>
            <p:nvPr/>
          </p:nvGrpSpPr>
          <p:grpSpPr>
            <a:xfrm>
              <a:off x="1054903" y="1363393"/>
              <a:ext cx="4626939" cy="3600000"/>
              <a:chOff x="1054904" y="1200155"/>
              <a:chExt cx="4927617" cy="3601072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2C8B805-5A00-DF26-9274-1372E1E8BC4E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54904" y="1200155"/>
                <a:ext cx="4927617" cy="36010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4FF6692-02DB-2BAD-9736-3F7A9C46E824}"/>
                  </a:ext>
                </a:extLst>
              </p:cNvPr>
              <p:cNvSpPr/>
              <p:nvPr/>
            </p:nvSpPr>
            <p:spPr>
              <a:xfrm>
                <a:off x="1486014" y="210415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733BCE-A9AF-5C2C-0150-DCF00D160A00}"/>
                  </a:ext>
                </a:extLst>
              </p:cNvPr>
              <p:cNvSpPr/>
              <p:nvPr/>
            </p:nvSpPr>
            <p:spPr>
              <a:xfrm>
                <a:off x="2555070" y="303342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DA97779-86EB-D4C5-0616-D79902CA7A03}"/>
                  </a:ext>
                </a:extLst>
              </p:cNvPr>
              <p:cNvSpPr/>
              <p:nvPr/>
            </p:nvSpPr>
            <p:spPr>
              <a:xfrm>
                <a:off x="3715970" y="3073533"/>
                <a:ext cx="703406" cy="2401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A666622-D887-C02B-48A3-3C066C5B2CED}"/>
                  </a:ext>
                </a:extLst>
              </p:cNvPr>
              <p:cNvSpPr/>
              <p:nvPr/>
            </p:nvSpPr>
            <p:spPr>
              <a:xfrm>
                <a:off x="5397029" y="3091033"/>
                <a:ext cx="527521" cy="2011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C13F4F8-18A5-4057-201D-4D1070B2E781}"/>
                  </a:ext>
                </a:extLst>
              </p:cNvPr>
              <p:cNvSpPr/>
              <p:nvPr/>
            </p:nvSpPr>
            <p:spPr>
              <a:xfrm>
                <a:off x="1468417" y="3119201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3943E8A-1FC6-FC7C-384C-53948D2FB57F}"/>
                </a:ext>
              </a:extLst>
            </p:cNvPr>
            <p:cNvCxnSpPr/>
            <p:nvPr/>
          </p:nvCxnSpPr>
          <p:spPr>
            <a:xfrm flipV="1">
              <a:off x="1601848" y="3920464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06677D-0818-3210-9991-80EAAFAEA943}"/>
                    </a:ext>
                  </a:extLst>
                </p:cNvPr>
                <p:cNvSpPr txBox="1"/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06677D-0818-3210-9991-80EAAFAEA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5769" t="-3333" r="-15385" b="-4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2D71FB5-B582-D158-98B2-AFA7CCD504A8}"/>
                </a:ext>
              </a:extLst>
            </p:cNvPr>
            <p:cNvCxnSpPr/>
            <p:nvPr/>
          </p:nvCxnSpPr>
          <p:spPr>
            <a:xfrm flipV="1">
              <a:off x="4752281" y="2872673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FBEA564-E231-D34A-1E71-EDA0435E746B}"/>
                    </a:ext>
                  </a:extLst>
                </p:cNvPr>
                <p:cNvSpPr txBox="1"/>
                <p:nvPr/>
              </p:nvSpPr>
              <p:spPr>
                <a:xfrm>
                  <a:off x="4413719" y="3036680"/>
                  <a:ext cx="32117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FBEA564-E231-D34A-1E71-EDA0435E74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3719" y="3036680"/>
                  <a:ext cx="321178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5660" r="-13208" b="-4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812AC73-6CEC-C446-2C29-D16FE96678A7}"/>
              </a:ext>
            </a:extLst>
          </p:cNvPr>
          <p:cNvSpPr txBox="1"/>
          <p:nvPr/>
        </p:nvSpPr>
        <p:spPr>
          <a:xfrm>
            <a:off x="4068272" y="4697849"/>
            <a:ext cx="4626939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Schéma électrique équivalent d’un micro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B61DF536-AB20-09C4-4CD2-C37677694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7EBF26C-5DCD-6E88-B3A2-94B398912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63026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25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C70D36F4-D5FF-945D-E39A-606CC8E48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919" y="492278"/>
            <a:ext cx="634848" cy="63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49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095B-CBBF-28A8-4ECB-2036D2BA3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C174FD-251E-6617-96DC-59EDC4D1886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AC0E1E9-9630-1795-4D01-63EDE489C412}"/>
                  </a:ext>
                </a:extLst>
              </p:cNvPr>
              <p:cNvSpPr/>
              <p:nvPr/>
            </p:nvSpPr>
            <p:spPr>
              <a:xfrm>
                <a:off x="5321656" y="1210777"/>
                <a:ext cx="3617103" cy="4906153"/>
              </a:xfrm>
              <a:prstGeom prst="rect">
                <a:avLst/>
              </a:prstGeom>
              <a:noFill/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600" b="1" dirty="0">
                    <a:solidFill>
                      <a:schemeClr val="tx1"/>
                    </a:solidFill>
                  </a:rPr>
                  <a:t>Protocole</a:t>
                </a:r>
              </a:p>
              <a:p>
                <a:endParaRPr lang="fr-FR" sz="1600" b="1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Objectif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Déterminer l’impédance du micro en fonction de la fréquence</a:t>
                </a:r>
              </a:p>
              <a:p>
                <a:endParaRPr lang="fr-FR" sz="1600" b="1" u="sng" dirty="0">
                  <a:solidFill>
                    <a:schemeClr val="tx1"/>
                  </a:solidFill>
                </a:endParaRPr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Méthode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Pont diviseur de tension :</a:t>
                </a: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                            On a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                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den>
                    </m:f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GBF</m:t>
                        </m:r>
                      </m:sub>
                    </m:sSub>
                  </m:oMath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                            D’où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16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                                </m:t>
                    </m:r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 = </m:t>
                    </m:r>
                    <m:r>
                      <m:rPr>
                        <m:sty m:val="p"/>
                      </m:rP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GBF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den>
                    </m:f>
                    <m:r>
                      <a:rPr lang="fr-FR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r>
                  <a:rPr lang="fr-FR" sz="1600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</m:den>
                    </m:f>
                    <m:sSub>
                      <m:sSub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GBF</m:t>
                        </m:r>
                      </m:sub>
                    </m:sSub>
                  </m:oMath>
                </a14:m>
                <a:endParaRPr lang="fr-FR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fr-FR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AC0E1E9-9630-1795-4D01-63EDE489C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656" y="1210777"/>
                <a:ext cx="3617103" cy="4906153"/>
              </a:xfrm>
              <a:prstGeom prst="rect">
                <a:avLst/>
              </a:prstGeom>
              <a:blipFill>
                <a:blip r:embed="rId2"/>
                <a:stretch>
                  <a:fillRect l="-501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C1C5097-5663-EE26-5A50-7D842017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B1C5B82-F24C-54E1-B2B4-47EDF43A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11</a:t>
            </a:fld>
            <a:endParaRPr lang="fr-FR" sz="1200" b="1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840323-D421-9975-E022-715C81AAE9F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59CBEC-6A66-3C03-69BA-0B6C7EDE554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36A16625-5967-D680-5029-0BF57049FBA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301DC408-888A-6405-0042-8A6DE09DE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A675C6-213A-E88E-59F1-7172A6896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4760" b="5280"/>
          <a:stretch>
            <a:fillRect/>
          </a:stretch>
        </p:blipFill>
        <p:spPr>
          <a:xfrm>
            <a:off x="281944" y="1210777"/>
            <a:ext cx="4913871" cy="4906153"/>
          </a:xfrm>
          <a:prstGeom prst="rect">
            <a:avLst/>
          </a:prstGeom>
          <a:effectLst>
            <a:softEdge rad="31750"/>
          </a:effec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723D10F-DC3E-0502-B8F8-4D38F5670C0A}"/>
              </a:ext>
            </a:extLst>
          </p:cNvPr>
          <p:cNvGrpSpPr/>
          <p:nvPr/>
        </p:nvGrpSpPr>
        <p:grpSpPr>
          <a:xfrm>
            <a:off x="5403867" y="3282846"/>
            <a:ext cx="1609248" cy="2735705"/>
            <a:chOff x="6497897" y="3679700"/>
            <a:chExt cx="1558055" cy="238382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BA87804-E793-D915-5A30-57C6AEB52B60}"/>
                </a:ext>
              </a:extLst>
            </p:cNvPr>
            <p:cNvGrpSpPr/>
            <p:nvPr/>
          </p:nvGrpSpPr>
          <p:grpSpPr>
            <a:xfrm>
              <a:off x="6497897" y="3679700"/>
              <a:ext cx="1558055" cy="2383821"/>
              <a:chOff x="6497897" y="3679700"/>
              <a:chExt cx="1558055" cy="2383821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514A741-CB88-186A-C4B1-6DCE3856F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6307" t="10463" r="6981" b="8803"/>
              <a:stretch>
                <a:fillRect/>
              </a:stretch>
            </p:blipFill>
            <p:spPr>
              <a:xfrm>
                <a:off x="6497897" y="3679700"/>
                <a:ext cx="1558055" cy="2383821"/>
              </a:xfrm>
              <a:prstGeom prst="rect">
                <a:avLst/>
              </a:prstGeom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442F70-CCD4-8D46-B6DE-910E10217EA2}"/>
                  </a:ext>
                </a:extLst>
              </p:cNvPr>
              <p:cNvSpPr/>
              <p:nvPr/>
            </p:nvSpPr>
            <p:spPr>
              <a:xfrm>
                <a:off x="7432839" y="4056920"/>
                <a:ext cx="337279" cy="54615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7671E79-08BE-83DE-FA73-714A8E9F71DE}"/>
                </a:ext>
              </a:extLst>
            </p:cNvPr>
            <p:cNvGrpSpPr/>
            <p:nvPr/>
          </p:nvGrpSpPr>
          <p:grpSpPr>
            <a:xfrm>
              <a:off x="6928661" y="4756793"/>
              <a:ext cx="368691" cy="333760"/>
              <a:chOff x="6928661" y="4756793"/>
              <a:chExt cx="368691" cy="333760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D7D492C5-9B73-C6CA-041A-FE1E349AD3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43869" y="4756793"/>
                <a:ext cx="0" cy="333760"/>
              </a:xfrm>
              <a:prstGeom prst="straightConnector1">
                <a:avLst/>
              </a:prstGeom>
              <a:ln>
                <a:solidFill>
                  <a:srgbClr val="3890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F415487-9BB7-B80B-8283-C78CB2FEBF88}"/>
                      </a:ext>
                    </a:extLst>
                  </p:cNvPr>
                  <p:cNvSpPr txBox="1"/>
                  <p:nvPr/>
                </p:nvSpPr>
                <p:spPr>
                  <a:xfrm>
                    <a:off x="6928661" y="4831340"/>
                    <a:ext cx="368691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  <m:t>GBF</m:t>
                              </m:r>
                            </m:sub>
                          </m:sSub>
                        </m:oMath>
                      </m:oMathPara>
                    </a14:m>
                    <a:endParaRPr lang="fr-FR" sz="1200" dirty="0">
                      <a:solidFill>
                        <a:srgbClr val="38903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7F415487-9BB7-B80B-8283-C78CB2FEBF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8661" y="4831340"/>
                    <a:ext cx="368691" cy="1846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6349" b="-285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EA8C134-BA8E-CC3F-12D8-CF0F721FA6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55402" y="5313463"/>
              <a:ext cx="0" cy="33376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CAE14E7-0E0B-1399-EDCF-F1EE790AA363}"/>
                    </a:ext>
                  </a:extLst>
                </p:cNvPr>
                <p:cNvSpPr txBox="1"/>
                <p:nvPr/>
              </p:nvSpPr>
              <p:spPr>
                <a:xfrm>
                  <a:off x="7297352" y="5388010"/>
                  <a:ext cx="14266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CAE14E7-0E0B-1399-EDCF-F1EE790AA3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7352" y="5388010"/>
                  <a:ext cx="142668" cy="184666"/>
                </a:xfrm>
                <a:prstGeom prst="rect">
                  <a:avLst/>
                </a:prstGeom>
                <a:blipFill>
                  <a:blip r:embed="rId8"/>
                  <a:stretch>
                    <a:fillRect l="-20833" r="-208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66DF18A-1892-5FE0-EB86-11E4337FC251}"/>
              </a:ext>
            </a:extLst>
          </p:cNvPr>
          <p:cNvSpPr txBox="1"/>
          <p:nvPr/>
        </p:nvSpPr>
        <p:spPr>
          <a:xfrm>
            <a:off x="5723508" y="3772788"/>
            <a:ext cx="7015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Arial Black" panose="020B0A04020102020204" pitchFamily="34" charset="0"/>
              </a:rPr>
              <a:t>MICRO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56465D4B-F265-C435-89C6-9EE669732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723164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CADA8AD9-A980-D884-9F53-A96F804F319D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</p:spTree>
    <p:extLst>
      <p:ext uri="{BB962C8B-B14F-4D97-AF65-F5344CB8AC3E}">
        <p14:creationId xmlns:p14="http://schemas.microsoft.com/office/powerpoint/2010/main" val="1808984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018B5-54AA-3079-566C-736CFE78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35CE00B-FC79-81FF-86A6-285CABA510BD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C71C571-0E5F-3D4C-EAFA-E4D0E6972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E8E22F3-36AA-64A0-F7DA-405F92FD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12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9DDD954-4CB1-5C4D-D33E-CFAF6AFEA11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pic>
        <p:nvPicPr>
          <p:cNvPr id="14" name="Picture 2" descr="Python Logo PNG Transparent – Brands Logos">
            <a:extLst>
              <a:ext uri="{FF2B5EF4-FFF2-40B4-BE49-F238E27FC236}">
                <a16:creationId xmlns:a16="http://schemas.microsoft.com/office/drawing/2014/main" id="{F1C82144-927B-4AF8-0078-296BB4BDF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/>
              <p:nvPr/>
            </p:nvSpPr>
            <p:spPr>
              <a:xfrm>
                <a:off x="5583836" y="1035070"/>
                <a:ext cx="3382300" cy="2283357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Méthode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Déterminer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Observer la résistance en CC avec un </a:t>
                </a:r>
                <a:r>
                  <a:rPr lang="fr-FR" sz="1400" u="sng" dirty="0">
                    <a:solidFill>
                      <a:schemeClr val="tx1"/>
                    </a:solidFill>
                  </a:rPr>
                  <a:t>multimètre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b="1" dirty="0">
                    <a:solidFill>
                      <a:schemeClr val="tx1"/>
                    </a:solidFill>
                  </a:rPr>
                  <a:t>Determiner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fr-FR" sz="1400" b="1" dirty="0">
                    <a:solidFill>
                      <a:schemeClr val="tx1"/>
                    </a:solidFill>
                  </a:rPr>
                  <a:t>:</a:t>
                </a:r>
              </a:p>
              <a:p>
                <a:r>
                  <a:rPr lang="fr-FR" sz="1400" dirty="0">
                    <a:solidFill>
                      <a:schemeClr val="tx1"/>
                    </a:solidFill>
                  </a:rPr>
                  <a:t>Approximation numérique via une algorithme d’optimisation numérique : </a:t>
                </a:r>
              </a:p>
              <a:p>
                <a:r>
                  <a:rPr lang="fr-FR" sz="1400" u="sng" dirty="0"/>
                  <a:t>Levenberg-Marquardt</a:t>
                </a:r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1496738-E437-E224-56B5-217CBA7F53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36" y="1035070"/>
                <a:ext cx="3382300" cy="2283357"/>
              </a:xfrm>
              <a:prstGeom prst="rect">
                <a:avLst/>
              </a:prstGeom>
              <a:blipFill>
                <a:blip r:embed="rId4"/>
                <a:stretch>
                  <a:fillRect b="-263"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A0507F6-1CAF-6D7E-A062-151372E24A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8529" y="1024035"/>
            <a:ext cx="5174243" cy="52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31B521F-AFDC-D9C5-028E-C5CB3D8FDF44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94F355-A446-D356-7486-C332C08027A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8D546518-E475-76BF-FDD7-AAAC59D808E5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83CF6CC7-C2A9-D2EB-0FC4-A98DAEFFDC33}"/>
              </a:ext>
            </a:extLst>
          </p:cNvPr>
          <p:cNvSpPr/>
          <p:nvPr/>
        </p:nvSpPr>
        <p:spPr>
          <a:xfrm>
            <a:off x="5583836" y="3437083"/>
            <a:ext cx="3382300" cy="2815095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fr-FR" sz="1400" b="1" dirty="0">
                <a:solidFill>
                  <a:schemeClr val="tx1"/>
                </a:solidFill>
              </a:rPr>
              <a:t>Mesures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DB194F1-0075-78A8-D900-8165D3AE9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10835"/>
              </p:ext>
            </p:extLst>
          </p:nvPr>
        </p:nvGraphicFramePr>
        <p:xfrm>
          <a:off x="5642349" y="3818066"/>
          <a:ext cx="3247339" cy="233539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27811">
                  <a:extLst>
                    <a:ext uri="{9D8B030D-6E8A-4147-A177-3AD203B41FA5}">
                      <a16:colId xmlns:a16="http://schemas.microsoft.com/office/drawing/2014/main" val="887859225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2798946589"/>
                    </a:ext>
                  </a:extLst>
                </a:gridCol>
                <a:gridCol w="1159764">
                  <a:extLst>
                    <a:ext uri="{9D8B030D-6E8A-4147-A177-3AD203B41FA5}">
                      <a16:colId xmlns:a16="http://schemas.microsoft.com/office/drawing/2014/main" val="3812795422"/>
                    </a:ext>
                  </a:extLst>
                </a:gridCol>
              </a:tblGrid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147041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85096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796117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3905"/>
                  </a:ext>
                </a:extLst>
              </a:tr>
              <a:tr h="46707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9429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/>
              <p:nvPr/>
            </p:nvSpPr>
            <p:spPr>
              <a:xfrm>
                <a:off x="5716408" y="4358922"/>
                <a:ext cx="7976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6C2966F-DA0E-A129-4604-4CAF4E34F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408" y="4358922"/>
                <a:ext cx="797654" cy="276999"/>
              </a:xfrm>
              <a:prstGeom prst="rect">
                <a:avLst/>
              </a:prstGeom>
              <a:blipFill>
                <a:blip r:embed="rId6"/>
                <a:stretch>
                  <a:fillRect l="-6107" r="-9924" b="-4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/>
              <p:nvPr/>
            </p:nvSpPr>
            <p:spPr>
              <a:xfrm>
                <a:off x="5802191" y="4843528"/>
                <a:ext cx="5578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F0483B-5D7F-BD8A-75FC-E3EF369CF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191" y="4843528"/>
                <a:ext cx="557845" cy="276999"/>
              </a:xfrm>
              <a:prstGeom prst="rect">
                <a:avLst/>
              </a:prstGeom>
              <a:blipFill>
                <a:blip r:embed="rId7"/>
                <a:stretch>
                  <a:fillRect l="-8791" t="-2222" r="-14286"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/>
              <p:nvPr/>
            </p:nvSpPr>
            <p:spPr>
              <a:xfrm>
                <a:off x="5802191" y="5291218"/>
                <a:ext cx="6572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pF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56B1CA-1069-0FB7-1585-C66FE7279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191" y="5291218"/>
                <a:ext cx="657231" cy="276999"/>
              </a:xfrm>
              <a:prstGeom prst="rect">
                <a:avLst/>
              </a:prstGeom>
              <a:blipFill>
                <a:blip r:embed="rId8"/>
                <a:stretch>
                  <a:fillRect l="-7407" t="-2222" r="-11111"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/>
              <p:nvPr/>
            </p:nvSpPr>
            <p:spPr>
              <a:xfrm>
                <a:off x="5716408" y="5760764"/>
                <a:ext cx="821700" cy="3016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kΩ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54E78-8366-A42C-287C-7D6E1E1C9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408" y="5760764"/>
                <a:ext cx="821700" cy="301686"/>
              </a:xfrm>
              <a:prstGeom prst="rect">
                <a:avLst/>
              </a:prstGeom>
              <a:blipFill>
                <a:blip r:embed="rId9"/>
                <a:stretch>
                  <a:fillRect l="-5926" r="-9630" b="-3061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FEA2D9-79F1-7D11-1325-861A26FFAE88}"/>
                  </a:ext>
                </a:extLst>
              </p:cNvPr>
              <p:cNvSpPr txBox="1"/>
              <p:nvPr/>
            </p:nvSpPr>
            <p:spPr>
              <a:xfrm>
                <a:off x="6903185" y="4385371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5,30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FEA2D9-79F1-7D11-1325-861A26FFA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185" y="4385371"/>
                <a:ext cx="496931" cy="276999"/>
              </a:xfrm>
              <a:prstGeom prst="rect">
                <a:avLst/>
              </a:prstGeom>
              <a:blipFill>
                <a:blip r:embed="rId10"/>
                <a:stretch>
                  <a:fillRect l="-9756" r="-10976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08778-1B73-0628-895B-B342F3B665CA}"/>
                  </a:ext>
                </a:extLst>
              </p:cNvPr>
              <p:cNvSpPr txBox="1"/>
              <p:nvPr/>
            </p:nvSpPr>
            <p:spPr>
              <a:xfrm>
                <a:off x="8067273" y="4382516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4,52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D08778-1B73-0628-895B-B342F3B66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73" y="4382516"/>
                <a:ext cx="496931" cy="276999"/>
              </a:xfrm>
              <a:prstGeom prst="rect">
                <a:avLst/>
              </a:prstGeom>
              <a:blipFill>
                <a:blip r:embed="rId11"/>
                <a:stretch>
                  <a:fillRect l="-8537" r="-1097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53456E5-E853-A4FE-EFAC-CC6B3ECCDCD2}"/>
                  </a:ext>
                </a:extLst>
              </p:cNvPr>
              <p:cNvSpPr txBox="1"/>
              <p:nvPr/>
            </p:nvSpPr>
            <p:spPr>
              <a:xfrm>
                <a:off x="6903184" y="4843527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3,75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53456E5-E853-A4FE-EFAC-CC6B3ECCD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184" y="4843527"/>
                <a:ext cx="496931" cy="276999"/>
              </a:xfrm>
              <a:prstGeom prst="rect">
                <a:avLst/>
              </a:prstGeom>
              <a:blipFill>
                <a:blip r:embed="rId12"/>
                <a:stretch>
                  <a:fillRect l="-8537" r="-1097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C5D21F-FCF1-F74B-E5B5-F1A43ECCC887}"/>
                  </a:ext>
                </a:extLst>
              </p:cNvPr>
              <p:cNvSpPr txBox="1"/>
              <p:nvPr/>
            </p:nvSpPr>
            <p:spPr>
              <a:xfrm>
                <a:off x="6927228" y="5286689"/>
                <a:ext cx="44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270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C5D21F-FCF1-F74B-E5B5-F1A43ECCC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228" y="5286689"/>
                <a:ext cx="448841" cy="276999"/>
              </a:xfrm>
              <a:prstGeom prst="rect">
                <a:avLst/>
              </a:prstGeom>
              <a:blipFill>
                <a:blip r:embed="rId13"/>
                <a:stretch>
                  <a:fillRect l="-10811" r="-10811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F28906-22A0-559E-7F1A-A74554E132D7}"/>
                  </a:ext>
                </a:extLst>
              </p:cNvPr>
              <p:cNvSpPr txBox="1"/>
              <p:nvPr/>
            </p:nvSpPr>
            <p:spPr>
              <a:xfrm>
                <a:off x="6850883" y="5771296"/>
                <a:ext cx="625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305,8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F28906-22A0-559E-7F1A-A74554E13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883" y="5771296"/>
                <a:ext cx="625171" cy="276999"/>
              </a:xfrm>
              <a:prstGeom prst="rect">
                <a:avLst/>
              </a:prstGeom>
              <a:blipFill>
                <a:blip r:embed="rId14"/>
                <a:stretch>
                  <a:fillRect l="-7843" r="-8824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6A8249-5B4E-315E-0B47-E01977932166}"/>
                  </a:ext>
                </a:extLst>
              </p:cNvPr>
              <p:cNvSpPr txBox="1"/>
              <p:nvPr/>
            </p:nvSpPr>
            <p:spPr>
              <a:xfrm>
                <a:off x="8067272" y="4843527"/>
                <a:ext cx="496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2,50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06A8249-5B4E-315E-0B47-E01977932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72" y="4843527"/>
                <a:ext cx="496931" cy="276999"/>
              </a:xfrm>
              <a:prstGeom prst="rect">
                <a:avLst/>
              </a:prstGeom>
              <a:blipFill>
                <a:blip r:embed="rId15"/>
                <a:stretch>
                  <a:fillRect l="-8537" r="-10976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69FF50-C911-DA9C-9E7F-230E239FCA3E}"/>
                  </a:ext>
                </a:extLst>
              </p:cNvPr>
              <p:cNvSpPr txBox="1"/>
              <p:nvPr/>
            </p:nvSpPr>
            <p:spPr>
              <a:xfrm>
                <a:off x="8091316" y="5292326"/>
                <a:ext cx="4488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150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D69FF50-C911-DA9C-9E7F-230E239FC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1316" y="5292326"/>
                <a:ext cx="448841" cy="276999"/>
              </a:xfrm>
              <a:prstGeom prst="rect">
                <a:avLst/>
              </a:prstGeom>
              <a:blipFill>
                <a:blip r:embed="rId16"/>
                <a:stretch>
                  <a:fillRect l="-12162" r="-10811" b="-86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45B47F-AF8D-1C10-143E-2FABAB6625B1}"/>
                  </a:ext>
                </a:extLst>
              </p:cNvPr>
              <p:cNvSpPr txBox="1"/>
              <p:nvPr/>
            </p:nvSpPr>
            <p:spPr>
              <a:xfrm>
                <a:off x="8003150" y="5760764"/>
                <a:ext cx="6251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246,8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45B47F-AF8D-1C10-143E-2FABAB662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150" y="5760764"/>
                <a:ext cx="625171" cy="276999"/>
              </a:xfrm>
              <a:prstGeom prst="rect">
                <a:avLst/>
              </a:prstGeom>
              <a:blipFill>
                <a:blip r:embed="rId17"/>
                <a:stretch>
                  <a:fillRect l="-7843" r="-8824" b="-111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Picture 31">
            <a:extLst>
              <a:ext uri="{FF2B5EF4-FFF2-40B4-BE49-F238E27FC236}">
                <a16:creationId xmlns:a16="http://schemas.microsoft.com/office/drawing/2014/main" id="{84EAD3AE-C225-14EF-269F-5B5AE150E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6895853" y="3818869"/>
            <a:ext cx="568459" cy="468000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>
            <a:extLst>
              <a:ext uri="{FF2B5EF4-FFF2-40B4-BE49-F238E27FC236}">
                <a16:creationId xmlns:a16="http://schemas.microsoft.com/office/drawing/2014/main" id="{605931B4-D82E-5BAF-958F-6B5A64B60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8053696" y="3788883"/>
            <a:ext cx="582811" cy="46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ooter Placeholder 2">
            <a:extLst>
              <a:ext uri="{FF2B5EF4-FFF2-40B4-BE49-F238E27FC236}">
                <a16:creationId xmlns:a16="http://schemas.microsoft.com/office/drawing/2014/main" id="{96AD9D58-FAFC-CBE8-A6DF-0867908D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53AA4B7E-24CD-8B97-FE91-5DC5ED0AA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458519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E2EEDFEB-AFAA-C6BE-4F6C-51B78A0870E6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312338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E2422-0593-98CE-0BC1-D9A0BE050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4" descr="Télécharger LTspice pour Windows, Mac, Web - Telecharger.com">
            <a:extLst>
              <a:ext uri="{FF2B5EF4-FFF2-40B4-BE49-F238E27FC236}">
                <a16:creationId xmlns:a16="http://schemas.microsoft.com/office/drawing/2014/main" id="{1B7ADBC6-4B8D-7364-80A5-17CE31D60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413" y="465112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Python Logo PNG Transparent – Brands Logos">
            <a:extLst>
              <a:ext uri="{FF2B5EF4-FFF2-40B4-BE49-F238E27FC236}">
                <a16:creationId xmlns:a16="http://schemas.microsoft.com/office/drawing/2014/main" id="{AC3C3F02-BE4B-C00D-8113-255A41FE1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A3D31D4-FFA1-BFF2-889B-9A83090A38E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3249544-0A0A-C649-155C-A9E1F782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28BACC0-48BC-CC88-7B3A-B5A7AC62F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/>
          <a:lstStyle/>
          <a:p>
            <a:fld id="{14462E3A-2F72-4E26-BAEE-59263817CA39}" type="slidenum">
              <a:rPr lang="fr-FR" sz="1200" b="1" smtClean="0"/>
              <a:t>13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6E554F1-44BD-8B7F-91BB-367D7780CA1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EA3527-CBE4-BB1E-8E8A-8B21A1F88B1C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291E480-CEFE-D580-938C-FDAA725FDA6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Footer Placeholder 2">
              <a:extLst>
                <a:ext uri="{FF2B5EF4-FFF2-40B4-BE49-F238E27FC236}">
                  <a16:creationId xmlns:a16="http://schemas.microsoft.com/office/drawing/2014/main" id="{024BCF65-762C-3EB5-9AA3-CD664A82060E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9349B35-E6B7-9E01-F26A-2A7F7B8E63D3}"/>
                  </a:ext>
                </a:extLst>
              </p:cNvPr>
              <p:cNvSpPr/>
              <p:nvPr/>
            </p:nvSpPr>
            <p:spPr>
              <a:xfrm>
                <a:off x="5583836" y="3922665"/>
                <a:ext cx="3357228" cy="2329514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u="sng" dirty="0">
                    <a:solidFill>
                      <a:schemeClr val="tx1"/>
                    </a:solidFill>
                  </a:rPr>
                  <a:t>Conclusion</a:t>
                </a: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r>
                  <a:rPr lang="fr-FR" sz="1400" b="1" dirty="0">
                    <a:solidFill>
                      <a:schemeClr val="tx1"/>
                    </a:solidFill>
                  </a:rPr>
                  <a:t>En basses fréquences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b="0" dirty="0">
                  <a:solidFill>
                    <a:srgbClr val="C00000"/>
                  </a:solidFill>
                </a:endParaRPr>
              </a:p>
              <a:p>
                <a:pPr/>
                <a:endParaRPr lang="fr-FR" sz="1400" b="0" dirty="0">
                  <a:solidFill>
                    <a:srgbClr val="C00000"/>
                  </a:solidFill>
                </a:endParaRPr>
              </a:p>
              <a:p>
                <a:pPr/>
                <a:r>
                  <a:rPr lang="fr-FR" sz="1400" b="1" dirty="0">
                    <a:solidFill>
                      <a:schemeClr val="tx1"/>
                    </a:solidFill>
                  </a:rPr>
                  <a:t>A la résonance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SC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HB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pPr/>
                <a:endParaRPr lang="fr-FR" sz="1400" dirty="0">
                  <a:solidFill>
                    <a:schemeClr val="tx1"/>
                  </a:solidFill>
                </a:endParaRPr>
              </a:p>
              <a:p>
                <a:r>
                  <a:rPr lang="fr-FR" sz="1400" b="1" dirty="0">
                    <a:solidFill>
                      <a:schemeClr val="tx1"/>
                    </a:solidFill>
                  </a:rPr>
                  <a:t>En haute fréquence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SC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HB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9349B35-E6B7-9E01-F26A-2A7F7B8E63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836" y="3922665"/>
                <a:ext cx="3357228" cy="23295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2FCA72B-A395-406E-8C4A-C20084E7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9BC71-3A20-546E-95A4-02C1584F64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488886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6B5C775-C8F0-7ABF-BA08-8D829E5E17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032179"/>
            <a:ext cx="5175257" cy="52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9F34FD-89CC-63DB-50E1-5A91FD67A29F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6D5E734-BEFF-CD79-965F-FB5828B2E5CC}"/>
              </a:ext>
            </a:extLst>
          </p:cNvPr>
          <p:cNvGrpSpPr/>
          <p:nvPr/>
        </p:nvGrpSpPr>
        <p:grpSpPr>
          <a:xfrm>
            <a:off x="5599227" y="1032179"/>
            <a:ext cx="3326445" cy="2823180"/>
            <a:chOff x="1054903" y="1363393"/>
            <a:chExt cx="4626939" cy="360000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ED3F46F-DC18-6391-8105-AA697B7747C2}"/>
                </a:ext>
              </a:extLst>
            </p:cNvPr>
            <p:cNvGrpSpPr/>
            <p:nvPr/>
          </p:nvGrpSpPr>
          <p:grpSpPr>
            <a:xfrm>
              <a:off x="1054903" y="1363393"/>
              <a:ext cx="4626939" cy="3600000"/>
              <a:chOff x="1054904" y="1200155"/>
              <a:chExt cx="4927617" cy="3601072"/>
            </a:xfrm>
          </p:grpSpPr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FABB742B-9779-0465-C259-DD2573559646}"/>
                  </a:ext>
                </a:extLst>
              </p:cNvPr>
              <p:cNvPicPr>
                <a:picLocks/>
              </p:cNvPicPr>
              <p:nvPr/>
            </p:nvPicPr>
            <p:blipFill>
              <a:blip r:embed="rId7">
                <a:biLevel thresh="75000"/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1054904" y="1200155"/>
                <a:ext cx="4927617" cy="360107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0F03DAF-9C8C-E632-D75C-DF45F7659EE5}"/>
                  </a:ext>
                </a:extLst>
              </p:cNvPr>
              <p:cNvSpPr/>
              <p:nvPr/>
            </p:nvSpPr>
            <p:spPr>
              <a:xfrm>
                <a:off x="1486014" y="210415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DE0F72D0-A71E-B680-123E-D91909E35BA7}"/>
                  </a:ext>
                </a:extLst>
              </p:cNvPr>
              <p:cNvSpPr/>
              <p:nvPr/>
            </p:nvSpPr>
            <p:spPr>
              <a:xfrm>
                <a:off x="2555070" y="3033420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ACB2F929-E154-3686-6854-44785E9CDCD6}"/>
                  </a:ext>
                </a:extLst>
              </p:cNvPr>
              <p:cNvSpPr/>
              <p:nvPr/>
            </p:nvSpPr>
            <p:spPr>
              <a:xfrm>
                <a:off x="3715970" y="3073533"/>
                <a:ext cx="703406" cy="2401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66C91E7-5B62-9869-0353-44F1526FF73B}"/>
                  </a:ext>
                </a:extLst>
              </p:cNvPr>
              <p:cNvSpPr/>
              <p:nvPr/>
            </p:nvSpPr>
            <p:spPr>
              <a:xfrm>
                <a:off x="5397029" y="3091033"/>
                <a:ext cx="527521" cy="2011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D560A7F0-B90A-AF7F-A883-CF1041484132}"/>
                  </a:ext>
                </a:extLst>
              </p:cNvPr>
              <p:cNvSpPr/>
              <p:nvPr/>
            </p:nvSpPr>
            <p:spPr>
              <a:xfrm>
                <a:off x="1468417" y="3119201"/>
                <a:ext cx="569627" cy="1944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14ED0F49-FAA4-0AB9-0346-7032B03D4C1B}"/>
                </a:ext>
              </a:extLst>
            </p:cNvPr>
            <p:cNvCxnSpPr/>
            <p:nvPr/>
          </p:nvCxnSpPr>
          <p:spPr>
            <a:xfrm flipV="1">
              <a:off x="1601848" y="3920464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429EC13A-C0EE-64FD-58A5-021924C2CEE4}"/>
                    </a:ext>
                  </a:extLst>
                </p:cNvPr>
                <p:cNvSpPr txBox="1"/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806677D-0818-3210-9991-80EAAFAEA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7934" y="4069558"/>
                  <a:ext cx="316562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5769" t="-3333" r="-15385" b="-4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9A114535-2247-6B08-8DA7-704BEBE278D9}"/>
                </a:ext>
              </a:extLst>
            </p:cNvPr>
            <p:cNvCxnSpPr/>
            <p:nvPr/>
          </p:nvCxnSpPr>
          <p:spPr>
            <a:xfrm flipV="1">
              <a:off x="4752281" y="2872673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2761A93D-AA81-8CAE-7391-1FE645F4975D}"/>
                    </a:ext>
                  </a:extLst>
                </p:cNvPr>
                <p:cNvSpPr txBox="1"/>
                <p:nvPr/>
              </p:nvSpPr>
              <p:spPr>
                <a:xfrm>
                  <a:off x="4361210" y="3036681"/>
                  <a:ext cx="32117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u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2761A93D-AA81-8CAE-7391-1FE645F497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1210" y="3036681"/>
                  <a:ext cx="321178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15789" t="-4348" r="-52632" b="-82609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15195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FCD4-D77B-F1C4-55DD-38C4A934B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96176C0-9C44-1775-37E4-AD2AFEED5530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CB0E4D0-484C-0B4E-BDE7-3504057701ED}"/>
              </a:ext>
            </a:extLst>
          </p:cNvPr>
          <p:cNvGrpSpPr/>
          <p:nvPr/>
        </p:nvGrpSpPr>
        <p:grpSpPr>
          <a:xfrm>
            <a:off x="326176" y="1002105"/>
            <a:ext cx="8527603" cy="3871961"/>
            <a:chOff x="-143123" y="1695451"/>
            <a:chExt cx="8378236" cy="3827203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8D23FFC-B47E-B3BA-1B54-489B1B98EC82}"/>
                </a:ext>
              </a:extLst>
            </p:cNvPr>
            <p:cNvGrpSpPr/>
            <p:nvPr/>
          </p:nvGrpSpPr>
          <p:grpSpPr>
            <a:xfrm>
              <a:off x="-143123" y="1695451"/>
              <a:ext cx="6901731" cy="3827203"/>
              <a:chOff x="1006751" y="1255937"/>
              <a:chExt cx="6952009" cy="3806453"/>
            </a:xfrm>
          </p:grpSpPr>
          <p:pic>
            <p:nvPicPr>
              <p:cNvPr id="68" name="Picture 67" descr="A black and white drawing of a speaker&#10;&#10;AI-generated content may be incorrect.">
                <a:extLst>
                  <a:ext uri="{FF2B5EF4-FFF2-40B4-BE49-F238E27FC236}">
                    <a16:creationId xmlns:a16="http://schemas.microsoft.com/office/drawing/2014/main" id="{9E3ADCD7-C186-B526-3478-BB91B29595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15" t="5174" r="12970" b="6005"/>
              <a:stretch>
                <a:fillRect/>
              </a:stretch>
            </p:blipFill>
            <p:spPr>
              <a:xfrm>
                <a:off x="5339199" y="1663215"/>
                <a:ext cx="2619561" cy="2902226"/>
              </a:xfrm>
              <a:prstGeom prst="rect">
                <a:avLst/>
              </a:prstGeom>
            </p:spPr>
          </p:pic>
          <p:pic>
            <p:nvPicPr>
              <p:cNvPr id="69" name="Picture 2" descr="Coloriage Guitare électrique normale - Dessin gratuit à imprimer">
                <a:extLst>
                  <a:ext uri="{FF2B5EF4-FFF2-40B4-BE49-F238E27FC236}">
                    <a16:creationId xmlns:a16="http://schemas.microsoft.com/office/drawing/2014/main" id="{84FFA659-5182-64DC-FE6E-6A51D79B76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75" t="9659" r="3272" b="14511"/>
              <a:stretch>
                <a:fillRect/>
              </a:stretch>
            </p:blipFill>
            <p:spPr bwMode="auto">
              <a:xfrm rot="18368299">
                <a:off x="661136" y="1601552"/>
                <a:ext cx="3716782" cy="3025552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2BC230A-33A9-0CE3-C146-6A6EFA124000}"/>
                  </a:ext>
                </a:extLst>
              </p:cNvPr>
              <p:cNvSpPr/>
              <p:nvPr/>
            </p:nvSpPr>
            <p:spPr>
              <a:xfrm>
                <a:off x="2687541" y="2252273"/>
                <a:ext cx="3045349" cy="2810117"/>
              </a:xfrm>
              <a:custGeom>
                <a:avLst/>
                <a:gdLst>
                  <a:gd name="csX0" fmla="*/ 0 w 3045349"/>
                  <a:gd name="csY0" fmla="*/ 2454899 h 2876318"/>
                  <a:gd name="csX1" fmla="*/ 31805 w 3045349"/>
                  <a:gd name="csY1" fmla="*/ 2494656 h 2876318"/>
                  <a:gd name="csX2" fmla="*/ 47708 w 3045349"/>
                  <a:gd name="csY2" fmla="*/ 2518510 h 2876318"/>
                  <a:gd name="csX3" fmla="*/ 71562 w 3045349"/>
                  <a:gd name="csY3" fmla="*/ 2526461 h 2876318"/>
                  <a:gd name="csX4" fmla="*/ 127221 w 3045349"/>
                  <a:gd name="csY4" fmla="*/ 2574169 h 2876318"/>
                  <a:gd name="csX5" fmla="*/ 206734 w 3045349"/>
                  <a:gd name="csY5" fmla="*/ 2637779 h 2876318"/>
                  <a:gd name="csX6" fmla="*/ 246490 w 3045349"/>
                  <a:gd name="csY6" fmla="*/ 2661633 h 2876318"/>
                  <a:gd name="csX7" fmla="*/ 278296 w 3045349"/>
                  <a:gd name="csY7" fmla="*/ 2677536 h 2876318"/>
                  <a:gd name="csX8" fmla="*/ 310101 w 3045349"/>
                  <a:gd name="csY8" fmla="*/ 2701390 h 2876318"/>
                  <a:gd name="csX9" fmla="*/ 373711 w 3045349"/>
                  <a:gd name="csY9" fmla="*/ 2733195 h 2876318"/>
                  <a:gd name="csX10" fmla="*/ 429370 w 3045349"/>
                  <a:gd name="csY10" fmla="*/ 2765000 h 2876318"/>
                  <a:gd name="csX11" fmla="*/ 532737 w 3045349"/>
                  <a:gd name="csY11" fmla="*/ 2804757 h 2876318"/>
                  <a:gd name="csX12" fmla="*/ 596348 w 3045349"/>
                  <a:gd name="csY12" fmla="*/ 2836562 h 2876318"/>
                  <a:gd name="csX13" fmla="*/ 659958 w 3045349"/>
                  <a:gd name="csY13" fmla="*/ 2852464 h 2876318"/>
                  <a:gd name="csX14" fmla="*/ 914400 w 3045349"/>
                  <a:gd name="csY14" fmla="*/ 2876318 h 2876318"/>
                  <a:gd name="csX15" fmla="*/ 1121134 w 3045349"/>
                  <a:gd name="csY15" fmla="*/ 2852464 h 2876318"/>
                  <a:gd name="csX16" fmla="*/ 1288111 w 3045349"/>
                  <a:gd name="csY16" fmla="*/ 2780903 h 2876318"/>
                  <a:gd name="csX17" fmla="*/ 1431235 w 3045349"/>
                  <a:gd name="csY17" fmla="*/ 2709341 h 2876318"/>
                  <a:gd name="csX18" fmla="*/ 1478942 w 3045349"/>
                  <a:gd name="csY18" fmla="*/ 2661633 h 2876318"/>
                  <a:gd name="csX19" fmla="*/ 1630017 w 3045349"/>
                  <a:gd name="csY19" fmla="*/ 2470802 h 2876318"/>
                  <a:gd name="csX20" fmla="*/ 1733384 w 3045349"/>
                  <a:gd name="csY20" fmla="*/ 2208409 h 2876318"/>
                  <a:gd name="csX21" fmla="*/ 1733384 w 3045349"/>
                  <a:gd name="csY21" fmla="*/ 1946016 h 2876318"/>
                  <a:gd name="csX22" fmla="*/ 1709530 w 3045349"/>
                  <a:gd name="csY22" fmla="*/ 1858551 h 2876318"/>
                  <a:gd name="csX23" fmla="*/ 1661822 w 3045349"/>
                  <a:gd name="csY23" fmla="*/ 1715428 h 2876318"/>
                  <a:gd name="csX24" fmla="*/ 1614115 w 3045349"/>
                  <a:gd name="csY24" fmla="*/ 1556402 h 2876318"/>
                  <a:gd name="csX25" fmla="*/ 1534602 w 3045349"/>
                  <a:gd name="csY25" fmla="*/ 1413278 h 2876318"/>
                  <a:gd name="csX26" fmla="*/ 1502796 w 3045349"/>
                  <a:gd name="csY26" fmla="*/ 1349668 h 2876318"/>
                  <a:gd name="csX27" fmla="*/ 1399429 w 3045349"/>
                  <a:gd name="csY27" fmla="*/ 1166788 h 2876318"/>
                  <a:gd name="csX28" fmla="*/ 1351722 w 3045349"/>
                  <a:gd name="csY28" fmla="*/ 1023664 h 2876318"/>
                  <a:gd name="csX29" fmla="*/ 1327868 w 3045349"/>
                  <a:gd name="csY29" fmla="*/ 952103 h 2876318"/>
                  <a:gd name="csX30" fmla="*/ 1343770 w 3045349"/>
                  <a:gd name="csY30" fmla="*/ 673807 h 2876318"/>
                  <a:gd name="csX31" fmla="*/ 1367624 w 3045349"/>
                  <a:gd name="csY31" fmla="*/ 610197 h 2876318"/>
                  <a:gd name="csX32" fmla="*/ 1478942 w 3045349"/>
                  <a:gd name="csY32" fmla="*/ 475024 h 2876318"/>
                  <a:gd name="csX33" fmla="*/ 1526650 w 3045349"/>
                  <a:gd name="csY33" fmla="*/ 403463 h 2876318"/>
                  <a:gd name="csX34" fmla="*/ 1630017 w 3045349"/>
                  <a:gd name="csY34" fmla="*/ 315998 h 2876318"/>
                  <a:gd name="csX35" fmla="*/ 1693628 w 3045349"/>
                  <a:gd name="csY35" fmla="*/ 252388 h 2876318"/>
                  <a:gd name="csX36" fmla="*/ 1836751 w 3045349"/>
                  <a:gd name="csY36" fmla="*/ 164924 h 2876318"/>
                  <a:gd name="csX37" fmla="*/ 1948069 w 3045349"/>
                  <a:gd name="csY37" fmla="*/ 93362 h 2876318"/>
                  <a:gd name="csX38" fmla="*/ 2138901 w 3045349"/>
                  <a:gd name="csY38" fmla="*/ 45654 h 2876318"/>
                  <a:gd name="csX39" fmla="*/ 2337683 w 3045349"/>
                  <a:gd name="csY39" fmla="*/ 21800 h 2876318"/>
                  <a:gd name="csX40" fmla="*/ 2488758 w 3045349"/>
                  <a:gd name="csY40" fmla="*/ 13849 h 2876318"/>
                  <a:gd name="csX41" fmla="*/ 2862469 w 3045349"/>
                  <a:gd name="csY41" fmla="*/ 13849 h 2876318"/>
                  <a:gd name="csX42" fmla="*/ 2981739 w 3045349"/>
                  <a:gd name="csY42" fmla="*/ 45654 h 2876318"/>
                  <a:gd name="csX43" fmla="*/ 3045349 w 3045349"/>
                  <a:gd name="csY43" fmla="*/ 69508 h 28763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</a:cxnLst>
                <a:rect l="l" t="t" r="r" b="b"/>
                <a:pathLst>
                  <a:path w="3045349" h="2876318">
                    <a:moveTo>
                      <a:pt x="0" y="2454899"/>
                    </a:moveTo>
                    <a:cubicBezTo>
                      <a:pt x="10602" y="2468151"/>
                      <a:pt x="21622" y="2481079"/>
                      <a:pt x="31805" y="2494656"/>
                    </a:cubicBezTo>
                    <a:cubicBezTo>
                      <a:pt x="37539" y="2502301"/>
                      <a:pt x="40246" y="2512540"/>
                      <a:pt x="47708" y="2518510"/>
                    </a:cubicBezTo>
                    <a:cubicBezTo>
                      <a:pt x="54253" y="2523746"/>
                      <a:pt x="63611" y="2523811"/>
                      <a:pt x="71562" y="2526461"/>
                    </a:cubicBezTo>
                    <a:cubicBezTo>
                      <a:pt x="160673" y="2637849"/>
                      <a:pt x="61551" y="2528705"/>
                      <a:pt x="127221" y="2574169"/>
                    </a:cubicBezTo>
                    <a:cubicBezTo>
                      <a:pt x="155128" y="2593489"/>
                      <a:pt x="177629" y="2620316"/>
                      <a:pt x="206734" y="2637779"/>
                    </a:cubicBezTo>
                    <a:cubicBezTo>
                      <a:pt x="219986" y="2645730"/>
                      <a:pt x="232980" y="2654128"/>
                      <a:pt x="246490" y="2661633"/>
                    </a:cubicBezTo>
                    <a:cubicBezTo>
                      <a:pt x="256852" y="2667390"/>
                      <a:pt x="268244" y="2671254"/>
                      <a:pt x="278296" y="2677536"/>
                    </a:cubicBezTo>
                    <a:cubicBezTo>
                      <a:pt x="289534" y="2684560"/>
                      <a:pt x="298654" y="2694713"/>
                      <a:pt x="310101" y="2701390"/>
                    </a:cubicBezTo>
                    <a:cubicBezTo>
                      <a:pt x="330578" y="2713335"/>
                      <a:pt x="352794" y="2722039"/>
                      <a:pt x="373711" y="2733195"/>
                    </a:cubicBezTo>
                    <a:cubicBezTo>
                      <a:pt x="392565" y="2743251"/>
                      <a:pt x="409884" y="2756231"/>
                      <a:pt x="429370" y="2765000"/>
                    </a:cubicBezTo>
                    <a:cubicBezTo>
                      <a:pt x="463035" y="2780149"/>
                      <a:pt x="499718" y="2788248"/>
                      <a:pt x="532737" y="2804757"/>
                    </a:cubicBezTo>
                    <a:cubicBezTo>
                      <a:pt x="553941" y="2815359"/>
                      <a:pt x="574151" y="2828238"/>
                      <a:pt x="596348" y="2836562"/>
                    </a:cubicBezTo>
                    <a:cubicBezTo>
                      <a:pt x="616812" y="2844236"/>
                      <a:pt x="638488" y="2848375"/>
                      <a:pt x="659958" y="2852464"/>
                    </a:cubicBezTo>
                    <a:cubicBezTo>
                      <a:pt x="772459" y="2873893"/>
                      <a:pt x="787397" y="2869634"/>
                      <a:pt x="914400" y="2876318"/>
                    </a:cubicBezTo>
                    <a:cubicBezTo>
                      <a:pt x="983311" y="2868367"/>
                      <a:pt x="1052975" y="2865359"/>
                      <a:pt x="1121134" y="2852464"/>
                    </a:cubicBezTo>
                    <a:cubicBezTo>
                      <a:pt x="1180843" y="2841168"/>
                      <a:pt x="1233964" y="2805269"/>
                      <a:pt x="1288111" y="2780903"/>
                    </a:cubicBezTo>
                    <a:cubicBezTo>
                      <a:pt x="1358137" y="2749391"/>
                      <a:pt x="1372061" y="2755834"/>
                      <a:pt x="1431235" y="2709341"/>
                    </a:cubicBezTo>
                    <a:cubicBezTo>
                      <a:pt x="1448919" y="2695446"/>
                      <a:pt x="1463561" y="2678040"/>
                      <a:pt x="1478942" y="2661633"/>
                    </a:cubicBezTo>
                    <a:cubicBezTo>
                      <a:pt x="1534843" y="2602004"/>
                      <a:pt x="1588815" y="2542364"/>
                      <a:pt x="1630017" y="2470802"/>
                    </a:cubicBezTo>
                    <a:cubicBezTo>
                      <a:pt x="1699402" y="2350291"/>
                      <a:pt x="1699220" y="2327984"/>
                      <a:pt x="1733384" y="2208409"/>
                    </a:cubicBezTo>
                    <a:cubicBezTo>
                      <a:pt x="1742438" y="2099766"/>
                      <a:pt x="1749009" y="2071016"/>
                      <a:pt x="1733384" y="1946016"/>
                    </a:cubicBezTo>
                    <a:cubicBezTo>
                      <a:pt x="1729636" y="1916030"/>
                      <a:pt x="1716227" y="1888019"/>
                      <a:pt x="1709530" y="1858551"/>
                    </a:cubicBezTo>
                    <a:cubicBezTo>
                      <a:pt x="1681618" y="1735734"/>
                      <a:pt x="1714235" y="1807148"/>
                      <a:pt x="1661822" y="1715428"/>
                    </a:cubicBezTo>
                    <a:cubicBezTo>
                      <a:pt x="1654666" y="1689190"/>
                      <a:pt x="1628127" y="1585505"/>
                      <a:pt x="1614115" y="1556402"/>
                    </a:cubicBezTo>
                    <a:cubicBezTo>
                      <a:pt x="1590439" y="1507229"/>
                      <a:pt x="1559010" y="1462092"/>
                      <a:pt x="1534602" y="1413278"/>
                    </a:cubicBezTo>
                    <a:cubicBezTo>
                      <a:pt x="1524000" y="1392075"/>
                      <a:pt x="1514379" y="1370352"/>
                      <a:pt x="1502796" y="1349668"/>
                    </a:cubicBezTo>
                    <a:cubicBezTo>
                      <a:pt x="1455116" y="1264526"/>
                      <a:pt x="1432768" y="1239023"/>
                      <a:pt x="1399429" y="1166788"/>
                    </a:cubicBezTo>
                    <a:cubicBezTo>
                      <a:pt x="1363215" y="1088324"/>
                      <a:pt x="1381571" y="1123160"/>
                      <a:pt x="1351722" y="1023664"/>
                    </a:cubicBezTo>
                    <a:cubicBezTo>
                      <a:pt x="1344497" y="999580"/>
                      <a:pt x="1335819" y="975957"/>
                      <a:pt x="1327868" y="952103"/>
                    </a:cubicBezTo>
                    <a:cubicBezTo>
                      <a:pt x="1312766" y="831293"/>
                      <a:pt x="1311555" y="861726"/>
                      <a:pt x="1343770" y="673807"/>
                    </a:cubicBezTo>
                    <a:cubicBezTo>
                      <a:pt x="1347596" y="651487"/>
                      <a:pt x="1356626" y="629992"/>
                      <a:pt x="1367624" y="610197"/>
                    </a:cubicBezTo>
                    <a:cubicBezTo>
                      <a:pt x="1431450" y="495311"/>
                      <a:pt x="1405986" y="564816"/>
                      <a:pt x="1478942" y="475024"/>
                    </a:cubicBezTo>
                    <a:cubicBezTo>
                      <a:pt x="1497020" y="452774"/>
                      <a:pt x="1508572" y="425713"/>
                      <a:pt x="1526650" y="403463"/>
                    </a:cubicBezTo>
                    <a:cubicBezTo>
                      <a:pt x="1601764" y="311016"/>
                      <a:pt x="1556151" y="379312"/>
                      <a:pt x="1630017" y="315998"/>
                    </a:cubicBezTo>
                    <a:cubicBezTo>
                      <a:pt x="1652784" y="296483"/>
                      <a:pt x="1670481" y="271450"/>
                      <a:pt x="1693628" y="252388"/>
                    </a:cubicBezTo>
                    <a:cubicBezTo>
                      <a:pt x="1748930" y="206845"/>
                      <a:pt x="1777215" y="202134"/>
                      <a:pt x="1836751" y="164924"/>
                    </a:cubicBezTo>
                    <a:cubicBezTo>
                      <a:pt x="1880106" y="137827"/>
                      <a:pt x="1900442" y="112973"/>
                      <a:pt x="1948069" y="93362"/>
                    </a:cubicBezTo>
                    <a:cubicBezTo>
                      <a:pt x="1991495" y="75481"/>
                      <a:pt x="2099863" y="52160"/>
                      <a:pt x="2138901" y="45654"/>
                    </a:cubicBezTo>
                    <a:cubicBezTo>
                      <a:pt x="2139259" y="45594"/>
                      <a:pt x="2308265" y="23901"/>
                      <a:pt x="2337683" y="21800"/>
                    </a:cubicBezTo>
                    <a:cubicBezTo>
                      <a:pt x="2387983" y="18207"/>
                      <a:pt x="2438400" y="16499"/>
                      <a:pt x="2488758" y="13849"/>
                    </a:cubicBezTo>
                    <a:cubicBezTo>
                      <a:pt x="2634733" y="-2372"/>
                      <a:pt x="2644304" y="-6733"/>
                      <a:pt x="2862469" y="13849"/>
                    </a:cubicBezTo>
                    <a:cubicBezTo>
                      <a:pt x="2903433" y="17714"/>
                      <a:pt x="2942705" y="32642"/>
                      <a:pt x="2981739" y="45654"/>
                    </a:cubicBezTo>
                    <a:cubicBezTo>
                      <a:pt x="3035069" y="63431"/>
                      <a:pt x="3014454" y="54060"/>
                      <a:pt x="3045349" y="69508"/>
                    </a:cubicBezTo>
                  </a:path>
                </a:pathLst>
              </a:custGeom>
              <a:ln w="101600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67" name="Picture 8" descr="Sound PNG Transparent Images">
              <a:extLst>
                <a:ext uri="{FF2B5EF4-FFF2-40B4-BE49-F238E27FC236}">
                  <a16:creationId xmlns:a16="http://schemas.microsoft.com/office/drawing/2014/main" id="{D32D96BA-E861-4A25-8537-B34D005C1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58608" y="2831113"/>
              <a:ext cx="1476505" cy="1476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6C5A857-3856-ABEB-0586-58660E5A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3353FF4-31AA-5E70-D72A-ECD173730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14</a:t>
            </a:fld>
            <a:endParaRPr lang="fr-FR" sz="1200" b="1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AF150A1-C0FD-2A31-918E-93B83058E113}"/>
              </a:ext>
            </a:extLst>
          </p:cNvPr>
          <p:cNvGrpSpPr/>
          <p:nvPr/>
        </p:nvGrpSpPr>
        <p:grpSpPr>
          <a:xfrm>
            <a:off x="326177" y="4838220"/>
            <a:ext cx="8527602" cy="1210580"/>
            <a:chOff x="385745" y="5083538"/>
            <a:chExt cx="8293184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351E8A2-562F-2391-DE82-01FB673AEF5C}"/>
                </a:ext>
              </a:extLst>
            </p:cNvPr>
            <p:cNvGrpSpPr/>
            <p:nvPr/>
          </p:nvGrpSpPr>
          <p:grpSpPr>
            <a:xfrm>
              <a:off x="385745" y="5083538"/>
              <a:ext cx="8293184" cy="1150814"/>
              <a:chOff x="385745" y="5083538"/>
              <a:chExt cx="8293184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CCC22706-E154-E480-834B-0A0914D263CE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68D96272-AB69-A3F2-22CA-7CB0AF5B7115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2482C0E-9587-3BAE-6CD8-E6F6F1AC4195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rgbClr val="559AD7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A04BD342-1123-F804-2806-2DFDD4AC9A26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DF1803B1-9D88-36E3-0A95-86E105BC2365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8E4A1CAC-CFDD-3534-8AA1-4979F7B51B35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AE6E9B31-F506-D994-C412-03730C5F49D8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85B4BC89-9F96-94D7-6A77-412D6FACFCE0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335B79A7-CE76-21F2-4764-BFF291CE560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335B79A7-CE76-21F2-4764-BFF291CE560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30E53824-5154-9021-5E92-F61E789FEE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30E53824-5154-9021-5E92-F61E789FEE1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B07A5120-CACE-7227-3E1A-512C8B3FEF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B07A5120-CACE-7227-3E1A-512C8B3FEF9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8E7C32FB-5DCC-5278-06CE-1337AEF841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4" name="TextBox 63">
                      <a:extLst>
                        <a:ext uri="{FF2B5EF4-FFF2-40B4-BE49-F238E27FC236}">
                          <a16:creationId xmlns:a16="http://schemas.microsoft.com/office/drawing/2014/main" id="{8E7C32FB-5DCC-5278-06CE-1337AEF841C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33334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12857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D6A8F45-F97F-1579-0616-154D45687B1D}"/>
                  </a:ext>
                </a:extLst>
              </p:cNvPr>
              <p:cNvSpPr txBox="1"/>
              <p:nvPr/>
            </p:nvSpPr>
            <p:spPr>
              <a:xfrm>
                <a:off x="3857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Corde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08772BC-B767-5069-5611-84F2D865EA5D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8CC04AB-3F10-7818-1627-D458DD445E99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A3BDDDA-3141-7E4A-0F8B-25F068259B22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B4ADB00-D268-0454-EE6E-4FC9D2A0571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3B424D-5FFE-4A76-56AC-BBA4DFB3F60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4" name="Footer Placeholder 2">
              <a:extLst>
                <a:ext uri="{FF2B5EF4-FFF2-40B4-BE49-F238E27FC236}">
                  <a16:creationId xmlns:a16="http://schemas.microsoft.com/office/drawing/2014/main" id="{0042A8E5-0D8C-FE6B-92B0-F65BDE2E3BC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EE3A26E4-93FB-9F10-6EB6-2D1E5A8A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E62838-026A-5E99-536A-5C7F4F892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14588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1598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1A89-AE2B-E041-5B38-418F61804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954A7EF-E819-7403-B518-89541C0929FA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8AFA9E9-9719-679C-6FBE-1201DA0B6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D01C7BF-D0F9-5DDA-0EB7-BA641961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15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1B1DFE7-8FA8-677E-D0C4-9ECAB1E04C00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1F8A49-A641-A223-BC2B-565D3A9EA4F1}"/>
                  </a:ext>
                </a:extLst>
              </p:cNvPr>
              <p:cNvSpPr/>
              <p:nvPr/>
            </p:nvSpPr>
            <p:spPr>
              <a:xfrm>
                <a:off x="326176" y="1124075"/>
                <a:ext cx="4070565" cy="1423878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Vibration de la corde : Onde stationnaire dans le plan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1600" b="0" i="1" smtClean="0">
                        <a:latin typeface="Cambria Math" panose="02040503050406030204" pitchFamily="18" charset="0"/>
                      </a:rPr>
                      <m:t>O</m:t>
                    </m:r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01F8A49-A641-A223-BC2B-565D3A9EA4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1124075"/>
                <a:ext cx="4070565" cy="1423878"/>
              </a:xfrm>
              <a:prstGeom prst="rect">
                <a:avLst/>
              </a:prstGeom>
              <a:blipFill>
                <a:blip r:embed="rId2"/>
                <a:stretch>
                  <a:fillRect l="-446" t="-417" b="-5000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75243A0-1FE9-8074-A10B-6683AE34908D}"/>
                  </a:ext>
                </a:extLst>
              </p:cNvPr>
              <p:cNvSpPr/>
              <p:nvPr/>
            </p:nvSpPr>
            <p:spPr>
              <a:xfrm>
                <a:off x="4747260" y="1124075"/>
                <a:ext cx="4192529" cy="4946941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600" dirty="0"/>
                  <a:t>L’équation d’onde de la corde est régie par l’équation différentielle :</a:t>
                </a:r>
              </a:p>
              <a:p>
                <a:endParaRPr lang="fr-FR" sz="16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200" dirty="0"/>
                  <a:t>D’où :	     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func>
                          <m:func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r>
                  <a:rPr lang="fr-FR" sz="1200" dirty="0">
                    <a:solidFill>
                      <a:schemeClr val="tx1"/>
                    </a:solidFill>
                  </a:rPr>
                  <a:t>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2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75243A0-1FE9-8074-A10B-6683AE349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0" y="1124075"/>
                <a:ext cx="4192529" cy="4946941"/>
              </a:xfrm>
              <a:prstGeom prst="rect">
                <a:avLst/>
              </a:prstGeom>
              <a:blipFill>
                <a:blip r:embed="rId3"/>
                <a:stretch>
                  <a:fillRect l="-43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81906A3C-88C9-1D36-3F04-582CE4AFF6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8040987" y="475567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4542817-0D26-16DE-05F1-42109423F7B5}"/>
              </a:ext>
            </a:extLst>
          </p:cNvPr>
          <p:cNvGrpSpPr/>
          <p:nvPr/>
        </p:nvGrpSpPr>
        <p:grpSpPr>
          <a:xfrm>
            <a:off x="326176" y="2817571"/>
            <a:ext cx="4070565" cy="3253445"/>
            <a:chOff x="1131100" y="2976855"/>
            <a:chExt cx="3842591" cy="32182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2987E6F-BA8C-5202-2C1C-6F726B798189}"/>
                    </a:ext>
                  </a:extLst>
                </p:cNvPr>
                <p:cNvSpPr/>
                <p:nvPr/>
              </p:nvSpPr>
              <p:spPr>
                <a:xfrm>
                  <a:off x="1131100" y="2976855"/>
                  <a:ext cx="3842591" cy="3218206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numCol="1" rtlCol="0" anchor="t"/>
                <a:lstStyle/>
                <a:p>
                  <a:r>
                    <a:rPr lang="fr-FR" sz="1600" b="1" dirty="0"/>
                    <a:t>Notations 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F.E.M. dans le micro SingleCoil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Nombre de spire du micro SingleCoil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Surface active du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Gradient du champ B de la corde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Fréquence fondamentale de la corde</a:t>
                  </a:r>
                </a:p>
              </p:txBody>
            </p:sp>
          </mc:Choice>
          <mc:Fallback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C2987E6F-BA8C-5202-2C1C-6F726B7981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00" y="2976855"/>
                  <a:ext cx="3842591" cy="3218206"/>
                </a:xfrm>
                <a:prstGeom prst="rect">
                  <a:avLst/>
                </a:prstGeom>
                <a:blipFill>
                  <a:blip r:embed="rId5"/>
                  <a:stretch>
                    <a:fillRect l="-446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E99069D-051E-87CC-1880-C585FCEAC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1" y="4577744"/>
              <a:ext cx="3680460" cy="1524849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6407A35-DBAA-281B-6DDA-73426A4020F8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[3]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C69331-5718-E0EA-991B-6D586EE81AA9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5852F1-EC13-BF09-0DFA-BE103B31840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8E2E46A3-2221-A2D5-54B9-A262D8F6744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32302FE-C087-438E-ED4E-ACC60AFC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FA5F0B-6893-1941-CFB9-608BD2497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154475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0102D8F-E925-7221-961F-2FEFF9EDBB3E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</p:spTree>
    <p:extLst>
      <p:ext uri="{BB962C8B-B14F-4D97-AF65-F5344CB8AC3E}">
        <p14:creationId xmlns:p14="http://schemas.microsoft.com/office/powerpoint/2010/main" val="499339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F2C50-6CC9-C3EE-29F3-7C375F957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A35BF52-5243-1C8B-E2FA-0917DDC4573B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19C61E7-3FFC-9A6E-48BF-5B0F83CF0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234E34C-C7DC-4C9D-E7D3-252A58623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16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127E5D1-FD5D-56D9-25A5-172DD2E2176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7C0931F-811C-9C9D-D553-84A85AEC6513}"/>
                  </a:ext>
                </a:extLst>
              </p:cNvPr>
              <p:cNvSpPr/>
              <p:nvPr/>
            </p:nvSpPr>
            <p:spPr>
              <a:xfrm>
                <a:off x="326176" y="1124075"/>
                <a:ext cx="4070565" cy="1423878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Vibration de la corde : Onde stationnaire dans le plan </a:t>
                </a:r>
                <a14:m>
                  <m:oMath xmlns:m="http://schemas.openxmlformats.org/officeDocument/2006/math"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1600" b="0" i="1" smtClean="0">
                        <a:latin typeface="Cambria Math" panose="02040503050406030204" pitchFamily="18" charset="0"/>
                      </a:rPr>
                      <m:t>O</m:t>
                    </m:r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acc>
                    <m:acc>
                      <m:accPr>
                        <m:chr m:val="⃗"/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fr-FR" sz="1600" b="0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fr-FR" sz="160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7C0931F-811C-9C9D-D553-84A85AEC65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1124075"/>
                <a:ext cx="4070565" cy="1423878"/>
              </a:xfrm>
              <a:prstGeom prst="rect">
                <a:avLst/>
              </a:prstGeom>
              <a:blipFill>
                <a:blip r:embed="rId2"/>
                <a:stretch>
                  <a:fillRect l="-446" t="-417" b="-5000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C25FA1-DADB-03FF-B6FB-4631D766E5F7}"/>
                  </a:ext>
                </a:extLst>
              </p:cNvPr>
              <p:cNvSpPr/>
              <p:nvPr/>
            </p:nvSpPr>
            <p:spPr>
              <a:xfrm>
                <a:off x="4747260" y="1124075"/>
                <a:ext cx="4192529" cy="4946941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600" dirty="0"/>
                  <a:t>L’équation d’onde de la corde est régie par l’équation différentielle :</a:t>
                </a:r>
              </a:p>
              <a:p>
                <a:endParaRPr lang="fr-FR" sz="16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200" dirty="0"/>
                  <a:t>D’où :	     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fr-FR" sz="1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func>
                          <m:func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func>
                          <m:funcPr>
                            <m:ctrlPr>
                              <a:rPr lang="fr-FR" sz="12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fr-FR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sz="12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b="1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HB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HB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6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r>
                  <a:rPr lang="fr-FR" sz="1200" dirty="0">
                    <a:solidFill>
                      <a:schemeClr val="tx1"/>
                    </a:solidFill>
                  </a:rPr>
                  <a:t>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2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2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DC25FA1-DADB-03FF-B6FB-4631D766E5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0" y="1124075"/>
                <a:ext cx="4192529" cy="4946941"/>
              </a:xfrm>
              <a:prstGeom prst="rect">
                <a:avLst/>
              </a:prstGeom>
              <a:blipFill>
                <a:blip r:embed="rId3"/>
                <a:stretch>
                  <a:fillRect l="-43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035154A-B9BD-FC93-AC7A-853978880407}"/>
              </a:ext>
            </a:extLst>
          </p:cNvPr>
          <p:cNvSpPr txBox="1"/>
          <p:nvPr/>
        </p:nvSpPr>
        <p:spPr>
          <a:xfrm>
            <a:off x="8603809" y="6071016"/>
            <a:ext cx="599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200" dirty="0"/>
              <a:t>Cf. [3]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439BFEE-2F58-708D-F266-88C40338BED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1BA56B6-AC9D-9E60-9C21-421709968C19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7192CD16-8E2C-3333-DBD2-62A38F26992B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86D70CD-A4FC-8E95-CA9B-0FF8712E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6BDC02-6389-F30F-3B78-D4E6A85D51F4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00EBAFB-AD26-BEED-DA93-5C5D6A320004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F6DFF94-D749-B50C-0E91-697C276D35EC}"/>
              </a:ext>
            </a:extLst>
          </p:cNvPr>
          <p:cNvGrpSpPr/>
          <p:nvPr/>
        </p:nvGrpSpPr>
        <p:grpSpPr>
          <a:xfrm>
            <a:off x="326176" y="2817571"/>
            <a:ext cx="4070565" cy="3253445"/>
            <a:chOff x="1131100" y="2976855"/>
            <a:chExt cx="3842591" cy="321820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1D01B90-32FA-B14C-B3F1-C323E51E9F65}"/>
                    </a:ext>
                  </a:extLst>
                </p:cNvPr>
                <p:cNvSpPr/>
                <p:nvPr/>
              </p:nvSpPr>
              <p:spPr>
                <a:xfrm>
                  <a:off x="1131100" y="2976855"/>
                  <a:ext cx="3842591" cy="3218206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numCol="1" rtlCol="0" anchor="t"/>
                <a:lstStyle/>
                <a:p>
                  <a:r>
                    <a:rPr lang="fr-FR" sz="1600" b="1" dirty="0"/>
                    <a:t>Notations 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HB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F.E.M. dans le micro SingleCoil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HB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Nombre de spire du micro SingleCoil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Surface active du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Gradient du champ B de la corde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400" dirty="0"/>
                    <a:t>: Fréquence fondamentale de la corde</a:t>
                  </a:r>
                </a:p>
              </p:txBody>
            </p:sp>
          </mc:Choice>
          <mc:Fallback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1D01B90-32FA-B14C-B3F1-C323E51E9F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100" y="2976855"/>
                  <a:ext cx="3842591" cy="3218206"/>
                </a:xfrm>
                <a:prstGeom prst="rect">
                  <a:avLst/>
                </a:prstGeom>
                <a:blipFill>
                  <a:blip r:embed="rId4"/>
                  <a:stretch>
                    <a:fillRect l="-446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2FD4FE2-186D-6122-19EE-43AB44BFF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9201" y="4577744"/>
              <a:ext cx="3680460" cy="1524849"/>
            </a:xfrm>
            <a:prstGeom prst="rect">
              <a:avLst/>
            </a:prstGeom>
          </p:spPr>
        </p:pic>
      </p:grpSp>
      <p:pic>
        <p:nvPicPr>
          <p:cNvPr id="24" name="Picture 2">
            <a:extLst>
              <a:ext uri="{FF2B5EF4-FFF2-40B4-BE49-F238E27FC236}">
                <a16:creationId xmlns:a16="http://schemas.microsoft.com/office/drawing/2014/main" id="{58EF0318-0404-B364-1983-75C029CB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7" b="3027"/>
          <a:stretch/>
        </p:blipFill>
        <p:spPr bwMode="auto">
          <a:xfrm>
            <a:off x="8040987" y="494289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170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DC96-7D6B-022A-BC8C-33392430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359E262-01D9-BF02-4695-E9718D933A6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2D5DECE-2A60-2317-83E1-58347A3F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35306DF-F81B-2F74-5E66-B9A57BEB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17</a:t>
            </a:fld>
            <a:endParaRPr lang="fr-FR" sz="1200" b="1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45F6D45-9037-6C83-8CAB-4DE7CB47F0D9}"/>
              </a:ext>
            </a:extLst>
          </p:cNvPr>
          <p:cNvGrpSpPr/>
          <p:nvPr/>
        </p:nvGrpSpPr>
        <p:grpSpPr>
          <a:xfrm>
            <a:off x="329555" y="1128397"/>
            <a:ext cx="6737273" cy="4932065"/>
            <a:chOff x="1040582" y="1319307"/>
            <a:chExt cx="8606514" cy="477249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F8B616C-BA44-CC85-7A63-484E9D8C67D2}"/>
                </a:ext>
              </a:extLst>
            </p:cNvPr>
            <p:cNvGrpSpPr/>
            <p:nvPr/>
          </p:nvGrpSpPr>
          <p:grpSpPr>
            <a:xfrm>
              <a:off x="1040582" y="1319307"/>
              <a:ext cx="8606514" cy="4772492"/>
              <a:chOff x="1040582" y="1319307"/>
              <a:chExt cx="8606514" cy="4772492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51ECDDAB-FE4C-91AF-6FF8-D226B63E5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4700"/>
                        </a14:imgEffect>
                        <a14:imgEffect>
                          <a14:brightnessContrast bright="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36" r="27170"/>
              <a:stretch>
                <a:fillRect/>
              </a:stretch>
            </p:blipFill>
            <p:spPr>
              <a:xfrm rot="5400000">
                <a:off x="2729400" y="-369511"/>
                <a:ext cx="3437289" cy="6814925"/>
              </a:xfrm>
              <a:prstGeom prst="rect">
                <a:avLst/>
              </a:prstGeom>
              <a:ln w="28575">
                <a:noFill/>
              </a:ln>
              <a:effectLst>
                <a:softEdge rad="31750"/>
              </a:effectLst>
            </p:spPr>
          </p:pic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9F7DA611-55F3-BB6C-D4A0-D9C1F2AEF5CE}"/>
                  </a:ext>
                </a:extLst>
              </p:cNvPr>
              <p:cNvGrpSpPr/>
              <p:nvPr/>
            </p:nvGrpSpPr>
            <p:grpSpPr>
              <a:xfrm flipH="1">
                <a:off x="1433594" y="4843239"/>
                <a:ext cx="8213502" cy="1248560"/>
                <a:chOff x="-317043" y="2948866"/>
                <a:chExt cx="8020224" cy="1248560"/>
              </a:xfrm>
            </p:grpSpPr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7628D95F-B909-97AA-8AF0-643319E2F9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 rot="16140000">
                  <a:off x="3331331" y="-174423"/>
                  <a:ext cx="723475" cy="8020224"/>
                </a:xfrm>
                <a:prstGeom prst="rect">
                  <a:avLst/>
                </a:prstGeom>
              </p:spPr>
            </p:pic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A0B5C525-B1D9-149D-1C21-32C54BFA8514}"/>
                    </a:ext>
                  </a:extLst>
                </p:cNvPr>
                <p:cNvSpPr txBox="1"/>
                <p:nvPr/>
              </p:nvSpPr>
              <p:spPr>
                <a:xfrm>
                  <a:off x="1495088" y="2948866"/>
                  <a:ext cx="1107789" cy="248040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fr-FR" sz="1200" dirty="0"/>
                    <a:t>Corde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0896C0D-356A-1130-A43B-569F02015153}"/>
                  </a:ext>
                </a:extLst>
              </p:cNvPr>
              <p:cNvSpPr txBox="1"/>
              <p:nvPr/>
            </p:nvSpPr>
            <p:spPr>
              <a:xfrm flipH="1">
                <a:off x="1147351" y="4826753"/>
                <a:ext cx="1325159" cy="41678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Micro SingleCoil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4D3656-6CBC-8BF0-2BAB-244DCEE4D29A}"/>
                  </a:ext>
                </a:extLst>
              </p:cNvPr>
              <p:cNvSpPr txBox="1"/>
              <p:nvPr/>
            </p:nvSpPr>
            <p:spPr>
              <a:xfrm flipH="1">
                <a:off x="3985961" y="4843239"/>
                <a:ext cx="1611658" cy="41339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Micro Humbucker</a:t>
                </a:r>
              </a:p>
            </p:txBody>
          </p:sp>
          <p:cxnSp>
            <p:nvCxnSpPr>
              <p:cNvPr id="51" name="Connector: Elbow 50">
                <a:extLst>
                  <a:ext uri="{FF2B5EF4-FFF2-40B4-BE49-F238E27FC236}">
                    <a16:creationId xmlns:a16="http://schemas.microsoft.com/office/drawing/2014/main" id="{ED1E97F8-A8FA-1050-B6EB-F4BACD4BECC6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>
                <a:off x="2472509" y="5035144"/>
                <a:ext cx="655756" cy="484972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ctor: Elbow 57">
                <a:extLst>
                  <a:ext uri="{FF2B5EF4-FFF2-40B4-BE49-F238E27FC236}">
                    <a16:creationId xmlns:a16="http://schemas.microsoft.com/office/drawing/2014/main" id="{5A12C03A-AC35-78C7-64F8-0CD2464AEE27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>
              <a:xfrm rot="10800000" flipV="1">
                <a:off x="3612100" y="5049938"/>
                <a:ext cx="373862" cy="47017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nector: Elbow 140">
                <a:extLst>
                  <a:ext uri="{FF2B5EF4-FFF2-40B4-BE49-F238E27FC236}">
                    <a16:creationId xmlns:a16="http://schemas.microsoft.com/office/drawing/2014/main" id="{E958A863-0B06-BFF6-31E6-930BF8318979}"/>
                  </a:ext>
                </a:extLst>
              </p:cNvPr>
              <p:cNvCxnSpPr>
                <a:cxnSpLocks/>
                <a:stCxn id="161" idx="3"/>
              </p:cNvCxnSpPr>
              <p:nvPr/>
            </p:nvCxnSpPr>
            <p:spPr>
              <a:xfrm rot="10800000" flipV="1">
                <a:off x="6353339" y="4967259"/>
                <a:ext cx="303470" cy="850606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or: Elbow 28">
                <a:extLst>
                  <a:ext uri="{FF2B5EF4-FFF2-40B4-BE49-F238E27FC236}">
                    <a16:creationId xmlns:a16="http://schemas.microsoft.com/office/drawing/2014/main" id="{34A3299A-CB86-52FB-03E5-0995B8449F4C}"/>
                  </a:ext>
                </a:extLst>
              </p:cNvPr>
              <p:cNvCxnSpPr>
                <a:cxnSpLocks/>
                <a:stCxn id="24" idx="3"/>
              </p:cNvCxnSpPr>
              <p:nvPr/>
            </p:nvCxnSpPr>
            <p:spPr>
              <a:xfrm rot="10800000">
                <a:off x="3741263" y="4208082"/>
                <a:ext cx="244697" cy="84185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or: Elbow 45">
                <a:extLst>
                  <a:ext uri="{FF2B5EF4-FFF2-40B4-BE49-F238E27FC236}">
                    <a16:creationId xmlns:a16="http://schemas.microsoft.com/office/drawing/2014/main" id="{748DA0E0-3241-0B77-F0EB-1D0C22CC53F4}"/>
                  </a:ext>
                </a:extLst>
              </p:cNvPr>
              <p:cNvCxnSpPr>
                <a:cxnSpLocks/>
                <a:stCxn id="161" idx="3"/>
              </p:cNvCxnSpPr>
              <p:nvPr/>
            </p:nvCxnSpPr>
            <p:spPr>
              <a:xfrm rot="10800000">
                <a:off x="6057887" y="4658298"/>
                <a:ext cx="598922" cy="308961"/>
              </a:xfrm>
              <a:prstGeom prst="bent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: Elbow 10">
                <a:extLst>
                  <a:ext uri="{FF2B5EF4-FFF2-40B4-BE49-F238E27FC236}">
                    <a16:creationId xmlns:a16="http://schemas.microsoft.com/office/drawing/2014/main" id="{750B4731-EC69-1E7A-E492-1FDDC929851E}"/>
                  </a:ext>
                </a:extLst>
              </p:cNvPr>
              <p:cNvCxnSpPr>
                <a:cxnSpLocks/>
                <a:stCxn id="23" idx="1"/>
              </p:cNvCxnSpPr>
              <p:nvPr/>
            </p:nvCxnSpPr>
            <p:spPr>
              <a:xfrm flipV="1">
                <a:off x="2472509" y="4042296"/>
                <a:ext cx="920269" cy="99285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3206AAC-BE44-239A-2F98-44FDDFB5C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9658" y="3370548"/>
              <a:ext cx="3080036" cy="134349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89EE43-4C1C-B53A-481A-3B95B1A1E364}"/>
              </a:ext>
            </a:extLst>
          </p:cNvPr>
          <p:cNvCxnSpPr>
            <a:cxnSpLocks/>
          </p:cNvCxnSpPr>
          <p:nvPr/>
        </p:nvCxnSpPr>
        <p:spPr>
          <a:xfrm flipH="1">
            <a:off x="1271763" y="5777370"/>
            <a:ext cx="5380497" cy="53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652D22F-CABB-77B2-FA12-0A1F4414A2B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338D3F1-E023-E957-7E93-0E852832BB7E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3" name="Footer Placeholder 2">
              <a:extLst>
                <a:ext uri="{FF2B5EF4-FFF2-40B4-BE49-F238E27FC236}">
                  <a16:creationId xmlns:a16="http://schemas.microsoft.com/office/drawing/2014/main" id="{6CEAFEBB-B7D7-A979-765E-DCADAB67C2C2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8DF5559-6C9D-3A8E-C3E0-F4F5AC89DB3C}"/>
              </a:ext>
            </a:extLst>
          </p:cNvPr>
          <p:cNvGrpSpPr/>
          <p:nvPr/>
        </p:nvGrpSpPr>
        <p:grpSpPr>
          <a:xfrm>
            <a:off x="5816345" y="1143140"/>
            <a:ext cx="2998100" cy="4040698"/>
            <a:chOff x="6429026" y="1318510"/>
            <a:chExt cx="2513036" cy="37798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D1CDCC24-52FC-A6FC-AF35-DBBA86C51873}"/>
                    </a:ext>
                  </a:extLst>
                </p:cNvPr>
                <p:cNvSpPr/>
                <p:nvPr/>
              </p:nvSpPr>
              <p:spPr>
                <a:xfrm>
                  <a:off x="6457016" y="1318510"/>
                  <a:ext cx="2485046" cy="3779800"/>
                </a:xfrm>
                <a:prstGeom prst="rect">
                  <a:avLst/>
                </a:prstGeom>
                <a:ln w="38100">
                  <a:solidFill>
                    <a:schemeClr val="accent6"/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fr-FR" sz="1600" b="1" dirty="0">
                      <a:solidFill>
                        <a:schemeClr val="tx1"/>
                      </a:solidFill>
                    </a:rPr>
                    <a:t>Protocole</a:t>
                  </a: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sz="1600" dirty="0">
                      <a:solidFill>
                        <a:schemeClr val="tx1"/>
                      </a:solidFill>
                    </a:rPr>
                    <a:t>Excitation de la corde ‘’à la main’’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sz="1600" dirty="0">
                      <a:solidFill>
                        <a:schemeClr val="tx1"/>
                      </a:solidFill>
                    </a:rPr>
                    <a:t>Relevé de la tension aux bornes la résistance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𝑎𝑚𝑝</m:t>
                          </m:r>
                        </m:sub>
                      </m:sSub>
                    </m:oMath>
                  </a14:m>
                  <a:endParaRPr lang="fr-FR" sz="1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D1CDCC24-52FC-A6FC-AF35-DBBA86C518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7016" y="1318510"/>
                  <a:ext cx="2485046" cy="3779800"/>
                </a:xfrm>
                <a:prstGeom prst="rect">
                  <a:avLst/>
                </a:prstGeom>
                <a:blipFill>
                  <a:blip r:embed="rId5"/>
                  <a:stretch>
                    <a:fillRect l="-203"/>
                  </a:stretch>
                </a:blipFill>
                <a:ln w="3810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A23E68A-A65C-A12E-753D-45B38F124E8F}"/>
                </a:ext>
              </a:extLst>
            </p:cNvPr>
            <p:cNvSpPr/>
            <p:nvPr/>
          </p:nvSpPr>
          <p:spPr>
            <a:xfrm rot="16200000">
              <a:off x="6269362" y="4195744"/>
              <a:ext cx="1312065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7392EF7-E69A-FBBE-FF61-674BDCF2226A}"/>
                </a:ext>
              </a:extLst>
            </p:cNvPr>
            <p:cNvGrpSpPr/>
            <p:nvPr/>
          </p:nvGrpSpPr>
          <p:grpSpPr>
            <a:xfrm>
              <a:off x="7114959" y="3562570"/>
              <a:ext cx="1800921" cy="1110504"/>
              <a:chOff x="7133777" y="3809995"/>
              <a:chExt cx="1683780" cy="761469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CAD72CAD-7612-3CF0-D4E3-C46A4DFF0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7989763" y="3876498"/>
                <a:ext cx="827794" cy="690115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52AD20C-FA20-6811-A6D9-40C43C57256C}"/>
                  </a:ext>
                </a:extLst>
              </p:cNvPr>
              <p:cNvSpPr/>
              <p:nvPr/>
            </p:nvSpPr>
            <p:spPr>
              <a:xfrm>
                <a:off x="7133777" y="3881349"/>
                <a:ext cx="179882" cy="690115"/>
              </a:xfrm>
              <a:prstGeom prst="rect">
                <a:avLst/>
              </a:prstGeom>
              <a:ln>
                <a:noFill/>
              </a:ln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4" name="Connector: Elbow 13">
                <a:extLst>
                  <a:ext uri="{FF2B5EF4-FFF2-40B4-BE49-F238E27FC236}">
                    <a16:creationId xmlns:a16="http://schemas.microsoft.com/office/drawing/2014/main" id="{BA47D6C8-36D4-44AD-CA04-1DB90FF0D34A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 rot="10800000" flipV="1">
                <a:off x="7223719" y="4453242"/>
                <a:ext cx="935397" cy="118221"/>
              </a:xfrm>
              <a:prstGeom prst="bentConnector4">
                <a:avLst>
                  <a:gd name="adj1" fmla="val 388"/>
                  <a:gd name="adj2" fmla="val 293367"/>
                </a:avLst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Connector: Elbow 19">
                <a:extLst>
                  <a:ext uri="{FF2B5EF4-FFF2-40B4-BE49-F238E27FC236}">
                    <a16:creationId xmlns:a16="http://schemas.microsoft.com/office/drawing/2014/main" id="{7D855CD3-8716-F3D8-180F-1F7F063076E1}"/>
                  </a:ext>
                </a:extLst>
              </p:cNvPr>
              <p:cNvCxnSpPr>
                <a:cxnSpLocks/>
                <a:endCxn id="10" idx="0"/>
              </p:cNvCxnSpPr>
              <p:nvPr/>
            </p:nvCxnSpPr>
            <p:spPr>
              <a:xfrm rot="10800000" flipV="1">
                <a:off x="7223718" y="3809995"/>
                <a:ext cx="925872" cy="71353"/>
              </a:xfrm>
              <a:prstGeom prst="bentConnector2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00744D9-C28C-C8A8-7738-98A2945790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49590" y="3810000"/>
                <a:ext cx="0" cy="185575"/>
              </a:xfrm>
              <a:prstGeom prst="line">
                <a:avLst/>
              </a:prstGeom>
              <a:ln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ECB0DE-2F92-E777-710D-46FE392347D3}"/>
                  </a:ext>
                </a:extLst>
              </p:cNvPr>
              <p:cNvSpPr txBox="1"/>
              <p:nvPr/>
            </p:nvSpPr>
            <p:spPr>
              <a:xfrm>
                <a:off x="7215489" y="3860089"/>
                <a:ext cx="607436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100" b="1" dirty="0"/>
                  <a:t>Micro</a:t>
                </a:r>
                <a:endParaRPr lang="fr-FR" b="1" dirty="0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9AF6A25-32DF-F6FA-62E8-D619AC7C340C}"/>
                </a:ext>
              </a:extLst>
            </p:cNvPr>
            <p:cNvSpPr txBox="1"/>
            <p:nvPr/>
          </p:nvSpPr>
          <p:spPr>
            <a:xfrm>
              <a:off x="6429026" y="3345405"/>
              <a:ext cx="60743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dirty="0"/>
                <a:t>Corde</a:t>
              </a:r>
              <a:endParaRPr lang="fr-FR" b="1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3447045F-3CC6-9ECE-B003-4ABC5359256F}"/>
                </a:ext>
              </a:extLst>
            </p:cNvPr>
            <p:cNvCxnSpPr/>
            <p:nvPr/>
          </p:nvCxnSpPr>
          <p:spPr>
            <a:xfrm flipV="1">
              <a:off x="7388051" y="3926343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FAE08B2-6F4F-B387-66ED-7ABA96619EA9}"/>
                    </a:ext>
                  </a:extLst>
                </p:cNvPr>
                <p:cNvSpPr txBox="1"/>
                <p:nvPr/>
              </p:nvSpPr>
              <p:spPr>
                <a:xfrm>
                  <a:off x="7392712" y="4017150"/>
                  <a:ext cx="31656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1FAE08B2-6F4F-B387-66ED-7ABA96619E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2712" y="4017150"/>
                  <a:ext cx="316562" cy="184666"/>
                </a:xfrm>
                <a:prstGeom prst="rect">
                  <a:avLst/>
                </a:prstGeom>
                <a:blipFill>
                  <a:blip r:embed="rId8"/>
                  <a:stretch>
                    <a:fillRect t="-3125" r="-4839" b="-3125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05B622C-2AE6-B718-55A0-799064579779}"/>
                </a:ext>
              </a:extLst>
            </p:cNvPr>
            <p:cNvCxnSpPr/>
            <p:nvPr/>
          </p:nvCxnSpPr>
          <p:spPr>
            <a:xfrm flipV="1">
              <a:off x="8030496" y="3899852"/>
              <a:ext cx="0" cy="540000"/>
            </a:xfrm>
            <a:prstGeom prst="straightConnector1">
              <a:avLst/>
            </a:prstGeom>
            <a:ln>
              <a:solidFill>
                <a:srgbClr val="38903A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879757A-F1CA-727B-3EAE-68CAA7284482}"/>
                    </a:ext>
                  </a:extLst>
                </p:cNvPr>
                <p:cNvSpPr txBox="1"/>
                <p:nvPr/>
              </p:nvSpPr>
              <p:spPr>
                <a:xfrm>
                  <a:off x="7727026" y="4220013"/>
                  <a:ext cx="316562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38903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fr-FR" sz="1200" dirty="0">
                    <a:solidFill>
                      <a:srgbClr val="38903A"/>
                    </a:solidFill>
                  </a:endParaRP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879757A-F1CA-727B-3EAE-68CAA7284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7026" y="4220013"/>
                  <a:ext cx="316562" cy="184666"/>
                </a:xfrm>
                <a:prstGeom prst="rect">
                  <a:avLst/>
                </a:prstGeom>
                <a:blipFill>
                  <a:blip r:embed="rId9"/>
                  <a:stretch>
                    <a:fillRect r="-6452" b="-3030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686A051F-9DAE-A8C6-000C-F8E486C0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2D21AB-CEBC-E2AC-7001-EB1450AFE9C3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607F5F5-C920-E8BE-F59C-FEDACBD8F753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</p:spTree>
    <p:extLst>
      <p:ext uri="{BB962C8B-B14F-4D97-AF65-F5344CB8AC3E}">
        <p14:creationId xmlns:p14="http://schemas.microsoft.com/office/powerpoint/2010/main" val="2596835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9C121-196D-B280-2659-B969A21D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Python Logo PNG Transparent – Brands Logos">
            <a:extLst>
              <a:ext uri="{FF2B5EF4-FFF2-40B4-BE49-F238E27FC236}">
                <a16:creationId xmlns:a16="http://schemas.microsoft.com/office/drawing/2014/main" id="{A9275D5A-F203-CD62-0335-4796C479B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C9B5D88-FDE6-E3A7-51AD-089C3F31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4087F9B-168A-BB0B-C61B-7988E2A0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18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A14F2C-529C-4FAF-4F41-2E4E75650E9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831AD5-3BA8-F330-6E59-627CDF882B9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2926" y="1325239"/>
            <a:ext cx="3934325" cy="3223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95B009F-B96E-9B87-61A7-F2485C2D90C3}"/>
              </a:ext>
            </a:extLst>
          </p:cNvPr>
          <p:cNvSpPr txBox="1"/>
          <p:nvPr/>
        </p:nvSpPr>
        <p:spPr>
          <a:xfrm>
            <a:off x="386751" y="4662846"/>
            <a:ext cx="3934324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9D97FD-6B83-C324-B6C0-BC4B9DC437F7}"/>
              </a:ext>
            </a:extLst>
          </p:cNvPr>
          <p:cNvSpPr txBox="1"/>
          <p:nvPr/>
        </p:nvSpPr>
        <p:spPr>
          <a:xfrm>
            <a:off x="4822925" y="4662846"/>
            <a:ext cx="3934323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5CE785-2413-FA0C-B860-AACDD4563B5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751" y="1325239"/>
            <a:ext cx="3934325" cy="3223901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508577-BE3B-4C81-A644-AF32CA74DAEB}"/>
                  </a:ext>
                </a:extLst>
              </p:cNvPr>
              <p:cNvSpPr txBox="1"/>
              <p:nvPr/>
            </p:nvSpPr>
            <p:spPr>
              <a:xfrm>
                <a:off x="1070895" y="5035343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508577-BE3B-4C81-A644-AF32CA74D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895" y="5035343"/>
                <a:ext cx="2566035" cy="540533"/>
              </a:xfrm>
              <a:prstGeom prst="rect">
                <a:avLst/>
              </a:prstGeom>
              <a:blipFill>
                <a:blip r:embed="rId6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5F245-D290-7375-6E3E-0B133ADDA201}"/>
                  </a:ext>
                </a:extLst>
              </p:cNvPr>
              <p:cNvSpPr txBox="1"/>
              <p:nvPr/>
            </p:nvSpPr>
            <p:spPr>
              <a:xfrm>
                <a:off x="5573852" y="5032949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45F245-D290-7375-6E3E-0B133ADDA2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852" y="5032949"/>
                <a:ext cx="2566035" cy="540533"/>
              </a:xfrm>
              <a:prstGeom prst="rect">
                <a:avLst/>
              </a:prstGeom>
              <a:blipFill>
                <a:blip r:embed="rId7"/>
                <a:stretch>
                  <a:fillRect t="-113333" b="-161111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E9C5E-82AF-8457-0EA0-C7469D26678D}"/>
                  </a:ext>
                </a:extLst>
              </p:cNvPr>
              <p:cNvSpPr txBox="1"/>
              <p:nvPr/>
            </p:nvSpPr>
            <p:spPr>
              <a:xfrm>
                <a:off x="977737" y="5662993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1E9C5E-82AF-8457-0EA0-C7469D266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37" y="5662993"/>
                <a:ext cx="2752349" cy="3781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713475-27D9-E2C4-19D6-EB314FA1D777}"/>
                  </a:ext>
                </a:extLst>
              </p:cNvPr>
              <p:cNvSpPr txBox="1"/>
              <p:nvPr/>
            </p:nvSpPr>
            <p:spPr>
              <a:xfrm>
                <a:off x="5480694" y="5662992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0713475-27D9-E2C4-19D6-EB314FA1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694" y="5662992"/>
                <a:ext cx="2752349" cy="3781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829D7D0E-393F-2A3A-6785-4CD09BB5482E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132C6C4-7726-1D99-BBAE-1A107256985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D0399C1C-C0CB-8BC1-D1D5-3734F40CD9A8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95F3D-7C52-DDA5-58D3-BF33A6D9BA96}"/>
                  </a:ext>
                </a:extLst>
              </p:cNvPr>
              <p:cNvSpPr txBox="1"/>
              <p:nvPr/>
            </p:nvSpPr>
            <p:spPr>
              <a:xfrm>
                <a:off x="4247930" y="5575876"/>
                <a:ext cx="720002" cy="408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095F3D-7C52-DDA5-58D3-BF33A6D9B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930" y="5575876"/>
                <a:ext cx="720002" cy="4087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CD15E045-16DB-F511-190B-24133BD08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658C86-F1F4-EBD9-76A3-9370521A5298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CD87675-DBE0-A3B9-6C34-798D57760B96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3244738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1C60C-E402-156F-EE5B-0D038F4A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Python Logo PNG Transparent – Brands Logos">
            <a:extLst>
              <a:ext uri="{FF2B5EF4-FFF2-40B4-BE49-F238E27FC236}">
                <a16:creationId xmlns:a16="http://schemas.microsoft.com/office/drawing/2014/main" id="{400CEF28-3128-AA55-CE9F-04A9F0682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E27DDA0-D3D4-79BC-A345-28DC8795B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6D3D9D9-03B9-EFF4-D554-4058E48D7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19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16D692-24A1-1072-2F23-16917E9E6610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32C916-6337-8DEC-9D94-AC0709F461B1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2926" y="1325239"/>
            <a:ext cx="3934322" cy="3223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89199EF-78C5-BA9C-798F-58A0DE4C8F9C}"/>
              </a:ext>
            </a:extLst>
          </p:cNvPr>
          <p:cNvSpPr txBox="1"/>
          <p:nvPr/>
        </p:nvSpPr>
        <p:spPr>
          <a:xfrm>
            <a:off x="386751" y="4662846"/>
            <a:ext cx="3934324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4572E8-0FA9-6F9C-C207-8C562675B7F5}"/>
              </a:ext>
            </a:extLst>
          </p:cNvPr>
          <p:cNvSpPr txBox="1"/>
          <p:nvPr/>
        </p:nvSpPr>
        <p:spPr>
          <a:xfrm>
            <a:off x="4822925" y="4662846"/>
            <a:ext cx="3934323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9F886E-CFE1-FC57-DA43-F3BC45B25F93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749" y="1325239"/>
            <a:ext cx="3934324" cy="3223901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4D1F77-DE76-0057-DA47-79FF26EE5560}"/>
                  </a:ext>
                </a:extLst>
              </p:cNvPr>
              <p:cNvSpPr txBox="1"/>
              <p:nvPr/>
            </p:nvSpPr>
            <p:spPr>
              <a:xfrm>
                <a:off x="1070895" y="5035343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4D1F77-DE76-0057-DA47-79FF26EE5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895" y="5035343"/>
                <a:ext cx="2566035" cy="540533"/>
              </a:xfrm>
              <a:prstGeom prst="rect">
                <a:avLst/>
              </a:prstGeom>
              <a:blipFill>
                <a:blip r:embed="rId6"/>
                <a:stretch>
                  <a:fillRect t="-112088" b="-158242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60AACF-5ACF-0606-EB51-9466F05A2044}"/>
                  </a:ext>
                </a:extLst>
              </p:cNvPr>
              <p:cNvSpPr txBox="1"/>
              <p:nvPr/>
            </p:nvSpPr>
            <p:spPr>
              <a:xfrm>
                <a:off x="5573852" y="5032949"/>
                <a:ext cx="2566035" cy="540533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60AACF-5ACF-0606-EB51-9466F05A2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852" y="5032949"/>
                <a:ext cx="2566035" cy="540533"/>
              </a:xfrm>
              <a:prstGeom prst="rect">
                <a:avLst/>
              </a:prstGeom>
              <a:blipFill>
                <a:blip r:embed="rId7"/>
                <a:stretch>
                  <a:fillRect t="-113333" b="-161111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2CD2F1-DD3E-A6D0-9470-72164D80CFC5}"/>
                  </a:ext>
                </a:extLst>
              </p:cNvPr>
              <p:cNvSpPr txBox="1"/>
              <p:nvPr/>
            </p:nvSpPr>
            <p:spPr>
              <a:xfrm>
                <a:off x="977737" y="5662993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A2CD2F1-DD3E-A6D0-9470-72164D80C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737" y="5662993"/>
                <a:ext cx="2752349" cy="3781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AE4D2B-8A64-35C2-25A7-2E0BFE5037AA}"/>
                  </a:ext>
                </a:extLst>
              </p:cNvPr>
              <p:cNvSpPr txBox="1"/>
              <p:nvPr/>
            </p:nvSpPr>
            <p:spPr>
              <a:xfrm>
                <a:off x="5480694" y="5662992"/>
                <a:ext cx="2752349" cy="3781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105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sz="105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</m:sSub>
                      <m:r>
                        <a:rPr lang="fr-FR" sz="105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05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05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l-GR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  <m:sSub>
                            <m:sSubPr>
                              <m:ctrlP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sz="10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05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05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05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r>
                            <a:rPr lang="fr-FR" sz="105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AE4D2B-8A64-35C2-25A7-2E0BFE503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694" y="5662992"/>
                <a:ext cx="2752349" cy="3781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6897F3A-3A6A-872C-CD22-D6DAA3FC6DC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05CD20-DC6E-11D4-FDB0-7D4248F46F2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1B2A5B3D-C5C4-6ED5-22A1-FDDC5BBD90F2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E1C47A-5513-CF64-D06F-BADCEA5226D2}"/>
                  </a:ext>
                </a:extLst>
              </p:cNvPr>
              <p:cNvSpPr txBox="1"/>
              <p:nvPr/>
            </p:nvSpPr>
            <p:spPr>
              <a:xfrm>
                <a:off x="4247930" y="5575876"/>
                <a:ext cx="720002" cy="4087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  <m:r>
                            <a:rPr lang="fr-FR" sz="10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05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7E1C47A-5513-CF64-D06F-BADCEA522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930" y="5575876"/>
                <a:ext cx="720002" cy="4087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2DE5E36-2EB4-D049-64A5-CFEE5A0E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E0DE781-74DC-357B-C9F2-F41488C99BF7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43190F5B-DE0B-2EBD-BB09-0CCFBFF79128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393AF3-AF61-D14E-0BA2-52D6F8A77801}"/>
              </a:ext>
            </a:extLst>
          </p:cNvPr>
          <p:cNvGrpSpPr/>
          <p:nvPr/>
        </p:nvGrpSpPr>
        <p:grpSpPr>
          <a:xfrm>
            <a:off x="1070895" y="4142346"/>
            <a:ext cx="355600" cy="375297"/>
            <a:chOff x="1276060" y="5077968"/>
            <a:chExt cx="355600" cy="375297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3102940-2651-F064-2607-ACA9A38EA8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17207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07FC7B4-9978-654F-5F82-B53C8B4F3E73}"/>
                    </a:ext>
                  </a:extLst>
                </p:cNvPr>
                <p:cNvSpPr txBox="1"/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B8E6BC3-802C-881E-B97D-79CA33F96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6D4036-8B12-9013-B093-94744107CA03}"/>
              </a:ext>
            </a:extLst>
          </p:cNvPr>
          <p:cNvGrpSpPr/>
          <p:nvPr/>
        </p:nvGrpSpPr>
        <p:grpSpPr>
          <a:xfrm>
            <a:off x="5501661" y="4143725"/>
            <a:ext cx="355600" cy="375297"/>
            <a:chOff x="1276060" y="5077968"/>
            <a:chExt cx="355600" cy="375297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A0C2FA5-7680-387C-B741-5CD9202274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53860" y="5077968"/>
              <a:ext cx="0" cy="172077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CE68A39-0B6D-A5C1-B522-0D8E80185539}"/>
                    </a:ext>
                  </a:extLst>
                </p:cNvPr>
                <p:cNvSpPr txBox="1"/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fr-FR" sz="1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fr-FR" sz="12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B8E6BC3-802C-881E-B97D-79CA33F962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6060" y="5176266"/>
                  <a:ext cx="355600" cy="276999"/>
                </a:xfrm>
                <a:prstGeom prst="rect">
                  <a:avLst/>
                </a:prstGeom>
                <a:blipFill>
                  <a:blip r:embed="rId11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29422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3BAE8-7762-46B2-E907-AD709936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Python Logo PNG Transparent – Brands Logos">
            <a:extLst>
              <a:ext uri="{FF2B5EF4-FFF2-40B4-BE49-F238E27FC236}">
                <a16:creationId xmlns:a16="http://schemas.microsoft.com/office/drawing/2014/main" id="{D316B92B-DBC2-CA56-1031-6F628708C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7EB2398-EFF8-C9A2-49F0-95D4E4A8CC35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D8542C0-197A-96FC-F849-6D84EC76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6F0E06E-2288-33E6-28E3-CCE75F99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20</a:t>
            </a:fld>
            <a:endParaRPr lang="fr-FR" sz="1200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/>
              <p:nvPr/>
            </p:nvSpPr>
            <p:spPr>
              <a:xfrm>
                <a:off x="5681666" y="1128398"/>
                <a:ext cx="3208021" cy="915896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Calcul du gain d’atténuation relatif :</a:t>
                </a:r>
              </a:p>
              <a:p>
                <a:pPr/>
                <a:endParaRPr lang="fr-FR" sz="1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/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b>
                              </m:sSub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AA1C499-08B3-9C15-9DE4-81770D2A2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28398"/>
                <a:ext cx="3208021" cy="9158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5B40429-E66D-936A-8895-1DC0AF6D287B}"/>
              </a:ext>
            </a:extLst>
          </p:cNvPr>
          <p:cNvGrpSpPr/>
          <p:nvPr/>
        </p:nvGrpSpPr>
        <p:grpSpPr>
          <a:xfrm>
            <a:off x="5681666" y="2163818"/>
            <a:ext cx="3269985" cy="3993142"/>
            <a:chOff x="6114891" y="2389099"/>
            <a:chExt cx="2721663" cy="357316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E1FC82B-F70C-8D5D-E171-A36BE02D4021}"/>
                </a:ext>
              </a:extLst>
            </p:cNvPr>
            <p:cNvGrpSpPr/>
            <p:nvPr/>
          </p:nvGrpSpPr>
          <p:grpSpPr>
            <a:xfrm>
              <a:off x="6114891" y="2389099"/>
              <a:ext cx="2721663" cy="3573164"/>
              <a:chOff x="5958063" y="2389099"/>
              <a:chExt cx="2878491" cy="357316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CA3093A-8816-005B-D928-3B44B655C8E2}"/>
                  </a:ext>
                </a:extLst>
              </p:cNvPr>
              <p:cNvSpPr/>
              <p:nvPr/>
            </p:nvSpPr>
            <p:spPr>
              <a:xfrm>
                <a:off x="5958063" y="2389099"/>
                <a:ext cx="2878491" cy="3573164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Nœuds de vibration :</a:t>
                </a: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Filtrage en peigne spatial :</a:t>
                </a: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  <a:p>
                <a:endParaRPr lang="fr-FR" sz="14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3C3E0C0-FBAB-DC78-5B15-476675A96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40000" contrast="40000"/>
                        </a14:imgEffect>
                      </a14:imgLayer>
                    </a14:imgProps>
                  </a:ext>
                </a:extLst>
              </a:blip>
              <a:srcRect l="3726" t="8959" r="3236" b="4515"/>
              <a:stretch>
                <a:fillRect/>
              </a:stretch>
            </p:blipFill>
            <p:spPr>
              <a:xfrm>
                <a:off x="6477938" y="4604155"/>
                <a:ext cx="1798321" cy="377538"/>
              </a:xfrm>
              <a:prstGeom prst="rect">
                <a:avLst/>
              </a:prstGeom>
            </p:spPr>
          </p:pic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C40B446E-9BC2-8E92-5207-9220276E30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76" t="6786" r="5431" b="11456"/>
              <a:stretch>
                <a:fillRect/>
              </a:stretch>
            </p:blipFill>
            <p:spPr>
              <a:xfrm>
                <a:off x="6988242" y="5064642"/>
                <a:ext cx="793915" cy="525312"/>
              </a:xfrm>
              <a:prstGeom prst="rect">
                <a:avLst/>
              </a:prstGeom>
            </p:spPr>
          </p:pic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021575B3-C3E7-D035-FD8D-5A909416EA0A}"/>
                  </a:ext>
                </a:extLst>
              </p:cNvPr>
              <p:cNvGrpSpPr/>
              <p:nvPr/>
            </p:nvGrpSpPr>
            <p:grpSpPr>
              <a:xfrm>
                <a:off x="6100686" y="2976560"/>
                <a:ext cx="2593244" cy="1059640"/>
                <a:chOff x="6082122" y="3612551"/>
                <a:chExt cx="2593242" cy="1010417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BB147258-36F6-4862-BCFA-8C34DAA43A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40000" contrast="40000"/>
                          </a14:imgEffect>
                        </a14:imgLayer>
                      </a14:imgProps>
                    </a:ext>
                  </a:extLst>
                </a:blip>
                <a:srcRect l="3726" t="8959" r="3236" b="4515"/>
                <a:stretch>
                  <a:fillRect/>
                </a:stretch>
              </p:blipFill>
              <p:spPr>
                <a:xfrm>
                  <a:off x="6467476" y="3612551"/>
                  <a:ext cx="1798320" cy="360000"/>
                </a:xfrm>
                <a:prstGeom prst="rect">
                  <a:avLst/>
                </a:prstGeom>
              </p:spPr>
            </p:pic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6A19C6E1-1347-2947-0051-4E4B5CAD3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BEBA8EAE-BF5A-486C-A8C5-ECC9F3942E4B}">
                      <a14:imgProps xmlns:a14="http://schemas.microsoft.com/office/drawing/2010/main">
                        <a14:imgLayer r:embed="rId9">
                          <a14:imgEffect>
                            <a14:backgroundRemoval t="32494" b="70953" l="13960" r="44675"/>
                          </a14:imgEffect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0120" t="27687" r="51486" b="24239"/>
                <a:stretch>
                  <a:fillRect/>
                </a:stretch>
              </p:blipFill>
              <p:spPr>
                <a:xfrm>
                  <a:off x="6920250" y="3866659"/>
                  <a:ext cx="932157" cy="756309"/>
                </a:xfrm>
                <a:prstGeom prst="rect">
                  <a:avLst/>
                </a:prstGeom>
              </p:spPr>
            </p:pic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BD459B7B-7876-DECC-7C5D-6EF7F711F3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370935" y="3612551"/>
                  <a:ext cx="0" cy="863841"/>
                </a:xfrm>
                <a:prstGeom prst="line">
                  <a:avLst/>
                </a:prstGeom>
                <a:ln w="9525" cap="flat" cmpd="sng" algn="ctr">
                  <a:solidFill>
                    <a:srgbClr val="C00000"/>
                  </a:solidFill>
                  <a:prstDash val="sys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69C823F4-FBD6-6BF7-DDFC-373F3F49B1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40000" contrast="40000"/>
                          </a14:imgEffect>
                        </a14:imgLayer>
                      </a14:imgProps>
                    </a:ext>
                  </a:extLst>
                </a:blip>
                <a:srcRect l="76827" t="8959" r="3236" b="4515"/>
                <a:stretch>
                  <a:fillRect/>
                </a:stretch>
              </p:blipFill>
              <p:spPr>
                <a:xfrm>
                  <a:off x="6082122" y="3612551"/>
                  <a:ext cx="385354" cy="360000"/>
                </a:xfrm>
                <a:prstGeom prst="rect">
                  <a:avLst/>
                </a:prstGeom>
              </p:spPr>
            </p:pic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849EE9B9-324D-BB3C-541F-721FD32B50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40000" contrast="40000"/>
                          </a14:imgEffect>
                        </a14:imgLayer>
                      </a14:imgProps>
                    </a:ext>
                  </a:extLst>
                </a:blip>
                <a:srcRect l="3726" t="8959" r="75085" b="4515"/>
                <a:stretch>
                  <a:fillRect/>
                </a:stretch>
              </p:blipFill>
              <p:spPr>
                <a:xfrm>
                  <a:off x="8265796" y="3612551"/>
                  <a:ext cx="409568" cy="360000"/>
                </a:xfrm>
                <a:prstGeom prst="rect">
                  <a:avLst/>
                </a:prstGeom>
              </p:spPr>
            </p:pic>
          </p:grp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65BA09B4-C52E-B87A-CF04-8232C165DF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42582" y="4874895"/>
                <a:ext cx="0" cy="696047"/>
              </a:xfrm>
              <a:prstGeom prst="line">
                <a:avLst/>
              </a:prstGeom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B93E4C2-FBE4-4065-9278-90914A6ECE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521982" y="4703445"/>
                <a:ext cx="0" cy="867498"/>
              </a:xfrm>
              <a:prstGeom prst="line">
                <a:avLst/>
              </a:prstGeom>
              <a:ln w="9525" cap="flat" cmpd="sng" algn="ctr">
                <a:solidFill>
                  <a:srgbClr val="C00000"/>
                </a:solidFill>
                <a:prstDash val="sys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06407F-AE7F-3BBE-2F75-7730253F21E7}"/>
                    </a:ext>
                  </a:extLst>
                </p:cNvPr>
                <p:cNvSpPr txBox="1"/>
                <p:nvPr/>
              </p:nvSpPr>
              <p:spPr>
                <a:xfrm>
                  <a:off x="6591942" y="3940434"/>
                  <a:ext cx="1748389" cy="3781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sSub>
                              <m:sSubPr>
                                <m:ctrlPr>
                                  <a:rPr lang="fr-FR" sz="105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1050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1050" b="0" i="1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sub>
                            </m:sSub>
                          </m:sub>
                        </m:sSub>
                        <m:r>
                          <a:rPr lang="fr-FR" sz="105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fr-FR" sz="105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05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l-GR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fr-FR" sz="105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lang="fr-FR" sz="105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E06407F-AE7F-3BBE-2F75-7730253F21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1942" y="3940434"/>
                  <a:ext cx="1748389" cy="37811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1CAC20F-EC26-B5B1-7233-C097D272BB96}"/>
                    </a:ext>
                  </a:extLst>
                </p:cNvPr>
                <p:cNvSpPr txBox="1"/>
                <p:nvPr/>
              </p:nvSpPr>
              <p:spPr>
                <a:xfrm>
                  <a:off x="6240422" y="5556492"/>
                  <a:ext cx="2470599" cy="37811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sSub>
                              <m:sSubPr>
                                <m:ctrlPr>
                                  <a:rPr lang="fr-FR" sz="105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1050" b="0" i="1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105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sub>
                        </m:sSub>
                        <m:r>
                          <a:rPr lang="fr-FR" sz="1050" i="1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fr-FR" sz="105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sz="105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l-GR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fr-FR" sz="105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fr-FR" sz="105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fr-FR" sz="105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unc>
                              <m:funcPr>
                                <m:ctrlPr>
                                  <a:rPr lang="fr-FR" sz="105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fr-FR" sz="105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fr-FR" sz="105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f>
                                  <m:f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05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1050" i="1"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e>
                            </m:func>
                            <m:r>
                              <a:rPr lang="fr-FR" sz="105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oMath>
                    </m:oMathPara>
                  </a14:m>
                  <a:endParaRPr lang="fr-FR" sz="105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1CAC20F-EC26-B5B1-7233-C097D272B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0422" y="5556492"/>
                  <a:ext cx="2470599" cy="37811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C7C8EA8-F319-D7E0-8067-9D1EAC76E64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DA953AF-25C3-1D39-4B06-09ED975BB1A5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4BCE2257-F05E-832B-4E41-697261064FAC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AA77982B-C36B-8EDB-5099-18085A7BE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C05A3D-32B8-82F3-42AF-E20F9F7CEB70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56DC6A4-DDE0-128B-1A21-EBE107893AF8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6EC09A-1CE2-C57C-EA75-CE25A5404F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28398"/>
            <a:ext cx="5175257" cy="50285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4840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7443C-1132-470C-D64F-59D770C6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7ADF0A-BC65-2B59-DB0A-5AC2D897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46AB8D3-DEB4-0AE6-6FE3-850FB50B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21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FC845-40D7-1D84-2831-0F5EB2B9A9BD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2D14195-002C-3AC6-91BA-38D5950E6A8F}"/>
              </a:ext>
            </a:extLst>
          </p:cNvPr>
          <p:cNvGrpSpPr/>
          <p:nvPr/>
        </p:nvGrpSpPr>
        <p:grpSpPr>
          <a:xfrm>
            <a:off x="449951" y="4838220"/>
            <a:ext cx="8491114" cy="1210580"/>
            <a:chOff x="194470" y="5083538"/>
            <a:chExt cx="8484459" cy="121058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8A93C6F-6963-CF1D-4030-848C335D32BA}"/>
                </a:ext>
              </a:extLst>
            </p:cNvPr>
            <p:cNvGrpSpPr/>
            <p:nvPr/>
          </p:nvGrpSpPr>
          <p:grpSpPr>
            <a:xfrm>
              <a:off x="194470" y="5083538"/>
              <a:ext cx="8484459" cy="1150814"/>
              <a:chOff x="194470" y="5083538"/>
              <a:chExt cx="8484459" cy="1150814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EC0EFE0-5A7E-434A-48B5-6D0BDA324E79}"/>
                  </a:ext>
                </a:extLst>
              </p:cNvPr>
              <p:cNvGrpSpPr/>
              <p:nvPr/>
            </p:nvGrpSpPr>
            <p:grpSpPr>
              <a:xfrm>
                <a:off x="1281789" y="5495226"/>
                <a:ext cx="6572907" cy="739126"/>
                <a:chOff x="1833334" y="3059437"/>
                <a:chExt cx="6572907" cy="739126"/>
              </a:xfrm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24626F8-3405-7B94-857D-F1F2A8E46808}"/>
                    </a:ext>
                  </a:extLst>
                </p:cNvPr>
                <p:cNvSpPr/>
                <p:nvPr/>
              </p:nvSpPr>
              <p:spPr>
                <a:xfrm>
                  <a:off x="4222980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Filtrage Interne</a:t>
                  </a: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E65B8228-B903-2034-466C-E1CF7CE3C58B}"/>
                    </a:ext>
                  </a:extLst>
                </p:cNvPr>
                <p:cNvSpPr/>
                <p:nvPr/>
              </p:nvSpPr>
              <p:spPr>
                <a:xfrm>
                  <a:off x="2406061" y="3059437"/>
                  <a:ext cx="1244192" cy="739126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Induction</a:t>
                  </a: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67C62744-6624-30B8-4516-B89653B12216}"/>
                    </a:ext>
                  </a:extLst>
                </p:cNvPr>
                <p:cNvSpPr/>
                <p:nvPr/>
              </p:nvSpPr>
              <p:spPr>
                <a:xfrm>
                  <a:off x="6039898" y="3059437"/>
                  <a:ext cx="1790344" cy="739126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>
                      <a:solidFill>
                        <a:schemeClr val="tx1"/>
                      </a:solidFill>
                    </a:rPr>
                    <a:t>Amplificateur</a:t>
                  </a:r>
                </a:p>
              </p:txBody>
            </p:sp>
            <p:cxnSp>
              <p:nvCxnSpPr>
                <p:cNvPr id="57" name="Straight Arrow Connector 56">
                  <a:extLst>
                    <a:ext uri="{FF2B5EF4-FFF2-40B4-BE49-F238E27FC236}">
                      <a16:creationId xmlns:a16="http://schemas.microsoft.com/office/drawing/2014/main" id="{BE861EC0-ADFA-BFD5-9A59-357BF9F8DA0C}"/>
                    </a:ext>
                  </a:extLst>
                </p:cNvPr>
                <p:cNvCxnSpPr>
                  <a:cxnSpLocks/>
                  <a:stCxn id="55" idx="3"/>
                  <a:endCxn id="54" idx="1"/>
                </p:cNvCxnSpPr>
                <p:nvPr/>
              </p:nvCxnSpPr>
              <p:spPr>
                <a:xfrm>
                  <a:off x="3650253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CBAA01B1-07B4-0E8E-EA74-4165A97C907C}"/>
                    </a:ext>
                  </a:extLst>
                </p:cNvPr>
                <p:cNvCxnSpPr>
                  <a:cxnSpLocks/>
                  <a:stCxn id="54" idx="3"/>
                  <a:endCxn id="56" idx="1"/>
                </p:cNvCxnSpPr>
                <p:nvPr/>
              </p:nvCxnSpPr>
              <p:spPr>
                <a:xfrm>
                  <a:off x="5467172" y="3429000"/>
                  <a:ext cx="572726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Arrow Connector 58">
                  <a:extLst>
                    <a:ext uri="{FF2B5EF4-FFF2-40B4-BE49-F238E27FC236}">
                      <a16:creationId xmlns:a16="http://schemas.microsoft.com/office/drawing/2014/main" id="{2351D297-C352-0650-1F96-4B946D7E8EDF}"/>
                    </a:ext>
                  </a:extLst>
                </p:cNvPr>
                <p:cNvCxnSpPr>
                  <a:cxnSpLocks/>
                  <a:endCxn id="55" idx="1"/>
                </p:cNvCxnSpPr>
                <p:nvPr/>
              </p:nvCxnSpPr>
              <p:spPr>
                <a:xfrm>
                  <a:off x="1833334" y="3429000"/>
                  <a:ext cx="572727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Arrow Connector 59">
                  <a:extLst>
                    <a:ext uri="{FF2B5EF4-FFF2-40B4-BE49-F238E27FC236}">
                      <a16:creationId xmlns:a16="http://schemas.microsoft.com/office/drawing/2014/main" id="{2C793BFD-06C9-831C-9B6A-6D0B4AB1F2FB}"/>
                    </a:ext>
                  </a:extLst>
                </p:cNvPr>
                <p:cNvCxnSpPr>
                  <a:cxnSpLocks/>
                  <a:stCxn id="56" idx="3"/>
                </p:cNvCxnSpPr>
                <p:nvPr/>
              </p:nvCxnSpPr>
              <p:spPr>
                <a:xfrm>
                  <a:off x="7830241" y="3429000"/>
                  <a:ext cx="576000" cy="0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C89B3A1-9684-D240-5467-3E82410169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1" name="TextBox 60">
                      <a:extLst>
                        <a:ext uri="{FF2B5EF4-FFF2-40B4-BE49-F238E27FC236}">
                          <a16:creationId xmlns:a16="http://schemas.microsoft.com/office/drawing/2014/main" id="{BC89B3A1-9684-D240-5467-3E82410169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13312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A65CBD3-56E2-8142-5CE2-5D9B819463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𝑒𝑙𝑒𝑐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0A65CBD3-56E2-8142-5CE2-5D9B8194632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30231" y="3105719"/>
                      <a:ext cx="446608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74510184-3A41-CDD1-88B7-90ACF554C7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noFill/>
                    <a:ln w="19050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é</m:t>
                                </m:r>
                                <m:r>
                                  <a:rPr lang="fr-F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𝑐𝑎</m:t>
                                </m:r>
                              </m:sub>
                            </m:sSub>
                          </m:oMath>
                        </m:oMathPara>
                      </a14:m>
                      <a:endParaRPr lang="fr-FR" sz="1200" dirty="0"/>
                    </a:p>
                  </p:txBody>
                </p:sp>
              </mc:Choice>
              <mc:Fallback xmlns="">
                <p:sp>
                  <p:nvSpPr>
                    <p:cNvPr id="63" name="TextBox 62">
                      <a:extLst>
                        <a:ext uri="{FF2B5EF4-FFF2-40B4-BE49-F238E27FC236}">
                          <a16:creationId xmlns:a16="http://schemas.microsoft.com/office/drawing/2014/main" id="{74510184-3A41-CDD1-88B7-90ACF554C78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84241" y="3105718"/>
                      <a:ext cx="468000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8219"/>
                      </a:stretch>
                    </a:blipFill>
                    <a:ln w="1905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8AEFA58-920D-CA4B-0F07-1505906941E3}"/>
                  </a:ext>
                </a:extLst>
              </p:cNvPr>
              <p:cNvSpPr txBox="1"/>
              <p:nvPr/>
            </p:nvSpPr>
            <p:spPr>
              <a:xfrm>
                <a:off x="194470" y="5571687"/>
                <a:ext cx="13135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Champ Magnétique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E9D5FC-7311-9DE7-224D-265153585FFE}"/>
                  </a:ext>
                </a:extLst>
              </p:cNvPr>
              <p:cNvSpPr txBox="1"/>
              <p:nvPr/>
            </p:nvSpPr>
            <p:spPr>
              <a:xfrm>
                <a:off x="7845945" y="5700897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/>
                  <a:t>Son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2E58AEB-3C8B-BEE6-23D3-28ACF6A082A1}"/>
                  </a:ext>
                </a:extLst>
              </p:cNvPr>
              <p:cNvSpPr txBox="1"/>
              <p:nvPr/>
            </p:nvSpPr>
            <p:spPr>
              <a:xfrm>
                <a:off x="2968578" y="5083538"/>
                <a:ext cx="83298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600" dirty="0">
                    <a:solidFill>
                      <a:srgbClr val="C00000"/>
                    </a:solidFill>
                  </a:rPr>
                  <a:t>Micro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39D5AB90-5B5D-299C-905F-5A23D8466EEA}"/>
                </a:ext>
              </a:extLst>
            </p:cNvPr>
            <p:cNvSpPr/>
            <p:nvPr/>
          </p:nvSpPr>
          <p:spPr>
            <a:xfrm>
              <a:off x="1791455" y="5434033"/>
              <a:ext cx="3187230" cy="860085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E631FB0-AF2B-52D9-ABF9-A8C72A563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8" t="7821" r="16609" b="12129"/>
          <a:stretch>
            <a:fillRect/>
          </a:stretch>
        </p:blipFill>
        <p:spPr>
          <a:xfrm>
            <a:off x="1307807" y="901333"/>
            <a:ext cx="6528386" cy="39655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6F19366-E464-2982-AC55-682B5038ECC4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7F9072DF-6B10-F3FF-2E80-2B8708D4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9F772F-663F-5F54-5B8F-B00F8569B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562531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799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C3C5-724E-6B47-34F2-CF92308B7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23932D-DB1E-0F79-2630-BD139B43CBE1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9FDBC51-B7C5-D612-8598-965C48AC7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ADAE1A4-DBF7-136C-C7FB-905349CD6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22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B6957C-FA40-780F-7F7C-92FF0723E95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/>
              <p:nvPr/>
            </p:nvSpPr>
            <p:spPr>
              <a:xfrm>
                <a:off x="4747261" y="1124075"/>
                <a:ext cx="4203181" cy="5146248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dirty="0">
                    <a:solidFill>
                      <a:schemeClr val="tx1"/>
                    </a:solidFill>
                  </a:rPr>
                  <a:t>On considère un champ parasite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chemeClr val="tx1"/>
                  </a:solidFill>
                </a:endParaRPr>
              </a:p>
              <a:p>
                <a:pPr algn="ctr"/>
                <a:endParaRPr lang="fr-FR" sz="1600" dirty="0"/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SingleCoil :</a:t>
                </a:r>
              </a:p>
              <a:p>
                <a:r>
                  <a:rPr lang="fr-FR" sz="1600" dirty="0">
                    <a:solidFill>
                      <a:schemeClr val="tx1"/>
                    </a:solidFill>
                  </a:rPr>
                  <a:t>On place le micro tel que </a:t>
                </a:r>
                <a14:m>
                  <m:oMath xmlns:m="http://schemas.openxmlformats.org/officeDocument/2006/math"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′=0</m:t>
                    </m:r>
                  </m:oMath>
                </a14:m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u="sng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(0, 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6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600" dirty="0">
                  <a:solidFill>
                    <a:srgbClr val="C00000"/>
                  </a:solidFill>
                </a:endParaRPr>
              </a:p>
              <a:p>
                <a:pPr algn="ctr"/>
                <a:endParaRPr lang="fr-FR" sz="1600" dirty="0"/>
              </a:p>
              <a:p>
                <a:r>
                  <a:rPr lang="fr-FR" sz="1600" b="1" u="sng" dirty="0">
                    <a:solidFill>
                      <a:schemeClr val="tx1"/>
                    </a:solidFill>
                  </a:rPr>
                  <a:t>Pour un micro Humbucker :</a:t>
                </a:r>
                <a:endParaRPr lang="fr-FR" sz="1600" dirty="0"/>
              </a:p>
              <a:p>
                <a:r>
                  <a:rPr lang="fr-FR" sz="1600" dirty="0"/>
                  <a:t>Avec la </a:t>
                </a:r>
                <a:r>
                  <a:rPr lang="fr-FR" sz="1600" u="sng" dirty="0"/>
                  <a:t>Loi d’induction de Faraday </a:t>
                </a:r>
                <a:r>
                  <a:rPr lang="fr-FR" sz="16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2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+(−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𝑁𝑆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pPr algn="ctr"/>
                <a:endParaRPr lang="fr-FR" sz="1600" dirty="0"/>
              </a:p>
              <a:p>
                <a:r>
                  <a:rPr lang="fr-FR" sz="1600" dirty="0"/>
                  <a:t>D’où 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𝐻𝐵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9F7A028-A084-247B-14D0-F31ACD1718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261" y="1124075"/>
                <a:ext cx="4203181" cy="5146248"/>
              </a:xfrm>
              <a:prstGeom prst="rect">
                <a:avLst/>
              </a:prstGeom>
              <a:blipFill>
                <a:blip r:embed="rId2"/>
                <a:stretch>
                  <a:fillRect l="-432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64CC775C-DC4C-63E7-FC61-EA5A3939172B}"/>
              </a:ext>
            </a:extLst>
          </p:cNvPr>
          <p:cNvGrpSpPr/>
          <p:nvPr/>
        </p:nvGrpSpPr>
        <p:grpSpPr>
          <a:xfrm>
            <a:off x="326176" y="2696874"/>
            <a:ext cx="4070565" cy="3573449"/>
            <a:chOff x="1211000" y="2537460"/>
            <a:chExt cx="3842591" cy="36576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A165BD7B-D6B6-F854-07A0-F8064B514725}"/>
                    </a:ext>
                  </a:extLst>
                </p:cNvPr>
                <p:cNvSpPr/>
                <p:nvPr/>
              </p:nvSpPr>
              <p:spPr>
                <a:xfrm>
                  <a:off x="1211000" y="2537460"/>
                  <a:ext cx="3842591" cy="3657600"/>
                </a:xfrm>
                <a:prstGeom prst="rect">
                  <a:avLst/>
                </a:prstGeom>
                <a:ln w="38100"/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numCol="1" rtlCol="0" anchor="t"/>
                <a:lstStyle/>
                <a:p>
                  <a:r>
                    <a:rPr lang="fr-FR" sz="1600" b="1" dirty="0"/>
                    <a:t>Notations 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50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sz="15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500" dirty="0"/>
                    <a:t>: F.E.M. dans le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5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5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500" dirty="0"/>
                    <a:t>: Nombre de spire du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5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5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500" dirty="0"/>
                    <a:t>: Surface du micro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fr-FR" sz="15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fr-FR" sz="1500" dirty="0"/>
                    <a:t>: Gradient du champ parasite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5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5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fr-FR" sz="1500" dirty="0"/>
                    <a:t>: Fréquence du champ parasite</a:t>
                  </a:r>
                </a:p>
              </p:txBody>
            </p:sp>
          </mc:Choice>
          <mc:Fallback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A165BD7B-D6B6-F854-07A0-F8064B5147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1000" y="2537460"/>
                  <a:ext cx="3842591" cy="3657600"/>
                </a:xfrm>
                <a:prstGeom prst="rect">
                  <a:avLst/>
                </a:prstGeom>
                <a:blipFill>
                  <a:blip r:embed="rId3"/>
                  <a:stretch>
                    <a:fillRect l="-446"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AutoShape 2" descr="Image de ">
              <a:extLst>
                <a:ext uri="{FF2B5EF4-FFF2-40B4-BE49-F238E27FC236}">
                  <a16:creationId xmlns:a16="http://schemas.microsoft.com/office/drawing/2014/main" id="{191D9128-D82D-813C-F887-06FAE524B6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9600" y="3276600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73D4D17-B068-BC08-FD30-C054806AF9D6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2494" b="70953" l="13960" r="44675"/>
                      </a14:imgEffect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62" t="33994" r="56355" b="28677"/>
            <a:stretch>
              <a:fillRect/>
            </a:stretch>
          </p:blipFill>
          <p:spPr>
            <a:xfrm rot="16200000">
              <a:off x="3789600" y="4075725"/>
              <a:ext cx="540000" cy="72000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C37DEA7-2203-42F7-6199-1F53CB0FEEA9}"/>
                </a:ext>
              </a:extLst>
            </p:cNvPr>
            <p:cNvPicPr>
              <a:picLocks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65" t="31109" r="16927" b="29421"/>
            <a:stretch>
              <a:fillRect/>
            </a:stretch>
          </p:blipFill>
          <p:spPr>
            <a:xfrm rot="16200000">
              <a:off x="3519600" y="5043882"/>
              <a:ext cx="1080000" cy="720000"/>
            </a:xfrm>
            <a:prstGeom prst="rect">
              <a:avLst/>
            </a:prstGeom>
          </p:spPr>
        </p:pic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E12A478-9168-E9A7-08C1-904DA5C9D11F}"/>
                </a:ext>
              </a:extLst>
            </p:cNvPr>
            <p:cNvGrpSpPr/>
            <p:nvPr/>
          </p:nvGrpSpPr>
          <p:grpSpPr>
            <a:xfrm>
              <a:off x="3464259" y="4302651"/>
              <a:ext cx="1304635" cy="1803753"/>
              <a:chOff x="1435741" y="3154410"/>
              <a:chExt cx="1304635" cy="1803753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3BE3CFB-79EF-46B3-B885-C590E1FFCC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85090" y="4255046"/>
                <a:ext cx="4877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13CEC012-6C4D-4FA6-13FD-D7443D6FED09}"/>
                      </a:ext>
                    </a:extLst>
                  </p:cNvPr>
                  <p:cNvSpPr txBox="1"/>
                  <p:nvPr/>
                </p:nvSpPr>
                <p:spPr>
                  <a:xfrm>
                    <a:off x="1435741" y="4143861"/>
                    <a:ext cx="169918" cy="2223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13CEC012-6C4D-4FA6-13FD-D7443D6FED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5741" y="4143861"/>
                    <a:ext cx="169918" cy="22236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8571" r="-32143" b="-29730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20A816B5-53E3-F589-38D2-8FB5899DC4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2806" y="4255046"/>
                <a:ext cx="0" cy="41656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DD4A81F-E446-8C5B-C4B6-971AC4B98CD1}"/>
                      </a:ext>
                    </a:extLst>
                  </p:cNvPr>
                  <p:cNvSpPr txBox="1"/>
                  <p:nvPr/>
                </p:nvSpPr>
                <p:spPr>
                  <a:xfrm>
                    <a:off x="1990251" y="4735794"/>
                    <a:ext cx="165110" cy="2223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DDD4A81F-E446-8C5B-C4B6-971AC4B98C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0251" y="4735794"/>
                    <a:ext cx="165110" cy="22236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2222" r="-22222" b="-8108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CC432440-AFBD-FE2E-238F-FB732EA55D33}"/>
                      </a:ext>
                    </a:extLst>
                  </p:cNvPr>
                  <p:cNvSpPr txBox="1"/>
                  <p:nvPr/>
                </p:nvSpPr>
                <p:spPr>
                  <a:xfrm>
                    <a:off x="2391082" y="4290780"/>
                    <a:ext cx="346633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fr-FR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CC432440-AFBD-FE2E-238F-FB732EA55D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91082" y="4290780"/>
                    <a:ext cx="346633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8772" t="-2174" r="-17544" b="-1521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066B23E-CB7A-24DB-69DB-5E458707C247}"/>
                      </a:ext>
                    </a:extLst>
                  </p:cNvPr>
                  <p:cNvSpPr txBox="1"/>
                  <p:nvPr/>
                </p:nvSpPr>
                <p:spPr>
                  <a:xfrm>
                    <a:off x="2388421" y="3868311"/>
                    <a:ext cx="351955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 lang="fr-FR" dirty="0"/>
                  </a:p>
                </p:txBody>
              </p:sp>
            </mc:Choice>
            <mc:Fallback xmlns=""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4066B23E-CB7A-24DB-69DB-5E458707C2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88421" y="3868311"/>
                    <a:ext cx="351955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8772" t="-2222" r="-19298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329C849-FD05-E48F-7B3A-455288FE67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85090" y="3279270"/>
                <a:ext cx="4877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291721E5-D838-9684-957E-F4B2D764E8F9}"/>
                      </a:ext>
                    </a:extLst>
                  </p:cNvPr>
                  <p:cNvSpPr txBox="1"/>
                  <p:nvPr/>
                </p:nvSpPr>
                <p:spPr>
                  <a:xfrm>
                    <a:off x="1435741" y="3154410"/>
                    <a:ext cx="169918" cy="2223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291721E5-D838-9684-957E-F4B2D764E8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35741" y="3154410"/>
                    <a:ext cx="169918" cy="22236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8571" r="-32143" b="-30556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4CCB477B-68D4-66E8-9099-532A344293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2806" y="3279270"/>
                <a:ext cx="0" cy="16605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9B3E65F-92A4-D8EE-10ED-0F9447D71CBD}"/>
                      </a:ext>
                    </a:extLst>
                  </p:cNvPr>
                  <p:cNvSpPr txBox="1"/>
                  <p:nvPr/>
                </p:nvSpPr>
                <p:spPr>
                  <a:xfrm>
                    <a:off x="1990251" y="3430485"/>
                    <a:ext cx="165110" cy="22236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</m:oMath>
                      </m:oMathPara>
                    </a14:m>
                    <a:endParaRPr lang="fr-FR" sz="12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9B3E65F-92A4-D8EE-10ED-0F9447D71C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0251" y="3430485"/>
                    <a:ext cx="165110" cy="22236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2222" r="-22222" b="-8108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125323C-5C14-F193-F991-30FAE1066184}"/>
                </a:ext>
              </a:extLst>
            </p:cNvPr>
            <p:cNvGrpSpPr/>
            <p:nvPr/>
          </p:nvGrpSpPr>
          <p:grpSpPr>
            <a:xfrm>
              <a:off x="1699654" y="4952326"/>
              <a:ext cx="1544379" cy="901924"/>
              <a:chOff x="1699654" y="4952326"/>
              <a:chExt cx="1544379" cy="901924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9E8E7F2C-74F6-4532-DDC7-7644551959A7}"/>
                  </a:ext>
                </a:extLst>
              </p:cNvPr>
              <p:cNvCxnSpPr/>
              <p:nvPr/>
            </p:nvCxnSpPr>
            <p:spPr>
              <a:xfrm>
                <a:off x="1700920" y="5403881"/>
                <a:ext cx="1508760" cy="0"/>
              </a:xfrm>
              <a:prstGeom prst="straightConnector1">
                <a:avLst/>
              </a:prstGeom>
              <a:ln w="38100">
                <a:solidFill>
                  <a:srgbClr val="3890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48B2373-3BE8-8DA8-0C01-F9A3AD3ED065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738" y="5006421"/>
                    <a:ext cx="347211" cy="34515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200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2000" dirty="0">
                      <a:solidFill>
                        <a:srgbClr val="38903A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B48B2373-3BE8-8DA8-0C01-F9A3AD3ED0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3738" y="5006421"/>
                    <a:ext cx="347211" cy="34515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5789" r="-3509" b="-1578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Arc 43">
                <a:extLst>
                  <a:ext uri="{FF2B5EF4-FFF2-40B4-BE49-F238E27FC236}">
                    <a16:creationId xmlns:a16="http://schemas.microsoft.com/office/drawing/2014/main" id="{85D0D423-6440-EDF0-0B59-8D2843A8BF31}"/>
                  </a:ext>
                </a:extLst>
              </p:cNvPr>
              <p:cNvSpPr/>
              <p:nvPr/>
            </p:nvSpPr>
            <p:spPr>
              <a:xfrm>
                <a:off x="1700920" y="5403288"/>
                <a:ext cx="1508760" cy="450962"/>
              </a:xfrm>
              <a:prstGeom prst="arc">
                <a:avLst>
                  <a:gd name="adj1" fmla="val 16200000"/>
                  <a:gd name="adj2" fmla="val 21318415"/>
                </a:avLst>
              </a:prstGeom>
              <a:ln w="28575">
                <a:solidFill>
                  <a:srgbClr val="3890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FE8E84BD-8DB9-8C32-A2D5-836E000D5D67}"/>
                  </a:ext>
                </a:extLst>
              </p:cNvPr>
              <p:cNvSpPr/>
              <p:nvPr/>
            </p:nvSpPr>
            <p:spPr>
              <a:xfrm flipV="1">
                <a:off x="1699654" y="4952326"/>
                <a:ext cx="1508760" cy="450962"/>
              </a:xfrm>
              <a:prstGeom prst="arc">
                <a:avLst>
                  <a:gd name="adj1" fmla="val 16200000"/>
                  <a:gd name="adj2" fmla="val 21318415"/>
                </a:avLst>
              </a:prstGeom>
              <a:ln w="28575">
                <a:solidFill>
                  <a:srgbClr val="3890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Isosceles Triangle 45">
                <a:extLst>
                  <a:ext uri="{FF2B5EF4-FFF2-40B4-BE49-F238E27FC236}">
                    <a16:creationId xmlns:a16="http://schemas.microsoft.com/office/drawing/2014/main" id="{E8F1C0D4-E7BF-A56A-66B8-2EF66503523C}"/>
                  </a:ext>
                </a:extLst>
              </p:cNvPr>
              <p:cNvSpPr/>
              <p:nvPr/>
            </p:nvSpPr>
            <p:spPr>
              <a:xfrm rot="2778153">
                <a:off x="3174565" y="5186224"/>
                <a:ext cx="67698" cy="71238"/>
              </a:xfrm>
              <a:prstGeom prst="triangle">
                <a:avLst/>
              </a:prstGeom>
              <a:solidFill>
                <a:srgbClr val="38903A"/>
              </a:solidFill>
              <a:ln>
                <a:solidFill>
                  <a:srgbClr val="3890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FF99D8DF-EB3C-7D2B-91C5-6DA397B1020C}"/>
                  </a:ext>
                </a:extLst>
              </p:cNvPr>
              <p:cNvSpPr/>
              <p:nvPr/>
            </p:nvSpPr>
            <p:spPr>
              <a:xfrm rot="8004520">
                <a:off x="3164379" y="5548707"/>
                <a:ext cx="67698" cy="71238"/>
              </a:xfrm>
              <a:prstGeom prst="triangle">
                <a:avLst/>
              </a:prstGeom>
              <a:solidFill>
                <a:srgbClr val="38903A"/>
              </a:solidFill>
              <a:ln>
                <a:solidFill>
                  <a:srgbClr val="3890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6D80C00-81CF-0ACA-2B22-AD88491FC8A1}"/>
                </a:ext>
              </a:extLst>
            </p:cNvPr>
            <p:cNvCxnSpPr/>
            <p:nvPr/>
          </p:nvCxnSpPr>
          <p:spPr>
            <a:xfrm flipH="1">
              <a:off x="1447764" y="4792980"/>
              <a:ext cx="327663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98DBCAD-8DE2-B26A-F28F-DE975A13CF1C}"/>
                </a:ext>
              </a:extLst>
            </p:cNvPr>
            <p:cNvGrpSpPr/>
            <p:nvPr/>
          </p:nvGrpSpPr>
          <p:grpSpPr>
            <a:xfrm>
              <a:off x="1713173" y="3988565"/>
              <a:ext cx="1544379" cy="901924"/>
              <a:chOff x="1699654" y="4952326"/>
              <a:chExt cx="1544379" cy="901924"/>
            </a:xfrm>
          </p:grpSpPr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3F9B1D8-9D10-F88F-4092-C5BE6B1D1EAA}"/>
                  </a:ext>
                </a:extLst>
              </p:cNvPr>
              <p:cNvCxnSpPr/>
              <p:nvPr/>
            </p:nvCxnSpPr>
            <p:spPr>
              <a:xfrm>
                <a:off x="1700920" y="5403881"/>
                <a:ext cx="1508760" cy="0"/>
              </a:xfrm>
              <a:prstGeom prst="straightConnector1">
                <a:avLst/>
              </a:prstGeom>
              <a:ln w="38100">
                <a:solidFill>
                  <a:srgbClr val="38903A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DB244FD-9C5A-2D4B-196B-CA6F26C94AEF}"/>
                      </a:ext>
                    </a:extLst>
                  </p:cNvPr>
                  <p:cNvSpPr txBox="1"/>
                  <p:nvPr/>
                </p:nvSpPr>
                <p:spPr>
                  <a:xfrm>
                    <a:off x="2283738" y="5006421"/>
                    <a:ext cx="347211" cy="34515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2000" i="1" smtClean="0">
                                  <a:solidFill>
                                    <a:srgbClr val="38903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fr-FR" sz="2000" b="0" i="1" smtClean="0">
                                      <a:solidFill>
                                        <a:srgbClr val="38903A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</m:oMath>
                      </m:oMathPara>
                    </a14:m>
                    <a:endParaRPr lang="fr-FR" sz="2000" dirty="0">
                      <a:solidFill>
                        <a:srgbClr val="38903A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0DB244FD-9C5A-2D4B-196B-CA6F26C94A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3738" y="5006421"/>
                    <a:ext cx="347211" cy="34515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5789" r="-3509" b="-1578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3E97DF05-5490-31B1-A805-F06F41AA3A12}"/>
                  </a:ext>
                </a:extLst>
              </p:cNvPr>
              <p:cNvSpPr/>
              <p:nvPr/>
            </p:nvSpPr>
            <p:spPr>
              <a:xfrm>
                <a:off x="1700920" y="5403288"/>
                <a:ext cx="1508760" cy="450962"/>
              </a:xfrm>
              <a:prstGeom prst="arc">
                <a:avLst>
                  <a:gd name="adj1" fmla="val 16200000"/>
                  <a:gd name="adj2" fmla="val 21318415"/>
                </a:avLst>
              </a:prstGeom>
              <a:ln w="28575">
                <a:solidFill>
                  <a:srgbClr val="3890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8" name="Arc 37">
                <a:extLst>
                  <a:ext uri="{FF2B5EF4-FFF2-40B4-BE49-F238E27FC236}">
                    <a16:creationId xmlns:a16="http://schemas.microsoft.com/office/drawing/2014/main" id="{B2354A2E-C08C-81D8-2AFE-6DC06DC0D8B4}"/>
                  </a:ext>
                </a:extLst>
              </p:cNvPr>
              <p:cNvSpPr/>
              <p:nvPr/>
            </p:nvSpPr>
            <p:spPr>
              <a:xfrm flipV="1">
                <a:off x="1699654" y="4952326"/>
                <a:ext cx="1508760" cy="450962"/>
              </a:xfrm>
              <a:prstGeom prst="arc">
                <a:avLst>
                  <a:gd name="adj1" fmla="val 16200000"/>
                  <a:gd name="adj2" fmla="val 21318415"/>
                </a:avLst>
              </a:prstGeom>
              <a:ln w="28575">
                <a:solidFill>
                  <a:srgbClr val="38903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96F9CB74-D7AB-3B25-38FB-F4F08ECD4546}"/>
                  </a:ext>
                </a:extLst>
              </p:cNvPr>
              <p:cNvSpPr/>
              <p:nvPr/>
            </p:nvSpPr>
            <p:spPr>
              <a:xfrm rot="2778153">
                <a:off x="3174565" y="5186224"/>
                <a:ext cx="67698" cy="71238"/>
              </a:xfrm>
              <a:prstGeom prst="triangle">
                <a:avLst/>
              </a:prstGeom>
              <a:solidFill>
                <a:srgbClr val="38903A"/>
              </a:solidFill>
              <a:ln>
                <a:solidFill>
                  <a:srgbClr val="3890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0" name="Isosceles Triangle 39">
                <a:extLst>
                  <a:ext uri="{FF2B5EF4-FFF2-40B4-BE49-F238E27FC236}">
                    <a16:creationId xmlns:a16="http://schemas.microsoft.com/office/drawing/2014/main" id="{83616F32-5E18-8F61-D331-A3D22F87DE3F}"/>
                  </a:ext>
                </a:extLst>
              </p:cNvPr>
              <p:cNvSpPr/>
              <p:nvPr/>
            </p:nvSpPr>
            <p:spPr>
              <a:xfrm rot="8004520">
                <a:off x="3164379" y="5548707"/>
                <a:ext cx="67698" cy="71238"/>
              </a:xfrm>
              <a:prstGeom prst="triangle">
                <a:avLst/>
              </a:prstGeom>
              <a:solidFill>
                <a:srgbClr val="38903A"/>
              </a:solidFill>
              <a:ln>
                <a:solidFill>
                  <a:srgbClr val="3890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6E3F63-18A3-9498-5073-A5EF88801CCB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CD188FC-F06E-EA7C-476B-D42BE57B1E8F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Footer Placeholder 2">
              <a:extLst>
                <a:ext uri="{FF2B5EF4-FFF2-40B4-BE49-F238E27FC236}">
                  <a16:creationId xmlns:a16="http://schemas.microsoft.com/office/drawing/2014/main" id="{8E4F5BB7-84F5-256D-1766-FF80BA3A668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702EA55-3B7D-8E0A-598A-0BCE3646F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3E3BAB-D466-9F44-61A6-DD7BAEFAD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15552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51915C8-D355-0228-41D3-02B545BB2493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Théorie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6CBC8C4-39F6-4601-41C5-54ED85F9A541}"/>
                  </a:ext>
                </a:extLst>
              </p:cNvPr>
              <p:cNvSpPr/>
              <p:nvPr/>
            </p:nvSpPr>
            <p:spPr>
              <a:xfrm>
                <a:off x="326176" y="1124075"/>
                <a:ext cx="4070565" cy="1423878"/>
              </a:xfrm>
              <a:prstGeom prst="rect">
                <a:avLst/>
              </a:prstGeom>
              <a:ln w="3810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Hypothèses :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Gradient magnétique </a:t>
                </a:r>
                <a14:m>
                  <m:oMath xmlns:m="http://schemas.openxmlformats.org/officeDocument/2006/math">
                    <m:r>
                      <a:rPr lang="fr-FR" sz="16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600" dirty="0"/>
                  <a:t> constant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Micros ponctuels</a:t>
                </a:r>
              </a:p>
            </p:txBody>
          </p:sp>
        </mc:Choice>
        <mc:Fallback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C6CBC8C4-39F6-4601-41C5-54ED85F9A5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76" y="1124075"/>
                <a:ext cx="4070565" cy="1423878"/>
              </a:xfrm>
              <a:prstGeom prst="rect">
                <a:avLst/>
              </a:prstGeom>
              <a:blipFill>
                <a:blip r:embed="rId17"/>
                <a:stretch>
                  <a:fillRect l="-446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459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317EF-1FA9-4C71-24AC-92C2CCED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7A830A7-B734-AAE1-B623-C2C7A033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02644A6-17D6-7DD7-E116-6CC65045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23</a:t>
            </a:fld>
            <a:endParaRPr lang="fr-FR" sz="1200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17026C-30AC-055B-0F5E-C7C1D3422A71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BE267BF-F8C8-7B9F-086E-2829E24D70E2}"/>
              </a:ext>
            </a:extLst>
          </p:cNvPr>
          <p:cNvGrpSpPr/>
          <p:nvPr/>
        </p:nvGrpSpPr>
        <p:grpSpPr>
          <a:xfrm>
            <a:off x="376131" y="1128398"/>
            <a:ext cx="7320105" cy="5123781"/>
            <a:chOff x="1088521" y="1146180"/>
            <a:chExt cx="6758213" cy="493491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325D940-13FD-EE6E-C1BF-2EAC1C5E3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  <a14:imgEffect>
                        <a14:brightnessContrast brigh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27" b="5227"/>
            <a:stretch/>
          </p:blipFill>
          <p:spPr>
            <a:xfrm rot="16200000">
              <a:off x="2190128" y="306547"/>
              <a:ext cx="2942282" cy="4621547"/>
            </a:xfrm>
            <a:prstGeom prst="rect">
              <a:avLst/>
            </a:prstGeom>
            <a:ln w="28575">
              <a:noFill/>
            </a:ln>
            <a:effectLst>
              <a:softEdge rad="31750"/>
            </a:effectLst>
          </p:spPr>
        </p:pic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C1537CB8-8F77-3361-FCF5-324906ABEE21}"/>
                </a:ext>
              </a:extLst>
            </p:cNvPr>
            <p:cNvGrpSpPr/>
            <p:nvPr/>
          </p:nvGrpSpPr>
          <p:grpSpPr>
            <a:xfrm flipH="1">
              <a:off x="1433732" y="4360802"/>
              <a:ext cx="6413002" cy="1720288"/>
              <a:chOff x="1440953" y="2466429"/>
              <a:chExt cx="6262094" cy="1720288"/>
            </a:xfrm>
          </p:grpSpPr>
          <p:pic>
            <p:nvPicPr>
              <p:cNvPr id="134" name="Picture 133">
                <a:extLst>
                  <a:ext uri="{FF2B5EF4-FFF2-40B4-BE49-F238E27FC236}">
                    <a16:creationId xmlns:a16="http://schemas.microsoft.com/office/drawing/2014/main" id="{485931D7-3E78-6020-17E4-F6EE0BB401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 rot="16140000">
                <a:off x="4210262" y="693933"/>
                <a:ext cx="723475" cy="6262094"/>
              </a:xfrm>
              <a:prstGeom prst="rect">
                <a:avLst/>
              </a:prstGeom>
            </p:spPr>
          </p:pic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749D53FD-1AA2-3F26-4A50-75DD1D2E5A33}"/>
                  </a:ext>
                </a:extLst>
              </p:cNvPr>
              <p:cNvSpPr txBox="1"/>
              <p:nvPr/>
            </p:nvSpPr>
            <p:spPr>
              <a:xfrm>
                <a:off x="4052454" y="2466429"/>
                <a:ext cx="633157" cy="27699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fr-FR" sz="1200" dirty="0"/>
                  <a:t>Corde</a:t>
                </a:r>
              </a:p>
            </p:txBody>
          </p:sp>
        </p:grp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3EE8BFC5-F2AA-D1A3-380C-6809D26261A6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rot="5400000" flipH="1" flipV="1">
              <a:off x="1274767" y="3531748"/>
              <a:ext cx="1167611" cy="256417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1729105-5D1B-BD47-7B86-BF65201E2C22}"/>
                </a:ext>
              </a:extLst>
            </p:cNvPr>
            <p:cNvSpPr txBox="1"/>
            <p:nvPr/>
          </p:nvSpPr>
          <p:spPr>
            <a:xfrm flipH="1">
              <a:off x="2525532" y="4255954"/>
              <a:ext cx="1387055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Micro Humbucker</a:t>
              </a:r>
            </a:p>
          </p:txBody>
        </p: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3736A5C1-091B-7125-5BE6-37A8B606888F}"/>
                </a:ext>
              </a:extLst>
            </p:cNvPr>
            <p:cNvCxnSpPr>
              <a:cxnSpLocks/>
              <a:stCxn id="23" idx="2"/>
            </p:cNvCxnSpPr>
            <p:nvPr/>
          </p:nvCxnSpPr>
          <p:spPr>
            <a:xfrm rot="16200000" flipH="1">
              <a:off x="1724074" y="4527051"/>
              <a:ext cx="1036591" cy="1024010"/>
            </a:xfrm>
            <a:prstGeom prst="bentConnector3">
              <a:avLst>
                <a:gd name="adj1" fmla="val 19616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9A269F26-F8FB-BD35-8D1C-147049D4D4C3}"/>
                </a:ext>
              </a:extLst>
            </p:cNvPr>
            <p:cNvCxnSpPr>
              <a:cxnSpLocks/>
              <a:stCxn id="24" idx="2"/>
            </p:cNvCxnSpPr>
            <p:nvPr/>
          </p:nvCxnSpPr>
          <p:spPr>
            <a:xfrm rot="5400000">
              <a:off x="2678638" y="4956566"/>
              <a:ext cx="964034" cy="116808"/>
            </a:xfrm>
            <a:prstGeom prst="bentConnector3">
              <a:avLst>
                <a:gd name="adj1" fmla="val 20491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CD4B400A-45D8-1178-C9C6-D74658FD0F2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rot="16200000" flipV="1">
              <a:off x="2166435" y="3203329"/>
              <a:ext cx="1167611" cy="93763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: Elbow 140">
              <a:extLst>
                <a:ext uri="{FF2B5EF4-FFF2-40B4-BE49-F238E27FC236}">
                  <a16:creationId xmlns:a16="http://schemas.microsoft.com/office/drawing/2014/main" id="{2B74BC81-0396-58E2-4F5F-25A19BB7D6D7}"/>
                </a:ext>
              </a:extLst>
            </p:cNvPr>
            <p:cNvCxnSpPr>
              <a:cxnSpLocks/>
              <a:stCxn id="161" idx="2"/>
            </p:cNvCxnSpPr>
            <p:nvPr/>
          </p:nvCxnSpPr>
          <p:spPr>
            <a:xfrm rot="5400000">
              <a:off x="3978664" y="4933548"/>
              <a:ext cx="1165175" cy="57368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: Elbow 145">
              <a:extLst>
                <a:ext uri="{FF2B5EF4-FFF2-40B4-BE49-F238E27FC236}">
                  <a16:creationId xmlns:a16="http://schemas.microsoft.com/office/drawing/2014/main" id="{4427088E-AEAA-CC36-74E4-446F94028ABB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rot="16200000" flipV="1">
              <a:off x="3888275" y="3400986"/>
              <a:ext cx="1295657" cy="623976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2AC37F92-0300-2194-BBFA-28D6CCCBFC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04620" y="3077337"/>
              <a:ext cx="450900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E98F84A-A707-90F0-135B-B3D6DB6478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51685" y="5819775"/>
              <a:ext cx="5373659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7AF251-442D-D41A-2407-64D8B6581262}"/>
                </a:ext>
              </a:extLst>
            </p:cNvPr>
            <p:cNvSpPr txBox="1"/>
            <p:nvPr/>
          </p:nvSpPr>
          <p:spPr>
            <a:xfrm flipH="1">
              <a:off x="1088521" y="4243762"/>
              <a:ext cx="1283687" cy="276999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fr-FR" sz="1200" dirty="0"/>
                <a:t>Micro SingleCoil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EF4D00-8389-C68B-63A5-8B73E75ADB55}"/>
              </a:ext>
            </a:extLst>
          </p:cNvPr>
          <p:cNvGrpSpPr/>
          <p:nvPr/>
        </p:nvGrpSpPr>
        <p:grpSpPr>
          <a:xfrm>
            <a:off x="5836466" y="1122202"/>
            <a:ext cx="3053221" cy="4234657"/>
            <a:chOff x="6451777" y="1536488"/>
            <a:chExt cx="2485046" cy="39197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AA78053-9B3F-8A75-512E-06D3655B0586}"/>
                    </a:ext>
                  </a:extLst>
                </p:cNvPr>
                <p:cNvSpPr/>
                <p:nvPr/>
              </p:nvSpPr>
              <p:spPr>
                <a:xfrm>
                  <a:off x="6451777" y="1536488"/>
                  <a:ext cx="2485046" cy="3919700"/>
                </a:xfrm>
                <a:prstGeom prst="rect">
                  <a:avLst/>
                </a:prstGeom>
                <a:ln w="38100">
                  <a:solidFill>
                    <a:schemeClr val="accent6"/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fr-FR" sz="1600" b="1" dirty="0">
                      <a:solidFill>
                        <a:schemeClr val="tx1"/>
                      </a:solidFill>
                    </a:rPr>
                    <a:t>Protocole</a:t>
                  </a:r>
                </a:p>
                <a:p>
                  <a:endParaRPr lang="fr-FR" sz="1600" b="1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sz="1600" dirty="0">
                      <a:solidFill>
                        <a:schemeClr val="tx1"/>
                      </a:solidFill>
                    </a:rPr>
                    <a:t>Utilisation de Bobine Helmholtz pour contrôler le champ parasite :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endParaRPr lang="fr-FR" sz="1600" dirty="0">
                    <a:solidFill>
                      <a:schemeClr val="tx1"/>
                    </a:solidFill>
                  </a:endParaRPr>
                </a:p>
                <a:p>
                  <a:pPr/>
                  <a:endParaRPr lang="fr-FR" sz="1200" dirty="0">
                    <a:solidFill>
                      <a:srgbClr val="C0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:endParaRPr lang="fr-FR" sz="1200" dirty="0">
                    <a:solidFill>
                      <a:srgbClr val="C00000"/>
                    </a:solidFill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14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d>
                          <m:dPr>
                            <m:ctrlP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fr-FR" sz="1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3/2</m:t>
                            </m:r>
                          </m:sup>
                        </m:sSup>
                        <m:f>
                          <m:fPr>
                            <m:ctrlP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  <m:box>
                          <m:boxPr>
                            <m:ctrlP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fr-FR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fr-FR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fr-FR" sz="14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h𝑒𝑙</m:t>
                                    </m:r>
                                  </m:sub>
                                </m:sSub>
                                <m:r>
                                  <a:rPr lang="fr-FR" sz="14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den>
                            </m:f>
                          </m:e>
                        </m:box>
                        <m:func>
                          <m:funcPr>
                            <m:ctrlP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4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(2</m:t>
                            </m:r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𝑓𝑡</m:t>
                            </m:r>
                            <m:r>
                              <a:rPr lang="fr-FR" sz="1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fr-FR" sz="1400" dirty="0">
                    <a:solidFill>
                      <a:srgbClr val="C00000"/>
                    </a:solidFill>
                  </a:endParaRPr>
                </a:p>
                <a:p>
                  <a:endParaRPr lang="fr-FR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DAA78053-9B3F-8A75-512E-06D3655B05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1777" y="1536488"/>
                  <a:ext cx="2485046" cy="3919700"/>
                </a:xfrm>
                <a:prstGeom prst="rect">
                  <a:avLst/>
                </a:prstGeom>
                <a:blipFill>
                  <a:blip r:embed="rId5"/>
                  <a:stretch>
                    <a:fillRect l="-197"/>
                  </a:stretch>
                </a:blipFill>
                <a:ln w="3810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2" name="Picture 2" descr="Bobine de Helmholtz sur socle : PAM067370">
              <a:extLst>
                <a:ext uri="{FF2B5EF4-FFF2-40B4-BE49-F238E27FC236}">
                  <a16:creationId xmlns:a16="http://schemas.microsoft.com/office/drawing/2014/main" id="{97F9CA38-454F-5EAF-74D4-E7E8E328C6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7409" y="2918502"/>
              <a:ext cx="2227030" cy="1474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4D060AE-4742-D8B5-61B6-553566A7F6A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A61D3E-6CDD-7313-43C9-D2F0E63324C1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Footer Placeholder 2">
              <a:extLst>
                <a:ext uri="{FF2B5EF4-FFF2-40B4-BE49-F238E27FC236}">
                  <a16:creationId xmlns:a16="http://schemas.microsoft.com/office/drawing/2014/main" id="{391E767F-0360-B146-2D34-43323635A9B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8480ED95-278F-2E07-99E5-455FF7B8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5ABC91-EC81-CF51-B80D-BF081ACF7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897809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CEBE25E-EC36-DF12-19EF-138C3E8BD4F5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Expérimentation</a:t>
            </a:r>
          </a:p>
        </p:txBody>
      </p:sp>
    </p:spTree>
    <p:extLst>
      <p:ext uri="{BB962C8B-B14F-4D97-AF65-F5344CB8AC3E}">
        <p14:creationId xmlns:p14="http://schemas.microsoft.com/office/powerpoint/2010/main" val="2662445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A116-B257-46DC-D532-904FDAB80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Python Logo PNG Transparent – Brands Logos">
            <a:extLst>
              <a:ext uri="{FF2B5EF4-FFF2-40B4-BE49-F238E27FC236}">
                <a16:creationId xmlns:a16="http://schemas.microsoft.com/office/drawing/2014/main" id="{3C9AB909-227A-DB8E-343F-90192B47A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9D664516-AB78-AED6-40C8-D2A80E494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5816B72-3664-AD7A-2C6F-0C2601756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24</a:t>
            </a:fld>
            <a:endParaRPr lang="fr-FR" sz="12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150C7D-3995-CF44-7A27-E64A72A07980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3FA048-D700-E2AB-6380-D180305A67B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2926" y="1325239"/>
            <a:ext cx="3934322" cy="32239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9A2BA09-D315-AB3E-644B-0B9931E9D3B2}"/>
              </a:ext>
            </a:extLst>
          </p:cNvPr>
          <p:cNvSpPr txBox="1"/>
          <p:nvPr/>
        </p:nvSpPr>
        <p:spPr>
          <a:xfrm>
            <a:off x="386751" y="4662846"/>
            <a:ext cx="3934324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SingleCoil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0B0834-923C-F120-44F2-E272D1DA1003}"/>
              </a:ext>
            </a:extLst>
          </p:cNvPr>
          <p:cNvSpPr txBox="1"/>
          <p:nvPr/>
        </p:nvSpPr>
        <p:spPr>
          <a:xfrm>
            <a:off x="4822925" y="4662846"/>
            <a:ext cx="3934323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Micro Humbucker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EF0AF5-949D-F4AF-8A03-381DB55BB26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752" y="1325239"/>
            <a:ext cx="3934322" cy="3223901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BB10803-4ED7-0438-C83F-5BB84BDC62A1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2633CA5-DBE8-F072-4B8B-B1337EE46CF9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B07A8C91-D344-8220-F4D0-0390C4F3939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03151F3-B1B1-1E40-BF72-84C20DB90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48D012-47CC-DD8A-C7E0-8A5F8FCA4DBA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AA2476-9161-6BA5-BB0D-B1CF58A7A5B0}"/>
                  </a:ext>
                </a:extLst>
              </p:cNvPr>
              <p:cNvSpPr txBox="1"/>
              <p:nvPr/>
            </p:nvSpPr>
            <p:spPr>
              <a:xfrm>
                <a:off x="386751" y="5056399"/>
                <a:ext cx="3934323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AA2476-9161-6BA5-BB0D-B1CF58A7A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51" y="5056399"/>
                <a:ext cx="3934323" cy="276999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D8C55BB-6681-EA6F-DCEE-0416128CD7DF}"/>
                  </a:ext>
                </a:extLst>
              </p:cNvPr>
              <p:cNvSpPr txBox="1"/>
              <p:nvPr/>
            </p:nvSpPr>
            <p:spPr>
              <a:xfrm>
                <a:off x="4822924" y="5038162"/>
                <a:ext cx="3934321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D8C55BB-6681-EA6F-DCEE-0416128CD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924" y="5038162"/>
                <a:ext cx="3934321" cy="276999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E144350A-8E55-4DF2-B1A9-31785C13F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178006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9579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FDCA-BB39-EE18-BB35-2E0E1E4D0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Python Logo PNG Transparent – Brands Logos">
            <a:extLst>
              <a:ext uri="{FF2B5EF4-FFF2-40B4-BE49-F238E27FC236}">
                <a16:creationId xmlns:a16="http://schemas.microsoft.com/office/drawing/2014/main" id="{58D75C07-2267-97C9-DF3E-D3ABD9490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39CD3E-4169-1389-4E27-DA0661374473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0D0C938-4ECB-1DA1-67BD-D63764B87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7BCF8FF-ACF9-FB8B-E151-7B5C4BAF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25</a:t>
            </a:fld>
            <a:endParaRPr lang="fr-FR" sz="1200" b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7E0D461-FC05-B3F5-62F5-6B6EE8EE068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BC8908D-38C7-4B78-A6DE-6A8D885E563D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E9D709F9-B44E-10BF-9ED9-CFCC31C7C88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E33BF853-DFE6-1FC4-3C9D-A35C8A35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759499-4633-7F7C-612F-2C1B14CA0C63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2A4C42-E8E3-0A32-60A1-2B34526A1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28398"/>
            <a:ext cx="5175257" cy="502856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034487-F93D-3D84-24EC-21435744B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178006"/>
              </p:ext>
            </p:extLst>
          </p:nvPr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F6E40A-A2E8-4225-2918-CE1F7288954B}"/>
                  </a:ext>
                </a:extLst>
              </p:cNvPr>
              <p:cNvSpPr/>
              <p:nvPr/>
            </p:nvSpPr>
            <p:spPr>
              <a:xfrm>
                <a:off x="5681666" y="2163818"/>
                <a:ext cx="3208020" cy="3993142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Mesures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Théoriquement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47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b="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fr-FR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05 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=29,3 </m:t>
                      </m:r>
                      <m:r>
                        <m:rPr>
                          <m:nor/>
                        </m:rPr>
                        <a:rPr lang="fr-FR" sz="14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>
                  <a:solidFill>
                    <a:srgbClr val="C00000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Expérimentalement :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50 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l-G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sSub>
                          <m:sSubPr>
                            <m:ctrlP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𝑒𝑥𝑝</m:t>
                            </m:r>
                          </m:sub>
                        </m:sSub>
                      </m:sub>
                    </m:sSub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0,61</m:t>
                    </m:r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nor/>
                      </m:rPr>
                      <a:rPr lang="fr-FR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l-GR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sSup>
                      <m:sSup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1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𝑀𝑅</m:t>
                      </m:r>
                      <m:sSub>
                        <m:sSub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=20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f>
                            <m:fPr>
                              <m:ctrlPr>
                                <a:rPr lang="fr-FR" sz="14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𝑒𝑥𝑝</m:t>
                                      </m:r>
                                    </m:sub>
                                  </m:sSub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fr-FR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fr-FR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𝑒𝑥𝑝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7,7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6F6E40A-A2E8-4225-2918-CE1F728895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2163818"/>
                <a:ext cx="3208020" cy="39931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AFFEE1F-3D02-090A-479D-90A16735DDAF}"/>
                  </a:ext>
                </a:extLst>
              </p:cNvPr>
              <p:cNvSpPr/>
              <p:nvPr/>
            </p:nvSpPr>
            <p:spPr>
              <a:xfrm>
                <a:off x="5681666" y="1128398"/>
                <a:ext cx="3208021" cy="915896"/>
              </a:xfrm>
              <a:prstGeom prst="rect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Calcul de la sensibilité aux champs extérieurs :</a:t>
                </a:r>
                <a:endParaRPr lang="fr-FR" sz="1400" b="0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 =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|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AFFEE1F-3D02-090A-479D-90A16735DD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28398"/>
                <a:ext cx="3208021" cy="915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5770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8DDE-8058-D513-454A-425B15CD4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Python Logo PNG Transparent – Brands Logos">
            <a:extLst>
              <a:ext uri="{FF2B5EF4-FFF2-40B4-BE49-F238E27FC236}">
                <a16:creationId xmlns:a16="http://schemas.microsoft.com/office/drawing/2014/main" id="{F5895879-FA73-2DAB-B3BB-0EA8ABC2D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363" y="468874"/>
            <a:ext cx="542288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16C992-E13E-0C7C-33FA-13E5294689C1}"/>
              </a:ext>
            </a:extLst>
          </p:cNvPr>
          <p:cNvSpPr/>
          <p:nvPr/>
        </p:nvSpPr>
        <p:spPr>
          <a:xfrm>
            <a:off x="345440" y="4221312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2288D99-DD40-2C00-82EB-9E0C534F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A46788A-3B58-E29A-0DB6-BBBFF6C7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26</a:t>
            </a:fld>
            <a:endParaRPr lang="fr-FR" sz="1200" b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AE00CE6-D5A0-044B-9664-AA74EA5B7C6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90711A-EE66-D3C4-F373-ECF24AFCC73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B9BA49DA-B097-C954-0946-5985D29DEEF4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fr-FR" dirty="0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971F3444-3E92-D593-44DB-E9F2FEBD7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C04D7-566D-248D-E11E-E3B91020283C}"/>
              </a:ext>
            </a:extLst>
          </p:cNvPr>
          <p:cNvSpPr txBox="1"/>
          <p:nvPr/>
        </p:nvSpPr>
        <p:spPr>
          <a:xfrm>
            <a:off x="756758" y="605821"/>
            <a:ext cx="7702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Arial Black" panose="020B0A04020102020204" pitchFamily="34" charset="0"/>
              </a:rPr>
              <a:t>Résultats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10EB545-BE7E-8AD0-E286-8195F37AB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186" y="1128398"/>
            <a:ext cx="5175257" cy="5028562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2BEA36-52BA-9B9A-D07A-F7BCCA94D443}"/>
              </a:ext>
            </a:extLst>
          </p:cNvPr>
          <p:cNvGraphicFramePr>
            <a:graphicFrameLocks noGrp="1"/>
          </p:cNvGraphicFramePr>
          <p:nvPr/>
        </p:nvGraphicFramePr>
        <p:xfrm>
          <a:off x="326176" y="41413"/>
          <a:ext cx="856351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504">
                  <a:extLst>
                    <a:ext uri="{9D8B030D-6E8A-4147-A177-3AD203B41FA5}">
                      <a16:colId xmlns:a16="http://schemas.microsoft.com/office/drawing/2014/main" val="1619084455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13699801"/>
                    </a:ext>
                  </a:extLst>
                </a:gridCol>
                <a:gridCol w="2854504">
                  <a:extLst>
                    <a:ext uri="{9D8B030D-6E8A-4147-A177-3AD203B41FA5}">
                      <a16:colId xmlns:a16="http://schemas.microsoft.com/office/drawing/2014/main" val="29905955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Filtrage électrique interne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0" dirty="0">
                          <a:solidFill>
                            <a:schemeClr val="bg1"/>
                          </a:solidFill>
                        </a:rPr>
                        <a:t>Induction et filtrage spatial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dirty="0">
                          <a:solidFill>
                            <a:schemeClr val="bg1"/>
                          </a:solidFill>
                        </a:rPr>
                        <a:t>Reduction du bourdonnement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45671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00DBD7-FF42-C7F4-AA50-92867DF0AFE9}"/>
                  </a:ext>
                </a:extLst>
              </p:cNvPr>
              <p:cNvSpPr/>
              <p:nvPr/>
            </p:nvSpPr>
            <p:spPr>
              <a:xfrm>
                <a:off x="5681666" y="1112100"/>
                <a:ext cx="3208019" cy="5044860"/>
              </a:xfrm>
              <a:prstGeom prst="rect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ctr"/>
                <a:endParaRPr lang="fr-FR" sz="1400" b="1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fr-FR" sz="1400" b="1" dirty="0">
                    <a:solidFill>
                      <a:schemeClr val="tx1"/>
                    </a:solidFill>
                  </a:rPr>
                  <a:t>Ecarts</a:t>
                </a:r>
              </a:p>
              <a:p>
                <a:endParaRPr lang="fr-FR" sz="1400" b="1" u="sng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Mesures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𝑇h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29,3 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𝐶𝑀𝑅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7,7</m:t>
                      </m:r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FR" sz="1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dB</m:t>
                      </m:r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endParaRPr lang="fr-FR" sz="1400" dirty="0">
                  <a:solidFill>
                    <a:srgbClr val="C00000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Ecarts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73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fr-FR" b="1" u="sng" dirty="0">
                  <a:solidFill>
                    <a:schemeClr val="tx1"/>
                  </a:solidFill>
                </a:endParaRPr>
              </a:p>
              <a:p>
                <a:endParaRPr lang="fr-FR" sz="1400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Limites du modèle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tx1"/>
                    </a:solidFill>
                  </a:rPr>
                  <a:t>Estimation de</a:t>
                </a:r>
                <a14:m>
                  <m:oMath xmlns:m="http://schemas.openxmlformats.org/officeDocument/2006/math">
                    <m:r>
                      <a:rPr lang="fr-FR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fr-FR" sz="1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fr-FR" sz="14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fr-FR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fr-FR" sz="1400" dirty="0">
                  <a:solidFill>
                    <a:schemeClr val="tx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400" dirty="0">
                  <a:solidFill>
                    <a:schemeClr val="tx1"/>
                  </a:solidFill>
                </a:endParaRPr>
              </a:p>
              <a:p>
                <a:r>
                  <a:rPr lang="fr-FR" sz="1400" b="1" u="sng" dirty="0">
                    <a:solidFill>
                      <a:schemeClr val="tx1"/>
                    </a:solidFill>
                  </a:rPr>
                  <a:t>Limites expérimentales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olidFill>
                      <a:schemeClr val="tx1"/>
                    </a:solidFill>
                  </a:rPr>
                  <a:t>Asymétrie de bobinage</a:t>
                </a:r>
              </a:p>
            </p:txBody>
          </p:sp>
        </mc:Choice>
        <mc:Fallback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800DBD7-FF42-C7F4-AA50-92867DF0AF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666" y="1112100"/>
                <a:ext cx="3208019" cy="50448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8364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19A9E-1C8C-7508-4A99-E9E72DA06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00E49-9BB6-266A-A15B-45A7A7E94780}"/>
              </a:ext>
            </a:extLst>
          </p:cNvPr>
          <p:cNvSpPr/>
          <p:nvPr/>
        </p:nvSpPr>
        <p:spPr>
          <a:xfrm>
            <a:off x="326443" y="419481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66C661-B607-061A-A9F8-3C818C718700}"/>
              </a:ext>
            </a:extLst>
          </p:cNvPr>
          <p:cNvSpPr txBox="1"/>
          <p:nvPr/>
        </p:nvSpPr>
        <p:spPr>
          <a:xfrm>
            <a:off x="349675" y="2989072"/>
            <a:ext cx="84446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Micro Singlecoil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Sensible aux champs extérieurs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Spectre riche dans les hautes fréquences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r>
              <a:rPr lang="fr-FR" b="1" u="sng" dirty="0"/>
              <a:t>Micro Humbucker 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Reduction efficace du bourdonnement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Filtrage spatial accru qui atténue certaines harmoniques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r>
              <a:rPr lang="fr-FR" b="1" u="sng" dirty="0"/>
              <a:t>Donc :</a:t>
            </a:r>
          </a:p>
          <a:p>
            <a:r>
              <a:rPr lang="fr-FR" dirty="0"/>
              <a:t>Nécessité de faire des </a:t>
            </a:r>
            <a:r>
              <a:rPr lang="fr-FR" u="sng" dirty="0">
                <a:solidFill>
                  <a:srgbClr val="C00000"/>
                </a:solidFill>
              </a:rPr>
              <a:t>compromis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29CF280-6AA1-02B9-5766-0A88FFF4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9328" y="1181389"/>
            <a:ext cx="7425344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 dirty="0"/>
              <a:t>Dans quelle mesure </a:t>
            </a:r>
            <a:r>
              <a:rPr lang="fr-FR" sz="1600" b="1" dirty="0"/>
              <a:t>l'ajout d'une seconde bobine 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 dirty="0"/>
              <a:t>permet-il </a:t>
            </a:r>
            <a:r>
              <a:rPr lang="fr-FR" sz="1600" b="1" dirty="0"/>
              <a:t>d'éliminer les parasites </a:t>
            </a:r>
            <a:r>
              <a:rPr lang="fr-FR" sz="1600" dirty="0"/>
              <a:t>?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600" dirty="0"/>
              <a:t>Comment cela impacte-t-il </a:t>
            </a:r>
            <a:r>
              <a:rPr lang="fr-FR" sz="1600" b="1" dirty="0"/>
              <a:t>la richesse du son </a:t>
            </a:r>
            <a:r>
              <a:rPr lang="fr-FR" sz="1600" dirty="0"/>
              <a:t>?</a:t>
            </a:r>
            <a:endParaRPr kumimoji="0" lang="fr-FR" altLang="fr-FR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C41BDD6-0B7E-DB68-BFEB-ED6C52B4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B83BD53-0BEB-220C-AC97-3EEC3B15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27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5DCA8F8-D862-BC8C-AF76-12EA5860996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7B024F95-B138-985B-1165-9E0306675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3" r="6123"/>
          <a:stretch/>
        </p:blipFill>
        <p:spPr bwMode="auto">
          <a:xfrm>
            <a:off x="2658019" y="3900085"/>
            <a:ext cx="672476" cy="540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A9A0B97-C62F-658B-F983-80B2EEFBB94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559317-5E18-475F-41AB-2D45B40A5ABC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57C2ED85-A2C2-A521-06FA-698ECFF1563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800" b="1" dirty="0"/>
                <a:t>Conclusion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B4953A3-EECA-18B3-CF42-FBC3F980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1E4BF96-13FC-AAE7-FE03-F72E37775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7" r="7227"/>
          <a:stretch/>
        </p:blipFill>
        <p:spPr bwMode="auto">
          <a:xfrm>
            <a:off x="2436682" y="2838894"/>
            <a:ext cx="655914" cy="540000"/>
          </a:xfrm>
          <a:prstGeom prst="rect">
            <a:avLst/>
          </a:prstGeom>
          <a:effectLst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79A5BE-F8B6-F182-EAE5-5A74F73561AD}"/>
              </a:ext>
            </a:extLst>
          </p:cNvPr>
          <p:cNvSpPr txBox="1"/>
          <p:nvPr/>
        </p:nvSpPr>
        <p:spPr>
          <a:xfrm>
            <a:off x="720826" y="772958"/>
            <a:ext cx="7702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 Black" panose="020B0A04020102020204" pitchFamily="34" charset="0"/>
              </a:rPr>
              <a:t>Problématique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53EAE-61C2-F213-92AF-9F717B075800}"/>
              </a:ext>
            </a:extLst>
          </p:cNvPr>
          <p:cNvSpPr txBox="1"/>
          <p:nvPr/>
        </p:nvSpPr>
        <p:spPr>
          <a:xfrm>
            <a:off x="720825" y="2388402"/>
            <a:ext cx="7702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>
                <a:latin typeface="Arial Black" panose="020B0A04020102020204" pitchFamily="34" charset="0"/>
              </a:rPr>
              <a:t>Conclusion </a:t>
            </a:r>
          </a:p>
        </p:txBody>
      </p:sp>
      <p:pic>
        <p:nvPicPr>
          <p:cNvPr id="17" name="Graphic 16" descr="Checkmark with solid fill">
            <a:extLst>
              <a:ext uri="{FF2B5EF4-FFF2-40B4-BE49-F238E27FC236}">
                <a16:creationId xmlns:a16="http://schemas.microsoft.com/office/drawing/2014/main" id="{5012B3B3-5B7E-B87A-8C7E-CE9EC85084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920" y="3551700"/>
            <a:ext cx="252000" cy="252000"/>
          </a:xfrm>
          <a:prstGeom prst="rect">
            <a:avLst/>
          </a:prstGeom>
        </p:spPr>
      </p:pic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2F3153A6-DA11-EE61-3CA2-F2B46B137E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920" y="4377858"/>
            <a:ext cx="252000" cy="252000"/>
          </a:xfrm>
          <a:prstGeom prst="rect">
            <a:avLst/>
          </a:prstGeom>
        </p:spPr>
      </p:pic>
      <p:pic>
        <p:nvPicPr>
          <p:cNvPr id="21" name="Graphic 20" descr="Close with solid fill">
            <a:extLst>
              <a:ext uri="{FF2B5EF4-FFF2-40B4-BE49-F238E27FC236}">
                <a16:creationId xmlns:a16="http://schemas.microsoft.com/office/drawing/2014/main" id="{24AE6B43-99B1-097D-E732-FBC3A25B7F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775" y="3317129"/>
            <a:ext cx="252000" cy="252000"/>
          </a:xfrm>
          <a:prstGeom prst="rect">
            <a:avLst/>
          </a:prstGeom>
        </p:spPr>
      </p:pic>
      <p:pic>
        <p:nvPicPr>
          <p:cNvPr id="23" name="Graphic 22" descr="Close with solid fill">
            <a:extLst>
              <a:ext uri="{FF2B5EF4-FFF2-40B4-BE49-F238E27FC236}">
                <a16:creationId xmlns:a16="http://schemas.microsoft.com/office/drawing/2014/main" id="{4E04D3B4-BD96-EA47-260F-84C021B0D3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3775" y="4690634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187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267F8-102B-ED7B-0DE1-585BD24C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574C88C-C846-3D06-3760-839BCCE4D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67D19BA-9241-DDAC-50D0-86F96248A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28</a:t>
            </a:fld>
            <a:endParaRPr lang="fr-FR" sz="1200" b="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96DEC9D-D575-DBBD-0410-59D2ED43304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DCCB68E-E8C2-CC4C-3A75-B5BA7F6D35A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Footer Placeholder 2">
              <a:extLst>
                <a:ext uri="{FF2B5EF4-FFF2-40B4-BE49-F238E27FC236}">
                  <a16:creationId xmlns:a16="http://schemas.microsoft.com/office/drawing/2014/main" id="{CF93ABBD-287B-55E3-11A3-68FE11A27659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BCBD774-13EC-37E7-5421-E3BB7AFFF9C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Annexes : Sommaire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6C8F2F-1A54-CCBE-AAF5-AE4AD230532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4F1C7E-5DAA-15EF-C04B-EF6B2C9D445E}"/>
              </a:ext>
            </a:extLst>
          </p:cNvPr>
          <p:cNvSpPr txBox="1"/>
          <p:nvPr/>
        </p:nvSpPr>
        <p:spPr>
          <a:xfrm>
            <a:off x="345440" y="1390254"/>
            <a:ext cx="8472118" cy="332398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Sources et Bibliographie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Remerciements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Démonstration du modèle Théorique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Notations 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SingleCoil excité par une corde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Humbucker excité par une corde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SingleCoil &amp; Humbucker excité par un Champ Parasite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Expérimentation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Dimensionnement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Filtrage des données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Algorithme de Levenberg-Marquardt</a:t>
            </a:r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fr-FR" sz="1400" dirty="0"/>
              <a:t>Difficultés rencontrées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Micro non fonctionnel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r>
              <a:rPr lang="fr-FR" sz="1400" dirty="0"/>
              <a:t>Signal non exploitable</a:t>
            </a:r>
          </a:p>
          <a:p>
            <a:pPr marL="800100" lvl="1" indent="-342900">
              <a:buSzPct val="100000"/>
              <a:buFont typeface="+mj-lt"/>
              <a:buAutoNum type="arabicPeriod"/>
            </a:pPr>
            <a:endParaRPr lang="fr-FR" sz="1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AA300-0088-5FE7-E14B-005D0418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</p:spTree>
    <p:extLst>
      <p:ext uri="{BB962C8B-B14F-4D97-AF65-F5344CB8AC3E}">
        <p14:creationId xmlns:p14="http://schemas.microsoft.com/office/powerpoint/2010/main" val="40866970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C011195-2549-BCE2-65E7-95D97701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DCD4202-BEB8-74F4-5148-FD85D148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29</a:t>
            </a:fld>
            <a:endParaRPr lang="fr-FR" sz="12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1. Sources &amp; Bibliographie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45439" y="1254482"/>
            <a:ext cx="849111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[1] </a:t>
            </a:r>
            <a:r>
              <a:rPr lang="en-GB" sz="1400" dirty="0" err="1"/>
              <a:t>WiseGuy</a:t>
            </a:r>
            <a:r>
              <a:rPr lang="en-GB" sz="1400" dirty="0"/>
              <a:t> Research Consultants, "Global Electric Guitar Pickup Market Research Report 2024," Pune, India, 2024.</a:t>
            </a:r>
            <a:endParaRPr lang="en-GB" sz="1400" b="1" dirty="0"/>
          </a:p>
          <a:p>
            <a:endParaRPr lang="en-GB" sz="1400" b="1" dirty="0"/>
          </a:p>
          <a:p>
            <a:r>
              <a:rPr lang="en-GB" sz="1400" b="1" dirty="0"/>
              <a:t>[2]</a:t>
            </a:r>
            <a:r>
              <a:rPr lang="en-GB" sz="1400" dirty="0"/>
              <a:t> Matthew W. Hill, "The hidden history of the electric guitar", in </a:t>
            </a:r>
            <a:r>
              <a:rPr lang="en-GB" sz="1400" i="1" dirty="0"/>
              <a:t>Quand la </a:t>
            </a:r>
            <a:r>
              <a:rPr lang="en-GB" sz="1400" i="1" dirty="0" err="1"/>
              <a:t>guitare</a:t>
            </a:r>
            <a:r>
              <a:rPr lang="en-GB" sz="1400" i="1" dirty="0"/>
              <a:t> [s']</a:t>
            </a:r>
            <a:r>
              <a:rPr lang="en-GB" sz="1400" i="1" dirty="0" err="1"/>
              <a:t>électrise</a:t>
            </a:r>
            <a:r>
              <a:rPr lang="en-GB" sz="1400" i="1" dirty="0"/>
              <a:t> !</a:t>
            </a:r>
            <a:r>
              <a:rPr lang="en-GB" sz="1400" dirty="0"/>
              <a:t>, Benoît Navarret et al. (dir.), Sorbonne Université Presses, pp. 33-61, 2022.</a:t>
            </a:r>
          </a:p>
          <a:p>
            <a:endParaRPr lang="fr-FR" sz="1400" dirty="0"/>
          </a:p>
          <a:p>
            <a:r>
              <a:rPr lang="en-GB" sz="1400" b="1" dirty="0"/>
              <a:t>[3]</a:t>
            </a:r>
            <a:r>
              <a:rPr lang="fr-FR" sz="1400" dirty="0"/>
              <a:t> B. d’Andréa-Novel, B. Fabre, et P. </a:t>
            </a:r>
            <a:r>
              <a:rPr lang="fr-FR" sz="1400" dirty="0" err="1"/>
              <a:t>Jouvelot</a:t>
            </a:r>
            <a:r>
              <a:rPr lang="fr-FR" sz="1400" dirty="0"/>
              <a:t>, </a:t>
            </a:r>
            <a:r>
              <a:rPr lang="fr-FR" sz="1400" i="1" dirty="0"/>
              <a:t>Acoustique Informatique </a:t>
            </a:r>
            <a:r>
              <a:rPr lang="fr-FR" sz="1400" i="1" dirty="0" err="1"/>
              <a:t>MusiquE</a:t>
            </a:r>
            <a:r>
              <a:rPr lang="fr-FR" sz="1400" i="1" dirty="0"/>
              <a:t> : Outils scientifiques pour la musique</a:t>
            </a:r>
            <a:r>
              <a:rPr lang="fr-FR" sz="1400" dirty="0"/>
              <a:t>. Paris, France : Presses des Mines, 2010, ch. 4</a:t>
            </a:r>
          </a:p>
          <a:p>
            <a:endParaRPr lang="fr-FR" sz="1400" dirty="0"/>
          </a:p>
          <a:p>
            <a:r>
              <a:rPr lang="en-GB" sz="1400" b="1" dirty="0"/>
              <a:t>[4]</a:t>
            </a:r>
            <a:r>
              <a:rPr lang="en-GB" sz="1400" dirty="0"/>
              <a:t> S. W. Duncan, "Interview With Seth Lover", </a:t>
            </a:r>
            <a:r>
              <a:rPr lang="en-GB" sz="1400" i="1" dirty="0"/>
              <a:t>Seymour Duncan</a:t>
            </a:r>
            <a:r>
              <a:rPr lang="en-GB" sz="1400" dirty="0"/>
              <a:t>.  </a:t>
            </a:r>
            <a:r>
              <a:rPr lang="fr-FR" sz="1400" dirty="0"/>
              <a:t>[En ligne]. Disponible sur: </a:t>
            </a:r>
            <a:br>
              <a:rPr lang="fr-FR" sz="1400" dirty="0"/>
            </a:br>
            <a:r>
              <a:rPr lang="fr-FR" sz="1400" i="1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https://www.seymourduncan.com/blog/latest-updates/seymour-w-duncans-interview-with-seth-lover</a:t>
            </a:r>
            <a:br>
              <a:rPr lang="fr-FR" sz="1400" u="sng" dirty="0"/>
            </a:br>
            <a:endParaRPr lang="fr-FR" sz="1400" u="sng" dirty="0"/>
          </a:p>
          <a:p>
            <a:r>
              <a:rPr lang="en-GB" sz="1400" b="1" dirty="0"/>
              <a:t>[5]</a:t>
            </a:r>
            <a:r>
              <a:rPr lang="en-GB" sz="1400" dirty="0"/>
              <a:t> Dan Carson, "Investigation of the Electromagnetic Properties of Electric Guitar Pickups", </a:t>
            </a:r>
            <a:r>
              <a:rPr lang="en-GB" sz="1400" i="1" dirty="0"/>
              <a:t>University of Illinois at Urbana-Champaign</a:t>
            </a:r>
            <a:r>
              <a:rPr lang="en-GB" sz="1400" dirty="0"/>
              <a:t>, Physics Senior Thesis, 2009.</a:t>
            </a:r>
          </a:p>
          <a:p>
            <a:endParaRPr lang="fr-FR" sz="1400" dirty="0"/>
          </a:p>
          <a:p>
            <a:r>
              <a:rPr lang="en-GB" sz="1400" b="1" dirty="0"/>
              <a:t>[6]</a:t>
            </a:r>
            <a:r>
              <a:rPr lang="en-GB" sz="1400" dirty="0"/>
              <a:t> A. Novak, B. </a:t>
            </a:r>
            <a:r>
              <a:rPr lang="en-GB" sz="1400" dirty="0" err="1"/>
              <a:t>Lihoreau</a:t>
            </a:r>
            <a:r>
              <a:rPr lang="en-GB" sz="1400" dirty="0"/>
              <a:t>, E. Brasseur, P. Lotton et L. Simon, "Guitar Pickup: Measurement of its Two-Dimensional Nonlinear Function", </a:t>
            </a:r>
            <a:r>
              <a:rPr lang="en-GB" sz="1400" i="1" dirty="0"/>
              <a:t>Journal of the Audio Engineering Society</a:t>
            </a:r>
            <a:r>
              <a:rPr lang="en-GB" sz="1400" dirty="0"/>
              <a:t>, vol. 68, no. 3, pp. 184-192, 2020.</a:t>
            </a:r>
          </a:p>
          <a:p>
            <a:endParaRPr lang="fr-FR" sz="1400" dirty="0"/>
          </a:p>
          <a:p>
            <a:r>
              <a:rPr lang="en-GB" sz="1400" b="1" dirty="0"/>
              <a:t>[7]</a:t>
            </a:r>
            <a:r>
              <a:rPr lang="en-GB" sz="1400" dirty="0"/>
              <a:t> R. </a:t>
            </a:r>
            <a:r>
              <a:rPr lang="en-GB" sz="1400" dirty="0" err="1"/>
              <a:t>Giampiccolo</a:t>
            </a:r>
            <a:r>
              <a:rPr lang="en-GB" sz="1400" dirty="0"/>
              <a:t>, A. Bernardini et A. Sarti, "Virtualization of Guitar Pickups Through Circuit Inversion", </a:t>
            </a:r>
            <a:r>
              <a:rPr lang="en-GB" sz="1400" i="1" dirty="0"/>
              <a:t>IEEE Signal Processing Letters</a:t>
            </a:r>
            <a:r>
              <a:rPr lang="en-GB" sz="1400" dirty="0"/>
              <a:t>, vol. 30, pp. 458-462, 2023.</a:t>
            </a:r>
            <a:endParaRPr lang="fr-FR" sz="1400" dirty="0"/>
          </a:p>
          <a:p>
            <a:endParaRPr lang="fr-FR" sz="1400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91F70DF-5274-3947-B274-A2EAF490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D43332-F8BD-6E2C-04A6-7CBD2C448375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935E0A-86AC-9436-7A04-23BB4DCFB95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ooter Placeholder 2">
              <a:extLst>
                <a:ext uri="{FF2B5EF4-FFF2-40B4-BE49-F238E27FC236}">
                  <a16:creationId xmlns:a16="http://schemas.microsoft.com/office/drawing/2014/main" id="{A2E238EA-0333-80E5-6A4E-C1DD63F93CF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E6D5-1701-3BEE-B0A5-E256A3A6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9093611-3561-6AFC-8B29-235BE2B5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1EE7CF6-6544-6E25-5056-82E21022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30</a:t>
            </a:fld>
            <a:endParaRPr lang="fr-FR" sz="12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E578E-E842-899B-459C-15B4BA0F22E9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2. Remerciements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99E44F-1F36-18D2-50B8-92E3C5465C7A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D91B2-998A-B850-BFB6-9B10EF3C3C36}"/>
              </a:ext>
            </a:extLst>
          </p:cNvPr>
          <p:cNvSpPr txBox="1"/>
          <p:nvPr/>
        </p:nvSpPr>
        <p:spPr>
          <a:xfrm>
            <a:off x="1744980" y="1390254"/>
            <a:ext cx="70725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Art Music Store</a:t>
            </a:r>
            <a:r>
              <a:rPr lang="fr-FR" sz="1600" dirty="0"/>
              <a:t>,</a:t>
            </a:r>
            <a:r>
              <a:rPr lang="fr-FR" sz="1600" b="1" dirty="0"/>
              <a:t> </a:t>
            </a:r>
            <a:r>
              <a:rPr lang="fr-FR" sz="1600" dirty="0"/>
              <a:t>3800, Grenoble, Place Victor Hugo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  <a:p>
            <a:endParaRPr lang="fr-F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600" b="1" dirty="0"/>
              <a:t>Menuiserie Paradis</a:t>
            </a:r>
            <a:r>
              <a:rPr lang="fr-FR" sz="1600" dirty="0"/>
              <a:t>, 38590, Brézins, Rue des Caillères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600" dirty="0"/>
          </a:p>
        </p:txBody>
      </p:sp>
      <p:pic>
        <p:nvPicPr>
          <p:cNvPr id="2050" name="Picture 2" descr="Les Boutiques | Art Rock Music Store, Magasin de Musique à Crolles et à ...">
            <a:extLst>
              <a:ext uri="{FF2B5EF4-FFF2-40B4-BE49-F238E27FC236}">
                <a16:creationId xmlns:a16="http://schemas.microsoft.com/office/drawing/2014/main" id="{6B5FA1A0-A21F-2704-4B07-98DC048FD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" y="1344216"/>
            <a:ext cx="1239000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Menuiserie Jérôme Paradis | Brézins">
            <a:extLst>
              <a:ext uri="{FF2B5EF4-FFF2-40B4-BE49-F238E27FC236}">
                <a16:creationId xmlns:a16="http://schemas.microsoft.com/office/drawing/2014/main" id="{60E6E8E9-ADE0-B962-617A-584376023B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C5BC96-6601-01EF-A1A8-0CDE5F128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63" y="2750010"/>
            <a:ext cx="1346717" cy="1260000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D5FC0E5-64EB-8361-1BFF-E07DE317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D4207A-2DE2-DDB4-499E-645E1E9A06B0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5F7D3D-AE97-12D7-592B-541818FBB0F0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AC5D0688-E328-E5A7-E5DA-893DDDB0F23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240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2C47B-CF41-2900-27D1-46C22C90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2B99003-69ED-29F2-2154-EF399E28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D630691B-0CB2-5EB8-C15E-7B7CC27FB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31</a:t>
            </a:fld>
            <a:endParaRPr lang="fr-FR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D09EDA-BBC9-C23C-F784-E5E302DC689C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3.1. Modèle Théorique : Notations</a:t>
            </a:r>
            <a:endParaRPr lang="fr-FR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88B616-4201-AC96-BA95-677E016CA99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0560B29-A1C4-46F9-1E1D-BC1F80949B6B}"/>
                  </a:ext>
                </a:extLst>
              </p:cNvPr>
              <p:cNvSpPr/>
              <p:nvPr/>
            </p:nvSpPr>
            <p:spPr>
              <a:xfrm>
                <a:off x="345439" y="1240558"/>
                <a:ext cx="8472118" cy="4896082"/>
              </a:xfrm>
              <a:prstGeom prst="rect">
                <a:avLst/>
              </a:prstGeom>
              <a:ln w="38100">
                <a:noFill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2" rtlCol="0" anchor="ctr"/>
              <a:lstStyle/>
              <a:p>
                <a:r>
                  <a:rPr lang="fr-FR" sz="1200" b="1" dirty="0"/>
                  <a:t>Paramètres des micros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F.E.M. induite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Nombre de spires du micro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Nombre de spires du micro Humbucker</a:t>
                </a:r>
                <a:endParaRPr lang="fr-FR" sz="12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Surface active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Gradient du champ magnétique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Position du micro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Positions respectives des deux bobinages du </a:t>
                </a:r>
                <a:r>
                  <a:rPr lang="fr-FR" sz="1200" i="1" dirty="0"/>
                  <a:t>Humbucker</a:t>
                </a:r>
                <a:r>
                  <a:rPr lang="fr-FR" sz="1200" dirty="0"/>
                  <a:t>.</a:t>
                </a:r>
              </a:p>
              <a:p>
                <a:endParaRPr lang="fr-FR" sz="1200" b="1" dirty="0"/>
              </a:p>
              <a:p>
                <a:r>
                  <a:rPr lang="fr-FR" sz="1200" b="1" dirty="0"/>
                  <a:t>Modélisation de la corde</a:t>
                </a:r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2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Longueur vibrante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fondamentale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Amplitude initiale de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Position de la source d’excitation </a:t>
                </a:r>
              </a:p>
              <a:p>
                <a:endParaRPr lang="fr-FR" sz="1200" dirty="0"/>
              </a:p>
              <a:p>
                <a:r>
                  <a:rPr lang="fr-FR" sz="1200" b="1" dirty="0"/>
                  <a:t>Analyse du signal et performance</a:t>
                </a:r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𝑆𝐶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de coupure du SingleCoil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𝐻𝐵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de coupure du Humbucker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fr-FR" sz="1200" dirty="0"/>
                  <a:t>: Bande passante à -3dB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fr-FR" sz="1200" dirty="0"/>
                  <a:t>: Taux de rejection de Mode commun théorique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 dirty="0">
                        <a:latin typeface="Cambria Math" panose="02040503050406030204" pitchFamily="18" charset="0"/>
                      </a:rPr>
                      <m:t>𝐶𝑀𝑅</m:t>
                    </m:r>
                    <m:sSub>
                      <m:sSubPr>
                        <m:ctrlPr>
                          <a:rPr lang="fr-FR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i="1" dirty="0">
                            <a:latin typeface="Cambria Math" panose="02040503050406030204" pitchFamily="18" charset="0"/>
                          </a:rPr>
                          <m:t>𝑒𝑥𝑝</m:t>
                        </m:r>
                      </m:sub>
                    </m:sSub>
                  </m:oMath>
                </a14:m>
                <a:r>
                  <a:rPr lang="fr-FR" sz="1200" dirty="0"/>
                  <a:t>: Taux de rejection de Mode commun expérimental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fr-FR" sz="1200" dirty="0"/>
                  <a:t> : Ecart à la théorie</a:t>
                </a:r>
              </a:p>
              <a:p>
                <a:endParaRPr lang="fr-FR" sz="1200" dirty="0"/>
              </a:p>
              <a:p>
                <a:r>
                  <a:rPr lang="fr-FR" sz="1200" b="1" dirty="0"/>
                  <a:t>Dispositif expérimental</a:t>
                </a:r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200" dirty="0"/>
                  <a:t>: Champ magnétique au centre du système de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Nombre de spire par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Rayon de chaque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Resistance et Inductance de chaque bobine de Helmholtz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Amplitude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Amplitude du champ magnétique généré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 Fréquence du champ parasite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200" dirty="0"/>
                  <a:t>: Gradient du champ parasite</a:t>
                </a:r>
              </a:p>
              <a:p>
                <a:endParaRPr lang="fr-FR" sz="1200" b="1" dirty="0"/>
              </a:p>
              <a:p>
                <a:r>
                  <a:rPr lang="fr-FR" sz="1200" b="1" dirty="0"/>
                  <a:t>Constantes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: Perméabilité du vide</a:t>
                </a:r>
              </a:p>
              <a:p>
                <a:endParaRPr lang="fr-F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2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0560B29-A1C4-46F9-1E1D-BC1F80949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9" y="1240558"/>
                <a:ext cx="8472118" cy="4896082"/>
              </a:xfrm>
              <a:prstGeom prst="rect">
                <a:avLst/>
              </a:prstGeom>
              <a:blipFill>
                <a:blip r:embed="rId2"/>
                <a:stretch>
                  <a:fillRect l="-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D22C1-5163-DFF3-B750-9677CA9F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05887BE-C0C6-26B1-F07D-A7C065B7F1EA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A33D505-1E0C-2999-0AA5-428C61C7DBB8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D87F4FDF-66F9-8742-498D-DAA32629EAA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70365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10E9A24-B484-295A-C630-F6DE6A33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39197A-E1E0-DE57-ABEA-CF1EC736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32</a:t>
            </a:fld>
            <a:endParaRPr lang="fr-FR" sz="1200" b="1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3.2. Modèle Théorique : Micro SingleCoil </a:t>
            </a:r>
            <a:r>
              <a:rPr lang="fr-FR" sz="1050" i="1" dirty="0"/>
              <a:t>cf. [3] </a:t>
            </a:r>
            <a:endParaRPr lang="fr-FR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279650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L’étude de la corde est basée sur l’équation des ondes,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avec une force de pincement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279650"/>
              </a:xfrm>
              <a:prstGeom prst="rect">
                <a:avLst/>
              </a:prstGeom>
              <a:blipFill>
                <a:blip r:embed="rId2"/>
                <a:stretch>
                  <a:fillRect t="-115" r="-888" b="-157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284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En supposant que la variation de flux est principalement due au déplacement de la corde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chemeClr val="tx1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dirty="0"/>
                  <a:t>On pose alors 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ad>
                      <m:radPr>
                        <m:degHide m:val="on"/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</m:oMath>
                </a14:m>
                <a:r>
                  <a:rPr lang="fr-FR" sz="1200" dirty="0"/>
                  <a:t>  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fr-FR" sz="120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284588"/>
              </a:xfrm>
              <a:prstGeom prst="rect">
                <a:avLst/>
              </a:prstGeom>
              <a:blipFill>
                <a:blip r:embed="rId3"/>
                <a:stretch>
                  <a:fillRect t="-231" b="-7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A777B76-EF7C-8876-1D5D-D609496C95D8}"/>
              </a:ext>
            </a:extLst>
          </p:cNvPr>
          <p:cNvGrpSpPr/>
          <p:nvPr/>
        </p:nvGrpSpPr>
        <p:grpSpPr>
          <a:xfrm>
            <a:off x="3035508" y="2752725"/>
            <a:ext cx="1623736" cy="676275"/>
            <a:chOff x="3501390" y="2752725"/>
            <a:chExt cx="1157854" cy="67627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A38606B-02D3-FB4F-4E84-A06CC752B21A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E7E64599-1C52-9F19-E75C-1C83054A94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98173CE4-32B0-FCB4-0133-B7F7F801D647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230515D-0CF5-C54C-6696-F26CC43280DD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241828B-5116-7216-6B5A-F400AF0BB812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1FB3372-8A72-8A3C-4185-141A249DDF65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0714" r="-3571" b="-2272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6C170-7191-7DC0-F875-65C4BD15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51B331E-825D-7998-84BB-C2CEA27EFC7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AA243EF-8D9A-619D-753B-253FFACAA1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E96EF237-2867-B9B6-4D1E-4353B4EF70F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86607-AF33-333D-A48D-AA97A0210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6420539-7C82-3DC3-D605-71C74034FA1D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6D2CB-1A06-EE4B-DEFC-C26A1576D75F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5279650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L’étude de la corde est basée sur l’équation des ondes, où la vitesse de propagation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r-FR" sz="1200" dirty="0"/>
                  <a:t> est défini par la tension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et la masse linéique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endParaRPr lang="fr-FR" sz="1200" dirty="0"/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fr-FR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  <m:f>
                      <m:f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²</m:t>
                        </m:r>
                      </m:den>
                    </m:f>
                  </m:oMath>
                </a14:m>
                <a:r>
                  <a:rPr lang="fr-FR" sz="1200" dirty="0"/>
                  <a:t>, avec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endParaRPr lang="fr-FR" sz="1200" dirty="0"/>
              </a:p>
              <a:p>
                <a:pPr algn="ctr"/>
                <a:endParaRPr lang="fr-FR" sz="1200" dirty="0"/>
              </a:p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avec une force de pincement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0≤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/>
                  <a:t>-ème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Ainsi,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486D2CB-1A06-EE4B-DEFC-C26A1576D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5279650"/>
              </a:xfrm>
              <a:prstGeom prst="rect">
                <a:avLst/>
              </a:prstGeom>
              <a:blipFill>
                <a:blip r:embed="rId2"/>
                <a:stretch>
                  <a:fillRect t="-115" r="-888" b="-157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12D3D3-39DC-2244-F3FD-49F86491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6DDDF7F-2340-DA52-AD2C-73D63FC3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33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3C4E3F2-185F-33C0-706F-4AE175C9604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331495-1EB2-6E55-EC77-D35C50372978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3.3 Modèle Théorique : Micro Humbucker </a:t>
            </a:r>
            <a:r>
              <a:rPr lang="fr-FR" sz="1050" i="1" dirty="0"/>
              <a:t>cf. [3] </a:t>
            </a:r>
            <a:endParaRPr lang="fr-FR" sz="24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F03F-A374-F037-922D-D02B8D7303BF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5230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5/2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sSup>
                            <m:sSup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La FEM induite </a:t>
                </a: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2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2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200" dirty="0"/>
                  <a:t> spire est régie par la </a:t>
                </a:r>
                <a:r>
                  <a:rPr lang="fr-FR" sz="1200" u="sng" dirty="0"/>
                  <a:t>Loi d’induction de Faraday</a:t>
                </a:r>
                <a:r>
                  <a:rPr lang="fr-FR" sz="12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En supposant que la variation de flux est principalement due au déplacement de la corde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05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sz="105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05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05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050" dirty="0">
                  <a:solidFill>
                    <a:schemeClr val="tx1"/>
                  </a:solidFill>
                </a:endParaRPr>
              </a:p>
              <a:p>
                <a:endParaRPr lang="fr-FR" sz="1200" dirty="0"/>
              </a:p>
              <a:p>
                <a:r>
                  <a:rPr lang="fr-FR" sz="1200" dirty="0"/>
                  <a:t>On pose alors :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ad>
                      <m:radPr>
                        <m:degHide m:val="on"/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fr-FR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den>
                        </m:f>
                      </m:e>
                    </m:rad>
                  </m:oMath>
                </a14:m>
                <a:r>
                  <a:rPr lang="fr-FR" sz="1200" dirty="0"/>
                  <a:t>  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sSub>
                          <m:sSub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fr-F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l-G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  <m:sSub>
                          <m:sSub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fr-FR" sz="1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fr-FR" sz="120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fr-FR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fr-FR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fr-FR" sz="1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fr-FR" sz="12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d>
                              <m:dPr>
                                <m:ctrlPr>
                                  <a:rPr lang="fr-FR" sz="12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  <m:sSub>
                                  <m:sSubPr>
                                    <m:ctrlP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200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fr-FR" sz="1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fr-FR" sz="1200" dirty="0"/>
              </a:p>
              <a:p>
                <a:r>
                  <a:rPr lang="fr-FR" sz="1200" dirty="0"/>
                  <a:t>Ainsi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fr-FR" sz="12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37F03F-A374-F037-922D-D02B8D730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5230984"/>
              </a:xfrm>
              <a:prstGeom prst="rect">
                <a:avLst/>
              </a:prstGeom>
              <a:blipFill>
                <a:blip r:embed="rId3"/>
                <a:stretch>
                  <a:fillRect t="-233" b="-72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EE3699D-46D5-2B36-C196-9E11A94CA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5EFADAD-C3A6-A8E3-9DC1-9398FA59CC54}"/>
              </a:ext>
            </a:extLst>
          </p:cNvPr>
          <p:cNvGrpSpPr/>
          <p:nvPr/>
        </p:nvGrpSpPr>
        <p:grpSpPr>
          <a:xfrm>
            <a:off x="3035508" y="2752725"/>
            <a:ext cx="1623736" cy="676275"/>
            <a:chOff x="3501390" y="2752725"/>
            <a:chExt cx="1157854" cy="676275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F3696E1-2746-792F-E1BE-E73591F4906A}"/>
                </a:ext>
              </a:extLst>
            </p:cNvPr>
            <p:cNvGrpSpPr/>
            <p:nvPr/>
          </p:nvGrpSpPr>
          <p:grpSpPr>
            <a:xfrm>
              <a:off x="3501390" y="2752725"/>
              <a:ext cx="1157854" cy="676275"/>
              <a:chOff x="500933" y="4948825"/>
              <a:chExt cx="4020249" cy="888306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B6D7A170-2D3D-68AD-F6C5-30ED8CE3B4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6995"/>
              <a:stretch>
                <a:fillRect/>
              </a:stretch>
            </p:blipFill>
            <p:spPr>
              <a:xfrm>
                <a:off x="500933" y="4948825"/>
                <a:ext cx="4020249" cy="888306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CA5ACE84-5626-8115-C7EF-EDF0A9FC34EA}"/>
                      </a:ext>
                    </a:extLst>
                  </p:cNvPr>
                  <p:cNvSpPr txBox="1"/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9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fr-FR" sz="900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51D8C1AD-927E-E0F4-A2AA-5E5DC0FF64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8380" y="5558490"/>
                    <a:ext cx="502490" cy="18192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333" r="-8333" b="-2272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7AB326F-B451-3291-F97D-2AF3285609EF}"/>
                    </a:ext>
                  </a:extLst>
                </p:cNvPr>
                <p:cNvSpPr txBox="1"/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EAB0F11-4E7C-6E77-8DD0-F78DBBCD9D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3934" y="3197818"/>
                  <a:ext cx="96180" cy="138499"/>
                </a:xfrm>
                <a:prstGeom prst="rect">
                  <a:avLst/>
                </a:prstGeom>
                <a:blipFill>
                  <a:blip r:embed="rId6"/>
                  <a:stretch>
                    <a:fillRect l="-25000" r="-3125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F664590-68FE-ADBC-2FE3-CBDCBE8C5CA4}"/>
                    </a:ext>
                  </a:extLst>
                </p:cNvPr>
                <p:cNvSpPr txBox="1"/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9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A5513AB-DEF1-F4D1-2384-81A3785715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4327" y="3210476"/>
                  <a:ext cx="95346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25000" r="-25000" b="-1363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6939978-C48D-DF75-B928-C37568D0A9D7}"/>
                    </a:ext>
                  </a:extLst>
                </p:cNvPr>
                <p:cNvSpPr txBox="1"/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9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83688DE8-747B-D46B-AFAF-E5F6690A9E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2855" y="2942945"/>
                  <a:ext cx="125955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0714" r="-3571" b="-2272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7D1DF2-943B-5CAF-13EA-3EFD05819CC8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A679511-ED67-39F6-B54C-E3546EA7EBF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Footer Placeholder 2">
              <a:extLst>
                <a:ext uri="{FF2B5EF4-FFF2-40B4-BE49-F238E27FC236}">
                  <a16:creationId xmlns:a16="http://schemas.microsoft.com/office/drawing/2014/main" id="{08F08D51-7AC0-340B-6A71-580DDDD059D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8543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B5F2-B144-CF76-1F8C-26C914CA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BB62E9F-C416-8E56-1CDE-C3F6958ED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DC783EB-893F-C311-8294-9AEF8605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34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06A6A33-5483-E45A-C886-DB9DB0F3FCE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70956-3195-813A-9090-176A89DD32F0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3.4. Modèle Théorique : Action d’un champ parasite</a:t>
            </a:r>
            <a:endParaRPr lang="fr-FR" sz="24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B61CD-D09F-44E9-C03D-924382A1A1A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121884" cy="4769191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400" b="1" u="sng" dirty="0"/>
                  <a:t>Modèle du champ parasite :</a:t>
                </a:r>
                <a:endParaRPr lang="fr-FR" sz="1400" dirty="0"/>
              </a:p>
              <a:p>
                <a:r>
                  <a:rPr lang="fr-FR" sz="1400" dirty="0"/>
                  <a:t>On étudie un champ parasite d’amplitude B0, de fréquence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fr-FR" sz="1400" dirty="0"/>
                  <a:t> et de gradient </a:t>
                </a:r>
                <a14:m>
                  <m:oMath xmlns:m="http://schemas.openxmlformats.org/officeDocument/2006/math">
                    <m:r>
                      <a:rPr lang="fr-FR" sz="1400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sz="1400" dirty="0"/>
                  <a:t> régie par l’équation:</a:t>
                </a:r>
              </a:p>
              <a:p>
                <a:pPr algn="ctr"/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′, 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′)</m:t>
                      </m:r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/>
              </a:p>
              <a:p>
                <a:pPr algn="ctr"/>
                <a:endParaRPr lang="fr-FR" sz="1400" dirty="0"/>
              </a:p>
              <a:p>
                <a:r>
                  <a:rPr lang="fr-FR" sz="1400" dirty="0"/>
                  <a:t>Ainsi on a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′)2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La FEM induite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ⅇ</m:t>
                    </m:r>
                    <m:d>
                      <m:dPr>
                        <m:ctrlPr>
                          <a:rPr lang="fr-FR" sz="1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fr-FR" sz="1400" dirty="0"/>
                  <a:t> dans la bobine composée de </a:t>
                </a:r>
                <a14:m>
                  <m:oMath xmlns:m="http://schemas.openxmlformats.org/officeDocument/2006/math">
                    <m:r>
                      <a:rPr lang="fr-FR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r-FR" sz="1400" dirty="0"/>
                  <a:t> spire est régie par la </a:t>
                </a:r>
                <a:r>
                  <a:rPr lang="fr-FR" sz="1400" u="sng" dirty="0"/>
                  <a:t>Loi d’induction de Faraday</a:t>
                </a:r>
                <a:r>
                  <a:rPr lang="fr-FR" sz="1400" dirty="0"/>
                  <a:t>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b="1" u="sng" dirty="0"/>
                  <a:t>Pour un micro SingleCoil :</a:t>
                </a:r>
              </a:p>
              <a:p>
                <a:r>
                  <a:rPr lang="fr-FR" sz="1400" dirty="0"/>
                  <a:t>On génère alors une FEM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(0,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400" dirty="0"/>
              </a:p>
              <a:p>
                <a:r>
                  <a:rPr lang="fr-FR" sz="1400" dirty="0"/>
                  <a:t>Ainsi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1FD93F-1529-1340-D7CF-3872310E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121884" cy="4769191"/>
              </a:xfrm>
              <a:prstGeom prst="rect">
                <a:avLst/>
              </a:prstGeom>
              <a:blipFill>
                <a:blip r:embed="rId3"/>
                <a:stretch>
                  <a:fillRect l="-444" t="-2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/>
              <p:nvPr/>
            </p:nvSpPr>
            <p:spPr>
              <a:xfrm>
                <a:off x="4659244" y="1241682"/>
                <a:ext cx="4121885" cy="4673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400" b="1" u="sng" dirty="0"/>
                  <a:t>Pour un micro Humbucker :</a:t>
                </a:r>
              </a:p>
              <a:p>
                <a:r>
                  <a:rPr lang="fr-FR" sz="1400" dirty="0"/>
                  <a:t>On génère une FEM par bobinage: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Le micro est composé de deux bobine à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/>
                  <a:t>spire câblée en opposition de phase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𝑆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+(−</m:t>
                      </m:r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  <m:f>
                            <m:f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d>
                                <m:d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num>
                            <m:den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C’est-à-dire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40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′,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r>
                  <a:rPr lang="fr-FR" sz="1400" dirty="0"/>
                  <a:t>D’où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fr-FR" sz="14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|"/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400" dirty="0">
                  <a:solidFill>
                    <a:srgbClr val="C00000"/>
                  </a:solidFill>
                </a:endParaRPr>
              </a:p>
              <a:p>
                <a:endParaRPr lang="fr-FR" sz="1400" dirty="0"/>
              </a:p>
              <a:p>
                <a:r>
                  <a:rPr lang="fr-FR" sz="1400" dirty="0"/>
                  <a:t>NB :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On a une annulation totale du bruit si et seulement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40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400" dirty="0"/>
                  <a:t> proche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En pratique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fr-FR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fr-F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=0.02 </m:t>
                    </m:r>
                  </m:oMath>
                </a14:m>
                <a:r>
                  <a:rPr lang="fr-FR" sz="1400" dirty="0"/>
                  <a:t>mètre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fr-FR" sz="1400" dirty="0"/>
                  <a:t>D’où l’efficacité du Humbucker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BC1E68-2458-0314-1F31-1E6A6BB34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244" y="1241682"/>
                <a:ext cx="4121885" cy="4673652"/>
              </a:xfrm>
              <a:prstGeom prst="rect">
                <a:avLst/>
              </a:prstGeom>
              <a:blipFill>
                <a:blip r:embed="rId4"/>
                <a:stretch>
                  <a:fillRect l="-444" t="-261" b="-1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7B6E3-8EE4-F64E-7E5A-C4237D3C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C135CFF-9836-7C54-0BFE-C55DA8EA6DF2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27E62F-509A-33EE-39F7-CF12A8D18683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Footer Placeholder 2">
              <a:extLst>
                <a:ext uri="{FF2B5EF4-FFF2-40B4-BE49-F238E27FC236}">
                  <a16:creationId xmlns:a16="http://schemas.microsoft.com/office/drawing/2014/main" id="{9F154D45-8B11-2E2C-A9CF-70E8DE66B2B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95206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87C1C-A9E7-26DD-5A78-3FADD678E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8DA6C4D-4525-E18F-9555-CAEE2FF0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5F3027C7-92F3-E063-932E-3B94F56C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35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530EEE73-BB7D-C4D0-738A-79B41E9FA3C4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C9C9A-6414-9E44-333A-AA367358FB3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4C63B-D2E6-7A26-7BC5-409FA36680C2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4.1. Dimensionnement de l’expérimentation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9E6B13-6A5D-2DAE-9C77-B81DD77F1C63}"/>
              </a:ext>
            </a:extLst>
          </p:cNvPr>
          <p:cNvSpPr txBox="1"/>
          <p:nvPr/>
        </p:nvSpPr>
        <p:spPr>
          <a:xfrm>
            <a:off x="345440" y="1315849"/>
            <a:ext cx="5208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générer et contrôler un champ magnétique parasite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562C425-904A-2A3C-3B12-5EF4B04D2F2B}"/>
                  </a:ext>
                </a:extLst>
              </p:cNvPr>
              <p:cNvSpPr/>
              <p:nvPr/>
            </p:nvSpPr>
            <p:spPr>
              <a:xfrm>
                <a:off x="345439" y="2104641"/>
                <a:ext cx="5053497" cy="2203772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Fréquence du signal électrique généré par le GBF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par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Inductance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Resistance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Rayon de chaque bobine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Perméabilité du vide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500" dirty="0"/>
                  <a:t>: Champ magnétique au centre du système</a:t>
                </a: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562C425-904A-2A3C-3B12-5EF4B04D2F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39" y="2104641"/>
                <a:ext cx="5053497" cy="2203772"/>
              </a:xfrm>
              <a:prstGeom prst="rect">
                <a:avLst/>
              </a:prstGeom>
              <a:blipFill>
                <a:blip r:embed="rId2"/>
                <a:stretch>
                  <a:fillRect l="-359" b="-1359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TextBox 71">
            <a:extLst>
              <a:ext uri="{FF2B5EF4-FFF2-40B4-BE49-F238E27FC236}">
                <a16:creationId xmlns:a16="http://schemas.microsoft.com/office/drawing/2014/main" id="{D5EE7BFD-22A9-C42D-D83F-4ED3539508EB}"/>
              </a:ext>
            </a:extLst>
          </p:cNvPr>
          <p:cNvSpPr txBox="1"/>
          <p:nvPr/>
        </p:nvSpPr>
        <p:spPr>
          <a:xfrm>
            <a:off x="345439" y="4696284"/>
            <a:ext cx="282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Ainsi on obtient la relation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18BB12-3DFF-14DE-54E5-3D8FFFF54153}"/>
                  </a:ext>
                </a:extLst>
              </p:cNvPr>
              <p:cNvSpPr txBox="1"/>
              <p:nvPr/>
            </p:nvSpPr>
            <p:spPr>
              <a:xfrm>
                <a:off x="740591" y="5157523"/>
                <a:ext cx="4048096" cy="718338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box>
                        <m:box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+(2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sSub>
                                    <m:sSubPr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)²</m:t>
                                  </m:r>
                                </m:e>
                              </m:rad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18BB12-3DFF-14DE-54E5-3D8FFFF54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591" y="5157523"/>
                <a:ext cx="4048096" cy="7183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F8E582-4EAC-8C67-F875-BE10AAAA0350}"/>
                  </a:ext>
                </a:extLst>
              </p:cNvPr>
              <p:cNvSpPr txBox="1"/>
              <p:nvPr/>
            </p:nvSpPr>
            <p:spPr>
              <a:xfrm>
                <a:off x="6172817" y="2855748"/>
                <a:ext cx="23873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sz="1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F8E582-4EAC-8C67-F875-BE10AAAA0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817" y="2855748"/>
                <a:ext cx="2387379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9341FB-75B3-A274-F364-7E99C8B4857A}"/>
                  </a:ext>
                </a:extLst>
              </p:cNvPr>
              <p:cNvSpPr txBox="1"/>
              <p:nvPr/>
            </p:nvSpPr>
            <p:spPr>
              <a:xfrm>
                <a:off x="5910424" y="3885461"/>
                <a:ext cx="3069137" cy="6881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fr-FR" sz="18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8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fr-FR" sz="18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fr-F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fr-FR" sz="1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fr-FR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Sup>
                                    <m:sSubSup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  <m:sup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+(2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)²</m:t>
                                  </m:r>
                                </m:e>
                              </m:rad>
                            </m:den>
                          </m:f>
                        </m:e>
                      </m:box>
                      <m:func>
                        <m:func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𝑓𝑡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69341FB-75B3-A274-F364-7E99C8B48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0424" y="3885461"/>
                <a:ext cx="3069137" cy="688137"/>
              </a:xfrm>
              <a:prstGeom prst="rect">
                <a:avLst/>
              </a:prstGeom>
              <a:blipFill>
                <a:blip r:embed="rId7"/>
                <a:stretch>
                  <a:fillRect r="-59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A20D67A-ABBB-0F42-5126-090B491D5C6A}"/>
              </a:ext>
            </a:extLst>
          </p:cNvPr>
          <p:cNvSpPr txBox="1"/>
          <p:nvPr/>
        </p:nvSpPr>
        <p:spPr>
          <a:xfrm>
            <a:off x="5956224" y="2455967"/>
            <a:ext cx="282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GBF délivre une tension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682485-A8DF-8912-5129-AE9F97A8E14E}"/>
              </a:ext>
            </a:extLst>
          </p:cNvPr>
          <p:cNvSpPr txBox="1"/>
          <p:nvPr/>
        </p:nvSpPr>
        <p:spPr>
          <a:xfrm>
            <a:off x="5956223" y="3269908"/>
            <a:ext cx="282056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Ainsi l’intensité dans la bobine de Helmholtz</a:t>
            </a:r>
            <a:r>
              <a:rPr lang="fr-FR" dirty="0"/>
              <a:t> </a:t>
            </a:r>
            <a:r>
              <a:rPr lang="fr-FR" sz="1600" dirty="0"/>
              <a:t>est : </a:t>
            </a:r>
          </a:p>
        </p:txBody>
      </p:sp>
      <p:pic>
        <p:nvPicPr>
          <p:cNvPr id="14" name="Graphic 13" descr="Right pointing backhand index with solid fill">
            <a:extLst>
              <a:ext uri="{FF2B5EF4-FFF2-40B4-BE49-F238E27FC236}">
                <a16:creationId xmlns:a16="http://schemas.microsoft.com/office/drawing/2014/main" id="{D43490FA-7939-0BC0-E2E1-D0079CA8B2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74131" y="5317433"/>
            <a:ext cx="360000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4851F-608A-0C07-0307-D6CD6D30E07E}"/>
                  </a:ext>
                </a:extLst>
              </p:cNvPr>
              <p:cNvSpPr txBox="1"/>
              <p:nvPr/>
            </p:nvSpPr>
            <p:spPr>
              <a:xfrm>
                <a:off x="5734131" y="5331062"/>
                <a:ext cx="324543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/>
                  <a:t>Ordre de Grandeur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600" b="0" i="1" smtClean="0">
                        <a:latin typeface="Cambria Math" panose="02040503050406030204" pitchFamily="18" charset="0"/>
                      </a:rPr>
                      <m:t>=100 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fr-FR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584851F-608A-0C07-0307-D6CD6D30E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131" y="5331062"/>
                <a:ext cx="3245430" cy="338554"/>
              </a:xfrm>
              <a:prstGeom prst="rect">
                <a:avLst/>
              </a:prstGeom>
              <a:blipFill>
                <a:blip r:embed="rId10"/>
                <a:stretch>
                  <a:fillRect l="-1128" t="-5455" b="-2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Bobine de Helmholtz sur socle : PAM067370">
            <a:extLst>
              <a:ext uri="{FF2B5EF4-FFF2-40B4-BE49-F238E27FC236}">
                <a16:creationId xmlns:a16="http://schemas.microsoft.com/office/drawing/2014/main" id="{451DB793-FC6C-87B9-4DF0-4142BD349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24" y="575668"/>
            <a:ext cx="2649772" cy="175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ADCD0-05A8-4491-060C-60273600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F199AE-6BDA-9E78-D2AC-12B65BFA809F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2FE95A-7C58-C364-4496-F6F80B21C1F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Footer Placeholder 2">
              <a:extLst>
                <a:ext uri="{FF2B5EF4-FFF2-40B4-BE49-F238E27FC236}">
                  <a16:creationId xmlns:a16="http://schemas.microsoft.com/office/drawing/2014/main" id="{46DFC31C-7A2F-1100-C5CB-76209A433C67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2869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7108C-A3BE-9F30-5F6D-AE6C160ED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3AE4AA4-C3C7-2E15-4FE6-655BAA3E9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EF6E153-E804-1E6D-AC1A-DA165A12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36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E06A84A3-244C-E4E5-16D2-E0D81E52023C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9AD8E1-E315-A065-149E-7D95BAB5C66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98F16D-9EEC-BD13-9BA6-4441C8EDBF7E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4.2. Filtrage des données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FF123-A369-3024-2D63-5BC511850FC0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passer de données bruitées non exploitables a des données exploitables?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160F269-E440-1BF8-F93A-BDF8772DA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4411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par Moyenne Mobile </a:t>
                </a:r>
                <a:r>
                  <a:rPr lang="fr-FR" sz="1400" dirty="0">
                    <a:sym typeface="Wingdings" panose="05000000000000000000" pitchFamily="2" charset="2"/>
                  </a:rPr>
                  <a:t>Chaque point est la moyenne des 50 précédents et 50 suivants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Temps de calcul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Risque de ‘’raboter’’ les pics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Aucun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b="1" u="sng" dirty="0">
                    <a:sym typeface="Wingdings" panose="05000000000000000000" pitchFamily="2" charset="2"/>
                  </a:rPr>
                  <a:t>Filtrage numérique passe-bas</a:t>
                </a:r>
              </a:p>
              <a:p>
                <a:r>
                  <a:rPr lang="fr-FR" sz="1400" b="0" dirty="0">
                    <a:sym typeface="Wingdings" panose="05000000000000000000" pitchFamily="2" charset="2"/>
                  </a:rPr>
                  <a:t>Méthode d’Euler avec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H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(</m:t>
                      </m:r>
                      <m:r>
                        <m:rPr>
                          <m:sty m:val="p"/>
                        </m:rP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p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) 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 + </m:t>
                          </m:r>
                          <m:r>
                            <m:rPr>
                              <m:sty m:val="p"/>
                            </m:rPr>
                            <a:rPr lang="fr-FR" sz="1400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τp</m:t>
                          </m:r>
                        </m:den>
                      </m:f>
                    </m:oMath>
                  </m:oMathPara>
                </a14:m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Temps de calcul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✅ Preserve l’allure globale</a:t>
                </a:r>
              </a:p>
              <a:p>
                <a:r>
                  <a:rPr lang="fr-FR" sz="1400" dirty="0">
                    <a:sym typeface="Wingdings" panose="05000000000000000000" pitchFamily="2" charset="2"/>
                  </a:rPr>
                  <a:t>❌ Introduit un déphasage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76C7F-A157-584F-297C-3D944A36C7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4411336"/>
              </a:xfrm>
              <a:prstGeom prst="rect">
                <a:avLst/>
              </a:prstGeom>
              <a:blipFill>
                <a:blip r:embed="rId3"/>
                <a:stretch>
                  <a:fillRect l="-633" t="-2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9AED8-D051-72A1-0FAB-7881F8AC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A012CD-4A4F-5077-ED00-68E3057666A1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79DF584-9CF7-B861-2268-C9DD0FDE375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9E59D5D1-9929-41AC-1C69-EDEF90D47D43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02944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22C5B-8D73-CCE6-C1F4-7842FE0B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AF5A9F0-2A4C-02C4-E2F8-B040A3F3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C534992-DB8E-40A8-C706-E82CEB302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37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7D9F10B-2163-F771-FC03-D7518738EB0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9F3FB8-1FB5-8F1E-C164-C844ECA3D0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B39E1-B87E-8759-1895-1DEFEB3BB07E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4.3. Algorithme de Levenberg-Marquardt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58F603-827C-9F7F-25B9-66795A26B2C3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déterminer les valeurs des caractéristiques électriques des micros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/>
              <p:nvPr/>
            </p:nvSpPr>
            <p:spPr>
              <a:xfrm>
                <a:off x="4572000" y="1564631"/>
                <a:ext cx="4264554" cy="4428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Principe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Variante de l’algorithme des moindres carrés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b="1" u="sng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Combine 2 méthodes :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Descente de gradient</a:t>
                </a:r>
                <a:r>
                  <a:rPr lang="fr-FR" altLang="fr-FR" sz="1400" dirty="0"/>
                  <a:t> : Utilisée loin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Stabilité</a:t>
                </a:r>
                <a:endParaRPr lang="fr-FR" altLang="fr-FR" sz="1400" dirty="0"/>
              </a:p>
              <a:p>
                <a:pPr marL="285750" lvl="0" indent="-28575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fr-FR" altLang="fr-FR" sz="1400" b="1" dirty="0"/>
                  <a:t>Méthode de Gauss-Newton</a:t>
                </a:r>
                <a:r>
                  <a:rPr lang="fr-FR" altLang="fr-FR" sz="1400" dirty="0"/>
                  <a:t> : Utilisée proche du minimum </a:t>
                </a:r>
                <a:r>
                  <a:rPr lang="fr-FR" altLang="fr-FR" sz="1400" dirty="0">
                    <a:sym typeface="Wingdings" panose="05000000000000000000" pitchFamily="2" charset="2"/>
                  </a:rPr>
                  <a:t> rapidité</a:t>
                </a: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b="1" u="sng" dirty="0"/>
                  <a:t>Fonctionnement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b="0" i="1" dirty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α</m:t>
                          </m:r>
                          <m: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b="0" i="1" dirty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b="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1" i="1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fr-FR" altLang="fr-FR" sz="1400" dirty="0"/>
                  <a:t> : Matrice Jacobienne 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fr-FR" altLang="fr-FR" sz="1400" dirty="0"/>
                  <a:t> : Vecteur résidus : image de l’erreur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b="0" i="1" smtClean="0"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fr-FR" altLang="fr-FR" sz="1400" dirty="0"/>
                  <a:t> : Taux d’apprentissage variable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↘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Gauss Newton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400" dirty="0">
                    <a:sym typeface="Wingdings" panose="05000000000000000000" pitchFamily="2" charset="2"/>
                  </a:rPr>
                  <a:t>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ϵ</m:t>
                    </m:r>
                    <m:r>
                      <a:rPr lang="fr-F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↗</m:t>
                    </m:r>
                  </m:oMath>
                </a14:m>
                <a:r>
                  <a:rPr lang="fr-FR" sz="1400" dirty="0">
                    <a:sym typeface="Wingdings" panose="05000000000000000000" pitchFamily="2" charset="2"/>
                  </a:rPr>
                  <a:t> : Descente de Gradient </a:t>
                </a:r>
              </a:p>
              <a:p>
                <a:endParaRPr lang="fr-FR" sz="1400" dirty="0">
                  <a:sym typeface="Wingdings" panose="05000000000000000000" pitchFamily="2" charset="2"/>
                </a:endParaRPr>
              </a:p>
              <a:p>
                <a:endParaRPr lang="fr-FR" sz="1400" dirty="0">
                  <a:sym typeface="Wingdings" panose="05000000000000000000" pitchFamily="2" charset="2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C72904-EEDC-1E60-1DCE-9D51B9D70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564631"/>
                <a:ext cx="4264554" cy="4428905"/>
              </a:xfrm>
              <a:prstGeom prst="rect">
                <a:avLst/>
              </a:prstGeom>
              <a:blipFill>
                <a:blip r:embed="rId2"/>
                <a:stretch>
                  <a:fillRect l="-429" t="-2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89229-D649-26C3-F99E-5A1F94B1F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0C246C-3384-6CE8-D081-A3B270E39908}"/>
              </a:ext>
            </a:extLst>
          </p:cNvPr>
          <p:cNvGrpSpPr/>
          <p:nvPr/>
        </p:nvGrpSpPr>
        <p:grpSpPr>
          <a:xfrm>
            <a:off x="345440" y="1587720"/>
            <a:ext cx="3617103" cy="4428906"/>
            <a:chOff x="345440" y="1587720"/>
            <a:chExt cx="3617103" cy="442890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4C7B3D5-E778-E53F-4C95-9EB24A7DB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440" y="1587720"/>
              <a:ext cx="3617103" cy="442890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/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fr-FR" sz="400" b="0" i="1" smtClean="0">
                                    <a:latin typeface="Cambria Math" panose="02040503050406030204" pitchFamily="18" charset="0"/>
                                  </a:rPr>
                                  <m:t>p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fr-FR" sz="400" b="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0.01</m:t>
                        </m:r>
                      </m:oMath>
                    </m:oMathPara>
                  </a14:m>
                  <a:endParaRPr lang="fr-FR" sz="400" b="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fr-FR" sz="400" b="0" i="1" smtClean="0">
                                <a:latin typeface="Cambria Math" panose="02040503050406030204" pitchFamily="18" charset="0"/>
                              </a:rPr>
                              <m:t>-7</m:t>
                            </m:r>
                          </m:sup>
                        </m:sSup>
                      </m:oMath>
                    </m:oMathPara>
                  </a14:m>
                  <a:endParaRPr lang="fr-FR" sz="400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9CF46D6-4EF4-F232-FD91-E6FB90382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131" y="2224466"/>
                  <a:ext cx="1021719" cy="194540"/>
                </a:xfrm>
                <a:prstGeom prst="rect">
                  <a:avLst/>
                </a:prstGeom>
                <a:blipFill>
                  <a:blip r:embed="rId4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/>
                <p:nvPr/>
              </p:nvSpPr>
              <p:spPr>
                <a:xfrm>
                  <a:off x="1655445" y="3320037"/>
                  <a:ext cx="1021719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:r>
                    <a:rPr lang="fr-FR" sz="400" dirty="0"/>
                    <a:t>Calcul de la descente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400" b="0" i="1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a14:m>
                  <a:endParaRPr lang="fr-FR" sz="4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14E73D5-40E1-FA40-17C0-BCA99FA1C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5" y="3320037"/>
                  <a:ext cx="1021719" cy="61555"/>
                </a:xfrm>
                <a:prstGeom prst="rect">
                  <a:avLst/>
                </a:prstGeom>
                <a:blipFill>
                  <a:blip r:embed="rId5"/>
                  <a:stretch>
                    <a:fillRect t="-30000" b="-5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/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fr-FR" sz="400" dirty="0"/>
                    <a:t>Calcul du nouveau coût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400" b="0" i="1" dirty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</m:oMath>
                  </a14:m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1B9F17A-A7C1-8129-26C5-CCE20D05D2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445" y="3793974"/>
                  <a:ext cx="1021719" cy="123111"/>
                </a:xfrm>
                <a:prstGeom prst="rect">
                  <a:avLst/>
                </a:prstGeom>
                <a:blipFill>
                  <a:blip r:embed="rId6"/>
                  <a:stretch>
                    <a:fillRect b="-2381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/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4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1EB7C6A-82BF-6C18-30B1-C445575462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0064" y="4267912"/>
                  <a:ext cx="792480" cy="61555"/>
                </a:xfrm>
                <a:prstGeom prst="rect">
                  <a:avLst/>
                </a:prstGeom>
                <a:blipFill>
                  <a:blip r:embed="rId7"/>
                  <a:stretch>
                    <a:fillRect b="-3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/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 = </m:t>
                        </m:r>
                        <m:sSub>
                          <m:sSubPr>
                            <m:ctrl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fr-FR" sz="400" b="0" i="1" dirty="0" smtClean="0">
                                <a:latin typeface="Cambria Math" panose="02040503050406030204" pitchFamily="18" charset="0"/>
                              </a:rPr>
                              <m:t>new</m:t>
                            </m:r>
                          </m:sub>
                        </m:sSub>
                      </m:oMath>
                    </m:oMathPara>
                  </a14:m>
                  <a:endParaRPr lang="fr-FR" sz="4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/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6B82192-B64C-FB73-EDE5-4E4226E366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4818364"/>
                  <a:ext cx="792480" cy="123111"/>
                </a:xfrm>
                <a:prstGeom prst="rect">
                  <a:avLst/>
                </a:prstGeom>
                <a:blipFill>
                  <a:blip r:embed="rId8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/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fr-FR" sz="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400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35FB794-C1DA-068F-4A78-56EE092FA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6531" y="4852144"/>
                  <a:ext cx="792480" cy="6155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/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400" i="1" dirty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m:rPr>
                            <m:sty m:val="p"/>
                          </m:rPr>
                          <a:rPr lang="fr-FR" sz="400" b="0" i="1" dirty="0" smtClean="0">
                            <a:latin typeface="Cambria Math" panose="02040503050406030204" pitchFamily="18" charset="0"/>
                          </a:rPr>
                          <m:t>ϵ</m:t>
                        </m:r>
                      </m:oMath>
                    </m:oMathPara>
                  </a14:m>
                  <a:endParaRPr lang="fr-FR" sz="400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D85D38D-5906-CE92-16D5-20B4131E9E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2961" y="5301827"/>
                  <a:ext cx="792480" cy="61555"/>
                </a:xfrm>
                <a:prstGeom prst="rect">
                  <a:avLst/>
                </a:prstGeom>
                <a:blipFill>
                  <a:blip r:embed="rId10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E15DCC-C532-6C84-21FE-198EF6A38693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293FA2D-845E-3E47-013D-1745D6C5C342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Footer Placeholder 2">
              <a:extLst>
                <a:ext uri="{FF2B5EF4-FFF2-40B4-BE49-F238E27FC236}">
                  <a16:creationId xmlns:a16="http://schemas.microsoft.com/office/drawing/2014/main" id="{F8F13FDA-57A2-A33C-17C0-BF32E05AA341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32533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3032B-5CBA-D58B-6BE3-2ED288DB3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8EB8047-B6FD-C262-D749-BA281272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973D2A4C-27D1-DFAF-6C8D-8C59AA46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38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D7F8ED1-3EF2-8A6F-4CB4-0CF972E8B4D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3105C7-994D-34E1-D1CE-ED0E36ED91C8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7367D-863A-93E2-06BC-B67FD2AE2D27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4.3. Algorithme de Levenberg-Marquardt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09C9AA1-328D-AAD8-510E-EFF1E2B2A387}"/>
              </a:ext>
            </a:extLst>
          </p:cNvPr>
          <p:cNvSpPr txBox="1"/>
          <p:nvPr/>
        </p:nvSpPr>
        <p:spPr>
          <a:xfrm>
            <a:off x="345440" y="1121470"/>
            <a:ext cx="895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Comment déterminer les valeurs des caractéristiques électriques des micros 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023245-9CE3-A4CE-BCE1-4AF643DD4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440" y="1564631"/>
            <a:ext cx="5486411" cy="457200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/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des résidus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fr-FR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2, 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...</m:t>
                              </m:r>
                            </m:e>
                            <m:e>
                              <m:r>
                                <m:rPr>
                                  <m:sty m:val="p"/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ist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wn</m:t>
                              </m:r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̃"/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wn</m:t>
                                  </m:r>
                                </m:e>
                              </m:acc>
                              <m:r>
                                <m:rPr>
                                  <m:brk m:alnAt="7"/>
                                </m:rP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Le calcul du coût se fait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fr-FR" altLang="fr-FR" sz="1400" b="0" i="1" smtClean="0"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fr-FR" altLang="fr-FR" sz="14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ctrl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a:rPr lang="fr-FR" altLang="fr-F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L'incrément des paramètres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altLang="fr-FR" sz="1400" i="1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fr-FR" altLang="fr-FR" sz="1400" dirty="0"/>
                  <a:t> est calculé par 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fr-FR" altLang="fr-FR" sz="1400" i="1" dirty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fr-FR" altLang="fr-FR" sz="1400" i="1" dirty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fr-FR" altLang="fr-FR" sz="1400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fr-FR" altLang="fr-FR" sz="1400" dirty="0"/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Avec :</a:t>
                </a:r>
              </a:p>
              <a:p>
                <a:pPr algn="ctr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fr-FR" altLang="fr-FR" sz="1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400" i="1">
                        <a:latin typeface="Cambria Math" panose="02040503050406030204" pitchFamily="18" charset="0"/>
                      </a:rPr>
                      <m:t>J</m:t>
                    </m:r>
                    <m:r>
                      <a:rPr lang="fr-FR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fr-F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1)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den>
                              </m:f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2)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...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ωn</m:t>
                                      </m:r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m:rPr>
                                          <m:brk m:alnAt="7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den>
                                  </m:f>
                                </m:e>
                              </m:eqArr>
                            </m:e>
                          </m:mr>
                        </m:m>
                        <m:eqArr>
                          <m:eqArrPr>
                            <m:ctrlPr>
                              <a:rPr lang="fr-FR" sz="1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1)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2)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r>
                              <a:rPr lang="fr-FR" sz="1400" i="1">
                                <a:latin typeface="Cambria Math" panose="02040503050406030204" pitchFamily="18" charset="0"/>
                              </a:rPr>
                              <m:t>...</m:t>
                            </m:r>
                          </m:e>
                          <m:e>
                            <m:f>
                              <m:fPr>
                                <m:ctrl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ωn</m:t>
                                </m:r>
                                <m: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m:rPr>
                                    <m:brk m:alnAt="7"/>
                                  </m:rPr>
                                  <a:rPr lang="fr-FR" sz="1400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fr-FR" sz="1400" i="1"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fr-FR" altLang="fr-FR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5537C42-FFED-9697-1F46-86E067148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220" y="1564631"/>
                <a:ext cx="2885334" cy="4522072"/>
              </a:xfrm>
              <a:prstGeom prst="rect">
                <a:avLst/>
              </a:prstGeom>
              <a:blipFill>
                <a:blip r:embed="rId3"/>
                <a:stretch>
                  <a:fillRect l="-633" t="-270" r="-21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58A68-4175-1FE0-DFCA-73363B0F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A23E38-AFFC-1314-34D8-5F474D741D9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94ED3C-0189-70F2-3340-35139884ACBA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Footer Placeholder 2">
              <a:extLst>
                <a:ext uri="{FF2B5EF4-FFF2-40B4-BE49-F238E27FC236}">
                  <a16:creationId xmlns:a16="http://schemas.microsoft.com/office/drawing/2014/main" id="{AD4961CD-E048-EDA5-4913-3A2CD9E86F6A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81720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C1AB9-AA17-A289-4177-5B57B838A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8461287-D707-9296-0912-13EC57D9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1BD5E36-8BC4-63CE-35F9-3C9F06D3B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39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0EEE6E3-6825-09CC-8862-418DD007C63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5990FB-38EB-5B30-B3B4-746837CB7A8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DE8E9-33F3-561B-57C9-2E08CDBD205D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5.1. Micro non fonctionnel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EF09A-3743-0F99-88E7-941B18BE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AE53AF-2DFC-2830-AB17-39F8A9CFCD3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" t="21864" r="1" b="35960"/>
          <a:stretch>
            <a:fillRect/>
          </a:stretch>
        </p:blipFill>
        <p:spPr>
          <a:xfrm>
            <a:off x="345440" y="1220122"/>
            <a:ext cx="8626173" cy="4852222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7CF1BFFB-993D-B165-6DEA-A362856BAE78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24DCD0-D770-6EEC-A98D-F0CAB5B4CAB4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Footer Placeholder 2">
              <a:extLst>
                <a:ext uri="{FF2B5EF4-FFF2-40B4-BE49-F238E27FC236}">
                  <a16:creationId xmlns:a16="http://schemas.microsoft.com/office/drawing/2014/main" id="{5180DDD7-F016-DA17-C609-C7473F9858DD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45800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F1A6-7284-DDB9-89E2-31D242A1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D1A8F8BC-5457-F637-253E-501D5B3F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2026</a:t>
            </a:r>
            <a:endParaRPr lang="fr-FR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56C9157-C10C-5A98-91D7-0B32B3935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z="1200" b="1" smtClean="0"/>
              <a:t>40</a:t>
            </a:fld>
            <a:endParaRPr lang="fr-FR" sz="1200" b="1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AD740C7-6183-2A85-C9EE-E8A2AE58902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0915BC-9847-71E7-29FD-55679B3E5BA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12408-1335-7F77-5E5C-005F476AC790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5.2. Signal non exploitable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3A4084-0161-71FA-C96F-CB2E64B2C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</p:spPr>
        <p:txBody>
          <a:bodyPr/>
          <a:lstStyle/>
          <a:p>
            <a:r>
              <a:rPr lang="fr-FR" sz="1050" b="1" dirty="0"/>
              <a:t>39662 – PTSI / PT Lycée F. Buisson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59B488-EBE7-4249-E492-60486C906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>
            <a:fillRect/>
          </a:stretch>
        </p:blipFill>
        <p:spPr>
          <a:xfrm>
            <a:off x="345439" y="1390254"/>
            <a:ext cx="8472117" cy="476556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882774D-4E1C-DAB6-0335-8D40E09BBD17}"/>
              </a:ext>
            </a:extLst>
          </p:cNvPr>
          <p:cNvGrpSpPr/>
          <p:nvPr/>
        </p:nvGrpSpPr>
        <p:grpSpPr>
          <a:xfrm>
            <a:off x="0" y="-4624"/>
            <a:ext cx="9144000" cy="457200"/>
            <a:chOff x="0" y="-4624"/>
            <a:chExt cx="9144000" cy="4572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AA2265-51F0-27F3-BB79-D4CFB818BDD8}"/>
                </a:ext>
              </a:extLst>
            </p:cNvPr>
            <p:cNvSpPr/>
            <p:nvPr/>
          </p:nvSpPr>
          <p:spPr>
            <a:xfrm>
              <a:off x="0" y="-4624"/>
              <a:ext cx="9144000" cy="4572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Footer Placeholder 2">
              <a:extLst>
                <a:ext uri="{FF2B5EF4-FFF2-40B4-BE49-F238E27FC236}">
                  <a16:creationId xmlns:a16="http://schemas.microsoft.com/office/drawing/2014/main" id="{9363F4C3-D089-5724-B3D9-349343B259F6}"/>
                </a:ext>
              </a:extLst>
            </p:cNvPr>
            <p:cNvSpPr txBox="1">
              <a:spLocks/>
            </p:cNvSpPr>
            <p:nvPr/>
          </p:nvSpPr>
          <p:spPr>
            <a:xfrm>
              <a:off x="1447764" y="41413"/>
              <a:ext cx="6248472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457200" rtl="0" eaLnBrk="1" latinLnBrk="0" hangingPunct="1">
                <a:defRPr sz="900" kern="1200" cap="all" baseline="0">
                  <a:solidFill>
                    <a:srgbClr val="FFFFFF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fr-FR" sz="1600" b="1" dirty="0"/>
                <a:t>Annexes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68345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3592</Words>
  <Application>Microsoft Office PowerPoint</Application>
  <PresentationFormat>On-screen Show (4:3)</PresentationFormat>
  <Paragraphs>839</Paragraphs>
  <Slides>40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Arial Black</vt:lpstr>
      <vt:lpstr>Calibri</vt:lpstr>
      <vt:lpstr>Cambria Math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655</cp:revision>
  <dcterms:created xsi:type="dcterms:W3CDTF">2025-06-09T15:35:56Z</dcterms:created>
  <dcterms:modified xsi:type="dcterms:W3CDTF">2026-02-02T23:11:35Z</dcterms:modified>
</cp:coreProperties>
</file>