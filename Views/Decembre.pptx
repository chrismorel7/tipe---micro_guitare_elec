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1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19" r:id="rId10"/>
    <p:sldId id="320" r:id="rId11"/>
    <p:sldId id="329" r:id="rId12"/>
    <p:sldId id="327" r:id="rId13"/>
    <p:sldId id="328" r:id="rId14"/>
    <p:sldId id="333" r:id="rId15"/>
    <p:sldId id="343" r:id="rId16"/>
    <p:sldId id="289" r:id="rId17"/>
    <p:sldId id="324" r:id="rId18"/>
    <p:sldId id="313" r:id="rId19"/>
    <p:sldId id="315" r:id="rId20"/>
    <p:sldId id="318" r:id="rId21"/>
    <p:sldId id="344" r:id="rId22"/>
    <p:sldId id="330" r:id="rId23"/>
    <p:sldId id="303" r:id="rId24"/>
    <p:sldId id="271" r:id="rId25"/>
    <p:sldId id="302" r:id="rId26"/>
    <p:sldId id="272" r:id="rId27"/>
    <p:sldId id="341" r:id="rId28"/>
    <p:sldId id="342" r:id="rId29"/>
    <p:sldId id="277" r:id="rId30"/>
    <p:sldId id="304" r:id="rId31"/>
    <p:sldId id="305" r:id="rId32"/>
    <p:sldId id="311" r:id="rId33"/>
    <p:sldId id="275" r:id="rId34"/>
    <p:sldId id="306" r:id="rId35"/>
    <p:sldId id="307" r:id="rId36"/>
    <p:sldId id="308" r:id="rId37"/>
    <p:sldId id="309" r:id="rId38"/>
    <p:sldId id="317" r:id="rId39"/>
    <p:sldId id="310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03A"/>
    <a:srgbClr val="CC6600"/>
    <a:srgbClr val="559A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1" autoAdjust="0"/>
    <p:restoredTop sz="95975" autoAdjust="0"/>
  </p:normalViewPr>
  <p:slideViewPr>
    <p:cSldViewPr snapToGrid="0">
      <p:cViewPr>
        <p:scale>
          <a:sx n="75" d="100"/>
          <a:sy n="75" d="100"/>
        </p:scale>
        <p:origin x="1805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fr-FR" dirty="0"/>
              <a:t>Parts de marché estimées selon les </a:t>
            </a:r>
          </a:p>
          <a:p>
            <a:pPr>
              <a:defRPr/>
            </a:pPr>
            <a:r>
              <a:rPr lang="fr-FR" dirty="0"/>
              <a:t>volumes de vente. </a:t>
            </a:r>
            <a:r>
              <a:rPr lang="fr-FR" sz="1100" dirty="0"/>
              <a:t>(cf. [7])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Series1</c:v>
                </c:pt>
              </c:strCache>
            </c:strRef>
          </c:tx>
          <c:dPt>
            <c:idx val="0"/>
            <c:bubble3D val="0"/>
            <c:spPr>
              <a:solidFill>
                <a:srgbClr val="CC6600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2-4BB2-4BD0-9775-74F36B14B2B8}"/>
              </c:ext>
            </c:extLst>
          </c:dPt>
          <c:dPt>
            <c:idx val="1"/>
            <c:bubble3D val="0"/>
            <c:spPr>
              <a:solidFill>
                <a:srgbClr val="559AD7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4BB2-4BD0-9775-74F36B14B2B8}"/>
              </c:ext>
            </c:extLst>
          </c:dPt>
          <c:dPt>
            <c:idx val="2"/>
            <c:bubble3D val="0"/>
            <c:spPr>
              <a:solidFill>
                <a:srgbClr val="38903A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4BB2-4BD0-9775-74F36B14B2B8}"/>
              </c:ext>
            </c:extLst>
          </c:dPt>
          <c:dPt>
            <c:idx val="3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4-4BB2-4BD0-9775-74F36B14B2B8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2-4BB2-4BD0-9775-74F36B14B2B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4BB2-4BD0-9775-74F36B14B2B8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4BB2-4BD0-9775-74F36B14B2B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bestFit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Micros SingleCoil</c:v>
                </c:pt>
                <c:pt idx="1">
                  <c:v>Micros Humbucker</c:v>
                </c:pt>
                <c:pt idx="2">
                  <c:v>Micros Actifs</c:v>
                </c:pt>
                <c:pt idx="3">
                  <c:v>Autres Micros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B2-4BD0-9775-74F36B14B2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2022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40%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2022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40%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07/12/2025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1D33C-0964-9148-7E5E-F0E7B75CD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8446B-B181-1704-9F72-24A2677B5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3EE8A9-817C-A2F7-B4E6-0B9C0026F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E3055-2B29-D52A-2CD7-BBEACB5DD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3909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20.png"/><Relationship Id="rId7" Type="http://schemas.openxmlformats.org/officeDocument/2006/relationships/image" Target="../media/image1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jpeg"/><Relationship Id="rId10" Type="http://schemas.openxmlformats.org/officeDocument/2006/relationships/image" Target="../media/image130.png"/><Relationship Id="rId4" Type="http://schemas.openxmlformats.org/officeDocument/2006/relationships/image" Target="../media/image81.png"/><Relationship Id="rId9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150.png"/><Relationship Id="rId7" Type="http://schemas.openxmlformats.org/officeDocument/2006/relationships/image" Target="../media/image16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10" Type="http://schemas.openxmlformats.org/officeDocument/2006/relationships/image" Target="../media/image20.png"/><Relationship Id="rId4" Type="http://schemas.openxmlformats.org/officeDocument/2006/relationships/image" Target="../media/image21.png"/><Relationship Id="rId9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24.png"/><Relationship Id="rId7" Type="http://schemas.openxmlformats.org/officeDocument/2006/relationships/image" Target="../media/image2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0.png"/><Relationship Id="rId5" Type="http://schemas.openxmlformats.org/officeDocument/2006/relationships/image" Target="../media/image26.png"/><Relationship Id="rId4" Type="http://schemas.openxmlformats.org/officeDocument/2006/relationships/image" Target="../media/image25.jpeg"/><Relationship Id="rId9" Type="http://schemas.openxmlformats.org/officeDocument/2006/relationships/image" Target="../media/image2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27.png"/><Relationship Id="rId7" Type="http://schemas.openxmlformats.org/officeDocument/2006/relationships/image" Target="../media/image27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1.png"/><Relationship Id="rId11" Type="http://schemas.openxmlformats.org/officeDocument/2006/relationships/image" Target="../media/image230.png"/><Relationship Id="rId5" Type="http://schemas.openxmlformats.org/officeDocument/2006/relationships/image" Target="../media/image28.png"/><Relationship Id="rId10" Type="http://schemas.openxmlformats.org/officeDocument/2006/relationships/image" Target="../media/image220.png"/><Relationship Id="rId4" Type="http://schemas.openxmlformats.org/officeDocument/2006/relationships/image" Target="../media/image25.jpeg"/><Relationship Id="rId9" Type="http://schemas.openxmlformats.org/officeDocument/2006/relationships/image" Target="../media/image2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9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jpeg"/><Relationship Id="rId5" Type="http://schemas.openxmlformats.org/officeDocument/2006/relationships/image" Target="../media/image30.png"/><Relationship Id="rId10" Type="http://schemas.openxmlformats.org/officeDocument/2006/relationships/image" Target="../media/image31.png"/><Relationship Id="rId4" Type="http://schemas.microsoft.com/office/2007/relationships/hdphoto" Target="../media/hdphoto2.wdp"/><Relationship Id="rId9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5.jpe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7.png"/><Relationship Id="rId18" Type="http://schemas.openxmlformats.org/officeDocument/2006/relationships/image" Target="../media/image340.png"/><Relationship Id="rId3" Type="http://schemas.openxmlformats.org/officeDocument/2006/relationships/image" Target="../media/image20.jpeg"/><Relationship Id="rId12" Type="http://schemas.openxmlformats.org/officeDocument/2006/relationships/image" Target="../media/image25.jpeg"/><Relationship Id="rId17" Type="http://schemas.openxmlformats.org/officeDocument/2006/relationships/image" Target="../media/image331.png"/><Relationship Id="rId2" Type="http://schemas.openxmlformats.org/officeDocument/2006/relationships/notesSlide" Target="../notesSlides/notesSlide6.xml"/><Relationship Id="rId16" Type="http://schemas.microsoft.com/office/2007/relationships/hdphoto" Target="../media/hdphoto4.wdp"/><Relationship Id="rId20" Type="http://schemas.openxmlformats.org/officeDocument/2006/relationships/image" Target="../media/image360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6.png"/><Relationship Id="rId15" Type="http://schemas.openxmlformats.org/officeDocument/2006/relationships/image" Target="../media/image38.png"/><Relationship Id="rId10" Type="http://schemas.openxmlformats.org/officeDocument/2006/relationships/image" Target="../media/image292.png"/><Relationship Id="rId19" Type="http://schemas.openxmlformats.org/officeDocument/2006/relationships/image" Target="../media/image350.png"/><Relationship Id="rId9" Type="http://schemas.openxmlformats.org/officeDocument/2006/relationships/image" Target="../media/image32.png"/><Relationship Id="rId14" Type="http://schemas.microsoft.com/office/2007/relationships/hdphoto" Target="../media/hdphoto3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2.png"/><Relationship Id="rId4" Type="http://schemas.openxmlformats.org/officeDocument/2006/relationships/image" Target="../media/image2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jpeg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25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9.png"/><Relationship Id="rId7" Type="http://schemas.openxmlformats.org/officeDocument/2006/relationships/image" Target="../media/image51.sv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31.png"/><Relationship Id="rId5" Type="http://schemas.openxmlformats.org/officeDocument/2006/relationships/image" Target="../media/image45.svg"/><Relationship Id="rId10" Type="http://schemas.openxmlformats.org/officeDocument/2006/relationships/image" Target="../media/image32.png"/><Relationship Id="rId4" Type="http://schemas.openxmlformats.org/officeDocument/2006/relationships/image" Target="../media/image44.png"/><Relationship Id="rId9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g"/><Relationship Id="rId3" Type="http://schemas.openxmlformats.org/officeDocument/2006/relationships/image" Target="../media/image55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hyperlink" Target="https://pixabay.com/en/steel-brushed-metal-metallic-499897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g"/><Relationship Id="rId3" Type="http://schemas.openxmlformats.org/officeDocument/2006/relationships/image" Target="../media/image16.png"/><Relationship Id="rId7" Type="http://schemas.microsoft.com/office/2007/relationships/hdphoto" Target="../media/hdphoto1.wdp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13.png"/><Relationship Id="rId4" Type="http://schemas.openxmlformats.org/officeDocument/2006/relationships/image" Target="../media/image57.png"/><Relationship Id="rId9" Type="http://schemas.openxmlformats.org/officeDocument/2006/relationships/hyperlink" Target="https://pixabay.com/en/steel-brushed-metal-metallic-499897/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1.jpeg"/><Relationship Id="rId10" Type="http://schemas.openxmlformats.org/officeDocument/2006/relationships/image" Target="../media/image330.png"/><Relationship Id="rId9" Type="http://schemas.openxmlformats.org/officeDocument/2006/relationships/image" Target="../media/image60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F7BFC6-A0BB-58CB-0A26-507B2DF051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41DAE65-9B17-4A9F-2325-941B2D69EBC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DA9486-9653-B694-78B7-682A91A09AF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0864453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132B42-5A83-CD1C-3138-E5A71883CF9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5D3E2A-EB1A-E519-8035-46308B11912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97F1B0-9969-DA59-97A2-8D0A1484990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66977" y="1567792"/>
            <a:ext cx="9223365" cy="3893765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BED688C2-27EC-1CC9-1C45-44CE22F4C5C5}"/>
              </a:ext>
            </a:extLst>
          </p:cNvPr>
          <p:cNvSpPr txBox="1"/>
          <p:nvPr/>
        </p:nvSpPr>
        <p:spPr>
          <a:xfrm>
            <a:off x="275753" y="5684494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Mécanique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DF7839-AB8C-91AA-2BAA-AA131B9B5087}"/>
              </a:ext>
            </a:extLst>
          </p:cNvPr>
          <p:cNvSpPr txBox="1"/>
          <p:nvPr/>
        </p:nvSpPr>
        <p:spPr>
          <a:xfrm>
            <a:off x="3556440" y="5680432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Electrique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7BD563-1B6C-5416-34CA-6E55900E6057}"/>
              </a:ext>
            </a:extLst>
          </p:cNvPr>
          <p:cNvSpPr txBox="1"/>
          <p:nvPr/>
        </p:nvSpPr>
        <p:spPr>
          <a:xfrm>
            <a:off x="6835752" y="5676677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Mécanique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63AD95-D14C-F34A-48E2-97755BB48BF1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 flipV="1">
            <a:off x="2299359" y="5865098"/>
            <a:ext cx="1257081" cy="40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A1F7BC-7D33-1FD8-BC5A-59DD38478C06}"/>
              </a:ext>
            </a:extLst>
          </p:cNvPr>
          <p:cNvCxnSpPr>
            <a:cxnSpLocks/>
            <a:stCxn id="34" idx="3"/>
            <a:endCxn id="35" idx="1"/>
          </p:cNvCxnSpPr>
          <p:nvPr/>
        </p:nvCxnSpPr>
        <p:spPr>
          <a:xfrm flipV="1">
            <a:off x="5580046" y="5861343"/>
            <a:ext cx="1255706" cy="37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AE116D-2459-5908-39E1-829F0303733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F83A05-1BA3-3BBB-F8CA-C493B384124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EB65CA-D125-DF0D-791D-D598A63879F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2DAA85FE-E9A6-2776-DCC3-9E5576CFD3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6151352"/>
              </p:ext>
            </p:extLst>
          </p:nvPr>
        </p:nvGraphicFramePr>
        <p:xfrm>
          <a:off x="822961" y="1145570"/>
          <a:ext cx="7586402" cy="4991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569" y="3069000"/>
            <a:ext cx="1022310" cy="72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412" y="4487428"/>
            <a:ext cx="102175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B2680B-8505-F7BE-1729-18B8A8D27FB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809783-6328-4E10-4F41-D622F0977A0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DC8BB3-9BEB-3117-CE7F-F62053D2659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32270" y="3216592"/>
              <a:ext cx="53340" cy="5524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325F84-C41E-3685-D28C-48BE1FA1E6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AD78B9-F0E6-284B-5AA8-0AA2142E618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778A4E-35EB-6E4A-6CDF-BE113766A4A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DD6CC-6B43-2500-B9FA-4614C6915F4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09FC932-BB01-2787-4EE2-43CECB602FE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62086A-4B41-4BA3-55EB-67653790389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1887481" y="4975297"/>
            <a:ext cx="1620000" cy="133371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680681" y="4991720"/>
            <a:ext cx="1620000" cy="13008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C02AE35-C24B-947A-A987-D72795A00587}"/>
                  </a:ext>
                </a:extLst>
              </p:cNvPr>
              <p:cNvSpPr/>
              <p:nvPr/>
            </p:nvSpPr>
            <p:spPr>
              <a:xfrm>
                <a:off x="462440" y="1303262"/>
                <a:ext cx="4496905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C02AE35-C24B-947A-A987-D72795A005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440" y="1303262"/>
                <a:ext cx="4496905" cy="1196158"/>
              </a:xfrm>
              <a:prstGeom prst="rect">
                <a:avLst/>
              </a:prstGeom>
              <a:blipFill>
                <a:blip r:embed="rId3"/>
                <a:stretch>
                  <a:fillRect l="-403" t="-495" b="-495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4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10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AF54CE0-C043-FD62-4A2D-434BEC0C4D72}"/>
                  </a:ext>
                </a:extLst>
              </p:cNvPr>
              <p:cNvSpPr/>
              <p:nvPr/>
            </p:nvSpPr>
            <p:spPr>
              <a:xfrm>
                <a:off x="462440" y="1303262"/>
                <a:ext cx="4496905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AF54CE0-C043-FD62-4A2D-434BEC0C4D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440" y="1303262"/>
                <a:ext cx="4496905" cy="1196158"/>
              </a:xfrm>
              <a:prstGeom prst="rect">
                <a:avLst/>
              </a:prstGeom>
              <a:blipFill>
                <a:blip r:embed="rId10"/>
                <a:stretch>
                  <a:fillRect l="-403" t="-495" b="-495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0686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A3093A-8816-005B-D928-3B44B655C8E2}"/>
              </a:ext>
            </a:extLst>
          </p:cNvPr>
          <p:cNvSpPr/>
          <p:nvPr/>
        </p:nvSpPr>
        <p:spPr>
          <a:xfrm>
            <a:off x="5958063" y="2389099"/>
            <a:ext cx="2878491" cy="3573164"/>
          </a:xfrm>
          <a:prstGeom prst="rect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400" b="1" u="sng" dirty="0">
                <a:solidFill>
                  <a:schemeClr val="tx1"/>
                </a:solidFill>
              </a:rPr>
              <a:t>Nœuds de vibration :</a:t>
            </a: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r>
              <a:rPr lang="fr-FR" sz="1400" b="1" u="sng" dirty="0">
                <a:solidFill>
                  <a:schemeClr val="tx1"/>
                </a:solidFill>
              </a:rPr>
              <a:t>Filtrage en peigne spatial :</a:t>
            </a: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C3E0C0-FBAB-DC78-5B15-476675A96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3726" t="8959" r="3236" b="4515"/>
          <a:stretch>
            <a:fillRect/>
          </a:stretch>
        </p:blipFill>
        <p:spPr>
          <a:xfrm>
            <a:off x="6477938" y="4714645"/>
            <a:ext cx="1798321" cy="3775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2E767F-BD51-8D0B-9969-6D70F4B5BC8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DDA1D4A-27B7-6F42-A30C-F2706A65D33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7F364B-68DD-FD60-EC7D-1F4E45FFE1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/>
              <a:t>La Source du Signal : De l'Onde à la FEM</a:t>
            </a:r>
            <a:endParaRPr lang="fr-FR" sz="2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78491" cy="84849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𝐻𝐵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𝑆𝐶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78491" cy="8484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40B446E-9BC2-8E92-5207-9220276E30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6988242" y="5175132"/>
            <a:ext cx="793915" cy="525312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21575B3-C3E7-D035-FD8D-5A909416EA0A}"/>
              </a:ext>
            </a:extLst>
          </p:cNvPr>
          <p:cNvGrpSpPr/>
          <p:nvPr/>
        </p:nvGrpSpPr>
        <p:grpSpPr>
          <a:xfrm>
            <a:off x="6100686" y="2976560"/>
            <a:ext cx="2593244" cy="1059640"/>
            <a:chOff x="6082122" y="3612551"/>
            <a:chExt cx="2593242" cy="101041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B147258-36F6-4862-BCFA-8C34DAA43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67476" y="3612551"/>
              <a:ext cx="1798320" cy="360000"/>
            </a:xfrm>
            <a:prstGeom prst="rect">
              <a:avLst/>
            </a:prstGeom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6A19C6E1-1347-2947-0051-4E4B5CAD3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6920250" y="3866659"/>
              <a:ext cx="932157" cy="756309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459B7B-7876-DECC-7C5D-6EF7F711F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0935" y="3612551"/>
              <a:ext cx="0" cy="863841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69C823F4-FBD6-6BF7-DDFC-373F3F49B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76827" t="8959" r="3236" b="4515"/>
            <a:stretch>
              <a:fillRect/>
            </a:stretch>
          </p:blipFill>
          <p:spPr>
            <a:xfrm>
              <a:off x="6082122" y="3612551"/>
              <a:ext cx="385354" cy="360000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49EE9B9-324D-BB3C-541F-721FD32B50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75085" b="4515"/>
            <a:stretch>
              <a:fillRect/>
            </a:stretch>
          </p:blipFill>
          <p:spPr>
            <a:xfrm>
              <a:off x="8265796" y="3612551"/>
              <a:ext cx="409568" cy="360000"/>
            </a:xfrm>
            <a:prstGeom prst="rect">
              <a:avLst/>
            </a:prstGeom>
          </p:spPr>
        </p:pic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5BA09B4-C52E-B87A-CF04-8232C165DF35}"/>
              </a:ext>
            </a:extLst>
          </p:cNvPr>
          <p:cNvCxnSpPr>
            <a:cxnSpLocks/>
          </p:cNvCxnSpPr>
          <p:nvPr/>
        </p:nvCxnSpPr>
        <p:spPr>
          <a:xfrm flipV="1">
            <a:off x="7242582" y="4985385"/>
            <a:ext cx="0" cy="696047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93E4C2-FBE4-4065-9278-90914A6ECE32}"/>
              </a:ext>
            </a:extLst>
          </p:cNvPr>
          <p:cNvCxnSpPr>
            <a:cxnSpLocks/>
          </p:cNvCxnSpPr>
          <p:nvPr/>
        </p:nvCxnSpPr>
        <p:spPr>
          <a:xfrm flipV="1">
            <a:off x="7521982" y="4813935"/>
            <a:ext cx="0" cy="867498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6E4C1837-4EBD-8787-1C07-65C9D3DDB5A8}"/>
              </a:ext>
            </a:extLst>
          </p:cNvPr>
          <p:cNvSpPr/>
          <p:nvPr/>
        </p:nvSpPr>
        <p:spPr>
          <a:xfrm>
            <a:off x="1226825" y="5400774"/>
            <a:ext cx="2971796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A1C77BA-55F9-A5A5-C777-7BF0CABA02B9}"/>
              </a:ext>
            </a:extLst>
          </p:cNvPr>
          <p:cNvGrpSpPr/>
          <p:nvPr/>
        </p:nvGrpSpPr>
        <p:grpSpPr>
          <a:xfrm>
            <a:off x="345440" y="1390254"/>
            <a:ext cx="5486411" cy="4572009"/>
            <a:chOff x="345440" y="1390254"/>
            <a:chExt cx="5486411" cy="457200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7D0547-D387-B897-E456-A805D590BB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5440" y="1390254"/>
              <a:ext cx="5486411" cy="457200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1526FE5-B9B6-7D56-BB70-BA9F289D6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8621" y="1944624"/>
              <a:ext cx="0" cy="352385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72EACD1-D0B6-DC55-3E77-2CB706E83160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226825" y="5449034"/>
              <a:ext cx="2971796" cy="0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8B4C1CC-7E38-8787-C6B7-557E5FD2D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2413" y="2615184"/>
              <a:ext cx="0" cy="285329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F753BD3-78F0-43C9-32B1-67B3644D3C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825" y="1927450"/>
              <a:ext cx="0" cy="78134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52E0894-8D5D-CD84-E4C4-5A790B367E03}"/>
                </a:ext>
              </a:extLst>
            </p:cNvPr>
            <p:cNvSpPr txBox="1"/>
            <p:nvPr/>
          </p:nvSpPr>
          <p:spPr>
            <a:xfrm>
              <a:off x="1929209" y="5188151"/>
              <a:ext cx="15670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rgbClr val="C00000"/>
                  </a:solidFill>
                </a:rPr>
                <a:t>Domaine accessible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4004-9B2E-DD4A-4859-A8D656EC0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09F839-87D8-6E51-8748-E9921B2F405E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3CBB408-E8AA-1955-5B98-9657BF097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4FF6FC8-5863-8E0E-875E-577DE4F28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4C0160A-1BCE-8E4B-8157-3B7B617E5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960BFE-88D3-4C75-E19E-5C564E9F11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1326313-ADEF-F23C-3C90-7105EE95856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4576FF-B4FF-C1A4-97D9-A2776B13925C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/>
              <a:t>La Source du Signal : De l'Onde à la FEM</a:t>
            </a:r>
            <a:endParaRPr lang="fr-FR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B88E09D-A3B8-2779-F9F9-6E3FA4BEA3F5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𝑡h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=440,0 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=470±40 </m:t>
                      </m:r>
                      <m:r>
                        <a:rPr lang="fr-FR" sz="1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B88E09D-A3B8-2779-F9F9-6E3FA4BEA3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EF9F92BE-2C3C-10B6-9EC6-D4DA4EBD3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E1F0E28-741C-2180-8FC3-00BEBA3E1E4F}"/>
                  </a:ext>
                </a:extLst>
              </p:cNvPr>
              <p:cNvSpPr/>
              <p:nvPr/>
            </p:nvSpPr>
            <p:spPr>
              <a:xfrm>
                <a:off x="366090" y="2719137"/>
                <a:ext cx="4205910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|440 −470|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440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=6,8%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d’un gradient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des 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Echantillonnage faible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Incertitudes de mesure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E1F0E28-741C-2180-8FC3-00BEBA3E1E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90" y="2719137"/>
                <a:ext cx="4205910" cy="3417503"/>
              </a:xfrm>
              <a:prstGeom prst="rect">
                <a:avLst/>
              </a:prstGeom>
              <a:blipFill>
                <a:blip r:embed="rId6"/>
                <a:stretch>
                  <a:fillRect l="-287" b="-35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0F33BE7-0DDE-0913-8B55-BBD5E04C7D4F}"/>
                  </a:ext>
                </a:extLst>
              </p:cNvPr>
              <p:cNvSpPr/>
              <p:nvPr/>
            </p:nvSpPr>
            <p:spPr>
              <a:xfrm>
                <a:off x="366090" y="1390255"/>
                <a:ext cx="4205910" cy="1180760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0F33BE7-0DDE-0913-8B55-BBD5E04C7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90" y="1390255"/>
                <a:ext cx="4205910" cy="1180760"/>
              </a:xfrm>
              <a:prstGeom prst="rect">
                <a:avLst/>
              </a:prstGeom>
              <a:blipFill>
                <a:blip r:embed="rId7"/>
                <a:stretch>
                  <a:fillRect l="-287" t="-1000" b="-550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FC0300D-9B2F-1B83-6F83-E46D0C5AF484}"/>
              </a:ext>
            </a:extLst>
          </p:cNvPr>
          <p:cNvGrpSpPr/>
          <p:nvPr/>
        </p:nvGrpSpPr>
        <p:grpSpPr>
          <a:xfrm>
            <a:off x="4842541" y="2719137"/>
            <a:ext cx="3806562" cy="3417503"/>
            <a:chOff x="345440" y="1390254"/>
            <a:chExt cx="5486411" cy="457200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6999F5B-4EB9-DCB7-CF82-9D49CF4D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5440" y="1390254"/>
              <a:ext cx="5486411" cy="457200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2E4684E-3B1E-F148-8F38-8E1DDC39D9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8621" y="1944624"/>
              <a:ext cx="0" cy="352385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83ECB57-D766-1B5E-A07F-83ABB8EC4075}"/>
                </a:ext>
              </a:extLst>
            </p:cNvPr>
            <p:cNvCxnSpPr>
              <a:cxnSpLocks/>
            </p:cNvCxnSpPr>
            <p:nvPr/>
          </p:nvCxnSpPr>
          <p:spPr>
            <a:xfrm>
              <a:off x="1226825" y="5449034"/>
              <a:ext cx="2971796" cy="0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25544A-CC67-ABCD-2437-AB39E595DB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2413" y="2615184"/>
              <a:ext cx="0" cy="285329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B2F1CE9-BFF5-D325-157A-A8BCF5288D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6825" y="1927450"/>
              <a:ext cx="0" cy="78134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D312D07-4131-3A4E-5000-D673BE3AE5CB}"/>
                </a:ext>
              </a:extLst>
            </p:cNvPr>
            <p:cNvSpPr txBox="1"/>
            <p:nvPr/>
          </p:nvSpPr>
          <p:spPr>
            <a:xfrm>
              <a:off x="1533779" y="5097903"/>
              <a:ext cx="2357885" cy="370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rgbClr val="C00000"/>
                  </a:solidFill>
                </a:rPr>
                <a:t>Domaine accessible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0017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79" y="3949559"/>
            <a:ext cx="1696717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  <a:endCxn id="20" idx="3"/>
          </p:cNvCxnSpPr>
          <p:nvPr/>
        </p:nvCxnSpPr>
        <p:spPr>
          <a:xfrm>
            <a:off x="5758180" y="3992104"/>
            <a:ext cx="1696716" cy="571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823022" y="3717290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45490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79" y="2945130"/>
            <a:ext cx="1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</p:cNvCxnSpPr>
          <p:nvPr/>
        </p:nvCxnSpPr>
        <p:spPr>
          <a:xfrm flipV="1">
            <a:off x="745490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1839139" y="657537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223972" y="3595922"/>
            <a:ext cx="1154232" cy="1414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525532" y="4255954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24074" y="4527051"/>
            <a:ext cx="1036591" cy="1024010"/>
          </a:xfrm>
          <a:prstGeom prst="bentConnector3">
            <a:avLst>
              <a:gd name="adj1" fmla="val 1961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678638" y="4956566"/>
            <a:ext cx="964034" cy="116808"/>
          </a:xfrm>
          <a:prstGeom prst="bentConnector3">
            <a:avLst>
              <a:gd name="adj1" fmla="val 20491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099361" y="3136255"/>
            <a:ext cx="1167610" cy="10717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283309" y="2383134"/>
            <a:ext cx="1609558" cy="512085"/>
          </a:xfrm>
          <a:prstGeom prst="bentConnector3">
            <a:avLst>
              <a:gd name="adj1" fmla="val 99895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5936658" y="1173542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1404620" y="3077337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1EFDBD-E61E-278F-44CD-F2CF49819FCC}"/>
                  </a:ext>
                </a:extLst>
              </p:cNvPr>
              <p:cNvSpPr txBox="1"/>
              <p:nvPr/>
            </p:nvSpPr>
            <p:spPr>
              <a:xfrm>
                <a:off x="5472068" y="4108011"/>
                <a:ext cx="3596562" cy="638445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1EFDBD-E61E-278F-44CD-F2CF49819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068" y="4108011"/>
                <a:ext cx="3596562" cy="6384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088521" y="4243762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4081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1,76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0,69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8,1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2DC73D-1732-F977-8F7D-223DC979BF1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068B2A-8675-02D4-8176-105A1484F0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7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345441" y="1390254"/>
                <a:ext cx="4226560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parfaits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41" y="1390254"/>
                <a:ext cx="4226560" cy="1196158"/>
              </a:xfrm>
              <a:prstGeom prst="rect">
                <a:avLst/>
              </a:prstGeom>
              <a:blipFill>
                <a:blip r:embed="rId5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366090" y="2719137"/>
                <a:ext cx="4205910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8,1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d’un gradient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Incertitudes de mesure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90" y="2719137"/>
                <a:ext cx="4205910" cy="3417503"/>
              </a:xfrm>
              <a:prstGeom prst="rect">
                <a:avLst/>
              </a:prstGeom>
              <a:blipFill>
                <a:blip r:embed="rId6"/>
                <a:stretch>
                  <a:fillRect l="-287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=8,1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1508517"/>
                  </p:ext>
                </p:extLst>
              </p:nvPr>
            </p:nvGraphicFramePr>
            <p:xfrm>
              <a:off x="366090" y="1156334"/>
              <a:ext cx="8424000" cy="4763072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en peigne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=440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=470±40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=6,8 %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Filtrage RLC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𝑇h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=8 219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=…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𝑐𝑆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=… %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𝑇h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=4 502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=…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𝑐𝐻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=… %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Annulation des bruits parasite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1508517"/>
                  </p:ext>
                </p:extLst>
              </p:nvPr>
            </p:nvGraphicFramePr>
            <p:xfrm>
              <a:off x="366090" y="1156334"/>
              <a:ext cx="8424000" cy="4763072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en peigne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1082612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71348" r="-223" b="-2719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Filtrage RLC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92251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24540" r="-102041" b="-1595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24540" r="-223" b="-1595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Annulation des bruits parasite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41168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4423983"/>
            <a:ext cx="288000" cy="288000"/>
          </a:xfrm>
          <a:prstGeom prst="rect">
            <a:avLst/>
          </a:prstGeom>
        </p:spPr>
      </p:pic>
      <p:pic>
        <p:nvPicPr>
          <p:cNvPr id="14" name="Graphic 13" descr="Warning with solid fill">
            <a:extLst>
              <a:ext uri="{FF2B5EF4-FFF2-40B4-BE49-F238E27FC236}">
                <a16:creationId xmlns:a16="http://schemas.microsoft.com/office/drawing/2014/main" id="{3BB5C535-4333-776E-D945-A6D5630016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5344" y="1532372"/>
            <a:ext cx="360000" cy="360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5344" y="2974968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3010360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36000" y="4392826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92" y="3361216"/>
            <a:ext cx="1313737" cy="98530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0941" y="1903257"/>
            <a:ext cx="1258241" cy="104853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047" y="4992746"/>
            <a:ext cx="1102025" cy="91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6166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P. Perov, W. Johnson et N. Perova-Mello, "The physics of guitar string vibrations", </a:t>
            </a:r>
            <a:r>
              <a:rPr lang="en-GB" sz="1400" i="1" dirty="0"/>
              <a:t>American Journal of Physics</a:t>
            </a:r>
            <a:r>
              <a:rPr lang="en-GB" sz="1400" dirty="0"/>
              <a:t>, vol. 84, no. 1, pp. 38–43, 2016.</a:t>
            </a:r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Micro Simple </a:t>
            </a:r>
            <a:r>
              <a:rPr lang="fr-FR" sz="1000" i="1" dirty="0"/>
              <a:t>cf. [4]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Humbucker </a:t>
            </a:r>
            <a:r>
              <a:rPr lang="fr-FR" sz="1000" i="1" dirty="0"/>
              <a:t>cf. [4]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3449</Words>
  <Application>Microsoft Office PowerPoint</Application>
  <PresentationFormat>On-screen Show (4:3)</PresentationFormat>
  <Paragraphs>646</Paragraphs>
  <Slides>39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514</cp:revision>
  <dcterms:created xsi:type="dcterms:W3CDTF">2025-06-09T15:35:56Z</dcterms:created>
  <dcterms:modified xsi:type="dcterms:W3CDTF">2025-12-07T18:43:45Z</dcterms:modified>
</cp:coreProperties>
</file>