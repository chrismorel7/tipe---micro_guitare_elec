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35"/>
  </p:notesMasterIdLst>
  <p:sldIdLst>
    <p:sldId id="256" r:id="rId2"/>
    <p:sldId id="265" r:id="rId3"/>
    <p:sldId id="278" r:id="rId4"/>
    <p:sldId id="319" r:id="rId5"/>
    <p:sldId id="320" r:id="rId6"/>
    <p:sldId id="329" r:id="rId7"/>
    <p:sldId id="327" r:id="rId8"/>
    <p:sldId id="328" r:id="rId9"/>
    <p:sldId id="333" r:id="rId10"/>
    <p:sldId id="289" r:id="rId11"/>
    <p:sldId id="324" r:id="rId12"/>
    <p:sldId id="313" r:id="rId13"/>
    <p:sldId id="315" r:id="rId14"/>
    <p:sldId id="325" r:id="rId15"/>
    <p:sldId id="326" r:id="rId16"/>
    <p:sldId id="318" r:id="rId17"/>
    <p:sldId id="330" r:id="rId18"/>
    <p:sldId id="332" r:id="rId19"/>
    <p:sldId id="303" r:id="rId20"/>
    <p:sldId id="271" r:id="rId21"/>
    <p:sldId id="302" r:id="rId22"/>
    <p:sldId id="272" r:id="rId23"/>
    <p:sldId id="277" r:id="rId24"/>
    <p:sldId id="304" r:id="rId25"/>
    <p:sldId id="305" r:id="rId26"/>
    <p:sldId id="311" r:id="rId27"/>
    <p:sldId id="275" r:id="rId28"/>
    <p:sldId id="306" r:id="rId29"/>
    <p:sldId id="307" r:id="rId30"/>
    <p:sldId id="308" r:id="rId31"/>
    <p:sldId id="309" r:id="rId32"/>
    <p:sldId id="317" r:id="rId33"/>
    <p:sldId id="310" r:id="rId3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9AD7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591" autoAdjust="0"/>
    <p:restoredTop sz="94660"/>
  </p:normalViewPr>
  <p:slideViewPr>
    <p:cSldViewPr snapToGrid="0">
      <p:cViewPr varScale="1">
        <p:scale>
          <a:sx n="96" d="100"/>
          <a:sy n="96" d="100"/>
        </p:scale>
        <p:origin x="1205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04/12/2025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2547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E19CC-8F2E-E730-26C5-50B131335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5DB5F9-19A2-8239-EF2B-F99FDE45A3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959BC5-E338-8D25-9AFB-D31191AB4E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1B000-4390-D34E-E236-7CDF47B3F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91882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4D29C-73BD-360B-8B2C-1EB9D41DB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7A5AA6-FF0C-E4C0-1234-51AD20A0D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AD2513-005E-DAD7-8232-7A0A28F4FE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B70D1-4C8C-6971-8430-6A40F10626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49116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5D8-B5ED-3A5C-25AA-355EA5002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B50A7-9125-FF61-C35A-0BAAB7787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5A70C6-EF27-F3BA-F99C-2D1A0396CC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5F1CD-8CD2-A36F-E4D6-6DC1E0CE9B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11832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89500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58756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3E781-A695-B7FC-6DB0-CF193AF07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20711D-7ECF-FC28-ED1A-352D619CB7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495E39-2033-A503-F7AC-707428C197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7F9D26-802A-7E8E-AC92-2233882F20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96485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1384A-A5F4-2113-DF8F-E79B5DD1F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730884-3750-BE92-616E-082925A1A3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FC2C82-C17B-FACB-9DA2-613B40E5F3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447E1A-7E78-B66A-6F8A-857ABC46C4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67197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155E5-34B6-A91D-57BA-0BA2E1F31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01174F-4483-8765-082B-6AD2078559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92B9F3-31ED-588E-D434-8E1DD34597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6CEEC3-FD3F-2A98-CBC3-30A11301AE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33473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1A336-7D3A-EAE6-9F30-4197D11A6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056105-101D-4ABB-45A9-D39435CADC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8C566F-8BBA-5FAB-C7D8-8B782678D9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6955B-7625-293A-C6C0-9FA48F69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03525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68223-7DFD-0D21-D7EC-62C40A069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D80178-C29F-9ED1-AB2E-1A23E724ED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F3AB22-4785-6D82-DB41-E09BD8C82E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98C176-7525-AF6F-7EA6-FDB2EF8C95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244762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 : Equation de mouvement de la corde</a:t>
            </a:r>
          </a:p>
          <a:p>
            <a:r>
              <a:rPr lang="fr-FR" dirty="0"/>
              <a:t>2 : Idée Maquette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5619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418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5ED6C1-DF65-4C3D-95EC-D70608AAA3C4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B86B1-2FD3-4CA5-8239-1A8209C0D65D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728CC-344B-4F9F-8F06-DCB25AAD3016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731E3-653D-4AE6-839A-BD9352A17844}" type="datetimeyyyy">
              <a:rPr lang="fr-FR" smtClean="0"/>
              <a:t>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04262-3B58-4BC7-82BE-F2E68D572EE5}" type="datetimeyyyy">
              <a:rPr lang="fr-FR" smtClean="0"/>
              <a:t>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63077A-C1FF-4E90-A404-D2B4139D3617}" type="datetimeyyyy">
              <a:rPr lang="fr-FR" smtClean="0"/>
              <a:t>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6374-B7DC-4A12-A9D3-587D4C7D23D9}" type="datetimeyyyy">
              <a:rPr lang="fr-FR" smtClean="0"/>
              <a:t>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fld id="{7AAD380C-BC49-4A61-A36F-E19219AC949E}" type="datetimeyyyy">
              <a:rPr lang="fr-FR" smtClean="0"/>
              <a:t>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07B14-DD9D-4F73-A9C3-3F01A5176729}" type="datetimeyyyy">
              <a:rPr lang="fr-FR" smtClean="0"/>
              <a:t>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51351-39B1-4FD8-B856-385FF7D3785D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3F95-9B7C-43C3-8C95-9BB94EDB1255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1180C59D-6665-4BCA-9876-120F568073D9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6.png"/><Relationship Id="rId4" Type="http://schemas.openxmlformats.org/officeDocument/2006/relationships/image" Target="../media/image4.jpe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5.png"/><Relationship Id="rId7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6.png"/><Relationship Id="rId9" Type="http://schemas.openxmlformats.org/officeDocument/2006/relationships/image" Target="../media/image4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jpeg"/><Relationship Id="rId9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23.png"/><Relationship Id="rId5" Type="http://schemas.openxmlformats.org/officeDocument/2006/relationships/image" Target="../media/image25.png"/><Relationship Id="rId10" Type="http://schemas.openxmlformats.org/officeDocument/2006/relationships/image" Target="../media/image22.png"/><Relationship Id="rId4" Type="http://schemas.openxmlformats.org/officeDocument/2006/relationships/image" Target="../media/image18.jpeg"/><Relationship Id="rId9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8.png"/><Relationship Id="rId7" Type="http://schemas.microsoft.com/office/2007/relationships/hdphoto" Target="../media/hdphoto1.wdp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18.jpeg"/><Relationship Id="rId4" Type="http://schemas.openxmlformats.org/officeDocument/2006/relationships/image" Target="../media/image29.png"/><Relationship Id="rId9" Type="http://schemas.microsoft.com/office/2007/relationships/hdphoto" Target="../media/hdphoto2.wdp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13" Type="http://schemas.openxmlformats.org/officeDocument/2006/relationships/image" Target="../media/image34.png"/><Relationship Id="rId18" Type="http://schemas.openxmlformats.org/officeDocument/2006/relationships/image" Target="../media/image340.png"/><Relationship Id="rId3" Type="http://schemas.openxmlformats.org/officeDocument/2006/relationships/image" Target="../media/image4.jpeg"/><Relationship Id="rId12" Type="http://schemas.openxmlformats.org/officeDocument/2006/relationships/image" Target="../media/image18.jpeg"/><Relationship Id="rId17" Type="http://schemas.openxmlformats.org/officeDocument/2006/relationships/image" Target="../media/image331.png"/><Relationship Id="rId2" Type="http://schemas.openxmlformats.org/officeDocument/2006/relationships/notesSlide" Target="../notesSlides/notesSlide5.xml"/><Relationship Id="rId16" Type="http://schemas.microsoft.com/office/2007/relationships/hdphoto" Target="../media/hdphoto4.wdp"/><Relationship Id="rId20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33.png"/><Relationship Id="rId15" Type="http://schemas.openxmlformats.org/officeDocument/2006/relationships/image" Target="../media/image35.png"/><Relationship Id="rId10" Type="http://schemas.openxmlformats.org/officeDocument/2006/relationships/image" Target="../media/image292.png"/><Relationship Id="rId19" Type="http://schemas.openxmlformats.org/officeDocument/2006/relationships/image" Target="../media/image350.png"/><Relationship Id="rId9" Type="http://schemas.openxmlformats.org/officeDocument/2006/relationships/image" Target="../media/image32.png"/><Relationship Id="rId14" Type="http://schemas.microsoft.com/office/2007/relationships/hdphoto" Target="../media/hdphoto3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4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38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0.png"/><Relationship Id="rId5" Type="http://schemas.openxmlformats.org/officeDocument/2006/relationships/image" Target="../media/image42.png"/><Relationship Id="rId4" Type="http://schemas.openxmlformats.org/officeDocument/2006/relationships/image" Target="../media/image18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4.png"/><Relationship Id="rId4" Type="http://schemas.openxmlformats.org/officeDocument/2006/relationships/image" Target="../media/image18.jpe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0.png"/><Relationship Id="rId3" Type="http://schemas.openxmlformats.org/officeDocument/2006/relationships/image" Target="../media/image45.png"/><Relationship Id="rId7" Type="http://schemas.openxmlformats.org/officeDocument/2006/relationships/image" Target="../media/image44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1.png"/><Relationship Id="rId5" Type="http://schemas.openxmlformats.org/officeDocument/2006/relationships/image" Target="../media/image46.png"/><Relationship Id="rId4" Type="http://schemas.openxmlformats.org/officeDocument/2006/relationships/image" Target="../media/image18.jpeg"/><Relationship Id="rId9" Type="http://schemas.openxmlformats.org/officeDocument/2006/relationships/image" Target="../media/image46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jpeg"/><Relationship Id="rId4" Type="http://schemas.openxmlformats.org/officeDocument/2006/relationships/image" Target="../media/image48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svg"/><Relationship Id="rId3" Type="http://schemas.openxmlformats.org/officeDocument/2006/relationships/image" Target="../media/image49.pn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10" Type="http://schemas.openxmlformats.org/officeDocument/2006/relationships/image" Target="../media/image55.svg"/><Relationship Id="rId4" Type="http://schemas.openxmlformats.org/officeDocument/2006/relationships/image" Target="../media/image28.png"/><Relationship Id="rId9" Type="http://schemas.openxmlformats.org/officeDocument/2006/relationships/image" Target="../media/image5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ymourduncan.com/blog/latest-updates/seymour-w-duncans-interview-with-seth-lover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3" Type="http://schemas.openxmlformats.org/officeDocument/2006/relationships/image" Target="../media/image270.png"/><Relationship Id="rId7" Type="http://schemas.openxmlformats.org/officeDocument/2006/relationships/image" Target="../media/image30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3" Type="http://schemas.openxmlformats.org/officeDocument/2006/relationships/image" Target="../media/image320.png"/><Relationship Id="rId7" Type="http://schemas.openxmlformats.org/officeDocument/2006/relationships/image" Target="../media/image30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0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3" Type="http://schemas.openxmlformats.org/officeDocument/2006/relationships/image" Target="../media/image440.png"/><Relationship Id="rId7" Type="http://schemas.openxmlformats.org/officeDocument/2006/relationships/image" Target="../media/image301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1.png"/><Relationship Id="rId11" Type="http://schemas.openxmlformats.org/officeDocument/2006/relationships/image" Target="../media/image61.jpeg"/><Relationship Id="rId10" Type="http://schemas.openxmlformats.org/officeDocument/2006/relationships/image" Target="../media/image330.png"/><Relationship Id="rId9" Type="http://schemas.openxmlformats.org/officeDocument/2006/relationships/image" Target="../media/image60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60.svg"/><Relationship Id="rId4" Type="http://schemas.openxmlformats.org/officeDocument/2006/relationships/image" Target="../media/image5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0.png"/><Relationship Id="rId5" Type="http://schemas.openxmlformats.org/officeDocument/2006/relationships/image" Target="../media/image490.png"/><Relationship Id="rId4" Type="http://schemas.openxmlformats.org/officeDocument/2006/relationships/image" Target="../media/image48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0.svg"/><Relationship Id="rId4" Type="http://schemas.openxmlformats.org/officeDocument/2006/relationships/image" Target="../media/image5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A121F9-7273-1CF4-F60D-E01BEEB3AF96}"/>
              </a:ext>
            </a:extLst>
          </p:cNvPr>
          <p:cNvSpPr/>
          <p:nvPr/>
        </p:nvSpPr>
        <p:spPr>
          <a:xfrm>
            <a:off x="628649" y="262383"/>
            <a:ext cx="7886701" cy="775252"/>
          </a:xfrm>
          <a:prstGeom prst="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50" dirty="0">
                <a:latin typeface="Arial Black" panose="020B0A04020102020204" pitchFamily="34" charset="0"/>
              </a:rPr>
              <a:t>Loi d’induction de Faraday : Le fonctionnement d’une guitare électrique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5CA91E38-0C9E-C7FB-9A24-FA98AC9C8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825FA-2A0E-4654-B5F2-5D1E0EB7A14E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1FCC0EF-4B1B-F41C-656B-2BE699CDE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305C624-2E1B-C39E-B3B4-807FF6A6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</a:t>
            </a:fld>
            <a:endParaRPr lang="fr-FR" b="1" dirty="0"/>
          </a:p>
        </p:txBody>
      </p:sp>
      <p:pic>
        <p:nvPicPr>
          <p:cNvPr id="1026" name="Picture 2" descr="Guitare, La Musique, Guitare Électrique">
            <a:extLst>
              <a:ext uri="{FF2B5EF4-FFF2-40B4-BE49-F238E27FC236}">
                <a16:creationId xmlns:a16="http://schemas.microsoft.com/office/drawing/2014/main" id="{0098F414-3793-7E07-8CE1-A5A56D7C25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1" b="423"/>
          <a:stretch>
            <a:fillRect/>
          </a:stretch>
        </p:blipFill>
        <p:spPr bwMode="auto">
          <a:xfrm>
            <a:off x="628662" y="1210868"/>
            <a:ext cx="7886688" cy="482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7878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AE0E-A710-B751-21D5-1465D9560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CE604F-6BFC-79C1-4FC3-CA1EA535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D9057-C298-4BD1-8DA1-CF9133EC6258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9A119C-A152-8451-8BAD-3058A883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BA6762A-3000-D56B-00BC-9C877DB75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1B7045-CF40-0E65-A5C7-9FB0BF30525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0A1813A-2397-9FF3-55B4-A7083DA4BF3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3AB908-2C09-A846-F7C5-107A095B6297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Problématique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896A7184-965A-9FF1-E334-6E9025994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019" y="2253924"/>
            <a:ext cx="7425344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000" dirty="0"/>
              <a:t>Comment </a:t>
            </a:r>
            <a:r>
              <a:rPr lang="fr-FR" sz="2000" b="1" dirty="0"/>
              <a:t>le type de micro </a:t>
            </a:r>
            <a:r>
              <a:rPr lang="fr-FR" sz="2000" dirty="0"/>
              <a:t>influence-t-il le </a:t>
            </a:r>
            <a:r>
              <a:rPr lang="fr-FR" sz="2000" b="1" dirty="0"/>
              <a:t>timbre</a:t>
            </a:r>
            <a:r>
              <a:rPr lang="fr-FR" sz="2000" dirty="0"/>
              <a:t> et </a:t>
            </a:r>
            <a:r>
              <a:rPr lang="fr-FR" sz="2000" b="1" dirty="0"/>
              <a:t>la qualité</a:t>
            </a:r>
            <a:r>
              <a:rPr lang="fr-FR" sz="2000" dirty="0"/>
              <a:t> du </a:t>
            </a:r>
            <a:r>
              <a:rPr lang="fr-FR" sz="2000" b="1" dirty="0"/>
              <a:t>son</a:t>
            </a:r>
            <a:r>
              <a:rPr lang="fr-FR" sz="2000" dirty="0"/>
              <a:t> d’une guitare électrique ?</a:t>
            </a:r>
            <a:endParaRPr kumimoji="0" lang="fr-FR" altLang="fr-FR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4EE9D4-1D4E-E6DD-563B-928B9E769F11}"/>
              </a:ext>
            </a:extLst>
          </p:cNvPr>
          <p:cNvSpPr txBox="1"/>
          <p:nvPr/>
        </p:nvSpPr>
        <p:spPr>
          <a:xfrm>
            <a:off x="822961" y="4436823"/>
            <a:ext cx="3749039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SingleCoil </a:t>
            </a:r>
          </a:p>
          <a:p>
            <a:pPr algn="ctr"/>
            <a:r>
              <a:rPr lang="fr-FR" dirty="0"/>
              <a:t>(ou simple bobinage)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7F5EE0-EFED-C507-DAB9-15D261AF6049}"/>
              </a:ext>
            </a:extLst>
          </p:cNvPr>
          <p:cNvSpPr txBox="1"/>
          <p:nvPr/>
        </p:nvSpPr>
        <p:spPr>
          <a:xfrm>
            <a:off x="4572000" y="4436823"/>
            <a:ext cx="3837363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Humbucker </a:t>
            </a:r>
          </a:p>
          <a:p>
            <a:pPr algn="ctr"/>
            <a:r>
              <a:rPr lang="fr-FR" dirty="0"/>
              <a:t>(ou double bobinage)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DBB3E-CACA-593E-E545-39E8047A68D3}"/>
              </a:ext>
            </a:extLst>
          </p:cNvPr>
          <p:cNvSpPr txBox="1"/>
          <p:nvPr/>
        </p:nvSpPr>
        <p:spPr>
          <a:xfrm>
            <a:off x="2802834" y="3896190"/>
            <a:ext cx="3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Types de micro :</a:t>
            </a:r>
          </a:p>
        </p:txBody>
      </p:sp>
    </p:spTree>
    <p:extLst>
      <p:ext uri="{BB962C8B-B14F-4D97-AF65-F5344CB8AC3E}">
        <p14:creationId xmlns:p14="http://schemas.microsoft.com/office/powerpoint/2010/main" val="1424046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EB8DB-462A-9B19-1F31-BB4FD26B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94FB20C-02CF-35BD-3AB9-670C42C7A9C6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3826A0B5-B36F-12CC-DCD6-3CA441DB41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2302" y="1528936"/>
            <a:ext cx="2143308" cy="3904140"/>
          </a:xfrm>
          <a:prstGeom prst="rect">
            <a:avLst/>
          </a:prstGeom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EDDED1E-275F-6831-62E9-95476B043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2C20-E639-4967-B5FE-0B42AF0B709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1D5E31-18D5-EFA4-FF70-9C214035B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16D650-4C5C-541D-6925-FDAE466CB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488C05C-557A-D965-1B57-D283BF34BE5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018A027-1E36-7A49-BFE5-C63B39A43736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AD89E9-806A-4E89-859A-696AFF1D31B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Comment fonctionne une guitare électrique ?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92E8534-760B-A9A0-98A4-5631C1A1EEAC}"/>
              </a:ext>
            </a:extLst>
          </p:cNvPr>
          <p:cNvGrpSpPr>
            <a:grpSpLocks noChangeAspect="1"/>
          </p:cNvGrpSpPr>
          <p:nvPr/>
        </p:nvGrpSpPr>
        <p:grpSpPr>
          <a:xfrm>
            <a:off x="345440" y="1591032"/>
            <a:ext cx="4008672" cy="3600000"/>
            <a:chOff x="-34756" y="1586102"/>
            <a:chExt cx="4415870" cy="3965686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4E26F642-1EDB-D9D0-339B-2432C09158E6}"/>
                </a:ext>
              </a:extLst>
            </p:cNvPr>
            <p:cNvGrpSpPr/>
            <p:nvPr/>
          </p:nvGrpSpPr>
          <p:grpSpPr>
            <a:xfrm>
              <a:off x="-34756" y="1586102"/>
              <a:ext cx="4415870" cy="3960146"/>
              <a:chOff x="-34756" y="1586102"/>
              <a:chExt cx="4415870" cy="3960146"/>
            </a:xfrm>
          </p:grpSpPr>
          <p:pic>
            <p:nvPicPr>
              <p:cNvPr id="11" name="Picture 2" descr="5 Best Humbuckers: Gear Guide to Amazing Pickups | Equipboard®">
                <a:extLst>
                  <a:ext uri="{FF2B5EF4-FFF2-40B4-BE49-F238E27FC236}">
                    <a16:creationId xmlns:a16="http://schemas.microsoft.com/office/drawing/2014/main" id="{EF933A2A-B5DF-0F82-4FC8-301F3207B1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2666" t="-7130" r="-141" b="-876"/>
              <a:stretch>
                <a:fillRect/>
              </a:stretch>
            </p:blipFill>
            <p:spPr bwMode="auto">
              <a:xfrm>
                <a:off x="2743124" y="4230934"/>
                <a:ext cx="1637990" cy="1315314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6" name="Picture 2" descr="5 Best Humbuckers: Gear Guide to Amazing Pickups | Equipboard®">
                <a:extLst>
                  <a:ext uri="{FF2B5EF4-FFF2-40B4-BE49-F238E27FC236}">
                    <a16:creationId xmlns:a16="http://schemas.microsoft.com/office/drawing/2014/main" id="{D101A5E5-BA4D-16F2-BED9-3954FE2B9AF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83" t="-8093" r="50325" b="-7437"/>
              <a:stretch>
                <a:fillRect/>
              </a:stretch>
            </p:blipFill>
            <p:spPr bwMode="auto">
              <a:xfrm>
                <a:off x="2743124" y="2567897"/>
                <a:ext cx="1637990" cy="1406367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2" name="Picture 8">
                <a:extLst>
                  <a:ext uri="{FF2B5EF4-FFF2-40B4-BE49-F238E27FC236}">
                    <a16:creationId xmlns:a16="http://schemas.microsoft.com/office/drawing/2014/main" id="{A86E6CB6-2C7D-D59A-DF2C-EA03047A1D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87223">
                <a:off x="-34756" y="1586102"/>
                <a:ext cx="3569635" cy="356963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3" name="Connector: Curved 12">
                <a:extLst>
                  <a:ext uri="{FF2B5EF4-FFF2-40B4-BE49-F238E27FC236}">
                    <a16:creationId xmlns:a16="http://schemas.microsoft.com/office/drawing/2014/main" id="{9CC502A0-585D-65D8-BE79-3175E05CA0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47764" y="3268687"/>
                <a:ext cx="1252330" cy="846112"/>
              </a:xfrm>
              <a:prstGeom prst="curved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Connector: Curved 16">
                <a:extLst>
                  <a:ext uri="{FF2B5EF4-FFF2-40B4-BE49-F238E27FC236}">
                    <a16:creationId xmlns:a16="http://schemas.microsoft.com/office/drawing/2014/main" id="{8EFCF990-1181-93F4-481C-E26808409BF1}"/>
                  </a:ext>
                </a:extLst>
              </p:cNvPr>
              <p:cNvCxnSpPr>
                <a:cxnSpLocks/>
                <a:endCxn id="11" idx="2"/>
              </p:cNvCxnSpPr>
              <p:nvPr/>
            </p:nvCxnSpPr>
            <p:spPr>
              <a:xfrm>
                <a:off x="1210381" y="4529667"/>
                <a:ext cx="1532743" cy="358924"/>
              </a:xfrm>
              <a:prstGeom prst="curved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3B270C04-EA57-651F-EDDD-A94BAC32E88F}"/>
                </a:ext>
              </a:extLst>
            </p:cNvPr>
            <p:cNvSpPr/>
            <p:nvPr/>
          </p:nvSpPr>
          <p:spPr>
            <a:xfrm>
              <a:off x="3031428" y="3654767"/>
              <a:ext cx="1018352" cy="10801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b="1" dirty="0">
                  <a:solidFill>
                    <a:schemeClr val="tx1"/>
                  </a:solidFill>
                </a:rPr>
                <a:t>Micro Simple Bobinage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071E06E-24A1-72B4-FDB8-7EF1C91610E7}"/>
                </a:ext>
              </a:extLst>
            </p:cNvPr>
            <p:cNvSpPr txBox="1"/>
            <p:nvPr/>
          </p:nvSpPr>
          <p:spPr>
            <a:xfrm>
              <a:off x="115978" y="5305567"/>
              <a:ext cx="204994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dirty="0"/>
                <a:t>Source image : Ibanez.com</a:t>
              </a: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6A79489E-50A5-06BD-6981-9FF739B9AAEE}"/>
              </a:ext>
            </a:extLst>
          </p:cNvPr>
          <p:cNvSpPr txBox="1"/>
          <p:nvPr/>
        </p:nvSpPr>
        <p:spPr>
          <a:xfrm>
            <a:off x="7918934" y="1263971"/>
            <a:ext cx="769917" cy="338554"/>
          </a:xfrm>
          <a:prstGeom prst="rect">
            <a:avLst/>
          </a:prstGeom>
          <a:noFill/>
          <a:ln w="19050"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Corde</a:t>
            </a:r>
            <a:endParaRPr lang="fr-FR" dirty="0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DF16F212-2D35-2285-3A01-27A02321EE74}"/>
              </a:ext>
            </a:extLst>
          </p:cNvPr>
          <p:cNvCxnSpPr>
            <a:cxnSpLocks/>
            <a:stCxn id="26" idx="1"/>
          </p:cNvCxnSpPr>
          <p:nvPr/>
        </p:nvCxnSpPr>
        <p:spPr>
          <a:xfrm rot="10800000" flipV="1">
            <a:off x="6587490" y="1433248"/>
            <a:ext cx="1331444" cy="692732"/>
          </a:xfrm>
          <a:prstGeom prst="bentConnector3">
            <a:avLst>
              <a:gd name="adj1" fmla="val 99934"/>
            </a:avLst>
          </a:prstGeom>
          <a:ln>
            <a:solidFill>
              <a:schemeClr val="tx1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CD6A1CE3-569F-3154-9A83-0E76D56821B9}"/>
              </a:ext>
            </a:extLst>
          </p:cNvPr>
          <p:cNvSpPr txBox="1"/>
          <p:nvPr/>
        </p:nvSpPr>
        <p:spPr>
          <a:xfrm>
            <a:off x="7696236" y="2954930"/>
            <a:ext cx="1262418" cy="338554"/>
          </a:xfrm>
          <a:prstGeom prst="rect">
            <a:avLst/>
          </a:prstGeom>
          <a:noFill/>
          <a:ln w="19050"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Bobinage</a:t>
            </a:r>
            <a:endParaRPr lang="fr-FR" dirty="0"/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DC75E5E3-2DE5-E40D-9382-A241C54E6948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7078980" y="3124206"/>
            <a:ext cx="617256" cy="16927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5BE92E9-5C79-727E-BB70-09E65636081F}"/>
              </a:ext>
            </a:extLst>
          </p:cNvPr>
          <p:cNvSpPr txBox="1"/>
          <p:nvPr/>
        </p:nvSpPr>
        <p:spPr>
          <a:xfrm>
            <a:off x="7679006" y="5186003"/>
            <a:ext cx="1262418" cy="584775"/>
          </a:xfrm>
          <a:prstGeom prst="rect">
            <a:avLst/>
          </a:prstGeom>
          <a:noFill/>
          <a:ln w="19050"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Aimant permanent</a:t>
            </a:r>
            <a:endParaRPr lang="fr-FR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CAC1E49F-36E8-617E-B0EF-93B7031D727C}"/>
              </a:ext>
            </a:extLst>
          </p:cNvPr>
          <p:cNvCxnSpPr>
            <a:cxnSpLocks/>
            <a:stCxn id="31" idx="1"/>
          </p:cNvCxnSpPr>
          <p:nvPr/>
        </p:nvCxnSpPr>
        <p:spPr>
          <a:xfrm rot="10800000">
            <a:off x="6587490" y="5186003"/>
            <a:ext cx="1091516" cy="292389"/>
          </a:xfrm>
          <a:prstGeom prst="bentConnector3">
            <a:avLst>
              <a:gd name="adj1" fmla="val 99915"/>
            </a:avLst>
          </a:prstGeom>
          <a:ln>
            <a:solidFill>
              <a:schemeClr val="tx1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0" name="Arrow: Up-Down 49">
            <a:extLst>
              <a:ext uri="{FF2B5EF4-FFF2-40B4-BE49-F238E27FC236}">
                <a16:creationId xmlns:a16="http://schemas.microsoft.com/office/drawing/2014/main" id="{28E87508-B2CD-2363-D00E-B7F0B97EE1C8}"/>
              </a:ext>
            </a:extLst>
          </p:cNvPr>
          <p:cNvSpPr/>
          <p:nvPr/>
        </p:nvSpPr>
        <p:spPr>
          <a:xfrm>
            <a:off x="5398936" y="2003729"/>
            <a:ext cx="214685" cy="692732"/>
          </a:xfrm>
          <a:prstGeom prst="upDownArrow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233686D-0658-1EA5-0F37-56E867EEABE3}"/>
              </a:ext>
            </a:extLst>
          </p:cNvPr>
          <p:cNvSpPr txBox="1"/>
          <p:nvPr/>
        </p:nvSpPr>
        <p:spPr>
          <a:xfrm>
            <a:off x="4495503" y="2195215"/>
            <a:ext cx="903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Vibration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562805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F9BBF-DE7D-0372-E3FC-B0FF167E1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03B203A-1265-F141-45FF-BE8CEF81C788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4598D29B-472C-43DB-73B0-089CE554FAB6}"/>
                  </a:ext>
                </a:extLst>
              </p:cNvPr>
              <p:cNvSpPr/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 du champ B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fondamentale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initiale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micro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4598D29B-472C-43DB-73B0-089CE554FA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blipFill>
                <a:blip r:embed="rId2"/>
                <a:stretch>
                  <a:fillRect l="-404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01410289-7A05-49F9-F6A3-3BFA81E222FA}"/>
              </a:ext>
            </a:extLst>
          </p:cNvPr>
          <p:cNvSpPr txBox="1"/>
          <p:nvPr/>
        </p:nvSpPr>
        <p:spPr>
          <a:xfrm>
            <a:off x="449950" y="5716102"/>
            <a:ext cx="973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F0DDF28-1178-21DD-188D-F02C38C8B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00570-F7DD-41B7-BB32-56FA7FFA6B7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32D951E-CA0F-F952-6435-7DF8B8615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6E48D8B-F8D6-7484-ADA4-A3FFFCCE3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26EAC4E-A3A7-1ACF-E157-633D3A33564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C51C845-2989-5887-728D-842426A6F8E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7E153C-A5D8-32FC-C04C-F5D7F57C459B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  <a:endParaRPr lang="fr-FR" sz="2000" b="1" dirty="0">
              <a:latin typeface="+mj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C02AE35-C24B-947A-A987-D72795A00587}"/>
              </a:ext>
            </a:extLst>
          </p:cNvPr>
          <p:cNvSpPr/>
          <p:nvPr/>
        </p:nvSpPr>
        <p:spPr>
          <a:xfrm>
            <a:off x="462440" y="1303262"/>
            <a:ext cx="4496905" cy="1196158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Vibration de la corde : Onde stationnaire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Champs Magnétique de la corde Uniforme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40F3D63-2101-5CC3-1BB2-DA5621ED5124}"/>
                  </a:ext>
                </a:extLst>
              </p:cNvPr>
              <p:cNvSpPr/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Initialement on excite la corde telle que :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/>
                  <a:t>L’équation d’onde de la corde est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40F3D63-2101-5CC3-1BB2-DA5621ED51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7EDD969B-7E05-991B-BB22-96E82293084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8041625" y="584646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5E1F0B6C-8EDF-73FF-B787-C722DA8F42A6}"/>
              </a:ext>
            </a:extLst>
          </p:cNvPr>
          <p:cNvGrpSpPr/>
          <p:nvPr/>
        </p:nvGrpSpPr>
        <p:grpSpPr>
          <a:xfrm>
            <a:off x="5738832" y="1611145"/>
            <a:ext cx="2559322" cy="779089"/>
            <a:chOff x="500933" y="4427234"/>
            <a:chExt cx="4020249" cy="140989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44BDA940-A470-1A93-C04C-039175433D8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CF5998B7-71A5-12C5-EE72-C3411083FD72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CF5998B7-71A5-12C5-EE72-C3411083FD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28571" r="-38095" b="-10588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9D28F15-0CD3-47C9-4DCB-502EA0A6C223}"/>
                  </a:ext>
                </a:extLst>
              </p:cNvPr>
              <p:cNvSpPr txBox="1"/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9D28F15-0CD3-47C9-4DCB-502EA0A6C2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27FB84A-9F4D-C60A-CA3F-1857CA856657}"/>
                  </a:ext>
                </a:extLst>
              </p:cNvPr>
              <p:cNvSpPr txBox="1"/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27FB84A-9F4D-C60A-CA3F-1857CA8566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A58A0B9-BD36-DA0D-97E1-2F12AA10C1CA}"/>
                  </a:ext>
                </a:extLst>
              </p:cNvPr>
              <p:cNvSpPr txBox="1"/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𝑛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A58A0B9-BD36-DA0D-97E1-2F12AA10C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blipFill>
                <a:blip r:embed="rId9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4885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4E1DA-0708-6BB7-8163-17A2D4564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E9B2CEE-41FF-C746-EA91-262125395C72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751CCCC8-2BDE-8E09-2054-4948653CDFE9}"/>
                  </a:ext>
                </a:extLst>
              </p:cNvPr>
              <p:cNvSpPr/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 du champ B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fondamentale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initiale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1</a:t>
                </a:r>
                <a:r>
                  <a:rPr lang="fr-FR" sz="1500" baseline="30000" dirty="0"/>
                  <a:t>er</a:t>
                </a:r>
                <a:r>
                  <a:rPr lang="fr-FR" sz="1500" dirty="0"/>
                  <a:t> bobinage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2</a:t>
                </a:r>
                <a:r>
                  <a:rPr lang="fr-FR" sz="1500" baseline="30000" dirty="0"/>
                  <a:t>e</a:t>
                </a:r>
                <a:r>
                  <a:rPr lang="fr-FR" sz="1500" dirty="0"/>
                  <a:t> bobinage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751CCCC8-2BDE-8E09-2054-4948653CDF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blipFill>
                <a:blip r:embed="rId2"/>
                <a:stretch>
                  <a:fillRect l="-404" b="-212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B0B1A863-B9FB-167D-958E-E5AA2131C18B}"/>
              </a:ext>
            </a:extLst>
          </p:cNvPr>
          <p:cNvSpPr txBox="1"/>
          <p:nvPr/>
        </p:nvSpPr>
        <p:spPr>
          <a:xfrm>
            <a:off x="449950" y="5716102"/>
            <a:ext cx="973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E750F447-6525-CA83-0585-85AF819F0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00570-F7DD-41B7-BB32-56FA7FFA6B7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F599232-9FD5-7011-F119-9C82BCA87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7D510A6-64BB-2407-6922-B25331A4E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5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868881F-75AB-FF24-0015-F057E0980D18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83AF9ED-C531-F2FE-51D4-C9BA0CECA59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2A4AC1-846C-D686-72A3-C427BF4774CF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5A9AFB-601F-0D10-6B20-7E1434391FC0}"/>
              </a:ext>
            </a:extLst>
          </p:cNvPr>
          <p:cNvSpPr/>
          <p:nvPr/>
        </p:nvSpPr>
        <p:spPr>
          <a:xfrm>
            <a:off x="462440" y="1303262"/>
            <a:ext cx="4496905" cy="1196158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Vibration de la corde : Onde stationnaire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Champs Magnétique de la corde Uniforme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DA4729D-D53B-0D1D-E5D6-01B4E3F6EF04}"/>
                  </a:ext>
                </a:extLst>
              </p:cNvPr>
              <p:cNvSpPr/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Initialement on excite la corde telle que :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/>
                  <a:t>L’équation d’onde de la corde est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DA4729D-D53B-0D1D-E5D6-01B4E3F6EF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89153C86-2D6D-B7E8-5814-0ADB2F484D75}"/>
              </a:ext>
            </a:extLst>
          </p:cNvPr>
          <p:cNvGrpSpPr/>
          <p:nvPr/>
        </p:nvGrpSpPr>
        <p:grpSpPr>
          <a:xfrm>
            <a:off x="5738832" y="1611145"/>
            <a:ext cx="2559322" cy="779089"/>
            <a:chOff x="500933" y="4427234"/>
            <a:chExt cx="4020249" cy="140989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E48B7B27-694D-2B8B-F270-01C5A792D66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7650BA-2E9C-C548-02AD-BBCD1D2BB2A6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7650BA-2E9C-C548-02AD-BBCD1D2BB2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5"/>
                  <a:stretch>
                    <a:fillRect l="-28571" r="-38095" b="-10588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C037573-74E1-7487-FB5A-E0F335399F42}"/>
                  </a:ext>
                </a:extLst>
              </p:cNvPr>
              <p:cNvSpPr txBox="1"/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C037573-74E1-7487-FB5A-E0F335399F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F77DF36-7308-8E5F-6A51-D569C22F917F}"/>
                  </a:ext>
                </a:extLst>
              </p:cNvPr>
              <p:cNvSpPr txBox="1"/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F77DF36-7308-8E5F-6A51-D569C22F91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4D2039C-7EE8-0A73-D6C5-3418A75ADEE2}"/>
                  </a:ext>
                </a:extLst>
              </p:cNvPr>
              <p:cNvSpPr txBox="1"/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𝑛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4D2039C-7EE8-0A73-D6C5-3418A75AD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blipFill>
                <a:blip r:embed="rId8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D676E03A-D2C5-7FFA-C144-6FD0FE645FA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8101701" y="558793"/>
            <a:ext cx="839363" cy="67401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04729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5DC96-7D6B-022A-BC8C-33392430B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2D5DECE-2A60-2317-83E1-58347A3F2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132CB-8102-4AD5-B068-078D3A00EB35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9D97A53-F324-D847-0D7A-606ADF6ED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35306DF-F81B-2F74-5E66-B9A57BEB3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6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AD15FC3-A370-29D3-C94A-AE247888BFF4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913210B-6F96-8414-571E-2D9D96414305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359E262-01D9-BF02-4695-E9718D933A6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DE6975-0BD3-4765-200E-FBE90D4D3DF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1ECDDAB-FE4C-91AF-6FF8-D226B63E52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6" r="21836"/>
          <a:stretch/>
        </p:blipFill>
        <p:spPr>
          <a:xfrm rot="5400000">
            <a:off x="2603624" y="619066"/>
            <a:ext cx="2942282" cy="3919568"/>
          </a:xfrm>
          <a:prstGeom prst="rect">
            <a:avLst/>
          </a:prstGeom>
          <a:ln w="28575">
            <a:noFill/>
          </a:ln>
          <a:effectLst>
            <a:softEdge rad="31750"/>
          </a:effectLst>
        </p:spPr>
      </p:pic>
      <p:grpSp>
        <p:nvGrpSpPr>
          <p:cNvPr id="130" name="Group 129">
            <a:extLst>
              <a:ext uri="{FF2B5EF4-FFF2-40B4-BE49-F238E27FC236}">
                <a16:creationId xmlns:a16="http://schemas.microsoft.com/office/drawing/2014/main" id="{9F7DA611-55F3-BB6C-D4A0-D9C1F2AEF5CE}"/>
              </a:ext>
            </a:extLst>
          </p:cNvPr>
          <p:cNvGrpSpPr/>
          <p:nvPr/>
        </p:nvGrpSpPr>
        <p:grpSpPr>
          <a:xfrm flipH="1">
            <a:off x="642960" y="3771358"/>
            <a:ext cx="7203774" cy="2309732"/>
            <a:chOff x="1440953" y="1876985"/>
            <a:chExt cx="7034257" cy="2309732"/>
          </a:xfrm>
        </p:grpSpPr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B0BCD9E6-C4E3-D97F-20FF-6F9EA36DC1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84704" y="2155618"/>
              <a:ext cx="2155" cy="104787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9C2B9229-FCB0-59A8-E169-B2D6B3D6E2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22212" y="2155618"/>
              <a:ext cx="0" cy="8062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8863A744-4C8C-0983-0F2F-B1C0A26874B1}"/>
                </a:ext>
              </a:extLst>
            </p:cNvPr>
            <p:cNvSpPr/>
            <p:nvPr/>
          </p:nvSpPr>
          <p:spPr>
            <a:xfrm>
              <a:off x="8123681" y="1876985"/>
              <a:ext cx="351529" cy="36000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7628D95F-B909-97AA-8AF0-643319E2F95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6140000">
              <a:off x="4210262" y="693933"/>
              <a:ext cx="723475" cy="6262094"/>
            </a:xfrm>
            <a:prstGeom prst="rect">
              <a:avLst/>
            </a:prstGeom>
          </p:spPr>
        </p:pic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845B078D-1A98-6ED5-C628-4915E681FB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90251" y="3096524"/>
              <a:ext cx="0" cy="44673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10D5804D-1ABD-3B0D-5696-340BE1BEEAD0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0" cy="5814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EDCF24A4-79F4-DF8B-FFC5-11778BB7DAF9}"/>
                </a:ext>
              </a:extLst>
            </p:cNvPr>
            <p:cNvCxnSpPr>
              <a:cxnSpLocks/>
            </p:cNvCxnSpPr>
            <p:nvPr/>
          </p:nvCxnSpPr>
          <p:spPr>
            <a:xfrm>
              <a:off x="6190251" y="3096524"/>
              <a:ext cx="2112144" cy="0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4A6BF2A2-C0F1-2942-5728-DDBFD830C702}"/>
                </a:ext>
              </a:extLst>
            </p:cNvPr>
            <p:cNvCxnSpPr>
              <a:cxnSpLocks/>
              <a:stCxn id="133" idx="2"/>
            </p:cNvCxnSpPr>
            <p:nvPr/>
          </p:nvCxnSpPr>
          <p:spPr>
            <a:xfrm>
              <a:off x="8299446" y="2236985"/>
              <a:ext cx="4014" cy="859539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476C911C-AADC-DF2F-6546-6986C34D1D7C}"/>
                </a:ext>
              </a:extLst>
            </p:cNvPr>
            <p:cNvCxnSpPr>
              <a:cxnSpLocks/>
            </p:cNvCxnSpPr>
            <p:nvPr/>
          </p:nvCxnSpPr>
          <p:spPr>
            <a:xfrm>
              <a:off x="6439448" y="3203160"/>
              <a:ext cx="0" cy="348166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16D688EF-71CF-65FC-053D-74766E760A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9448" y="3201475"/>
              <a:ext cx="1946494" cy="1685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E94460FF-3F74-8475-92BD-E1C12440F8BF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1948413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A0B5C525-B1D9-149D-1C21-32C54BFA8514}"/>
                </a:ext>
              </a:extLst>
            </p:cNvPr>
            <p:cNvSpPr txBox="1"/>
            <p:nvPr/>
          </p:nvSpPr>
          <p:spPr>
            <a:xfrm>
              <a:off x="4052454" y="2466429"/>
              <a:ext cx="63315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2F557102-C995-BF1E-B2AD-0FB65CA044AD}"/>
              </a:ext>
            </a:extLst>
          </p:cNvPr>
          <p:cNvSpPr txBox="1"/>
          <p:nvPr/>
        </p:nvSpPr>
        <p:spPr>
          <a:xfrm flipH="1">
            <a:off x="105279" y="3443955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Oscilloscope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4FD8045D-A5C6-31D5-E782-69BF3A4B9DB1}"/>
              </a:ext>
            </a:extLst>
          </p:cNvPr>
          <p:cNvCxnSpPr>
            <a:cxnSpLocks/>
            <a:stCxn id="23" idx="0"/>
          </p:cNvCxnSpPr>
          <p:nvPr/>
        </p:nvCxnSpPr>
        <p:spPr>
          <a:xfrm rot="5400000" flipH="1" flipV="1">
            <a:off x="2179289" y="2851706"/>
            <a:ext cx="956264" cy="1566023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0896C0D-356A-1130-A43B-569F02015153}"/>
              </a:ext>
            </a:extLst>
          </p:cNvPr>
          <p:cNvSpPr txBox="1"/>
          <p:nvPr/>
        </p:nvSpPr>
        <p:spPr>
          <a:xfrm flipH="1">
            <a:off x="1232567" y="4112849"/>
            <a:ext cx="1283687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SingleCoil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4D3656-6CBC-8BF0-2BAB-244DCEE4D29A}"/>
              </a:ext>
            </a:extLst>
          </p:cNvPr>
          <p:cNvSpPr txBox="1"/>
          <p:nvPr/>
        </p:nvSpPr>
        <p:spPr>
          <a:xfrm flipH="1">
            <a:off x="2847510" y="4105261"/>
            <a:ext cx="1387055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Humbucker</a:t>
            </a:r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ED1E97F8-A8FA-1050-B6EB-F4BACD4BECC6}"/>
              </a:ext>
            </a:extLst>
          </p:cNvPr>
          <p:cNvCxnSpPr>
            <a:cxnSpLocks/>
            <a:stCxn id="23" idx="2"/>
          </p:cNvCxnSpPr>
          <p:nvPr/>
        </p:nvCxnSpPr>
        <p:spPr>
          <a:xfrm rot="16200000" flipH="1">
            <a:off x="1746518" y="4517740"/>
            <a:ext cx="1140367" cy="884582"/>
          </a:xfrm>
          <a:prstGeom prst="bentConnector3">
            <a:avLst>
              <a:gd name="adj1" fmla="val 20098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5A12C03A-AC35-78C7-64F8-0CD2464AEE27}"/>
              </a:ext>
            </a:extLst>
          </p:cNvPr>
          <p:cNvCxnSpPr>
            <a:cxnSpLocks/>
            <a:stCxn id="24" idx="2"/>
          </p:cNvCxnSpPr>
          <p:nvPr/>
        </p:nvCxnSpPr>
        <p:spPr>
          <a:xfrm rot="5400000">
            <a:off x="2751235" y="4709604"/>
            <a:ext cx="1117147" cy="462459"/>
          </a:xfrm>
          <a:prstGeom prst="bentConnector3">
            <a:avLst>
              <a:gd name="adj1" fmla="val 21352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69283860-83DC-3D09-17EF-7EDAFCDDC462}"/>
              </a:ext>
            </a:extLst>
          </p:cNvPr>
          <p:cNvCxnSpPr>
            <a:cxnSpLocks/>
            <a:stCxn id="24" idx="0"/>
          </p:cNvCxnSpPr>
          <p:nvPr/>
        </p:nvCxnSpPr>
        <p:spPr>
          <a:xfrm rot="5400000" flipH="1" flipV="1">
            <a:off x="3311878" y="3584610"/>
            <a:ext cx="749811" cy="29149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E958A863-0B06-BFF6-31E6-930BF8318979}"/>
              </a:ext>
            </a:extLst>
          </p:cNvPr>
          <p:cNvCxnSpPr>
            <a:cxnSpLocks/>
            <a:stCxn id="161" idx="2"/>
          </p:cNvCxnSpPr>
          <p:nvPr/>
        </p:nvCxnSpPr>
        <p:spPr>
          <a:xfrm rot="5400000">
            <a:off x="3978664" y="4933548"/>
            <a:ext cx="1165175" cy="57368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58973885-A9D0-29A7-7952-86F03749463E}"/>
              </a:ext>
            </a:extLst>
          </p:cNvPr>
          <p:cNvCxnSpPr>
            <a:cxnSpLocks/>
            <a:stCxn id="161" idx="0"/>
          </p:cNvCxnSpPr>
          <p:nvPr/>
        </p:nvCxnSpPr>
        <p:spPr>
          <a:xfrm rot="5400000" flipH="1" flipV="1">
            <a:off x="4491728" y="4004439"/>
            <a:ext cx="712727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0530469-2330-1521-AA8F-292130B8591B}"/>
              </a:ext>
            </a:extLst>
          </p:cNvPr>
          <p:cNvCxnSpPr>
            <a:cxnSpLocks/>
            <a:stCxn id="19" idx="0"/>
          </p:cNvCxnSpPr>
          <p:nvPr/>
        </p:nvCxnSpPr>
        <p:spPr>
          <a:xfrm rot="5400000" flipH="1" flipV="1">
            <a:off x="673890" y="2002865"/>
            <a:ext cx="1599246" cy="1282935"/>
          </a:xfrm>
          <a:prstGeom prst="bentConnector3">
            <a:avLst>
              <a:gd name="adj1" fmla="val 10003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810234F-0B86-F53A-22E1-8DDBBD9E5AF4}"/>
              </a:ext>
            </a:extLst>
          </p:cNvPr>
          <p:cNvSpPr txBox="1"/>
          <p:nvPr/>
        </p:nvSpPr>
        <p:spPr>
          <a:xfrm>
            <a:off x="6275119" y="1107708"/>
            <a:ext cx="266738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Objectifs : </a:t>
            </a:r>
          </a:p>
          <a:p>
            <a:endParaRPr lang="fr-FR" b="1" u="sng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Récupérer les signaux émis par les micros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3206AAC-BE44-239A-2F98-44FDDFB5C148}"/>
              </a:ext>
            </a:extLst>
          </p:cNvPr>
          <p:cNvCxnSpPr>
            <a:cxnSpLocks/>
          </p:cNvCxnSpPr>
          <p:nvPr/>
        </p:nvCxnSpPr>
        <p:spPr>
          <a:xfrm flipH="1" flipV="1">
            <a:off x="3257550" y="2699385"/>
            <a:ext cx="2249805" cy="132207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89EE43-4C1C-B53A-481A-3B95B1A1E364}"/>
              </a:ext>
            </a:extLst>
          </p:cNvPr>
          <p:cNvCxnSpPr>
            <a:cxnSpLocks/>
          </p:cNvCxnSpPr>
          <p:nvPr/>
        </p:nvCxnSpPr>
        <p:spPr>
          <a:xfrm flipH="1">
            <a:off x="2044065" y="5817870"/>
            <a:ext cx="538127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68350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9C121-196D-B280-2659-B969A21D7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C9B5D88-FDE6-E3A7-51AD-089C3F3143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4152A36-64FE-DA5A-CF24-1B317D161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4087F9B-168A-BB0B-C61B-7988E2A0A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7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80978DB-B858-E0D1-D839-26DA371B65B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13E7F75-F7D2-A337-4755-01BBBC2242E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607ACD-4BD7-417D-245D-4529E66D315D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A14F2C-529C-4FAF-4F41-2E4E75650E9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E831AD5-3BA8-F330-6E59-627CDF882B9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1" y="164775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060ADC2C-B38D-B11B-810B-940D540724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A95B009F-B96E-9B87-61A7-F2485C2D90C3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F9D97FD-6B83-C324-B6C0-BC4B9DC437F7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5CE785-2413-FA0C-B860-AACDD4563B50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749" y="164775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508577-BE3B-4C81-A644-AF32CA74DAEB}"/>
                  </a:ext>
                </a:extLst>
              </p:cNvPr>
              <p:cNvSpPr txBox="1"/>
              <p:nvPr/>
            </p:nvSpPr>
            <p:spPr>
              <a:xfrm>
                <a:off x="993731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508577-BE3B-4C81-A644-AF32CA74DA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731" y="5281705"/>
                <a:ext cx="2566035" cy="540533"/>
              </a:xfrm>
              <a:prstGeom prst="rect">
                <a:avLst/>
              </a:prstGeom>
              <a:blipFill>
                <a:blip r:embed="rId6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5F245-D290-7375-6E3E-0B133ADDA201}"/>
                  </a:ext>
                </a:extLst>
              </p:cNvPr>
              <p:cNvSpPr txBox="1"/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5F245-D290-7375-6E3E-0B133ADDA2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blipFill>
                <a:blip r:embed="rId7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1E9C5E-82AF-8457-0EA0-C7469D26678D}"/>
                  </a:ext>
                </a:extLst>
              </p:cNvPr>
              <p:cNvSpPr txBox="1"/>
              <p:nvPr/>
            </p:nvSpPr>
            <p:spPr>
              <a:xfrm>
                <a:off x="910955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1E9C5E-82AF-8457-0EA0-C7469D266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955" y="5859029"/>
                <a:ext cx="2752349" cy="39164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0713475-27D9-E2C4-19D6-EB314FA1D777}"/>
                  </a:ext>
                </a:extLst>
              </p:cNvPr>
              <p:cNvSpPr txBox="1"/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0713475-27D9-E2C4-19D6-EB314FA1D7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47380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5620C-E318-6081-8191-5663CAC5B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A7BA208-73EA-A679-6B88-92AA338E9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AE41562-9F29-8A13-1F8A-24C71C710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B0AC912-A953-E8EF-BD52-91AB0941F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448E63-6014-5CF7-E254-77160B8C03B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A01B43A-F989-EE1E-CB92-54390803279F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DF84EE-4226-FF97-A4A7-887219E2691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E2A6307-ACC4-F372-EB86-D0B167E8CBB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B0A79A0-EDEE-72FB-1F13-86761E2A2B2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66873" y="1606864"/>
            <a:ext cx="3779998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2C39EC58-670A-CC4F-01B3-48DCEE9955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CEC58178-EB13-A6E4-E8CE-7B29FFF30336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E2B23BA-01CC-E06A-C6F8-9BDEBE333E0F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D9438E3-7521-FEBB-59AD-3157B1499179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7130" y="160686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BC26AFA6-CA0D-92EA-F82F-9281E16DAA74}"/>
              </a:ext>
            </a:extLst>
          </p:cNvPr>
          <p:cNvGrpSpPr/>
          <p:nvPr/>
        </p:nvGrpSpPr>
        <p:grpSpPr>
          <a:xfrm>
            <a:off x="1039713" y="4329995"/>
            <a:ext cx="355600" cy="493407"/>
            <a:chOff x="1276060" y="5077968"/>
            <a:chExt cx="355600" cy="493407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1A3706D-3275-4F0F-6497-8DDD0B4330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28010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AE3EBE9-EA2B-6D69-8596-27620963CEA3}"/>
                    </a:ext>
                  </a:extLst>
                </p:cNvPr>
                <p:cNvSpPr txBox="1"/>
                <p:nvPr/>
              </p:nvSpPr>
              <p:spPr>
                <a:xfrm>
                  <a:off x="1276060" y="529437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AE3EBE9-EA2B-6D69-8596-27620963C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6060" y="5294376"/>
                  <a:ext cx="355600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80AEBF4-A32D-CD38-18F8-B10A2DD8051B}"/>
              </a:ext>
            </a:extLst>
          </p:cNvPr>
          <p:cNvGrpSpPr/>
          <p:nvPr/>
        </p:nvGrpSpPr>
        <p:grpSpPr>
          <a:xfrm>
            <a:off x="5601263" y="4338523"/>
            <a:ext cx="355600" cy="493407"/>
            <a:chOff x="1276060" y="5077968"/>
            <a:chExt cx="355600" cy="493407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B3588C5-3BDC-D606-42AD-5BE93585ED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28010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2AC5B932-E758-5992-296A-60CA8727C081}"/>
                    </a:ext>
                  </a:extLst>
                </p:cNvPr>
                <p:cNvSpPr txBox="1"/>
                <p:nvPr/>
              </p:nvSpPr>
              <p:spPr>
                <a:xfrm>
                  <a:off x="1276060" y="529437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2AC5B932-E758-5992-296A-60CA8727C0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6060" y="5294376"/>
                  <a:ext cx="355600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31CBC52-E5D9-1E69-FA5D-F30DA6A00609}"/>
                  </a:ext>
                </a:extLst>
              </p:cNvPr>
              <p:cNvSpPr txBox="1"/>
              <p:nvPr/>
            </p:nvSpPr>
            <p:spPr>
              <a:xfrm>
                <a:off x="993731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31CBC52-E5D9-1E69-FA5D-F30DA6A006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731" y="5281705"/>
                <a:ext cx="2566035" cy="540533"/>
              </a:xfrm>
              <a:prstGeom prst="rect">
                <a:avLst/>
              </a:prstGeom>
              <a:blipFill>
                <a:blip r:embed="rId8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2B32A25-E681-6091-3305-9F7C49C780BE}"/>
                  </a:ext>
                </a:extLst>
              </p:cNvPr>
              <p:cNvSpPr txBox="1"/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2B32A25-E681-6091-3305-9F7C49C780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blipFill>
                <a:blip r:embed="rId9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8F80BA7-2A53-3DDE-D984-D60958822DF2}"/>
                  </a:ext>
                </a:extLst>
              </p:cNvPr>
              <p:cNvSpPr txBox="1"/>
              <p:nvPr/>
            </p:nvSpPr>
            <p:spPr>
              <a:xfrm>
                <a:off x="910955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8F80BA7-2A53-3DDE-D984-D60958822D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955" y="5859029"/>
                <a:ext cx="2752349" cy="39164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8109A-A79F-B9C6-24FE-136E4974421B}"/>
                  </a:ext>
                </a:extLst>
              </p:cNvPr>
              <p:cNvSpPr txBox="1"/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8109A-A79F-B9C6-24FE-136E497442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04950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3BAE8-7762-46B2-E907-AD7099361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D8542C0-197A-96FC-F849-6D84EC76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F308C-9F8A-416F-8F03-F1D1B987858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6116114-727D-00CA-E09B-62BF1F910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6F0E06E-2288-33E6-28E3-CCE75F991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72E767F-BD51-8D0B-9969-6D70F4B5BC8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2DDA1D4A-27B7-6F42-A30C-F2706A65D33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EB2398-EFF8-C9A2-49F0-95D4E4A8CC35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67F364B-68DD-FD60-EC7D-1F4E45FFE1F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/>
              <a:t>La Source du Signal : De l'Onde à la FEM</a:t>
            </a:r>
            <a:endParaRPr lang="fr-FR" sz="20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C7D0547-D387-B897-E456-A805D590BB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5440" y="1390254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/>
              <p:nvPr/>
            </p:nvSpPr>
            <p:spPr>
              <a:xfrm>
                <a:off x="5958063" y="1390254"/>
                <a:ext cx="2840497" cy="848497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Calcul du gain 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𝐻𝐵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𝑆𝐶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063" y="1390254"/>
                <a:ext cx="2840497" cy="84849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D8CDDD17-77F4-AB75-F09C-BCEFD8A013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2CA3093A-8816-005B-D928-3B44B655C8E2}"/>
              </a:ext>
            </a:extLst>
          </p:cNvPr>
          <p:cNvSpPr/>
          <p:nvPr/>
        </p:nvSpPr>
        <p:spPr>
          <a:xfrm>
            <a:off x="5958063" y="2389099"/>
            <a:ext cx="2840497" cy="3573164"/>
          </a:xfrm>
          <a:prstGeom prst="rect">
            <a:avLst/>
          </a:prstGeom>
          <a:ln w="38100">
            <a:solidFill>
              <a:schemeClr val="accent4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400" dirty="0">
                <a:solidFill>
                  <a:schemeClr val="tx1"/>
                </a:solidFill>
              </a:rPr>
              <a:t>On voit apparaitre les </a:t>
            </a:r>
            <a:r>
              <a:rPr lang="fr-FR" sz="1400" b="1" u="sng" dirty="0">
                <a:solidFill>
                  <a:schemeClr val="tx1"/>
                </a:solidFill>
              </a:rPr>
              <a:t>nœuds de vibrations</a:t>
            </a:r>
            <a:r>
              <a:rPr lang="fr-FR" sz="1400" dirty="0">
                <a:solidFill>
                  <a:schemeClr val="tx1"/>
                </a:solidFill>
              </a:rPr>
              <a:t> :</a:t>
            </a:r>
          </a:p>
          <a:p>
            <a:endParaRPr lang="fr-FR" sz="1400" b="1" u="sng" dirty="0">
              <a:solidFill>
                <a:schemeClr val="tx1"/>
              </a:solidFill>
            </a:endParaRPr>
          </a:p>
          <a:p>
            <a:endParaRPr lang="fr-FR" sz="1400" b="1" u="sng" dirty="0">
              <a:solidFill>
                <a:schemeClr val="tx1"/>
              </a:solidFill>
            </a:endParaRPr>
          </a:p>
          <a:p>
            <a:r>
              <a:rPr lang="fr-FR" sz="1400" b="1" dirty="0">
                <a:solidFill>
                  <a:schemeClr val="tx1"/>
                </a:solidFill>
              </a:rPr>
              <a:t>à 440 Hz : </a:t>
            </a:r>
            <a:r>
              <a:rPr lang="fr-FR" sz="1400" dirty="0">
                <a:solidFill>
                  <a:schemeClr val="tx1"/>
                </a:solidFill>
              </a:rPr>
              <a:t>SingleCoil</a:t>
            </a:r>
            <a:endParaRPr lang="fr-FR" sz="1400" b="1" dirty="0">
              <a:solidFill>
                <a:schemeClr val="tx1"/>
              </a:solidFill>
            </a:endParaRPr>
          </a:p>
          <a:p>
            <a:endParaRPr lang="fr-FR" sz="1400" b="1" dirty="0">
              <a:solidFill>
                <a:srgbClr val="C00000"/>
              </a:solidFill>
            </a:endParaRPr>
          </a:p>
          <a:p>
            <a:endParaRPr lang="fr-FR" sz="1400" b="1" dirty="0">
              <a:solidFill>
                <a:srgbClr val="C00000"/>
              </a:solidFill>
            </a:endParaRPr>
          </a:p>
          <a:p>
            <a:endParaRPr lang="fr-FR" sz="1400" b="1" dirty="0">
              <a:solidFill>
                <a:srgbClr val="C00000"/>
              </a:solidFill>
            </a:endParaRPr>
          </a:p>
          <a:p>
            <a:endParaRPr lang="fr-FR" sz="1400" b="1" dirty="0">
              <a:solidFill>
                <a:srgbClr val="C00000"/>
              </a:solidFill>
            </a:endParaRPr>
          </a:p>
          <a:p>
            <a:endParaRPr lang="fr-FR" sz="1400" b="1" dirty="0">
              <a:solidFill>
                <a:srgbClr val="C00000"/>
              </a:solidFill>
            </a:endParaRPr>
          </a:p>
          <a:p>
            <a:r>
              <a:rPr lang="fr-FR" sz="1400" b="1" dirty="0">
                <a:solidFill>
                  <a:schemeClr val="tx1"/>
                </a:solidFill>
              </a:rPr>
              <a:t>à 660 Hz : </a:t>
            </a:r>
            <a:r>
              <a:rPr lang="fr-FR" sz="1400" dirty="0">
                <a:solidFill>
                  <a:schemeClr val="tx1"/>
                </a:solidFill>
              </a:rPr>
              <a:t>Humbucker</a:t>
            </a:r>
          </a:p>
          <a:p>
            <a:endParaRPr lang="fr-FR" sz="1400" b="1" dirty="0">
              <a:solidFill>
                <a:schemeClr val="tx1"/>
              </a:solidFill>
            </a:endParaRPr>
          </a:p>
          <a:p>
            <a:endParaRPr lang="fr-FR" sz="1400" b="1" dirty="0">
              <a:solidFill>
                <a:schemeClr val="tx1"/>
              </a:solidFill>
            </a:endParaRPr>
          </a:p>
          <a:p>
            <a:endParaRPr lang="fr-FR" sz="1400" b="1" dirty="0">
              <a:solidFill>
                <a:schemeClr val="tx1"/>
              </a:solidFill>
            </a:endParaRPr>
          </a:p>
          <a:p>
            <a:endParaRPr lang="fr-FR" sz="1400" b="1" dirty="0">
              <a:solidFill>
                <a:schemeClr val="tx1"/>
              </a:solidFill>
            </a:endParaRPr>
          </a:p>
          <a:p>
            <a:endParaRPr lang="fr-FR" sz="1400" b="1" dirty="0">
              <a:solidFill>
                <a:schemeClr val="tx1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A1651DA-3FA0-EAA6-50EF-BE78F2EFD15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120" t="27687" r="14237" b="24239"/>
          <a:stretch>
            <a:fillRect/>
          </a:stretch>
        </p:blipFill>
        <p:spPr>
          <a:xfrm>
            <a:off x="7172960" y="4166710"/>
            <a:ext cx="875318" cy="30368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EBA155B-6CC1-7813-6376-34A43607974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120" t="27687" r="14237" b="24239"/>
          <a:stretch>
            <a:fillRect/>
          </a:stretch>
        </p:blipFill>
        <p:spPr>
          <a:xfrm>
            <a:off x="7172960" y="5529556"/>
            <a:ext cx="875318" cy="303682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AC9ABA02-3086-E570-7717-10BDBCFC0131}"/>
              </a:ext>
            </a:extLst>
          </p:cNvPr>
          <p:cNvGrpSpPr/>
          <p:nvPr/>
        </p:nvGrpSpPr>
        <p:grpSpPr>
          <a:xfrm>
            <a:off x="6026320" y="4896735"/>
            <a:ext cx="2708911" cy="584583"/>
            <a:chOff x="6017895" y="3591098"/>
            <a:chExt cx="2708911" cy="584583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C45E8F06-9FD8-D2C6-1C63-753C029391C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3763" r="3312"/>
            <a:stretch>
              <a:fillRect/>
            </a:stretch>
          </p:blipFill>
          <p:spPr>
            <a:xfrm>
              <a:off x="6017895" y="3591098"/>
              <a:ext cx="1803774" cy="584583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7CDF507B-069A-2F40-7115-935D7ADF4EC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3764" r="49606"/>
            <a:stretch>
              <a:fillRect/>
            </a:stretch>
          </p:blipFill>
          <p:spPr>
            <a:xfrm>
              <a:off x="7821670" y="3591098"/>
              <a:ext cx="905136" cy="584583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08A12E2F-6440-0C66-3EED-338F2F4CBA71}"/>
              </a:ext>
            </a:extLst>
          </p:cNvPr>
          <p:cNvGrpSpPr/>
          <p:nvPr/>
        </p:nvGrpSpPr>
        <p:grpSpPr>
          <a:xfrm>
            <a:off x="6028225" y="3603428"/>
            <a:ext cx="2708910" cy="584583"/>
            <a:chOff x="6020605" y="3603428"/>
            <a:chExt cx="2708910" cy="584583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235C51C9-3E55-4ED4-F52C-75C8B9D22A57}"/>
                </a:ext>
              </a:extLst>
            </p:cNvPr>
            <p:cNvGrpSpPr/>
            <p:nvPr/>
          </p:nvGrpSpPr>
          <p:grpSpPr>
            <a:xfrm>
              <a:off x="6473173" y="3603428"/>
              <a:ext cx="2256342" cy="584583"/>
              <a:chOff x="6017895" y="3591098"/>
              <a:chExt cx="2256342" cy="584583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BB147258-36F6-4862-BCFA-8C34DAA43A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BEBA8EAE-BF5A-486C-A8C5-ECC9F3942E4B}">
                    <a14:imgProps xmlns:a14="http://schemas.microsoft.com/office/drawing/2010/main">
                      <a14:imgLayer r:embed="rId9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63" r="3312"/>
              <a:stretch>
                <a:fillRect/>
              </a:stretch>
            </p:blipFill>
            <p:spPr>
              <a:xfrm>
                <a:off x="6017895" y="3591098"/>
                <a:ext cx="1803774" cy="584583"/>
              </a:xfrm>
              <a:prstGeom prst="rect">
                <a:avLst/>
              </a:prstGeom>
            </p:spPr>
          </p:pic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611F04AF-6208-0FD2-2CE4-38437FDC11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BEBA8EAE-BF5A-486C-A8C5-ECC9F3942E4B}">
                    <a14:imgProps xmlns:a14="http://schemas.microsoft.com/office/drawing/2010/main">
                      <a14:imgLayer r:embed="rId9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64" r="72921"/>
              <a:stretch>
                <a:fillRect/>
              </a:stretch>
            </p:blipFill>
            <p:spPr>
              <a:xfrm>
                <a:off x="7821670" y="3591098"/>
                <a:ext cx="452567" cy="584583"/>
              </a:xfrm>
              <a:prstGeom prst="rect">
                <a:avLst/>
              </a:prstGeom>
            </p:spPr>
          </p:pic>
        </p:grpSp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59FA1D13-9BC4-EF92-FF84-0FA06FAB2FE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26924" r="49606"/>
            <a:stretch>
              <a:fillRect/>
            </a:stretch>
          </p:blipFill>
          <p:spPr>
            <a:xfrm>
              <a:off x="6020605" y="3603428"/>
              <a:ext cx="455576" cy="584583"/>
            </a:xfrm>
            <a:prstGeom prst="rect">
              <a:avLst/>
            </a:prstGeom>
          </p:spPr>
        </p:pic>
      </p:grp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89C2B76-14A7-352C-3558-94E72D3645FB}"/>
              </a:ext>
            </a:extLst>
          </p:cNvPr>
          <p:cNvCxnSpPr>
            <a:cxnSpLocks/>
          </p:cNvCxnSpPr>
          <p:nvPr/>
        </p:nvCxnSpPr>
        <p:spPr>
          <a:xfrm flipV="1">
            <a:off x="7385685" y="3528060"/>
            <a:ext cx="0" cy="982980"/>
          </a:xfrm>
          <a:prstGeom prst="line">
            <a:avLst/>
          </a:prstGeom>
          <a:ln w="9525" cap="flat" cmpd="sng" algn="ctr">
            <a:solidFill>
              <a:srgbClr val="C0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F8BBEE0-1D85-AECC-01F9-428B6D92ECA9}"/>
              </a:ext>
            </a:extLst>
          </p:cNvPr>
          <p:cNvCxnSpPr>
            <a:cxnSpLocks/>
          </p:cNvCxnSpPr>
          <p:nvPr/>
        </p:nvCxnSpPr>
        <p:spPr>
          <a:xfrm flipV="1">
            <a:off x="7831999" y="4896735"/>
            <a:ext cx="0" cy="982980"/>
          </a:xfrm>
          <a:prstGeom prst="line">
            <a:avLst/>
          </a:prstGeom>
          <a:ln w="9525" cap="flat" cmpd="sng" algn="ctr">
            <a:solidFill>
              <a:srgbClr val="C0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48409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D7A07-07D0-A1CB-8899-D355F4D51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11288E9-B3DA-B302-03ED-BB1A2F90FFD7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46577B6-6057-D7AE-7D40-C0DB523A1A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4319851"/>
              </p:ext>
            </p:extLst>
          </p:nvPr>
        </p:nvGraphicFramePr>
        <p:xfrm>
          <a:off x="449950" y="1397000"/>
          <a:ext cx="4122050" cy="4640580"/>
        </p:xfrm>
        <a:graphic>
          <a:graphicData uri="http://schemas.openxmlformats.org/drawingml/2006/table">
            <a:tbl>
              <a:tblPr firstRow="1" bandRow="1"/>
              <a:tblGrid>
                <a:gridCol w="2072270">
                  <a:extLst>
                    <a:ext uri="{9D8B030D-6E8A-4147-A177-3AD203B41FA5}">
                      <a16:colId xmlns:a16="http://schemas.microsoft.com/office/drawing/2014/main" val="1626750321"/>
                    </a:ext>
                  </a:extLst>
                </a:gridCol>
                <a:gridCol w="2049780">
                  <a:extLst>
                    <a:ext uri="{9D8B030D-6E8A-4147-A177-3AD203B41FA5}">
                      <a16:colId xmlns:a16="http://schemas.microsoft.com/office/drawing/2014/main" val="3959665702"/>
                    </a:ext>
                  </a:extLst>
                </a:gridCol>
              </a:tblGrid>
              <a:tr h="260350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82850818"/>
                  </a:ext>
                </a:extLst>
              </a:tr>
              <a:tr h="203708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60353045"/>
                  </a:ext>
                </a:extLst>
              </a:tr>
            </a:tbl>
          </a:graphicData>
        </a:graphic>
      </p:graphicFrame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2B04609-9011-75C1-428E-AEC92A9E8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51FE5-0852-4695-99CD-FCC04685661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5B394A24-A5ED-B4AB-743F-176B4BC52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B4F0ABD-A3FF-3FA4-1508-CB40B0A88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10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64F6E0-59C6-5FA8-3FF9-66A6EBA747D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1C3D19D7-7B78-6C3C-DB0D-BD75D8D009B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0D9AE2-CD0C-5DD6-009A-C7A8EDFFA33D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Le Timbre : L'Effet du Filtre Interne RLC</a:t>
            </a:r>
            <a:endParaRPr lang="fr-FR" sz="2000" b="1" dirty="0">
              <a:latin typeface="+mj-lt"/>
            </a:endParaRPr>
          </a:p>
        </p:txBody>
      </p:sp>
      <p:pic>
        <p:nvPicPr>
          <p:cNvPr id="17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6DD3104-026C-3288-625E-3BE3270D2D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674519" y="1741305"/>
            <a:ext cx="1546490" cy="1158075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7044795-B5D5-6F21-32C2-10AD5E46D7A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678716" y="4086405"/>
            <a:ext cx="1546490" cy="121769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C400735B-3429-D74B-B914-FE6A013D94BE}"/>
              </a:ext>
            </a:extLst>
          </p:cNvPr>
          <p:cNvGrpSpPr/>
          <p:nvPr/>
        </p:nvGrpSpPr>
        <p:grpSpPr>
          <a:xfrm>
            <a:off x="5094965" y="5771618"/>
            <a:ext cx="3846097" cy="338554"/>
            <a:chOff x="4855751" y="4417981"/>
            <a:chExt cx="3846097" cy="338554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237119B-1DF1-C2FC-F71B-79302244948A}"/>
                </a:ext>
              </a:extLst>
            </p:cNvPr>
            <p:cNvSpPr txBox="1"/>
            <p:nvPr/>
          </p:nvSpPr>
          <p:spPr>
            <a:xfrm>
              <a:off x="4855751" y="4417981"/>
              <a:ext cx="384609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dirty="0"/>
                <a:t>Ainsi on fera l’hypothèse :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EBB517F-560A-DA35-F53F-D72908A2CC59}"/>
                    </a:ext>
                  </a:extLst>
                </p:cNvPr>
                <p:cNvSpPr txBox="1"/>
                <p:nvPr/>
              </p:nvSpPr>
              <p:spPr>
                <a:xfrm>
                  <a:off x="7425344" y="4433151"/>
                  <a:ext cx="1174489" cy="276999"/>
                </a:xfrm>
                <a:prstGeom prst="rect">
                  <a:avLst/>
                </a:prstGeom>
                <a:ln w="19050">
                  <a:solidFill>
                    <a:srgbClr val="C00000"/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ctrlP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EBB517F-560A-DA35-F53F-D72908A2CC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5344" y="4433151"/>
                  <a:ext cx="1174489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1531" r="-5102" b="-31250"/>
                  </a:stretch>
                </a:blipFill>
                <a:ln w="19050"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3E0B518A-F126-423A-04A5-83BB611A4A6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0" b="740"/>
          <a:stretch/>
        </p:blipFill>
        <p:spPr>
          <a:xfrm>
            <a:off x="4695507" y="1341342"/>
            <a:ext cx="4006341" cy="296031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FF250A-2E63-B51D-D63B-013A63FA0AFC}"/>
                  </a:ext>
                </a:extLst>
              </p:cNvPr>
              <p:cNvSpPr txBox="1"/>
              <p:nvPr/>
            </p:nvSpPr>
            <p:spPr>
              <a:xfrm>
                <a:off x="5102463" y="4618936"/>
                <a:ext cx="384609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On observe : 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𝑐𝑠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8219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𝐻𝑧</m:t>
                    </m:r>
                  </m:oMath>
                </a14:m>
                <a:r>
                  <a:rPr lang="fr-FR" sz="1600" dirty="0"/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fr-FR" sz="1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4502 </m:t>
                      </m:r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𝐻𝑧</m:t>
                      </m:r>
                    </m:oMath>
                  </m:oMathPara>
                </a14:m>
                <a:endParaRPr lang="fr-FR" sz="1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FF250A-2E63-B51D-D63B-013A63FA0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2463" y="4618936"/>
                <a:ext cx="3846097" cy="830997"/>
              </a:xfrm>
              <a:prstGeom prst="rect">
                <a:avLst/>
              </a:prstGeom>
              <a:blipFill>
                <a:blip r:embed="rId10"/>
                <a:stretch>
                  <a:fillRect l="-792" t="-2206" b="-441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8E4615ED-B94B-ADB7-D7F5-8C2A7D8E43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8236" y="548629"/>
            <a:ext cx="756000" cy="7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Python Logo PNG Transparent – Brands Logos">
            <a:extLst>
              <a:ext uri="{FF2B5EF4-FFF2-40B4-BE49-F238E27FC236}">
                <a16:creationId xmlns:a16="http://schemas.microsoft.com/office/drawing/2014/main" id="{C09501B8-70A3-10A3-FBF9-13A837FE0D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56000" cy="752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4F6C346-A3C5-1522-6B30-1F651D83DCC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60213" y="1525636"/>
            <a:ext cx="1546490" cy="159445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F87AB88-97AD-E218-4D68-9EE41709C01C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77164" y="4158670"/>
            <a:ext cx="1792861" cy="1109628"/>
          </a:xfrm>
          <a:prstGeom prst="rect">
            <a:avLst/>
          </a:prstGeom>
        </p:spPr>
      </p:pic>
      <p:sp>
        <p:nvSpPr>
          <p:cNvPr id="20" name="Double Bracket 19">
            <a:extLst>
              <a:ext uri="{FF2B5EF4-FFF2-40B4-BE49-F238E27FC236}">
                <a16:creationId xmlns:a16="http://schemas.microsoft.com/office/drawing/2014/main" id="{0E825AA0-19F2-F874-0523-5C4D47B5EC72}"/>
              </a:ext>
            </a:extLst>
          </p:cNvPr>
          <p:cNvSpPr/>
          <p:nvPr/>
        </p:nvSpPr>
        <p:spPr>
          <a:xfrm>
            <a:off x="5758180" y="3949559"/>
            <a:ext cx="1513840" cy="96520"/>
          </a:xfrm>
          <a:prstGeom prst="bracketPair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C9ED15B-E6BC-7AE9-95AF-28E49CCC9D24}"/>
              </a:ext>
            </a:extLst>
          </p:cNvPr>
          <p:cNvCxnSpPr>
            <a:cxnSpLocks/>
          </p:cNvCxnSpPr>
          <p:nvPr/>
        </p:nvCxnSpPr>
        <p:spPr>
          <a:xfrm>
            <a:off x="5758180" y="3992104"/>
            <a:ext cx="1513840" cy="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B7E9BBF-4D7A-402A-291A-6391E71D125F}"/>
              </a:ext>
            </a:extLst>
          </p:cNvPr>
          <p:cNvSpPr txBox="1"/>
          <p:nvPr/>
        </p:nvSpPr>
        <p:spPr>
          <a:xfrm>
            <a:off x="5731585" y="3704611"/>
            <a:ext cx="15670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solidFill>
                  <a:srgbClr val="C00000"/>
                </a:solidFill>
              </a:rPr>
              <a:t>Domaine accessible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6CD317A-162D-4C2E-A3A1-BB9FE37AA596}"/>
                  </a:ext>
                </a:extLst>
              </p:cNvPr>
              <p:cNvSpPr txBox="1"/>
              <p:nvPr/>
            </p:nvSpPr>
            <p:spPr>
              <a:xfrm>
                <a:off x="686202" y="3236552"/>
                <a:ext cx="3879973" cy="572529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𝑎𝑚𝑝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𝑎𝑚𝑝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 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6CD317A-162D-4C2E-A3A1-BB9FE37AA5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202" y="3236552"/>
                <a:ext cx="3879973" cy="572529"/>
              </a:xfrm>
              <a:prstGeom prst="rect">
                <a:avLst/>
              </a:prstGeom>
              <a:blipFill>
                <a:blip r:embed="rId17"/>
                <a:stretch>
                  <a:fillRect t="-1031" b="-3093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1795EB2-D294-2EAC-F9B5-584738A630CE}"/>
                  </a:ext>
                </a:extLst>
              </p:cNvPr>
              <p:cNvSpPr txBox="1"/>
              <p:nvPr/>
            </p:nvSpPr>
            <p:spPr>
              <a:xfrm>
                <a:off x="436656" y="5568480"/>
                <a:ext cx="4280081" cy="591124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𝑎𝑚𝑝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𝑎𝑚𝑝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 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+2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1795EB2-D294-2EAC-F9B5-584738A630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656" y="5568480"/>
                <a:ext cx="4280081" cy="591124"/>
              </a:xfrm>
              <a:prstGeom prst="rect">
                <a:avLst/>
              </a:prstGeom>
              <a:blipFill>
                <a:blip r:embed="rId18"/>
                <a:stretch>
                  <a:fillRect b="-1000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738F8C0-BDF7-8BA1-8605-E7492823E15C}"/>
              </a:ext>
            </a:extLst>
          </p:cNvPr>
          <p:cNvCxnSpPr>
            <a:cxnSpLocks/>
          </p:cNvCxnSpPr>
          <p:nvPr/>
        </p:nvCxnSpPr>
        <p:spPr>
          <a:xfrm flipV="1">
            <a:off x="7272020" y="1691640"/>
            <a:ext cx="0" cy="104267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1DA1487E-703C-C235-C1D6-7329EC3075FA}"/>
              </a:ext>
            </a:extLst>
          </p:cNvPr>
          <p:cNvCxnSpPr>
            <a:cxnSpLocks/>
          </p:cNvCxnSpPr>
          <p:nvPr/>
        </p:nvCxnSpPr>
        <p:spPr>
          <a:xfrm flipV="1">
            <a:off x="5758180" y="1691640"/>
            <a:ext cx="0" cy="70866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C0DA2B48-8402-60E2-5FEB-C330C7CB97E4}"/>
              </a:ext>
            </a:extLst>
          </p:cNvPr>
          <p:cNvCxnSpPr>
            <a:cxnSpLocks/>
            <a:stCxn id="20" idx="1"/>
          </p:cNvCxnSpPr>
          <p:nvPr/>
        </p:nvCxnSpPr>
        <p:spPr>
          <a:xfrm flipV="1">
            <a:off x="5758180" y="2945130"/>
            <a:ext cx="0" cy="1052689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079D34D3-446F-0DB0-1D34-CF2A9097C512}"/>
              </a:ext>
            </a:extLst>
          </p:cNvPr>
          <p:cNvCxnSpPr>
            <a:cxnSpLocks/>
            <a:stCxn id="20" idx="3"/>
          </p:cNvCxnSpPr>
          <p:nvPr/>
        </p:nvCxnSpPr>
        <p:spPr>
          <a:xfrm flipV="1">
            <a:off x="7272020" y="2945130"/>
            <a:ext cx="0" cy="1052689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7BEDA43-68F6-F3B9-DAF5-75E21BEE402F}"/>
              </a:ext>
            </a:extLst>
          </p:cNvPr>
          <p:cNvCxnSpPr>
            <a:cxnSpLocks/>
          </p:cNvCxnSpPr>
          <p:nvPr/>
        </p:nvCxnSpPr>
        <p:spPr>
          <a:xfrm flipV="1">
            <a:off x="5758180" y="2691765"/>
            <a:ext cx="0" cy="42545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261DFBF-9D0A-89FC-97EC-9581D6D0FCFB}"/>
              </a:ext>
            </a:extLst>
          </p:cNvPr>
          <p:cNvGrpSpPr/>
          <p:nvPr/>
        </p:nvGrpSpPr>
        <p:grpSpPr>
          <a:xfrm>
            <a:off x="7731933" y="4019554"/>
            <a:ext cx="355600" cy="404987"/>
            <a:chOff x="1291300" y="5077968"/>
            <a:chExt cx="355600" cy="404987"/>
          </a:xfrm>
        </p:grpSpPr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99029F23-2623-1CE1-1453-E8A6092F00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177781"/>
            </a:xfrm>
            <a:prstGeom prst="straightConnector1">
              <a:avLst/>
            </a:prstGeom>
            <a:ln w="28575">
              <a:solidFill>
                <a:schemeClr val="accent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B1C758FB-9ADD-7FD9-F4C4-6F11FE5EFF02}"/>
                    </a:ext>
                  </a:extLst>
                </p:cNvPr>
                <p:cNvSpPr txBox="1"/>
                <p:nvPr/>
              </p:nvSpPr>
              <p:spPr>
                <a:xfrm>
                  <a:off x="1291300" y="520595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𝒄𝒔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B1C758FB-9ADD-7FD9-F4C4-6F11FE5EFF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1300" y="5205956"/>
                  <a:ext cx="355600" cy="276999"/>
                </a:xfrm>
                <a:prstGeom prst="rect">
                  <a:avLst/>
                </a:prstGeom>
                <a:blipFill>
                  <a:blip r:embed="rId19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0F8BA76-AD12-0317-7181-C8D57AC87E40}"/>
              </a:ext>
            </a:extLst>
          </p:cNvPr>
          <p:cNvGrpSpPr/>
          <p:nvPr/>
        </p:nvGrpSpPr>
        <p:grpSpPr>
          <a:xfrm>
            <a:off x="7460904" y="4015605"/>
            <a:ext cx="355600" cy="404987"/>
            <a:chOff x="1291300" y="5077968"/>
            <a:chExt cx="355600" cy="404987"/>
          </a:xfrm>
        </p:grpSpPr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57354AFF-FB03-6625-CF50-F0D7AC778D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177781"/>
            </a:xfrm>
            <a:prstGeom prst="straightConnector1">
              <a:avLst/>
            </a:prstGeom>
            <a:ln w="28575">
              <a:solidFill>
                <a:schemeClr val="accent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6321A97-1FF2-CB51-DC80-2936EB06D103}"/>
                    </a:ext>
                  </a:extLst>
                </p:cNvPr>
                <p:cNvSpPr txBox="1"/>
                <p:nvPr/>
              </p:nvSpPr>
              <p:spPr>
                <a:xfrm>
                  <a:off x="1291300" y="520595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𝒄𝒉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6321A97-1FF2-CB51-DC80-2936EB06D1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1300" y="5205956"/>
                  <a:ext cx="355600" cy="276999"/>
                </a:xfrm>
                <a:prstGeom prst="rect">
                  <a:avLst/>
                </a:prstGeom>
                <a:blipFill>
                  <a:blip r:embed="rId20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989257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1C3C5-724E-6B47-34F2-CF92308B7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723932D-DB1E-0F79-2630-BD139B43CBE1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165BD7B-D6B6-F854-07A0-F8064B514725}"/>
                  </a:ext>
                </a:extLst>
              </p:cNvPr>
              <p:cNvSpPr/>
              <p:nvPr/>
            </p:nvSpPr>
            <p:spPr>
              <a:xfrm>
                <a:off x="345439" y="4094922"/>
                <a:ext cx="4226561" cy="2041718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500" dirty="0"/>
                  <a:t>: Gradient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15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Espacement entre les deux bobinages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165BD7B-D6B6-F854-07A0-F8064B5147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4094922"/>
                <a:ext cx="4226561" cy="2041718"/>
              </a:xfrm>
              <a:prstGeom prst="rect">
                <a:avLst/>
              </a:prstGeom>
              <a:blipFill>
                <a:blip r:embed="rId2"/>
                <a:stretch>
                  <a:fillRect l="-429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9FDBC51-B7C5-D612-8598-965C48AC7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00570-F7DD-41B7-BB32-56FA7FFA6B7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176A7DB-7D10-F9C8-D148-462CE4532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ADAE1A4-DBF7-136C-C7FB-905349CD6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6BC0CE4-5ED2-FFA6-9DD9-47F59A76BEC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B6957C-FA40-780F-7F7C-92FF0723E95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4BB3D-1902-55C0-F635-6C138FD49C9A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Intérêt du Humbucker : L’annulation du bruit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/>
              <p:nvPr/>
            </p:nvSpPr>
            <p:spPr>
              <a:xfrm>
                <a:off x="4723076" y="1444616"/>
                <a:ext cx="4216714" cy="4692024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On considère un champ parasite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SingleCoil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Supposons le champ uniforme (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FR" sz="1600" dirty="0"/>
                  <a:t>)</a:t>
                </a:r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(0, 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pPr algn="ctr"/>
                <a:endParaRPr lang="fr-FR" sz="1600" dirty="0"/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Humbucker :</a:t>
                </a:r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𝑁𝑆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m:rPr>
                          <m:sty m:val="p"/>
                        </m:rPr>
                        <a:rPr lang="el-GR" sz="16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pPr algn="ctr"/>
                <a:endParaRPr lang="fr-FR" sz="1200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76" y="1444616"/>
                <a:ext cx="4216714" cy="4692024"/>
              </a:xfrm>
              <a:prstGeom prst="rect">
                <a:avLst/>
              </a:prstGeom>
              <a:blipFill>
                <a:blip r:embed="rId3"/>
                <a:stretch>
                  <a:fillRect l="-430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EAF15FF1-795D-844B-4386-4B6F1C8443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8101701" y="558793"/>
            <a:ext cx="839363" cy="67401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2" descr="Image de ">
            <a:extLst>
              <a:ext uri="{FF2B5EF4-FFF2-40B4-BE49-F238E27FC236}">
                <a16:creationId xmlns:a16="http://schemas.microsoft.com/office/drawing/2014/main" id="{191D9128-D82D-813C-F887-06FAE524B6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621C569-9488-D1D8-6F63-F78A9BC1BA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345439" y="1362548"/>
            <a:ext cx="4216714" cy="2561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84591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317EF-1FA9-4C71-24AC-92C2CCEDF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7A830A7-B734-AAE1-B623-C2C7A0333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132CB-8102-4AD5-B068-078D3A00EB35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4270AEB-E3E1-1E93-ABDC-EF4719ADC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02644A6-17D6-7DD7-E116-6CC650453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134B5E-E8E3-6A96-D065-7A23C530F75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4E452FE-0505-3E6D-01DF-7394C65569B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17026C-30AC-055B-0F5E-C7C1D3422A7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19EA9C-BFE4-D1D7-F4B5-C5F727119DA3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325D940-13FD-EE6E-C1BF-2EAC1C5E36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27" b="5227"/>
          <a:stretch/>
        </p:blipFill>
        <p:spPr>
          <a:xfrm rot="16200000">
            <a:off x="2603624" y="619066"/>
            <a:ext cx="2942282" cy="3919568"/>
          </a:xfrm>
          <a:prstGeom prst="rect">
            <a:avLst/>
          </a:prstGeom>
          <a:ln w="28575">
            <a:noFill/>
          </a:ln>
          <a:effectLst>
            <a:softEdge rad="31750"/>
          </a:effectLst>
        </p:spPr>
      </p:pic>
      <p:grpSp>
        <p:nvGrpSpPr>
          <p:cNvPr id="130" name="Group 129">
            <a:extLst>
              <a:ext uri="{FF2B5EF4-FFF2-40B4-BE49-F238E27FC236}">
                <a16:creationId xmlns:a16="http://schemas.microsoft.com/office/drawing/2014/main" id="{C1537CB8-8F77-3361-FCF5-324906ABEE21}"/>
              </a:ext>
            </a:extLst>
          </p:cNvPr>
          <p:cNvGrpSpPr/>
          <p:nvPr/>
        </p:nvGrpSpPr>
        <p:grpSpPr>
          <a:xfrm flipH="1">
            <a:off x="642960" y="3771358"/>
            <a:ext cx="7203774" cy="2309732"/>
            <a:chOff x="1440953" y="1876985"/>
            <a:chExt cx="7034257" cy="2309732"/>
          </a:xfrm>
        </p:grpSpPr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A736D3F3-4A90-024E-7181-02CE60F392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84704" y="2155618"/>
              <a:ext cx="2155" cy="104787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18BC0333-7E48-61E5-E34B-B5B9D6FC36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22212" y="2155618"/>
              <a:ext cx="0" cy="8062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58E57516-AB63-523C-BE76-D867BDF74920}"/>
                </a:ext>
              </a:extLst>
            </p:cNvPr>
            <p:cNvSpPr/>
            <p:nvPr/>
          </p:nvSpPr>
          <p:spPr>
            <a:xfrm>
              <a:off x="8123681" y="1876985"/>
              <a:ext cx="351529" cy="36000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485931D7-3E78-6020-17E4-F6EE0BB401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6140000">
              <a:off x="4210262" y="693933"/>
              <a:ext cx="723475" cy="6262094"/>
            </a:xfrm>
            <a:prstGeom prst="rect">
              <a:avLst/>
            </a:prstGeom>
          </p:spPr>
        </p:pic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5F8196E1-5107-A090-A02B-0D5B1F2BB0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90251" y="3096524"/>
              <a:ext cx="0" cy="44673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0A460243-E926-285E-F365-3ADCE268F815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0" cy="5814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441694C6-9602-975D-1574-A99AFF4F26F2}"/>
                </a:ext>
              </a:extLst>
            </p:cNvPr>
            <p:cNvCxnSpPr>
              <a:cxnSpLocks/>
            </p:cNvCxnSpPr>
            <p:nvPr/>
          </p:nvCxnSpPr>
          <p:spPr>
            <a:xfrm>
              <a:off x="6190251" y="3096524"/>
              <a:ext cx="2112144" cy="0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3EF38A95-CE8D-9AAB-3C5D-AEF1A3BF8786}"/>
                </a:ext>
              </a:extLst>
            </p:cNvPr>
            <p:cNvCxnSpPr>
              <a:cxnSpLocks/>
              <a:stCxn id="133" idx="2"/>
            </p:cNvCxnSpPr>
            <p:nvPr/>
          </p:nvCxnSpPr>
          <p:spPr>
            <a:xfrm>
              <a:off x="8299446" y="2236985"/>
              <a:ext cx="4014" cy="859539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F8AF5930-1CB0-865F-98BE-5C2A56417834}"/>
                </a:ext>
              </a:extLst>
            </p:cNvPr>
            <p:cNvCxnSpPr>
              <a:cxnSpLocks/>
            </p:cNvCxnSpPr>
            <p:nvPr/>
          </p:nvCxnSpPr>
          <p:spPr>
            <a:xfrm>
              <a:off x="6439448" y="3203160"/>
              <a:ext cx="0" cy="348166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8CE6734F-70E2-D8A4-4571-BC8F28893B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9448" y="3201475"/>
              <a:ext cx="1946494" cy="1685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30D9B816-562D-5ADB-E2A2-1719360636CE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1948413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749D53FD-1AA2-3F26-4A50-75DD1D2E5A33}"/>
                </a:ext>
              </a:extLst>
            </p:cNvPr>
            <p:cNvSpPr txBox="1"/>
            <p:nvPr/>
          </p:nvSpPr>
          <p:spPr>
            <a:xfrm>
              <a:off x="4052454" y="2466429"/>
              <a:ext cx="63315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193E3723-B32C-DD06-A1E1-8606E420CF1E}"/>
              </a:ext>
            </a:extLst>
          </p:cNvPr>
          <p:cNvSpPr txBox="1"/>
          <p:nvPr/>
        </p:nvSpPr>
        <p:spPr>
          <a:xfrm flipH="1">
            <a:off x="105279" y="3443955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Carte acquisition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3EE8BFC5-F2AA-D1A3-380C-6809D26261A6}"/>
              </a:ext>
            </a:extLst>
          </p:cNvPr>
          <p:cNvCxnSpPr>
            <a:cxnSpLocks/>
            <a:stCxn id="23" idx="0"/>
          </p:cNvCxnSpPr>
          <p:nvPr/>
        </p:nvCxnSpPr>
        <p:spPr>
          <a:xfrm rot="5400000" flipH="1" flipV="1">
            <a:off x="1694926" y="3207079"/>
            <a:ext cx="1085255" cy="726287"/>
          </a:xfrm>
          <a:prstGeom prst="bentConnector3">
            <a:avLst>
              <a:gd name="adj1" fmla="val 100554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B7AF251-442D-D41A-2407-64D8B6581262}"/>
              </a:ext>
            </a:extLst>
          </p:cNvPr>
          <p:cNvSpPr txBox="1"/>
          <p:nvPr/>
        </p:nvSpPr>
        <p:spPr>
          <a:xfrm flipH="1">
            <a:off x="1232567" y="4112849"/>
            <a:ext cx="1283687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SingleCoil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729105-5D1B-BD47-7B86-BF65201E2C22}"/>
              </a:ext>
            </a:extLst>
          </p:cNvPr>
          <p:cNvSpPr txBox="1"/>
          <p:nvPr/>
        </p:nvSpPr>
        <p:spPr>
          <a:xfrm flipH="1">
            <a:off x="2847510" y="4105261"/>
            <a:ext cx="1387055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Humbucker</a:t>
            </a:r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736A5C1-091B-7125-5BE6-37A8B606888F}"/>
              </a:ext>
            </a:extLst>
          </p:cNvPr>
          <p:cNvCxnSpPr>
            <a:cxnSpLocks/>
            <a:stCxn id="23" idx="2"/>
          </p:cNvCxnSpPr>
          <p:nvPr/>
        </p:nvCxnSpPr>
        <p:spPr>
          <a:xfrm rot="16200000" flipH="1">
            <a:off x="1746518" y="4517740"/>
            <a:ext cx="1140367" cy="884582"/>
          </a:xfrm>
          <a:prstGeom prst="bentConnector3">
            <a:avLst>
              <a:gd name="adj1" fmla="val 20098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9A269F26-F8FB-BD35-8D1C-147049D4D4C3}"/>
              </a:ext>
            </a:extLst>
          </p:cNvPr>
          <p:cNvCxnSpPr>
            <a:cxnSpLocks/>
            <a:stCxn id="24" idx="2"/>
          </p:cNvCxnSpPr>
          <p:nvPr/>
        </p:nvCxnSpPr>
        <p:spPr>
          <a:xfrm rot="5400000">
            <a:off x="2751235" y="4709604"/>
            <a:ext cx="1117147" cy="462459"/>
          </a:xfrm>
          <a:prstGeom prst="bentConnector3">
            <a:avLst>
              <a:gd name="adj1" fmla="val 21352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CD4B400A-45D8-1178-C9C6-D74658FD0F29}"/>
              </a:ext>
            </a:extLst>
          </p:cNvPr>
          <p:cNvCxnSpPr>
            <a:cxnSpLocks/>
            <a:stCxn id="24" idx="0"/>
          </p:cNvCxnSpPr>
          <p:nvPr/>
        </p:nvCxnSpPr>
        <p:spPr>
          <a:xfrm rot="16200000" flipV="1">
            <a:off x="2713057" y="3277281"/>
            <a:ext cx="1077666" cy="578294"/>
          </a:xfrm>
          <a:prstGeom prst="bentConnector3">
            <a:avLst>
              <a:gd name="adj1" fmla="val 100733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B74BC81-0396-58E2-4F5F-25A19BB7D6D7}"/>
              </a:ext>
            </a:extLst>
          </p:cNvPr>
          <p:cNvCxnSpPr>
            <a:cxnSpLocks/>
            <a:stCxn id="161" idx="2"/>
          </p:cNvCxnSpPr>
          <p:nvPr/>
        </p:nvCxnSpPr>
        <p:spPr>
          <a:xfrm rot="5400000">
            <a:off x="3978664" y="4933548"/>
            <a:ext cx="1165175" cy="57368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4427088E-AEAA-CC36-74E4-446F94028ABB}"/>
              </a:ext>
            </a:extLst>
          </p:cNvPr>
          <p:cNvCxnSpPr>
            <a:cxnSpLocks/>
            <a:stCxn id="161" idx="0"/>
          </p:cNvCxnSpPr>
          <p:nvPr/>
        </p:nvCxnSpPr>
        <p:spPr>
          <a:xfrm rot="16200000" flipV="1">
            <a:off x="3888275" y="3400986"/>
            <a:ext cx="1295657" cy="62397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867C14B-30E0-4446-17BE-4AFC90AB65AB}"/>
              </a:ext>
            </a:extLst>
          </p:cNvPr>
          <p:cNvCxnSpPr>
            <a:cxnSpLocks/>
            <a:stCxn id="19" idx="0"/>
          </p:cNvCxnSpPr>
          <p:nvPr/>
        </p:nvCxnSpPr>
        <p:spPr>
          <a:xfrm rot="5400000" flipH="1" flipV="1">
            <a:off x="673890" y="2002865"/>
            <a:ext cx="1599246" cy="1282935"/>
          </a:xfrm>
          <a:prstGeom prst="bentConnector3">
            <a:avLst>
              <a:gd name="adj1" fmla="val 10003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B071C68-B138-3613-4C55-8E30F0742557}"/>
              </a:ext>
            </a:extLst>
          </p:cNvPr>
          <p:cNvSpPr txBox="1"/>
          <p:nvPr/>
        </p:nvSpPr>
        <p:spPr>
          <a:xfrm>
            <a:off x="6275119" y="1107708"/>
            <a:ext cx="266738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Objectifs : </a:t>
            </a:r>
          </a:p>
          <a:p>
            <a:endParaRPr lang="fr-FR" b="1" u="sng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Récupérer les signaux émis par les micros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Utilisation d’une Bobine de Helmholtz pour simuler le champ parasite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AC37F92-0300-2194-BBFA-28D6CCCBFC3F}"/>
              </a:ext>
            </a:extLst>
          </p:cNvPr>
          <p:cNvCxnSpPr>
            <a:cxnSpLocks/>
          </p:cNvCxnSpPr>
          <p:nvPr/>
        </p:nvCxnSpPr>
        <p:spPr>
          <a:xfrm flipH="1">
            <a:off x="2166620" y="3065145"/>
            <a:ext cx="384048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E98F84A-A707-90F0-135B-B3D6DB6478CF}"/>
              </a:ext>
            </a:extLst>
          </p:cNvPr>
          <p:cNvCxnSpPr>
            <a:cxnSpLocks/>
          </p:cNvCxnSpPr>
          <p:nvPr/>
        </p:nvCxnSpPr>
        <p:spPr>
          <a:xfrm flipH="1">
            <a:off x="2051685" y="5819775"/>
            <a:ext cx="537365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24458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2B42A-F67C-37DA-4B93-CEC189DD8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D6BE3B3-CF90-9312-7CDD-34B8044C5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FCF18B8F-802B-CBB8-DB71-C08C52AB7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5C76452-AB80-6C93-7766-0177FAB30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172378E-94EC-CA30-3123-341386815D0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10BD67C-F5D3-4328-3EDC-45DEF370E93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C9B98E-4A27-144B-67A0-E7FDFF2FFAE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B0A67D-DF5B-EAD9-D1E2-5FB714259E40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F878BD3-94E9-E96B-42B8-15C36299F8E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66872" y="1644081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F5D6A96A-015C-F8F3-0246-AEAE5830EE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EBC7C84B-F17E-89C1-7E0E-A275640C2D19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C1A2245-5D6D-1C6B-68D8-13C2802881CA}"/>
              </a:ext>
            </a:extLst>
          </p:cNvPr>
          <p:cNvSpPr txBox="1"/>
          <p:nvPr/>
        </p:nvSpPr>
        <p:spPr>
          <a:xfrm>
            <a:off x="4966872" y="4895376"/>
            <a:ext cx="3744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8A9E25B-EB1D-515E-AAC5-8D82416041ED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7130" y="164775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BB98E12-D168-91E9-CCD7-3175583C232F}"/>
                  </a:ext>
                </a:extLst>
              </p:cNvPr>
              <p:cNvSpPr txBox="1"/>
              <p:nvPr/>
            </p:nvSpPr>
            <p:spPr>
              <a:xfrm>
                <a:off x="993731" y="5281705"/>
                <a:ext cx="2566035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BB98E12-D168-91E9-CCD7-3175583C23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731" y="5281705"/>
                <a:ext cx="2566035" cy="276999"/>
              </a:xfrm>
              <a:prstGeom prst="rect">
                <a:avLst/>
              </a:prstGeom>
              <a:blipFill>
                <a:blip r:embed="rId6"/>
                <a:stretch>
                  <a:fillRect b="-625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7E5B405-599D-375B-6FE8-70EF74B75FE2}"/>
                  </a:ext>
                </a:extLst>
              </p:cNvPr>
              <p:cNvSpPr txBox="1"/>
              <p:nvPr/>
            </p:nvSpPr>
            <p:spPr>
              <a:xfrm>
                <a:off x="5444308" y="5286983"/>
                <a:ext cx="2825127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7E5B405-599D-375B-6FE8-70EF74B75F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4308" y="5286983"/>
                <a:ext cx="2825127" cy="276999"/>
              </a:xfrm>
              <a:prstGeom prst="rect">
                <a:avLst/>
              </a:prstGeom>
              <a:blipFill>
                <a:blip r:embed="rId7"/>
                <a:stretch>
                  <a:fillRect b="-625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345665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BC1AD-D662-AF41-F177-355DE4841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07612C5-4A26-0B28-2BD4-3A8F0CAD3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915AB5E-C31B-83F0-8756-B39AD42ED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3CA1D53-FBAC-07F1-1634-E7200C0F9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A518319-7113-8BB5-7B76-0997B476402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6605B48-9A4A-8845-4E30-DB8A70A03D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5308E7-3108-B4A2-CB1B-A36615B3F1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17FE39-D06B-92A8-3C3B-37F7B7C457A9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6EB4B2E-5AB8-F070-9D49-1607376C313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1" y="164775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9B84C60E-3F0A-1DF5-2981-48DCA486B2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87558A09-C574-4E88-7830-77728A6B8D54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1915B1B-F1D5-4122-3435-158E00B22FD1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684CB12-A218-367D-D503-E7BB7299F61B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751" y="164775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614851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0C72B-4961-E843-949D-D5A434BCC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80364E0E-5649-AE35-0AC0-F1FCF641F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65B8C822-0F98-D84B-3809-245893B60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6BF90DF-3B52-AA5F-9259-44C014051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15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F25C9A0-5F84-B1AE-6321-6B11D5DC683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27659626-0619-3AC7-5309-304086C2FEE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73A919-E9F2-05A2-8AC0-9DB60D2289C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D57718-A78C-9B18-06A6-9CD65E45442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67871DE-93D7-4BEE-BCFB-64C2A6C97ED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66873" y="1647754"/>
            <a:ext cx="3779998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1CE37557-6835-FC1A-A047-49DCA85C37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0E43EEBF-FD28-3EDB-5D3E-7BCD2D845D69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3101092-E189-42FD-8276-6B9177C12D17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387A465-B075-231C-C729-919AE474ABF1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7130" y="164775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C0C4B50-A414-2854-3E94-6C7A6B485D4A}"/>
              </a:ext>
            </a:extLst>
          </p:cNvPr>
          <p:cNvGrpSpPr/>
          <p:nvPr/>
        </p:nvGrpSpPr>
        <p:grpSpPr>
          <a:xfrm>
            <a:off x="1136233" y="4388291"/>
            <a:ext cx="355600" cy="480773"/>
            <a:chOff x="1364960" y="5087464"/>
            <a:chExt cx="355600" cy="480773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45B248C-9F2B-4A82-1217-FDEAB90894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87464"/>
              <a:ext cx="0" cy="28010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86703F9-C8A6-971D-A56A-17465B005E72}"/>
                    </a:ext>
                  </a:extLst>
                </p:cNvPr>
                <p:cNvSpPr txBox="1"/>
                <p:nvPr/>
              </p:nvSpPr>
              <p:spPr>
                <a:xfrm>
                  <a:off x="1364960" y="5291238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86703F9-C8A6-971D-A56A-17465B005E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4960" y="5291238"/>
                  <a:ext cx="355600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D9E11F0-6038-7ECF-3624-A516FA41FD8D}"/>
              </a:ext>
            </a:extLst>
          </p:cNvPr>
          <p:cNvGrpSpPr/>
          <p:nvPr/>
        </p:nvGrpSpPr>
        <p:grpSpPr>
          <a:xfrm>
            <a:off x="869533" y="4388291"/>
            <a:ext cx="355600" cy="477500"/>
            <a:chOff x="1168945" y="5077968"/>
            <a:chExt cx="355600" cy="477500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90F5EE3-AC94-07B1-0969-F4DD1499EA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280105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0052DC2-AB36-3A6F-DE90-E8CEF1D27628}"/>
                    </a:ext>
                  </a:extLst>
                </p:cNvPr>
                <p:cNvSpPr txBox="1"/>
                <p:nvPr/>
              </p:nvSpPr>
              <p:spPr>
                <a:xfrm>
                  <a:off x="1168945" y="5278469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𝑩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0052DC2-AB36-3A6F-DE90-E8CEF1D276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8945" y="5278469"/>
                  <a:ext cx="355600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EC259C6-64C0-168F-36C9-54FE6408BBD6}"/>
              </a:ext>
            </a:extLst>
          </p:cNvPr>
          <p:cNvGrpSpPr/>
          <p:nvPr/>
        </p:nvGrpSpPr>
        <p:grpSpPr>
          <a:xfrm>
            <a:off x="5732163" y="4456819"/>
            <a:ext cx="355600" cy="355726"/>
            <a:chOff x="1383175" y="5087464"/>
            <a:chExt cx="355600" cy="355726"/>
          </a:xfrm>
        </p:grpSpPr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3CAC429-FD1D-C325-B41D-36624A5198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87464"/>
              <a:ext cx="0" cy="2005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F4A7186-993A-225D-5396-4B0346545C8A}"/>
                    </a:ext>
                  </a:extLst>
                </p:cNvPr>
                <p:cNvSpPr txBox="1"/>
                <p:nvPr/>
              </p:nvSpPr>
              <p:spPr>
                <a:xfrm>
                  <a:off x="1383175" y="5166191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F4A7186-993A-225D-5396-4B0346545C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83175" y="5166191"/>
                  <a:ext cx="355600" cy="276999"/>
                </a:xfrm>
                <a:prstGeom prst="rect">
                  <a:avLst/>
                </a:prstGeom>
                <a:blipFill>
                  <a:blip r:embed="rId8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F086CF9-0534-511C-4648-563B667A2FE3}"/>
              </a:ext>
            </a:extLst>
          </p:cNvPr>
          <p:cNvGrpSpPr/>
          <p:nvPr/>
        </p:nvGrpSpPr>
        <p:grpSpPr>
          <a:xfrm>
            <a:off x="5447248" y="4456819"/>
            <a:ext cx="355600" cy="350076"/>
            <a:chOff x="1168945" y="5077968"/>
            <a:chExt cx="355600" cy="350076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6236CCFA-14E0-7327-2696-A71CEC06DA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200501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E29BF031-BA2F-C477-FF52-CFA5881BD58C}"/>
                    </a:ext>
                  </a:extLst>
                </p:cNvPr>
                <p:cNvSpPr txBox="1"/>
                <p:nvPr/>
              </p:nvSpPr>
              <p:spPr>
                <a:xfrm>
                  <a:off x="1168945" y="5151045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𝑩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E29BF031-BA2F-C477-FF52-CFA5881BD5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8945" y="5151045"/>
                  <a:ext cx="355600" cy="276999"/>
                </a:xfrm>
                <a:prstGeom prst="rect">
                  <a:avLst/>
                </a:prstGeom>
                <a:blipFill>
                  <a:blip r:embed="rId9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468437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DE352-AE06-E004-5CFF-5213AB19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DE84039-989B-A9DF-DE7E-BBEA6F1F2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F308C-9F8A-416F-8F03-F1D1B987858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26E8735-7952-61D9-6518-78B8FC4E9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B6BDE8C-2386-2827-B841-0C05C3231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16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34C704F-376A-076F-1D3C-A56EAD281681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ACE4722-9215-C766-B596-8EAAE3E1C7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3C72D6-A81E-FE9B-6FA7-B4EAF9D122A2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2950637-E92B-0416-5A3E-89E64BB56A4D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0A22C6F-ECD4-170F-2DD9-944B78FD07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5440" y="1390254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217ECAE-8489-89FE-382A-0CCCFD537475}"/>
                  </a:ext>
                </a:extLst>
              </p:cNvPr>
              <p:cNvSpPr/>
              <p:nvPr/>
            </p:nvSpPr>
            <p:spPr>
              <a:xfrm>
                <a:off x="5958063" y="1390254"/>
                <a:ext cx="2840497" cy="457200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Théoriquement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47 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b="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05 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=29,3 </m:t>
                      </m:r>
                      <m:r>
                        <m:rPr>
                          <m:nor/>
                        </m:rPr>
                        <a:rPr lang="fr-FR" sz="14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>
                  <a:solidFill>
                    <a:srgbClr val="C00000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Expérimentalement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sSub>
                          <m:sSubPr>
                            <m:ctrlP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𝑒𝑥𝑝</m:t>
                            </m:r>
                          </m:sub>
                        </m:sSub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1,76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sSub>
                          <m:sSubPr>
                            <m:ctrlP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𝑒𝑥𝑝</m:t>
                            </m:r>
                          </m:sub>
                        </m:sSub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0,69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fr-FR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𝑒𝑥𝑝</m:t>
                                      </m:r>
                                    </m:sub>
                                  </m:sSub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𝑒𝑥𝑝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8,1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Soit un écart 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𝑇h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𝑒𝑥𝑝</m:t>
                                  </m:r>
                                </m:sub>
                              </m:sSub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𝑇h</m:t>
                                  </m:r>
                                </m:sub>
                              </m:sSub>
                            </m:sub>
                          </m:sSub>
                        </m:den>
                      </m:f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=19,4 %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𝑇h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𝑒𝑥𝑝</m:t>
                                  </m:r>
                                </m:sub>
                              </m:sSub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𝑇h</m:t>
                                  </m:r>
                                </m:sub>
                              </m:sSub>
                            </m:sub>
                          </m:sSub>
                        </m:den>
                      </m:f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1275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%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𝑇h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𝑒𝑥𝑝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𝑇h</m:t>
                              </m:r>
                            </m:sub>
                          </m:sSub>
                        </m:den>
                      </m:f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=72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,4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%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217ECAE-8489-89FE-382A-0CCCFD5374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063" y="1390254"/>
                <a:ext cx="2840497" cy="457200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4DA0E7B2-A0B5-774E-ADC9-6B74F1FE1D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27125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19A9E-1C8C-7508-4A99-E9E72DA06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C41BDD6-0B7E-DB68-BFEB-ED6C52B4A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F308C-9F8A-416F-8F03-F1D1B987858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8188F378-BB87-FA6A-6251-64979DCB4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B83BD53-0BEB-220C-AC97-3EEC3B150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17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9AD768-93B1-9342-3E71-9F51C81E308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5DCA8F8-D862-BC8C-AF76-12EA5860996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500E49-9BB6-266A-A15B-45A7A7E94780}"/>
              </a:ext>
            </a:extLst>
          </p:cNvPr>
          <p:cNvSpPr/>
          <p:nvPr/>
        </p:nvSpPr>
        <p:spPr>
          <a:xfrm>
            <a:off x="36609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2629154-4AC2-A8C2-E930-45F35D77F15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Conclusion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6D41862-C3BD-3DBC-9C94-5AA0370D94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97910" y="139025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4D9D983-D7EC-1847-6F67-1C73EF899C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6091" y="1390254"/>
            <a:ext cx="3779998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7285B1D-7589-38F4-8881-77CD6EFBFA3D}"/>
              </a:ext>
            </a:extLst>
          </p:cNvPr>
          <p:cNvSpPr txBox="1"/>
          <p:nvPr/>
        </p:nvSpPr>
        <p:spPr>
          <a:xfrm>
            <a:off x="366090" y="4678232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Influence sur le timbre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BBAAEE-82DC-9B7D-B472-CECEDB124BF3}"/>
              </a:ext>
            </a:extLst>
          </p:cNvPr>
          <p:cNvSpPr txBox="1"/>
          <p:nvPr/>
        </p:nvSpPr>
        <p:spPr>
          <a:xfrm>
            <a:off x="4997910" y="4678232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Influence sur le bruit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0781B3E-CE78-9C77-C256-488F2AA5284D}"/>
                  </a:ext>
                </a:extLst>
              </p:cNvPr>
              <p:cNvSpPr txBox="1"/>
              <p:nvPr/>
            </p:nvSpPr>
            <p:spPr>
              <a:xfrm>
                <a:off x="5696848" y="5637319"/>
                <a:ext cx="2382122" cy="298415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=8,1</m:t>
                      </m:r>
                      <m:r>
                        <m:rPr>
                          <m:nor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0781B3E-CE78-9C77-C256-488F2AA52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6848" y="5637319"/>
                <a:ext cx="2382122" cy="298415"/>
              </a:xfrm>
              <a:prstGeom prst="rect">
                <a:avLst/>
              </a:prstGeom>
              <a:blipFill>
                <a:blip r:embed="rId5"/>
                <a:stretch>
                  <a:fillRect b="-15686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D129F86-93BF-EC4E-2286-CDD3B494D6C3}"/>
                  </a:ext>
                </a:extLst>
              </p:cNvPr>
              <p:cNvSpPr txBox="1"/>
              <p:nvPr/>
            </p:nvSpPr>
            <p:spPr>
              <a:xfrm>
                <a:off x="5696849" y="5167364"/>
                <a:ext cx="2382121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=29,</m:t>
                      </m:r>
                      <m:r>
                        <m:rPr>
                          <m:nor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3 </m:t>
                      </m:r>
                      <m:r>
                        <m:rPr>
                          <m:nor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D129F86-93BF-EC4E-2286-CDD3B494D6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6849" y="5167364"/>
                <a:ext cx="2382121" cy="276999"/>
              </a:xfrm>
              <a:prstGeom prst="rect">
                <a:avLst/>
              </a:prstGeom>
              <a:blipFill>
                <a:blip r:embed="rId6"/>
                <a:stretch>
                  <a:fillRect b="-14894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Graphic 3" descr="Checkmark with solid fill">
            <a:extLst>
              <a:ext uri="{FF2B5EF4-FFF2-40B4-BE49-F238E27FC236}">
                <a16:creationId xmlns:a16="http://schemas.microsoft.com/office/drawing/2014/main" id="{2012BD2A-C579-D57F-B1C1-1D0651FB021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743909" y="977470"/>
            <a:ext cx="288000" cy="288000"/>
          </a:xfrm>
          <a:prstGeom prst="rect">
            <a:avLst/>
          </a:prstGeom>
        </p:spPr>
      </p:pic>
      <p:pic>
        <p:nvPicPr>
          <p:cNvPr id="14" name="Graphic 13" descr="Warning with solid fill">
            <a:extLst>
              <a:ext uri="{FF2B5EF4-FFF2-40B4-BE49-F238E27FC236}">
                <a16:creationId xmlns:a16="http://schemas.microsoft.com/office/drawing/2014/main" id="{3BB5C535-4333-776E-D945-A6D5630016F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76090" y="941470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1875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D192B-A1D8-B536-20CB-FE8AD5886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F4E4231-A870-5B36-A192-15B9AEAE5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F308C-9F8A-416F-8F03-F1D1B987858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E82268A-4EAE-1F11-E33F-9DF1E825E3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EDE2C36-2511-D9FE-8B70-6B525A01C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5A31E3-EE76-AD5E-1634-AABFFAB7F3E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EBEBD24-AED9-DCFB-E731-74BF41B3376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1F692C-FB94-2C5B-C21C-A5A6493496D4}"/>
              </a:ext>
            </a:extLst>
          </p:cNvPr>
          <p:cNvSpPr/>
          <p:nvPr/>
        </p:nvSpPr>
        <p:spPr>
          <a:xfrm>
            <a:off x="36609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0C626FF-9D0A-3C51-7E93-8AE1963CF11C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Conclusion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DBD8FBCE-B999-7895-FF52-9FBFC356F09B}"/>
                  </a:ext>
                </a:extLst>
              </p:cNvPr>
              <p:cNvSpPr/>
              <p:nvPr/>
            </p:nvSpPr>
            <p:spPr>
              <a:xfrm>
                <a:off x="387529" y="1229409"/>
                <a:ext cx="8469675" cy="3310786"/>
              </a:xfrm>
              <a:prstGeom prst="rect">
                <a:avLst/>
              </a:prstGeom>
              <a:ln w="38100">
                <a:solidFill>
                  <a:srgbClr val="C00000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Limites du modèle :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600" dirty="0">
                    <a:solidFill>
                      <a:schemeClr val="tx1"/>
                    </a:solidFill>
                  </a:rPr>
                  <a:t>Incertitude </a:t>
                </a:r>
                <a:r>
                  <a:rPr lang="fr-FR" sz="1600" dirty="0" err="1">
                    <a:solidFill>
                      <a:schemeClr val="tx1"/>
                    </a:solidFill>
                  </a:rPr>
                  <a:t>experimentale</a:t>
                </a:r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600" dirty="0">
                    <a:solidFill>
                      <a:schemeClr val="tx1"/>
                    </a:solidFill>
                  </a:rPr>
                  <a:t>Asymétrie de bobinage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600" dirty="0">
                    <a:solidFill>
                      <a:schemeClr val="tx1"/>
                    </a:solidFill>
                  </a:rPr>
                  <a:t>Gradient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 élévé</a:t>
                </a:r>
              </a:p>
            </p:txBody>
          </p:sp>
        </mc:Choice>
        <mc:Fallback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DBD8FBCE-B999-7895-FF52-9FBFC356F0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529" y="1229409"/>
                <a:ext cx="8469675" cy="3310786"/>
              </a:xfrm>
              <a:prstGeom prst="rect">
                <a:avLst/>
              </a:prstGeom>
              <a:blipFill>
                <a:blip r:embed="rId3"/>
                <a:stretch>
                  <a:fillRect l="-72"/>
                </a:stretch>
              </a:blipFill>
              <a:ln w="381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C62B1A39-84A0-E691-7ADC-9C372BBB46A6}"/>
              </a:ext>
            </a:extLst>
          </p:cNvPr>
          <p:cNvSpPr/>
          <p:nvPr/>
        </p:nvSpPr>
        <p:spPr>
          <a:xfrm>
            <a:off x="387529" y="4648134"/>
            <a:ext cx="8491114" cy="1488506"/>
          </a:xfrm>
          <a:prstGeom prst="rect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Ouvertures 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Micros actifs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Coil Splitting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Cage de Faraday</a:t>
            </a:r>
          </a:p>
        </p:txBody>
      </p:sp>
    </p:spTree>
    <p:extLst>
      <p:ext uri="{BB962C8B-B14F-4D97-AF65-F5344CB8AC3E}">
        <p14:creationId xmlns:p14="http://schemas.microsoft.com/office/powerpoint/2010/main" val="652012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67F8-102B-ED7B-0DE1-585BD24C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574C88C-C846-3D06-3760-839BCCE4D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84E12-A3D4-483C-B4F4-BA9C69BCF303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A71A85B-44A7-312F-DA38-FF2BAFF29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67D19BA-9241-DDAC-50D0-86F96248A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CCB68E-E8C2-CC4C-3A75-B5BA7F6D35A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F93ABBD-287B-55E3-11A3-68FE11A2765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BD774-13EC-37E7-5421-E3BB7AFFF9C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Annexes : Sommaire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C8F2F-1A54-CCBE-AAF5-AE4AD230532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4F1C7E-5DAA-15EF-C04B-EF6B2C9D445E}"/>
              </a:ext>
            </a:extLst>
          </p:cNvPr>
          <p:cNvSpPr txBox="1"/>
          <p:nvPr/>
        </p:nvSpPr>
        <p:spPr>
          <a:xfrm>
            <a:off x="345440" y="1267143"/>
            <a:ext cx="8472118" cy="501675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Sources et Bibliographie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Remerciements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Loi d’induction de Faraday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Démonstration du modèle Théorique 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SingleCoil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Humbucker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SingleCoil &amp; Humbucker excité par un Champ Parasite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Expérimentation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Dimensionnement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Python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Réponse fréquentielle du micro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Modèle Théorique &amp; Résultats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Initialisation du programme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Fonctions du modèle théorique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Fonctions utiles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Calcul du modèle théorique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Calcul et affichage des FFT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Enregistrement des courbes</a:t>
            </a:r>
          </a:p>
          <a:p>
            <a:pPr marL="342900" indent="-342900">
              <a:buSzPct val="110000"/>
              <a:buFont typeface="+mj-lt"/>
              <a:buAutoNum type="arabicPeriod"/>
            </a:pPr>
            <a:endParaRPr lang="fr-FR" sz="1600" dirty="0"/>
          </a:p>
          <a:p>
            <a:pPr>
              <a:buSzPct val="110000"/>
            </a:pP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40866970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C011195-2549-BCE2-65E7-95D97701B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221D99-B286-452E-A7DB-57232896621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D27B990-34B8-0612-B00F-135A3864A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DCD4202-BEB8-74F4-5148-FD85D148C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6465F9-2328-58C8-82DC-3D4C33494CAC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6118C6D-1578-28CB-51EF-9F9921702B3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1. Sources &amp; Bibliographie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45439" y="1254482"/>
            <a:ext cx="8491113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[1]</a:t>
            </a:r>
            <a:r>
              <a:rPr lang="en-GB" sz="1600" dirty="0"/>
              <a:t> Matthew W. Hill, "The hidden history of the electric guitar", in </a:t>
            </a:r>
            <a:r>
              <a:rPr lang="en-GB" sz="1600" i="1" dirty="0"/>
              <a:t>Quand la </a:t>
            </a:r>
            <a:r>
              <a:rPr lang="en-GB" sz="1600" i="1" dirty="0" err="1"/>
              <a:t>guitare</a:t>
            </a:r>
            <a:r>
              <a:rPr lang="en-GB" sz="1600" i="1" dirty="0"/>
              <a:t> [s']</a:t>
            </a:r>
            <a:r>
              <a:rPr lang="en-GB" sz="1600" i="1" dirty="0" err="1"/>
              <a:t>électrise</a:t>
            </a:r>
            <a:r>
              <a:rPr lang="en-GB" sz="1600" i="1" dirty="0"/>
              <a:t> !</a:t>
            </a:r>
            <a:r>
              <a:rPr lang="en-GB" sz="1600" dirty="0"/>
              <a:t>, Benoît Navarret et al. (dir.), Sorbonne Université Presses, pp. 33-61, 2022.</a:t>
            </a:r>
          </a:p>
          <a:p>
            <a:endParaRPr lang="fr-FR" sz="1600" dirty="0"/>
          </a:p>
          <a:p>
            <a:r>
              <a:rPr lang="en-GB" sz="1600" b="1" dirty="0"/>
              <a:t>[2]</a:t>
            </a:r>
            <a:r>
              <a:rPr lang="en-GB" sz="1600" dirty="0"/>
              <a:t> Dan Carson, "Investigation of the Electromagnetic Properties of Electric Guitar Pickups", </a:t>
            </a:r>
            <a:r>
              <a:rPr lang="en-GB" sz="1600" i="1" dirty="0"/>
              <a:t>University of Illinois at Urbana-Champaign</a:t>
            </a:r>
            <a:r>
              <a:rPr lang="en-GB" sz="1600" dirty="0"/>
              <a:t>, Physics Senior Thesis, 2009.</a:t>
            </a:r>
          </a:p>
          <a:p>
            <a:endParaRPr lang="fr-FR" sz="1600" dirty="0"/>
          </a:p>
          <a:p>
            <a:r>
              <a:rPr lang="en-GB" sz="1600" b="1" dirty="0"/>
              <a:t>[3]</a:t>
            </a:r>
            <a:r>
              <a:rPr lang="en-GB" sz="1600" dirty="0"/>
              <a:t> P. Perov, W. Johnson et N. Perova-Mello, "The physics of guitar string vibrations", </a:t>
            </a:r>
            <a:r>
              <a:rPr lang="en-GB" sz="1600" i="1" dirty="0"/>
              <a:t>American Journal of Physics</a:t>
            </a:r>
            <a:r>
              <a:rPr lang="en-GB" sz="1600" dirty="0"/>
              <a:t>, vol. 84, no. 1, pp. 38–43, 2016.</a:t>
            </a:r>
          </a:p>
          <a:p>
            <a:endParaRPr lang="fr-FR" sz="1600" dirty="0"/>
          </a:p>
          <a:p>
            <a:r>
              <a:rPr lang="en-GB" sz="1600" b="1" dirty="0"/>
              <a:t>[4]</a:t>
            </a:r>
            <a:r>
              <a:rPr lang="en-GB" sz="1600" dirty="0"/>
              <a:t> S. W. Duncan, "Interview With Seth Lover", </a:t>
            </a:r>
            <a:r>
              <a:rPr lang="en-GB" sz="1600" i="1" dirty="0"/>
              <a:t>Seymour Duncan</a:t>
            </a:r>
            <a:r>
              <a:rPr lang="en-GB" sz="1600" dirty="0"/>
              <a:t>.  </a:t>
            </a:r>
            <a:r>
              <a:rPr lang="fr-FR" sz="1600" dirty="0"/>
              <a:t>[En ligne]. Disponible sur: </a:t>
            </a:r>
            <a:br>
              <a:rPr lang="fr-FR" sz="1600" dirty="0"/>
            </a:br>
            <a:r>
              <a:rPr lang="fr-FR" sz="1600" u="sng" dirty="0">
                <a:hlinkClick r:id="rId3"/>
              </a:rPr>
              <a:t>https://www.seymourduncan.com/blog/latest-updates/seymour-w-duncans-interview-with-seth-lover</a:t>
            </a:r>
            <a:br>
              <a:rPr lang="fr-FR" sz="1600" u="sng" dirty="0"/>
            </a:br>
            <a:endParaRPr lang="fr-FR" sz="1600" dirty="0"/>
          </a:p>
          <a:p>
            <a:r>
              <a:rPr lang="en-GB" sz="1600" b="1" dirty="0"/>
              <a:t>[5]</a:t>
            </a:r>
            <a:r>
              <a:rPr lang="en-GB" sz="1600" dirty="0"/>
              <a:t> A. Novak, B. </a:t>
            </a:r>
            <a:r>
              <a:rPr lang="en-GB" sz="1600" dirty="0" err="1"/>
              <a:t>Lihoreau</a:t>
            </a:r>
            <a:r>
              <a:rPr lang="en-GB" sz="1600" dirty="0"/>
              <a:t>, E. Brasseur, P. Lotton et L. Simon, "Guitar Pickup: Measurement of its Two-Dimensional Nonlinear Function", </a:t>
            </a:r>
            <a:r>
              <a:rPr lang="en-GB" sz="1600" i="1" dirty="0"/>
              <a:t>Journal of the Audio Engineering Society</a:t>
            </a:r>
            <a:r>
              <a:rPr lang="en-GB" sz="1600" dirty="0"/>
              <a:t>, vol. 68, no. 3, pp. 184-192, 2020.</a:t>
            </a:r>
          </a:p>
          <a:p>
            <a:endParaRPr lang="fr-FR" sz="1600" dirty="0"/>
          </a:p>
          <a:p>
            <a:r>
              <a:rPr lang="en-GB" sz="1600" b="1" dirty="0"/>
              <a:t>[6]</a:t>
            </a:r>
            <a:r>
              <a:rPr lang="en-GB" sz="1600" dirty="0"/>
              <a:t> R. </a:t>
            </a:r>
            <a:r>
              <a:rPr lang="en-GB" sz="1600" dirty="0" err="1"/>
              <a:t>Giampiccolo</a:t>
            </a:r>
            <a:r>
              <a:rPr lang="en-GB" sz="1600" dirty="0"/>
              <a:t>, A. Bernardini et A. Sarti, "Virtualization of Guitar Pickups Through Circuit Inversion", </a:t>
            </a:r>
            <a:r>
              <a:rPr lang="en-GB" sz="1600" i="1" dirty="0"/>
              <a:t>IEEE Signal Processing Letters</a:t>
            </a:r>
            <a:r>
              <a:rPr lang="en-GB" sz="1600" dirty="0"/>
              <a:t>, vol. 30, pp. 458-462, 2023.</a:t>
            </a:r>
            <a:endParaRPr lang="fr-FR" sz="1600" dirty="0"/>
          </a:p>
          <a:p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6D5-1701-3BEE-B0A5-E256A3A6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9093611-3561-6AFC-8B29-235BE2B59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846BF-CC36-4637-B77F-1434B6C115C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0E37560-868B-C35D-2C79-FD3A41EA0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1EE7CF6-6544-6E25-5056-82E210227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3023A3-599A-FB7A-D703-1D211D7CCED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650CE6B-EA61-AA9D-5CD4-B098290A02B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FE578E-E842-899B-459C-15B4BA0F22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2. Remerciements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99E44F-1F36-18D2-50B8-92E3C5465C7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AD91B2-998A-B850-BFB6-9B10EF3C3C36}"/>
              </a:ext>
            </a:extLst>
          </p:cNvPr>
          <p:cNvSpPr txBox="1"/>
          <p:nvPr/>
        </p:nvSpPr>
        <p:spPr>
          <a:xfrm>
            <a:off x="1744980" y="1390254"/>
            <a:ext cx="707257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Art Music Store</a:t>
            </a:r>
            <a:r>
              <a:rPr lang="fr-FR" sz="1600" dirty="0"/>
              <a:t>,</a:t>
            </a:r>
            <a:r>
              <a:rPr lang="fr-FR" sz="1600" b="1" dirty="0"/>
              <a:t> </a:t>
            </a:r>
            <a:r>
              <a:rPr lang="fr-FR" sz="1600" dirty="0"/>
              <a:t>3800, Grenoble, Place Victor Hugo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Menuiserie Paradis</a:t>
            </a:r>
            <a:r>
              <a:rPr lang="fr-FR" sz="1600" dirty="0"/>
              <a:t>, 38590, Brézins, Rue des Caillères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</p:txBody>
      </p:sp>
      <p:pic>
        <p:nvPicPr>
          <p:cNvPr id="2050" name="Picture 2" descr="Les Boutiques | Art Rock Music Store, Magasin de Musique à Crolles et à ...">
            <a:extLst>
              <a:ext uri="{FF2B5EF4-FFF2-40B4-BE49-F238E27FC236}">
                <a16:creationId xmlns:a16="http://schemas.microsoft.com/office/drawing/2014/main" id="{6B5FA1A0-A21F-2704-4B07-98DC048FD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440" y="1344216"/>
            <a:ext cx="1239000" cy="12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4" descr="Menuiserie Jérôme Paradis | Brézins">
            <a:extLst>
              <a:ext uri="{FF2B5EF4-FFF2-40B4-BE49-F238E27FC236}">
                <a16:creationId xmlns:a16="http://schemas.microsoft.com/office/drawing/2014/main" id="{60E6E8E9-ADE0-B962-617A-584376023BE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5C5BC96-6601-01EF-A1A8-0CDE5F128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63" y="2750010"/>
            <a:ext cx="1346717" cy="12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02403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7EEA9-F7B8-9D5F-AC77-42444A77E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0697540-CBC1-7307-57A5-D4FD6B78E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7515-E170-4E96-88A3-B2AEEEE72CA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2AD455C-4E0F-8C44-FB73-C500A0B30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CE99780-CA7B-47C1-ABE2-119498B5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3A568D-A22D-99BA-EE74-88DC5BA3799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5695410-0F63-6315-9F97-C9017F7BE1F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44EA3F-0ED5-07EF-A5BD-494C702F369B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3. Loi d’induction de Faraday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CF56A8-C29C-5426-89FC-284E560D8A8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0E1D4B-FF0A-ADB0-43F0-458577E9DE7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029F39-5C02-3985-AF5F-A28D263A7881}"/>
              </a:ext>
            </a:extLst>
          </p:cNvPr>
          <p:cNvGrpSpPr/>
          <p:nvPr/>
        </p:nvGrpSpPr>
        <p:grpSpPr>
          <a:xfrm rot="10800000">
            <a:off x="-736802" y="1802750"/>
            <a:ext cx="4973727" cy="2925771"/>
            <a:chOff x="4696904" y="1390254"/>
            <a:chExt cx="4973727" cy="292577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3A4741D-B170-2F09-583D-545C54E14DE0}"/>
                </a:ext>
              </a:extLst>
            </p:cNvPr>
            <p:cNvGrpSpPr/>
            <p:nvPr/>
          </p:nvGrpSpPr>
          <p:grpSpPr>
            <a:xfrm>
              <a:off x="5907188" y="1390254"/>
              <a:ext cx="2527760" cy="2925771"/>
              <a:chOff x="5907188" y="1390254"/>
              <a:chExt cx="2527760" cy="2925771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821CFDF9-4291-8D12-74B3-B173DE76F8DE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1109894D-0C13-D7BC-0A38-126F9177B79E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CA38F9B1-D91D-1218-899D-63801034424A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FEFA7991-B1FD-4D9F-E2A8-E8EE349CA2DE}"/>
                  </a:ext>
                </a:extLst>
              </p:cNvPr>
              <p:cNvSpPr/>
              <p:nvPr/>
            </p:nvSpPr>
            <p:spPr>
              <a:xfrm>
                <a:off x="5991859" y="315726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F4AE618D-44F2-E55D-1043-667FB8FBF8FA}"/>
                  </a:ext>
                </a:extLst>
              </p:cNvPr>
              <p:cNvSpPr/>
              <p:nvPr/>
            </p:nvSpPr>
            <p:spPr>
              <a:xfrm rot="5400000">
                <a:off x="5166741" y="2301751"/>
                <a:ext cx="2672806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9572B0B0-2176-7203-972E-1EA06FB2A7CD}"/>
                  </a:ext>
                </a:extLst>
              </p:cNvPr>
              <p:cNvSpPr/>
              <p:nvPr/>
            </p:nvSpPr>
            <p:spPr>
              <a:xfrm rot="5400000" flipV="1">
                <a:off x="6501124" y="2298382"/>
                <a:ext cx="2675737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FDDF69DD-1E42-2112-9BF5-84E28D6B5F92}"/>
                  </a:ext>
                </a:extLst>
              </p:cNvPr>
              <p:cNvCxnSpPr>
                <a:cxnSpLocks/>
                <a:stCxn id="42" idx="1"/>
              </p:cNvCxnSpPr>
              <p:nvPr/>
            </p:nvCxnSpPr>
            <p:spPr>
              <a:xfrm rot="10800000" flipH="1" flipV="1">
                <a:off x="7172960" y="2917222"/>
                <a:ext cx="19314" cy="1398803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17205DBE-459C-B395-3584-9F4722AB65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82847AF-498C-DF5E-BDE4-017FDB6B1D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5F6D1BD-9F89-FCC2-B040-CD22C7FB6A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E150BE16-5E9F-407A-16A7-6130EBF540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1CA8DA61-3CB2-1EF9-0F7D-89B45934CB9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BB967B8D-E992-37D1-73EF-496B4779BD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E3B2475F-F2A5-6B66-44F9-7385BA187E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863F86B7-F05C-00CA-4D2F-CC9B3737F5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4675CC6-5BA0-23F3-5EA6-AB7ADCC403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D39CC67-64C7-AF1A-9F7A-208E6F904B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C9386F2B-937C-216F-8A7D-DB7A20EB35C8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27" name="TextBox 1026">
                    <a:extLst>
                      <a:ext uri="{FF2B5EF4-FFF2-40B4-BE49-F238E27FC236}">
                        <a16:creationId xmlns:a16="http://schemas.microsoft.com/office/drawing/2014/main" id="{38FD531E-F5DC-BB2B-7744-9747DCF9AB9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5000" r="-19444" b="-980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5D0BAF00-F5A2-ADBD-073E-C00978D6471C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29A901C5-9433-402F-B6E7-920E3568775F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/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E6379458-06A2-8BE6-84DA-CDDF9B5A55A1}"/>
              </a:ext>
            </a:extLst>
          </p:cNvPr>
          <p:cNvGrpSpPr/>
          <p:nvPr/>
        </p:nvGrpSpPr>
        <p:grpSpPr>
          <a:xfrm rot="10800000">
            <a:off x="2222427" y="1802749"/>
            <a:ext cx="4744887" cy="2939324"/>
            <a:chOff x="4696904" y="1390254"/>
            <a:chExt cx="4973727" cy="333660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466DA6C7-65F1-7B57-BA30-F55D1109FDA7}"/>
                </a:ext>
              </a:extLst>
            </p:cNvPr>
            <p:cNvGrpSpPr/>
            <p:nvPr/>
          </p:nvGrpSpPr>
          <p:grpSpPr>
            <a:xfrm>
              <a:off x="5837879" y="1390254"/>
              <a:ext cx="2597068" cy="3336602"/>
              <a:chOff x="5837879" y="1390254"/>
              <a:chExt cx="2597068" cy="3336602"/>
            </a:xfrm>
          </p:grpSpPr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C5A41D1F-96FD-ABAF-2D61-59961D5F60C8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A4AB24D2-E5CC-651D-CBD4-6E4E03DBFC19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02E2B5F-45EC-5E56-4C43-1E1AD9649537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AB23C8A-12E2-A70F-DA1F-5F7A290E69D8}"/>
                  </a:ext>
                </a:extLst>
              </p:cNvPr>
              <p:cNvSpPr/>
              <p:nvPr/>
            </p:nvSpPr>
            <p:spPr>
              <a:xfrm>
                <a:off x="5974194" y="406420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1" name="Arc 50">
                <a:extLst>
                  <a:ext uri="{FF2B5EF4-FFF2-40B4-BE49-F238E27FC236}">
                    <a16:creationId xmlns:a16="http://schemas.microsoft.com/office/drawing/2014/main" id="{18C1FC13-5AA2-560D-DD00-4E43B2CA7F47}"/>
                  </a:ext>
                </a:extLst>
              </p:cNvPr>
              <p:cNvSpPr/>
              <p:nvPr/>
            </p:nvSpPr>
            <p:spPr>
              <a:xfrm rot="5400000">
                <a:off x="5128641" y="2300660"/>
                <a:ext cx="2749012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2" name="Arc 51">
                <a:extLst>
                  <a:ext uri="{FF2B5EF4-FFF2-40B4-BE49-F238E27FC236}">
                    <a16:creationId xmlns:a16="http://schemas.microsoft.com/office/drawing/2014/main" id="{B2322817-EDBD-2DC7-B5B5-7D90D12FBA8A}"/>
                  </a:ext>
                </a:extLst>
              </p:cNvPr>
              <p:cNvSpPr/>
              <p:nvPr/>
            </p:nvSpPr>
            <p:spPr>
              <a:xfrm rot="5400000" flipV="1">
                <a:off x="6480374" y="2301307"/>
                <a:ext cx="2717236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7D2797B2-7C00-FB64-3F35-4B733C60B4BC}"/>
                  </a:ext>
                </a:extLst>
              </p:cNvPr>
              <p:cNvCxnSpPr>
                <a:cxnSpLocks/>
                <a:stCxn id="68" idx="1"/>
              </p:cNvCxnSpPr>
              <p:nvPr/>
            </p:nvCxnSpPr>
            <p:spPr>
              <a:xfrm rot="10800000" flipH="1" flipV="1">
                <a:off x="7172960" y="2917222"/>
                <a:ext cx="842" cy="1475009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1967282-0FD1-2B99-0A9F-12EB732A8BA6}"/>
                  </a:ext>
                </a:extLst>
              </p:cNvPr>
              <p:cNvSpPr txBox="1"/>
              <p:nvPr/>
            </p:nvSpPr>
            <p:spPr>
              <a:xfrm rot="10800000">
                <a:off x="5837879" y="4357524"/>
                <a:ext cx="2726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1" dirty="0">
                    <a:solidFill>
                      <a:srgbClr val="C00000"/>
                    </a:solidFill>
                  </a:rPr>
                  <a:t>i</a:t>
                </a:r>
              </a:p>
            </p:txBody>
          </p: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A0C68269-9448-F8FA-F1B2-4684A925FF31}"/>
                  </a:ext>
                </a:extLst>
              </p:cNvPr>
              <p:cNvCxnSpPr>
                <a:cxnSpLocks/>
                <a:endCxn id="50" idx="3"/>
              </p:cNvCxnSpPr>
              <p:nvPr/>
            </p:nvCxnSpPr>
            <p:spPr>
              <a:xfrm flipV="1">
                <a:off x="6154535" y="4512258"/>
                <a:ext cx="165595" cy="37229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ACF4A742-FFB2-EA95-12B9-60EED3BA4CBC}"/>
                  </a:ext>
                </a:extLst>
              </p:cNvPr>
              <p:cNvCxnSpPr>
                <a:cxnSpLocks/>
                <a:stCxn id="50" idx="3"/>
              </p:cNvCxnSpPr>
              <p:nvPr/>
            </p:nvCxnSpPr>
            <p:spPr>
              <a:xfrm flipH="1" flipV="1">
                <a:off x="6256062" y="4392230"/>
                <a:ext cx="64068" cy="120028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0D6708DB-8DD5-1664-B357-BD630BD0EB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C897620C-1260-B939-E21B-D5059235416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72E4FD29-97F3-8025-A398-8E33D4BBBA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EB34D579-0D90-49AF-EB49-36B656F65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AF05426E-36B0-A234-10C7-460D1B0BA4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B4FAABA4-1527-1FDF-36E6-8CC489C59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200C5091-6592-C43E-7830-CB28A68888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E2932CA7-7A48-C6E0-39CC-B823923189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97D9F166-CCCC-C2E3-61BC-825383407E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4E4DA187-A8B1-5C37-3CB8-F84175BF78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F74C7FF2-F223-3375-DFB5-85944DE2C6A7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56" name="TextBox 1055">
                    <a:extLst>
                      <a:ext uri="{FF2B5EF4-FFF2-40B4-BE49-F238E27FC236}">
                        <a16:creationId xmlns:a16="http://schemas.microsoft.com/office/drawing/2014/main" id="{F7E63660-0DD0-CEC0-8FAF-7979B94659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5714" r="-22857" b="-2444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7" name="Arc 46">
              <a:extLst>
                <a:ext uri="{FF2B5EF4-FFF2-40B4-BE49-F238E27FC236}">
                  <a16:creationId xmlns:a16="http://schemas.microsoft.com/office/drawing/2014/main" id="{BC829507-AA5C-C0B3-B29F-46A9EA5EBA49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8" name="Arc 47">
              <a:extLst>
                <a:ext uri="{FF2B5EF4-FFF2-40B4-BE49-F238E27FC236}">
                  <a16:creationId xmlns:a16="http://schemas.microsoft.com/office/drawing/2014/main" id="{F6686F3D-53BD-B64B-E53B-5C8C11606DED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EAE1717-2D77-09AF-B9F7-AFBE8B19269C}"/>
              </a:ext>
            </a:extLst>
          </p:cNvPr>
          <p:cNvCxnSpPr/>
          <p:nvPr/>
        </p:nvCxnSpPr>
        <p:spPr>
          <a:xfrm>
            <a:off x="2710866" y="4268850"/>
            <a:ext cx="86896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6B13798B-711E-BD04-CAB9-6C762668F066}"/>
              </a:ext>
            </a:extLst>
          </p:cNvPr>
          <p:cNvSpPr txBox="1"/>
          <p:nvPr/>
        </p:nvSpPr>
        <p:spPr>
          <a:xfrm>
            <a:off x="6116245" y="1648429"/>
            <a:ext cx="27013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Dans un circuit fermé conducteur, une variation de flux magnétique entraine la formation d’un courant induit</a:t>
            </a:r>
          </a:p>
          <a:p>
            <a:pPr algn="ctr"/>
            <a:endParaRPr lang="fr-FR" sz="1600" dirty="0"/>
          </a:p>
          <a:p>
            <a:pPr algn="ctr"/>
            <a:endParaRPr lang="fr-FR" sz="1600" dirty="0"/>
          </a:p>
          <a:p>
            <a:pPr algn="ctr"/>
            <a:r>
              <a:rPr lang="fr-FR" sz="1600" dirty="0"/>
              <a:t>L’effet de la F.E.M induite est tel qu’il s’oppose à la variation de flux</a:t>
            </a:r>
          </a:p>
        </p:txBody>
      </p:sp>
    </p:spTree>
    <p:extLst>
      <p:ext uri="{BB962C8B-B14F-4D97-AF65-F5344CB8AC3E}">
        <p14:creationId xmlns:p14="http://schemas.microsoft.com/office/powerpoint/2010/main" val="30101365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10E9A24-B484-295A-C630-F6DE6A33E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7FF0E-E82D-4BC6-A5AF-2CCD3BFAB86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083A4E-2E4A-99E1-8563-6734096B4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A39197A-E1E0-DE57-ABEA-CF1EC7363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23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889EBA-FB81-9346-F14B-289AA14F693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4.1 Modèle Théorique : Micro Simple </a:t>
            </a:r>
            <a:r>
              <a:rPr lang="fr-FR" sz="1000" i="1" dirty="0"/>
              <a:t>cf. [1]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blipFill>
                <a:blip r:embed="rId3"/>
                <a:stretch>
                  <a:fillRect t="-231" b="-888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5B259E3C-965D-2431-C9F5-3AB1F9C1D2C2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1B36DA9-ED7C-EC02-93A6-63AC824984B7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0F95B142-67A4-A817-F539-9E5FF08380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86607-AF33-333D-A48D-AA97A0210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512D3D3-39DC-2244-F3FD-49F86491C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728E8-F3EB-4A49-BD7E-075E891755D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FF81650-FA47-57FC-1660-8E146A13A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6DDDF7F-2340-DA52-AD2C-73D63FC33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3A031C7-F8C9-3D51-FCA5-4FB45D9F8B4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3C4E3F2-185F-33C0-706F-4AE175C9604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331495-1EB2-6E55-EC77-D35C50372978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4.2 Modèle Théorique : Micro Humbucker </a:t>
            </a:r>
            <a:r>
              <a:rPr lang="fr-FR" sz="1000" i="1" dirty="0"/>
              <a:t>cf. [1]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6420539-7C82-3DC3-D605-71C74034FA1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unc>
                                <m:func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sz="105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f>
                                    <m:f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))</m:t>
                                  </m:r>
                                </m:e>
                              </m:func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05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blipFill>
                <a:blip r:embed="rId3"/>
                <a:stretch>
                  <a:fillRect t="-233" b="-909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CED2B23B-FD4E-F970-C927-67D404F465DC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7CBA275-C1FE-59FE-DA04-1639C9AE8658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92D01097-69F2-BF57-B64F-3F63F0C6CB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285433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B5F2-B144-CF76-1F8C-26C914CA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BB62E9F-C416-8E56-1CDE-C3F6958ED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F6506-B042-45FD-9C13-B8BCADB4CAB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4D4D643-B8B6-EFC0-6384-7CE3B90FB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DC783EB-893F-C311-8294-9AEF8605C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25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1EA3AD-E635-C8B5-91C8-B28A2A0C9F48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06A6A33-5483-E45A-C886-DB9DB0F3FCE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670956-3195-813A-9090-176A89DD32F0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4.3 Modèle Théorique : Action d’un champ parasite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B61CD-D09F-44E9-C03D-924382A1A1A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400" b="1" u="sng" dirty="0"/>
                  <a:t>Modèle du champ parasite :</a:t>
                </a:r>
                <a:endParaRPr lang="fr-FR" sz="1400" dirty="0"/>
              </a:p>
              <a:p>
                <a:r>
                  <a:rPr lang="fr-FR" sz="1400" dirty="0"/>
                  <a:t>On étudie un champ parasite d’amplitude B0, de fréquence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fr-FR" sz="1400" dirty="0"/>
                  <a:t> et de gradient </a:t>
                </a:r>
                <a14:m>
                  <m:oMath xmlns:m="http://schemas.openxmlformats.org/officeDocument/2006/math">
                    <m:r>
                      <a:rPr lang="fr-FR" sz="1400" b="0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400" dirty="0"/>
                  <a:t> régie par l’équation:</a:t>
                </a:r>
              </a:p>
              <a:p>
                <a:pPr algn="ctr"/>
                <a:endParaRPr lang="fr-FR" sz="14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′, 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pPr algn="ctr"/>
                <a:endParaRPr lang="fr-FR" sz="1400" dirty="0"/>
              </a:p>
              <a:p>
                <a:r>
                  <a:rPr lang="fr-FR" sz="1400" dirty="0"/>
                  <a:t>Ainsi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′)2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La FEM induite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4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400" dirty="0"/>
                  <a:t> spire est régie par la </a:t>
                </a:r>
                <a:r>
                  <a:rPr lang="fr-FR" sz="1400" u="sng" dirty="0"/>
                  <a:t>Loi d’induction de Faraday</a:t>
                </a:r>
                <a:r>
                  <a:rPr lang="fr-FR" sz="14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b="1" u="sng" dirty="0"/>
                  <a:t>Pour un micro SingleCoil :</a:t>
                </a:r>
              </a:p>
              <a:p>
                <a:r>
                  <a:rPr lang="fr-FR" sz="1400" dirty="0"/>
                  <a:t>On génère alors une FEM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(0,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r>
                  <a:rPr lang="fr-FR" sz="1400" dirty="0"/>
                  <a:t>Ainsi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blipFill>
                <a:blip r:embed="rId3"/>
                <a:stretch>
                  <a:fillRect l="-444" t="-25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400" b="1" u="sng" dirty="0"/>
                  <a:t>Pour un micro Humbucker :</a:t>
                </a:r>
              </a:p>
              <a:p>
                <a:r>
                  <a:rPr lang="fr-FR" sz="1400" dirty="0"/>
                  <a:t>On génère une FEM par bobinage: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Le micro est composé de deux bobine à </a:t>
                </a:r>
                <a14:m>
                  <m:oMath xmlns:m="http://schemas.openxmlformats.org/officeDocument/2006/math"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spire câblée en opposition de phase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𝑆</m:t>
                          </m:r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C’est-à-dire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/>
              </a:p>
              <a:p>
                <a:r>
                  <a:rPr lang="fr-FR" sz="1400" dirty="0"/>
                  <a:t>NB :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On a une annulation totale du bruit si et seulement si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fr-FR" sz="1400" dirty="0"/>
                  <a:t>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fr-FR" sz="1400" dirty="0"/>
                  <a:t> proche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En pratique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FR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=0.02 </m:t>
                    </m:r>
                  </m:oMath>
                </a14:m>
                <a:r>
                  <a:rPr lang="fr-FR" sz="1400" dirty="0"/>
                  <a:t>mètre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D’où l’efficacité du Humbucker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blipFill>
                <a:blip r:embed="rId4"/>
                <a:stretch>
                  <a:fillRect l="-444" t="-261" b="-13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95206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87C1C-A9E7-26DD-5A78-3FADD678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8DA6C4D-4525-E18F-9555-CAEE2FF05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0303D-8033-40E1-8BC4-B61F537925B8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066EC66-9FAC-8589-387E-B4B8FD13E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F3027C7-92F3-E063-932E-3B94F56CA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26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D9A809-BAA5-C2C3-A094-88CF56D19A0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30EEE73-BB7D-C4D0-738A-79B41E9FA3C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3C9C9A-6414-9E44-333A-AA367358FB3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E4C63B-D2E6-7A26-7BC5-409FA36680C2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5.1 Dimensionnement de l’expérimentation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D9E6B13-6A5D-2DAE-9C77-B81DD77F1C63}"/>
              </a:ext>
            </a:extLst>
          </p:cNvPr>
          <p:cNvSpPr txBox="1"/>
          <p:nvPr/>
        </p:nvSpPr>
        <p:spPr>
          <a:xfrm>
            <a:off x="345440" y="1315849"/>
            <a:ext cx="52086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générer et contrôler un champ magnétique parasite 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/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par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Inductance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Resistance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Rayon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Perméabilité du vide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500" dirty="0"/>
                  <a:t>: Champ magnétique au centre du système</a:t>
                </a:r>
              </a:p>
            </p:txBody>
          </p:sp>
        </mc:Choice>
        <mc:Fallback xmlns="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blipFill>
                <a:blip r:embed="rId2"/>
                <a:stretch>
                  <a:fillRect l="-359" b="-1359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D5EE7BFD-22A9-C42D-D83F-4ED3539508EB}"/>
              </a:ext>
            </a:extLst>
          </p:cNvPr>
          <p:cNvSpPr txBox="1"/>
          <p:nvPr/>
        </p:nvSpPr>
        <p:spPr>
          <a:xfrm>
            <a:off x="345439" y="4696284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on obtient la relation 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/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3/2</m:t>
                          </m:r>
                        </m:sup>
                      </m:sSup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box>
                        <m:box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/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blipFill>
                <a:blip r:embed="rId6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/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8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sz="1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blipFill>
                <a:blip r:embed="rId7"/>
                <a:stretch>
                  <a:fillRect r="-5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A20D67A-ABBB-0F42-5126-090B491D5C6A}"/>
              </a:ext>
            </a:extLst>
          </p:cNvPr>
          <p:cNvSpPr txBox="1"/>
          <p:nvPr/>
        </p:nvSpPr>
        <p:spPr>
          <a:xfrm>
            <a:off x="5956224" y="2455967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 GBF délivre une tension 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682485-A8DF-8912-5129-AE9F97A8E14E}"/>
              </a:ext>
            </a:extLst>
          </p:cNvPr>
          <p:cNvSpPr txBox="1"/>
          <p:nvPr/>
        </p:nvSpPr>
        <p:spPr>
          <a:xfrm>
            <a:off x="5956223" y="3269908"/>
            <a:ext cx="28205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l’intensité dans la bobine de Helmholtz</a:t>
            </a:r>
            <a:r>
              <a:rPr lang="fr-FR" dirty="0"/>
              <a:t> </a:t>
            </a:r>
            <a:r>
              <a:rPr lang="fr-FR" sz="1600" dirty="0"/>
              <a:t>est : </a:t>
            </a:r>
          </a:p>
        </p:txBody>
      </p:sp>
      <p:pic>
        <p:nvPicPr>
          <p:cNvPr id="14" name="Graphic 13" descr="Right pointing backhand index with solid fill">
            <a:extLst>
              <a:ext uri="{FF2B5EF4-FFF2-40B4-BE49-F238E27FC236}">
                <a16:creationId xmlns:a16="http://schemas.microsoft.com/office/drawing/2014/main" id="{D43490FA-7939-0BC0-E2E1-D0079CA8B2B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74131" y="5317433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/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Ordre de Grandeur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=100 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</m:oMath>
                </a14:m>
                <a:endParaRPr lang="fr-FR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blipFill>
                <a:blip r:embed="rId10"/>
                <a:stretch>
                  <a:fillRect l="-1128" t="-5455" b="-2363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Bobine de Helmholtz sur socle : PAM067370">
            <a:extLst>
              <a:ext uri="{FF2B5EF4-FFF2-40B4-BE49-F238E27FC236}">
                <a16:creationId xmlns:a16="http://schemas.microsoft.com/office/drawing/2014/main" id="{451DB793-FC6C-87B9-4DF0-4142BD3499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0424" y="575668"/>
            <a:ext cx="2649772" cy="17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28697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8AAD9-A422-7202-0B30-0D28B5E9C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6D1B4FF1-9E06-8C21-3237-980566602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FC8A0-1BFF-4314-911E-340C670C843A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1FF31C7-6DE8-9F8E-C316-27342893D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78E00E3-9107-F660-4465-7D796FF2A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27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6B6054-7546-BF4C-05E8-838799AD94F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889E58-42C8-3971-7404-080199592D5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E322EC-5E0A-C386-1A8F-6C04DB50602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6.1 Réponse fréquentielle du micro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7FDBA9-87D9-FF36-0C64-B77D97DFCB7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AFD8FB-4203-5C2E-4D6F-4259F8AF1F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6" t="60247" r="6447" b="2716"/>
          <a:stretch>
            <a:fillRect/>
          </a:stretch>
        </p:blipFill>
        <p:spPr>
          <a:xfrm>
            <a:off x="4231677" y="1280495"/>
            <a:ext cx="3464559" cy="33313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204532C9-1EF7-26FA-8D12-D5A9A1630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C749963-8865-1816-009C-0CABB6D788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06" t="3209" r="6927" b="41032"/>
          <a:stretch>
            <a:fillRect/>
          </a:stretch>
        </p:blipFill>
        <p:spPr>
          <a:xfrm>
            <a:off x="340579" y="1280495"/>
            <a:ext cx="3464560" cy="501517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Graphic 3" descr="Right pointing backhand index with solid fill">
            <a:extLst>
              <a:ext uri="{FF2B5EF4-FFF2-40B4-BE49-F238E27FC236}">
                <a16:creationId xmlns:a16="http://schemas.microsoft.com/office/drawing/2014/main" id="{194DCAD5-73FD-55DA-C924-EC1909F0A2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31677" y="5265172"/>
            <a:ext cx="360000" cy="360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9085686-D57F-38D7-7542-740C25BAC881}"/>
              </a:ext>
            </a:extLst>
          </p:cNvPr>
          <p:cNvSpPr txBox="1"/>
          <p:nvPr/>
        </p:nvSpPr>
        <p:spPr>
          <a:xfrm>
            <a:off x="4591677" y="5278801"/>
            <a:ext cx="32454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Données récoltées avec </a:t>
            </a:r>
            <a:r>
              <a:rPr lang="fr-FR" sz="1600" dirty="0" err="1"/>
              <a:t>LTSpice</a:t>
            </a:r>
            <a:endParaRPr lang="fr-FR" sz="1600" dirty="0"/>
          </a:p>
        </p:txBody>
      </p:sp>
      <p:sp>
        <p:nvSpPr>
          <p:cNvPr id="13" name="AutoShape 2" descr="¿Qué es LTspice, para qué sirve y cómo funciona?">
            <a:extLst>
              <a:ext uri="{FF2B5EF4-FFF2-40B4-BE49-F238E27FC236}">
                <a16:creationId xmlns:a16="http://schemas.microsoft.com/office/drawing/2014/main" id="{E07F733D-9340-15B4-B245-198FB2C94E0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028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5626FB59-DD46-52CF-056C-0FB4C4D596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6796" y="1620111"/>
            <a:ext cx="1005133" cy="1005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60955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A8ED5-098F-9570-ACBB-50E36703E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8C2D956-F966-AEF2-A241-8A64B547C18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43846F8-18FE-7C6A-76A8-741E4FC6CE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3" t="20008" r="8298" b="4779"/>
          <a:stretch>
            <a:fillRect/>
          </a:stretch>
        </p:blipFill>
        <p:spPr>
          <a:xfrm>
            <a:off x="438390" y="1390254"/>
            <a:ext cx="3617103" cy="47937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88F337AC-67EE-EE9F-8EEA-E34CDB745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6A158-421D-4008-880F-7D1D00BBFC5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9EDBB6-2569-8CC7-2E3A-9DBB702C4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AF25C25-B363-4618-EBC2-4D4930A7F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28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368E95-18D2-6289-E9EB-39FA45A0541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EC4A2D2-685C-87E5-E824-234E3CE0DD9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14904E-75D1-4B5C-FFEA-D1D58774429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6.2.1 Initialisation du programme</a:t>
            </a:r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4A83DFF8-F0FD-FA36-AC9C-376370D3A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C15B571-6E75-E471-0443-E271469ED2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3" t="3556" r="8298" b="79928"/>
          <a:stretch>
            <a:fillRect/>
          </a:stretch>
        </p:blipFill>
        <p:spPr>
          <a:xfrm>
            <a:off x="4196240" y="1386473"/>
            <a:ext cx="3617103" cy="105261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5735003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23F56-6D1A-012E-0840-51E2961D1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21ABD7D-7909-F7E6-327C-22C936D77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3A8C4-76B7-4E36-8364-8723DF8F83C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AD8057DB-A890-35FD-BE54-B929F1FBC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7EF5319-1BBC-6FA6-9B28-6AE4EE4E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EA7EE6-6ED5-C3B5-06D5-DDE4D72DEFD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509A956-1EDE-8A91-05AC-6C6A89CAADF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9A9CC2-F54A-74ED-EF78-C0FDAC1823F1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6.2.2 Fonctions du modèle théorique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F51DC8C-2F05-DC95-710B-7ACF5BC334A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1EEB7B0D-8F85-F90D-F830-E739D70D4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8AFFFBE-CB6F-21A6-282E-728B37DFD5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48" t="5311" r="3306" b="5110"/>
          <a:stretch>
            <a:fillRect/>
          </a:stretch>
        </p:blipFill>
        <p:spPr>
          <a:xfrm>
            <a:off x="345440" y="1390254"/>
            <a:ext cx="7235687" cy="4533468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E59C470-13B0-9975-D958-781778B6025D}"/>
                  </a:ext>
                </a:extLst>
              </p:cNvPr>
              <p:cNvSpPr txBox="1"/>
              <p:nvPr/>
            </p:nvSpPr>
            <p:spPr>
              <a:xfrm>
                <a:off x="4859309" y="3115116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E59C470-13B0-9975-D958-781778B602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9309" y="3115116"/>
                <a:ext cx="2566035" cy="540533"/>
              </a:xfrm>
              <a:prstGeom prst="rect">
                <a:avLst/>
              </a:prstGeom>
              <a:blipFill>
                <a:blip r:embed="rId4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66451665-5910-D729-CFA8-47544067DF6E}"/>
              </a:ext>
            </a:extLst>
          </p:cNvPr>
          <p:cNvCxnSpPr>
            <a:cxnSpLocks/>
            <a:stCxn id="11" idx="0"/>
          </p:cNvCxnSpPr>
          <p:nvPr/>
        </p:nvCxnSpPr>
        <p:spPr>
          <a:xfrm rot="16200000" flipV="1">
            <a:off x="5395996" y="2368785"/>
            <a:ext cx="265236" cy="1227426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64F5A72-15A5-5002-01B8-114755A0140D}"/>
              </a:ext>
            </a:extLst>
          </p:cNvPr>
          <p:cNvCxnSpPr>
            <a:cxnSpLocks/>
            <a:stCxn id="11" idx="2"/>
          </p:cNvCxnSpPr>
          <p:nvPr/>
        </p:nvCxnSpPr>
        <p:spPr>
          <a:xfrm rot="5400000">
            <a:off x="5374453" y="3196097"/>
            <a:ext cx="308323" cy="1227427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12AF010-ED15-BC8C-BCC5-DF5C616F7068}"/>
                  </a:ext>
                </a:extLst>
              </p:cNvPr>
              <p:cNvSpPr txBox="1"/>
              <p:nvPr/>
            </p:nvSpPr>
            <p:spPr>
              <a:xfrm>
                <a:off x="4914901" y="1659671"/>
                <a:ext cx="2566035" cy="54053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12AF010-ED15-BC8C-BCC5-DF5C616F70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4901" y="1659671"/>
                <a:ext cx="2566035" cy="540533"/>
              </a:xfrm>
              <a:prstGeom prst="rect">
                <a:avLst/>
              </a:prstGeom>
              <a:blipFill>
                <a:blip r:embed="rId5"/>
                <a:stretch>
                  <a:fillRect t="-112088" b="-15824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78E1945-9155-3DB3-7037-B1602D1043D8}"/>
              </a:ext>
            </a:extLst>
          </p:cNvPr>
          <p:cNvCxnSpPr>
            <a:cxnSpLocks/>
            <a:stCxn id="22" idx="1"/>
          </p:cNvCxnSpPr>
          <p:nvPr/>
        </p:nvCxnSpPr>
        <p:spPr>
          <a:xfrm flipH="1" flipV="1">
            <a:off x="4739640" y="1929937"/>
            <a:ext cx="175261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46A5A34-8361-03F1-1615-B92B571DD60D}"/>
                  </a:ext>
                </a:extLst>
              </p:cNvPr>
              <p:cNvSpPr txBox="1"/>
              <p:nvPr/>
            </p:nvSpPr>
            <p:spPr>
              <a:xfrm>
                <a:off x="4066828" y="5106589"/>
                <a:ext cx="3358516" cy="65460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p>
                            <m:sSup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num>
                                        <m:den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f>
                                    <m:f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</m:den>
                          </m:f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num>
                                        <m:den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f>
                                    <m:f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</m:den>
                          </m:f>
                        </m:e>
                      </m:d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1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46A5A34-8361-03F1-1615-B92B571DD6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6828" y="5106589"/>
                <a:ext cx="3358516" cy="65460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59B3C6D-8A61-2DFD-BDE8-19177307F10C}"/>
              </a:ext>
            </a:extLst>
          </p:cNvPr>
          <p:cNvCxnSpPr>
            <a:cxnSpLocks/>
            <a:stCxn id="27" idx="3"/>
          </p:cNvCxnSpPr>
          <p:nvPr/>
        </p:nvCxnSpPr>
        <p:spPr>
          <a:xfrm flipH="1" flipV="1">
            <a:off x="6965722" y="4511040"/>
            <a:ext cx="459622" cy="922851"/>
          </a:xfrm>
          <a:prstGeom prst="bentConnector4">
            <a:avLst>
              <a:gd name="adj1" fmla="val -109421"/>
              <a:gd name="adj2" fmla="val 10034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31582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293B7-83EF-C759-D713-7720613D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45BA8A6-C306-B9A7-E8C7-8DE21A2E3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C8F1F-CA6E-4AA4-AB0D-19E4A1285E7B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7ED4F2D-A1EA-57EA-FD48-1DF15F709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4821DE5-01AE-C317-8481-DC9BB9C6D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9147E7-34EA-CAB2-9065-587A16AC991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BC895C5-4F1B-048E-4B6C-7E439A1B327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24B27F-1212-9E03-3094-0EE4BE422ED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6.2.3 Fonctions utiles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680B1F-EBF7-F346-714A-DE70738BCA4F}"/>
              </a:ext>
            </a:extLst>
          </p:cNvPr>
          <p:cNvSpPr/>
          <p:nvPr/>
        </p:nvSpPr>
        <p:spPr>
          <a:xfrm>
            <a:off x="345440" y="420890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BA4C4A0F-96CA-E1B3-99B7-AFE420CACB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D3557C-2ED0-8EFD-9235-98BC8630FD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05" t="4171" r="5415" b="7335"/>
          <a:stretch>
            <a:fillRect/>
          </a:stretch>
        </p:blipFill>
        <p:spPr>
          <a:xfrm>
            <a:off x="345440" y="1121470"/>
            <a:ext cx="5057030" cy="501517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084B4A61-21FB-3BA6-382D-D04369E875AE}"/>
              </a:ext>
            </a:extLst>
          </p:cNvPr>
          <p:cNvGrpSpPr/>
          <p:nvPr/>
        </p:nvGrpSpPr>
        <p:grpSpPr>
          <a:xfrm>
            <a:off x="5538464" y="1866041"/>
            <a:ext cx="3773176" cy="390000"/>
            <a:chOff x="462961" y="1234846"/>
            <a:chExt cx="3773176" cy="39000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9689B63-8C05-D3E6-A850-35A9891AFEAF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Lire les fichiers de données</a:t>
              </a:r>
            </a:p>
          </p:txBody>
        </p:sp>
        <p:pic>
          <p:nvPicPr>
            <p:cNvPr id="12" name="Graphic 11" descr="Right pointing backhand index with solid fill">
              <a:extLst>
                <a:ext uri="{FF2B5EF4-FFF2-40B4-BE49-F238E27FC236}">
                  <a16:creationId xmlns:a16="http://schemas.microsoft.com/office/drawing/2014/main" id="{1E217E7C-CB68-25F4-158B-5117E1F962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94C5C41-EAC8-D9C5-99A7-F3114A3F70DF}"/>
              </a:ext>
            </a:extLst>
          </p:cNvPr>
          <p:cNvGrpSpPr/>
          <p:nvPr/>
        </p:nvGrpSpPr>
        <p:grpSpPr>
          <a:xfrm>
            <a:off x="5538756" y="3818902"/>
            <a:ext cx="3773176" cy="390000"/>
            <a:chOff x="462961" y="1234846"/>
            <a:chExt cx="3773176" cy="39000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BD2BE30-D43A-A299-8DAD-FA4FD7BB24B6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Enregistrer des courbes</a:t>
              </a:r>
            </a:p>
          </p:txBody>
        </p:sp>
        <p:pic>
          <p:nvPicPr>
            <p:cNvPr id="15" name="Graphic 14" descr="Right pointing backhand index with solid fill">
              <a:extLst>
                <a:ext uri="{FF2B5EF4-FFF2-40B4-BE49-F238E27FC236}">
                  <a16:creationId xmlns:a16="http://schemas.microsoft.com/office/drawing/2014/main" id="{542F2087-09B0-14A9-1D2E-F88626DDBE9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C6A6464-700D-FC5E-2BFF-7B6D2548DC70}"/>
              </a:ext>
            </a:extLst>
          </p:cNvPr>
          <p:cNvGrpSpPr/>
          <p:nvPr/>
        </p:nvGrpSpPr>
        <p:grpSpPr>
          <a:xfrm>
            <a:off x="5538756" y="5576763"/>
            <a:ext cx="3773176" cy="390000"/>
            <a:chOff x="462961" y="1234846"/>
            <a:chExt cx="3773176" cy="39000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69E0A1B-278C-C69A-F73E-79F6A8EC24AE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Normaliser les spectres</a:t>
              </a:r>
            </a:p>
          </p:txBody>
        </p:sp>
        <p:pic>
          <p:nvPicPr>
            <p:cNvPr id="19" name="Graphic 18" descr="Right pointing backhand index with solid fill">
              <a:extLst>
                <a:ext uri="{FF2B5EF4-FFF2-40B4-BE49-F238E27FC236}">
                  <a16:creationId xmlns:a16="http://schemas.microsoft.com/office/drawing/2014/main" id="{C54953FD-2FA5-AB1D-79BD-1C7E61E527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93484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78E55-0328-F4B0-A17D-BED52B53F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DF0711-0040-41B4-3A89-7B4B75A97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811F1-91AD-4716-8FEE-F387C3A2061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3443A08-CB38-39EE-F965-164A8A422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4DF264-97D3-6DFC-B316-BED4DA0AD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4A3F5-C7A8-271E-97D8-81B4143785ED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AC73F6F-0601-97D4-F519-6A47C21DB23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33F4DE-0227-BE4E-1565-18A6CFBEC6F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6.2.4 Calcul du modèle théorique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277FFB-8AF7-D472-BE53-8CF7BB16989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A9D7A4F6-4B6C-FEED-F754-DEB193E58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48AED5-099F-D34F-2AF3-8BC9362CCA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16" t="6791" r="6952" b="6061"/>
          <a:stretch>
            <a:fillRect/>
          </a:stretch>
        </p:blipFill>
        <p:spPr>
          <a:xfrm>
            <a:off x="420982" y="1216549"/>
            <a:ext cx="4512364" cy="47469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877103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FE18E-DFA5-AD92-64CD-8F15A6B09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41620D0-6239-2CC1-BCE0-CA2A27BE6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811F1-91AD-4716-8FEE-F387C3A2061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C16FB689-AC83-BD94-1929-F1DBF98D8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32BB74E-1DC2-8EF0-178F-2374878D1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EE406F-22C3-7649-16AE-8AC16C29DEC6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DA525A0-9D68-105C-C49D-63990A85062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826590-8C71-35E8-49E9-4F811BC9CFF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6.2.5 Calcul et affichages des FFT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3D9334-81B8-14A3-6CA8-E5833BD3EEA4}"/>
              </a:ext>
            </a:extLst>
          </p:cNvPr>
          <p:cNvSpPr/>
          <p:nvPr/>
        </p:nvSpPr>
        <p:spPr>
          <a:xfrm>
            <a:off x="345440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F93D5E62-2E0F-5E65-93A5-F253C2766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34AF0C6-537E-6B20-F5DF-10EB348DED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5" t="5070" r="6046" b="5465"/>
          <a:stretch>
            <a:fillRect/>
          </a:stretch>
        </p:blipFill>
        <p:spPr>
          <a:xfrm>
            <a:off x="347871" y="1200647"/>
            <a:ext cx="4731025" cy="472307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914834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BED92-A1AA-6697-2E70-5C51D1F5C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F18D14F-51CA-5C96-A864-DE3C18FD8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0FE1-1155-4C02-8CE9-A13358F57627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0986B93-385B-899F-8705-22FD215EA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831DBE4-7E7E-1EC9-D91C-337D4ED26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4DE755-DBCA-E4FF-E4AF-02D38DF125B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4FEFFEB-8768-5E46-43F4-FB0EAB30C3A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5EC40F-996F-C57F-87E7-2830A4FA6506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6.2.6 Enregistrements des courbes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409239-756B-F1DC-3238-68546D8884B5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81CB7D3F-A693-40F0-90A3-133C6C7151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4C0BDD-0950-1C96-9E1F-B436E55AD7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91" t="7203" r="4143" b="7943"/>
          <a:stretch>
            <a:fillRect/>
          </a:stretch>
        </p:blipFill>
        <p:spPr>
          <a:xfrm>
            <a:off x="345440" y="1390254"/>
            <a:ext cx="7696863" cy="42235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1528283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3052</Words>
  <Application>Microsoft Office PowerPoint</Application>
  <PresentationFormat>On-screen Show (4:3)</PresentationFormat>
  <Paragraphs>547</Paragraphs>
  <Slides>33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Arial</vt:lpstr>
      <vt:lpstr>Arial Black</vt:lpstr>
      <vt:lpstr>Calibri</vt:lpstr>
      <vt:lpstr>Cambria Math</vt:lpstr>
      <vt:lpstr>Wingdings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436</cp:revision>
  <dcterms:created xsi:type="dcterms:W3CDTF">2025-06-09T15:35:56Z</dcterms:created>
  <dcterms:modified xsi:type="dcterms:W3CDTF">2025-12-04T16:29:38Z</dcterms:modified>
</cp:coreProperties>
</file>