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7" r:id="rId1"/>
  </p:sldMasterIdLst>
  <p:notesMasterIdLst>
    <p:notesMasterId r:id="rId49"/>
  </p:notesMasterIdLst>
  <p:sldIdLst>
    <p:sldId id="256" r:id="rId2"/>
    <p:sldId id="340" r:id="rId3"/>
    <p:sldId id="338" r:id="rId4"/>
    <p:sldId id="339" r:id="rId5"/>
    <p:sldId id="335" r:id="rId6"/>
    <p:sldId id="337" r:id="rId7"/>
    <p:sldId id="336" r:id="rId8"/>
    <p:sldId id="265" r:id="rId9"/>
    <p:sldId id="357" r:id="rId10"/>
    <p:sldId id="363" r:id="rId11"/>
    <p:sldId id="356" r:id="rId12"/>
    <p:sldId id="345" r:id="rId13"/>
    <p:sldId id="346" r:id="rId14"/>
    <p:sldId id="360" r:id="rId15"/>
    <p:sldId id="362" r:id="rId16"/>
    <p:sldId id="353" r:id="rId17"/>
    <p:sldId id="329" r:id="rId18"/>
    <p:sldId id="327" r:id="rId19"/>
    <p:sldId id="354" r:id="rId20"/>
    <p:sldId id="367" r:id="rId21"/>
    <p:sldId id="333" r:id="rId22"/>
    <p:sldId id="361" r:id="rId23"/>
    <p:sldId id="324" r:id="rId24"/>
    <p:sldId id="313" r:id="rId25"/>
    <p:sldId id="364" r:id="rId26"/>
    <p:sldId id="318" r:id="rId27"/>
    <p:sldId id="344" r:id="rId28"/>
    <p:sldId id="330" r:id="rId29"/>
    <p:sldId id="303" r:id="rId30"/>
    <p:sldId id="271" r:id="rId31"/>
    <p:sldId id="302" r:id="rId32"/>
    <p:sldId id="272" r:id="rId33"/>
    <p:sldId id="341" r:id="rId34"/>
    <p:sldId id="342" r:id="rId35"/>
    <p:sldId id="348" r:id="rId36"/>
    <p:sldId id="277" r:id="rId37"/>
    <p:sldId id="304" r:id="rId38"/>
    <p:sldId id="305" r:id="rId39"/>
    <p:sldId id="311" r:id="rId40"/>
    <p:sldId id="365" r:id="rId41"/>
    <p:sldId id="275" r:id="rId42"/>
    <p:sldId id="306" r:id="rId43"/>
    <p:sldId id="307" r:id="rId44"/>
    <p:sldId id="308" r:id="rId45"/>
    <p:sldId id="309" r:id="rId46"/>
    <p:sldId id="317" r:id="rId47"/>
    <p:sldId id="310" r:id="rId4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4095"/>
    <a:srgbClr val="38903A"/>
    <a:srgbClr val="559AD7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91" autoAdjust="0"/>
    <p:restoredTop sz="95975" autoAdjust="0"/>
  </p:normalViewPr>
  <p:slideViewPr>
    <p:cSldViewPr snapToGrid="0">
      <p:cViewPr varScale="1">
        <p:scale>
          <a:sx n="102" d="100"/>
          <a:sy n="102" d="100"/>
        </p:scale>
        <p:origin x="1037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38B8181-43EA-4C6C-8C7F-7942035F0720}" type="doc">
      <dgm:prSet loTypeId="urn:microsoft.com/office/officeart/2005/8/layout/lProcess2" loCatId="list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fr-FR"/>
        </a:p>
      </dgm:t>
    </dgm:pt>
    <dgm:pt modelId="{91212D5D-B364-44BA-9771-63E526DCA0A1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50M</a:t>
          </a:r>
          <a:endParaRPr lang="fr-FR" sz="5400" dirty="0">
            <a:latin typeface="Arial Black" panose="020B0A04020102020204" pitchFamily="34" charset="0"/>
          </a:endParaRPr>
        </a:p>
      </dgm:t>
    </dgm:pt>
    <dgm:pt modelId="{FC78DAE6-83E5-4BC1-AC49-428A15180E75}" type="parTrans" cxnId="{0485C7B9-46CA-4C0E-96B3-8FFF5F37DD6A}">
      <dgm:prSet/>
      <dgm:spPr/>
      <dgm:t>
        <a:bodyPr/>
        <a:lstStyle/>
        <a:p>
          <a:endParaRPr lang="fr-FR"/>
        </a:p>
      </dgm:t>
    </dgm:pt>
    <dgm:pt modelId="{D781E287-DBE3-4186-9876-37AE3B390319}" type="sibTrans" cxnId="{0485C7B9-46CA-4C0E-96B3-8FFF5F37DD6A}">
      <dgm:prSet/>
      <dgm:spPr/>
      <dgm:t>
        <a:bodyPr/>
        <a:lstStyle/>
        <a:p>
          <a:endParaRPr lang="fr-FR"/>
        </a:p>
      </dgm:t>
    </dgm:pt>
    <dgm:pt modelId="{E5137407-CC18-4373-B384-F7A66AF869B6}">
      <dgm:prSet phldrT="[Text]" phldr="0" custT="1"/>
      <dgm:spPr/>
      <dgm:t>
        <a:bodyPr/>
        <a:lstStyle/>
        <a:p>
          <a:r>
            <a:rPr lang="fr-FR" sz="1800" dirty="0"/>
            <a:t>Nombre de guitare estimé dans le monde</a:t>
          </a:r>
        </a:p>
      </dgm:t>
    </dgm:pt>
    <dgm:pt modelId="{F5863376-7605-42DC-B58D-060041DC79FF}" type="parTrans" cxnId="{AD0029D9-5E4E-4AD7-A0EC-A4368455A356}">
      <dgm:prSet/>
      <dgm:spPr/>
      <dgm:t>
        <a:bodyPr/>
        <a:lstStyle/>
        <a:p>
          <a:endParaRPr lang="fr-FR"/>
        </a:p>
      </dgm:t>
    </dgm:pt>
    <dgm:pt modelId="{504827BD-EDE8-4FEA-B41A-5C51374DAF4F}" type="sibTrans" cxnId="{AD0029D9-5E4E-4AD7-A0EC-A4368455A356}">
      <dgm:prSet/>
      <dgm:spPr/>
      <dgm:t>
        <a:bodyPr/>
        <a:lstStyle/>
        <a:p>
          <a:endParaRPr lang="fr-FR"/>
        </a:p>
      </dgm:t>
    </dgm:pt>
    <dgm:pt modelId="{AB389A4B-81CD-47F4-AC53-77C6CCDA77CA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10,3B</a:t>
          </a:r>
        </a:p>
      </dgm:t>
    </dgm:pt>
    <dgm:pt modelId="{1957A227-B175-4033-8F1D-F1C3A49DEBE5}" type="parTrans" cxnId="{C1AEFF4B-406F-4617-A89D-BA61E379F596}">
      <dgm:prSet/>
      <dgm:spPr/>
      <dgm:t>
        <a:bodyPr/>
        <a:lstStyle/>
        <a:p>
          <a:endParaRPr lang="fr-FR"/>
        </a:p>
      </dgm:t>
    </dgm:pt>
    <dgm:pt modelId="{BFD4BD52-26B4-4D78-A8D4-0D5AE83B8561}" type="sibTrans" cxnId="{C1AEFF4B-406F-4617-A89D-BA61E379F596}">
      <dgm:prSet/>
      <dgm:spPr/>
      <dgm:t>
        <a:bodyPr/>
        <a:lstStyle/>
        <a:p>
          <a:endParaRPr lang="fr-FR"/>
        </a:p>
      </dgm:t>
    </dgm:pt>
    <dgm:pt modelId="{5DFF8D2C-FF16-4189-959A-DA8AF237818F}">
      <dgm:prSet phldrT="[Text]" phldr="0" custT="1"/>
      <dgm:spPr/>
      <dgm:t>
        <a:bodyPr/>
        <a:lstStyle/>
        <a:p>
          <a:r>
            <a:rPr lang="fr-FR" sz="1800" dirty="0"/>
            <a:t>Valeur du marché de la guitare en 2024</a:t>
          </a:r>
        </a:p>
      </dgm:t>
    </dgm:pt>
    <dgm:pt modelId="{E4367BA8-3CA9-4C87-B29D-AC36939C7927}" type="parTrans" cxnId="{5523898E-814B-4613-82CF-8AC3888E263E}">
      <dgm:prSet/>
      <dgm:spPr/>
      <dgm:t>
        <a:bodyPr/>
        <a:lstStyle/>
        <a:p>
          <a:endParaRPr lang="fr-FR"/>
        </a:p>
      </dgm:t>
    </dgm:pt>
    <dgm:pt modelId="{B5808FB2-8ED5-48B7-94C9-85E33B53CEFA}" type="sibTrans" cxnId="{5523898E-814B-4613-82CF-8AC3888E263E}">
      <dgm:prSet/>
      <dgm:spPr/>
      <dgm:t>
        <a:bodyPr/>
        <a:lstStyle/>
        <a:p>
          <a:endParaRPr lang="fr-FR"/>
        </a:p>
      </dgm:t>
    </dgm:pt>
    <dgm:pt modelId="{D947A9E2-2E97-41F2-A0A4-BF4BF3FB2559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48%</a:t>
          </a:r>
        </a:p>
      </dgm:t>
    </dgm:pt>
    <dgm:pt modelId="{F31CB54F-5BC7-406C-A91B-50C08608D24C}" type="parTrans" cxnId="{8FE87FC7-AC18-4165-B440-4AA7AC67A8D9}">
      <dgm:prSet/>
      <dgm:spPr/>
      <dgm:t>
        <a:bodyPr/>
        <a:lstStyle/>
        <a:p>
          <a:endParaRPr lang="fr-FR"/>
        </a:p>
      </dgm:t>
    </dgm:pt>
    <dgm:pt modelId="{45F2920D-B956-4AA8-9189-A759A3BF2F00}" type="sibTrans" cxnId="{8FE87FC7-AC18-4165-B440-4AA7AC67A8D9}">
      <dgm:prSet/>
      <dgm:spPr/>
      <dgm:t>
        <a:bodyPr/>
        <a:lstStyle/>
        <a:p>
          <a:endParaRPr lang="fr-FR"/>
        </a:p>
      </dgm:t>
    </dgm:pt>
    <dgm:pt modelId="{1D647303-1950-49A3-B3E3-511B5EAB22C1}">
      <dgm:prSet phldrT="[Text]" custT="1"/>
      <dgm:spPr/>
      <dgm:t>
        <a:bodyPr/>
        <a:lstStyle/>
        <a:p>
          <a:r>
            <a:rPr lang="fr-FR" sz="1800" dirty="0"/>
            <a:t>Part de marché des guitares électriques </a:t>
          </a:r>
        </a:p>
      </dgm:t>
    </dgm:pt>
    <dgm:pt modelId="{D66D6EFC-F33F-49A7-81CA-B602591CF869}" type="parTrans" cxnId="{201120F7-9B21-4830-87D4-34EE8C2CC62D}">
      <dgm:prSet/>
      <dgm:spPr/>
      <dgm:t>
        <a:bodyPr/>
        <a:lstStyle/>
        <a:p>
          <a:endParaRPr lang="fr-FR"/>
        </a:p>
      </dgm:t>
    </dgm:pt>
    <dgm:pt modelId="{85CCCEDD-0FA1-4E6A-8302-32155D37CF8E}" type="sibTrans" cxnId="{201120F7-9B21-4830-87D4-34EE8C2CC62D}">
      <dgm:prSet/>
      <dgm:spPr/>
      <dgm:t>
        <a:bodyPr/>
        <a:lstStyle/>
        <a:p>
          <a:endParaRPr lang="fr-FR"/>
        </a:p>
      </dgm:t>
    </dgm:pt>
    <dgm:pt modelId="{B8929512-66CE-4E69-82E8-652F86CC7F13}" type="pres">
      <dgm:prSet presAssocID="{E38B8181-43EA-4C6C-8C7F-7942035F0720}" presName="theList" presStyleCnt="0">
        <dgm:presLayoutVars>
          <dgm:dir/>
          <dgm:animLvl val="lvl"/>
          <dgm:resizeHandles val="exact"/>
        </dgm:presLayoutVars>
      </dgm:prSet>
      <dgm:spPr/>
    </dgm:pt>
    <dgm:pt modelId="{8AD1CDE0-660F-41C6-A232-AB49A944F4B1}" type="pres">
      <dgm:prSet presAssocID="{91212D5D-B364-44BA-9771-63E526DCA0A1}" presName="compNode" presStyleCnt="0"/>
      <dgm:spPr/>
    </dgm:pt>
    <dgm:pt modelId="{A122FDB8-4E52-4F24-924C-55B39B5EEF83}" type="pres">
      <dgm:prSet presAssocID="{91212D5D-B364-44BA-9771-63E526DCA0A1}" presName="aNode" presStyleLbl="bgShp" presStyleIdx="0" presStyleCnt="3"/>
      <dgm:spPr/>
    </dgm:pt>
    <dgm:pt modelId="{EE092F6B-38EB-47CC-973C-37F9D2288AA3}" type="pres">
      <dgm:prSet presAssocID="{91212D5D-B364-44BA-9771-63E526DCA0A1}" presName="textNode" presStyleLbl="bgShp" presStyleIdx="0" presStyleCnt="3"/>
      <dgm:spPr/>
    </dgm:pt>
    <dgm:pt modelId="{0448C864-2F82-4625-BA73-B4FC84AC036D}" type="pres">
      <dgm:prSet presAssocID="{91212D5D-B364-44BA-9771-63E526DCA0A1}" presName="compChildNode" presStyleCnt="0"/>
      <dgm:spPr/>
    </dgm:pt>
    <dgm:pt modelId="{28883B9D-21D9-4368-977E-4B0BD2C2A37C}" type="pres">
      <dgm:prSet presAssocID="{91212D5D-B364-44BA-9771-63E526DCA0A1}" presName="theInnerList" presStyleCnt="0"/>
      <dgm:spPr/>
    </dgm:pt>
    <dgm:pt modelId="{332FF867-5FFB-469C-995E-0CBE678B8048}" type="pres">
      <dgm:prSet presAssocID="{E5137407-CC18-4373-B384-F7A66AF869B6}" presName="childNode" presStyleLbl="node1" presStyleIdx="0" presStyleCnt="3" custScaleY="70691">
        <dgm:presLayoutVars>
          <dgm:bulletEnabled val="1"/>
        </dgm:presLayoutVars>
      </dgm:prSet>
      <dgm:spPr/>
    </dgm:pt>
    <dgm:pt modelId="{A9B3C3CC-83A5-44FD-8337-23960E5C80F6}" type="pres">
      <dgm:prSet presAssocID="{91212D5D-B364-44BA-9771-63E526DCA0A1}" presName="aSpace" presStyleCnt="0"/>
      <dgm:spPr/>
    </dgm:pt>
    <dgm:pt modelId="{51288686-012E-497C-AA23-CFA1CCA57442}" type="pres">
      <dgm:prSet presAssocID="{AB389A4B-81CD-47F4-AC53-77C6CCDA77CA}" presName="compNode" presStyleCnt="0"/>
      <dgm:spPr/>
    </dgm:pt>
    <dgm:pt modelId="{D876CD57-D8B0-4B1D-8A27-4B504FE0CFD4}" type="pres">
      <dgm:prSet presAssocID="{AB389A4B-81CD-47F4-AC53-77C6CCDA77CA}" presName="aNode" presStyleLbl="bgShp" presStyleIdx="1" presStyleCnt="3"/>
      <dgm:spPr/>
    </dgm:pt>
    <dgm:pt modelId="{753AE736-51A9-4ACF-85CA-A535BD91B08A}" type="pres">
      <dgm:prSet presAssocID="{AB389A4B-81CD-47F4-AC53-77C6CCDA77CA}" presName="textNode" presStyleLbl="bgShp" presStyleIdx="1" presStyleCnt="3"/>
      <dgm:spPr/>
    </dgm:pt>
    <dgm:pt modelId="{2037BDEE-75EB-46C8-AD3A-65B225526994}" type="pres">
      <dgm:prSet presAssocID="{AB389A4B-81CD-47F4-AC53-77C6CCDA77CA}" presName="compChildNode" presStyleCnt="0"/>
      <dgm:spPr/>
    </dgm:pt>
    <dgm:pt modelId="{051F6D2A-97B8-4664-A450-ADDEC308F567}" type="pres">
      <dgm:prSet presAssocID="{AB389A4B-81CD-47F4-AC53-77C6CCDA77CA}" presName="theInnerList" presStyleCnt="0"/>
      <dgm:spPr/>
    </dgm:pt>
    <dgm:pt modelId="{212315B0-941C-424E-9FB8-A723AE83E221}" type="pres">
      <dgm:prSet presAssocID="{5DFF8D2C-FF16-4189-959A-DA8AF237818F}" presName="childNode" presStyleLbl="node1" presStyleIdx="1" presStyleCnt="3" custScaleY="70691">
        <dgm:presLayoutVars>
          <dgm:bulletEnabled val="1"/>
        </dgm:presLayoutVars>
      </dgm:prSet>
      <dgm:spPr/>
    </dgm:pt>
    <dgm:pt modelId="{A06D310C-D4D5-42FB-BF30-8EB821EF41B8}" type="pres">
      <dgm:prSet presAssocID="{AB389A4B-81CD-47F4-AC53-77C6CCDA77CA}" presName="aSpace" presStyleCnt="0"/>
      <dgm:spPr/>
    </dgm:pt>
    <dgm:pt modelId="{72FABE35-4F33-4B5B-B72B-CE129740AEE7}" type="pres">
      <dgm:prSet presAssocID="{D947A9E2-2E97-41F2-A0A4-BF4BF3FB2559}" presName="compNode" presStyleCnt="0"/>
      <dgm:spPr/>
    </dgm:pt>
    <dgm:pt modelId="{3D118472-EB36-44B0-9CAB-89E96EDD8635}" type="pres">
      <dgm:prSet presAssocID="{D947A9E2-2E97-41F2-A0A4-BF4BF3FB2559}" presName="aNode" presStyleLbl="bgShp" presStyleIdx="2" presStyleCnt="3"/>
      <dgm:spPr/>
    </dgm:pt>
    <dgm:pt modelId="{D4961126-1C1B-4F88-A93F-D46D2428CFA2}" type="pres">
      <dgm:prSet presAssocID="{D947A9E2-2E97-41F2-A0A4-BF4BF3FB2559}" presName="textNode" presStyleLbl="bgShp" presStyleIdx="2" presStyleCnt="3"/>
      <dgm:spPr/>
    </dgm:pt>
    <dgm:pt modelId="{5B693B72-B78F-4290-A233-520D95F4748A}" type="pres">
      <dgm:prSet presAssocID="{D947A9E2-2E97-41F2-A0A4-BF4BF3FB2559}" presName="compChildNode" presStyleCnt="0"/>
      <dgm:spPr/>
    </dgm:pt>
    <dgm:pt modelId="{3DB0FDFE-0615-4995-85DF-314DBB0DEE15}" type="pres">
      <dgm:prSet presAssocID="{D947A9E2-2E97-41F2-A0A4-BF4BF3FB2559}" presName="theInnerList" presStyleCnt="0"/>
      <dgm:spPr/>
    </dgm:pt>
    <dgm:pt modelId="{522A87F0-0F3E-418E-844F-50D37BC18AE4}" type="pres">
      <dgm:prSet presAssocID="{1D647303-1950-49A3-B3E3-511B5EAB22C1}" presName="childNode" presStyleLbl="node1" presStyleIdx="2" presStyleCnt="3" custScaleY="70691">
        <dgm:presLayoutVars>
          <dgm:bulletEnabled val="1"/>
        </dgm:presLayoutVars>
      </dgm:prSet>
      <dgm:spPr/>
    </dgm:pt>
  </dgm:ptLst>
  <dgm:cxnLst>
    <dgm:cxn modelId="{94D40702-587D-4465-BCBA-552514180BBE}" type="presOf" srcId="{E38B8181-43EA-4C6C-8C7F-7942035F0720}" destId="{B8929512-66CE-4E69-82E8-652F86CC7F13}" srcOrd="0" destOrd="0" presId="urn:microsoft.com/office/officeart/2005/8/layout/lProcess2"/>
    <dgm:cxn modelId="{8F245E04-8DF9-4548-92D1-3655024527CF}" type="presOf" srcId="{D947A9E2-2E97-41F2-A0A4-BF4BF3FB2559}" destId="{D4961126-1C1B-4F88-A93F-D46D2428CFA2}" srcOrd="1" destOrd="0" presId="urn:microsoft.com/office/officeart/2005/8/layout/lProcess2"/>
    <dgm:cxn modelId="{7A5F6A19-7DAC-460E-BBA6-B384A077D6FF}" type="presOf" srcId="{1D647303-1950-49A3-B3E3-511B5EAB22C1}" destId="{522A87F0-0F3E-418E-844F-50D37BC18AE4}" srcOrd="0" destOrd="0" presId="urn:microsoft.com/office/officeart/2005/8/layout/lProcess2"/>
    <dgm:cxn modelId="{299ABB28-1B39-4096-812E-C6AA0CDDD8DA}" type="presOf" srcId="{AB389A4B-81CD-47F4-AC53-77C6CCDA77CA}" destId="{D876CD57-D8B0-4B1D-8A27-4B504FE0CFD4}" srcOrd="0" destOrd="0" presId="urn:microsoft.com/office/officeart/2005/8/layout/lProcess2"/>
    <dgm:cxn modelId="{C1AEFF4B-406F-4617-A89D-BA61E379F596}" srcId="{E38B8181-43EA-4C6C-8C7F-7942035F0720}" destId="{AB389A4B-81CD-47F4-AC53-77C6CCDA77CA}" srcOrd="1" destOrd="0" parTransId="{1957A227-B175-4033-8F1D-F1C3A49DEBE5}" sibTransId="{BFD4BD52-26B4-4D78-A8D4-0D5AE83B8561}"/>
    <dgm:cxn modelId="{A32FD154-FA1F-42EC-A904-99D643BC5003}" type="presOf" srcId="{E5137407-CC18-4373-B384-F7A66AF869B6}" destId="{332FF867-5FFB-469C-995E-0CBE678B8048}" srcOrd="0" destOrd="0" presId="urn:microsoft.com/office/officeart/2005/8/layout/lProcess2"/>
    <dgm:cxn modelId="{5191207E-417E-46C7-B34A-8DDB7C623194}" type="presOf" srcId="{5DFF8D2C-FF16-4189-959A-DA8AF237818F}" destId="{212315B0-941C-424E-9FB8-A723AE83E221}" srcOrd="0" destOrd="0" presId="urn:microsoft.com/office/officeart/2005/8/layout/lProcess2"/>
    <dgm:cxn modelId="{46AA8580-CB6C-47DD-A72E-6CB4DBC796AE}" type="presOf" srcId="{D947A9E2-2E97-41F2-A0A4-BF4BF3FB2559}" destId="{3D118472-EB36-44B0-9CAB-89E96EDD8635}" srcOrd="0" destOrd="0" presId="urn:microsoft.com/office/officeart/2005/8/layout/lProcess2"/>
    <dgm:cxn modelId="{5523898E-814B-4613-82CF-8AC3888E263E}" srcId="{AB389A4B-81CD-47F4-AC53-77C6CCDA77CA}" destId="{5DFF8D2C-FF16-4189-959A-DA8AF237818F}" srcOrd="0" destOrd="0" parTransId="{E4367BA8-3CA9-4C87-B29D-AC36939C7927}" sibTransId="{B5808FB2-8ED5-48B7-94C9-85E33B53CEFA}"/>
    <dgm:cxn modelId="{A75A9195-F7D7-468F-9696-A77A26B18F76}" type="presOf" srcId="{AB389A4B-81CD-47F4-AC53-77C6CCDA77CA}" destId="{753AE736-51A9-4ACF-85CA-A535BD91B08A}" srcOrd="1" destOrd="0" presId="urn:microsoft.com/office/officeart/2005/8/layout/lProcess2"/>
    <dgm:cxn modelId="{209C9C9E-C3F8-4D27-8697-A6FB0C80B67F}" type="presOf" srcId="{91212D5D-B364-44BA-9771-63E526DCA0A1}" destId="{EE092F6B-38EB-47CC-973C-37F9D2288AA3}" srcOrd="1" destOrd="0" presId="urn:microsoft.com/office/officeart/2005/8/layout/lProcess2"/>
    <dgm:cxn modelId="{1D029AA6-958D-47DB-9F92-AA3342059FCC}" type="presOf" srcId="{91212D5D-B364-44BA-9771-63E526DCA0A1}" destId="{A122FDB8-4E52-4F24-924C-55B39B5EEF83}" srcOrd="0" destOrd="0" presId="urn:microsoft.com/office/officeart/2005/8/layout/lProcess2"/>
    <dgm:cxn modelId="{0485C7B9-46CA-4C0E-96B3-8FFF5F37DD6A}" srcId="{E38B8181-43EA-4C6C-8C7F-7942035F0720}" destId="{91212D5D-B364-44BA-9771-63E526DCA0A1}" srcOrd="0" destOrd="0" parTransId="{FC78DAE6-83E5-4BC1-AC49-428A15180E75}" sibTransId="{D781E287-DBE3-4186-9876-37AE3B390319}"/>
    <dgm:cxn modelId="{8FE87FC7-AC18-4165-B440-4AA7AC67A8D9}" srcId="{E38B8181-43EA-4C6C-8C7F-7942035F0720}" destId="{D947A9E2-2E97-41F2-A0A4-BF4BF3FB2559}" srcOrd="2" destOrd="0" parTransId="{F31CB54F-5BC7-406C-A91B-50C08608D24C}" sibTransId="{45F2920D-B956-4AA8-9189-A759A3BF2F00}"/>
    <dgm:cxn modelId="{AD0029D9-5E4E-4AD7-A0EC-A4368455A356}" srcId="{91212D5D-B364-44BA-9771-63E526DCA0A1}" destId="{E5137407-CC18-4373-B384-F7A66AF869B6}" srcOrd="0" destOrd="0" parTransId="{F5863376-7605-42DC-B58D-060041DC79FF}" sibTransId="{504827BD-EDE8-4FEA-B41A-5C51374DAF4F}"/>
    <dgm:cxn modelId="{201120F7-9B21-4830-87D4-34EE8C2CC62D}" srcId="{D947A9E2-2E97-41F2-A0A4-BF4BF3FB2559}" destId="{1D647303-1950-49A3-B3E3-511B5EAB22C1}" srcOrd="0" destOrd="0" parTransId="{D66D6EFC-F33F-49A7-81CA-B602591CF869}" sibTransId="{85CCCEDD-0FA1-4E6A-8302-32155D37CF8E}"/>
    <dgm:cxn modelId="{08E6926F-999E-4517-BB1A-F96A0310265E}" type="presParOf" srcId="{B8929512-66CE-4E69-82E8-652F86CC7F13}" destId="{8AD1CDE0-660F-41C6-A232-AB49A944F4B1}" srcOrd="0" destOrd="0" presId="urn:microsoft.com/office/officeart/2005/8/layout/lProcess2"/>
    <dgm:cxn modelId="{CE9A049D-E141-4083-9323-2C683065397A}" type="presParOf" srcId="{8AD1CDE0-660F-41C6-A232-AB49A944F4B1}" destId="{A122FDB8-4E52-4F24-924C-55B39B5EEF83}" srcOrd="0" destOrd="0" presId="urn:microsoft.com/office/officeart/2005/8/layout/lProcess2"/>
    <dgm:cxn modelId="{C0BB5914-70D5-4110-8C04-9D450E2EDFE8}" type="presParOf" srcId="{8AD1CDE0-660F-41C6-A232-AB49A944F4B1}" destId="{EE092F6B-38EB-47CC-973C-37F9D2288AA3}" srcOrd="1" destOrd="0" presId="urn:microsoft.com/office/officeart/2005/8/layout/lProcess2"/>
    <dgm:cxn modelId="{05DBDA82-E4F4-4AB8-A1EB-7EC172ABBE02}" type="presParOf" srcId="{8AD1CDE0-660F-41C6-A232-AB49A944F4B1}" destId="{0448C864-2F82-4625-BA73-B4FC84AC036D}" srcOrd="2" destOrd="0" presId="urn:microsoft.com/office/officeart/2005/8/layout/lProcess2"/>
    <dgm:cxn modelId="{28C03247-E7BF-4132-B9B5-AA28D4CE75CE}" type="presParOf" srcId="{0448C864-2F82-4625-BA73-B4FC84AC036D}" destId="{28883B9D-21D9-4368-977E-4B0BD2C2A37C}" srcOrd="0" destOrd="0" presId="urn:microsoft.com/office/officeart/2005/8/layout/lProcess2"/>
    <dgm:cxn modelId="{4C34A2E8-D3DD-48CD-96F1-BD14E8265A75}" type="presParOf" srcId="{28883B9D-21D9-4368-977E-4B0BD2C2A37C}" destId="{332FF867-5FFB-469C-995E-0CBE678B8048}" srcOrd="0" destOrd="0" presId="urn:microsoft.com/office/officeart/2005/8/layout/lProcess2"/>
    <dgm:cxn modelId="{250EF62A-AEFF-40E0-A39A-E8780120EB6A}" type="presParOf" srcId="{B8929512-66CE-4E69-82E8-652F86CC7F13}" destId="{A9B3C3CC-83A5-44FD-8337-23960E5C80F6}" srcOrd="1" destOrd="0" presId="urn:microsoft.com/office/officeart/2005/8/layout/lProcess2"/>
    <dgm:cxn modelId="{6C4A4D70-C1C2-4D21-8A99-B71DCD27BB33}" type="presParOf" srcId="{B8929512-66CE-4E69-82E8-652F86CC7F13}" destId="{51288686-012E-497C-AA23-CFA1CCA57442}" srcOrd="2" destOrd="0" presId="urn:microsoft.com/office/officeart/2005/8/layout/lProcess2"/>
    <dgm:cxn modelId="{E09CE3DD-1A3E-4D7A-8D02-75EDE870DD29}" type="presParOf" srcId="{51288686-012E-497C-AA23-CFA1CCA57442}" destId="{D876CD57-D8B0-4B1D-8A27-4B504FE0CFD4}" srcOrd="0" destOrd="0" presId="urn:microsoft.com/office/officeart/2005/8/layout/lProcess2"/>
    <dgm:cxn modelId="{74F7B8D7-D1E3-4561-93EF-FF9712C205DD}" type="presParOf" srcId="{51288686-012E-497C-AA23-CFA1CCA57442}" destId="{753AE736-51A9-4ACF-85CA-A535BD91B08A}" srcOrd="1" destOrd="0" presId="urn:microsoft.com/office/officeart/2005/8/layout/lProcess2"/>
    <dgm:cxn modelId="{56898C8E-CBB4-464E-A05A-A938E6EF7C6F}" type="presParOf" srcId="{51288686-012E-497C-AA23-CFA1CCA57442}" destId="{2037BDEE-75EB-46C8-AD3A-65B225526994}" srcOrd="2" destOrd="0" presId="urn:microsoft.com/office/officeart/2005/8/layout/lProcess2"/>
    <dgm:cxn modelId="{7474C88F-B077-4E52-9389-DB71FE1EE583}" type="presParOf" srcId="{2037BDEE-75EB-46C8-AD3A-65B225526994}" destId="{051F6D2A-97B8-4664-A450-ADDEC308F567}" srcOrd="0" destOrd="0" presId="urn:microsoft.com/office/officeart/2005/8/layout/lProcess2"/>
    <dgm:cxn modelId="{D51C9842-0333-42F3-B1B8-70BB34EF5298}" type="presParOf" srcId="{051F6D2A-97B8-4664-A450-ADDEC308F567}" destId="{212315B0-941C-424E-9FB8-A723AE83E221}" srcOrd="0" destOrd="0" presId="urn:microsoft.com/office/officeart/2005/8/layout/lProcess2"/>
    <dgm:cxn modelId="{D41932D7-DB46-4904-88C2-4968B0EE258B}" type="presParOf" srcId="{B8929512-66CE-4E69-82E8-652F86CC7F13}" destId="{A06D310C-D4D5-42FB-BF30-8EB821EF41B8}" srcOrd="3" destOrd="0" presId="urn:microsoft.com/office/officeart/2005/8/layout/lProcess2"/>
    <dgm:cxn modelId="{AC37D594-B731-481B-B6FC-DF8BB7CC3EEF}" type="presParOf" srcId="{B8929512-66CE-4E69-82E8-652F86CC7F13}" destId="{72FABE35-4F33-4B5B-B72B-CE129740AEE7}" srcOrd="4" destOrd="0" presId="urn:microsoft.com/office/officeart/2005/8/layout/lProcess2"/>
    <dgm:cxn modelId="{20205CCD-3134-441A-BEAF-7C5A6E3D5EC9}" type="presParOf" srcId="{72FABE35-4F33-4B5B-B72B-CE129740AEE7}" destId="{3D118472-EB36-44B0-9CAB-89E96EDD8635}" srcOrd="0" destOrd="0" presId="urn:microsoft.com/office/officeart/2005/8/layout/lProcess2"/>
    <dgm:cxn modelId="{BCB07279-88EC-40FB-BCB3-BF071DDA10B8}" type="presParOf" srcId="{72FABE35-4F33-4B5B-B72B-CE129740AEE7}" destId="{D4961126-1C1B-4F88-A93F-D46D2428CFA2}" srcOrd="1" destOrd="0" presId="urn:microsoft.com/office/officeart/2005/8/layout/lProcess2"/>
    <dgm:cxn modelId="{134B4711-562A-4E32-92F8-7638FD2C4840}" type="presParOf" srcId="{72FABE35-4F33-4B5B-B72B-CE129740AEE7}" destId="{5B693B72-B78F-4290-A233-520D95F4748A}" srcOrd="2" destOrd="0" presId="urn:microsoft.com/office/officeart/2005/8/layout/lProcess2"/>
    <dgm:cxn modelId="{5A6E1D6A-410F-44A8-8D1F-830954F79DCD}" type="presParOf" srcId="{5B693B72-B78F-4290-A233-520D95F4748A}" destId="{3DB0FDFE-0615-4995-85DF-314DBB0DEE15}" srcOrd="0" destOrd="0" presId="urn:microsoft.com/office/officeart/2005/8/layout/lProcess2"/>
    <dgm:cxn modelId="{EC0504A7-74B3-4A45-A806-56DC9387496F}" type="presParOf" srcId="{3DB0FDFE-0615-4995-85DF-314DBB0DEE15}" destId="{522A87F0-0F3E-418E-844F-50D37BC18AE4}" srcOrd="0" destOrd="0" presId="urn:microsoft.com/office/officeart/2005/8/layout/l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FD1C852-5D74-4F80-A124-F60AD28CB0FD}" type="doc">
      <dgm:prSet loTypeId="urn:microsoft.com/office/officeart/2005/8/layout/hChevron3" loCatId="process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fr-FR"/>
        </a:p>
      </dgm:t>
    </dgm:pt>
    <dgm:pt modelId="{B1946031-CC6F-4798-BB24-30EB0DDC5277}">
      <dgm:prSet phldrT="[Text]" phldr="0"/>
      <dgm:spPr/>
      <dgm:t>
        <a:bodyPr/>
        <a:lstStyle/>
        <a:p>
          <a:pPr algn="l"/>
          <a:r>
            <a:rPr lang="fr-FR" dirty="0"/>
            <a:t>Filtrage électrique interne </a:t>
          </a:r>
        </a:p>
      </dgm:t>
    </dgm:pt>
    <dgm:pt modelId="{DF9440CB-AEE4-4B4A-BAD8-C0D9B8C74E86}" type="parTrans" cxnId="{A54F9490-DB61-4C3A-A7B7-F92EB5A17874}">
      <dgm:prSet/>
      <dgm:spPr/>
      <dgm:t>
        <a:bodyPr/>
        <a:lstStyle/>
        <a:p>
          <a:pPr algn="l"/>
          <a:endParaRPr lang="fr-FR"/>
        </a:p>
      </dgm:t>
    </dgm:pt>
    <dgm:pt modelId="{6409785A-3A6B-45D0-AECD-0CF83416FC6F}" type="sibTrans" cxnId="{A54F9490-DB61-4C3A-A7B7-F92EB5A17874}">
      <dgm:prSet/>
      <dgm:spPr/>
      <dgm:t>
        <a:bodyPr/>
        <a:lstStyle/>
        <a:p>
          <a:pPr algn="l"/>
          <a:endParaRPr lang="fr-FR"/>
        </a:p>
      </dgm:t>
    </dgm:pt>
    <dgm:pt modelId="{E1F92468-EED0-446C-8F01-19EC7893BEB7}">
      <dgm:prSet phldrT="[Text]" phldr="0"/>
      <dgm:spPr/>
      <dgm:t>
        <a:bodyPr/>
        <a:lstStyle/>
        <a:p>
          <a:pPr algn="l"/>
          <a:r>
            <a:rPr lang="fr-FR" dirty="0"/>
            <a:t>Induction et </a:t>
          </a:r>
        </a:p>
        <a:p>
          <a:pPr algn="l"/>
          <a:r>
            <a:rPr lang="fr-FR" dirty="0"/>
            <a:t>filtrage spatial</a:t>
          </a:r>
        </a:p>
      </dgm:t>
    </dgm:pt>
    <dgm:pt modelId="{4C193A07-5FE8-45B1-B54F-43ACFEBFA259}" type="parTrans" cxnId="{F47725DE-476A-4FAB-9188-719AD3DBBAB7}">
      <dgm:prSet/>
      <dgm:spPr/>
      <dgm:t>
        <a:bodyPr/>
        <a:lstStyle/>
        <a:p>
          <a:pPr algn="l"/>
          <a:endParaRPr lang="fr-FR"/>
        </a:p>
      </dgm:t>
    </dgm:pt>
    <dgm:pt modelId="{24A5BA3C-A19D-47E5-9693-F13538540662}" type="sibTrans" cxnId="{F47725DE-476A-4FAB-9188-719AD3DBBAB7}">
      <dgm:prSet/>
      <dgm:spPr/>
      <dgm:t>
        <a:bodyPr/>
        <a:lstStyle/>
        <a:p>
          <a:pPr algn="l"/>
          <a:endParaRPr lang="fr-FR"/>
        </a:p>
      </dgm:t>
    </dgm:pt>
    <dgm:pt modelId="{2999190F-4751-4CC0-8C2C-D4D1BD8541A5}">
      <dgm:prSet phldrT="[Text]" phldr="0"/>
      <dgm:spPr/>
      <dgm:t>
        <a:bodyPr/>
        <a:lstStyle/>
        <a:p>
          <a:pPr algn="l"/>
          <a:r>
            <a:rPr lang="fr-FR" dirty="0"/>
            <a:t>Reduction du « Hum »</a:t>
          </a:r>
        </a:p>
      </dgm:t>
    </dgm:pt>
    <dgm:pt modelId="{B937862D-19FD-452C-9AA2-58269B000A85}" type="parTrans" cxnId="{9D335623-9A20-41EC-8986-84118AEFF14B}">
      <dgm:prSet/>
      <dgm:spPr/>
      <dgm:t>
        <a:bodyPr/>
        <a:lstStyle/>
        <a:p>
          <a:pPr algn="l"/>
          <a:endParaRPr lang="fr-FR"/>
        </a:p>
      </dgm:t>
    </dgm:pt>
    <dgm:pt modelId="{E02B0FFD-8631-41F2-A902-D43C76613677}" type="sibTrans" cxnId="{9D335623-9A20-41EC-8986-84118AEFF14B}">
      <dgm:prSet/>
      <dgm:spPr/>
      <dgm:t>
        <a:bodyPr/>
        <a:lstStyle/>
        <a:p>
          <a:pPr algn="l"/>
          <a:endParaRPr lang="fr-FR"/>
        </a:p>
      </dgm:t>
    </dgm:pt>
    <dgm:pt modelId="{3492A474-1DB8-418E-8701-8300C7EB9CDA}" type="pres">
      <dgm:prSet presAssocID="{AFD1C852-5D74-4F80-A124-F60AD28CB0FD}" presName="Name0" presStyleCnt="0">
        <dgm:presLayoutVars>
          <dgm:dir/>
          <dgm:resizeHandles val="exact"/>
        </dgm:presLayoutVars>
      </dgm:prSet>
      <dgm:spPr/>
    </dgm:pt>
    <dgm:pt modelId="{07B121FE-B513-4273-8542-483E825BE23A}" type="pres">
      <dgm:prSet presAssocID="{B1946031-CC6F-4798-BB24-30EB0DDC5277}" presName="parTxOnly" presStyleLbl="node1" presStyleIdx="0" presStyleCnt="3" custScaleX="90834" custScaleY="433715">
        <dgm:presLayoutVars>
          <dgm:bulletEnabled val="1"/>
        </dgm:presLayoutVars>
      </dgm:prSet>
      <dgm:spPr/>
    </dgm:pt>
    <dgm:pt modelId="{DB817F39-88FC-4708-9DF3-C7F5734050DC}" type="pres">
      <dgm:prSet presAssocID="{6409785A-3A6B-45D0-AECD-0CF83416FC6F}" presName="parSpace" presStyleCnt="0"/>
      <dgm:spPr/>
    </dgm:pt>
    <dgm:pt modelId="{1C5D07C3-19A8-4A2B-ADAD-760FB67323AE}" type="pres">
      <dgm:prSet presAssocID="{E1F92468-EED0-446C-8F01-19EC7893BEB7}" presName="parTxOnly" presStyleLbl="node1" presStyleIdx="1" presStyleCnt="3" custScaleX="85590" custScaleY="433715">
        <dgm:presLayoutVars>
          <dgm:bulletEnabled val="1"/>
        </dgm:presLayoutVars>
      </dgm:prSet>
      <dgm:spPr/>
    </dgm:pt>
    <dgm:pt modelId="{095CFF29-6108-477A-98A8-6875BCA81A2B}" type="pres">
      <dgm:prSet presAssocID="{24A5BA3C-A19D-47E5-9693-F13538540662}" presName="parSpace" presStyleCnt="0"/>
      <dgm:spPr/>
    </dgm:pt>
    <dgm:pt modelId="{EDB0DA63-DB1A-4CF7-9C2D-141473F1AEC3}" type="pres">
      <dgm:prSet presAssocID="{2999190F-4751-4CC0-8C2C-D4D1BD8541A5}" presName="parTxOnly" presStyleLbl="node1" presStyleIdx="2" presStyleCnt="3" custScaleX="77451" custScaleY="433715">
        <dgm:presLayoutVars>
          <dgm:bulletEnabled val="1"/>
        </dgm:presLayoutVars>
      </dgm:prSet>
      <dgm:spPr/>
    </dgm:pt>
  </dgm:ptLst>
  <dgm:cxnLst>
    <dgm:cxn modelId="{9D335623-9A20-41EC-8986-84118AEFF14B}" srcId="{AFD1C852-5D74-4F80-A124-F60AD28CB0FD}" destId="{2999190F-4751-4CC0-8C2C-D4D1BD8541A5}" srcOrd="2" destOrd="0" parTransId="{B937862D-19FD-452C-9AA2-58269B000A85}" sibTransId="{E02B0FFD-8631-41F2-A902-D43C76613677}"/>
    <dgm:cxn modelId="{5087FD27-24EB-4362-B69A-7FAAD70FE1F4}" type="presOf" srcId="{2999190F-4751-4CC0-8C2C-D4D1BD8541A5}" destId="{EDB0DA63-DB1A-4CF7-9C2D-141473F1AEC3}" srcOrd="0" destOrd="0" presId="urn:microsoft.com/office/officeart/2005/8/layout/hChevron3"/>
    <dgm:cxn modelId="{F295B632-26E4-4F8E-AE79-C863461F4647}" type="presOf" srcId="{E1F92468-EED0-446C-8F01-19EC7893BEB7}" destId="{1C5D07C3-19A8-4A2B-ADAD-760FB67323AE}" srcOrd="0" destOrd="0" presId="urn:microsoft.com/office/officeart/2005/8/layout/hChevron3"/>
    <dgm:cxn modelId="{0A6C1934-F3BE-4907-9741-F2ECA6A31CF0}" type="presOf" srcId="{AFD1C852-5D74-4F80-A124-F60AD28CB0FD}" destId="{3492A474-1DB8-418E-8701-8300C7EB9CDA}" srcOrd="0" destOrd="0" presId="urn:microsoft.com/office/officeart/2005/8/layout/hChevron3"/>
    <dgm:cxn modelId="{A54F9490-DB61-4C3A-A7B7-F92EB5A17874}" srcId="{AFD1C852-5D74-4F80-A124-F60AD28CB0FD}" destId="{B1946031-CC6F-4798-BB24-30EB0DDC5277}" srcOrd="0" destOrd="0" parTransId="{DF9440CB-AEE4-4B4A-BAD8-C0D9B8C74E86}" sibTransId="{6409785A-3A6B-45D0-AECD-0CF83416FC6F}"/>
    <dgm:cxn modelId="{A28B0F9F-7F70-4B9B-AD8E-DEBE0C3994F7}" type="presOf" srcId="{B1946031-CC6F-4798-BB24-30EB0DDC5277}" destId="{07B121FE-B513-4273-8542-483E825BE23A}" srcOrd="0" destOrd="0" presId="urn:microsoft.com/office/officeart/2005/8/layout/hChevron3"/>
    <dgm:cxn modelId="{F47725DE-476A-4FAB-9188-719AD3DBBAB7}" srcId="{AFD1C852-5D74-4F80-A124-F60AD28CB0FD}" destId="{E1F92468-EED0-446C-8F01-19EC7893BEB7}" srcOrd="1" destOrd="0" parTransId="{4C193A07-5FE8-45B1-B54F-43ACFEBFA259}" sibTransId="{24A5BA3C-A19D-47E5-9693-F13538540662}"/>
    <dgm:cxn modelId="{183DF5FB-2D9F-4A87-A6B3-1671C769EC58}" type="presParOf" srcId="{3492A474-1DB8-418E-8701-8300C7EB9CDA}" destId="{07B121FE-B513-4273-8542-483E825BE23A}" srcOrd="0" destOrd="0" presId="urn:microsoft.com/office/officeart/2005/8/layout/hChevron3"/>
    <dgm:cxn modelId="{DFE9872F-29F9-4634-B09D-A4AB7A045767}" type="presParOf" srcId="{3492A474-1DB8-418E-8701-8300C7EB9CDA}" destId="{DB817F39-88FC-4708-9DF3-C7F5734050DC}" srcOrd="1" destOrd="0" presId="urn:microsoft.com/office/officeart/2005/8/layout/hChevron3"/>
    <dgm:cxn modelId="{BE1A6A62-7316-4FD4-9DD5-327C01F70C73}" type="presParOf" srcId="{3492A474-1DB8-418E-8701-8300C7EB9CDA}" destId="{1C5D07C3-19A8-4A2B-ADAD-760FB67323AE}" srcOrd="2" destOrd="0" presId="urn:microsoft.com/office/officeart/2005/8/layout/hChevron3"/>
    <dgm:cxn modelId="{C7840BB5-EAAD-4336-89F2-604ABDBD43C8}" type="presParOf" srcId="{3492A474-1DB8-418E-8701-8300C7EB9CDA}" destId="{095CFF29-6108-477A-98A8-6875BCA81A2B}" srcOrd="3" destOrd="0" presId="urn:microsoft.com/office/officeart/2005/8/layout/hChevron3"/>
    <dgm:cxn modelId="{AAC58604-1623-4538-B840-D6B80108F5A3}" type="presParOf" srcId="{3492A474-1DB8-418E-8701-8300C7EB9CDA}" destId="{EDB0DA63-DB1A-4CF7-9C2D-141473F1AEC3}" srcOrd="4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122FDB8-4E52-4F24-924C-55B39B5EEF83}">
      <dsp:nvSpPr>
        <dsp:cNvPr id="0" name=""/>
        <dsp:cNvSpPr/>
      </dsp:nvSpPr>
      <dsp:spPr>
        <a:xfrm>
          <a:off x="964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50M</a:t>
          </a:r>
          <a:endParaRPr lang="fr-FR" sz="5400" kern="1200" dirty="0">
            <a:latin typeface="Arial Black" panose="020B0A04020102020204" pitchFamily="34" charset="0"/>
          </a:endParaRPr>
        </a:p>
      </dsp:txBody>
      <dsp:txXfrm>
        <a:off x="964" y="0"/>
        <a:ext cx="2507184" cy="940174"/>
      </dsp:txXfrm>
    </dsp:sp>
    <dsp:sp modelId="{332FF867-5FFB-469C-995E-0CBE678B8048}">
      <dsp:nvSpPr>
        <dsp:cNvPr id="0" name=""/>
        <dsp:cNvSpPr/>
      </dsp:nvSpPr>
      <dsp:spPr>
        <a:xfrm>
          <a:off x="251682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Nombre de guitare estimé dans le monde</a:t>
          </a:r>
        </a:p>
      </dsp:txBody>
      <dsp:txXfrm>
        <a:off x="293858" y="1280868"/>
        <a:ext cx="1921395" cy="1355654"/>
      </dsp:txXfrm>
    </dsp:sp>
    <dsp:sp modelId="{D876CD57-D8B0-4B1D-8A27-4B504FE0CFD4}">
      <dsp:nvSpPr>
        <dsp:cNvPr id="0" name=""/>
        <dsp:cNvSpPr/>
      </dsp:nvSpPr>
      <dsp:spPr>
        <a:xfrm>
          <a:off x="2696188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10,3B</a:t>
          </a:r>
        </a:p>
      </dsp:txBody>
      <dsp:txXfrm>
        <a:off x="2696188" y="0"/>
        <a:ext cx="2507184" cy="940174"/>
      </dsp:txXfrm>
    </dsp:sp>
    <dsp:sp modelId="{212315B0-941C-424E-9FB8-A723AE83E221}">
      <dsp:nvSpPr>
        <dsp:cNvPr id="0" name=""/>
        <dsp:cNvSpPr/>
      </dsp:nvSpPr>
      <dsp:spPr>
        <a:xfrm>
          <a:off x="2946906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Valeur du marché de la guitare en 2024</a:t>
          </a:r>
        </a:p>
      </dsp:txBody>
      <dsp:txXfrm>
        <a:off x="2989082" y="1280868"/>
        <a:ext cx="1921395" cy="1355654"/>
      </dsp:txXfrm>
    </dsp:sp>
    <dsp:sp modelId="{3D118472-EB36-44B0-9CAB-89E96EDD8635}">
      <dsp:nvSpPr>
        <dsp:cNvPr id="0" name=""/>
        <dsp:cNvSpPr/>
      </dsp:nvSpPr>
      <dsp:spPr>
        <a:xfrm>
          <a:off x="5391411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48%</a:t>
          </a:r>
        </a:p>
      </dsp:txBody>
      <dsp:txXfrm>
        <a:off x="5391411" y="0"/>
        <a:ext cx="2507184" cy="940174"/>
      </dsp:txXfrm>
    </dsp:sp>
    <dsp:sp modelId="{522A87F0-0F3E-418E-844F-50D37BC18AE4}">
      <dsp:nvSpPr>
        <dsp:cNvPr id="0" name=""/>
        <dsp:cNvSpPr/>
      </dsp:nvSpPr>
      <dsp:spPr>
        <a:xfrm>
          <a:off x="5642130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Part de marché des guitares électriques </a:t>
          </a:r>
        </a:p>
      </dsp:txBody>
      <dsp:txXfrm>
        <a:off x="5684306" y="1280868"/>
        <a:ext cx="1921395" cy="135565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7B121FE-B513-4273-8542-483E825BE23A}">
      <dsp:nvSpPr>
        <dsp:cNvPr id="0" name=""/>
        <dsp:cNvSpPr/>
      </dsp:nvSpPr>
      <dsp:spPr>
        <a:xfrm>
          <a:off x="2067" y="0"/>
          <a:ext cx="2955431" cy="472237"/>
        </a:xfrm>
        <a:prstGeom prst="homePlat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32004" rIns="16002" bIns="3200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Filtrage électrique interne </a:t>
          </a:r>
        </a:p>
      </dsp:txBody>
      <dsp:txXfrm>
        <a:off x="2067" y="0"/>
        <a:ext cx="2837372" cy="472237"/>
      </dsp:txXfrm>
    </dsp:sp>
    <dsp:sp modelId="{1C5D07C3-19A8-4A2B-ADAD-760FB67323AE}">
      <dsp:nvSpPr>
        <dsp:cNvPr id="0" name=""/>
        <dsp:cNvSpPr/>
      </dsp:nvSpPr>
      <dsp:spPr>
        <a:xfrm>
          <a:off x="2306766" y="0"/>
          <a:ext cx="2784809" cy="472237"/>
        </a:xfrm>
        <a:prstGeom prst="chevron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006" tIns="32004" rIns="16002" bIns="3200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Induction et </a:t>
          </a: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filtrage spatial</a:t>
          </a:r>
        </a:p>
      </dsp:txBody>
      <dsp:txXfrm>
        <a:off x="2542885" y="0"/>
        <a:ext cx="2312572" cy="472237"/>
      </dsp:txXfrm>
    </dsp:sp>
    <dsp:sp modelId="{EDB0DA63-DB1A-4CF7-9C2D-141473F1AEC3}">
      <dsp:nvSpPr>
        <dsp:cNvPr id="0" name=""/>
        <dsp:cNvSpPr/>
      </dsp:nvSpPr>
      <dsp:spPr>
        <a:xfrm>
          <a:off x="4440842" y="0"/>
          <a:ext cx="2519993" cy="472237"/>
        </a:xfrm>
        <a:prstGeom prst="chevron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006" tIns="32004" rIns="16002" bIns="3200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Reduction du « Hum »</a:t>
          </a:r>
        </a:p>
      </dsp:txBody>
      <dsp:txXfrm>
        <a:off x="4676961" y="0"/>
        <a:ext cx="2047756" cy="47223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Process2">
  <dgm:title val=""/>
  <dgm:desc val=""/>
  <dgm:catLst>
    <dgm:cat type="list" pri="10000"/>
    <dgm:cat type="relationship" pri="13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h"/>
      <dgm:constr type="w" for="ch" forName="aSpace" refType="w" fact="0.075"/>
      <dgm:constr type="h" for="des" forName="aSpace2" refType="h" fact="0.1"/>
      <dgm:constr type="primFontSz" for="des" forName="textNode" op="equ"/>
      <dgm:constr type="primFontSz" for="des" forName="childNode" op="equ"/>
    </dgm:constrLst>
    <dgm:ruleLst/>
    <dgm:forEach name="aNode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onstrLst>
          <dgm:constr type="w" for="ch" forName="aNode" refType="w"/>
          <dgm:constr type="h" for="ch" forName="aNode" refType="h"/>
          <dgm:constr type="w" for="ch" forName="textNode" refType="w"/>
          <dgm:constr type="h" for="ch" forName="textNode" refType="h" fact="0.3"/>
          <dgm:constr type="ctrX" for="ch" forName="textNode" refType="w" fact="0.5"/>
          <dgm:constr type="w" for="ch" forName="compChildNode" refType="w" fact="0.8"/>
          <dgm:constr type="h" for="ch" forName="compChildNode" refType="h" fact="0.65"/>
          <dgm:constr type="t" for="ch" forName="compChildNode" refType="h" fact="0.3"/>
          <dgm:constr type="ctrX" for="ch" forName="compChildNode" refType="w" fact="0.5"/>
        </dgm:constrLst>
        <dgm:ruleLst/>
        <dgm:layoutNode name="aNode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/>
          <dgm:ruleLst/>
        </dgm:layoutNode>
        <dgm:layoutNode name="textNode" styleLbl="bgShp">
          <dgm:alg type="tx"/>
          <dgm:shape xmlns:r="http://schemas.openxmlformats.org/officeDocument/2006/relationships" type="rect" r:blip="" hideGeom="1">
            <dgm:adjLst>
              <dgm:adj idx="1" val="0.1"/>
            </dgm:adjLst>
          </dgm:shape>
          <dgm:presOf axis="self"/>
          <dgm:constrLst>
            <dgm:constr type="primFontSz" val="65"/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compChildNode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des" forName="childNode" refType="w"/>
            <dgm:constr type="h" for="des" forName="childNode" refType="h"/>
          </dgm:constrLst>
          <dgm:ruleLst/>
          <dgm:layoutNode name="theInnerList">
            <dgm:alg type="lin"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childNodeForEach" axis="ch" ptType="node">
              <dgm:layoutNode name="childNode" styleLbl="node1">
                <dgm:varLst>
                  <dgm:bulletEnabled val="1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desOrSelf" ptType="node"/>
                <dgm:constrLst>
                  <dgm:constr type="primFontSz" val="65"/>
                  <dgm:constr type="tMarg" refType="primFontSz" fact="0.15"/>
                  <dgm:constr type="bMarg" refType="primFontSz" fact="0.15"/>
                  <dgm:constr type="lMarg" refType="primFontSz" fact="0.2"/>
                  <dgm:constr type="rMarg" refType="primFontSz" fact="0.2"/>
                </dgm:constrLst>
                <dgm:ruleLst>
                  <dgm:rule type="primFontSz" val="5" fact="NaN" max="NaN"/>
                </dgm:ruleLst>
              </dgm:layoutNode>
              <dgm:choose name="Name3">
                <dgm:if name="Name4" axis="self" ptType="node" func="revPos" op="equ" val="1"/>
                <dgm:else name="Name5">
                  <dgm:layoutNode name="aSpace2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else>
              </dgm:choose>
            </dgm:forEach>
          </dgm:layoutNode>
        </dgm:layoutNode>
      </dgm:layoutNode>
      <dgm:choose name="Name6">
        <dgm:if name="Name7" axis="self" ptType="node" func="revPos" op="equ" val="1"/>
        <dgm:else name="Name8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E8646E-8D3C-430C-BFA9-96BAF70313EA}" type="datetimeFigureOut">
              <a:rPr lang="fr-FR" smtClean="0"/>
              <a:t>29/01/2026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29F9D8-59C4-4910-A7AD-28D3BB517C7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15894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25472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C9924-4D85-1D24-FD57-C1C57323A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17FBF6-954E-174E-9BA2-B4BC50FE7E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18284A-A707-148D-40DD-E5BD26968F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F576E1-6CD1-CD7C-AB4C-E63A4F6CF5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51495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376C9-2125-A9B2-8374-6EE283455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6BEBB7-C6A9-F035-C798-5E939F3A41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D1DC4-D857-6ABF-3DDC-E4E7A09225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1B737E-2622-AA4F-316B-3548DE8623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726285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D5DC8-F1D2-F48F-5144-29C93AD3F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93ED31-35E2-A213-E2DC-4297676221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80960C-93AA-3EA5-8A9A-E9404EC97A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EC1EA0-8E19-54B2-AF8F-8662106079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00956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E19CC-8F2E-E730-26C5-50B131335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5DB5F9-19A2-8239-EF2B-F99FDE45A3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959BC5-E338-8D25-9AFB-D31191AB4E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E1B000-4390-D34E-E236-7CDF47B3F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91882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E3F19-FC15-FF58-F6DC-6A5CB966B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94F60-8385-2E11-EAD0-9A2DE7129E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99070F-D77F-D61D-1636-7AA560F646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77FC55-50FC-C09A-3D98-7BA145570E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50286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9396C-81FC-C1A3-17F0-F112BED81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E18F11-382F-385B-12A6-4B7B99E0D8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12EB1B-59C2-7389-62B7-63390A1363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6176B5-6D2B-0164-2020-A63E86B3C7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324845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FF5D8-B5ED-3A5C-25AA-355EA5002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BB50A7-9125-FF61-C35A-0BAAB77874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5A70C6-EF27-F3BA-F99C-2D1A0396CC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95F1CD-8CD2-A36F-E4D6-6DC1E0CE9B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511832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26850-C3D8-4967-E994-01E39D0BE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FC4ACC-CC35-5895-5BAC-0D53DBA829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304066-1246-1CA3-2E85-6F8B1FE690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3FB24B-053C-5A82-E979-432DD32C23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47134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B155E5-34B6-A91D-57BA-0BA2E1F31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01174F-4483-8765-082B-6AD2078559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92B9F3-31ED-588E-D434-8E1DD34597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6CEEC3-FD3F-2A98-CBC3-30A11301AE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33473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07C0D-D66C-7F3D-FAED-AFE188222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9B221F-871F-8F86-6340-589A3C0AA0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07F321-BC45-B1F1-22AA-BF52BDD2B1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E1F916-CFC9-023A-0880-6A57AB2A90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8184756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1A336-7D3A-EAE6-9F30-4197D11A6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056105-101D-4ABB-45A9-D39435CADC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8C566F-8BBA-5FAB-C7D8-8B782678D9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6955B-7625-293A-C6C0-9FA48F69C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03525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1 : Equation de mouvement de la corde</a:t>
            </a:r>
          </a:p>
          <a:p>
            <a:r>
              <a:rPr lang="fr-FR" dirty="0"/>
              <a:t>2 : Idée Maquette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35619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38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4188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758952"/>
            <a:ext cx="75438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4455621"/>
            <a:ext cx="75438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9688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2248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758952"/>
            <a:ext cx="75438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4453128"/>
            <a:ext cx="75438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0018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845734"/>
            <a:ext cx="370332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845736"/>
            <a:ext cx="370332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9728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757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3231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1095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594359"/>
            <a:ext cx="24003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0237" y="731520"/>
            <a:ext cx="5009393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926080"/>
            <a:ext cx="24003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6459786"/>
            <a:ext cx="1963883" cy="365125"/>
          </a:xfrm>
        </p:spPr>
        <p:txBody>
          <a:bodyPr/>
          <a:lstStyle>
            <a:lvl1pPr algn="l">
              <a:defRPr/>
            </a:lvl1pPr>
          </a:lstStyle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6459786"/>
            <a:ext cx="348615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4298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9141619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12" y="491507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074920"/>
            <a:ext cx="7589520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59" y="5907024"/>
            <a:ext cx="7589520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5573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13228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14779"/>
            <a:ext cx="1971675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14779"/>
            <a:ext cx="5800725" cy="5757420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5225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9144001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5"/>
            <a:ext cx="9144001" cy="65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59" y="1845734"/>
            <a:ext cx="7543801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6459786"/>
            <a:ext cx="1854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6459786"/>
            <a:ext cx="36171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6459786"/>
            <a:ext cx="984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737845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7912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svg"/><Relationship Id="rId3" Type="http://schemas.openxmlformats.org/officeDocument/2006/relationships/diagramLayout" Target="../diagrams/layout1.xml"/><Relationship Id="rId7" Type="http://schemas.openxmlformats.org/officeDocument/2006/relationships/image" Target="../media/image3.png"/><Relationship Id="rId12" Type="http://schemas.openxmlformats.org/officeDocument/2006/relationships/image" Target="../media/image8.sv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11" Type="http://schemas.openxmlformats.org/officeDocument/2006/relationships/image" Target="../media/image7.png"/><Relationship Id="rId5" Type="http://schemas.openxmlformats.org/officeDocument/2006/relationships/diagramColors" Target="../diagrams/colors1.xml"/><Relationship Id="rId10" Type="http://schemas.openxmlformats.org/officeDocument/2006/relationships/image" Target="../media/image6.sv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microsoft.com/office/2007/relationships/hdphoto" Target="../media/hdphoto1.wdp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2.xml"/><Relationship Id="rId3" Type="http://schemas.openxmlformats.org/officeDocument/2006/relationships/image" Target="../media/image15.png"/><Relationship Id="rId7" Type="http://schemas.openxmlformats.org/officeDocument/2006/relationships/diagramQuickStyle" Target="../diagrams/quickStyle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2.xml"/><Relationship Id="rId5" Type="http://schemas.openxmlformats.org/officeDocument/2006/relationships/diagramData" Target="../diagrams/data2.xml"/><Relationship Id="rId4" Type="http://schemas.openxmlformats.org/officeDocument/2006/relationships/image" Target="../media/image16.png"/><Relationship Id="rId9" Type="http://schemas.microsoft.com/office/2007/relationships/diagramDrawing" Target="../diagrams/drawing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jpe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4.png"/><Relationship Id="rId7" Type="http://schemas.microsoft.com/office/2007/relationships/hdphoto" Target="../media/hdphoto2.wdp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Relationship Id="rId9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13" Type="http://schemas.openxmlformats.org/officeDocument/2006/relationships/image" Target="../media/image40.png"/><Relationship Id="rId18" Type="http://schemas.openxmlformats.org/officeDocument/2006/relationships/image" Target="../media/image15.png"/><Relationship Id="rId3" Type="http://schemas.openxmlformats.org/officeDocument/2006/relationships/image" Target="../media/image28.jpeg"/><Relationship Id="rId7" Type="http://schemas.openxmlformats.org/officeDocument/2006/relationships/image" Target="../media/image34.png"/><Relationship Id="rId12" Type="http://schemas.openxmlformats.org/officeDocument/2006/relationships/image" Target="../media/image39.png"/><Relationship Id="rId17" Type="http://schemas.openxmlformats.org/officeDocument/2006/relationships/image" Target="../media/image44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4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38.png"/><Relationship Id="rId5" Type="http://schemas.openxmlformats.org/officeDocument/2006/relationships/image" Target="../media/image30.png"/><Relationship Id="rId15" Type="http://schemas.openxmlformats.org/officeDocument/2006/relationships/image" Target="../media/image42.png"/><Relationship Id="rId10" Type="http://schemas.openxmlformats.org/officeDocument/2006/relationships/image" Target="../media/image37.png"/><Relationship Id="rId19" Type="http://schemas.openxmlformats.org/officeDocument/2006/relationships/image" Target="../media/image16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Relationship Id="rId14" Type="http://schemas.openxmlformats.org/officeDocument/2006/relationships/image" Target="../media/image4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image" Target="../media/image54.png"/><Relationship Id="rId18" Type="http://schemas.openxmlformats.org/officeDocument/2006/relationships/image" Target="../media/image16.png"/><Relationship Id="rId3" Type="http://schemas.openxmlformats.org/officeDocument/2006/relationships/image" Target="../media/image28.jpeg"/><Relationship Id="rId21" Type="http://schemas.microsoft.com/office/2007/relationships/hdphoto" Target="../media/hdphoto2.wdp"/><Relationship Id="rId7" Type="http://schemas.openxmlformats.org/officeDocument/2006/relationships/image" Target="../media/image48.png"/><Relationship Id="rId12" Type="http://schemas.openxmlformats.org/officeDocument/2006/relationships/image" Target="../media/image53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57.png"/><Relationship Id="rId20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11" Type="http://schemas.openxmlformats.org/officeDocument/2006/relationships/image" Target="../media/image52.png"/><Relationship Id="rId5" Type="http://schemas.openxmlformats.org/officeDocument/2006/relationships/image" Target="../media/image46.png"/><Relationship Id="rId15" Type="http://schemas.openxmlformats.org/officeDocument/2006/relationships/image" Target="../media/image56.png"/><Relationship Id="rId23" Type="http://schemas.openxmlformats.org/officeDocument/2006/relationships/image" Target="../media/image60.png"/><Relationship Id="rId10" Type="http://schemas.openxmlformats.org/officeDocument/2006/relationships/image" Target="../media/image51.png"/><Relationship Id="rId19" Type="http://schemas.openxmlformats.org/officeDocument/2006/relationships/image" Target="../media/image58.png"/><Relationship Id="rId4" Type="http://schemas.openxmlformats.org/officeDocument/2006/relationships/image" Target="../media/image32.png"/><Relationship Id="rId9" Type="http://schemas.openxmlformats.org/officeDocument/2006/relationships/image" Target="../media/image50.png"/><Relationship Id="rId14" Type="http://schemas.openxmlformats.org/officeDocument/2006/relationships/image" Target="../media/image55.png"/><Relationship Id="rId22" Type="http://schemas.openxmlformats.org/officeDocument/2006/relationships/image" Target="../media/image5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jpeg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image" Target="../media/image30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270.png"/><Relationship Id="rId4" Type="http://schemas.openxmlformats.org/officeDocument/2006/relationships/image" Target="../media/image33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1.png"/><Relationship Id="rId2" Type="http://schemas.openxmlformats.org/officeDocument/2006/relationships/image" Target="../media/image30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331.png"/><Relationship Id="rId4" Type="http://schemas.openxmlformats.org/officeDocument/2006/relationships/image" Target="../media/image61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0.png"/><Relationship Id="rId3" Type="http://schemas.openxmlformats.org/officeDocument/2006/relationships/image" Target="../media/image63.png"/><Relationship Id="rId7" Type="http://schemas.openxmlformats.org/officeDocument/2006/relationships/image" Target="../media/image340.png"/><Relationship Id="rId2" Type="http://schemas.openxmlformats.org/officeDocument/2006/relationships/image" Target="../media/image62.jpeg"/><Relationship Id="rId1" Type="http://schemas.openxmlformats.org/officeDocument/2006/relationships/slideLayout" Target="../slideLayouts/slideLayout1.xml"/><Relationship Id="rId6" Type="http://schemas.microsoft.com/office/2007/relationships/hdphoto" Target="../media/hdphoto3.wdp"/><Relationship Id="rId5" Type="http://schemas.openxmlformats.org/officeDocument/2006/relationships/image" Target="../media/image64.png"/><Relationship Id="rId4" Type="http://schemas.openxmlformats.org/officeDocument/2006/relationships/image" Target="../media/image320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1.png"/><Relationship Id="rId3" Type="http://schemas.openxmlformats.org/officeDocument/2006/relationships/image" Target="../media/image65.png"/><Relationship Id="rId7" Type="http://schemas.openxmlformats.org/officeDocument/2006/relationships/image" Target="../media/image4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0.png"/><Relationship Id="rId5" Type="http://schemas.openxmlformats.org/officeDocument/2006/relationships/image" Target="../media/image66.png"/><Relationship Id="rId10" Type="http://schemas.openxmlformats.org/officeDocument/2006/relationships/image" Target="../media/image401.png"/><Relationship Id="rId4" Type="http://schemas.openxmlformats.org/officeDocument/2006/relationships/image" Target="../media/image28.jpeg"/><Relationship Id="rId9" Type="http://schemas.openxmlformats.org/officeDocument/2006/relationships/image" Target="../media/image442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3" Type="http://schemas.openxmlformats.org/officeDocument/2006/relationships/image" Target="../media/image28.jpeg"/><Relationship Id="rId7" Type="http://schemas.openxmlformats.org/officeDocument/2006/relationships/image" Target="../media/image442.png"/><Relationship Id="rId12" Type="http://schemas.openxmlformats.org/officeDocument/2006/relationships/image" Target="../media/image40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1.png"/><Relationship Id="rId11" Type="http://schemas.openxmlformats.org/officeDocument/2006/relationships/image" Target="../media/image450.png"/><Relationship Id="rId5" Type="http://schemas.openxmlformats.org/officeDocument/2006/relationships/image" Target="../media/image420.png"/><Relationship Id="rId10" Type="http://schemas.openxmlformats.org/officeDocument/2006/relationships/image" Target="../media/image441.png"/><Relationship Id="rId4" Type="http://schemas.openxmlformats.org/officeDocument/2006/relationships/image" Target="../media/image410.png"/><Relationship Id="rId9" Type="http://schemas.openxmlformats.org/officeDocument/2006/relationships/image" Target="../media/image6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1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492.png"/><Relationship Id="rId7" Type="http://schemas.openxmlformats.org/officeDocument/2006/relationships/image" Target="../media/image22.png"/><Relationship Id="rId12" Type="http://schemas.openxmlformats.org/officeDocument/2006/relationships/image" Target="../media/image50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microsoft.com/office/2007/relationships/hdphoto" Target="../media/hdphoto4.wdp"/><Relationship Id="rId11" Type="http://schemas.openxmlformats.org/officeDocument/2006/relationships/image" Target="../media/image491.png"/><Relationship Id="rId5" Type="http://schemas.openxmlformats.org/officeDocument/2006/relationships/image" Target="../media/image70.png"/><Relationship Id="rId10" Type="http://schemas.openxmlformats.org/officeDocument/2006/relationships/image" Target="../media/image71.png"/><Relationship Id="rId4" Type="http://schemas.openxmlformats.org/officeDocument/2006/relationships/image" Target="../media/image28.jpeg"/><Relationship Id="rId9" Type="http://schemas.microsoft.com/office/2007/relationships/hdphoto" Target="../media/hdphoto1.wdp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2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82.png"/><Relationship Id="rId3" Type="http://schemas.openxmlformats.org/officeDocument/2006/relationships/image" Target="../media/image521.png"/><Relationship Id="rId7" Type="http://schemas.openxmlformats.org/officeDocument/2006/relationships/image" Target="../media/image72.png"/><Relationship Id="rId12" Type="http://schemas.openxmlformats.org/officeDocument/2006/relationships/image" Target="../media/image81.png"/><Relationship Id="rId2" Type="http://schemas.openxmlformats.org/officeDocument/2006/relationships/image" Target="../media/image74.png"/><Relationship Id="rId16" Type="http://schemas.openxmlformats.org/officeDocument/2006/relationships/image" Target="../media/image531.png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11" Type="http://schemas.openxmlformats.org/officeDocument/2006/relationships/image" Target="../media/image80.png"/><Relationship Id="rId5" Type="http://schemas.openxmlformats.org/officeDocument/2006/relationships/image" Target="../media/image18.png"/><Relationship Id="rId15" Type="http://schemas.openxmlformats.org/officeDocument/2006/relationships/image" Target="../media/image520.png"/><Relationship Id="rId10" Type="http://schemas.openxmlformats.org/officeDocument/2006/relationships/image" Target="../media/image79.png"/><Relationship Id="rId4" Type="http://schemas.openxmlformats.org/officeDocument/2006/relationships/image" Target="../media/image76.png"/><Relationship Id="rId9" Type="http://schemas.openxmlformats.org/officeDocument/2006/relationships/image" Target="../media/image78.png"/><Relationship Id="rId14" Type="http://schemas.openxmlformats.org/officeDocument/2006/relationships/image" Target="../media/image8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73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4.jpeg"/><Relationship Id="rId4" Type="http://schemas.openxmlformats.org/officeDocument/2006/relationships/image" Target="../media/image67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7" Type="http://schemas.openxmlformats.org/officeDocument/2006/relationships/image" Target="../media/image8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6.png"/><Relationship Id="rId5" Type="http://schemas.openxmlformats.org/officeDocument/2006/relationships/image" Target="../media/image77.png"/><Relationship Id="rId4" Type="http://schemas.openxmlformats.org/officeDocument/2006/relationships/image" Target="../media/image28.jpe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jpeg"/><Relationship Id="rId4" Type="http://schemas.openxmlformats.org/officeDocument/2006/relationships/image" Target="../media/image8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7" Type="http://schemas.openxmlformats.org/officeDocument/2006/relationships/image" Target="../media/image9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40.png"/><Relationship Id="rId5" Type="http://schemas.openxmlformats.org/officeDocument/2006/relationships/image" Target="../media/image90.png"/><Relationship Id="rId4" Type="http://schemas.openxmlformats.org/officeDocument/2006/relationships/image" Target="../media/image28.jpe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850.png"/><Relationship Id="rId7" Type="http://schemas.openxmlformats.org/officeDocument/2006/relationships/image" Target="../media/image89.svg"/><Relationship Id="rId12" Type="http://schemas.openxmlformats.org/officeDocument/2006/relationships/image" Target="../media/image9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8.png"/><Relationship Id="rId11" Type="http://schemas.openxmlformats.org/officeDocument/2006/relationships/image" Target="../media/image91.png"/><Relationship Id="rId5" Type="http://schemas.openxmlformats.org/officeDocument/2006/relationships/image" Target="../media/image86.svg"/><Relationship Id="rId10" Type="http://schemas.openxmlformats.org/officeDocument/2006/relationships/image" Target="../media/image71.png"/><Relationship Id="rId4" Type="http://schemas.openxmlformats.org/officeDocument/2006/relationships/image" Target="../media/image85.png"/><Relationship Id="rId9" Type="http://schemas.openxmlformats.org/officeDocument/2006/relationships/image" Target="../media/image16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eymourduncan.com/blog/latest-updates/seymour-w-duncans-interview-with-seth-lover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60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00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7.jpg"/><Relationship Id="rId3" Type="http://schemas.openxmlformats.org/officeDocument/2006/relationships/image" Target="../media/image96.png"/><Relationship Id="rId7" Type="http://schemas.microsoft.com/office/2007/relationships/hdphoto" Target="../media/hdphoto1.wdp"/><Relationship Id="rId2" Type="http://schemas.openxmlformats.org/officeDocument/2006/relationships/image" Target="../media/image56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9.png"/><Relationship Id="rId4" Type="http://schemas.openxmlformats.org/officeDocument/2006/relationships/image" Target="../media/image15.png"/><Relationship Id="rId9" Type="http://schemas.openxmlformats.org/officeDocument/2006/relationships/hyperlink" Target="https://pixabay.com/en/steel-brushed-metal-metallic-499897/" TargetMode="Externa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7.jpg"/><Relationship Id="rId3" Type="http://schemas.openxmlformats.org/officeDocument/2006/relationships/image" Target="../media/image19.png"/><Relationship Id="rId7" Type="http://schemas.microsoft.com/office/2007/relationships/hdphoto" Target="../media/hdphoto1.wdp"/><Relationship Id="rId2" Type="http://schemas.openxmlformats.org/officeDocument/2006/relationships/image" Target="../media/image6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2.png"/><Relationship Id="rId5" Type="http://schemas.openxmlformats.org/officeDocument/2006/relationships/image" Target="../media/image16.png"/><Relationship Id="rId4" Type="http://schemas.openxmlformats.org/officeDocument/2006/relationships/image" Target="../media/image98.png"/><Relationship Id="rId9" Type="http://schemas.openxmlformats.org/officeDocument/2006/relationships/hyperlink" Target="https://pixabay.com/en/steel-brushed-metal-metallic-499897/" TargetMode="Externa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0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3" Type="http://schemas.openxmlformats.org/officeDocument/2006/relationships/image" Target="../media/image980.png"/><Relationship Id="rId7" Type="http://schemas.openxmlformats.org/officeDocument/2006/relationships/image" Target="../media/image300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99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3" Type="http://schemas.openxmlformats.org/officeDocument/2006/relationships/image" Target="../media/image100.png"/><Relationship Id="rId7" Type="http://schemas.openxmlformats.org/officeDocument/2006/relationships/image" Target="../media/image300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99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70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1.png"/><Relationship Id="rId3" Type="http://schemas.openxmlformats.org/officeDocument/2006/relationships/image" Target="../media/image440.png"/><Relationship Id="rId7" Type="http://schemas.openxmlformats.org/officeDocument/2006/relationships/image" Target="../media/image301.png"/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1.png"/><Relationship Id="rId11" Type="http://schemas.openxmlformats.org/officeDocument/2006/relationships/image" Target="../media/image74.jpeg"/><Relationship Id="rId10" Type="http://schemas.openxmlformats.org/officeDocument/2006/relationships/image" Target="../media/image330.png"/><Relationship Id="rId9" Type="http://schemas.openxmlformats.org/officeDocument/2006/relationships/image" Target="../media/image102.sv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102.svg"/><Relationship Id="rId4" Type="http://schemas.openxmlformats.org/officeDocument/2006/relationships/image" Target="../media/image10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0.png"/><Relationship Id="rId5" Type="http://schemas.openxmlformats.org/officeDocument/2006/relationships/image" Target="../media/image490.png"/><Relationship Id="rId4" Type="http://schemas.openxmlformats.org/officeDocument/2006/relationships/image" Target="../media/image480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2.svg"/><Relationship Id="rId4" Type="http://schemas.openxmlformats.org/officeDocument/2006/relationships/image" Target="../media/image101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8A121F9-7273-1CF4-F60D-E01BEEB3AF96}"/>
              </a:ext>
            </a:extLst>
          </p:cNvPr>
          <p:cNvSpPr/>
          <p:nvPr/>
        </p:nvSpPr>
        <p:spPr>
          <a:xfrm>
            <a:off x="628649" y="262383"/>
            <a:ext cx="7886701" cy="775252"/>
          </a:xfrm>
          <a:prstGeom prst="rect">
            <a:avLst/>
          </a:prstGeom>
          <a:ln w="381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350" dirty="0">
                <a:latin typeface="Arial Black" panose="020B0A04020102020204" pitchFamily="34" charset="0"/>
              </a:rPr>
              <a:t>Guitare électrique : Etude de l’influence du type de bobinage dans le micro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5CA91E38-0C9E-C7FB-9A24-FA98AC9C8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1FCC0EF-4B1B-F41C-656B-2BE699CDE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305C624-2E1B-C39E-B3B4-807FF6A6B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</a:t>
            </a:fld>
            <a:endParaRPr lang="fr-FR" b="1" dirty="0"/>
          </a:p>
        </p:txBody>
      </p:sp>
      <p:pic>
        <p:nvPicPr>
          <p:cNvPr id="1026" name="Picture 2" descr="Guitare, La Musique, Guitare Électrique">
            <a:extLst>
              <a:ext uri="{FF2B5EF4-FFF2-40B4-BE49-F238E27FC236}">
                <a16:creationId xmlns:a16="http://schemas.microsoft.com/office/drawing/2014/main" id="{0098F414-3793-7E07-8CE1-A5A56D7C25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01" b="423"/>
          <a:stretch>
            <a:fillRect/>
          </a:stretch>
        </p:blipFill>
        <p:spPr bwMode="auto">
          <a:xfrm>
            <a:off x="628662" y="1210868"/>
            <a:ext cx="7886688" cy="4824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7878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66559-264F-60FB-1D37-320CA1D94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DF643E5-0F2B-2FE2-DE0E-F9374C232A58}"/>
              </a:ext>
            </a:extLst>
          </p:cNvPr>
          <p:cNvSpPr txBox="1"/>
          <p:nvPr/>
        </p:nvSpPr>
        <p:spPr>
          <a:xfrm>
            <a:off x="322686" y="737873"/>
            <a:ext cx="8491114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latin typeface="Arial Black" panose="020B0A04020102020204" pitchFamily="34" charset="0"/>
              </a:rPr>
              <a:t>Contexte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1EE70EB-793F-4DE4-5CD3-06C1970A54E3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06D130B-046F-5180-5387-DB486A265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2026</a:t>
            </a:r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A497463-3A83-B0B5-6946-791743725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001B0276-EFF9-456D-E1E7-4ED3C710D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</a:t>
            </a:fld>
            <a:endParaRPr lang="fr-FR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97DB1DB-6877-AD95-7BFA-723F07652E4D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03F7BFC6-A0BB-58CB-0A26-507B2DF051F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Footer Placeholder 2">
              <a:extLst>
                <a:ext uri="{FF2B5EF4-FFF2-40B4-BE49-F238E27FC236}">
                  <a16:creationId xmlns:a16="http://schemas.microsoft.com/office/drawing/2014/main" id="{C41DAE65-9B17-4A9F-2325-941B2D69EBC1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403404F2-95E1-6C3C-2AC8-4C3EA8AF8028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13" name="Diagram 12">
            <a:extLst>
              <a:ext uri="{FF2B5EF4-FFF2-40B4-BE49-F238E27FC236}">
                <a16:creationId xmlns:a16="http://schemas.microsoft.com/office/drawing/2014/main" id="{67685325-6DB0-D00D-F7AE-FBD7499B9A9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25423282"/>
              </p:ext>
            </p:extLst>
          </p:nvPr>
        </p:nvGraphicFramePr>
        <p:xfrm>
          <a:off x="622219" y="1862043"/>
          <a:ext cx="7899561" cy="31339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5" name="Graphic 14" descr="Bank with solid fill">
            <a:extLst>
              <a:ext uri="{FF2B5EF4-FFF2-40B4-BE49-F238E27FC236}">
                <a16:creationId xmlns:a16="http://schemas.microsoft.com/office/drawing/2014/main" id="{0A05600E-BBED-713B-0765-F9FC4C8B4F5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11043" y="4992646"/>
            <a:ext cx="914400" cy="914400"/>
          </a:xfrm>
          <a:prstGeom prst="rect">
            <a:avLst/>
          </a:prstGeom>
        </p:spPr>
      </p:pic>
      <p:pic>
        <p:nvPicPr>
          <p:cNvPr id="19" name="Graphic 18" descr="Earth globe: Africa and Europe with solid fill">
            <a:extLst>
              <a:ext uri="{FF2B5EF4-FFF2-40B4-BE49-F238E27FC236}">
                <a16:creationId xmlns:a16="http://schemas.microsoft.com/office/drawing/2014/main" id="{18E70CB9-42FE-B71F-A1C8-24CE93E3324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76203" y="5040021"/>
            <a:ext cx="914400" cy="914400"/>
          </a:xfrm>
          <a:prstGeom prst="rect">
            <a:avLst/>
          </a:prstGeom>
        </p:spPr>
      </p:pic>
      <p:pic>
        <p:nvPicPr>
          <p:cNvPr id="21" name="Graphic 20" descr="Music note with solid fill">
            <a:extLst>
              <a:ext uri="{FF2B5EF4-FFF2-40B4-BE49-F238E27FC236}">
                <a16:creationId xmlns:a16="http://schemas.microsoft.com/office/drawing/2014/main" id="{84DFF8B1-F884-2B2A-7E80-9BC9C2825C2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853397" y="5034777"/>
            <a:ext cx="914400" cy="9144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7C7AD5E-8D0B-A100-8BC7-8968AFC40EF4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[1]</a:t>
            </a:r>
          </a:p>
        </p:txBody>
      </p:sp>
    </p:spTree>
    <p:extLst>
      <p:ext uri="{BB962C8B-B14F-4D97-AF65-F5344CB8AC3E}">
        <p14:creationId xmlns:p14="http://schemas.microsoft.com/office/powerpoint/2010/main" val="2988565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604F0-B502-65BC-6A09-35CFB45E3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76A58F24-9212-A31F-655A-74C609D63B8A}"/>
              </a:ext>
            </a:extLst>
          </p:cNvPr>
          <p:cNvSpPr txBox="1"/>
          <p:nvPr/>
        </p:nvSpPr>
        <p:spPr>
          <a:xfrm>
            <a:off x="322686" y="737873"/>
            <a:ext cx="8491114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latin typeface="Arial Black" panose="020B0A04020102020204" pitchFamily="34" charset="0"/>
              </a:rPr>
              <a:t>Contexte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9BCC782-0D3B-CED9-60B9-795B1EBEEAEE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D6EDA89-9709-22F1-2CE0-CBAB49D28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87CDF6B-C0AF-8235-A63F-60F77CAE6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370CCCFE-D2CF-F036-A6E9-C8D4FF0A6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3</a:t>
            </a:fld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46CF84F-B284-FFE6-89D6-BC064CAF24E5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8BD08EE-D283-DD4F-BD91-A527520D3F09}"/>
              </a:ext>
            </a:extLst>
          </p:cNvPr>
          <p:cNvGrpSpPr/>
          <p:nvPr/>
        </p:nvGrpSpPr>
        <p:grpSpPr>
          <a:xfrm>
            <a:off x="-136497" y="1186363"/>
            <a:ext cx="9223365" cy="3939301"/>
            <a:chOff x="-143123" y="1695451"/>
            <a:chExt cx="9223365" cy="389376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61AD59C-BE3D-5354-10F1-5FB60C9BA5F8}"/>
                </a:ext>
              </a:extLst>
            </p:cNvPr>
            <p:cNvGrpSpPr/>
            <p:nvPr/>
          </p:nvGrpSpPr>
          <p:grpSpPr>
            <a:xfrm>
              <a:off x="-143123" y="1695451"/>
              <a:ext cx="6901731" cy="3893765"/>
              <a:chOff x="1006751" y="1255937"/>
              <a:chExt cx="6952009" cy="3872654"/>
            </a:xfrm>
          </p:grpSpPr>
          <p:pic>
            <p:nvPicPr>
              <p:cNvPr id="16" name="Picture 15" descr="A black and white drawing of a speaker&#10;&#10;AI-generated content may be incorrect.">
                <a:extLst>
                  <a:ext uri="{FF2B5EF4-FFF2-40B4-BE49-F238E27FC236}">
                    <a16:creationId xmlns:a16="http://schemas.microsoft.com/office/drawing/2014/main" id="{8671EF1F-85A1-8978-42ED-6DC100D8EC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5915" t="5174" r="12970" b="6005"/>
              <a:stretch>
                <a:fillRect/>
              </a:stretch>
            </p:blipFill>
            <p:spPr>
              <a:xfrm>
                <a:off x="5339199" y="1663215"/>
                <a:ext cx="2619561" cy="2902226"/>
              </a:xfrm>
              <a:prstGeom prst="rect">
                <a:avLst/>
              </a:prstGeom>
            </p:spPr>
          </p:pic>
          <p:pic>
            <p:nvPicPr>
              <p:cNvPr id="1026" name="Picture 2" descr="Coloriage Guitare électrique normale - Dessin gratuit à imprimer">
                <a:extLst>
                  <a:ext uri="{FF2B5EF4-FFF2-40B4-BE49-F238E27FC236}">
                    <a16:creationId xmlns:a16="http://schemas.microsoft.com/office/drawing/2014/main" id="{CC805345-A78D-D399-DA6C-BFFD053F562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75" t="9659" r="3272" b="14511"/>
              <a:stretch>
                <a:fillRect/>
              </a:stretch>
            </p:blipFill>
            <p:spPr bwMode="auto">
              <a:xfrm rot="18368299">
                <a:off x="661136" y="1601552"/>
                <a:ext cx="3716782" cy="3025552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EE11A188-CC0E-DA89-77CB-1A851E9A6CC0}"/>
                  </a:ext>
                </a:extLst>
              </p:cNvPr>
              <p:cNvSpPr/>
              <p:nvPr/>
            </p:nvSpPr>
            <p:spPr>
              <a:xfrm>
                <a:off x="2687541" y="2252273"/>
                <a:ext cx="3045349" cy="2876318"/>
              </a:xfrm>
              <a:custGeom>
                <a:avLst/>
                <a:gdLst>
                  <a:gd name="csX0" fmla="*/ 0 w 3045349"/>
                  <a:gd name="csY0" fmla="*/ 2454899 h 2876318"/>
                  <a:gd name="csX1" fmla="*/ 31805 w 3045349"/>
                  <a:gd name="csY1" fmla="*/ 2494656 h 2876318"/>
                  <a:gd name="csX2" fmla="*/ 47708 w 3045349"/>
                  <a:gd name="csY2" fmla="*/ 2518510 h 2876318"/>
                  <a:gd name="csX3" fmla="*/ 71562 w 3045349"/>
                  <a:gd name="csY3" fmla="*/ 2526461 h 2876318"/>
                  <a:gd name="csX4" fmla="*/ 127221 w 3045349"/>
                  <a:gd name="csY4" fmla="*/ 2574169 h 2876318"/>
                  <a:gd name="csX5" fmla="*/ 206734 w 3045349"/>
                  <a:gd name="csY5" fmla="*/ 2637779 h 2876318"/>
                  <a:gd name="csX6" fmla="*/ 246490 w 3045349"/>
                  <a:gd name="csY6" fmla="*/ 2661633 h 2876318"/>
                  <a:gd name="csX7" fmla="*/ 278296 w 3045349"/>
                  <a:gd name="csY7" fmla="*/ 2677536 h 2876318"/>
                  <a:gd name="csX8" fmla="*/ 310101 w 3045349"/>
                  <a:gd name="csY8" fmla="*/ 2701390 h 2876318"/>
                  <a:gd name="csX9" fmla="*/ 373711 w 3045349"/>
                  <a:gd name="csY9" fmla="*/ 2733195 h 2876318"/>
                  <a:gd name="csX10" fmla="*/ 429370 w 3045349"/>
                  <a:gd name="csY10" fmla="*/ 2765000 h 2876318"/>
                  <a:gd name="csX11" fmla="*/ 532737 w 3045349"/>
                  <a:gd name="csY11" fmla="*/ 2804757 h 2876318"/>
                  <a:gd name="csX12" fmla="*/ 596348 w 3045349"/>
                  <a:gd name="csY12" fmla="*/ 2836562 h 2876318"/>
                  <a:gd name="csX13" fmla="*/ 659958 w 3045349"/>
                  <a:gd name="csY13" fmla="*/ 2852464 h 2876318"/>
                  <a:gd name="csX14" fmla="*/ 914400 w 3045349"/>
                  <a:gd name="csY14" fmla="*/ 2876318 h 2876318"/>
                  <a:gd name="csX15" fmla="*/ 1121134 w 3045349"/>
                  <a:gd name="csY15" fmla="*/ 2852464 h 2876318"/>
                  <a:gd name="csX16" fmla="*/ 1288111 w 3045349"/>
                  <a:gd name="csY16" fmla="*/ 2780903 h 2876318"/>
                  <a:gd name="csX17" fmla="*/ 1431235 w 3045349"/>
                  <a:gd name="csY17" fmla="*/ 2709341 h 2876318"/>
                  <a:gd name="csX18" fmla="*/ 1478942 w 3045349"/>
                  <a:gd name="csY18" fmla="*/ 2661633 h 2876318"/>
                  <a:gd name="csX19" fmla="*/ 1630017 w 3045349"/>
                  <a:gd name="csY19" fmla="*/ 2470802 h 2876318"/>
                  <a:gd name="csX20" fmla="*/ 1733384 w 3045349"/>
                  <a:gd name="csY20" fmla="*/ 2208409 h 2876318"/>
                  <a:gd name="csX21" fmla="*/ 1733384 w 3045349"/>
                  <a:gd name="csY21" fmla="*/ 1946016 h 2876318"/>
                  <a:gd name="csX22" fmla="*/ 1709530 w 3045349"/>
                  <a:gd name="csY22" fmla="*/ 1858551 h 2876318"/>
                  <a:gd name="csX23" fmla="*/ 1661822 w 3045349"/>
                  <a:gd name="csY23" fmla="*/ 1715428 h 2876318"/>
                  <a:gd name="csX24" fmla="*/ 1614115 w 3045349"/>
                  <a:gd name="csY24" fmla="*/ 1556402 h 2876318"/>
                  <a:gd name="csX25" fmla="*/ 1534602 w 3045349"/>
                  <a:gd name="csY25" fmla="*/ 1413278 h 2876318"/>
                  <a:gd name="csX26" fmla="*/ 1502796 w 3045349"/>
                  <a:gd name="csY26" fmla="*/ 1349668 h 2876318"/>
                  <a:gd name="csX27" fmla="*/ 1399429 w 3045349"/>
                  <a:gd name="csY27" fmla="*/ 1166788 h 2876318"/>
                  <a:gd name="csX28" fmla="*/ 1351722 w 3045349"/>
                  <a:gd name="csY28" fmla="*/ 1023664 h 2876318"/>
                  <a:gd name="csX29" fmla="*/ 1327868 w 3045349"/>
                  <a:gd name="csY29" fmla="*/ 952103 h 2876318"/>
                  <a:gd name="csX30" fmla="*/ 1343770 w 3045349"/>
                  <a:gd name="csY30" fmla="*/ 673807 h 2876318"/>
                  <a:gd name="csX31" fmla="*/ 1367624 w 3045349"/>
                  <a:gd name="csY31" fmla="*/ 610197 h 2876318"/>
                  <a:gd name="csX32" fmla="*/ 1478942 w 3045349"/>
                  <a:gd name="csY32" fmla="*/ 475024 h 2876318"/>
                  <a:gd name="csX33" fmla="*/ 1526650 w 3045349"/>
                  <a:gd name="csY33" fmla="*/ 403463 h 2876318"/>
                  <a:gd name="csX34" fmla="*/ 1630017 w 3045349"/>
                  <a:gd name="csY34" fmla="*/ 315998 h 2876318"/>
                  <a:gd name="csX35" fmla="*/ 1693628 w 3045349"/>
                  <a:gd name="csY35" fmla="*/ 252388 h 2876318"/>
                  <a:gd name="csX36" fmla="*/ 1836751 w 3045349"/>
                  <a:gd name="csY36" fmla="*/ 164924 h 2876318"/>
                  <a:gd name="csX37" fmla="*/ 1948069 w 3045349"/>
                  <a:gd name="csY37" fmla="*/ 93362 h 2876318"/>
                  <a:gd name="csX38" fmla="*/ 2138901 w 3045349"/>
                  <a:gd name="csY38" fmla="*/ 45654 h 2876318"/>
                  <a:gd name="csX39" fmla="*/ 2337683 w 3045349"/>
                  <a:gd name="csY39" fmla="*/ 21800 h 2876318"/>
                  <a:gd name="csX40" fmla="*/ 2488758 w 3045349"/>
                  <a:gd name="csY40" fmla="*/ 13849 h 2876318"/>
                  <a:gd name="csX41" fmla="*/ 2862469 w 3045349"/>
                  <a:gd name="csY41" fmla="*/ 13849 h 2876318"/>
                  <a:gd name="csX42" fmla="*/ 2981739 w 3045349"/>
                  <a:gd name="csY42" fmla="*/ 45654 h 2876318"/>
                  <a:gd name="csX43" fmla="*/ 3045349 w 3045349"/>
                  <a:gd name="csY43" fmla="*/ 69508 h 28763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</a:cxnLst>
                <a:rect l="l" t="t" r="r" b="b"/>
                <a:pathLst>
                  <a:path w="3045349" h="2876318">
                    <a:moveTo>
                      <a:pt x="0" y="2454899"/>
                    </a:moveTo>
                    <a:cubicBezTo>
                      <a:pt x="10602" y="2468151"/>
                      <a:pt x="21622" y="2481079"/>
                      <a:pt x="31805" y="2494656"/>
                    </a:cubicBezTo>
                    <a:cubicBezTo>
                      <a:pt x="37539" y="2502301"/>
                      <a:pt x="40246" y="2512540"/>
                      <a:pt x="47708" y="2518510"/>
                    </a:cubicBezTo>
                    <a:cubicBezTo>
                      <a:pt x="54253" y="2523746"/>
                      <a:pt x="63611" y="2523811"/>
                      <a:pt x="71562" y="2526461"/>
                    </a:cubicBezTo>
                    <a:cubicBezTo>
                      <a:pt x="160673" y="2637849"/>
                      <a:pt x="61551" y="2528705"/>
                      <a:pt x="127221" y="2574169"/>
                    </a:cubicBezTo>
                    <a:cubicBezTo>
                      <a:pt x="155128" y="2593489"/>
                      <a:pt x="177629" y="2620316"/>
                      <a:pt x="206734" y="2637779"/>
                    </a:cubicBezTo>
                    <a:cubicBezTo>
                      <a:pt x="219986" y="2645730"/>
                      <a:pt x="232980" y="2654128"/>
                      <a:pt x="246490" y="2661633"/>
                    </a:cubicBezTo>
                    <a:cubicBezTo>
                      <a:pt x="256852" y="2667390"/>
                      <a:pt x="268244" y="2671254"/>
                      <a:pt x="278296" y="2677536"/>
                    </a:cubicBezTo>
                    <a:cubicBezTo>
                      <a:pt x="289534" y="2684560"/>
                      <a:pt x="298654" y="2694713"/>
                      <a:pt x="310101" y="2701390"/>
                    </a:cubicBezTo>
                    <a:cubicBezTo>
                      <a:pt x="330578" y="2713335"/>
                      <a:pt x="352794" y="2722039"/>
                      <a:pt x="373711" y="2733195"/>
                    </a:cubicBezTo>
                    <a:cubicBezTo>
                      <a:pt x="392565" y="2743251"/>
                      <a:pt x="409884" y="2756231"/>
                      <a:pt x="429370" y="2765000"/>
                    </a:cubicBezTo>
                    <a:cubicBezTo>
                      <a:pt x="463035" y="2780149"/>
                      <a:pt x="499718" y="2788248"/>
                      <a:pt x="532737" y="2804757"/>
                    </a:cubicBezTo>
                    <a:cubicBezTo>
                      <a:pt x="553941" y="2815359"/>
                      <a:pt x="574151" y="2828238"/>
                      <a:pt x="596348" y="2836562"/>
                    </a:cubicBezTo>
                    <a:cubicBezTo>
                      <a:pt x="616812" y="2844236"/>
                      <a:pt x="638488" y="2848375"/>
                      <a:pt x="659958" y="2852464"/>
                    </a:cubicBezTo>
                    <a:cubicBezTo>
                      <a:pt x="772459" y="2873893"/>
                      <a:pt x="787397" y="2869634"/>
                      <a:pt x="914400" y="2876318"/>
                    </a:cubicBezTo>
                    <a:cubicBezTo>
                      <a:pt x="983311" y="2868367"/>
                      <a:pt x="1052975" y="2865359"/>
                      <a:pt x="1121134" y="2852464"/>
                    </a:cubicBezTo>
                    <a:cubicBezTo>
                      <a:pt x="1180843" y="2841168"/>
                      <a:pt x="1233964" y="2805269"/>
                      <a:pt x="1288111" y="2780903"/>
                    </a:cubicBezTo>
                    <a:cubicBezTo>
                      <a:pt x="1358137" y="2749391"/>
                      <a:pt x="1372061" y="2755834"/>
                      <a:pt x="1431235" y="2709341"/>
                    </a:cubicBezTo>
                    <a:cubicBezTo>
                      <a:pt x="1448919" y="2695446"/>
                      <a:pt x="1463561" y="2678040"/>
                      <a:pt x="1478942" y="2661633"/>
                    </a:cubicBezTo>
                    <a:cubicBezTo>
                      <a:pt x="1534843" y="2602004"/>
                      <a:pt x="1588815" y="2542364"/>
                      <a:pt x="1630017" y="2470802"/>
                    </a:cubicBezTo>
                    <a:cubicBezTo>
                      <a:pt x="1699402" y="2350291"/>
                      <a:pt x="1699220" y="2327984"/>
                      <a:pt x="1733384" y="2208409"/>
                    </a:cubicBezTo>
                    <a:cubicBezTo>
                      <a:pt x="1742438" y="2099766"/>
                      <a:pt x="1749009" y="2071016"/>
                      <a:pt x="1733384" y="1946016"/>
                    </a:cubicBezTo>
                    <a:cubicBezTo>
                      <a:pt x="1729636" y="1916030"/>
                      <a:pt x="1716227" y="1888019"/>
                      <a:pt x="1709530" y="1858551"/>
                    </a:cubicBezTo>
                    <a:cubicBezTo>
                      <a:pt x="1681618" y="1735734"/>
                      <a:pt x="1714235" y="1807148"/>
                      <a:pt x="1661822" y="1715428"/>
                    </a:cubicBezTo>
                    <a:cubicBezTo>
                      <a:pt x="1654666" y="1689190"/>
                      <a:pt x="1628127" y="1585505"/>
                      <a:pt x="1614115" y="1556402"/>
                    </a:cubicBezTo>
                    <a:cubicBezTo>
                      <a:pt x="1590439" y="1507229"/>
                      <a:pt x="1559010" y="1462092"/>
                      <a:pt x="1534602" y="1413278"/>
                    </a:cubicBezTo>
                    <a:cubicBezTo>
                      <a:pt x="1524000" y="1392075"/>
                      <a:pt x="1514379" y="1370352"/>
                      <a:pt x="1502796" y="1349668"/>
                    </a:cubicBezTo>
                    <a:cubicBezTo>
                      <a:pt x="1455116" y="1264526"/>
                      <a:pt x="1432768" y="1239023"/>
                      <a:pt x="1399429" y="1166788"/>
                    </a:cubicBezTo>
                    <a:cubicBezTo>
                      <a:pt x="1363215" y="1088324"/>
                      <a:pt x="1381571" y="1123160"/>
                      <a:pt x="1351722" y="1023664"/>
                    </a:cubicBezTo>
                    <a:cubicBezTo>
                      <a:pt x="1344497" y="999580"/>
                      <a:pt x="1335819" y="975957"/>
                      <a:pt x="1327868" y="952103"/>
                    </a:cubicBezTo>
                    <a:cubicBezTo>
                      <a:pt x="1312766" y="831293"/>
                      <a:pt x="1311555" y="861726"/>
                      <a:pt x="1343770" y="673807"/>
                    </a:cubicBezTo>
                    <a:cubicBezTo>
                      <a:pt x="1347596" y="651487"/>
                      <a:pt x="1356626" y="629992"/>
                      <a:pt x="1367624" y="610197"/>
                    </a:cubicBezTo>
                    <a:cubicBezTo>
                      <a:pt x="1431450" y="495311"/>
                      <a:pt x="1405986" y="564816"/>
                      <a:pt x="1478942" y="475024"/>
                    </a:cubicBezTo>
                    <a:cubicBezTo>
                      <a:pt x="1497020" y="452774"/>
                      <a:pt x="1508572" y="425713"/>
                      <a:pt x="1526650" y="403463"/>
                    </a:cubicBezTo>
                    <a:cubicBezTo>
                      <a:pt x="1601764" y="311016"/>
                      <a:pt x="1556151" y="379312"/>
                      <a:pt x="1630017" y="315998"/>
                    </a:cubicBezTo>
                    <a:cubicBezTo>
                      <a:pt x="1652784" y="296483"/>
                      <a:pt x="1670481" y="271450"/>
                      <a:pt x="1693628" y="252388"/>
                    </a:cubicBezTo>
                    <a:cubicBezTo>
                      <a:pt x="1748930" y="206845"/>
                      <a:pt x="1777215" y="202134"/>
                      <a:pt x="1836751" y="164924"/>
                    </a:cubicBezTo>
                    <a:cubicBezTo>
                      <a:pt x="1880106" y="137827"/>
                      <a:pt x="1900442" y="112973"/>
                      <a:pt x="1948069" y="93362"/>
                    </a:cubicBezTo>
                    <a:cubicBezTo>
                      <a:pt x="1991495" y="75481"/>
                      <a:pt x="2099863" y="52160"/>
                      <a:pt x="2138901" y="45654"/>
                    </a:cubicBezTo>
                    <a:cubicBezTo>
                      <a:pt x="2139259" y="45594"/>
                      <a:pt x="2308265" y="23901"/>
                      <a:pt x="2337683" y="21800"/>
                    </a:cubicBezTo>
                    <a:cubicBezTo>
                      <a:pt x="2387983" y="18207"/>
                      <a:pt x="2438400" y="16499"/>
                      <a:pt x="2488758" y="13849"/>
                    </a:cubicBezTo>
                    <a:cubicBezTo>
                      <a:pt x="2634733" y="-2372"/>
                      <a:pt x="2644304" y="-6733"/>
                      <a:pt x="2862469" y="13849"/>
                    </a:cubicBezTo>
                    <a:cubicBezTo>
                      <a:pt x="2903433" y="17714"/>
                      <a:pt x="2942705" y="32642"/>
                      <a:pt x="2981739" y="45654"/>
                    </a:cubicBezTo>
                    <a:cubicBezTo>
                      <a:pt x="3035069" y="63431"/>
                      <a:pt x="3014454" y="54060"/>
                      <a:pt x="3045349" y="69508"/>
                    </a:cubicBezTo>
                  </a:path>
                </a:pathLst>
              </a:custGeom>
              <a:ln w="101600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pic>
          <p:nvPicPr>
            <p:cNvPr id="31" name="Picture 8" descr="Sound PNG Transparent Images">
              <a:extLst>
                <a:ext uri="{FF2B5EF4-FFF2-40B4-BE49-F238E27FC236}">
                  <a16:creationId xmlns:a16="http://schemas.microsoft.com/office/drawing/2014/main" id="{C5A23D53-5DDB-D416-A41A-F727728A50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54464" y="2449034"/>
              <a:ext cx="2325778" cy="23257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27FF2A-9CB1-1AF7-C7B2-1DA1B28400B9}"/>
              </a:ext>
            </a:extLst>
          </p:cNvPr>
          <p:cNvGrpSpPr/>
          <p:nvPr/>
        </p:nvGrpSpPr>
        <p:grpSpPr>
          <a:xfrm>
            <a:off x="385745" y="5434033"/>
            <a:ext cx="8293184" cy="739359"/>
            <a:chOff x="385745" y="5494993"/>
            <a:chExt cx="8293184" cy="739359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24A1EF4-71C5-AFEC-F51C-54253E6418D7}"/>
                </a:ext>
              </a:extLst>
            </p:cNvPr>
            <p:cNvGrpSpPr/>
            <p:nvPr/>
          </p:nvGrpSpPr>
          <p:grpSpPr>
            <a:xfrm>
              <a:off x="385745" y="5495226"/>
              <a:ext cx="8293184" cy="739126"/>
              <a:chOff x="385745" y="5495226"/>
              <a:chExt cx="8293184" cy="739126"/>
            </a:xfrm>
          </p:grpSpPr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44F9E293-216E-15DD-4F6F-A29FF3E6E519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02C0AC77-D285-65B0-D66E-4E098D9D4641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14" name="Straight Arrow Connector 13">
                  <a:extLst>
                    <a:ext uri="{FF2B5EF4-FFF2-40B4-BE49-F238E27FC236}">
                      <a16:creationId xmlns:a16="http://schemas.microsoft.com/office/drawing/2014/main" id="{1E0D4AE5-9607-4DB4-BE36-56A5094F4DD2}"/>
                    </a:ext>
                  </a:extLst>
                </p:cNvPr>
                <p:cNvCxnSpPr>
                  <a:cxnSpLocks/>
                  <a:stCxn id="29" idx="3"/>
                  <a:endCxn id="12" idx="1"/>
                </p:cNvCxnSpPr>
                <p:nvPr/>
              </p:nvCxnSpPr>
              <p:spPr>
                <a:xfrm>
                  <a:off x="5467171" y="3428768"/>
                  <a:ext cx="572727" cy="232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9C0C996A-BF1C-90EE-8498-2E1A93560CCF}"/>
                    </a:ext>
                  </a:extLst>
                </p:cNvPr>
                <p:cNvCxnSpPr>
                  <a:cxnSpLocks/>
                  <a:endCxn id="29" idx="1"/>
                </p:cNvCxnSpPr>
                <p:nvPr/>
              </p:nvCxnSpPr>
              <p:spPr>
                <a:xfrm flipV="1">
                  <a:off x="1833334" y="3428768"/>
                  <a:ext cx="572726" cy="232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Arrow Connector 18">
                  <a:extLst>
                    <a:ext uri="{FF2B5EF4-FFF2-40B4-BE49-F238E27FC236}">
                      <a16:creationId xmlns:a16="http://schemas.microsoft.com/office/drawing/2014/main" id="{B2A0A7D1-8E1F-6D54-6F03-9C163D4121DE}"/>
                    </a:ext>
                  </a:extLst>
                </p:cNvPr>
                <p:cNvCxnSpPr>
                  <a:cxnSpLocks/>
                  <a:stCxn id="12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FC6CD4CD-B9B4-4035-2393-BF7AC44EE4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FC6CD4CD-B9B4-4035-2393-BF7AC44EE42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FAD95A0E-467F-A6AA-2FC7-05C2FF1D8BC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FAD95A0E-467F-A6AA-2FC7-05C2FF1D8BC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259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F1945596-F0F7-D093-5E36-0392482F540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F1945596-F0F7-D093-5E36-0392482F540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675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83574FC-33E4-37D5-8403-057A812BEBA3}"/>
                  </a:ext>
                </a:extLst>
              </p:cNvPr>
              <p:cNvSpPr txBox="1"/>
              <p:nvPr/>
            </p:nvSpPr>
            <p:spPr>
              <a:xfrm>
                <a:off x="3857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Corde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396A4DF-AA46-B362-6EF6-93AC149BD5FE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</p:grp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B3F6E7F-9ED7-799A-C6AD-763658746D8C}"/>
                </a:ext>
              </a:extLst>
            </p:cNvPr>
            <p:cNvSpPr/>
            <p:nvPr/>
          </p:nvSpPr>
          <p:spPr>
            <a:xfrm>
              <a:off x="1854515" y="5494993"/>
              <a:ext cx="3061111" cy="73912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90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solidFill>
                    <a:schemeClr val="tx1"/>
                  </a:solidFill>
                </a:rPr>
                <a:t>Micro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7E09AD39-0921-EB4A-1080-583A356887F2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[2]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A8E4CD4-00A8-3FA0-0551-6DB2B6DC9710}"/>
              </a:ext>
            </a:extLst>
          </p:cNvPr>
          <p:cNvGrpSpPr/>
          <p:nvPr/>
        </p:nvGrpSpPr>
        <p:grpSpPr>
          <a:xfrm>
            <a:off x="0" y="2871"/>
            <a:ext cx="9144000" cy="457200"/>
            <a:chOff x="0" y="-4624"/>
            <a:chExt cx="9144000" cy="4572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B469BF9-1B77-D487-E34B-BA7FE33C0073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Footer Placeholder 2">
              <a:extLst>
                <a:ext uri="{FF2B5EF4-FFF2-40B4-BE49-F238E27FC236}">
                  <a16:creationId xmlns:a16="http://schemas.microsoft.com/office/drawing/2014/main" id="{55F797F5-28D9-E72A-3828-5A4E5762DF74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83144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11099-0B67-D045-8865-09C500521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A2321691-D7BF-2AF8-8675-49BED2CEB0AC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D2EF41A-60DC-66CC-75A8-537EEA9010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D7E49E6-ADD6-388C-12D1-62FB2F274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1A4F1CE-3A04-B681-3406-915026EC2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4</a:t>
            </a:fld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C50ED2-D5FA-AD40-3121-5CBF693E87A5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9" name="Picture 8" descr="Guitar Pickup Market By Region">
            <a:extLst>
              <a:ext uri="{FF2B5EF4-FFF2-40B4-BE49-F238E27FC236}">
                <a16:creationId xmlns:a16="http://schemas.microsoft.com/office/drawing/2014/main" id="{802ACDBF-FDCB-8D8E-2413-1C229B6DD7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01" t="1" r="88" b="1662"/>
          <a:stretch>
            <a:fillRect/>
          </a:stretch>
        </p:blipFill>
        <p:spPr>
          <a:xfrm>
            <a:off x="330200" y="1423280"/>
            <a:ext cx="8498627" cy="469684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1EA63F4-D860-8504-87A9-107CE6582E3C}"/>
              </a:ext>
            </a:extLst>
          </p:cNvPr>
          <p:cNvSpPr txBox="1"/>
          <p:nvPr/>
        </p:nvSpPr>
        <p:spPr>
          <a:xfrm>
            <a:off x="1323304" y="5115199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  <a:cs typeface="Times New Roman" panose="02020603050405020304" pitchFamily="18" charset="0"/>
              </a:rPr>
              <a:t>23.9%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34A505B-E6DB-0F7F-FEDB-9A1443F4EE9B}"/>
              </a:ext>
            </a:extLst>
          </p:cNvPr>
          <p:cNvSpPr txBox="1"/>
          <p:nvPr/>
        </p:nvSpPr>
        <p:spPr>
          <a:xfrm>
            <a:off x="4427184" y="3429000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18.0%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DD4FE6-684A-FDAD-A1EA-A9D7B890968F}"/>
              </a:ext>
            </a:extLst>
          </p:cNvPr>
          <p:cNvSpPr txBox="1"/>
          <p:nvPr/>
        </p:nvSpPr>
        <p:spPr>
          <a:xfrm>
            <a:off x="5935944" y="2970029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13.0%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8B78AF9-E908-446E-FF2D-427E7C3A2F17}"/>
              </a:ext>
            </a:extLst>
          </p:cNvPr>
          <p:cNvSpPr txBox="1"/>
          <p:nvPr/>
        </p:nvSpPr>
        <p:spPr>
          <a:xfrm>
            <a:off x="7483800" y="2662851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9.0%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13982E51-6C2B-8ACF-880A-415E94B203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4285" y="5785023"/>
            <a:ext cx="766733" cy="54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1849ACA9-163C-6215-6E51-42DBC5316D3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697" y="5785023"/>
            <a:ext cx="766313" cy="5400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51FAA9A-7462-BE8B-460B-EFCB9367AD19}"/>
              </a:ext>
            </a:extLst>
          </p:cNvPr>
          <p:cNvSpPr txBox="1"/>
          <p:nvPr/>
        </p:nvSpPr>
        <p:spPr>
          <a:xfrm>
            <a:off x="2874194" y="4152630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  <a:cs typeface="Times New Roman" panose="02020603050405020304" pitchFamily="18" charset="0"/>
              </a:rPr>
              <a:t>36.1%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56E6BC-8C92-4F8C-9491-222C5A36E7EF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[1]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9BCEE5-5183-DB97-9218-02677D2D77D7}"/>
              </a:ext>
            </a:extLst>
          </p:cNvPr>
          <p:cNvSpPr txBox="1"/>
          <p:nvPr/>
        </p:nvSpPr>
        <p:spPr>
          <a:xfrm>
            <a:off x="322686" y="737873"/>
            <a:ext cx="8491114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latin typeface="Arial Black" panose="020B0A04020102020204" pitchFamily="34" charset="0"/>
              </a:rPr>
              <a:t>Contexte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3A6B31C-A895-9DAD-8403-22D5A4842858}"/>
              </a:ext>
            </a:extLst>
          </p:cNvPr>
          <p:cNvSpPr/>
          <p:nvPr/>
        </p:nvSpPr>
        <p:spPr>
          <a:xfrm>
            <a:off x="1119987" y="3792511"/>
            <a:ext cx="2627554" cy="1796705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7E6B642-B609-22B2-66C3-744C7C6DC071}"/>
              </a:ext>
            </a:extLst>
          </p:cNvPr>
          <p:cNvSpPr txBox="1"/>
          <p:nvPr/>
        </p:nvSpPr>
        <p:spPr>
          <a:xfrm>
            <a:off x="1985724" y="3452852"/>
            <a:ext cx="7859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C00000"/>
                </a:solidFill>
                <a:latin typeface="Arial Black" panose="020B0A04020102020204" pitchFamily="34" charset="0"/>
              </a:rPr>
              <a:t>60%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5191606-F356-18B8-7060-5FE25908E21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FC971E0-D12E-C9B4-706F-439E03FA4C8C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2" name="Footer Placeholder 2">
              <a:extLst>
                <a:ext uri="{FF2B5EF4-FFF2-40B4-BE49-F238E27FC236}">
                  <a16:creationId xmlns:a16="http://schemas.microsoft.com/office/drawing/2014/main" id="{B0F71C06-FC89-064C-08DC-160CF4F89C3F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600423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ABA01-5E57-F9AD-7FB1-9B31B40EB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BEE4635-0063-BDB8-5C00-81533E5D3062}"/>
              </a:ext>
            </a:extLst>
          </p:cNvPr>
          <p:cNvSpPr txBox="1"/>
          <p:nvPr/>
        </p:nvSpPr>
        <p:spPr>
          <a:xfrm>
            <a:off x="322686" y="737873"/>
            <a:ext cx="8491114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latin typeface="Arial Black" panose="020B0A04020102020204" pitchFamily="34" charset="0"/>
              </a:rPr>
              <a:t>Contexte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7ABC560-5331-C119-99E8-E7E487C7F79C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D169199-8D0C-60A6-8967-E16A78FE2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885F29E-8678-D36A-0D35-75C3A704A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2EDCE98-18ED-99C0-05A3-B2ABDB23B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5</a:t>
            </a:fld>
            <a:endParaRPr lang="fr-FR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2658A02-6127-85C2-C96E-6360A48C80D9}"/>
              </a:ext>
            </a:extLst>
          </p:cNvPr>
          <p:cNvSpPr/>
          <p:nvPr/>
        </p:nvSpPr>
        <p:spPr>
          <a:xfrm>
            <a:off x="678973" y="1178781"/>
            <a:ext cx="418307" cy="495332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0360A34-3C0D-7ED1-37AC-A59777E64D3C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ECCBCFC-B5B7-AE0C-CD83-2301C046DD2B}"/>
              </a:ext>
            </a:extLst>
          </p:cNvPr>
          <p:cNvSpPr/>
          <p:nvPr/>
        </p:nvSpPr>
        <p:spPr>
          <a:xfrm>
            <a:off x="642999" y="576342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55C0811-70DD-0811-C4AB-C5BA5BEE7798}"/>
              </a:ext>
            </a:extLst>
          </p:cNvPr>
          <p:cNvGrpSpPr/>
          <p:nvPr/>
        </p:nvGrpSpPr>
        <p:grpSpPr>
          <a:xfrm>
            <a:off x="757357" y="1267336"/>
            <a:ext cx="2794357" cy="1456239"/>
            <a:chOff x="757357" y="3644776"/>
            <a:chExt cx="2794357" cy="1456239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4B888DA-EA85-BACA-4DA1-AC7AADA6FDED}"/>
                </a:ext>
              </a:extLst>
            </p:cNvPr>
            <p:cNvSpPr/>
            <p:nvPr/>
          </p:nvSpPr>
          <p:spPr>
            <a:xfrm>
              <a:off x="757357" y="4263279"/>
              <a:ext cx="252000" cy="25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5" name="Picture 2">
              <a:extLst>
                <a:ext uri="{FF2B5EF4-FFF2-40B4-BE49-F238E27FC236}">
                  <a16:creationId xmlns:a16="http://schemas.microsoft.com/office/drawing/2014/main" id="{E0E33EAE-DCBB-59AD-9586-0B278CCFB05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27" r="7227"/>
            <a:stretch/>
          </p:blipFill>
          <p:spPr bwMode="auto">
            <a:xfrm>
              <a:off x="1802614" y="3655444"/>
              <a:ext cx="1749100" cy="1440000"/>
            </a:xfrm>
            <a:prstGeom prst="rect">
              <a:avLst/>
            </a:prstGeom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16A955A1-3FE8-E23C-FB32-197625FCE777}"/>
                </a:ext>
              </a:extLst>
            </p:cNvPr>
            <p:cNvCxnSpPr>
              <a:cxnSpLocks/>
              <a:stCxn id="21" idx="1"/>
            </p:cNvCxnSpPr>
            <p:nvPr/>
          </p:nvCxnSpPr>
          <p:spPr>
            <a:xfrm flipV="1">
              <a:off x="794262" y="3644776"/>
              <a:ext cx="1008352" cy="65540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29FA4007-D881-298D-16E0-8B10B844EC49}"/>
                </a:ext>
              </a:extLst>
            </p:cNvPr>
            <p:cNvCxnSpPr>
              <a:cxnSpLocks/>
              <a:stCxn id="21" idx="3"/>
            </p:cNvCxnSpPr>
            <p:nvPr/>
          </p:nvCxnSpPr>
          <p:spPr>
            <a:xfrm>
              <a:off x="794262" y="4478374"/>
              <a:ext cx="1008352" cy="622641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7C89D83A-8EAF-A29A-3D99-1A5A4BA3B567}"/>
              </a:ext>
            </a:extLst>
          </p:cNvPr>
          <p:cNvSpPr txBox="1"/>
          <p:nvPr/>
        </p:nvSpPr>
        <p:spPr>
          <a:xfrm>
            <a:off x="1071094" y="1826633"/>
            <a:ext cx="7315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/>
              <a:t>1931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E1B0F9D-8566-0C35-DA3D-12B83B1D5D8F}"/>
              </a:ext>
            </a:extLst>
          </p:cNvPr>
          <p:cNvGrpSpPr/>
          <p:nvPr/>
        </p:nvGrpSpPr>
        <p:grpSpPr>
          <a:xfrm>
            <a:off x="4257048" y="1278005"/>
            <a:ext cx="4556752" cy="4679896"/>
            <a:chOff x="5128260" y="2555821"/>
            <a:chExt cx="3281103" cy="2838917"/>
          </a:xfrm>
        </p:grpSpPr>
        <p:pic>
          <p:nvPicPr>
            <p:cNvPr id="10" name="Picture 9" descr="A blue and white drawing of a square and a rectangle&#10;&#10;AI-generated content may be incorrect.">
              <a:extLst>
                <a:ext uri="{FF2B5EF4-FFF2-40B4-BE49-F238E27FC236}">
                  <a16:creationId xmlns:a16="http://schemas.microsoft.com/office/drawing/2014/main" id="{35B1D760-66A7-4EF2-06F7-CEB0F74054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7161" r="12491"/>
            <a:stretch>
              <a:fillRect/>
            </a:stretch>
          </p:blipFill>
          <p:spPr>
            <a:xfrm>
              <a:off x="5128260" y="2555821"/>
              <a:ext cx="3281103" cy="2838917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26B4602-42B8-CD9D-7B5A-B72982226E4D}"/>
                </a:ext>
              </a:extLst>
            </p:cNvPr>
            <p:cNvSpPr/>
            <p:nvPr/>
          </p:nvSpPr>
          <p:spPr>
            <a:xfrm>
              <a:off x="6606541" y="3415664"/>
              <a:ext cx="308610" cy="2698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029" name="Picture 1028">
              <a:extLst>
                <a:ext uri="{FF2B5EF4-FFF2-40B4-BE49-F238E27FC236}">
                  <a16:creationId xmlns:a16="http://schemas.microsoft.com/office/drawing/2014/main" id="{BEE47B49-AC29-0A5B-BE91-5834088C244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32494" b="70953" l="13960" r="44675"/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20" t="27687" r="51486" b="24239"/>
            <a:stretch>
              <a:fillRect/>
            </a:stretch>
          </p:blipFill>
          <p:spPr>
            <a:xfrm>
              <a:off x="5573128" y="3130807"/>
              <a:ext cx="2477717" cy="1693612"/>
            </a:xfrm>
            <a:prstGeom prst="rect">
              <a:avLst/>
            </a:prstGeom>
          </p:spPr>
        </p:pic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830357CB-6D07-11C5-8EC3-85C6EB5CB4BF}"/>
                </a:ext>
              </a:extLst>
            </p:cNvPr>
            <p:cNvSpPr/>
            <p:nvPr/>
          </p:nvSpPr>
          <p:spPr>
            <a:xfrm>
              <a:off x="6704837" y="3200415"/>
              <a:ext cx="103688" cy="8735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D369F20-F607-9F18-F30E-4FC8F48B5B99}"/>
              </a:ext>
            </a:extLst>
          </p:cNvPr>
          <p:cNvSpPr txBox="1"/>
          <p:nvPr/>
        </p:nvSpPr>
        <p:spPr>
          <a:xfrm>
            <a:off x="1951551" y="2415066"/>
            <a:ext cx="14512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dirty="0"/>
              <a:t>SingleCoil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E53688-28E3-395D-70F6-E50EF0BE10AB}"/>
              </a:ext>
            </a:extLst>
          </p:cNvPr>
          <p:cNvSpPr txBox="1"/>
          <p:nvPr/>
        </p:nvSpPr>
        <p:spPr>
          <a:xfrm flipH="1">
            <a:off x="2037872" y="3211542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Corde</a:t>
            </a:r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F181BAC7-2F05-D532-04C6-1C065A8CDC42}"/>
              </a:ext>
            </a:extLst>
          </p:cNvPr>
          <p:cNvCxnSpPr>
            <a:cxnSpLocks/>
            <a:stCxn id="14" idx="1"/>
          </p:cNvCxnSpPr>
          <p:nvPr/>
        </p:nvCxnSpPr>
        <p:spPr>
          <a:xfrm flipV="1">
            <a:off x="3491406" y="2410534"/>
            <a:ext cx="2993270" cy="9395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9750372-0D76-1A6A-DD9B-C7FF226BC376}"/>
              </a:ext>
            </a:extLst>
          </p:cNvPr>
          <p:cNvSpPr txBox="1"/>
          <p:nvPr/>
        </p:nvSpPr>
        <p:spPr>
          <a:xfrm flipH="1">
            <a:off x="2037872" y="3973760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Bobine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CDBB6C-E453-637C-7462-FBC874B60003}"/>
              </a:ext>
            </a:extLst>
          </p:cNvPr>
          <p:cNvSpPr txBox="1"/>
          <p:nvPr/>
        </p:nvSpPr>
        <p:spPr>
          <a:xfrm flipH="1">
            <a:off x="2033051" y="4735978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Aimant permanent</a:t>
            </a:r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11FCA9BF-D568-7FEF-8F3A-CC03ABDECFCE}"/>
              </a:ext>
            </a:extLst>
          </p:cNvPr>
          <p:cNvCxnSpPr>
            <a:cxnSpLocks/>
            <a:stCxn id="20" idx="1"/>
          </p:cNvCxnSpPr>
          <p:nvPr/>
        </p:nvCxnSpPr>
        <p:spPr>
          <a:xfrm flipV="1">
            <a:off x="3491406" y="3542645"/>
            <a:ext cx="2249820" cy="56961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D422936-A5EF-FA57-44E3-7B65B2489857}"/>
              </a:ext>
            </a:extLst>
          </p:cNvPr>
          <p:cNvCxnSpPr>
            <a:cxnSpLocks/>
            <a:stCxn id="22" idx="2"/>
          </p:cNvCxnSpPr>
          <p:nvPr/>
        </p:nvCxnSpPr>
        <p:spPr>
          <a:xfrm rot="5400000" flipH="1" flipV="1">
            <a:off x="4491508" y="2982771"/>
            <a:ext cx="298515" cy="3761897"/>
          </a:xfrm>
          <a:prstGeom prst="bentConnector4">
            <a:avLst>
              <a:gd name="adj1" fmla="val -76579"/>
              <a:gd name="adj2" fmla="val 10002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4" name="Picture 2" descr="Free femm 4.2 software download (Windows)">
            <a:extLst>
              <a:ext uri="{FF2B5EF4-FFF2-40B4-BE49-F238E27FC236}">
                <a16:creationId xmlns:a16="http://schemas.microsoft.com/office/drawing/2014/main" id="{7E23C437-0ABF-7719-0798-576ADE154B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A8368BD-720D-61CB-9C35-FD2F182B225B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[3]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93ED0EB-ADA7-D81C-5F05-2B5D2AD07D1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7F004B6D-96AC-28F8-21DD-0746899C49DD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Footer Placeholder 2">
              <a:extLst>
                <a:ext uri="{FF2B5EF4-FFF2-40B4-BE49-F238E27FC236}">
                  <a16:creationId xmlns:a16="http://schemas.microsoft.com/office/drawing/2014/main" id="{6D4BF689-D8A2-78A0-F585-E663844622D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27761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E5CDC-E18A-6821-CC67-B07651DBB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8092A65-490B-4AC0-8393-01D12A337A0D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94324AA-72FC-C282-79A1-90C96CC99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E0757ED-665B-4A13-863D-6BEDFEE75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1DEB640-326C-4C8A-4353-C88BEC4C84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6</a:t>
            </a:fld>
            <a:endParaRPr lang="fr-FR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A875690-14A5-1EF6-BD3E-E169BCC560FD}"/>
              </a:ext>
            </a:extLst>
          </p:cNvPr>
          <p:cNvSpPr/>
          <p:nvPr/>
        </p:nvSpPr>
        <p:spPr>
          <a:xfrm>
            <a:off x="678973" y="1178781"/>
            <a:ext cx="418307" cy="495332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7637ED1-A8A1-92A6-E436-7B0AE35C232B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9E39AF3-B671-1A96-D11D-9164EFD8F565}"/>
              </a:ext>
            </a:extLst>
          </p:cNvPr>
          <p:cNvSpPr/>
          <p:nvPr/>
        </p:nvSpPr>
        <p:spPr>
          <a:xfrm>
            <a:off x="642999" y="576342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E07AC0-394D-84B1-8162-3042EECBDF45}"/>
              </a:ext>
            </a:extLst>
          </p:cNvPr>
          <p:cNvSpPr/>
          <p:nvPr/>
        </p:nvSpPr>
        <p:spPr>
          <a:xfrm>
            <a:off x="622219" y="1351909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A35D5EF-60B2-6FAD-3936-D1828DDA27A4}"/>
              </a:ext>
            </a:extLst>
          </p:cNvPr>
          <p:cNvSpPr/>
          <p:nvPr/>
        </p:nvSpPr>
        <p:spPr>
          <a:xfrm>
            <a:off x="642999" y="1720375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DDAA9F8-0DCE-F3A1-2774-4F4BB52CB5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18" t="7821" r="16609" b="12129"/>
          <a:stretch>
            <a:fillRect/>
          </a:stretch>
        </p:blipFill>
        <p:spPr>
          <a:xfrm>
            <a:off x="1489540" y="1506714"/>
            <a:ext cx="7074840" cy="42974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F19AA84-9CCA-017E-FDA8-64E4C692C133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[4]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22C74A-2D39-290A-3B7E-9289C14E27F8}"/>
              </a:ext>
            </a:extLst>
          </p:cNvPr>
          <p:cNvSpPr txBox="1"/>
          <p:nvPr/>
        </p:nvSpPr>
        <p:spPr>
          <a:xfrm>
            <a:off x="322686" y="737873"/>
            <a:ext cx="8491114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latin typeface="Arial Black" panose="020B0A04020102020204" pitchFamily="34" charset="0"/>
              </a:rPr>
              <a:t>Contexte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82A2EE1-E8ED-145D-23DC-A42B417BD1CE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EF5C53E-7258-89EE-AB47-C65C987E1441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1670C4DF-4D6D-CC6F-D012-E1872949C00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195274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B3F0E-84CD-C391-808C-60FB199D94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2B0877C8-3F34-D58C-1038-34894EB0E4EB}"/>
              </a:ext>
            </a:extLst>
          </p:cNvPr>
          <p:cNvSpPr txBox="1"/>
          <p:nvPr/>
        </p:nvSpPr>
        <p:spPr>
          <a:xfrm>
            <a:off x="322686" y="737873"/>
            <a:ext cx="8491114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latin typeface="Arial Black" panose="020B0A04020102020204" pitchFamily="34" charset="0"/>
              </a:rPr>
              <a:t>Contexte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CA72259-54E2-49A4-C520-ECE0702321F5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372C224-2B65-C621-0EC0-732749977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3E4FC93-C63B-8406-6B00-3E5F54AB49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9ED0F94-BE44-0B30-1195-0C653D9E4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7</a:t>
            </a:fld>
            <a:endParaRPr lang="fr-FR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E3DE5677-D04C-C907-22CF-48E34F9CEF3C}"/>
              </a:ext>
            </a:extLst>
          </p:cNvPr>
          <p:cNvSpPr/>
          <p:nvPr/>
        </p:nvSpPr>
        <p:spPr>
          <a:xfrm>
            <a:off x="322686" y="1178781"/>
            <a:ext cx="1125078" cy="4500438"/>
          </a:xfrm>
          <a:prstGeom prst="downArrow">
            <a:avLst>
              <a:gd name="adj1" fmla="val 37279"/>
              <a:gd name="adj2" fmla="val 50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F67775C-D727-1789-6DAC-ED5112DC6709}"/>
              </a:ext>
            </a:extLst>
          </p:cNvPr>
          <p:cNvSpPr/>
          <p:nvPr/>
        </p:nvSpPr>
        <p:spPr>
          <a:xfrm>
            <a:off x="640098" y="1353566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66C38B-927C-53CF-E6AB-365D740BBA91}"/>
              </a:ext>
            </a:extLst>
          </p:cNvPr>
          <p:cNvSpPr/>
          <p:nvPr/>
        </p:nvSpPr>
        <p:spPr>
          <a:xfrm>
            <a:off x="622370" y="171795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22E47D5-1C5D-136A-061D-9A1220859249}"/>
              </a:ext>
            </a:extLst>
          </p:cNvPr>
          <p:cNvGrpSpPr/>
          <p:nvPr/>
        </p:nvGrpSpPr>
        <p:grpSpPr>
          <a:xfrm>
            <a:off x="757357" y="3644776"/>
            <a:ext cx="2840277" cy="1456239"/>
            <a:chOff x="757357" y="3644776"/>
            <a:chExt cx="2840277" cy="1456239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669E515-1F8E-1A6F-32EB-A4113124209A}"/>
                </a:ext>
              </a:extLst>
            </p:cNvPr>
            <p:cNvSpPr/>
            <p:nvPr/>
          </p:nvSpPr>
          <p:spPr>
            <a:xfrm>
              <a:off x="757357" y="4263279"/>
              <a:ext cx="252000" cy="25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C077574-15D0-65B4-FDC0-91F3532B9BE6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V="1">
              <a:off x="794262" y="3644776"/>
              <a:ext cx="1008352" cy="65540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8D1783E-179B-5321-AD09-59B4859B3E63}"/>
                </a:ext>
              </a:extLst>
            </p:cNvPr>
            <p:cNvCxnSpPr>
              <a:cxnSpLocks/>
              <a:stCxn id="10" idx="3"/>
            </p:cNvCxnSpPr>
            <p:nvPr/>
          </p:nvCxnSpPr>
          <p:spPr>
            <a:xfrm>
              <a:off x="794262" y="4478374"/>
              <a:ext cx="1008352" cy="622641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7" name="Picture 2">
              <a:extLst>
                <a:ext uri="{FF2B5EF4-FFF2-40B4-BE49-F238E27FC236}">
                  <a16:creationId xmlns:a16="http://schemas.microsoft.com/office/drawing/2014/main" id="{EEB520E7-EF31-D47F-BBBC-DF62DEF6C2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123" r="6123"/>
            <a:stretch/>
          </p:blipFill>
          <p:spPr bwMode="auto">
            <a:xfrm>
              <a:off x="1804368" y="3652396"/>
              <a:ext cx="1793266" cy="1440000"/>
            </a:xfrm>
            <a:prstGeom prst="rect">
              <a:avLst/>
            </a:prstGeom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C611BF4-7805-35AB-84D0-864D256DA30B}"/>
                </a:ext>
              </a:extLst>
            </p:cNvPr>
            <p:cNvSpPr txBox="1"/>
            <p:nvPr/>
          </p:nvSpPr>
          <p:spPr>
            <a:xfrm>
              <a:off x="1071094" y="4204613"/>
              <a:ext cx="73152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200" dirty="0"/>
                <a:t>1955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CFB490B0-BCD6-A56F-0B4F-C5F684FE9AB2}"/>
              </a:ext>
            </a:extLst>
          </p:cNvPr>
          <p:cNvSpPr txBox="1"/>
          <p:nvPr/>
        </p:nvSpPr>
        <p:spPr>
          <a:xfrm>
            <a:off x="1975388" y="4810594"/>
            <a:ext cx="14512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dirty="0"/>
              <a:t>Humbucker</a:t>
            </a:r>
          </a:p>
        </p:txBody>
      </p:sp>
      <p:pic>
        <p:nvPicPr>
          <p:cNvPr id="22" name="Picture 21" descr="A drawing of a computer&#10;&#10;AI-generated content may be incorrect.">
            <a:extLst>
              <a:ext uri="{FF2B5EF4-FFF2-40B4-BE49-F238E27FC236}">
                <a16:creationId xmlns:a16="http://schemas.microsoft.com/office/drawing/2014/main" id="{D940559A-4517-B76C-7191-DBF90D7844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05567"/>
            <a:ext cx="4303537" cy="3938025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4B783AE6-51CF-96D4-FF4F-76A91E4D70CC}"/>
              </a:ext>
            </a:extLst>
          </p:cNvPr>
          <p:cNvSpPr/>
          <p:nvPr/>
        </p:nvSpPr>
        <p:spPr>
          <a:xfrm>
            <a:off x="5953149" y="2713650"/>
            <a:ext cx="428593" cy="4448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E9966DA-65A5-0089-96C5-341C4C44043D}"/>
              </a:ext>
            </a:extLst>
          </p:cNvPr>
          <p:cNvSpPr/>
          <p:nvPr/>
        </p:nvSpPr>
        <p:spPr>
          <a:xfrm>
            <a:off x="7250271" y="2713650"/>
            <a:ext cx="247651" cy="4448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52B7CE4-DCA4-58A6-9A88-29EF0568BDAF}"/>
              </a:ext>
            </a:extLst>
          </p:cNvPr>
          <p:cNvSpPr/>
          <p:nvPr/>
        </p:nvSpPr>
        <p:spPr>
          <a:xfrm>
            <a:off x="5419725" y="2891036"/>
            <a:ext cx="468895" cy="120090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4ACEF00-6939-5D0B-A13E-4FE798F62E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76" t="6786" r="5431" b="11456"/>
          <a:stretch>
            <a:fillRect/>
          </a:stretch>
        </p:blipFill>
        <p:spPr>
          <a:xfrm>
            <a:off x="5252630" y="2402996"/>
            <a:ext cx="3113821" cy="2060332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DF916CAF-70B9-62A8-15A1-E542690D7E33}"/>
              </a:ext>
            </a:extLst>
          </p:cNvPr>
          <p:cNvSpPr txBox="1"/>
          <p:nvPr/>
        </p:nvSpPr>
        <p:spPr>
          <a:xfrm flipH="1">
            <a:off x="2037872" y="1405602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Corde</a:t>
            </a:r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28500AF0-2911-5316-990D-909F60C91DD4}"/>
              </a:ext>
            </a:extLst>
          </p:cNvPr>
          <p:cNvCxnSpPr>
            <a:cxnSpLocks/>
            <a:stCxn id="27" idx="1"/>
            <a:endCxn id="33" idx="1"/>
          </p:cNvCxnSpPr>
          <p:nvPr/>
        </p:nvCxnSpPr>
        <p:spPr>
          <a:xfrm>
            <a:off x="3491406" y="1544102"/>
            <a:ext cx="1097739" cy="73301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F4B729FB-031A-BAE3-5916-1E9BCF4B4649}"/>
              </a:ext>
            </a:extLst>
          </p:cNvPr>
          <p:cNvSpPr txBox="1"/>
          <p:nvPr/>
        </p:nvSpPr>
        <p:spPr>
          <a:xfrm flipH="1">
            <a:off x="1802613" y="2167820"/>
            <a:ext cx="1683971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Aimants permanents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B93002B-9402-19C4-80AB-1BF0833056FE}"/>
              </a:ext>
            </a:extLst>
          </p:cNvPr>
          <p:cNvSpPr txBox="1"/>
          <p:nvPr/>
        </p:nvSpPr>
        <p:spPr>
          <a:xfrm flipH="1">
            <a:off x="2033051" y="2930038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Bobines</a:t>
            </a:r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A27D8FF0-B915-4B4D-DDF6-06610E686E7C}"/>
              </a:ext>
            </a:extLst>
          </p:cNvPr>
          <p:cNvCxnSpPr>
            <a:cxnSpLocks/>
            <a:stCxn id="29" idx="2"/>
          </p:cNvCxnSpPr>
          <p:nvPr/>
        </p:nvCxnSpPr>
        <p:spPr>
          <a:xfrm rot="16200000" flipH="1">
            <a:off x="4256375" y="833042"/>
            <a:ext cx="174504" cy="3398058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08CECA19-DB69-E156-5705-713CB10CF7E3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3991493" y="1975362"/>
            <a:ext cx="270852" cy="2734202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0A070375-38D7-0425-E55D-0B48FE1180FC}"/>
              </a:ext>
            </a:extLst>
          </p:cNvPr>
          <p:cNvSpPr/>
          <p:nvPr/>
        </p:nvSpPr>
        <p:spPr>
          <a:xfrm>
            <a:off x="4589145" y="2237711"/>
            <a:ext cx="4276317" cy="78814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3" name="Picture 2" descr="Free femm 4.2 software download (Windows)">
            <a:extLst>
              <a:ext uri="{FF2B5EF4-FFF2-40B4-BE49-F238E27FC236}">
                <a16:creationId xmlns:a16="http://schemas.microsoft.com/office/drawing/2014/main" id="{3FA0ADC1-9B0B-00B1-E104-3F44176109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247C867-1F90-B54D-5817-E5B6C9DDDF8B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[4]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243A01D-9EAC-A043-6930-6CDD3B7BD024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80266ADC-C1AA-F577-8E6D-3B9D08336CDD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Footer Placeholder 2">
              <a:extLst>
                <a:ext uri="{FF2B5EF4-FFF2-40B4-BE49-F238E27FC236}">
                  <a16:creationId xmlns:a16="http://schemas.microsoft.com/office/drawing/2014/main" id="{6D8CEED2-0E6C-12E7-408D-63D1C066F85B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808643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FAE0E-A710-B751-21D5-1465D9560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3CE604F-6BFC-79C1-4FC3-CA1EA5356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C9A119C-A152-8451-8BAD-3058A8833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BA6762A-3000-D56B-00BC-9C877DB75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8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0A1813A-2397-9FF3-55B4-A7083DA4BF3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15" name="Rectangle 2">
            <a:extLst>
              <a:ext uri="{FF2B5EF4-FFF2-40B4-BE49-F238E27FC236}">
                <a16:creationId xmlns:a16="http://schemas.microsoft.com/office/drawing/2014/main" id="{896A7184-965A-9FF1-E334-6E90259941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5571" y="2055421"/>
            <a:ext cx="7425344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dirty="0"/>
              <a:t>Dans quelle mesure </a:t>
            </a:r>
            <a:r>
              <a:rPr lang="fr-FR" b="1" dirty="0"/>
              <a:t>l'ajout d'une seconde bobine 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dirty="0"/>
              <a:t>permet-il </a:t>
            </a:r>
            <a:r>
              <a:rPr lang="fr-FR" b="1" dirty="0"/>
              <a:t>d'éliminer les parasites </a:t>
            </a:r>
            <a:r>
              <a:rPr lang="fr-FR" dirty="0"/>
              <a:t>?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dirty="0"/>
              <a:t>Comment cela impacte-t-il </a:t>
            </a:r>
            <a:r>
              <a:rPr lang="fr-FR" b="1" dirty="0"/>
              <a:t>la richesse du son </a:t>
            </a:r>
            <a:r>
              <a:rPr lang="fr-FR" dirty="0"/>
              <a:t>?</a:t>
            </a:r>
            <a:endParaRPr kumimoji="0" lang="fr-FR" altLang="fr-FR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4EE9D4-1D4E-E6DD-563B-928B9E769F11}"/>
              </a:ext>
            </a:extLst>
          </p:cNvPr>
          <p:cNvSpPr txBox="1"/>
          <p:nvPr/>
        </p:nvSpPr>
        <p:spPr>
          <a:xfrm>
            <a:off x="822961" y="4436823"/>
            <a:ext cx="3749039" cy="369332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SingleCoil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7F5EE0-EFED-C507-DAB9-15D261AF6049}"/>
              </a:ext>
            </a:extLst>
          </p:cNvPr>
          <p:cNvSpPr txBox="1"/>
          <p:nvPr/>
        </p:nvSpPr>
        <p:spPr>
          <a:xfrm>
            <a:off x="4572000" y="4436823"/>
            <a:ext cx="3837363" cy="369332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Humbucker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3DBB3E-CACA-593E-E545-39E8047A68D3}"/>
              </a:ext>
            </a:extLst>
          </p:cNvPr>
          <p:cNvSpPr txBox="1"/>
          <p:nvPr/>
        </p:nvSpPr>
        <p:spPr>
          <a:xfrm>
            <a:off x="2802834" y="3896190"/>
            <a:ext cx="3538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Types de micro 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B92DDB-5107-9492-084E-A032449469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2067480" y="3425036"/>
            <a:ext cx="1260000" cy="1037332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0E83BBAA-0E05-C329-303D-8623CD6193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5860681" y="3425036"/>
            <a:ext cx="1260000" cy="10117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0" name="Diagram 9">
            <a:extLst>
              <a:ext uri="{FF2B5EF4-FFF2-40B4-BE49-F238E27FC236}">
                <a16:creationId xmlns:a16="http://schemas.microsoft.com/office/drawing/2014/main" id="{4A2E5A45-09B6-6201-9655-31940D8E76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69000343"/>
              </p:ext>
            </p:extLst>
          </p:nvPr>
        </p:nvGraphicFramePr>
        <p:xfrm>
          <a:off x="1215239" y="5535351"/>
          <a:ext cx="6962904" cy="4722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3094F3D5-9355-C183-0051-5A525B2FEB08}"/>
              </a:ext>
            </a:extLst>
          </p:cNvPr>
          <p:cNvSpPr txBox="1"/>
          <p:nvPr/>
        </p:nvSpPr>
        <p:spPr>
          <a:xfrm>
            <a:off x="322686" y="737873"/>
            <a:ext cx="8491114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latin typeface="Arial Black" panose="020B0A04020102020204" pitchFamily="34" charset="0"/>
              </a:rPr>
              <a:t>Problématique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0CB6DFE-9DCE-7015-9FA8-9E678322DE7D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17B675E-C794-FA61-C6CF-1E8B427604C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Footer Placeholder 2">
              <a:extLst>
                <a:ext uri="{FF2B5EF4-FFF2-40B4-BE49-F238E27FC236}">
                  <a16:creationId xmlns:a16="http://schemas.microsoft.com/office/drawing/2014/main" id="{2DB22642-B50B-7C34-0232-2F3D1155C6DC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24046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5CC728-A276-BD6F-B1A1-73D1F90E0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2BE61F3-98BD-710E-BAED-39EA2E834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A77E5CE-D98F-48A8-D034-9B8C375AE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AFC78A4-5A40-488E-CAD5-2FB8ECCA5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9</a:t>
            </a:fld>
            <a:endParaRPr lang="fr-FR" sz="1200" b="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909688F-5B12-79E1-1E86-6709835E8D4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8A2C485-C6DF-E159-7051-CC67CB6B749A}"/>
              </a:ext>
            </a:extLst>
          </p:cNvPr>
          <p:cNvGrpSpPr/>
          <p:nvPr/>
        </p:nvGrpSpPr>
        <p:grpSpPr>
          <a:xfrm>
            <a:off x="1071545" y="4838220"/>
            <a:ext cx="7869519" cy="1210580"/>
            <a:chOff x="385745" y="5083538"/>
            <a:chExt cx="8293184" cy="121058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6A235FAC-1816-2621-D75E-ECE249D01798}"/>
                </a:ext>
              </a:extLst>
            </p:cNvPr>
            <p:cNvGrpSpPr/>
            <p:nvPr/>
          </p:nvGrpSpPr>
          <p:grpSpPr>
            <a:xfrm>
              <a:off x="385745" y="5083538"/>
              <a:ext cx="8293184" cy="1150814"/>
              <a:chOff x="385745" y="5083538"/>
              <a:chExt cx="8293184" cy="1150814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2763671F-376D-3A28-FE6B-4D527CEABA44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A19E74E8-8FB5-3724-59F5-5D59E0C74A59}"/>
                    </a:ext>
                  </a:extLst>
                </p:cNvPr>
                <p:cNvSpPr/>
                <p:nvPr/>
              </p:nvSpPr>
              <p:spPr>
                <a:xfrm>
                  <a:off x="4222980" y="3059437"/>
                  <a:ext cx="1244192" cy="739126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Filtrage Interne</a:t>
                  </a:r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056314C5-F5BB-C6BA-D1FF-CCE8FD3852E7}"/>
                    </a:ext>
                  </a:extLst>
                </p:cNvPr>
                <p:cNvSpPr/>
                <p:nvPr/>
              </p:nvSpPr>
              <p:spPr>
                <a:xfrm>
                  <a:off x="2406061" y="3059437"/>
                  <a:ext cx="1244192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Induction</a:t>
                  </a:r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8F56ED56-D806-9650-B8AC-2417D1AB08F7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57" name="Straight Arrow Connector 56">
                  <a:extLst>
                    <a:ext uri="{FF2B5EF4-FFF2-40B4-BE49-F238E27FC236}">
                      <a16:creationId xmlns:a16="http://schemas.microsoft.com/office/drawing/2014/main" id="{9BF26410-CFAB-C09E-4325-65476E831000}"/>
                    </a:ext>
                  </a:extLst>
                </p:cNvPr>
                <p:cNvCxnSpPr>
                  <a:cxnSpLocks/>
                  <a:stCxn id="55" idx="3"/>
                  <a:endCxn id="54" idx="1"/>
                </p:cNvCxnSpPr>
                <p:nvPr/>
              </p:nvCxnSpPr>
              <p:spPr>
                <a:xfrm>
                  <a:off x="3650253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Arrow Connector 57">
                  <a:extLst>
                    <a:ext uri="{FF2B5EF4-FFF2-40B4-BE49-F238E27FC236}">
                      <a16:creationId xmlns:a16="http://schemas.microsoft.com/office/drawing/2014/main" id="{9936EE64-0BBC-4292-5B15-126AC522E309}"/>
                    </a:ext>
                  </a:extLst>
                </p:cNvPr>
                <p:cNvCxnSpPr>
                  <a:cxnSpLocks/>
                  <a:stCxn id="54" idx="3"/>
                  <a:endCxn id="56" idx="1"/>
                </p:cNvCxnSpPr>
                <p:nvPr/>
              </p:nvCxnSpPr>
              <p:spPr>
                <a:xfrm>
                  <a:off x="5467172" y="3429000"/>
                  <a:ext cx="572726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Arrow Connector 58">
                  <a:extLst>
                    <a:ext uri="{FF2B5EF4-FFF2-40B4-BE49-F238E27FC236}">
                      <a16:creationId xmlns:a16="http://schemas.microsoft.com/office/drawing/2014/main" id="{ACCE01AA-96DD-BE87-8097-D101B7604EC9}"/>
                    </a:ext>
                  </a:extLst>
                </p:cNvPr>
                <p:cNvCxnSpPr>
                  <a:cxnSpLocks/>
                  <a:endCxn id="55" idx="1"/>
                </p:cNvCxnSpPr>
                <p:nvPr/>
              </p:nvCxnSpPr>
              <p:spPr>
                <a:xfrm>
                  <a:off x="1833334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Arrow Connector 59">
                  <a:extLst>
                    <a:ext uri="{FF2B5EF4-FFF2-40B4-BE49-F238E27FC236}">
                      <a16:creationId xmlns:a16="http://schemas.microsoft.com/office/drawing/2014/main" id="{7E489F27-484A-D27F-1D09-DEAEDDE4544F}"/>
                    </a:ext>
                  </a:extLst>
                </p:cNvPr>
                <p:cNvCxnSpPr>
                  <a:cxnSpLocks/>
                  <a:stCxn id="56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9516378D-EA5E-799D-7662-6EFE8979826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9516378D-EA5E-799D-7662-6EFE8979826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9FA2B951-6352-70F1-3CF5-32BFCC6440E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9FA2B951-6352-70F1-3CF5-32BFCC6440E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D1768AA6-1B96-8342-C374-671FDD9B50B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D1768AA6-1B96-8342-C374-671FDD9B50B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r="-8219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00F4CE7F-7A00-B21F-4655-0E73055F8EA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00F4CE7F-7A00-B21F-4655-0E73055F8EA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r="-1285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5D3EFC3-19DA-B7F0-5821-F800B0919B1D}"/>
                  </a:ext>
                </a:extLst>
              </p:cNvPr>
              <p:cNvSpPr txBox="1"/>
              <p:nvPr/>
            </p:nvSpPr>
            <p:spPr>
              <a:xfrm>
                <a:off x="3857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Corde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23FC628C-84DD-BA1D-CD14-6F12A0D08967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21FBF65-C5F9-2536-099D-BF9856442B6F}"/>
                  </a:ext>
                </a:extLst>
              </p:cNvPr>
              <p:cNvSpPr txBox="1"/>
              <p:nvPr/>
            </p:nvSpPr>
            <p:spPr>
              <a:xfrm>
                <a:off x="2968578" y="5083538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>
                    <a:solidFill>
                      <a:srgbClr val="C00000"/>
                    </a:solidFill>
                  </a:rPr>
                  <a:t>Micro</a:t>
                </a:r>
              </a:p>
            </p:txBody>
          </p:sp>
        </p:grp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FF4CCE26-EFBA-2D5B-D6E7-1338F478E5DF}"/>
                </a:ext>
              </a:extLst>
            </p:cNvPr>
            <p:cNvSpPr/>
            <p:nvPr/>
          </p:nvSpPr>
          <p:spPr>
            <a:xfrm>
              <a:off x="1791455" y="5434033"/>
              <a:ext cx="3187230" cy="860085"/>
            </a:xfrm>
            <a:prstGeom prst="rect">
              <a:avLst/>
            </a:prstGeom>
            <a:noFill/>
            <a:ln w="38100">
              <a:solidFill>
                <a:srgbClr val="C0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4BCB7869-9EAF-0B66-27C0-ECC3479448D1}"/>
              </a:ext>
            </a:extLst>
          </p:cNvPr>
          <p:cNvGrpSpPr/>
          <p:nvPr/>
        </p:nvGrpSpPr>
        <p:grpSpPr>
          <a:xfrm>
            <a:off x="758331" y="1002105"/>
            <a:ext cx="8378236" cy="3871961"/>
            <a:chOff x="-143123" y="1695451"/>
            <a:chExt cx="8378236" cy="3827203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EC91FEDC-6488-8B24-0B65-4758A6F64531}"/>
                </a:ext>
              </a:extLst>
            </p:cNvPr>
            <p:cNvGrpSpPr/>
            <p:nvPr/>
          </p:nvGrpSpPr>
          <p:grpSpPr>
            <a:xfrm>
              <a:off x="-143123" y="1695451"/>
              <a:ext cx="6901731" cy="3827203"/>
              <a:chOff x="1006751" y="1255937"/>
              <a:chExt cx="6952009" cy="3806453"/>
            </a:xfrm>
          </p:grpSpPr>
          <p:pic>
            <p:nvPicPr>
              <p:cNvPr id="68" name="Picture 67" descr="A black and white drawing of a speaker&#10;&#10;AI-generated content may be incorrect.">
                <a:extLst>
                  <a:ext uri="{FF2B5EF4-FFF2-40B4-BE49-F238E27FC236}">
                    <a16:creationId xmlns:a16="http://schemas.microsoft.com/office/drawing/2014/main" id="{65A87B68-C1FB-FD05-00C6-048368A43A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5915" t="5174" r="12970" b="6005"/>
              <a:stretch>
                <a:fillRect/>
              </a:stretch>
            </p:blipFill>
            <p:spPr>
              <a:xfrm>
                <a:off x="5339199" y="1663215"/>
                <a:ext cx="2619561" cy="2902226"/>
              </a:xfrm>
              <a:prstGeom prst="rect">
                <a:avLst/>
              </a:prstGeom>
            </p:spPr>
          </p:pic>
          <p:pic>
            <p:nvPicPr>
              <p:cNvPr id="69" name="Picture 2" descr="Coloriage Guitare électrique normale - Dessin gratuit à imprimer">
                <a:extLst>
                  <a:ext uri="{FF2B5EF4-FFF2-40B4-BE49-F238E27FC236}">
                    <a16:creationId xmlns:a16="http://schemas.microsoft.com/office/drawing/2014/main" id="{F6C1D0F5-3350-CA8C-9635-45B135D9911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75" t="9659" r="3272" b="14511"/>
              <a:stretch>
                <a:fillRect/>
              </a:stretch>
            </p:blipFill>
            <p:spPr bwMode="auto">
              <a:xfrm rot="18368299">
                <a:off x="661136" y="1601552"/>
                <a:ext cx="3716782" cy="3025552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FBFE2619-898B-BCA8-665C-4FA487B52AA8}"/>
                  </a:ext>
                </a:extLst>
              </p:cNvPr>
              <p:cNvSpPr/>
              <p:nvPr/>
            </p:nvSpPr>
            <p:spPr>
              <a:xfrm>
                <a:off x="2687541" y="2252273"/>
                <a:ext cx="3045349" cy="2810117"/>
              </a:xfrm>
              <a:custGeom>
                <a:avLst/>
                <a:gdLst>
                  <a:gd name="csX0" fmla="*/ 0 w 3045349"/>
                  <a:gd name="csY0" fmla="*/ 2454899 h 2876318"/>
                  <a:gd name="csX1" fmla="*/ 31805 w 3045349"/>
                  <a:gd name="csY1" fmla="*/ 2494656 h 2876318"/>
                  <a:gd name="csX2" fmla="*/ 47708 w 3045349"/>
                  <a:gd name="csY2" fmla="*/ 2518510 h 2876318"/>
                  <a:gd name="csX3" fmla="*/ 71562 w 3045349"/>
                  <a:gd name="csY3" fmla="*/ 2526461 h 2876318"/>
                  <a:gd name="csX4" fmla="*/ 127221 w 3045349"/>
                  <a:gd name="csY4" fmla="*/ 2574169 h 2876318"/>
                  <a:gd name="csX5" fmla="*/ 206734 w 3045349"/>
                  <a:gd name="csY5" fmla="*/ 2637779 h 2876318"/>
                  <a:gd name="csX6" fmla="*/ 246490 w 3045349"/>
                  <a:gd name="csY6" fmla="*/ 2661633 h 2876318"/>
                  <a:gd name="csX7" fmla="*/ 278296 w 3045349"/>
                  <a:gd name="csY7" fmla="*/ 2677536 h 2876318"/>
                  <a:gd name="csX8" fmla="*/ 310101 w 3045349"/>
                  <a:gd name="csY8" fmla="*/ 2701390 h 2876318"/>
                  <a:gd name="csX9" fmla="*/ 373711 w 3045349"/>
                  <a:gd name="csY9" fmla="*/ 2733195 h 2876318"/>
                  <a:gd name="csX10" fmla="*/ 429370 w 3045349"/>
                  <a:gd name="csY10" fmla="*/ 2765000 h 2876318"/>
                  <a:gd name="csX11" fmla="*/ 532737 w 3045349"/>
                  <a:gd name="csY11" fmla="*/ 2804757 h 2876318"/>
                  <a:gd name="csX12" fmla="*/ 596348 w 3045349"/>
                  <a:gd name="csY12" fmla="*/ 2836562 h 2876318"/>
                  <a:gd name="csX13" fmla="*/ 659958 w 3045349"/>
                  <a:gd name="csY13" fmla="*/ 2852464 h 2876318"/>
                  <a:gd name="csX14" fmla="*/ 914400 w 3045349"/>
                  <a:gd name="csY14" fmla="*/ 2876318 h 2876318"/>
                  <a:gd name="csX15" fmla="*/ 1121134 w 3045349"/>
                  <a:gd name="csY15" fmla="*/ 2852464 h 2876318"/>
                  <a:gd name="csX16" fmla="*/ 1288111 w 3045349"/>
                  <a:gd name="csY16" fmla="*/ 2780903 h 2876318"/>
                  <a:gd name="csX17" fmla="*/ 1431235 w 3045349"/>
                  <a:gd name="csY17" fmla="*/ 2709341 h 2876318"/>
                  <a:gd name="csX18" fmla="*/ 1478942 w 3045349"/>
                  <a:gd name="csY18" fmla="*/ 2661633 h 2876318"/>
                  <a:gd name="csX19" fmla="*/ 1630017 w 3045349"/>
                  <a:gd name="csY19" fmla="*/ 2470802 h 2876318"/>
                  <a:gd name="csX20" fmla="*/ 1733384 w 3045349"/>
                  <a:gd name="csY20" fmla="*/ 2208409 h 2876318"/>
                  <a:gd name="csX21" fmla="*/ 1733384 w 3045349"/>
                  <a:gd name="csY21" fmla="*/ 1946016 h 2876318"/>
                  <a:gd name="csX22" fmla="*/ 1709530 w 3045349"/>
                  <a:gd name="csY22" fmla="*/ 1858551 h 2876318"/>
                  <a:gd name="csX23" fmla="*/ 1661822 w 3045349"/>
                  <a:gd name="csY23" fmla="*/ 1715428 h 2876318"/>
                  <a:gd name="csX24" fmla="*/ 1614115 w 3045349"/>
                  <a:gd name="csY24" fmla="*/ 1556402 h 2876318"/>
                  <a:gd name="csX25" fmla="*/ 1534602 w 3045349"/>
                  <a:gd name="csY25" fmla="*/ 1413278 h 2876318"/>
                  <a:gd name="csX26" fmla="*/ 1502796 w 3045349"/>
                  <a:gd name="csY26" fmla="*/ 1349668 h 2876318"/>
                  <a:gd name="csX27" fmla="*/ 1399429 w 3045349"/>
                  <a:gd name="csY27" fmla="*/ 1166788 h 2876318"/>
                  <a:gd name="csX28" fmla="*/ 1351722 w 3045349"/>
                  <a:gd name="csY28" fmla="*/ 1023664 h 2876318"/>
                  <a:gd name="csX29" fmla="*/ 1327868 w 3045349"/>
                  <a:gd name="csY29" fmla="*/ 952103 h 2876318"/>
                  <a:gd name="csX30" fmla="*/ 1343770 w 3045349"/>
                  <a:gd name="csY30" fmla="*/ 673807 h 2876318"/>
                  <a:gd name="csX31" fmla="*/ 1367624 w 3045349"/>
                  <a:gd name="csY31" fmla="*/ 610197 h 2876318"/>
                  <a:gd name="csX32" fmla="*/ 1478942 w 3045349"/>
                  <a:gd name="csY32" fmla="*/ 475024 h 2876318"/>
                  <a:gd name="csX33" fmla="*/ 1526650 w 3045349"/>
                  <a:gd name="csY33" fmla="*/ 403463 h 2876318"/>
                  <a:gd name="csX34" fmla="*/ 1630017 w 3045349"/>
                  <a:gd name="csY34" fmla="*/ 315998 h 2876318"/>
                  <a:gd name="csX35" fmla="*/ 1693628 w 3045349"/>
                  <a:gd name="csY35" fmla="*/ 252388 h 2876318"/>
                  <a:gd name="csX36" fmla="*/ 1836751 w 3045349"/>
                  <a:gd name="csY36" fmla="*/ 164924 h 2876318"/>
                  <a:gd name="csX37" fmla="*/ 1948069 w 3045349"/>
                  <a:gd name="csY37" fmla="*/ 93362 h 2876318"/>
                  <a:gd name="csX38" fmla="*/ 2138901 w 3045349"/>
                  <a:gd name="csY38" fmla="*/ 45654 h 2876318"/>
                  <a:gd name="csX39" fmla="*/ 2337683 w 3045349"/>
                  <a:gd name="csY39" fmla="*/ 21800 h 2876318"/>
                  <a:gd name="csX40" fmla="*/ 2488758 w 3045349"/>
                  <a:gd name="csY40" fmla="*/ 13849 h 2876318"/>
                  <a:gd name="csX41" fmla="*/ 2862469 w 3045349"/>
                  <a:gd name="csY41" fmla="*/ 13849 h 2876318"/>
                  <a:gd name="csX42" fmla="*/ 2981739 w 3045349"/>
                  <a:gd name="csY42" fmla="*/ 45654 h 2876318"/>
                  <a:gd name="csX43" fmla="*/ 3045349 w 3045349"/>
                  <a:gd name="csY43" fmla="*/ 69508 h 28763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</a:cxnLst>
                <a:rect l="l" t="t" r="r" b="b"/>
                <a:pathLst>
                  <a:path w="3045349" h="2876318">
                    <a:moveTo>
                      <a:pt x="0" y="2454899"/>
                    </a:moveTo>
                    <a:cubicBezTo>
                      <a:pt x="10602" y="2468151"/>
                      <a:pt x="21622" y="2481079"/>
                      <a:pt x="31805" y="2494656"/>
                    </a:cubicBezTo>
                    <a:cubicBezTo>
                      <a:pt x="37539" y="2502301"/>
                      <a:pt x="40246" y="2512540"/>
                      <a:pt x="47708" y="2518510"/>
                    </a:cubicBezTo>
                    <a:cubicBezTo>
                      <a:pt x="54253" y="2523746"/>
                      <a:pt x="63611" y="2523811"/>
                      <a:pt x="71562" y="2526461"/>
                    </a:cubicBezTo>
                    <a:cubicBezTo>
                      <a:pt x="160673" y="2637849"/>
                      <a:pt x="61551" y="2528705"/>
                      <a:pt x="127221" y="2574169"/>
                    </a:cubicBezTo>
                    <a:cubicBezTo>
                      <a:pt x="155128" y="2593489"/>
                      <a:pt x="177629" y="2620316"/>
                      <a:pt x="206734" y="2637779"/>
                    </a:cubicBezTo>
                    <a:cubicBezTo>
                      <a:pt x="219986" y="2645730"/>
                      <a:pt x="232980" y="2654128"/>
                      <a:pt x="246490" y="2661633"/>
                    </a:cubicBezTo>
                    <a:cubicBezTo>
                      <a:pt x="256852" y="2667390"/>
                      <a:pt x="268244" y="2671254"/>
                      <a:pt x="278296" y="2677536"/>
                    </a:cubicBezTo>
                    <a:cubicBezTo>
                      <a:pt x="289534" y="2684560"/>
                      <a:pt x="298654" y="2694713"/>
                      <a:pt x="310101" y="2701390"/>
                    </a:cubicBezTo>
                    <a:cubicBezTo>
                      <a:pt x="330578" y="2713335"/>
                      <a:pt x="352794" y="2722039"/>
                      <a:pt x="373711" y="2733195"/>
                    </a:cubicBezTo>
                    <a:cubicBezTo>
                      <a:pt x="392565" y="2743251"/>
                      <a:pt x="409884" y="2756231"/>
                      <a:pt x="429370" y="2765000"/>
                    </a:cubicBezTo>
                    <a:cubicBezTo>
                      <a:pt x="463035" y="2780149"/>
                      <a:pt x="499718" y="2788248"/>
                      <a:pt x="532737" y="2804757"/>
                    </a:cubicBezTo>
                    <a:cubicBezTo>
                      <a:pt x="553941" y="2815359"/>
                      <a:pt x="574151" y="2828238"/>
                      <a:pt x="596348" y="2836562"/>
                    </a:cubicBezTo>
                    <a:cubicBezTo>
                      <a:pt x="616812" y="2844236"/>
                      <a:pt x="638488" y="2848375"/>
                      <a:pt x="659958" y="2852464"/>
                    </a:cubicBezTo>
                    <a:cubicBezTo>
                      <a:pt x="772459" y="2873893"/>
                      <a:pt x="787397" y="2869634"/>
                      <a:pt x="914400" y="2876318"/>
                    </a:cubicBezTo>
                    <a:cubicBezTo>
                      <a:pt x="983311" y="2868367"/>
                      <a:pt x="1052975" y="2865359"/>
                      <a:pt x="1121134" y="2852464"/>
                    </a:cubicBezTo>
                    <a:cubicBezTo>
                      <a:pt x="1180843" y="2841168"/>
                      <a:pt x="1233964" y="2805269"/>
                      <a:pt x="1288111" y="2780903"/>
                    </a:cubicBezTo>
                    <a:cubicBezTo>
                      <a:pt x="1358137" y="2749391"/>
                      <a:pt x="1372061" y="2755834"/>
                      <a:pt x="1431235" y="2709341"/>
                    </a:cubicBezTo>
                    <a:cubicBezTo>
                      <a:pt x="1448919" y="2695446"/>
                      <a:pt x="1463561" y="2678040"/>
                      <a:pt x="1478942" y="2661633"/>
                    </a:cubicBezTo>
                    <a:cubicBezTo>
                      <a:pt x="1534843" y="2602004"/>
                      <a:pt x="1588815" y="2542364"/>
                      <a:pt x="1630017" y="2470802"/>
                    </a:cubicBezTo>
                    <a:cubicBezTo>
                      <a:pt x="1699402" y="2350291"/>
                      <a:pt x="1699220" y="2327984"/>
                      <a:pt x="1733384" y="2208409"/>
                    </a:cubicBezTo>
                    <a:cubicBezTo>
                      <a:pt x="1742438" y="2099766"/>
                      <a:pt x="1749009" y="2071016"/>
                      <a:pt x="1733384" y="1946016"/>
                    </a:cubicBezTo>
                    <a:cubicBezTo>
                      <a:pt x="1729636" y="1916030"/>
                      <a:pt x="1716227" y="1888019"/>
                      <a:pt x="1709530" y="1858551"/>
                    </a:cubicBezTo>
                    <a:cubicBezTo>
                      <a:pt x="1681618" y="1735734"/>
                      <a:pt x="1714235" y="1807148"/>
                      <a:pt x="1661822" y="1715428"/>
                    </a:cubicBezTo>
                    <a:cubicBezTo>
                      <a:pt x="1654666" y="1689190"/>
                      <a:pt x="1628127" y="1585505"/>
                      <a:pt x="1614115" y="1556402"/>
                    </a:cubicBezTo>
                    <a:cubicBezTo>
                      <a:pt x="1590439" y="1507229"/>
                      <a:pt x="1559010" y="1462092"/>
                      <a:pt x="1534602" y="1413278"/>
                    </a:cubicBezTo>
                    <a:cubicBezTo>
                      <a:pt x="1524000" y="1392075"/>
                      <a:pt x="1514379" y="1370352"/>
                      <a:pt x="1502796" y="1349668"/>
                    </a:cubicBezTo>
                    <a:cubicBezTo>
                      <a:pt x="1455116" y="1264526"/>
                      <a:pt x="1432768" y="1239023"/>
                      <a:pt x="1399429" y="1166788"/>
                    </a:cubicBezTo>
                    <a:cubicBezTo>
                      <a:pt x="1363215" y="1088324"/>
                      <a:pt x="1381571" y="1123160"/>
                      <a:pt x="1351722" y="1023664"/>
                    </a:cubicBezTo>
                    <a:cubicBezTo>
                      <a:pt x="1344497" y="999580"/>
                      <a:pt x="1335819" y="975957"/>
                      <a:pt x="1327868" y="952103"/>
                    </a:cubicBezTo>
                    <a:cubicBezTo>
                      <a:pt x="1312766" y="831293"/>
                      <a:pt x="1311555" y="861726"/>
                      <a:pt x="1343770" y="673807"/>
                    </a:cubicBezTo>
                    <a:cubicBezTo>
                      <a:pt x="1347596" y="651487"/>
                      <a:pt x="1356626" y="629992"/>
                      <a:pt x="1367624" y="610197"/>
                    </a:cubicBezTo>
                    <a:cubicBezTo>
                      <a:pt x="1431450" y="495311"/>
                      <a:pt x="1405986" y="564816"/>
                      <a:pt x="1478942" y="475024"/>
                    </a:cubicBezTo>
                    <a:cubicBezTo>
                      <a:pt x="1497020" y="452774"/>
                      <a:pt x="1508572" y="425713"/>
                      <a:pt x="1526650" y="403463"/>
                    </a:cubicBezTo>
                    <a:cubicBezTo>
                      <a:pt x="1601764" y="311016"/>
                      <a:pt x="1556151" y="379312"/>
                      <a:pt x="1630017" y="315998"/>
                    </a:cubicBezTo>
                    <a:cubicBezTo>
                      <a:pt x="1652784" y="296483"/>
                      <a:pt x="1670481" y="271450"/>
                      <a:pt x="1693628" y="252388"/>
                    </a:cubicBezTo>
                    <a:cubicBezTo>
                      <a:pt x="1748930" y="206845"/>
                      <a:pt x="1777215" y="202134"/>
                      <a:pt x="1836751" y="164924"/>
                    </a:cubicBezTo>
                    <a:cubicBezTo>
                      <a:pt x="1880106" y="137827"/>
                      <a:pt x="1900442" y="112973"/>
                      <a:pt x="1948069" y="93362"/>
                    </a:cubicBezTo>
                    <a:cubicBezTo>
                      <a:pt x="1991495" y="75481"/>
                      <a:pt x="2099863" y="52160"/>
                      <a:pt x="2138901" y="45654"/>
                    </a:cubicBezTo>
                    <a:cubicBezTo>
                      <a:pt x="2139259" y="45594"/>
                      <a:pt x="2308265" y="23901"/>
                      <a:pt x="2337683" y="21800"/>
                    </a:cubicBezTo>
                    <a:cubicBezTo>
                      <a:pt x="2387983" y="18207"/>
                      <a:pt x="2438400" y="16499"/>
                      <a:pt x="2488758" y="13849"/>
                    </a:cubicBezTo>
                    <a:cubicBezTo>
                      <a:pt x="2634733" y="-2372"/>
                      <a:pt x="2644304" y="-6733"/>
                      <a:pt x="2862469" y="13849"/>
                    </a:cubicBezTo>
                    <a:cubicBezTo>
                      <a:pt x="2903433" y="17714"/>
                      <a:pt x="2942705" y="32642"/>
                      <a:pt x="2981739" y="45654"/>
                    </a:cubicBezTo>
                    <a:cubicBezTo>
                      <a:pt x="3035069" y="63431"/>
                      <a:pt x="3014454" y="54060"/>
                      <a:pt x="3045349" y="69508"/>
                    </a:cubicBezTo>
                  </a:path>
                </a:pathLst>
              </a:custGeom>
              <a:ln w="101600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pic>
          <p:nvPicPr>
            <p:cNvPr id="67" name="Picture 8" descr="Sound PNG Transparent Images">
              <a:extLst>
                <a:ext uri="{FF2B5EF4-FFF2-40B4-BE49-F238E27FC236}">
                  <a16:creationId xmlns:a16="http://schemas.microsoft.com/office/drawing/2014/main" id="{E4E79733-7519-9D1B-CACF-29E15161762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58608" y="2831113"/>
              <a:ext cx="1476505" cy="14765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60985173-BCAA-706B-CF53-65F6293BA17D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Filtrage Interne des micros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B068F1F-6B40-C837-A4CF-4DF09C222333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4" name="Arrow: Notched Right 3">
              <a:extLst>
                <a:ext uri="{FF2B5EF4-FFF2-40B4-BE49-F238E27FC236}">
                  <a16:creationId xmlns:a16="http://schemas.microsoft.com/office/drawing/2014/main" id="{E2561626-2C98-09F1-0E0B-471B36884DBF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8" name="Arrow: Notched Right 7">
              <a:extLst>
                <a:ext uri="{FF2B5EF4-FFF2-40B4-BE49-F238E27FC236}">
                  <a16:creationId xmlns:a16="http://schemas.microsoft.com/office/drawing/2014/main" id="{B0B4E057-5976-E51F-1FE8-B8FF1C1F4F4B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9" name="Arrow: Notched Right 8">
              <a:extLst>
                <a:ext uri="{FF2B5EF4-FFF2-40B4-BE49-F238E27FC236}">
                  <a16:creationId xmlns:a16="http://schemas.microsoft.com/office/drawing/2014/main" id="{C1C3D24C-A82B-568A-7EF8-53F39B8B0C62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B9A8CB3-AEC5-4C1A-1777-B554650A865F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6E98CEA6-4380-542D-75AA-71E77BDC1D9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52724399-3584-9C0A-D693-3FB61CB10466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699432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C3876-19B1-E4B6-716D-FD5FA24BE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4" descr="Télécharger LTspice pour Windows, Mac, Web - Telecharger.com">
            <a:extLst>
              <a:ext uri="{FF2B5EF4-FFF2-40B4-BE49-F238E27FC236}">
                <a16:creationId xmlns:a16="http://schemas.microsoft.com/office/drawing/2014/main" id="{C70D36F4-D5FF-945D-E39A-606CC8E483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57623" y="591089"/>
            <a:ext cx="756000" cy="7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ECB0D33-C7A4-8A73-9AEE-71A2978269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02EC264-1B15-1E87-988D-BD7E3B668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986005C-A574-5528-5018-7A91E88D4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10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1E79BA3-AB92-32BA-3883-6CA7CE319C5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9205F42-26E0-2632-97A3-AB63C2B354A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A0F545D-50D5-FBF2-9B53-ED2282786BF3}"/>
                  </a:ext>
                </a:extLst>
              </p:cNvPr>
              <p:cNvSpPr txBox="1"/>
              <p:nvPr/>
            </p:nvSpPr>
            <p:spPr>
              <a:xfrm>
                <a:off x="4234905" y="5052548"/>
                <a:ext cx="4654783" cy="688073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fr-FR" sz="105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05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>
                            <m:fPr>
                              <m:ctrl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den>
                          </m:f>
                        </m:num>
                        <m:den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 + </m:t>
                          </m:r>
                          <m:f>
                            <m:fPr>
                              <m:ctrl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</m:t>
                              </m:r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+ </m:t>
                              </m:r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</m:t>
                              </m:r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</m:t>
                              </m:r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den>
                          </m:f>
                          <m:r>
                            <m:rPr>
                              <m:sty m:val="p"/>
                            </m:r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</m:t>
                          </m:r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+ </m:t>
                          </m:r>
                          <m:f>
                            <m:fPr>
                              <m:ctrl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LC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den>
                          </m:f>
                          <m:r>
                            <m:rPr>
                              <m:sty m:val="p"/>
                            </m:r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</m:t>
                          </m:r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  <m:r>
                        <a:rPr lang="fr-FR" sz="105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fr-FR" sz="105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A0F545D-50D5-FBF2-9B53-ED2282786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4905" y="5052548"/>
                <a:ext cx="4654783" cy="68807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2D2AAE83-25D6-5C8B-6786-A77DE700832E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Simulation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B5CF74A-3235-334E-632B-CC390B45C369}"/>
              </a:ext>
            </a:extLst>
          </p:cNvPr>
          <p:cNvSpPr/>
          <p:nvPr/>
        </p:nvSpPr>
        <p:spPr>
          <a:xfrm flipV="1">
            <a:off x="7457440" y="3112184"/>
            <a:ext cx="348832" cy="1895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DF9204D-E32E-5B95-5640-B88E7B17169B}"/>
              </a:ext>
            </a:extLst>
          </p:cNvPr>
          <p:cNvSpPr/>
          <p:nvPr/>
        </p:nvSpPr>
        <p:spPr>
          <a:xfrm flipV="1">
            <a:off x="8306560" y="3163393"/>
            <a:ext cx="399222" cy="1895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EB75D12-6B9E-4593-678A-EE6E88218F7F}"/>
              </a:ext>
            </a:extLst>
          </p:cNvPr>
          <p:cNvSpPr/>
          <p:nvPr/>
        </p:nvSpPr>
        <p:spPr>
          <a:xfrm flipV="1">
            <a:off x="6182131" y="4000962"/>
            <a:ext cx="399222" cy="1895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955C530-9B63-4FD8-E152-A4133E03F058}"/>
              </a:ext>
            </a:extLst>
          </p:cNvPr>
          <p:cNvSpPr txBox="1"/>
          <p:nvPr/>
        </p:nvSpPr>
        <p:spPr>
          <a:xfrm>
            <a:off x="4407430" y="5783476"/>
            <a:ext cx="43478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b="1" dirty="0"/>
              <a:t>Passe bas 2</a:t>
            </a:r>
            <a:r>
              <a:rPr lang="fr-FR" sz="1200" b="1" baseline="30000" dirty="0"/>
              <a:t>nd</a:t>
            </a:r>
            <a:r>
              <a:rPr lang="fr-FR" sz="1200" b="1" dirty="0"/>
              <a:t> Ordre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4C52100-2078-7084-F07D-5ED9A35E972E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[5]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0A94FD46-4DBB-7AE8-02E4-2E08C2E89131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29" name="Arrow: Notched Right 28">
              <a:extLst>
                <a:ext uri="{FF2B5EF4-FFF2-40B4-BE49-F238E27FC236}">
                  <a16:creationId xmlns:a16="http://schemas.microsoft.com/office/drawing/2014/main" id="{30A4728F-D819-2CDE-E57D-393578E9C087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30" name="Arrow: Notched Right 29">
              <a:extLst>
                <a:ext uri="{FF2B5EF4-FFF2-40B4-BE49-F238E27FC236}">
                  <a16:creationId xmlns:a16="http://schemas.microsoft.com/office/drawing/2014/main" id="{AA1DC1C9-D3A2-7904-9F92-B08B357C886F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37" name="Arrow: Notched Right 36">
              <a:extLst>
                <a:ext uri="{FF2B5EF4-FFF2-40B4-BE49-F238E27FC236}">
                  <a16:creationId xmlns:a16="http://schemas.microsoft.com/office/drawing/2014/main" id="{5CA1BD4F-D0AB-2830-EE36-AC49BF65B3D9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B8DE0F6-F3D3-60E9-AC95-080A1CFD27A0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ADAFFA78-1391-21A7-5466-4FF63E94793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Footer Placeholder 2">
              <a:extLst>
                <a:ext uri="{FF2B5EF4-FFF2-40B4-BE49-F238E27FC236}">
                  <a16:creationId xmlns:a16="http://schemas.microsoft.com/office/drawing/2014/main" id="{681DBAC5-62E8-3152-7554-3CBF30156F3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3B7C302-CEAE-E02C-8A9F-5586C3510386}"/>
                  </a:ext>
                </a:extLst>
              </p:cNvPr>
              <p:cNvSpPr/>
              <p:nvPr/>
            </p:nvSpPr>
            <p:spPr>
              <a:xfrm>
                <a:off x="1054903" y="1110401"/>
                <a:ext cx="2878491" cy="4960615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u="sng" dirty="0">
                    <a:solidFill>
                      <a:schemeClr val="tx1"/>
                    </a:solidFill>
                  </a:rPr>
                  <a:t>Modèle</a:t>
                </a:r>
              </a:p>
              <a:p>
                <a:pPr algn="ctr"/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Force électromotrice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FEM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Tension induite dans le micro par la vibration de la corde</a:t>
                </a:r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Inductance série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L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Inductance de la bobine du micro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Resistance série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Resistance en CC du micro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Condensateur parallèle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Capacité interne du micro</a:t>
                </a:r>
              </a:p>
              <a:p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Resistance parallèle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Resistance due aux courants de Foucault</a:t>
                </a:r>
              </a:p>
              <a:p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Resistance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amp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Resistance d’entrée d’un amplificateur</a:t>
                </a:r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3B7C302-CEAE-E02C-8A9F-5586C35103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903" y="1110401"/>
                <a:ext cx="2878491" cy="496061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3C03D690-8EC1-39C0-78A9-76F7F54EC971}"/>
              </a:ext>
            </a:extLst>
          </p:cNvPr>
          <p:cNvGrpSpPr/>
          <p:nvPr/>
        </p:nvGrpSpPr>
        <p:grpSpPr>
          <a:xfrm>
            <a:off x="4248829" y="1363393"/>
            <a:ext cx="4626939" cy="3600000"/>
            <a:chOff x="1054903" y="1363393"/>
            <a:chExt cx="4626939" cy="360000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15F175ED-75BD-0594-4496-836405341042}"/>
                </a:ext>
              </a:extLst>
            </p:cNvPr>
            <p:cNvGrpSpPr/>
            <p:nvPr/>
          </p:nvGrpSpPr>
          <p:grpSpPr>
            <a:xfrm>
              <a:off x="1054903" y="1363393"/>
              <a:ext cx="4626939" cy="3600000"/>
              <a:chOff x="1054904" y="1200155"/>
              <a:chExt cx="4927617" cy="3601072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D2C8B805-5A00-DF26-9274-1372E1E8BC4E}"/>
                  </a:ext>
                </a:extLst>
              </p:cNvPr>
              <p:cNvPicPr>
                <a:picLocks/>
              </p:cNvPicPr>
              <p:nvPr/>
            </p:nvPicPr>
            <p:blipFill>
              <a:blip r:embed="rId6">
                <a:biLevel thresh="75000"/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1054904" y="1200155"/>
                <a:ext cx="4927617" cy="3601072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94FF6692-02DB-2BAD-9736-3F7A9C46E824}"/>
                  </a:ext>
                </a:extLst>
              </p:cNvPr>
              <p:cNvSpPr/>
              <p:nvPr/>
            </p:nvSpPr>
            <p:spPr>
              <a:xfrm>
                <a:off x="1486014" y="2104150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C733BCE-A9AF-5C2C-0150-DCF00D160A00}"/>
                  </a:ext>
                </a:extLst>
              </p:cNvPr>
              <p:cNvSpPr/>
              <p:nvPr/>
            </p:nvSpPr>
            <p:spPr>
              <a:xfrm>
                <a:off x="2555070" y="3033420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4DA97779-86EB-D4C5-0616-D79902CA7A03}"/>
                  </a:ext>
                </a:extLst>
              </p:cNvPr>
              <p:cNvSpPr/>
              <p:nvPr/>
            </p:nvSpPr>
            <p:spPr>
              <a:xfrm>
                <a:off x="3715970" y="3073533"/>
                <a:ext cx="703406" cy="24014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A666622-D887-C02B-48A3-3C066C5B2CED}"/>
                  </a:ext>
                </a:extLst>
              </p:cNvPr>
              <p:cNvSpPr/>
              <p:nvPr/>
            </p:nvSpPr>
            <p:spPr>
              <a:xfrm>
                <a:off x="5397029" y="3091033"/>
                <a:ext cx="527521" cy="20117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0C13F4F8-18A5-4057-201D-4D1070B2E781}"/>
                  </a:ext>
                </a:extLst>
              </p:cNvPr>
              <p:cNvSpPr/>
              <p:nvPr/>
            </p:nvSpPr>
            <p:spPr>
              <a:xfrm>
                <a:off x="1468417" y="3119201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3943E8A-1FC6-FC7C-384C-53948D2FB57F}"/>
                </a:ext>
              </a:extLst>
            </p:cNvPr>
            <p:cNvCxnSpPr/>
            <p:nvPr/>
          </p:nvCxnSpPr>
          <p:spPr>
            <a:xfrm flipV="1">
              <a:off x="1601848" y="3920464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6806677D-0818-3210-9991-80EAAFAEA943}"/>
                    </a:ext>
                  </a:extLst>
                </p:cNvPr>
                <p:cNvSpPr txBox="1"/>
                <p:nvPr/>
              </p:nvSpPr>
              <p:spPr>
                <a:xfrm>
                  <a:off x="1657934" y="4069558"/>
                  <a:ext cx="31656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6806677D-0818-3210-9991-80EAAFAEA9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7934" y="4069558"/>
                  <a:ext cx="316562" cy="184666"/>
                </a:xfrm>
                <a:prstGeom prst="rect">
                  <a:avLst/>
                </a:prstGeom>
                <a:blipFill>
                  <a:blip r:embed="rId8"/>
                  <a:stretch>
                    <a:fillRect l="-5769" t="-3333" r="-15385" b="-4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02D71FB5-B582-D158-98B2-AFA7CCD504A8}"/>
                </a:ext>
              </a:extLst>
            </p:cNvPr>
            <p:cNvCxnSpPr/>
            <p:nvPr/>
          </p:nvCxnSpPr>
          <p:spPr>
            <a:xfrm flipV="1">
              <a:off x="4752281" y="2872673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FBEA564-E231-D34A-1E71-EDA0435E746B}"/>
                    </a:ext>
                  </a:extLst>
                </p:cNvPr>
                <p:cNvSpPr txBox="1"/>
                <p:nvPr/>
              </p:nvSpPr>
              <p:spPr>
                <a:xfrm>
                  <a:off x="4413719" y="3036680"/>
                  <a:ext cx="32117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FBEA564-E231-D34A-1E71-EDA0435E74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13719" y="3036680"/>
                  <a:ext cx="321178" cy="184666"/>
                </a:xfrm>
                <a:prstGeom prst="rect">
                  <a:avLst/>
                </a:prstGeom>
                <a:blipFill>
                  <a:blip r:embed="rId9"/>
                  <a:stretch>
                    <a:fillRect l="-5660" r="-13208" b="-4333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5812AC73-6CEC-C446-2C29-D16FE96678A7}"/>
              </a:ext>
            </a:extLst>
          </p:cNvPr>
          <p:cNvSpPr txBox="1"/>
          <p:nvPr/>
        </p:nvSpPr>
        <p:spPr>
          <a:xfrm>
            <a:off x="4248828" y="4675115"/>
            <a:ext cx="4626939" cy="2616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Schéma électrique équivalent d’un micro</a:t>
            </a:r>
          </a:p>
        </p:txBody>
      </p:sp>
    </p:spTree>
    <p:extLst>
      <p:ext uri="{BB962C8B-B14F-4D97-AF65-F5344CB8AC3E}">
        <p14:creationId xmlns:p14="http://schemas.microsoft.com/office/powerpoint/2010/main" val="17554920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5095B-CBBF-28A8-4ECB-2036D2BA3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C1C5097-5663-EE26-5A50-7D8420172B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4815ABF-6C67-8729-C6B2-8E28EC306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B1C5B82-F24C-54E1-B2B4-47EDF43AD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11</a:t>
            </a:fld>
            <a:endParaRPr lang="fr-FR" sz="1200" b="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3C174FD-251E-6617-96DC-59EDC4D1886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C0E1E9-9630-1795-4D01-63EDE489C412}"/>
              </a:ext>
            </a:extLst>
          </p:cNvPr>
          <p:cNvSpPr/>
          <p:nvPr/>
        </p:nvSpPr>
        <p:spPr>
          <a:xfrm>
            <a:off x="6453713" y="1358002"/>
            <a:ext cx="2485046" cy="4118126"/>
          </a:xfrm>
          <a:prstGeom prst="rect">
            <a:avLst/>
          </a:prstGeom>
          <a:ln w="38100">
            <a:solidFill>
              <a:schemeClr val="accent6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Protocole</a:t>
            </a:r>
          </a:p>
          <a:p>
            <a:endParaRPr lang="fr-FR" sz="1600" b="1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chemeClr val="tx1"/>
                </a:solidFill>
              </a:rPr>
              <a:t>Déterminer expérimentalement l’impédance du micro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0F540E-DE24-A629-17F9-FED8C4C38554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Expérimentation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5A8F708-C88A-E8E8-FD69-804BC786E135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4" name="Arrow: Notched Right 3">
              <a:extLst>
                <a:ext uri="{FF2B5EF4-FFF2-40B4-BE49-F238E27FC236}">
                  <a16:creationId xmlns:a16="http://schemas.microsoft.com/office/drawing/2014/main" id="{6F727A3E-660E-F523-F72F-6F1015FC2AF1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8" name="Arrow: Notched Right 7">
              <a:extLst>
                <a:ext uri="{FF2B5EF4-FFF2-40B4-BE49-F238E27FC236}">
                  <a16:creationId xmlns:a16="http://schemas.microsoft.com/office/drawing/2014/main" id="{80194B9F-39BB-A656-F85A-D39BF0002FB9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9" name="Arrow: Notched Right 8">
              <a:extLst>
                <a:ext uri="{FF2B5EF4-FFF2-40B4-BE49-F238E27FC236}">
                  <a16:creationId xmlns:a16="http://schemas.microsoft.com/office/drawing/2014/main" id="{139A8F48-9A36-D977-2F7B-3EA1EF4F2B75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3840323-D421-9975-E022-715C81AAE9FB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3A59CBEC-6A66-3C03-69BA-0B6C7EDE5543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36A16625-5967-D680-5029-0BF57049FBA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089846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018B5-54AA-3079-566C-736CFE787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35CE00B-FC79-81FF-86A6-285CABA510BD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C71C571-0E5F-3D4C-EAFA-E4D0E6972F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AFE199B-3EBF-D69B-C847-F3F718E938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E8E22F3-36AA-64A0-F7DA-405F92FD5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14462E3A-2F72-4E26-BAEE-59263817CA39}" type="slidenum">
              <a:rPr lang="fr-FR" sz="1200" b="1" smtClean="0"/>
              <a:t>12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9DDD954-4CB1-5C4D-D33E-CFAF6AFEA11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pic>
        <p:nvPicPr>
          <p:cNvPr id="14" name="Picture 2" descr="Python Logo PNG Transparent – Brands Logos">
            <a:extLst>
              <a:ext uri="{FF2B5EF4-FFF2-40B4-BE49-F238E27FC236}">
                <a16:creationId xmlns:a16="http://schemas.microsoft.com/office/drawing/2014/main" id="{F1C82144-927B-4AF8-0078-296BB4BDFC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56000" cy="7528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71496738-E437-E224-56B5-217CBA7F5329}"/>
                  </a:ext>
                </a:extLst>
              </p:cNvPr>
              <p:cNvSpPr/>
              <p:nvPr/>
            </p:nvSpPr>
            <p:spPr>
              <a:xfrm>
                <a:off x="6122542" y="1396728"/>
                <a:ext cx="2878491" cy="2283357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u="sng" dirty="0">
                    <a:solidFill>
                      <a:schemeClr val="tx1"/>
                    </a:solidFill>
                  </a:rPr>
                  <a:t>Méthode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Déterminer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Observer la résistance en CC avec un multimètre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Determiner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L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,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Approximation numérique via une algorithme d’apprentissage IA : </a:t>
                </a:r>
                <a:r>
                  <a:rPr lang="fr-FR" sz="1400" dirty="0"/>
                  <a:t>Levenberg-Marquardt</a:t>
                </a:r>
              </a:p>
            </p:txBody>
          </p:sp>
        </mc:Choice>
        <mc:Fallback xmlns="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71496738-E437-E224-56B5-217CBA7F53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2542" y="1396728"/>
                <a:ext cx="2878491" cy="2283357"/>
              </a:xfrm>
              <a:prstGeom prst="rect">
                <a:avLst/>
              </a:prstGeom>
              <a:blipFill>
                <a:blip r:embed="rId4"/>
                <a:stretch>
                  <a:fillRect b="-262"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AA0507F6-1CAF-6D7E-A062-151372E24A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65440" y="1396727"/>
            <a:ext cx="4914598" cy="456553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C27B51E-DBAE-82DF-0B1C-79C88399FA78}"/>
              </a:ext>
            </a:extLst>
          </p:cNvPr>
          <p:cNvSpPr txBox="1"/>
          <p:nvPr/>
        </p:nvSpPr>
        <p:spPr>
          <a:xfrm>
            <a:off x="1065440" y="71107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ADA63D2-9CEB-AC0C-9B82-8E7C4C1BAC64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15" name="Arrow: Notched Right 14">
              <a:extLst>
                <a:ext uri="{FF2B5EF4-FFF2-40B4-BE49-F238E27FC236}">
                  <a16:creationId xmlns:a16="http://schemas.microsoft.com/office/drawing/2014/main" id="{24A28D03-1ACA-522A-A681-60E488EBA85F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17" name="Arrow: Notched Right 16">
              <a:extLst>
                <a:ext uri="{FF2B5EF4-FFF2-40B4-BE49-F238E27FC236}">
                  <a16:creationId xmlns:a16="http://schemas.microsoft.com/office/drawing/2014/main" id="{5285111C-3E06-E8E3-A492-DF582EA0CFEC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18" name="Arrow: Notched Right 17">
              <a:extLst>
                <a:ext uri="{FF2B5EF4-FFF2-40B4-BE49-F238E27FC236}">
                  <a16:creationId xmlns:a16="http://schemas.microsoft.com/office/drawing/2014/main" id="{65550AEA-7ED9-4550-941F-B72882F9AA58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631B521F-AFDC-D9C5-028E-C5CB3D8FDF44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794F355-A446-D356-7486-C332C08027A0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8D546518-E475-76BF-FDD7-AAAC59D808E5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83CF6CC7-C2A9-D2EB-0FC4-A98DAEFFDC33}"/>
              </a:ext>
            </a:extLst>
          </p:cNvPr>
          <p:cNvSpPr/>
          <p:nvPr/>
        </p:nvSpPr>
        <p:spPr>
          <a:xfrm>
            <a:off x="6122541" y="3781186"/>
            <a:ext cx="2878490" cy="2181076"/>
          </a:xfrm>
          <a:prstGeom prst="rect">
            <a:avLst/>
          </a:prstGeom>
          <a:ln w="38100">
            <a:solidFill>
              <a:schemeClr val="accent6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Mesures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DB194F1-0075-78A8-D900-8165D3AE9C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3587028"/>
              </p:ext>
            </p:extLst>
          </p:nvPr>
        </p:nvGraphicFramePr>
        <p:xfrm>
          <a:off x="6178279" y="4052869"/>
          <a:ext cx="2767013" cy="185420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790575">
                  <a:extLst>
                    <a:ext uri="{9D8B030D-6E8A-4147-A177-3AD203B41FA5}">
                      <a16:colId xmlns:a16="http://schemas.microsoft.com/office/drawing/2014/main" val="887859225"/>
                    </a:ext>
                  </a:extLst>
                </a:gridCol>
                <a:gridCol w="988219">
                  <a:extLst>
                    <a:ext uri="{9D8B030D-6E8A-4147-A177-3AD203B41FA5}">
                      <a16:colId xmlns:a16="http://schemas.microsoft.com/office/drawing/2014/main" val="2798946589"/>
                    </a:ext>
                  </a:extLst>
                </a:gridCol>
                <a:gridCol w="988219">
                  <a:extLst>
                    <a:ext uri="{9D8B030D-6E8A-4147-A177-3AD203B41FA5}">
                      <a16:colId xmlns:a16="http://schemas.microsoft.com/office/drawing/2014/main" val="38127954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9147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3850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4796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26339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69429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6C2966F-DA0E-A129-4604-4CAF4E34FA65}"/>
                  </a:ext>
                </a:extLst>
              </p:cNvPr>
              <p:cNvSpPr txBox="1"/>
              <p:nvPr/>
            </p:nvSpPr>
            <p:spPr>
              <a:xfrm>
                <a:off x="6190647" y="4467161"/>
                <a:ext cx="79765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kΩ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6C2966F-DA0E-A129-4604-4CAF4E34FA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0647" y="4467161"/>
                <a:ext cx="797654" cy="276999"/>
              </a:xfrm>
              <a:prstGeom prst="rect">
                <a:avLst/>
              </a:prstGeom>
              <a:blipFill>
                <a:blip r:embed="rId6"/>
                <a:stretch>
                  <a:fillRect l="-6154" t="-2222" r="-10769" b="-40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2F0483B-5D7F-BD8A-75FC-E3EF369CF5E4}"/>
                  </a:ext>
                </a:extLst>
              </p:cNvPr>
              <p:cNvSpPr txBox="1"/>
              <p:nvPr/>
            </p:nvSpPr>
            <p:spPr>
              <a:xfrm>
                <a:off x="6338008" y="4830320"/>
                <a:ext cx="5578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L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2F0483B-5D7F-BD8A-75FC-E3EF369CF5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8008" y="4830320"/>
                <a:ext cx="557845" cy="276999"/>
              </a:xfrm>
              <a:prstGeom prst="rect">
                <a:avLst/>
              </a:prstGeom>
              <a:blipFill>
                <a:blip r:embed="rId7"/>
                <a:stretch>
                  <a:fillRect l="-8791" r="-14286" b="-3913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756B1CA-1069-0FB7-1585-C66FE7279A00}"/>
                  </a:ext>
                </a:extLst>
              </p:cNvPr>
              <p:cNvSpPr txBox="1"/>
              <p:nvPr/>
            </p:nvSpPr>
            <p:spPr>
              <a:xfrm>
                <a:off x="6260859" y="5200274"/>
                <a:ext cx="6572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pF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756B1CA-1069-0FB7-1585-C66FE7279A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0859" y="5200274"/>
                <a:ext cx="657231" cy="276999"/>
              </a:xfrm>
              <a:prstGeom prst="rect">
                <a:avLst/>
              </a:prstGeom>
              <a:blipFill>
                <a:blip r:embed="rId8"/>
                <a:stretch>
                  <a:fillRect l="-6481" r="-12037" b="-3913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54E78-8366-A42C-287C-7D6E1E1C9F62}"/>
                  </a:ext>
                </a:extLst>
              </p:cNvPr>
              <p:cNvSpPr txBox="1"/>
              <p:nvPr/>
            </p:nvSpPr>
            <p:spPr>
              <a:xfrm>
                <a:off x="6178279" y="5570228"/>
                <a:ext cx="821700" cy="3016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p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kΩ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54E78-8366-A42C-287C-7D6E1E1C9F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8279" y="5570228"/>
                <a:ext cx="821700" cy="301686"/>
              </a:xfrm>
              <a:prstGeom prst="rect">
                <a:avLst/>
              </a:prstGeom>
              <a:blipFill>
                <a:blip r:embed="rId9"/>
                <a:stretch>
                  <a:fillRect l="-5185" t="-2041" r="-10370" b="-2857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BFEA2D9-79F1-7D11-1325-861A26FFAE88}"/>
                  </a:ext>
                </a:extLst>
              </p:cNvPr>
              <p:cNvSpPr txBox="1"/>
              <p:nvPr/>
            </p:nvSpPr>
            <p:spPr>
              <a:xfrm>
                <a:off x="7176878" y="4467161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5,30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BFEA2D9-79F1-7D11-1325-861A26FFAE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6878" y="4467161"/>
                <a:ext cx="496931" cy="276999"/>
              </a:xfrm>
              <a:prstGeom prst="rect">
                <a:avLst/>
              </a:prstGeom>
              <a:blipFill>
                <a:blip r:embed="rId10"/>
                <a:stretch>
                  <a:fillRect l="-9756" r="-10976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7D08778-1B73-0628-895B-B342F3B665CA}"/>
                  </a:ext>
                </a:extLst>
              </p:cNvPr>
              <p:cNvSpPr txBox="1"/>
              <p:nvPr/>
            </p:nvSpPr>
            <p:spPr>
              <a:xfrm>
                <a:off x="8201788" y="4472812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4,52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7D08778-1B73-0628-895B-B342F3B665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1788" y="4472812"/>
                <a:ext cx="496931" cy="276999"/>
              </a:xfrm>
              <a:prstGeom prst="rect">
                <a:avLst/>
              </a:prstGeom>
              <a:blipFill>
                <a:blip r:embed="rId11"/>
                <a:stretch>
                  <a:fillRect l="-8537" r="-10976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53456E5-E853-A4FE-EFAC-CC6B3ECCDCD2}"/>
                  </a:ext>
                </a:extLst>
              </p:cNvPr>
              <p:cNvSpPr txBox="1"/>
              <p:nvPr/>
            </p:nvSpPr>
            <p:spPr>
              <a:xfrm>
                <a:off x="7176877" y="4833071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3,75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53456E5-E853-A4FE-EFAC-CC6B3ECCDC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6877" y="4833071"/>
                <a:ext cx="496931" cy="276999"/>
              </a:xfrm>
              <a:prstGeom prst="rect">
                <a:avLst/>
              </a:prstGeom>
              <a:blipFill>
                <a:blip r:embed="rId12"/>
                <a:stretch>
                  <a:fillRect l="-8537" r="-10976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EC5D21F-FCF1-F74B-E5B5-F1A43ECCC887}"/>
                  </a:ext>
                </a:extLst>
              </p:cNvPr>
              <p:cNvSpPr txBox="1"/>
              <p:nvPr/>
            </p:nvSpPr>
            <p:spPr>
              <a:xfrm>
                <a:off x="7200921" y="5195680"/>
                <a:ext cx="44884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270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EC5D21F-FCF1-F74B-E5B5-F1A43ECCC8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0921" y="5195680"/>
                <a:ext cx="448841" cy="276999"/>
              </a:xfrm>
              <a:prstGeom prst="rect">
                <a:avLst/>
              </a:prstGeom>
              <a:blipFill>
                <a:blip r:embed="rId13"/>
                <a:stretch>
                  <a:fillRect l="-10811" r="-10811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DF28906-22A0-559E-7F1A-A74554E132D7}"/>
                  </a:ext>
                </a:extLst>
              </p:cNvPr>
              <p:cNvSpPr txBox="1"/>
              <p:nvPr/>
            </p:nvSpPr>
            <p:spPr>
              <a:xfrm>
                <a:off x="7112755" y="5589569"/>
                <a:ext cx="6251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305,8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DF28906-22A0-559E-7F1A-A74554E132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2755" y="5589569"/>
                <a:ext cx="625171" cy="276999"/>
              </a:xfrm>
              <a:prstGeom prst="rect">
                <a:avLst/>
              </a:prstGeom>
              <a:blipFill>
                <a:blip r:embed="rId14"/>
                <a:stretch>
                  <a:fillRect l="-7843" r="-8824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06A8249-5B4E-315E-0B47-E01977932166}"/>
                  </a:ext>
                </a:extLst>
              </p:cNvPr>
              <p:cNvSpPr txBox="1"/>
              <p:nvPr/>
            </p:nvSpPr>
            <p:spPr>
              <a:xfrm>
                <a:off x="8206291" y="4830319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2,50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06A8249-5B4E-315E-0B47-E019779321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6291" y="4830319"/>
                <a:ext cx="496931" cy="276999"/>
              </a:xfrm>
              <a:prstGeom prst="rect">
                <a:avLst/>
              </a:prstGeom>
              <a:blipFill>
                <a:blip r:embed="rId15"/>
                <a:stretch>
                  <a:fillRect l="-8537" r="-10976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D69FF50-C911-DA9C-9E7F-230E239FCA3E}"/>
                  </a:ext>
                </a:extLst>
              </p:cNvPr>
              <p:cNvSpPr txBox="1"/>
              <p:nvPr/>
            </p:nvSpPr>
            <p:spPr>
              <a:xfrm>
                <a:off x="8213743" y="5219114"/>
                <a:ext cx="44884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150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D69FF50-C911-DA9C-9E7F-230E239FCA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3743" y="5219114"/>
                <a:ext cx="448841" cy="276999"/>
              </a:xfrm>
              <a:prstGeom prst="rect">
                <a:avLst/>
              </a:prstGeom>
              <a:blipFill>
                <a:blip r:embed="rId16"/>
                <a:stretch>
                  <a:fillRect l="-12162" r="-10811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845B47F-AF8D-1C10-143E-2FABAB6625B1}"/>
                  </a:ext>
                </a:extLst>
              </p:cNvPr>
              <p:cNvSpPr txBox="1"/>
              <p:nvPr/>
            </p:nvSpPr>
            <p:spPr>
              <a:xfrm>
                <a:off x="8125577" y="5570228"/>
                <a:ext cx="6251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246,8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845B47F-AF8D-1C10-143E-2FABAB6625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5577" y="5570228"/>
                <a:ext cx="625171" cy="276999"/>
              </a:xfrm>
              <a:prstGeom prst="rect">
                <a:avLst/>
              </a:prstGeom>
              <a:blipFill>
                <a:blip r:embed="rId17"/>
                <a:stretch>
                  <a:fillRect l="-7843" r="-8824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Picture 31">
            <a:extLst>
              <a:ext uri="{FF2B5EF4-FFF2-40B4-BE49-F238E27FC236}">
                <a16:creationId xmlns:a16="http://schemas.microsoft.com/office/drawing/2014/main" id="{84EAD3AE-C225-14EF-269F-5B5AE150E4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7244857" y="4044999"/>
            <a:ext cx="451379" cy="371611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2">
            <a:extLst>
              <a:ext uri="{FF2B5EF4-FFF2-40B4-BE49-F238E27FC236}">
                <a16:creationId xmlns:a16="http://schemas.microsoft.com/office/drawing/2014/main" id="{605931B4-D82E-5BAF-958F-6B5A64B607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8183673" y="4052869"/>
            <a:ext cx="451379" cy="36246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23386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E2422-0593-98CE-0BC1-D9A0BE050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A3D31D4-FFA1-BFF2-889B-9A83090A38EA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F3249544-0A0A-C649-155C-A9E1F782D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447B49A-2FA1-BF12-2AB9-D3DFD2AAB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28BACC0-48BC-CC88-7B3A-B5A7AC62F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14462E3A-2F72-4E26-BAEE-59263817CA39}" type="slidenum">
              <a:rPr lang="fr-FR" sz="1200" b="1" smtClean="0"/>
              <a:t>13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6E554F1-44BD-8B7F-91BB-367D7780CA1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pic>
        <p:nvPicPr>
          <p:cNvPr id="14" name="Picture 2" descr="Python Logo PNG Transparent – Brands Logos">
            <a:extLst>
              <a:ext uri="{FF2B5EF4-FFF2-40B4-BE49-F238E27FC236}">
                <a16:creationId xmlns:a16="http://schemas.microsoft.com/office/drawing/2014/main" id="{C04A41E5-50B4-42D4-6FA7-4B417CDD42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56000" cy="7528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16947833-463C-EB44-5963-1AAF0DF2BF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65440" y="1398894"/>
            <a:ext cx="4914598" cy="471803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1D058C2-FA86-0CE6-1F22-D2B6A9ECC442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08C53F9-674F-FF39-483E-2E6227463819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19" name="Arrow: Notched Right 18">
              <a:extLst>
                <a:ext uri="{FF2B5EF4-FFF2-40B4-BE49-F238E27FC236}">
                  <a16:creationId xmlns:a16="http://schemas.microsoft.com/office/drawing/2014/main" id="{AE58B520-3693-5E48-EE97-B4496C164187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1" name="Arrow: Notched Right 20">
              <a:extLst>
                <a:ext uri="{FF2B5EF4-FFF2-40B4-BE49-F238E27FC236}">
                  <a16:creationId xmlns:a16="http://schemas.microsoft.com/office/drawing/2014/main" id="{8A4289A1-CA60-8011-FF10-2CC8FFE5C50C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2" name="Arrow: Notched Right 21">
              <a:extLst>
                <a:ext uri="{FF2B5EF4-FFF2-40B4-BE49-F238E27FC236}">
                  <a16:creationId xmlns:a16="http://schemas.microsoft.com/office/drawing/2014/main" id="{8AECCBDC-2C2E-5B2B-D57B-60DF42C617AD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7EA3527-CBE4-BB1E-8E8A-8B21A1F88B1C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5291E480-CEFE-D580-938C-FDAA725FDA6F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Footer Placeholder 2">
              <a:extLst>
                <a:ext uri="{FF2B5EF4-FFF2-40B4-BE49-F238E27FC236}">
                  <a16:creationId xmlns:a16="http://schemas.microsoft.com/office/drawing/2014/main" id="{024BCF65-762C-3EB5-9AA3-CD664A82060E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ACC04EFB-BC59-E67C-009B-150F73FBDE59}"/>
              </a:ext>
            </a:extLst>
          </p:cNvPr>
          <p:cNvSpPr/>
          <p:nvPr/>
        </p:nvSpPr>
        <p:spPr>
          <a:xfrm>
            <a:off x="6118311" y="2773418"/>
            <a:ext cx="2878490" cy="2181076"/>
          </a:xfrm>
          <a:prstGeom prst="rect">
            <a:avLst/>
          </a:prstGeom>
          <a:ln w="38100">
            <a:solidFill>
              <a:schemeClr val="accent6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Mesures</a:t>
            </a:r>
          </a:p>
        </p:txBody>
      </p:sp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5960CFE0-2431-2CD5-946C-A5785058ED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8636384"/>
              </p:ext>
            </p:extLst>
          </p:nvPr>
        </p:nvGraphicFramePr>
        <p:xfrm>
          <a:off x="6174049" y="3045101"/>
          <a:ext cx="2767013" cy="185420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790575">
                  <a:extLst>
                    <a:ext uri="{9D8B030D-6E8A-4147-A177-3AD203B41FA5}">
                      <a16:colId xmlns:a16="http://schemas.microsoft.com/office/drawing/2014/main" val="887859225"/>
                    </a:ext>
                  </a:extLst>
                </a:gridCol>
                <a:gridCol w="988219">
                  <a:extLst>
                    <a:ext uri="{9D8B030D-6E8A-4147-A177-3AD203B41FA5}">
                      <a16:colId xmlns:a16="http://schemas.microsoft.com/office/drawing/2014/main" val="2798946589"/>
                    </a:ext>
                  </a:extLst>
                </a:gridCol>
                <a:gridCol w="988219">
                  <a:extLst>
                    <a:ext uri="{9D8B030D-6E8A-4147-A177-3AD203B41FA5}">
                      <a16:colId xmlns:a16="http://schemas.microsoft.com/office/drawing/2014/main" val="38127954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9147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3850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4796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26339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69429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412B6D7-1E3E-57B9-337F-D57EADCA0A2A}"/>
                  </a:ext>
                </a:extLst>
              </p:cNvPr>
              <p:cNvSpPr txBox="1"/>
              <p:nvPr/>
            </p:nvSpPr>
            <p:spPr>
              <a:xfrm>
                <a:off x="6186417" y="3459393"/>
                <a:ext cx="79765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kΩ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412B6D7-1E3E-57B9-337F-D57EADCA0A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6417" y="3459393"/>
                <a:ext cx="797654" cy="276999"/>
              </a:xfrm>
              <a:prstGeom prst="rect">
                <a:avLst/>
              </a:prstGeom>
              <a:blipFill>
                <a:blip r:embed="rId5"/>
                <a:stretch>
                  <a:fillRect l="-6107" r="-9924" b="-3913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9C4BEDD-6682-EA1A-43CC-C0ABE7C7464D}"/>
                  </a:ext>
                </a:extLst>
              </p:cNvPr>
              <p:cNvSpPr txBox="1"/>
              <p:nvPr/>
            </p:nvSpPr>
            <p:spPr>
              <a:xfrm>
                <a:off x="6333778" y="3822552"/>
                <a:ext cx="5578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L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9C4BEDD-6682-EA1A-43CC-C0ABE7C746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3778" y="3822552"/>
                <a:ext cx="557845" cy="276999"/>
              </a:xfrm>
              <a:prstGeom prst="rect">
                <a:avLst/>
              </a:prstGeom>
              <a:blipFill>
                <a:blip r:embed="rId6"/>
                <a:stretch>
                  <a:fillRect l="-7609" r="-14130" b="-422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A2CA6CE8-E25D-CC70-B264-EE5AEC8DA223}"/>
                  </a:ext>
                </a:extLst>
              </p:cNvPr>
              <p:cNvSpPr txBox="1"/>
              <p:nvPr/>
            </p:nvSpPr>
            <p:spPr>
              <a:xfrm>
                <a:off x="6256629" y="4192506"/>
                <a:ext cx="6572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pF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A2CA6CE8-E25D-CC70-B264-EE5AEC8DA2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6629" y="4192506"/>
                <a:ext cx="657231" cy="276999"/>
              </a:xfrm>
              <a:prstGeom prst="rect">
                <a:avLst/>
              </a:prstGeom>
              <a:blipFill>
                <a:blip r:embed="rId7"/>
                <a:stretch>
                  <a:fillRect l="-6481" t="-2222" r="-12037" b="-40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A25541A-2E15-AD10-E20F-AF2B19E7EFD0}"/>
                  </a:ext>
                </a:extLst>
              </p:cNvPr>
              <p:cNvSpPr txBox="1"/>
              <p:nvPr/>
            </p:nvSpPr>
            <p:spPr>
              <a:xfrm>
                <a:off x="6174049" y="4562460"/>
                <a:ext cx="821700" cy="3016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p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kΩ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A25541A-2E15-AD10-E20F-AF2B19E7EF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4049" y="4562460"/>
                <a:ext cx="821700" cy="301686"/>
              </a:xfrm>
              <a:prstGeom prst="rect">
                <a:avLst/>
              </a:prstGeom>
              <a:blipFill>
                <a:blip r:embed="rId8"/>
                <a:stretch>
                  <a:fillRect l="-5926" r="-9630" b="-28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BBAAB8C-252C-39D5-5BFE-38CD949D6834}"/>
                  </a:ext>
                </a:extLst>
              </p:cNvPr>
              <p:cNvSpPr txBox="1"/>
              <p:nvPr/>
            </p:nvSpPr>
            <p:spPr>
              <a:xfrm>
                <a:off x="7172648" y="3459393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5,30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BBAAB8C-252C-39D5-5BFE-38CD949D68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2648" y="3459393"/>
                <a:ext cx="496931" cy="276999"/>
              </a:xfrm>
              <a:prstGeom prst="rect">
                <a:avLst/>
              </a:prstGeom>
              <a:blipFill>
                <a:blip r:embed="rId9"/>
                <a:stretch>
                  <a:fillRect l="-9877" r="-11111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F4788BD5-0AEC-1875-65D0-53FC4942D945}"/>
                  </a:ext>
                </a:extLst>
              </p:cNvPr>
              <p:cNvSpPr txBox="1"/>
              <p:nvPr/>
            </p:nvSpPr>
            <p:spPr>
              <a:xfrm>
                <a:off x="8197558" y="3465044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4,52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F4788BD5-0AEC-1875-65D0-53FC4942D9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97558" y="3465044"/>
                <a:ext cx="496931" cy="276999"/>
              </a:xfrm>
              <a:prstGeom prst="rect">
                <a:avLst/>
              </a:prstGeom>
              <a:blipFill>
                <a:blip r:embed="rId10"/>
                <a:stretch>
                  <a:fillRect l="-9877" r="-12346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593BC6E-B896-2C54-1FD2-24CD9F02ACD6}"/>
                  </a:ext>
                </a:extLst>
              </p:cNvPr>
              <p:cNvSpPr txBox="1"/>
              <p:nvPr/>
            </p:nvSpPr>
            <p:spPr>
              <a:xfrm>
                <a:off x="7172647" y="3825303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3,75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593BC6E-B896-2C54-1FD2-24CD9F02AC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2647" y="3825303"/>
                <a:ext cx="496931" cy="276999"/>
              </a:xfrm>
              <a:prstGeom prst="rect">
                <a:avLst/>
              </a:prstGeom>
              <a:blipFill>
                <a:blip r:embed="rId11"/>
                <a:stretch>
                  <a:fillRect l="-9877" r="-12346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24B8E28-0B95-6151-7B45-4FCFBE57312A}"/>
                  </a:ext>
                </a:extLst>
              </p:cNvPr>
              <p:cNvSpPr txBox="1"/>
              <p:nvPr/>
            </p:nvSpPr>
            <p:spPr>
              <a:xfrm>
                <a:off x="7196691" y="4187912"/>
                <a:ext cx="44884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270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24B8E28-0B95-6151-7B45-4FCFBE5731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6691" y="4187912"/>
                <a:ext cx="448841" cy="276999"/>
              </a:xfrm>
              <a:prstGeom prst="rect">
                <a:avLst/>
              </a:prstGeom>
              <a:blipFill>
                <a:blip r:embed="rId12"/>
                <a:stretch>
                  <a:fillRect l="-12329" r="-10959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7FEF32A-67B8-C195-383B-DB932F01ACE2}"/>
                  </a:ext>
                </a:extLst>
              </p:cNvPr>
              <p:cNvSpPr txBox="1"/>
              <p:nvPr/>
            </p:nvSpPr>
            <p:spPr>
              <a:xfrm>
                <a:off x="7108525" y="4581801"/>
                <a:ext cx="6251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305,8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7FEF32A-67B8-C195-383B-DB932F01AC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8525" y="4581801"/>
                <a:ext cx="625171" cy="276999"/>
              </a:xfrm>
              <a:prstGeom prst="rect">
                <a:avLst/>
              </a:prstGeom>
              <a:blipFill>
                <a:blip r:embed="rId13"/>
                <a:stretch>
                  <a:fillRect l="-7767" r="-8738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8BFF2795-457B-5ABF-75CA-1E1436DE8DCE}"/>
                  </a:ext>
                </a:extLst>
              </p:cNvPr>
              <p:cNvSpPr txBox="1"/>
              <p:nvPr/>
            </p:nvSpPr>
            <p:spPr>
              <a:xfrm>
                <a:off x="8202061" y="3822551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2,50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8BFF2795-457B-5ABF-75CA-1E1436DE8D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2061" y="3822551"/>
                <a:ext cx="496931" cy="276999"/>
              </a:xfrm>
              <a:prstGeom prst="rect">
                <a:avLst/>
              </a:prstGeom>
              <a:blipFill>
                <a:blip r:embed="rId14"/>
                <a:stretch>
                  <a:fillRect l="-8537" r="-10976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5576D12-ED88-3B66-1344-0D67B1015248}"/>
                  </a:ext>
                </a:extLst>
              </p:cNvPr>
              <p:cNvSpPr txBox="1"/>
              <p:nvPr/>
            </p:nvSpPr>
            <p:spPr>
              <a:xfrm>
                <a:off x="8209513" y="4211346"/>
                <a:ext cx="44884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150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5576D12-ED88-3B66-1344-0D67B10152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9513" y="4211346"/>
                <a:ext cx="448841" cy="276999"/>
              </a:xfrm>
              <a:prstGeom prst="rect">
                <a:avLst/>
              </a:prstGeom>
              <a:blipFill>
                <a:blip r:embed="rId15"/>
                <a:stretch>
                  <a:fillRect l="-12329" r="-12329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68A60CC-9B9A-2D88-BFD8-B52003BE79F2}"/>
                  </a:ext>
                </a:extLst>
              </p:cNvPr>
              <p:cNvSpPr txBox="1"/>
              <p:nvPr/>
            </p:nvSpPr>
            <p:spPr>
              <a:xfrm>
                <a:off x="8121347" y="4562460"/>
                <a:ext cx="6251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246,8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68A60CC-9B9A-2D88-BFD8-B52003BE79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1347" y="4562460"/>
                <a:ext cx="625171" cy="276999"/>
              </a:xfrm>
              <a:prstGeom prst="rect">
                <a:avLst/>
              </a:prstGeom>
              <a:blipFill>
                <a:blip r:embed="rId16"/>
                <a:stretch>
                  <a:fillRect l="-6796" r="-8738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2" name="Picture 51">
            <a:extLst>
              <a:ext uri="{FF2B5EF4-FFF2-40B4-BE49-F238E27FC236}">
                <a16:creationId xmlns:a16="http://schemas.microsoft.com/office/drawing/2014/main" id="{41BA7F39-FF36-ADD9-D90E-ED1319EA22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7240627" y="3037231"/>
            <a:ext cx="451379" cy="371611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3" name="Picture 2">
            <a:extLst>
              <a:ext uri="{FF2B5EF4-FFF2-40B4-BE49-F238E27FC236}">
                <a16:creationId xmlns:a16="http://schemas.microsoft.com/office/drawing/2014/main" id="{DD724051-C6CF-FBC1-FEDE-204BEB2A4E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8179443" y="3045101"/>
            <a:ext cx="451379" cy="36246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19349B35-E6B7-9E01-F26A-2A7F7B8E63D3}"/>
                  </a:ext>
                </a:extLst>
              </p:cNvPr>
              <p:cNvSpPr/>
              <p:nvPr/>
            </p:nvSpPr>
            <p:spPr>
              <a:xfrm>
                <a:off x="6118312" y="5125921"/>
                <a:ext cx="2878489" cy="1001254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u="sng" dirty="0">
                    <a:solidFill>
                      <a:schemeClr val="tx1"/>
                    </a:solidFill>
                  </a:rPr>
                  <a:t>Conclusion</a:t>
                </a: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r>
                  <a:rPr lang="fr-FR" sz="1400" b="1" dirty="0">
                    <a:solidFill>
                      <a:schemeClr val="tx1"/>
                    </a:solidFill>
                  </a:rPr>
                  <a:t>En basses fréquences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e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19349B35-E6B7-9E01-F26A-2A7F7B8E63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8312" y="5125921"/>
                <a:ext cx="2878489" cy="100125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5" name="Group 54">
            <a:extLst>
              <a:ext uri="{FF2B5EF4-FFF2-40B4-BE49-F238E27FC236}">
                <a16:creationId xmlns:a16="http://schemas.microsoft.com/office/drawing/2014/main" id="{E7C2BCAC-574B-57EB-E52C-8270D11EE01C}"/>
              </a:ext>
            </a:extLst>
          </p:cNvPr>
          <p:cNvGrpSpPr/>
          <p:nvPr/>
        </p:nvGrpSpPr>
        <p:grpSpPr>
          <a:xfrm>
            <a:off x="6118311" y="1381675"/>
            <a:ext cx="2878490" cy="1270807"/>
            <a:chOff x="1054904" y="1200155"/>
            <a:chExt cx="4927617" cy="3601072"/>
          </a:xfrm>
        </p:grpSpPr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D705EA26-1D4C-7DDB-DC00-9789B1B1199D}"/>
                </a:ext>
              </a:extLst>
            </p:cNvPr>
            <p:cNvPicPr>
              <a:picLocks/>
            </p:cNvPicPr>
            <p:nvPr/>
          </p:nvPicPr>
          <p:blipFill>
            <a:blip r:embed="rId20">
              <a:biLevel thresh="75000"/>
              <a:extLst>
                <a:ext uri="{BEBA8EAE-BF5A-486C-A8C5-ECC9F3942E4B}">
                  <a14:imgProps xmlns:a14="http://schemas.microsoft.com/office/drawing/2010/main">
                    <a14:imgLayer r:embed="rId21">
                      <a14:imgEffect>
                        <a14:brightnessContrast bright="4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054904" y="1200155"/>
              <a:ext cx="4927617" cy="360107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C05BA284-9FE3-C2E0-4B18-C347D0056B73}"/>
                </a:ext>
              </a:extLst>
            </p:cNvPr>
            <p:cNvSpPr/>
            <p:nvPr/>
          </p:nvSpPr>
          <p:spPr>
            <a:xfrm>
              <a:off x="1486014" y="2104150"/>
              <a:ext cx="569627" cy="19447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4AC686AB-67CB-AD1B-5341-694E42F381F6}"/>
                </a:ext>
              </a:extLst>
            </p:cNvPr>
            <p:cNvSpPr/>
            <p:nvPr/>
          </p:nvSpPr>
          <p:spPr>
            <a:xfrm>
              <a:off x="2555070" y="3033420"/>
              <a:ext cx="569627" cy="19447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AC983CA8-983B-4B0A-8691-58F7971A6BC8}"/>
                </a:ext>
              </a:extLst>
            </p:cNvPr>
            <p:cNvSpPr/>
            <p:nvPr/>
          </p:nvSpPr>
          <p:spPr>
            <a:xfrm>
              <a:off x="3715970" y="3073533"/>
              <a:ext cx="703406" cy="24014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A60BBA2B-D46B-CAB2-C1AA-BFC085A668A6}"/>
                </a:ext>
              </a:extLst>
            </p:cNvPr>
            <p:cNvSpPr/>
            <p:nvPr/>
          </p:nvSpPr>
          <p:spPr>
            <a:xfrm>
              <a:off x="5397029" y="3091033"/>
              <a:ext cx="527521" cy="20117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395ECC14-3541-0557-7429-A355B09A0F80}"/>
                </a:ext>
              </a:extLst>
            </p:cNvPr>
            <p:cNvSpPr/>
            <p:nvPr/>
          </p:nvSpPr>
          <p:spPr>
            <a:xfrm>
              <a:off x="1468417" y="3119201"/>
              <a:ext cx="569627" cy="19447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837E2390-42D5-25B6-5177-FDCED4D0DE9B}"/>
              </a:ext>
            </a:extLst>
          </p:cNvPr>
          <p:cNvCxnSpPr>
            <a:cxnSpLocks/>
          </p:cNvCxnSpPr>
          <p:nvPr/>
        </p:nvCxnSpPr>
        <p:spPr>
          <a:xfrm flipV="1">
            <a:off x="6539033" y="2291482"/>
            <a:ext cx="0" cy="206240"/>
          </a:xfrm>
          <a:prstGeom prst="straightConnector1">
            <a:avLst/>
          </a:prstGeom>
          <a:ln>
            <a:solidFill>
              <a:srgbClr val="3890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164DB8A1-BD5A-2EF2-6776-71288B2195B3}"/>
                  </a:ext>
                </a:extLst>
              </p:cNvPr>
              <p:cNvSpPr txBox="1"/>
              <p:nvPr/>
            </p:nvSpPr>
            <p:spPr>
              <a:xfrm>
                <a:off x="6575061" y="2305020"/>
                <a:ext cx="31656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>
                  <a:solidFill>
                    <a:srgbClr val="38903A"/>
                  </a:solidFill>
                </a:endParaRPr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164DB8A1-BD5A-2EF2-6776-71288B2195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5061" y="2305020"/>
                <a:ext cx="316562" cy="184666"/>
              </a:xfrm>
              <a:prstGeom prst="rect">
                <a:avLst/>
              </a:prstGeom>
              <a:blipFill>
                <a:blip r:embed="rId22"/>
                <a:stretch>
                  <a:fillRect l="-5769" r="-15385" b="-4333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8C1E2BAB-5645-112B-4E77-DFC5F72D1FA8}"/>
              </a:ext>
            </a:extLst>
          </p:cNvPr>
          <p:cNvCxnSpPr>
            <a:cxnSpLocks/>
          </p:cNvCxnSpPr>
          <p:nvPr/>
        </p:nvCxnSpPr>
        <p:spPr>
          <a:xfrm flipV="1">
            <a:off x="8405132" y="1913713"/>
            <a:ext cx="0" cy="206240"/>
          </a:xfrm>
          <a:prstGeom prst="straightConnector1">
            <a:avLst/>
          </a:prstGeom>
          <a:ln>
            <a:solidFill>
              <a:srgbClr val="3890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B70DB5AF-B81B-2CBE-83D8-43B1046274CA}"/>
                  </a:ext>
                </a:extLst>
              </p:cNvPr>
              <p:cNvSpPr txBox="1"/>
              <p:nvPr/>
            </p:nvSpPr>
            <p:spPr>
              <a:xfrm>
                <a:off x="8078560" y="1928668"/>
                <a:ext cx="321178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>
                  <a:solidFill>
                    <a:srgbClr val="38903A"/>
                  </a:solidFill>
                </a:endParaRPr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B70DB5AF-B81B-2CBE-83D8-43B1046274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8560" y="1928668"/>
                <a:ext cx="321178" cy="184666"/>
              </a:xfrm>
              <a:prstGeom prst="rect">
                <a:avLst/>
              </a:prstGeom>
              <a:blipFill>
                <a:blip r:embed="rId23"/>
                <a:stretch>
                  <a:fillRect l="-3774" r="-15094" b="-3871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151950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8FCD4-D77B-F1C4-55DD-38C4A934B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6C5A857-3856-ABEB-0586-58660E5AF6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AB217C6-0AA4-7B48-5B93-D3A14E4DB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3353FF4-31AA-5E70-D72A-ECD173730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14</a:t>
            </a:fld>
            <a:endParaRPr lang="fr-FR" sz="1200" b="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96176C0-9C44-1775-37E4-AD2AFEED5530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AF150A1-C0FD-2A31-918E-93B83058E113}"/>
              </a:ext>
            </a:extLst>
          </p:cNvPr>
          <p:cNvGrpSpPr/>
          <p:nvPr/>
        </p:nvGrpSpPr>
        <p:grpSpPr>
          <a:xfrm>
            <a:off x="1071545" y="4838220"/>
            <a:ext cx="7869519" cy="1210580"/>
            <a:chOff x="385745" y="5083538"/>
            <a:chExt cx="8293184" cy="121058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3351E8A2-562F-2391-DE82-01FB673AEF5C}"/>
                </a:ext>
              </a:extLst>
            </p:cNvPr>
            <p:cNvGrpSpPr/>
            <p:nvPr/>
          </p:nvGrpSpPr>
          <p:grpSpPr>
            <a:xfrm>
              <a:off x="385745" y="5083538"/>
              <a:ext cx="8293184" cy="1150814"/>
              <a:chOff x="385745" y="5083538"/>
              <a:chExt cx="8293184" cy="1150814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CCC22706-E154-E480-834B-0A0914D263CE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68D96272-AB69-A3F2-22CA-7CB0AF5B7115}"/>
                    </a:ext>
                  </a:extLst>
                </p:cNvPr>
                <p:cNvSpPr/>
                <p:nvPr/>
              </p:nvSpPr>
              <p:spPr>
                <a:xfrm>
                  <a:off x="4222980" y="3059437"/>
                  <a:ext cx="1244192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Filtrage Interne</a:t>
                  </a:r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22482C0E-9587-3BAE-6CD8-E6F6F1AC4195}"/>
                    </a:ext>
                  </a:extLst>
                </p:cNvPr>
                <p:cNvSpPr/>
                <p:nvPr/>
              </p:nvSpPr>
              <p:spPr>
                <a:xfrm>
                  <a:off x="2406061" y="3059437"/>
                  <a:ext cx="1244192" cy="739126"/>
                </a:xfrm>
                <a:prstGeom prst="rect">
                  <a:avLst/>
                </a:prstGeom>
                <a:solidFill>
                  <a:srgbClr val="559AD7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Induction</a:t>
                  </a:r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A04BD342-1123-F804-2806-2DFDD4AC9A26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57" name="Straight Arrow Connector 56">
                  <a:extLst>
                    <a:ext uri="{FF2B5EF4-FFF2-40B4-BE49-F238E27FC236}">
                      <a16:creationId xmlns:a16="http://schemas.microsoft.com/office/drawing/2014/main" id="{DF1803B1-9D88-36E3-0A95-86E105BC2365}"/>
                    </a:ext>
                  </a:extLst>
                </p:cNvPr>
                <p:cNvCxnSpPr>
                  <a:cxnSpLocks/>
                  <a:stCxn id="55" idx="3"/>
                  <a:endCxn id="54" idx="1"/>
                </p:cNvCxnSpPr>
                <p:nvPr/>
              </p:nvCxnSpPr>
              <p:spPr>
                <a:xfrm>
                  <a:off x="3650253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Arrow Connector 57">
                  <a:extLst>
                    <a:ext uri="{FF2B5EF4-FFF2-40B4-BE49-F238E27FC236}">
                      <a16:creationId xmlns:a16="http://schemas.microsoft.com/office/drawing/2014/main" id="{8E4A1CAC-CFDD-3534-8AA1-4979F7B51B35}"/>
                    </a:ext>
                  </a:extLst>
                </p:cNvPr>
                <p:cNvCxnSpPr>
                  <a:cxnSpLocks/>
                  <a:stCxn id="54" idx="3"/>
                  <a:endCxn id="56" idx="1"/>
                </p:cNvCxnSpPr>
                <p:nvPr/>
              </p:nvCxnSpPr>
              <p:spPr>
                <a:xfrm>
                  <a:off x="5467172" y="3429000"/>
                  <a:ext cx="572726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Arrow Connector 58">
                  <a:extLst>
                    <a:ext uri="{FF2B5EF4-FFF2-40B4-BE49-F238E27FC236}">
                      <a16:creationId xmlns:a16="http://schemas.microsoft.com/office/drawing/2014/main" id="{AE6E9B31-F506-D994-C412-03730C5F49D8}"/>
                    </a:ext>
                  </a:extLst>
                </p:cNvPr>
                <p:cNvCxnSpPr>
                  <a:cxnSpLocks/>
                  <a:endCxn id="55" idx="1"/>
                </p:cNvCxnSpPr>
                <p:nvPr/>
              </p:nvCxnSpPr>
              <p:spPr>
                <a:xfrm>
                  <a:off x="1833334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Arrow Connector 59">
                  <a:extLst>
                    <a:ext uri="{FF2B5EF4-FFF2-40B4-BE49-F238E27FC236}">
                      <a16:creationId xmlns:a16="http://schemas.microsoft.com/office/drawing/2014/main" id="{85B4BC89-9F96-94D7-6A77-412D6FACFCE0}"/>
                    </a:ext>
                  </a:extLst>
                </p:cNvPr>
                <p:cNvCxnSpPr>
                  <a:cxnSpLocks/>
                  <a:stCxn id="56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335B79A7-CE76-21F2-4764-BFF291CE560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335B79A7-CE76-21F2-4764-BFF291CE560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30E53824-5154-9021-5E92-F61E789FEE1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30E53824-5154-9021-5E92-F61E789FEE1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B07A5120-CACE-7227-3E1A-512C8B3FEF9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B07A5120-CACE-7227-3E1A-512C8B3FEF9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r="-8219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8E7C32FB-5DCC-5278-06CE-1337AEF841C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8E7C32FB-5DCC-5278-06CE-1337AEF841C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r="-1285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D6A8F45-F97F-1579-0616-154D45687B1D}"/>
                  </a:ext>
                </a:extLst>
              </p:cNvPr>
              <p:cNvSpPr txBox="1"/>
              <p:nvPr/>
            </p:nvSpPr>
            <p:spPr>
              <a:xfrm>
                <a:off x="3857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Corde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908772BC-B767-5069-5611-84F2D865EA5D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28CC04AB-3F10-7818-1627-D458DD445E99}"/>
                  </a:ext>
                </a:extLst>
              </p:cNvPr>
              <p:cNvSpPr txBox="1"/>
              <p:nvPr/>
            </p:nvSpPr>
            <p:spPr>
              <a:xfrm>
                <a:off x="2968578" y="5083538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>
                    <a:solidFill>
                      <a:srgbClr val="C00000"/>
                    </a:solidFill>
                  </a:rPr>
                  <a:t>Micro</a:t>
                </a:r>
              </a:p>
            </p:txBody>
          </p:sp>
        </p:grp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CA3BDDDA-3141-7E4A-0F8B-25F068259B22}"/>
                </a:ext>
              </a:extLst>
            </p:cNvPr>
            <p:cNvSpPr/>
            <p:nvPr/>
          </p:nvSpPr>
          <p:spPr>
            <a:xfrm>
              <a:off x="1791455" y="5434033"/>
              <a:ext cx="3187230" cy="860085"/>
            </a:xfrm>
            <a:prstGeom prst="rect">
              <a:avLst/>
            </a:prstGeom>
            <a:noFill/>
            <a:ln w="38100">
              <a:solidFill>
                <a:srgbClr val="C0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2CB0E4D0-484C-0B4E-BDE7-3504057701ED}"/>
              </a:ext>
            </a:extLst>
          </p:cNvPr>
          <p:cNvGrpSpPr/>
          <p:nvPr/>
        </p:nvGrpSpPr>
        <p:grpSpPr>
          <a:xfrm>
            <a:off x="758331" y="1002105"/>
            <a:ext cx="8378236" cy="3871961"/>
            <a:chOff x="-143123" y="1695451"/>
            <a:chExt cx="8378236" cy="3827203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18D23FFC-B47E-B3BA-1B54-489B1B98EC82}"/>
                </a:ext>
              </a:extLst>
            </p:cNvPr>
            <p:cNvGrpSpPr/>
            <p:nvPr/>
          </p:nvGrpSpPr>
          <p:grpSpPr>
            <a:xfrm>
              <a:off x="-143123" y="1695451"/>
              <a:ext cx="6901731" cy="3827203"/>
              <a:chOff x="1006751" y="1255937"/>
              <a:chExt cx="6952009" cy="3806453"/>
            </a:xfrm>
          </p:grpSpPr>
          <p:pic>
            <p:nvPicPr>
              <p:cNvPr id="68" name="Picture 67" descr="A black and white drawing of a speaker&#10;&#10;AI-generated content may be incorrect.">
                <a:extLst>
                  <a:ext uri="{FF2B5EF4-FFF2-40B4-BE49-F238E27FC236}">
                    <a16:creationId xmlns:a16="http://schemas.microsoft.com/office/drawing/2014/main" id="{9E3ADCD7-C186-B526-3478-BB91B29595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5915" t="5174" r="12970" b="6005"/>
              <a:stretch>
                <a:fillRect/>
              </a:stretch>
            </p:blipFill>
            <p:spPr>
              <a:xfrm>
                <a:off x="5339199" y="1663215"/>
                <a:ext cx="2619561" cy="2902226"/>
              </a:xfrm>
              <a:prstGeom prst="rect">
                <a:avLst/>
              </a:prstGeom>
            </p:spPr>
          </p:pic>
          <p:pic>
            <p:nvPicPr>
              <p:cNvPr id="69" name="Picture 2" descr="Coloriage Guitare électrique normale - Dessin gratuit à imprimer">
                <a:extLst>
                  <a:ext uri="{FF2B5EF4-FFF2-40B4-BE49-F238E27FC236}">
                    <a16:creationId xmlns:a16="http://schemas.microsoft.com/office/drawing/2014/main" id="{84FFA659-5182-64DC-FE6E-6A51D79B76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75" t="9659" r="3272" b="14511"/>
              <a:stretch>
                <a:fillRect/>
              </a:stretch>
            </p:blipFill>
            <p:spPr bwMode="auto">
              <a:xfrm rot="18368299">
                <a:off x="661136" y="1601552"/>
                <a:ext cx="3716782" cy="3025552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42BC230A-33A9-0CE3-C146-6A6EFA124000}"/>
                  </a:ext>
                </a:extLst>
              </p:cNvPr>
              <p:cNvSpPr/>
              <p:nvPr/>
            </p:nvSpPr>
            <p:spPr>
              <a:xfrm>
                <a:off x="2687541" y="2252273"/>
                <a:ext cx="3045349" cy="2810117"/>
              </a:xfrm>
              <a:custGeom>
                <a:avLst/>
                <a:gdLst>
                  <a:gd name="csX0" fmla="*/ 0 w 3045349"/>
                  <a:gd name="csY0" fmla="*/ 2454899 h 2876318"/>
                  <a:gd name="csX1" fmla="*/ 31805 w 3045349"/>
                  <a:gd name="csY1" fmla="*/ 2494656 h 2876318"/>
                  <a:gd name="csX2" fmla="*/ 47708 w 3045349"/>
                  <a:gd name="csY2" fmla="*/ 2518510 h 2876318"/>
                  <a:gd name="csX3" fmla="*/ 71562 w 3045349"/>
                  <a:gd name="csY3" fmla="*/ 2526461 h 2876318"/>
                  <a:gd name="csX4" fmla="*/ 127221 w 3045349"/>
                  <a:gd name="csY4" fmla="*/ 2574169 h 2876318"/>
                  <a:gd name="csX5" fmla="*/ 206734 w 3045349"/>
                  <a:gd name="csY5" fmla="*/ 2637779 h 2876318"/>
                  <a:gd name="csX6" fmla="*/ 246490 w 3045349"/>
                  <a:gd name="csY6" fmla="*/ 2661633 h 2876318"/>
                  <a:gd name="csX7" fmla="*/ 278296 w 3045349"/>
                  <a:gd name="csY7" fmla="*/ 2677536 h 2876318"/>
                  <a:gd name="csX8" fmla="*/ 310101 w 3045349"/>
                  <a:gd name="csY8" fmla="*/ 2701390 h 2876318"/>
                  <a:gd name="csX9" fmla="*/ 373711 w 3045349"/>
                  <a:gd name="csY9" fmla="*/ 2733195 h 2876318"/>
                  <a:gd name="csX10" fmla="*/ 429370 w 3045349"/>
                  <a:gd name="csY10" fmla="*/ 2765000 h 2876318"/>
                  <a:gd name="csX11" fmla="*/ 532737 w 3045349"/>
                  <a:gd name="csY11" fmla="*/ 2804757 h 2876318"/>
                  <a:gd name="csX12" fmla="*/ 596348 w 3045349"/>
                  <a:gd name="csY12" fmla="*/ 2836562 h 2876318"/>
                  <a:gd name="csX13" fmla="*/ 659958 w 3045349"/>
                  <a:gd name="csY13" fmla="*/ 2852464 h 2876318"/>
                  <a:gd name="csX14" fmla="*/ 914400 w 3045349"/>
                  <a:gd name="csY14" fmla="*/ 2876318 h 2876318"/>
                  <a:gd name="csX15" fmla="*/ 1121134 w 3045349"/>
                  <a:gd name="csY15" fmla="*/ 2852464 h 2876318"/>
                  <a:gd name="csX16" fmla="*/ 1288111 w 3045349"/>
                  <a:gd name="csY16" fmla="*/ 2780903 h 2876318"/>
                  <a:gd name="csX17" fmla="*/ 1431235 w 3045349"/>
                  <a:gd name="csY17" fmla="*/ 2709341 h 2876318"/>
                  <a:gd name="csX18" fmla="*/ 1478942 w 3045349"/>
                  <a:gd name="csY18" fmla="*/ 2661633 h 2876318"/>
                  <a:gd name="csX19" fmla="*/ 1630017 w 3045349"/>
                  <a:gd name="csY19" fmla="*/ 2470802 h 2876318"/>
                  <a:gd name="csX20" fmla="*/ 1733384 w 3045349"/>
                  <a:gd name="csY20" fmla="*/ 2208409 h 2876318"/>
                  <a:gd name="csX21" fmla="*/ 1733384 w 3045349"/>
                  <a:gd name="csY21" fmla="*/ 1946016 h 2876318"/>
                  <a:gd name="csX22" fmla="*/ 1709530 w 3045349"/>
                  <a:gd name="csY22" fmla="*/ 1858551 h 2876318"/>
                  <a:gd name="csX23" fmla="*/ 1661822 w 3045349"/>
                  <a:gd name="csY23" fmla="*/ 1715428 h 2876318"/>
                  <a:gd name="csX24" fmla="*/ 1614115 w 3045349"/>
                  <a:gd name="csY24" fmla="*/ 1556402 h 2876318"/>
                  <a:gd name="csX25" fmla="*/ 1534602 w 3045349"/>
                  <a:gd name="csY25" fmla="*/ 1413278 h 2876318"/>
                  <a:gd name="csX26" fmla="*/ 1502796 w 3045349"/>
                  <a:gd name="csY26" fmla="*/ 1349668 h 2876318"/>
                  <a:gd name="csX27" fmla="*/ 1399429 w 3045349"/>
                  <a:gd name="csY27" fmla="*/ 1166788 h 2876318"/>
                  <a:gd name="csX28" fmla="*/ 1351722 w 3045349"/>
                  <a:gd name="csY28" fmla="*/ 1023664 h 2876318"/>
                  <a:gd name="csX29" fmla="*/ 1327868 w 3045349"/>
                  <a:gd name="csY29" fmla="*/ 952103 h 2876318"/>
                  <a:gd name="csX30" fmla="*/ 1343770 w 3045349"/>
                  <a:gd name="csY30" fmla="*/ 673807 h 2876318"/>
                  <a:gd name="csX31" fmla="*/ 1367624 w 3045349"/>
                  <a:gd name="csY31" fmla="*/ 610197 h 2876318"/>
                  <a:gd name="csX32" fmla="*/ 1478942 w 3045349"/>
                  <a:gd name="csY32" fmla="*/ 475024 h 2876318"/>
                  <a:gd name="csX33" fmla="*/ 1526650 w 3045349"/>
                  <a:gd name="csY33" fmla="*/ 403463 h 2876318"/>
                  <a:gd name="csX34" fmla="*/ 1630017 w 3045349"/>
                  <a:gd name="csY34" fmla="*/ 315998 h 2876318"/>
                  <a:gd name="csX35" fmla="*/ 1693628 w 3045349"/>
                  <a:gd name="csY35" fmla="*/ 252388 h 2876318"/>
                  <a:gd name="csX36" fmla="*/ 1836751 w 3045349"/>
                  <a:gd name="csY36" fmla="*/ 164924 h 2876318"/>
                  <a:gd name="csX37" fmla="*/ 1948069 w 3045349"/>
                  <a:gd name="csY37" fmla="*/ 93362 h 2876318"/>
                  <a:gd name="csX38" fmla="*/ 2138901 w 3045349"/>
                  <a:gd name="csY38" fmla="*/ 45654 h 2876318"/>
                  <a:gd name="csX39" fmla="*/ 2337683 w 3045349"/>
                  <a:gd name="csY39" fmla="*/ 21800 h 2876318"/>
                  <a:gd name="csX40" fmla="*/ 2488758 w 3045349"/>
                  <a:gd name="csY40" fmla="*/ 13849 h 2876318"/>
                  <a:gd name="csX41" fmla="*/ 2862469 w 3045349"/>
                  <a:gd name="csY41" fmla="*/ 13849 h 2876318"/>
                  <a:gd name="csX42" fmla="*/ 2981739 w 3045349"/>
                  <a:gd name="csY42" fmla="*/ 45654 h 2876318"/>
                  <a:gd name="csX43" fmla="*/ 3045349 w 3045349"/>
                  <a:gd name="csY43" fmla="*/ 69508 h 28763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</a:cxnLst>
                <a:rect l="l" t="t" r="r" b="b"/>
                <a:pathLst>
                  <a:path w="3045349" h="2876318">
                    <a:moveTo>
                      <a:pt x="0" y="2454899"/>
                    </a:moveTo>
                    <a:cubicBezTo>
                      <a:pt x="10602" y="2468151"/>
                      <a:pt x="21622" y="2481079"/>
                      <a:pt x="31805" y="2494656"/>
                    </a:cubicBezTo>
                    <a:cubicBezTo>
                      <a:pt x="37539" y="2502301"/>
                      <a:pt x="40246" y="2512540"/>
                      <a:pt x="47708" y="2518510"/>
                    </a:cubicBezTo>
                    <a:cubicBezTo>
                      <a:pt x="54253" y="2523746"/>
                      <a:pt x="63611" y="2523811"/>
                      <a:pt x="71562" y="2526461"/>
                    </a:cubicBezTo>
                    <a:cubicBezTo>
                      <a:pt x="160673" y="2637849"/>
                      <a:pt x="61551" y="2528705"/>
                      <a:pt x="127221" y="2574169"/>
                    </a:cubicBezTo>
                    <a:cubicBezTo>
                      <a:pt x="155128" y="2593489"/>
                      <a:pt x="177629" y="2620316"/>
                      <a:pt x="206734" y="2637779"/>
                    </a:cubicBezTo>
                    <a:cubicBezTo>
                      <a:pt x="219986" y="2645730"/>
                      <a:pt x="232980" y="2654128"/>
                      <a:pt x="246490" y="2661633"/>
                    </a:cubicBezTo>
                    <a:cubicBezTo>
                      <a:pt x="256852" y="2667390"/>
                      <a:pt x="268244" y="2671254"/>
                      <a:pt x="278296" y="2677536"/>
                    </a:cubicBezTo>
                    <a:cubicBezTo>
                      <a:pt x="289534" y="2684560"/>
                      <a:pt x="298654" y="2694713"/>
                      <a:pt x="310101" y="2701390"/>
                    </a:cubicBezTo>
                    <a:cubicBezTo>
                      <a:pt x="330578" y="2713335"/>
                      <a:pt x="352794" y="2722039"/>
                      <a:pt x="373711" y="2733195"/>
                    </a:cubicBezTo>
                    <a:cubicBezTo>
                      <a:pt x="392565" y="2743251"/>
                      <a:pt x="409884" y="2756231"/>
                      <a:pt x="429370" y="2765000"/>
                    </a:cubicBezTo>
                    <a:cubicBezTo>
                      <a:pt x="463035" y="2780149"/>
                      <a:pt x="499718" y="2788248"/>
                      <a:pt x="532737" y="2804757"/>
                    </a:cubicBezTo>
                    <a:cubicBezTo>
                      <a:pt x="553941" y="2815359"/>
                      <a:pt x="574151" y="2828238"/>
                      <a:pt x="596348" y="2836562"/>
                    </a:cubicBezTo>
                    <a:cubicBezTo>
                      <a:pt x="616812" y="2844236"/>
                      <a:pt x="638488" y="2848375"/>
                      <a:pt x="659958" y="2852464"/>
                    </a:cubicBezTo>
                    <a:cubicBezTo>
                      <a:pt x="772459" y="2873893"/>
                      <a:pt x="787397" y="2869634"/>
                      <a:pt x="914400" y="2876318"/>
                    </a:cubicBezTo>
                    <a:cubicBezTo>
                      <a:pt x="983311" y="2868367"/>
                      <a:pt x="1052975" y="2865359"/>
                      <a:pt x="1121134" y="2852464"/>
                    </a:cubicBezTo>
                    <a:cubicBezTo>
                      <a:pt x="1180843" y="2841168"/>
                      <a:pt x="1233964" y="2805269"/>
                      <a:pt x="1288111" y="2780903"/>
                    </a:cubicBezTo>
                    <a:cubicBezTo>
                      <a:pt x="1358137" y="2749391"/>
                      <a:pt x="1372061" y="2755834"/>
                      <a:pt x="1431235" y="2709341"/>
                    </a:cubicBezTo>
                    <a:cubicBezTo>
                      <a:pt x="1448919" y="2695446"/>
                      <a:pt x="1463561" y="2678040"/>
                      <a:pt x="1478942" y="2661633"/>
                    </a:cubicBezTo>
                    <a:cubicBezTo>
                      <a:pt x="1534843" y="2602004"/>
                      <a:pt x="1588815" y="2542364"/>
                      <a:pt x="1630017" y="2470802"/>
                    </a:cubicBezTo>
                    <a:cubicBezTo>
                      <a:pt x="1699402" y="2350291"/>
                      <a:pt x="1699220" y="2327984"/>
                      <a:pt x="1733384" y="2208409"/>
                    </a:cubicBezTo>
                    <a:cubicBezTo>
                      <a:pt x="1742438" y="2099766"/>
                      <a:pt x="1749009" y="2071016"/>
                      <a:pt x="1733384" y="1946016"/>
                    </a:cubicBezTo>
                    <a:cubicBezTo>
                      <a:pt x="1729636" y="1916030"/>
                      <a:pt x="1716227" y="1888019"/>
                      <a:pt x="1709530" y="1858551"/>
                    </a:cubicBezTo>
                    <a:cubicBezTo>
                      <a:pt x="1681618" y="1735734"/>
                      <a:pt x="1714235" y="1807148"/>
                      <a:pt x="1661822" y="1715428"/>
                    </a:cubicBezTo>
                    <a:cubicBezTo>
                      <a:pt x="1654666" y="1689190"/>
                      <a:pt x="1628127" y="1585505"/>
                      <a:pt x="1614115" y="1556402"/>
                    </a:cubicBezTo>
                    <a:cubicBezTo>
                      <a:pt x="1590439" y="1507229"/>
                      <a:pt x="1559010" y="1462092"/>
                      <a:pt x="1534602" y="1413278"/>
                    </a:cubicBezTo>
                    <a:cubicBezTo>
                      <a:pt x="1524000" y="1392075"/>
                      <a:pt x="1514379" y="1370352"/>
                      <a:pt x="1502796" y="1349668"/>
                    </a:cubicBezTo>
                    <a:cubicBezTo>
                      <a:pt x="1455116" y="1264526"/>
                      <a:pt x="1432768" y="1239023"/>
                      <a:pt x="1399429" y="1166788"/>
                    </a:cubicBezTo>
                    <a:cubicBezTo>
                      <a:pt x="1363215" y="1088324"/>
                      <a:pt x="1381571" y="1123160"/>
                      <a:pt x="1351722" y="1023664"/>
                    </a:cubicBezTo>
                    <a:cubicBezTo>
                      <a:pt x="1344497" y="999580"/>
                      <a:pt x="1335819" y="975957"/>
                      <a:pt x="1327868" y="952103"/>
                    </a:cubicBezTo>
                    <a:cubicBezTo>
                      <a:pt x="1312766" y="831293"/>
                      <a:pt x="1311555" y="861726"/>
                      <a:pt x="1343770" y="673807"/>
                    </a:cubicBezTo>
                    <a:cubicBezTo>
                      <a:pt x="1347596" y="651487"/>
                      <a:pt x="1356626" y="629992"/>
                      <a:pt x="1367624" y="610197"/>
                    </a:cubicBezTo>
                    <a:cubicBezTo>
                      <a:pt x="1431450" y="495311"/>
                      <a:pt x="1405986" y="564816"/>
                      <a:pt x="1478942" y="475024"/>
                    </a:cubicBezTo>
                    <a:cubicBezTo>
                      <a:pt x="1497020" y="452774"/>
                      <a:pt x="1508572" y="425713"/>
                      <a:pt x="1526650" y="403463"/>
                    </a:cubicBezTo>
                    <a:cubicBezTo>
                      <a:pt x="1601764" y="311016"/>
                      <a:pt x="1556151" y="379312"/>
                      <a:pt x="1630017" y="315998"/>
                    </a:cubicBezTo>
                    <a:cubicBezTo>
                      <a:pt x="1652784" y="296483"/>
                      <a:pt x="1670481" y="271450"/>
                      <a:pt x="1693628" y="252388"/>
                    </a:cubicBezTo>
                    <a:cubicBezTo>
                      <a:pt x="1748930" y="206845"/>
                      <a:pt x="1777215" y="202134"/>
                      <a:pt x="1836751" y="164924"/>
                    </a:cubicBezTo>
                    <a:cubicBezTo>
                      <a:pt x="1880106" y="137827"/>
                      <a:pt x="1900442" y="112973"/>
                      <a:pt x="1948069" y="93362"/>
                    </a:cubicBezTo>
                    <a:cubicBezTo>
                      <a:pt x="1991495" y="75481"/>
                      <a:pt x="2099863" y="52160"/>
                      <a:pt x="2138901" y="45654"/>
                    </a:cubicBezTo>
                    <a:cubicBezTo>
                      <a:pt x="2139259" y="45594"/>
                      <a:pt x="2308265" y="23901"/>
                      <a:pt x="2337683" y="21800"/>
                    </a:cubicBezTo>
                    <a:cubicBezTo>
                      <a:pt x="2387983" y="18207"/>
                      <a:pt x="2438400" y="16499"/>
                      <a:pt x="2488758" y="13849"/>
                    </a:cubicBezTo>
                    <a:cubicBezTo>
                      <a:pt x="2634733" y="-2372"/>
                      <a:pt x="2644304" y="-6733"/>
                      <a:pt x="2862469" y="13849"/>
                    </a:cubicBezTo>
                    <a:cubicBezTo>
                      <a:pt x="2903433" y="17714"/>
                      <a:pt x="2942705" y="32642"/>
                      <a:pt x="2981739" y="45654"/>
                    </a:cubicBezTo>
                    <a:cubicBezTo>
                      <a:pt x="3035069" y="63431"/>
                      <a:pt x="3014454" y="54060"/>
                      <a:pt x="3045349" y="69508"/>
                    </a:cubicBezTo>
                  </a:path>
                </a:pathLst>
              </a:custGeom>
              <a:ln w="101600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pic>
          <p:nvPicPr>
            <p:cNvPr id="67" name="Picture 8" descr="Sound PNG Transparent Images">
              <a:extLst>
                <a:ext uri="{FF2B5EF4-FFF2-40B4-BE49-F238E27FC236}">
                  <a16:creationId xmlns:a16="http://schemas.microsoft.com/office/drawing/2014/main" id="{D32D96BA-E861-4A25-8537-B34D005C12D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58608" y="2831113"/>
              <a:ext cx="1476505" cy="14765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DA3249BC-8CE7-CDA3-3B94-E7F3EF3B59FC}"/>
              </a:ext>
            </a:extLst>
          </p:cNvPr>
          <p:cNvSpPr txBox="1"/>
          <p:nvPr/>
        </p:nvSpPr>
        <p:spPr>
          <a:xfrm>
            <a:off x="1151432" y="757210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De l’onde à la F.E.M.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D396C41-374B-1D09-9629-C60E3A9CCA81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8" name="Arrow: Notched Right 7">
              <a:extLst>
                <a:ext uri="{FF2B5EF4-FFF2-40B4-BE49-F238E27FC236}">
                  <a16:creationId xmlns:a16="http://schemas.microsoft.com/office/drawing/2014/main" id="{10A645F3-7664-0F4D-13A2-E50C5ECC87AD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9" name="Arrow: Notched Right 8">
              <a:extLst>
                <a:ext uri="{FF2B5EF4-FFF2-40B4-BE49-F238E27FC236}">
                  <a16:creationId xmlns:a16="http://schemas.microsoft.com/office/drawing/2014/main" id="{5DA8B901-57E6-DDC6-CEAD-D65243DA96B0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17" name="Arrow: Notched Right 16">
              <a:extLst>
                <a:ext uri="{FF2B5EF4-FFF2-40B4-BE49-F238E27FC236}">
                  <a16:creationId xmlns:a16="http://schemas.microsoft.com/office/drawing/2014/main" id="{88D84FF5-0693-73B8-1733-F1DA5CB3FCD8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B4ADB00-D268-0454-EE6E-4FC9D2A05712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83B424D-5FFE-4A76-56AC-BBA4DFB3F601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Footer Placeholder 2">
              <a:extLst>
                <a:ext uri="{FF2B5EF4-FFF2-40B4-BE49-F238E27FC236}">
                  <a16:creationId xmlns:a16="http://schemas.microsoft.com/office/drawing/2014/main" id="{0042A8E5-0D8C-FE6B-92B0-F65BDE2E3BC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115988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241A89-AE2B-E041-5B38-418F61804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F954A7EF-E819-7403-B518-89541C0929FA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8AFA9E9-9719-679C-6FBE-1201DA0B61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D6BA397-9AAB-6252-4978-88DC531508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D01C7BF-D0F9-5DDA-0EB7-BA6419612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15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61B1DFE7-8FA8-677E-D0C4-9ECAB1E04C00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301F8A49-A641-A223-BC2B-565D3A9EA4F1}"/>
                  </a:ext>
                </a:extLst>
              </p:cNvPr>
              <p:cNvSpPr/>
              <p:nvPr/>
            </p:nvSpPr>
            <p:spPr>
              <a:xfrm>
                <a:off x="1131100" y="1260117"/>
                <a:ext cx="3842591" cy="1423878"/>
              </a:xfrm>
              <a:prstGeom prst="rect">
                <a:avLst/>
              </a:prstGeom>
              <a:ln w="38100"/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Hypothèses 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Vibration de la corde : Onde stationnaire dans le plan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1600" b="0" i="1" smtClean="0">
                        <a:latin typeface="Cambria Math" panose="02040503050406030204" pitchFamily="18" charset="0"/>
                      </a:rPr>
                      <m:t>O</m:t>
                    </m:r>
                    <m:acc>
                      <m:accPr>
                        <m:chr m:val="⃗"/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b="0" i="1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b="0" i="1" smtClean="0">
                            <a:latin typeface="Cambria Math" panose="02040503050406030204" pitchFamily="18" charset="0"/>
                          </a:rPr>
                          <m:t>y</m:t>
                        </m:r>
                      </m:e>
                    </m:acc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Gradient magnétique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60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num>
                      <m:den>
                        <m:r>
                          <a:rPr lang="fr-FR" sz="160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den>
                    </m:f>
                  </m:oMath>
                </a14:m>
                <a:r>
                  <a:rPr lang="fr-FR" sz="1600" dirty="0"/>
                  <a:t> 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Micros ponctuels</a:t>
                </a:r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301F8A49-A641-A223-BC2B-565D3A9EA4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1100" y="1260117"/>
                <a:ext cx="3842591" cy="1423878"/>
              </a:xfrm>
              <a:prstGeom prst="rect">
                <a:avLst/>
              </a:prstGeom>
              <a:blipFill>
                <a:blip r:embed="rId2"/>
                <a:stretch>
                  <a:fillRect l="-472" t="-837" b="-5021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75243A0-1FE9-8074-A10B-6683AE34908D}"/>
                  </a:ext>
                </a:extLst>
              </p:cNvPr>
              <p:cNvSpPr/>
              <p:nvPr/>
            </p:nvSpPr>
            <p:spPr>
              <a:xfrm>
                <a:off x="5097198" y="1260117"/>
                <a:ext cx="3842591" cy="481089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600" dirty="0"/>
                  <a:t>L’équation d’onde de la corde est régie par l’équation différentielle :</a:t>
                </a:r>
              </a:p>
              <a:p>
                <a:endParaRPr lang="fr-FR" sz="16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200" dirty="0"/>
                  <a:t>D’où :	     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fr-FR" sz="1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≥1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func>
                          <m:func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f>
                              <m:f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num>
                              <m:den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  <m:func>
                          <m:func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(2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e>
                    </m:nary>
                  </m:oMath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ⅇ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6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r>
                  <a:rPr lang="fr-FR" sz="1200" dirty="0">
                    <a:solidFill>
                      <a:schemeClr val="tx1"/>
                    </a:solidFill>
                  </a:rPr>
                  <a:t>Avec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2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75243A0-1FE9-8074-A10B-6683AE3490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198" y="1260117"/>
                <a:ext cx="3842591" cy="4810899"/>
              </a:xfrm>
              <a:prstGeom prst="rect">
                <a:avLst/>
              </a:prstGeom>
              <a:blipFill>
                <a:blip r:embed="rId3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D911BEFF-6FB0-C592-5173-789210A75215}"/>
              </a:ext>
            </a:extLst>
          </p:cNvPr>
          <p:cNvSpPr txBox="1"/>
          <p:nvPr/>
        </p:nvSpPr>
        <p:spPr>
          <a:xfrm>
            <a:off x="1151432" y="757210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Théorie</a:t>
            </a:r>
          </a:p>
        </p:txBody>
      </p:sp>
      <p:pic>
        <p:nvPicPr>
          <p:cNvPr id="10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81906A3C-88C9-1D36-3F04-582CE4AFF6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" t="-8093" r="50325" b="-7437"/>
          <a:stretch>
            <a:fillRect/>
          </a:stretch>
        </p:blipFill>
        <p:spPr bwMode="auto">
          <a:xfrm>
            <a:off x="8040987" y="605107"/>
            <a:ext cx="899439" cy="673537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34542817-0D26-16DE-05F1-42109423F7B5}"/>
              </a:ext>
            </a:extLst>
          </p:cNvPr>
          <p:cNvGrpSpPr/>
          <p:nvPr/>
        </p:nvGrpSpPr>
        <p:grpSpPr>
          <a:xfrm>
            <a:off x="1131099" y="2817570"/>
            <a:ext cx="3842591" cy="3253445"/>
            <a:chOff x="1131100" y="2976855"/>
            <a:chExt cx="3842591" cy="321820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C2987E6F-BA8C-5202-2C1C-6F726B798189}"/>
                    </a:ext>
                  </a:extLst>
                </p:cNvPr>
                <p:cNvSpPr/>
                <p:nvPr/>
              </p:nvSpPr>
              <p:spPr>
                <a:xfrm>
                  <a:off x="1131100" y="2976855"/>
                  <a:ext cx="3842591" cy="3218206"/>
                </a:xfrm>
                <a:prstGeom prst="rect">
                  <a:avLst/>
                </a:prstGeom>
                <a:ln w="38100"/>
              </p:spPr>
              <p:style>
                <a:lnRef idx="2">
                  <a:schemeClr val="accent4"/>
                </a:lnRef>
                <a:fillRef idx="1">
                  <a:schemeClr val="lt1"/>
                </a:fillRef>
                <a:effectRef idx="0">
                  <a:schemeClr val="accent4"/>
                </a:effectRef>
                <a:fontRef idx="minor">
                  <a:schemeClr val="dk1"/>
                </a:fontRef>
              </p:style>
              <p:txBody>
                <a:bodyPr numCol="1" rtlCol="0" anchor="t"/>
                <a:lstStyle/>
                <a:p>
                  <a:r>
                    <a:rPr lang="fr-FR" sz="1400" b="1" dirty="0"/>
                    <a:t>Notations :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F.E.M. dans le micro SingleCoil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Nombre de spire du micro SingleCoil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Surface active du micro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Gradient du champ B de la corde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Fréquence fondamentale de la corde</a:t>
                  </a:r>
                </a:p>
              </p:txBody>
            </p:sp>
          </mc:Choice>
          <mc:Fallback xmlns="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C2987E6F-BA8C-5202-2C1C-6F726B7981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1100" y="2976855"/>
                  <a:ext cx="3842591" cy="3218206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38100"/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AE99069D-051E-87CC-1880-C585FCEACC4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19201" y="4577744"/>
              <a:ext cx="3680460" cy="1524849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6407A35-DBAA-281B-6DDA-73426A4020F8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[3]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5E23B1E-D22B-C1C3-211C-4098B0633DE8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21" name="Arrow: Notched Right 20">
              <a:extLst>
                <a:ext uri="{FF2B5EF4-FFF2-40B4-BE49-F238E27FC236}">
                  <a16:creationId xmlns:a16="http://schemas.microsoft.com/office/drawing/2014/main" id="{13998A97-F2D5-B1C0-C170-A264D774C088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2" name="Arrow: Notched Right 21">
              <a:extLst>
                <a:ext uri="{FF2B5EF4-FFF2-40B4-BE49-F238E27FC236}">
                  <a16:creationId xmlns:a16="http://schemas.microsoft.com/office/drawing/2014/main" id="{274C26BD-0BEA-AB24-5A09-47BB79EA0F5C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3" name="Arrow: Notched Right 22">
              <a:extLst>
                <a:ext uri="{FF2B5EF4-FFF2-40B4-BE49-F238E27FC236}">
                  <a16:creationId xmlns:a16="http://schemas.microsoft.com/office/drawing/2014/main" id="{46F2E6FF-603E-8503-4C70-916C21ACE0F5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BC69331-5718-E0EA-991B-6D586EE81AA9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35852F1-EC13-BF09-0DFA-BE103B31840A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8E2E46A3-2221-A2D5-54B9-A262D8F6744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993394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1513E-37CC-0777-9DD6-ED38E2EFD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79778B6-4640-3777-106C-B2E81C72F006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35B422C-332E-F0F8-A11E-5F71F4375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A9828E5-2969-F367-35D6-476C88C16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3E3C6F8-227B-9DAC-05A8-6050A1DB6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16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3B049565-EA1F-D493-3653-16E2BD0D20AE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954C36CF-5FC4-DEED-4595-E69C59A5490B}"/>
                  </a:ext>
                </a:extLst>
              </p:cNvPr>
              <p:cNvSpPr/>
              <p:nvPr/>
            </p:nvSpPr>
            <p:spPr>
              <a:xfrm>
                <a:off x="1131100" y="1260116"/>
                <a:ext cx="3842591" cy="1423879"/>
              </a:xfrm>
              <a:prstGeom prst="rect">
                <a:avLst/>
              </a:prstGeom>
              <a:ln w="38100"/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Hypothèses 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Vibration de la corde : Onde stationnaire dans le plan </a:t>
                </a:r>
                <a14:m>
                  <m:oMath xmlns:m="http://schemas.openxmlformats.org/officeDocument/2006/math">
                    <m:r>
                      <a:rPr lang="fr-FR" sz="16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1600" i="1">
                        <a:latin typeface="Cambria Math" panose="02040503050406030204" pitchFamily="18" charset="0"/>
                      </a:rPr>
                      <m:t>O</m:t>
                    </m:r>
                    <m:acc>
                      <m:accPr>
                        <m:chr m:val="⃗"/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i="1">
                            <a:latin typeface="Cambria Math" panose="02040503050406030204" pitchFamily="18" charset="0"/>
                          </a:rPr>
                          <m:t>y</m:t>
                        </m:r>
                      </m:e>
                    </m:acc>
                    <m:r>
                      <a:rPr lang="fr-FR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Gradient magnétique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60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num>
                      <m:den>
                        <m:r>
                          <a:rPr lang="fr-FR" sz="160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den>
                    </m:f>
                  </m:oMath>
                </a14:m>
                <a:r>
                  <a:rPr lang="fr-FR" sz="1600" dirty="0"/>
                  <a:t> 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Micros ponctuels</a:t>
                </a:r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954C36CF-5FC4-DEED-4595-E69C59A549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1100" y="1260116"/>
                <a:ext cx="3842591" cy="1423879"/>
              </a:xfrm>
              <a:prstGeom prst="rect">
                <a:avLst/>
              </a:prstGeom>
              <a:blipFill>
                <a:blip r:embed="rId2"/>
                <a:stretch>
                  <a:fillRect l="-472" t="-837" b="-5021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329DBC45-4208-EB2C-566B-C727C2C36B18}"/>
                  </a:ext>
                </a:extLst>
              </p:cNvPr>
              <p:cNvSpPr/>
              <p:nvPr/>
            </p:nvSpPr>
            <p:spPr>
              <a:xfrm>
                <a:off x="5097198" y="1260117"/>
                <a:ext cx="3842591" cy="481089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600" dirty="0"/>
                  <a:t>L’équation d’onde de la corde est régie par l’équation différentielle :</a:t>
                </a:r>
              </a:p>
              <a:p>
                <a:endParaRPr lang="fr-FR" sz="16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200" dirty="0"/>
                  <a:t>D’où :	     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fr-FR" sz="1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≥1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func>
                          <m:func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f>
                              <m:f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num>
                              <m:den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  <m:func>
                          <m:func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(2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e>
                    </m:nary>
                  </m:oMath>
                </a14:m>
                <a:endParaRPr lang="fr-FR" sz="1200" dirty="0"/>
              </a:p>
              <a:p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ⅇ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6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r>
                  <a:rPr lang="fr-FR" sz="1200" dirty="0">
                    <a:solidFill>
                      <a:schemeClr val="tx1"/>
                    </a:solidFill>
                  </a:rPr>
                  <a:t>Avec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2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329DBC45-4208-EB2C-566B-C727C2C36B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198" y="1260117"/>
                <a:ext cx="3842591" cy="4810899"/>
              </a:xfrm>
              <a:prstGeom prst="rect">
                <a:avLst/>
              </a:prstGeom>
              <a:blipFill>
                <a:blip r:embed="rId3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2">
            <a:extLst>
              <a:ext uri="{FF2B5EF4-FFF2-40B4-BE49-F238E27FC236}">
                <a16:creationId xmlns:a16="http://schemas.microsoft.com/office/drawing/2014/main" id="{1CB52F20-067F-B398-1BBC-A12EBFC850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27" b="3027"/>
          <a:stretch/>
        </p:blipFill>
        <p:spPr bwMode="auto">
          <a:xfrm>
            <a:off x="8040987" y="639069"/>
            <a:ext cx="899439" cy="673537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26CF2F2-A7C7-F1BD-72F6-03BF835FF9D8}"/>
              </a:ext>
            </a:extLst>
          </p:cNvPr>
          <p:cNvSpPr txBox="1"/>
          <p:nvPr/>
        </p:nvSpPr>
        <p:spPr>
          <a:xfrm>
            <a:off x="1151432" y="757210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Théorie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B269041E-5D7E-53B4-6EA8-C73694BF2E92}"/>
                  </a:ext>
                </a:extLst>
              </p:cNvPr>
              <p:cNvSpPr/>
              <p:nvPr/>
            </p:nvSpPr>
            <p:spPr>
              <a:xfrm>
                <a:off x="1131099" y="2817568"/>
                <a:ext cx="3842591" cy="3253447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t"/>
              <a:lstStyle/>
              <a:p>
                <a:r>
                  <a:rPr lang="fr-FR" sz="14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𝐻𝐵</m:t>
                        </m:r>
                      </m:sub>
                    </m:sSub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: F.E.M. dans le micro SingleCoil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𝐻𝐵</m:t>
                        </m:r>
                      </m:sub>
                    </m:sSub>
                  </m:oMath>
                </a14:m>
                <a:r>
                  <a:rPr lang="fr-FR" sz="1400" dirty="0"/>
                  <a:t>: Nombre de spire du micro SingleCoil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4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: Surface active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: Gradient du champ B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: Fréquence fondamentale de la corde</a:t>
                </a:r>
              </a:p>
            </p:txBody>
          </p:sp>
        </mc:Choice>
        <mc:Fallback xmlns="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B269041E-5D7E-53B4-6EA8-C73694BF2E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1099" y="2817568"/>
                <a:ext cx="3842591" cy="325344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BF964D86-6E5C-B2D0-40FE-435125A796F8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[3]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5C7690E-626C-C246-8037-6F9AE911FA04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21" name="Arrow: Notched Right 20">
              <a:extLst>
                <a:ext uri="{FF2B5EF4-FFF2-40B4-BE49-F238E27FC236}">
                  <a16:creationId xmlns:a16="http://schemas.microsoft.com/office/drawing/2014/main" id="{2D16F32C-8EDC-0178-A964-793FB5A4F528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2" name="Arrow: Notched Right 21">
              <a:extLst>
                <a:ext uri="{FF2B5EF4-FFF2-40B4-BE49-F238E27FC236}">
                  <a16:creationId xmlns:a16="http://schemas.microsoft.com/office/drawing/2014/main" id="{8F2B37B6-0884-6BE6-7801-976136CE96EB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3" name="Arrow: Notched Right 22">
              <a:extLst>
                <a:ext uri="{FF2B5EF4-FFF2-40B4-BE49-F238E27FC236}">
                  <a16:creationId xmlns:a16="http://schemas.microsoft.com/office/drawing/2014/main" id="{A36492CC-C5EA-1EA4-CE62-515629578CB6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1F22D463-47F8-956A-3F2F-CF897649A0A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200" y="4435989"/>
            <a:ext cx="3680460" cy="1541546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3FBE7F5A-3536-7CF0-14B1-DE357590CC1B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70C852B-1950-4746-3FBA-D747D6BA2223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Footer Placeholder 2">
              <a:extLst>
                <a:ext uri="{FF2B5EF4-FFF2-40B4-BE49-F238E27FC236}">
                  <a16:creationId xmlns:a16="http://schemas.microsoft.com/office/drawing/2014/main" id="{F3B8F8D4-1699-00FC-51A7-889678BE648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511141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5DC96-7D6B-022A-BC8C-33392430B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9359E262-01D9-BF02-4695-E9718D933A6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2D5DECE-2A60-2317-83E1-58347A3F21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9D97A53-F324-D847-0D7A-606ADF6ED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35306DF-F81B-2F74-5E66-B9A57BEB3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17</a:t>
            </a:fld>
            <a:endParaRPr lang="fr-FR" sz="1200" b="1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345F6D45-9037-6C83-8CAB-4DE7CB47F0D9}"/>
              </a:ext>
            </a:extLst>
          </p:cNvPr>
          <p:cNvGrpSpPr/>
          <p:nvPr/>
        </p:nvGrpSpPr>
        <p:grpSpPr>
          <a:xfrm>
            <a:off x="1151432" y="1287780"/>
            <a:ext cx="6551579" cy="4759218"/>
            <a:chOff x="1040582" y="1319307"/>
            <a:chExt cx="8606514" cy="4772492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5F8B616C-BA44-CC85-7A63-484E9D8C67D2}"/>
                </a:ext>
              </a:extLst>
            </p:cNvPr>
            <p:cNvGrpSpPr/>
            <p:nvPr/>
          </p:nvGrpSpPr>
          <p:grpSpPr>
            <a:xfrm>
              <a:off x="1040582" y="1319307"/>
              <a:ext cx="8606514" cy="4772492"/>
              <a:chOff x="1040582" y="1319307"/>
              <a:chExt cx="8606514" cy="4772492"/>
            </a:xfrm>
          </p:grpSpPr>
          <p:pic>
            <p:nvPicPr>
              <p:cNvPr id="25" name="Picture 24">
                <a:extLst>
                  <a:ext uri="{FF2B5EF4-FFF2-40B4-BE49-F238E27FC236}">
                    <a16:creationId xmlns:a16="http://schemas.microsoft.com/office/drawing/2014/main" id="{51ECDDAB-FE4C-91AF-6FF8-D226B63E52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836" r="27170"/>
              <a:stretch>
                <a:fillRect/>
              </a:stretch>
            </p:blipFill>
            <p:spPr>
              <a:xfrm rot="5400000">
                <a:off x="2729400" y="-369511"/>
                <a:ext cx="3437289" cy="6814925"/>
              </a:xfrm>
              <a:prstGeom prst="rect">
                <a:avLst/>
              </a:prstGeom>
              <a:ln w="28575">
                <a:noFill/>
              </a:ln>
              <a:effectLst>
                <a:softEdge rad="31750"/>
              </a:effectLst>
            </p:spPr>
          </p:pic>
          <p:grpSp>
            <p:nvGrpSpPr>
              <p:cNvPr id="130" name="Group 129">
                <a:extLst>
                  <a:ext uri="{FF2B5EF4-FFF2-40B4-BE49-F238E27FC236}">
                    <a16:creationId xmlns:a16="http://schemas.microsoft.com/office/drawing/2014/main" id="{9F7DA611-55F3-BB6C-D4A0-D9C1F2AEF5CE}"/>
                  </a:ext>
                </a:extLst>
              </p:cNvPr>
              <p:cNvGrpSpPr/>
              <p:nvPr/>
            </p:nvGrpSpPr>
            <p:grpSpPr>
              <a:xfrm flipH="1">
                <a:off x="1433594" y="4843239"/>
                <a:ext cx="8213502" cy="1248560"/>
                <a:chOff x="-317043" y="2948866"/>
                <a:chExt cx="8020224" cy="1248560"/>
              </a:xfrm>
            </p:grpSpPr>
            <p:pic>
              <p:nvPicPr>
                <p:cNvPr id="134" name="Picture 133">
                  <a:extLst>
                    <a:ext uri="{FF2B5EF4-FFF2-40B4-BE49-F238E27FC236}">
                      <a16:creationId xmlns:a16="http://schemas.microsoft.com/office/drawing/2014/main" id="{7628D95F-B909-97AA-8AF0-643319E2F95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/>
              </p:blipFill>
              <p:spPr>
                <a:xfrm rot="16140000">
                  <a:off x="3331331" y="-174423"/>
                  <a:ext cx="723475" cy="8020224"/>
                </a:xfrm>
                <a:prstGeom prst="rect">
                  <a:avLst/>
                </a:prstGeom>
              </p:spPr>
            </p:pic>
            <p:sp>
              <p:nvSpPr>
                <p:cNvPr id="161" name="TextBox 160">
                  <a:extLst>
                    <a:ext uri="{FF2B5EF4-FFF2-40B4-BE49-F238E27FC236}">
                      <a16:creationId xmlns:a16="http://schemas.microsoft.com/office/drawing/2014/main" id="{A0B5C525-B1D9-149D-1C21-32C54BFA8514}"/>
                    </a:ext>
                  </a:extLst>
                </p:cNvPr>
                <p:cNvSpPr txBox="1"/>
                <p:nvPr/>
              </p:nvSpPr>
              <p:spPr>
                <a:xfrm>
                  <a:off x="1495088" y="2948866"/>
                  <a:ext cx="1107789" cy="248040"/>
                </a:xfrm>
                <a:prstGeom prst="rect">
                  <a:avLst/>
                </a:prstGeom>
              </p:spPr>
              <p:style>
                <a:lnRef idx="1">
                  <a:schemeClr val="accent1"/>
                </a:lnRef>
                <a:fillRef idx="2">
                  <a:schemeClr val="accent1"/>
                </a:fillRef>
                <a:effectRef idx="1">
                  <a:schemeClr val="accent1"/>
                </a:effectRef>
                <a:fontRef idx="minor">
                  <a:schemeClr val="dk1"/>
                </a:fontRef>
              </p:style>
              <p:txBody>
                <a:bodyPr wrap="square">
                  <a:spAutoFit/>
                </a:bodyPr>
                <a:lstStyle/>
                <a:p>
                  <a:pPr algn="ctr"/>
                  <a:r>
                    <a:rPr lang="fr-FR" sz="1200" dirty="0"/>
                    <a:t>Corde</a:t>
                  </a:r>
                </a:p>
              </p:txBody>
            </p:sp>
          </p:grp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0896C0D-356A-1130-A43B-569F02015153}"/>
                  </a:ext>
                </a:extLst>
              </p:cNvPr>
              <p:cNvSpPr txBox="1"/>
              <p:nvPr/>
            </p:nvSpPr>
            <p:spPr>
              <a:xfrm flipH="1">
                <a:off x="1147351" y="4826753"/>
                <a:ext cx="1325159" cy="416784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fr-FR" sz="1200" dirty="0"/>
                  <a:t>Micro SingleCoil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B54D3656-6CBC-8BF0-2BAB-244DCEE4D29A}"/>
                  </a:ext>
                </a:extLst>
              </p:cNvPr>
              <p:cNvSpPr txBox="1"/>
              <p:nvPr/>
            </p:nvSpPr>
            <p:spPr>
              <a:xfrm flipH="1">
                <a:off x="3985961" y="4843239"/>
                <a:ext cx="1611658" cy="41339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fr-FR" sz="1200" dirty="0"/>
                  <a:t>Micro Humbucker</a:t>
                </a:r>
              </a:p>
            </p:txBody>
          </p:sp>
          <p:cxnSp>
            <p:nvCxnSpPr>
              <p:cNvPr id="51" name="Connector: Elbow 50">
                <a:extLst>
                  <a:ext uri="{FF2B5EF4-FFF2-40B4-BE49-F238E27FC236}">
                    <a16:creationId xmlns:a16="http://schemas.microsoft.com/office/drawing/2014/main" id="{ED1E97F8-A8FA-1050-B6EB-F4BACD4BECC6}"/>
                  </a:ext>
                </a:extLst>
              </p:cNvPr>
              <p:cNvCxnSpPr>
                <a:cxnSpLocks/>
                <a:stCxn id="23" idx="1"/>
              </p:cNvCxnSpPr>
              <p:nvPr/>
            </p:nvCxnSpPr>
            <p:spPr>
              <a:xfrm>
                <a:off x="2472509" y="5035144"/>
                <a:ext cx="655756" cy="484972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Connector: Elbow 57">
                <a:extLst>
                  <a:ext uri="{FF2B5EF4-FFF2-40B4-BE49-F238E27FC236}">
                    <a16:creationId xmlns:a16="http://schemas.microsoft.com/office/drawing/2014/main" id="{5A12C03A-AC35-78C7-64F8-0CD2464AEE27}"/>
                  </a:ext>
                </a:extLst>
              </p:cNvPr>
              <p:cNvCxnSpPr>
                <a:cxnSpLocks/>
                <a:stCxn id="24" idx="3"/>
              </p:cNvCxnSpPr>
              <p:nvPr/>
            </p:nvCxnSpPr>
            <p:spPr>
              <a:xfrm rot="10800000" flipV="1">
                <a:off x="3612100" y="5049938"/>
                <a:ext cx="373862" cy="470177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Connector: Elbow 140">
                <a:extLst>
                  <a:ext uri="{FF2B5EF4-FFF2-40B4-BE49-F238E27FC236}">
                    <a16:creationId xmlns:a16="http://schemas.microsoft.com/office/drawing/2014/main" id="{E958A863-0B06-BFF6-31E6-930BF8318979}"/>
                  </a:ext>
                </a:extLst>
              </p:cNvPr>
              <p:cNvCxnSpPr>
                <a:cxnSpLocks/>
                <a:stCxn id="161" idx="3"/>
              </p:cNvCxnSpPr>
              <p:nvPr/>
            </p:nvCxnSpPr>
            <p:spPr>
              <a:xfrm rot="10800000" flipV="1">
                <a:off x="6353339" y="4967259"/>
                <a:ext cx="303470" cy="850606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Connector: Elbow 28">
                <a:extLst>
                  <a:ext uri="{FF2B5EF4-FFF2-40B4-BE49-F238E27FC236}">
                    <a16:creationId xmlns:a16="http://schemas.microsoft.com/office/drawing/2014/main" id="{34A3299A-CB86-52FB-03E5-0995B8449F4C}"/>
                  </a:ext>
                </a:extLst>
              </p:cNvPr>
              <p:cNvCxnSpPr>
                <a:cxnSpLocks/>
                <a:stCxn id="24" idx="3"/>
              </p:cNvCxnSpPr>
              <p:nvPr/>
            </p:nvCxnSpPr>
            <p:spPr>
              <a:xfrm rot="10800000">
                <a:off x="3741263" y="4208082"/>
                <a:ext cx="244697" cy="841857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Connector: Elbow 45">
                <a:extLst>
                  <a:ext uri="{FF2B5EF4-FFF2-40B4-BE49-F238E27FC236}">
                    <a16:creationId xmlns:a16="http://schemas.microsoft.com/office/drawing/2014/main" id="{748DA0E0-3241-0B77-F0EB-1D0C22CC53F4}"/>
                  </a:ext>
                </a:extLst>
              </p:cNvPr>
              <p:cNvCxnSpPr>
                <a:cxnSpLocks/>
                <a:stCxn id="161" idx="3"/>
              </p:cNvCxnSpPr>
              <p:nvPr/>
            </p:nvCxnSpPr>
            <p:spPr>
              <a:xfrm rot="10800000">
                <a:off x="6057887" y="4658298"/>
                <a:ext cx="598922" cy="308961"/>
              </a:xfrm>
              <a:prstGeom prst="bentConnector3">
                <a:avLst>
                  <a:gd name="adj1" fmla="val 50000"/>
                </a:avLst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Connector: Elbow 10">
                <a:extLst>
                  <a:ext uri="{FF2B5EF4-FFF2-40B4-BE49-F238E27FC236}">
                    <a16:creationId xmlns:a16="http://schemas.microsoft.com/office/drawing/2014/main" id="{750B4731-EC69-1E7A-E492-1FDDC929851E}"/>
                  </a:ext>
                </a:extLst>
              </p:cNvPr>
              <p:cNvCxnSpPr>
                <a:cxnSpLocks/>
                <a:stCxn id="23" idx="1"/>
              </p:cNvCxnSpPr>
              <p:nvPr/>
            </p:nvCxnSpPr>
            <p:spPr>
              <a:xfrm flipV="1">
                <a:off x="2472509" y="4042296"/>
                <a:ext cx="920269" cy="992850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23206AAC-BE44-239A-2F98-44FDDFB5C14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19658" y="3370548"/>
              <a:ext cx="3080036" cy="134349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689EE43-4C1C-B53A-481A-3B95B1A1E364}"/>
              </a:ext>
            </a:extLst>
          </p:cNvPr>
          <p:cNvCxnSpPr>
            <a:cxnSpLocks/>
          </p:cNvCxnSpPr>
          <p:nvPr/>
        </p:nvCxnSpPr>
        <p:spPr>
          <a:xfrm flipH="1">
            <a:off x="2049780" y="5781295"/>
            <a:ext cx="525018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50" name="Group 49">
            <a:extLst>
              <a:ext uri="{FF2B5EF4-FFF2-40B4-BE49-F238E27FC236}">
                <a16:creationId xmlns:a16="http://schemas.microsoft.com/office/drawing/2014/main" id="{6652D22F-CABB-77B2-FA12-0A1F4414A2BF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3338D3F1-E023-E957-7E93-0E852832BB7E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3" name="Footer Placeholder 2">
              <a:extLst>
                <a:ext uri="{FF2B5EF4-FFF2-40B4-BE49-F238E27FC236}">
                  <a16:creationId xmlns:a16="http://schemas.microsoft.com/office/drawing/2014/main" id="{6CEAFEBB-B7D7-A979-765E-DCADAB67C2C2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Loi d’induction de faraday : Le fonctionnement d’une guitare électrique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D1CDCC24-52FC-A6FC-AF35-DBBA86C51873}"/>
                  </a:ext>
                </a:extLst>
              </p:cNvPr>
              <p:cNvSpPr/>
              <p:nvPr/>
            </p:nvSpPr>
            <p:spPr>
              <a:xfrm>
                <a:off x="6457016" y="1318510"/>
                <a:ext cx="2485046" cy="3779800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600" b="1" dirty="0">
                    <a:solidFill>
                      <a:schemeClr val="tx1"/>
                    </a:solidFill>
                  </a:rPr>
                  <a:t>Protocole</a:t>
                </a: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Excitation de la corde ‘’à la main’’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6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Relevé de la tension aux bornes la résistance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𝑎𝑚𝑝</m:t>
                        </m:r>
                      </m:sub>
                    </m:sSub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D1CDCC24-52FC-A6FC-AF35-DBBA86C518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7016" y="1318510"/>
                <a:ext cx="2485046" cy="3779800"/>
              </a:xfrm>
              <a:prstGeom prst="rect">
                <a:avLst/>
              </a:prstGeom>
              <a:blipFill>
                <a:blip r:embed="rId4"/>
                <a:stretch>
                  <a:fillRect l="-242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A985EE0D-F2B6-D1EF-898E-9DF666DFB442}"/>
              </a:ext>
            </a:extLst>
          </p:cNvPr>
          <p:cNvSpPr txBox="1"/>
          <p:nvPr/>
        </p:nvSpPr>
        <p:spPr>
          <a:xfrm>
            <a:off x="1151432" y="757210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Expérimentation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A23E68A-A65C-A12E-753D-45B38F124E8F}"/>
              </a:ext>
            </a:extLst>
          </p:cNvPr>
          <p:cNvSpPr/>
          <p:nvPr/>
        </p:nvSpPr>
        <p:spPr>
          <a:xfrm rot="16200000">
            <a:off x="6269362" y="4195744"/>
            <a:ext cx="1312065" cy="45719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77392EF7-E69A-FBBE-FF61-674BDCF2226A}"/>
              </a:ext>
            </a:extLst>
          </p:cNvPr>
          <p:cNvGrpSpPr/>
          <p:nvPr/>
        </p:nvGrpSpPr>
        <p:grpSpPr>
          <a:xfrm>
            <a:off x="7114959" y="3562570"/>
            <a:ext cx="1800921" cy="1110504"/>
            <a:chOff x="7133777" y="3809995"/>
            <a:chExt cx="1683780" cy="761469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CAD72CAD-7612-3CF0-D4E3-C46A4DFF089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7989763" y="3876498"/>
              <a:ext cx="827794" cy="690115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52AD20C-FA20-6811-A6D9-40C43C57256C}"/>
                </a:ext>
              </a:extLst>
            </p:cNvPr>
            <p:cNvSpPr/>
            <p:nvPr/>
          </p:nvSpPr>
          <p:spPr>
            <a:xfrm>
              <a:off x="7133777" y="3881349"/>
              <a:ext cx="179882" cy="690115"/>
            </a:xfrm>
            <a:prstGeom prst="rect">
              <a:avLst/>
            </a:prstGeom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4" name="Connector: Elbow 13">
              <a:extLst>
                <a:ext uri="{FF2B5EF4-FFF2-40B4-BE49-F238E27FC236}">
                  <a16:creationId xmlns:a16="http://schemas.microsoft.com/office/drawing/2014/main" id="{BA47D6C8-36D4-44AD-CA04-1DB90FF0D34A}"/>
                </a:ext>
              </a:extLst>
            </p:cNvPr>
            <p:cNvCxnSpPr>
              <a:cxnSpLocks/>
              <a:endCxn id="10" idx="2"/>
            </p:cNvCxnSpPr>
            <p:nvPr/>
          </p:nvCxnSpPr>
          <p:spPr>
            <a:xfrm rot="10800000" flipV="1">
              <a:off x="7223719" y="4453242"/>
              <a:ext cx="935397" cy="118221"/>
            </a:xfrm>
            <a:prstGeom prst="bentConnector4">
              <a:avLst>
                <a:gd name="adj1" fmla="val 388"/>
                <a:gd name="adj2" fmla="val 293367"/>
              </a:avLst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Connector: Elbow 19">
              <a:extLst>
                <a:ext uri="{FF2B5EF4-FFF2-40B4-BE49-F238E27FC236}">
                  <a16:creationId xmlns:a16="http://schemas.microsoft.com/office/drawing/2014/main" id="{7D855CD3-8716-F3D8-180F-1F7F063076E1}"/>
                </a:ext>
              </a:extLst>
            </p:cNvPr>
            <p:cNvCxnSpPr>
              <a:cxnSpLocks/>
              <a:endCxn id="10" idx="0"/>
            </p:cNvCxnSpPr>
            <p:nvPr/>
          </p:nvCxnSpPr>
          <p:spPr>
            <a:xfrm rot="10800000" flipV="1">
              <a:off x="7223718" y="3809995"/>
              <a:ext cx="925872" cy="71353"/>
            </a:xfrm>
            <a:prstGeom prst="bentConnector2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00744D9-C28C-C8A8-7738-98A2945790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9590" y="3810000"/>
              <a:ext cx="0" cy="185575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6ECB0DE-2F92-E777-710D-46FE392347D3}"/>
                </a:ext>
              </a:extLst>
            </p:cNvPr>
            <p:cNvSpPr txBox="1"/>
            <p:nvPr/>
          </p:nvSpPr>
          <p:spPr>
            <a:xfrm>
              <a:off x="7215489" y="3860089"/>
              <a:ext cx="60743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100" b="1" dirty="0"/>
                <a:t>Micro</a:t>
              </a:r>
              <a:endParaRPr lang="fr-FR" b="1" dirty="0"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89AF6A25-32DF-F6FA-62E8-D619AC7C340C}"/>
              </a:ext>
            </a:extLst>
          </p:cNvPr>
          <p:cNvSpPr txBox="1"/>
          <p:nvPr/>
        </p:nvSpPr>
        <p:spPr>
          <a:xfrm>
            <a:off x="6429026" y="3345405"/>
            <a:ext cx="60743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/>
              <a:t>Corde</a:t>
            </a:r>
            <a:endParaRPr lang="fr-FR" b="1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447045F-3CC6-9ECE-B003-4ABC5359256F}"/>
              </a:ext>
            </a:extLst>
          </p:cNvPr>
          <p:cNvCxnSpPr/>
          <p:nvPr/>
        </p:nvCxnSpPr>
        <p:spPr>
          <a:xfrm flipV="1">
            <a:off x="7388051" y="3926343"/>
            <a:ext cx="0" cy="540000"/>
          </a:xfrm>
          <a:prstGeom prst="straightConnector1">
            <a:avLst/>
          </a:prstGeom>
          <a:ln>
            <a:solidFill>
              <a:srgbClr val="3890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FAE08B2-6F4F-B387-66ED-7ABA96619EA9}"/>
                  </a:ext>
                </a:extLst>
              </p:cNvPr>
              <p:cNvSpPr txBox="1"/>
              <p:nvPr/>
            </p:nvSpPr>
            <p:spPr>
              <a:xfrm>
                <a:off x="7392712" y="4017150"/>
                <a:ext cx="31656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>
                  <a:solidFill>
                    <a:srgbClr val="38903A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FAE08B2-6F4F-B387-66ED-7ABA96619E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2712" y="4017150"/>
                <a:ext cx="316562" cy="184666"/>
              </a:xfrm>
              <a:prstGeom prst="rect">
                <a:avLst/>
              </a:prstGeom>
              <a:blipFill>
                <a:blip r:embed="rId7"/>
                <a:stretch>
                  <a:fillRect l="-5769" t="-3333" r="-15385" b="-40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05B622C-2AE6-B718-55A0-799064579779}"/>
              </a:ext>
            </a:extLst>
          </p:cNvPr>
          <p:cNvCxnSpPr/>
          <p:nvPr/>
        </p:nvCxnSpPr>
        <p:spPr>
          <a:xfrm flipV="1">
            <a:off x="8030496" y="3899852"/>
            <a:ext cx="0" cy="540000"/>
          </a:xfrm>
          <a:prstGeom prst="straightConnector1">
            <a:avLst/>
          </a:prstGeom>
          <a:ln>
            <a:solidFill>
              <a:srgbClr val="3890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879757A-F1CA-727B-3EAE-68CAA7284482}"/>
                  </a:ext>
                </a:extLst>
              </p:cNvPr>
              <p:cNvSpPr txBox="1"/>
              <p:nvPr/>
            </p:nvSpPr>
            <p:spPr>
              <a:xfrm>
                <a:off x="7727026" y="4220013"/>
                <a:ext cx="31656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>
                  <a:solidFill>
                    <a:srgbClr val="38903A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879757A-F1CA-727B-3EAE-68CAA7284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7026" y="4220013"/>
                <a:ext cx="316562" cy="184666"/>
              </a:xfrm>
              <a:prstGeom prst="rect">
                <a:avLst/>
              </a:prstGeom>
              <a:blipFill>
                <a:blip r:embed="rId8"/>
                <a:stretch>
                  <a:fillRect l="-5882" r="-17647" b="-3871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B333434C-E0AE-A015-4682-6A3CFAF2B69C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15" name="Arrow: Notched Right 14">
              <a:extLst>
                <a:ext uri="{FF2B5EF4-FFF2-40B4-BE49-F238E27FC236}">
                  <a16:creationId xmlns:a16="http://schemas.microsoft.com/office/drawing/2014/main" id="{4D9BA6C9-1419-8CAD-9538-E0AAD8477086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17" name="Arrow: Notched Right 16">
              <a:extLst>
                <a:ext uri="{FF2B5EF4-FFF2-40B4-BE49-F238E27FC236}">
                  <a16:creationId xmlns:a16="http://schemas.microsoft.com/office/drawing/2014/main" id="{3CEF1F90-C8C9-EFDD-5E04-01202774DB7C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18" name="Arrow: Notched Right 17">
              <a:extLst>
                <a:ext uri="{FF2B5EF4-FFF2-40B4-BE49-F238E27FC236}">
                  <a16:creationId xmlns:a16="http://schemas.microsoft.com/office/drawing/2014/main" id="{A1EEDE2E-FA18-CE7E-30C9-727188A7B465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968350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9C121-196D-B280-2659-B969A21D7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C9B5D88-FDE6-E3A7-51AD-089C3F3143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4152A36-64FE-DA5A-CF24-1B317D1612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4087F9B-168A-BB0B-C61B-7988E2A0A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18</a:t>
            </a:fld>
            <a:endParaRPr lang="fr-FR" sz="1200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A14F2C-529C-4FAF-4F41-2E4E75650E94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E831AD5-3BA8-F330-6E59-627CDF882B9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77252" y="1647754"/>
            <a:ext cx="3779997" cy="314999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060ADC2C-B38D-B11B-810B-940D540724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A95B009F-B96E-9B87-61A7-F2485C2D90C3}"/>
              </a:ext>
            </a:extLst>
          </p:cNvPr>
          <p:cNvSpPr txBox="1"/>
          <p:nvPr/>
        </p:nvSpPr>
        <p:spPr>
          <a:xfrm>
            <a:off x="1054904" y="487540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F9D97FD-6B83-C324-B6C0-BC4B9DC437F7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5CE785-2413-FA0C-B860-AACDD4563B50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54905" y="1647095"/>
            <a:ext cx="3779997" cy="3149997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508577-BE3B-4C81-A644-AF32CA74DAEB}"/>
                  </a:ext>
                </a:extLst>
              </p:cNvPr>
              <p:cNvSpPr txBox="1"/>
              <p:nvPr/>
            </p:nvSpPr>
            <p:spPr>
              <a:xfrm>
                <a:off x="1661886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S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508577-BE3B-4C81-A644-AF32CA74DA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1886" y="5281705"/>
                <a:ext cx="2566035" cy="540533"/>
              </a:xfrm>
              <a:prstGeom prst="rect">
                <a:avLst/>
              </a:prstGeom>
              <a:blipFill>
                <a:blip r:embed="rId6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645F245-D290-7375-6E3E-0B133ADDA201}"/>
                  </a:ext>
                </a:extLst>
              </p:cNvPr>
              <p:cNvSpPr txBox="1"/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645F245-D290-7375-6E3E-0B133ADDA2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blipFill>
                <a:blip r:embed="rId7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21E9C5E-82AF-8457-0EA0-C7469D26678D}"/>
                  </a:ext>
                </a:extLst>
              </p:cNvPr>
              <p:cNvSpPr txBox="1"/>
              <p:nvPr/>
            </p:nvSpPr>
            <p:spPr>
              <a:xfrm>
                <a:off x="1568728" y="5859029"/>
                <a:ext cx="2752349" cy="378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21E9C5E-82AF-8457-0EA0-C7469D2667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8728" y="5859029"/>
                <a:ext cx="2752349" cy="37811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0713475-27D9-E2C4-19D6-EB314FA1D777}"/>
                  </a:ext>
                </a:extLst>
              </p:cNvPr>
              <p:cNvSpPr txBox="1"/>
              <p:nvPr/>
            </p:nvSpPr>
            <p:spPr>
              <a:xfrm>
                <a:off x="5480696" y="5859029"/>
                <a:ext cx="2752349" cy="378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0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05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0713475-27D9-E2C4-19D6-EB314FA1D7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0696" y="5859029"/>
                <a:ext cx="2752349" cy="37811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829D7D0E-393F-2A3A-6785-4CD09BB5482E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132C6C4-7726-1D99-BBAE-1A107256985C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Footer Placeholder 2">
              <a:extLst>
                <a:ext uri="{FF2B5EF4-FFF2-40B4-BE49-F238E27FC236}">
                  <a16:creationId xmlns:a16="http://schemas.microsoft.com/office/drawing/2014/main" id="{D0399C1C-C0CB-8BC1-D1D5-3734F40CD9A8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Loi d’induction de faraday : Le fonctionnement d’une guitare électrique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EFAF5280-3AA5-1B44-8C3A-87275694BB13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B1D48AA-71C9-A7F8-0D24-E665B883315B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21" name="Arrow: Notched Right 20">
              <a:extLst>
                <a:ext uri="{FF2B5EF4-FFF2-40B4-BE49-F238E27FC236}">
                  <a16:creationId xmlns:a16="http://schemas.microsoft.com/office/drawing/2014/main" id="{8C97CD50-58E7-6748-6E75-9521AA7B384B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2" name="Arrow: Notched Right 21">
              <a:extLst>
                <a:ext uri="{FF2B5EF4-FFF2-40B4-BE49-F238E27FC236}">
                  <a16:creationId xmlns:a16="http://schemas.microsoft.com/office/drawing/2014/main" id="{738A9CC1-944D-D4F5-87AE-D807BB4F22F8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3" name="Arrow: Notched Right 22">
              <a:extLst>
                <a:ext uri="{FF2B5EF4-FFF2-40B4-BE49-F238E27FC236}">
                  <a16:creationId xmlns:a16="http://schemas.microsoft.com/office/drawing/2014/main" id="{F1D0898C-70A4-CB34-3467-AA35C697B953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9095F3D-7C52-DDA5-58D3-BF33A6D9BA96}"/>
                  </a:ext>
                </a:extLst>
              </p:cNvPr>
              <p:cNvSpPr txBox="1"/>
              <p:nvPr/>
            </p:nvSpPr>
            <p:spPr>
              <a:xfrm>
                <a:off x="4540885" y="5822238"/>
                <a:ext cx="720002" cy="4087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r>
                        <a:rPr lang="fr-FR" sz="105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n</m:t>
                          </m:r>
                          <m: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9095F3D-7C52-DDA5-58D3-BF33A6D9BA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0885" y="5822238"/>
                <a:ext cx="720002" cy="40876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47380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78BF31-E821-6728-8E36-B10996642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4B0B741-545A-D68A-8952-4EDCE703AE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6B74477D-D7F2-2ABE-7B81-51C5B69D6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CAE67E7-325B-A442-4AC4-87E820056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19</a:t>
            </a:fld>
            <a:endParaRPr lang="fr-FR" sz="1200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FF0354A-5BAE-D59C-011E-94CD7A8C139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8A4BA533-9059-7C5E-704B-0229E46104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7CBD1878-4ECE-5A45-5102-8635728F222F}"/>
              </a:ext>
            </a:extLst>
          </p:cNvPr>
          <p:cNvSpPr txBox="1"/>
          <p:nvPr/>
        </p:nvSpPr>
        <p:spPr>
          <a:xfrm>
            <a:off x="1054904" y="487540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AD6E9F1-5F99-B827-FBC9-5EAE06A91D90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AD58936-2546-51C5-057D-441EA23AB3BD}"/>
                  </a:ext>
                </a:extLst>
              </p:cNvPr>
              <p:cNvSpPr txBox="1"/>
              <p:nvPr/>
            </p:nvSpPr>
            <p:spPr>
              <a:xfrm>
                <a:off x="1661886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S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AD58936-2546-51C5-057D-441EA23AB3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1886" y="5281705"/>
                <a:ext cx="2566035" cy="540533"/>
              </a:xfrm>
              <a:prstGeom prst="rect">
                <a:avLst/>
              </a:prstGeom>
              <a:blipFill>
                <a:blip r:embed="rId4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B3AB1F1-5F0A-AABC-284D-E0702F0C75F3}"/>
                  </a:ext>
                </a:extLst>
              </p:cNvPr>
              <p:cNvSpPr txBox="1"/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B3AB1F1-5F0A-AABC-284D-E0702F0C75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blipFill>
                <a:blip r:embed="rId5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603DC35-6662-A54A-97E3-F31B70B1393E}"/>
                  </a:ext>
                </a:extLst>
              </p:cNvPr>
              <p:cNvSpPr txBox="1"/>
              <p:nvPr/>
            </p:nvSpPr>
            <p:spPr>
              <a:xfrm>
                <a:off x="1568728" y="5859029"/>
                <a:ext cx="2752349" cy="378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603DC35-6662-A54A-97E3-F31B70B139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8728" y="5859029"/>
                <a:ext cx="2752349" cy="37811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84BF7F6-E87C-3E5E-36EE-4D75917740C5}"/>
                  </a:ext>
                </a:extLst>
              </p:cNvPr>
              <p:cNvSpPr txBox="1"/>
              <p:nvPr/>
            </p:nvSpPr>
            <p:spPr>
              <a:xfrm>
                <a:off x="5480696" y="5859029"/>
                <a:ext cx="2752349" cy="378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0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05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84BF7F6-E87C-3E5E-36EE-4D75917740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0696" y="5859029"/>
                <a:ext cx="2752349" cy="37811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1">
            <a:extLst>
              <a:ext uri="{FF2B5EF4-FFF2-40B4-BE49-F238E27FC236}">
                <a16:creationId xmlns:a16="http://schemas.microsoft.com/office/drawing/2014/main" id="{31FA3D01-767B-F75B-D388-668D594FB1EA}"/>
              </a:ext>
            </a:extLst>
          </p:cNvPr>
          <p:cNvPicPr>
            <a:picLocks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54905" y="1647753"/>
            <a:ext cx="3779996" cy="314999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D9FB2D9-16CB-E2B5-AF61-0D4CF37873D8}"/>
              </a:ext>
            </a:extLst>
          </p:cNvPr>
          <p:cNvPicPr>
            <a:picLocks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77254" y="1647753"/>
            <a:ext cx="3779996" cy="3149996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B0C13F47-2FA4-AEFE-6475-709019BC670A}"/>
              </a:ext>
            </a:extLst>
          </p:cNvPr>
          <p:cNvGrpSpPr/>
          <p:nvPr/>
        </p:nvGrpSpPr>
        <p:grpSpPr>
          <a:xfrm>
            <a:off x="1719505" y="4456316"/>
            <a:ext cx="355600" cy="375297"/>
            <a:chOff x="1276060" y="5077968"/>
            <a:chExt cx="355600" cy="375297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22246581-1E3F-C376-EE9B-51D8410EA4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172077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CB8E6BC3-802C-881E-B97D-79CA33F962B8}"/>
                    </a:ext>
                  </a:extLst>
                </p:cNvPr>
                <p:cNvSpPr txBox="1"/>
                <p:nvPr/>
              </p:nvSpPr>
              <p:spPr>
                <a:xfrm>
                  <a:off x="1276060" y="5176266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CB8E6BC3-802C-881E-B97D-79CA33F962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6060" y="5176266"/>
                  <a:ext cx="355600" cy="276999"/>
                </a:xfrm>
                <a:prstGeom prst="rect">
                  <a:avLst/>
                </a:prstGeom>
                <a:blipFill>
                  <a:blip r:embed="rId10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3EE4536-26B1-2B40-D8BF-7685C5D4CC1B}"/>
              </a:ext>
            </a:extLst>
          </p:cNvPr>
          <p:cNvGrpSpPr/>
          <p:nvPr/>
        </p:nvGrpSpPr>
        <p:grpSpPr>
          <a:xfrm>
            <a:off x="5643538" y="4457719"/>
            <a:ext cx="355600" cy="375297"/>
            <a:chOff x="1276060" y="5077968"/>
            <a:chExt cx="355600" cy="375297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4B9F7230-A85C-CFE7-3A4C-A4E31E0D10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172077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15F5FE91-15A2-EC81-88D6-69F493F1A42A}"/>
                    </a:ext>
                  </a:extLst>
                </p:cNvPr>
                <p:cNvSpPr txBox="1"/>
                <p:nvPr/>
              </p:nvSpPr>
              <p:spPr>
                <a:xfrm>
                  <a:off x="1276060" y="5176266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15F5FE91-15A2-EC81-88D6-69F493F1A4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6060" y="5176266"/>
                  <a:ext cx="355600" cy="276999"/>
                </a:xfrm>
                <a:prstGeom prst="rect">
                  <a:avLst/>
                </a:prstGeom>
                <a:blipFill>
                  <a:blip r:embed="rId11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4F260DF8-7C16-C630-753B-924737FB9F3C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95FE662-20B9-FDA7-5421-DC6F8E322DAA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21" name="Arrow: Notched Right 20">
              <a:extLst>
                <a:ext uri="{FF2B5EF4-FFF2-40B4-BE49-F238E27FC236}">
                  <a16:creationId xmlns:a16="http://schemas.microsoft.com/office/drawing/2014/main" id="{3419AE0F-2DB3-15FB-A87C-192FEF9F5519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2" name="Arrow: Notched Right 21">
              <a:extLst>
                <a:ext uri="{FF2B5EF4-FFF2-40B4-BE49-F238E27FC236}">
                  <a16:creationId xmlns:a16="http://schemas.microsoft.com/office/drawing/2014/main" id="{14A0456A-81E2-9AB1-5784-BCA96F0A441F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3" name="Arrow: Notched Right 22">
              <a:extLst>
                <a:ext uri="{FF2B5EF4-FFF2-40B4-BE49-F238E27FC236}">
                  <a16:creationId xmlns:a16="http://schemas.microsoft.com/office/drawing/2014/main" id="{2AE978F8-610B-DDB8-4A40-4F47868BD789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CFB55FF-6AA6-A43E-1798-1138E071BA53}"/>
                  </a:ext>
                </a:extLst>
              </p:cNvPr>
              <p:cNvSpPr txBox="1"/>
              <p:nvPr/>
            </p:nvSpPr>
            <p:spPr>
              <a:xfrm>
                <a:off x="4540885" y="5822238"/>
                <a:ext cx="720002" cy="4087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r>
                        <a:rPr lang="fr-FR" sz="105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n</m:t>
                          </m:r>
                          <m: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CFB55FF-6AA6-A43E-1798-1138E071BA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0885" y="5822238"/>
                <a:ext cx="720002" cy="408766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ABABE2FC-67BF-42FF-6590-B6CCC3747F5A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783FCE0-7361-8B86-C2D4-845368F74E2F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Footer Placeholder 2">
              <a:extLst>
                <a:ext uri="{FF2B5EF4-FFF2-40B4-BE49-F238E27FC236}">
                  <a16:creationId xmlns:a16="http://schemas.microsoft.com/office/drawing/2014/main" id="{0730AE4D-952C-BC66-3EC8-221522D8D50F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714293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EB36B-EEE7-63AD-1052-BA146B18C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A5A48B76-A6CD-19C7-74B2-E06DEF701A27}"/>
              </a:ext>
            </a:extLst>
          </p:cNvPr>
          <p:cNvSpPr txBox="1"/>
          <p:nvPr/>
        </p:nvSpPr>
        <p:spPr>
          <a:xfrm>
            <a:off x="1054904" y="451564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593F3EB-D479-9A6F-A19E-59AB047F3EBF}"/>
              </a:ext>
            </a:extLst>
          </p:cNvPr>
          <p:cNvSpPr txBox="1"/>
          <p:nvPr/>
        </p:nvSpPr>
        <p:spPr>
          <a:xfrm>
            <a:off x="4966872" y="453561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DB37EA2-7557-EB46-3122-779BC075F9D5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54905" y="1287993"/>
            <a:ext cx="3779996" cy="314999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055C68E-0D1F-AA84-54C4-642507483F2D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77254" y="1287993"/>
            <a:ext cx="3779996" cy="314999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BF73783-841E-F7A1-178A-9885A488D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E80458D-739C-5CF5-EB1D-C8D614986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1F75714-D4DD-EF69-3314-DA25BB526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20</a:t>
            </a:fld>
            <a:endParaRPr lang="fr-FR" sz="1200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C7279A-6E1C-E599-41B1-1C5420B5694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C65AE9B5-E6E0-28F8-8BF8-AF682AD5D4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3931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A83935E-1413-D3CD-45F9-6BC6ACC700AB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Ecarts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B282290-DB22-4D59-CE2B-2021E4E3C227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21" name="Arrow: Notched Right 20">
              <a:extLst>
                <a:ext uri="{FF2B5EF4-FFF2-40B4-BE49-F238E27FC236}">
                  <a16:creationId xmlns:a16="http://schemas.microsoft.com/office/drawing/2014/main" id="{4F03A7F7-9D75-9978-46BA-C2C3D64E9314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2" name="Arrow: Notched Right 21">
              <a:extLst>
                <a:ext uri="{FF2B5EF4-FFF2-40B4-BE49-F238E27FC236}">
                  <a16:creationId xmlns:a16="http://schemas.microsoft.com/office/drawing/2014/main" id="{A8394F4D-4346-5727-81CF-705EE75C4B72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3" name="Arrow: Notched Right 22">
              <a:extLst>
                <a:ext uri="{FF2B5EF4-FFF2-40B4-BE49-F238E27FC236}">
                  <a16:creationId xmlns:a16="http://schemas.microsoft.com/office/drawing/2014/main" id="{0DF1F93D-9A82-4609-192C-2E1CFB6F46D1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089CCF9-6D3A-7D5D-D6A5-3C4883F2E058}"/>
                  </a:ext>
                </a:extLst>
              </p:cNvPr>
              <p:cNvSpPr/>
              <p:nvPr/>
            </p:nvSpPr>
            <p:spPr>
              <a:xfrm>
                <a:off x="1054904" y="4905607"/>
                <a:ext cx="7691968" cy="1359781"/>
              </a:xfrm>
              <a:prstGeom prst="rect">
                <a:avLst/>
              </a:prstGeom>
              <a:ln w="38100">
                <a:solidFill>
                  <a:srgbClr val="C00000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numCol="2" rtlCol="0" anchor="t"/>
              <a:lstStyle/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Ecarts :</a:t>
                </a:r>
                <a:r>
                  <a:rPr lang="fr-FR" sz="1600" b="1" dirty="0">
                    <a:solidFill>
                      <a:schemeClr val="tx1"/>
                    </a:solidFill>
                  </a:rPr>
                  <a:t>   </a:t>
                </a:r>
                <a14:m>
                  <m:oMath xmlns:m="http://schemas.openxmlformats.org/officeDocument/2006/math">
                    <m:r>
                      <a:rPr lang="fr-FR" sz="160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fr-FR" sz="16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 </m:t>
                    </m:r>
                    <m:r>
                      <a:rPr lang="fr-FR" sz="160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…</m:t>
                    </m:r>
                  </m:oMath>
                </a14:m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Limites du modèle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Vibration dans le plan </a:t>
                </a:r>
                <a14:m>
                  <m:oMath xmlns:m="http://schemas.openxmlformats.org/officeDocument/2006/math">
                    <m:r>
                      <a:rPr lang="fr-FR" sz="16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1600" i="1">
                        <a:latin typeface="Cambria Math" panose="02040503050406030204" pitchFamily="18" charset="0"/>
                      </a:rPr>
                      <m:t>O</m:t>
                    </m:r>
                    <m:acc>
                      <m:accPr>
                        <m:chr m:val="⃗"/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i="1">
                            <a:latin typeface="Cambria Math" panose="02040503050406030204" pitchFamily="18" charset="0"/>
                          </a:rPr>
                          <m:t>y</m:t>
                        </m:r>
                      </m:e>
                    </m:acc>
                    <m:r>
                      <a:rPr lang="fr-FR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Limites expérimentales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Hypothèse sur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fr-FR" sz="16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fr-FR" sz="16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089CCF9-6D3A-7D5D-D6A5-3C4883F2E05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904" y="4905607"/>
                <a:ext cx="7691968" cy="1359781"/>
              </a:xfrm>
              <a:prstGeom prst="rect">
                <a:avLst/>
              </a:prstGeom>
              <a:blipFill>
                <a:blip r:embed="rId6"/>
                <a:stretch>
                  <a:fillRect l="-158" b="-873"/>
                </a:stretch>
              </a:blipFill>
              <a:ln w="3810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EC7F2364-F43F-0BBD-A1ED-163426380F3B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1951B74-B20D-2F4D-76C0-45E7023951D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Footer Placeholder 2">
              <a:extLst>
                <a:ext uri="{FF2B5EF4-FFF2-40B4-BE49-F238E27FC236}">
                  <a16:creationId xmlns:a16="http://schemas.microsoft.com/office/drawing/2014/main" id="{B2219366-967F-9594-9E79-B307AA90BF96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434659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3BAE8-7762-46B2-E907-AD7099361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7EB2398-EFF8-C9A2-49F0-95D4E4A8CC35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D8542C0-197A-96FC-F849-6D84EC76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6116114-727D-00CA-E09B-62BF1F910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6F0E06E-2288-33E6-28E3-CCE75F991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21</a:t>
            </a:fld>
            <a:endParaRPr lang="fr-FR" sz="1200" b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AA1C499-08B3-9C15-9DE4-81770D2A2D95}"/>
                  </a:ext>
                </a:extLst>
              </p:cNvPr>
              <p:cNvSpPr/>
              <p:nvPr/>
            </p:nvSpPr>
            <p:spPr>
              <a:xfrm>
                <a:off x="6115470" y="1390254"/>
                <a:ext cx="2721084" cy="915896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Calcul du gain d’atténuation relatif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 /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AA1C499-08B3-9C15-9DE4-81770D2A2D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5470" y="1390254"/>
                <a:ext cx="2721084" cy="91589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2" descr="Python Logo PNG Transparent – Brands Logos">
            <a:extLst>
              <a:ext uri="{FF2B5EF4-FFF2-40B4-BE49-F238E27FC236}">
                <a16:creationId xmlns:a16="http://schemas.microsoft.com/office/drawing/2014/main" id="{D8CDDD17-77F4-AB75-F09C-BCEFD8A013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AE1FC82B-F70C-8D5D-E171-A36BE02D4021}"/>
              </a:ext>
            </a:extLst>
          </p:cNvPr>
          <p:cNvGrpSpPr/>
          <p:nvPr/>
        </p:nvGrpSpPr>
        <p:grpSpPr>
          <a:xfrm>
            <a:off x="6114891" y="2389099"/>
            <a:ext cx="2721663" cy="3573164"/>
            <a:chOff x="5958063" y="2389099"/>
            <a:chExt cx="2878491" cy="357316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CA3093A-8816-005B-D928-3B44B655C8E2}"/>
                </a:ext>
              </a:extLst>
            </p:cNvPr>
            <p:cNvSpPr/>
            <p:nvPr/>
          </p:nvSpPr>
          <p:spPr>
            <a:xfrm>
              <a:off x="5958063" y="2389099"/>
              <a:ext cx="2878491" cy="3573164"/>
            </a:xfrm>
            <a:prstGeom prst="rect">
              <a:avLst/>
            </a:prstGeom>
            <a:ln w="38100">
              <a:solidFill>
                <a:schemeClr val="accent4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fr-FR" sz="1400" b="1" u="sng" dirty="0">
                  <a:solidFill>
                    <a:schemeClr val="tx1"/>
                  </a:solidFill>
                </a:rPr>
                <a:t>Nœuds de vibration :</a:t>
              </a: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r>
                <a:rPr lang="fr-FR" sz="1400" b="1" u="sng" dirty="0">
                  <a:solidFill>
                    <a:schemeClr val="tx1"/>
                  </a:solidFill>
                </a:rPr>
                <a:t>Filtrage en peigne spatial :</a:t>
              </a: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A3C3E0C0-FBAB-DC78-5B15-476675A966D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rcRect l="3726" t="8959" r="3236" b="4515"/>
            <a:stretch>
              <a:fillRect/>
            </a:stretch>
          </p:blipFill>
          <p:spPr>
            <a:xfrm>
              <a:off x="6477938" y="4604155"/>
              <a:ext cx="1798321" cy="377538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C40B446E-9BC2-8E92-5207-9220276E30C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76" t="6786" r="5431" b="11456"/>
            <a:stretch>
              <a:fillRect/>
            </a:stretch>
          </p:blipFill>
          <p:spPr>
            <a:xfrm>
              <a:off x="6988242" y="5064642"/>
              <a:ext cx="793915" cy="525312"/>
            </a:xfrm>
            <a:prstGeom prst="rect">
              <a:avLst/>
            </a:prstGeom>
          </p:spPr>
        </p:pic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021575B3-C3E7-D035-FD8D-5A909416EA0A}"/>
                </a:ext>
              </a:extLst>
            </p:cNvPr>
            <p:cNvGrpSpPr/>
            <p:nvPr/>
          </p:nvGrpSpPr>
          <p:grpSpPr>
            <a:xfrm>
              <a:off x="6100686" y="2976560"/>
              <a:ext cx="2593244" cy="1059640"/>
              <a:chOff x="6082122" y="3612551"/>
              <a:chExt cx="2593242" cy="1010417"/>
            </a:xfrm>
          </p:grpSpPr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BB147258-36F6-4862-BCFA-8C34DAA43A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3726" t="8959" r="3236" b="4515"/>
              <a:stretch>
                <a:fillRect/>
              </a:stretch>
            </p:blipFill>
            <p:spPr>
              <a:xfrm>
                <a:off x="6467476" y="3612551"/>
                <a:ext cx="1798320" cy="360000"/>
              </a:xfrm>
              <a:prstGeom prst="rect">
                <a:avLst/>
              </a:prstGeom>
            </p:spPr>
          </p:pic>
          <p:pic>
            <p:nvPicPr>
              <p:cNvPr id="49" name="Picture 48">
                <a:extLst>
                  <a:ext uri="{FF2B5EF4-FFF2-40B4-BE49-F238E27FC236}">
                    <a16:creationId xmlns:a16="http://schemas.microsoft.com/office/drawing/2014/main" id="{6A19C6E1-1347-2947-0051-4E4B5CAD30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BEBA8EAE-BF5A-486C-A8C5-ECC9F3942E4B}">
                    <a14:imgProps xmlns:a14="http://schemas.microsoft.com/office/drawing/2010/main">
                      <a14:imgLayer r:embed="rId9">
                        <a14:imgEffect>
                          <a14:backgroundRemoval t="32494" b="70953" l="13960" r="44675"/>
                        </a14:imgEffect>
                        <a14:imgEffect>
                          <a14:brightnessContrast bright="40000" contrast="-4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120" t="27687" r="51486" b="24239"/>
              <a:stretch>
                <a:fillRect/>
              </a:stretch>
            </p:blipFill>
            <p:spPr>
              <a:xfrm>
                <a:off x="6920250" y="3866659"/>
                <a:ext cx="932157" cy="756309"/>
              </a:xfrm>
              <a:prstGeom prst="rect">
                <a:avLst/>
              </a:prstGeom>
            </p:spPr>
          </p:pic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BD459B7B-7876-DECC-7C5D-6EF7F711F39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70935" y="3612551"/>
                <a:ext cx="0" cy="863841"/>
              </a:xfrm>
              <a:prstGeom prst="line">
                <a:avLst/>
              </a:prstGeom>
              <a:ln w="9525" cap="flat" cmpd="sng" algn="ctr">
                <a:solidFill>
                  <a:srgbClr val="C00000"/>
                </a:solidFill>
                <a:prstDash val="sys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69C823F4-FBD6-6BF7-DDFC-373F3F49B1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76827" t="8959" r="3236" b="4515"/>
              <a:stretch>
                <a:fillRect/>
              </a:stretch>
            </p:blipFill>
            <p:spPr>
              <a:xfrm>
                <a:off x="6082122" y="3612551"/>
                <a:ext cx="385354" cy="360000"/>
              </a:xfrm>
              <a:prstGeom prst="rect">
                <a:avLst/>
              </a:prstGeom>
            </p:spPr>
          </p:pic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849EE9B9-324D-BB3C-541F-721FD32B50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3726" t="8959" r="75085" b="4515"/>
              <a:stretch>
                <a:fillRect/>
              </a:stretch>
            </p:blipFill>
            <p:spPr>
              <a:xfrm>
                <a:off x="8265796" y="3612551"/>
                <a:ext cx="409568" cy="360000"/>
              </a:xfrm>
              <a:prstGeom prst="rect">
                <a:avLst/>
              </a:prstGeom>
            </p:spPr>
          </p:pic>
        </p:grp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65BA09B4-C52E-B87A-CF04-8232C165DF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42582" y="4874895"/>
              <a:ext cx="0" cy="696047"/>
            </a:xfrm>
            <a:prstGeom prst="line">
              <a:avLst/>
            </a:prstGeom>
            <a:ln w="9525" cap="flat" cmpd="sng" algn="ctr">
              <a:solidFill>
                <a:srgbClr val="C00000"/>
              </a:solidFill>
              <a:prstDash val="sys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B93E4C2-FBE4-4065-9278-90914A6ECE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1982" y="4703445"/>
              <a:ext cx="0" cy="867498"/>
            </a:xfrm>
            <a:prstGeom prst="line">
              <a:avLst/>
            </a:prstGeom>
            <a:ln w="9525" cap="flat" cmpd="sng" algn="ctr">
              <a:solidFill>
                <a:srgbClr val="C00000"/>
              </a:solidFill>
              <a:prstDash val="sys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BC7D0547-D387-B897-E456-A805D590BB3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65440" y="1390253"/>
            <a:ext cx="4914598" cy="457200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6E397FF-C015-EFB0-8B23-1CAD33D41E2A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3025DD0-215E-234D-A6A2-1FD5805F9C02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31" name="Arrow: Notched Right 30">
              <a:extLst>
                <a:ext uri="{FF2B5EF4-FFF2-40B4-BE49-F238E27FC236}">
                  <a16:creationId xmlns:a16="http://schemas.microsoft.com/office/drawing/2014/main" id="{D3A4AB58-3A63-9814-076B-2FC4796E289D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32" name="Arrow: Notched Right 31">
              <a:extLst>
                <a:ext uri="{FF2B5EF4-FFF2-40B4-BE49-F238E27FC236}">
                  <a16:creationId xmlns:a16="http://schemas.microsoft.com/office/drawing/2014/main" id="{4197452A-40AD-A015-B333-911394D6D8A2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33" name="Arrow: Notched Right 32">
              <a:extLst>
                <a:ext uri="{FF2B5EF4-FFF2-40B4-BE49-F238E27FC236}">
                  <a16:creationId xmlns:a16="http://schemas.microsoft.com/office/drawing/2014/main" id="{AD2B9C32-4F6B-825A-F2F7-6B13BC2A1D4D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E06407F-AE7F-3BBE-2F75-7730253F21E7}"/>
                  </a:ext>
                </a:extLst>
              </p:cNvPr>
              <p:cNvSpPr txBox="1"/>
              <p:nvPr/>
            </p:nvSpPr>
            <p:spPr>
              <a:xfrm>
                <a:off x="6712351" y="3941223"/>
                <a:ext cx="1526741" cy="378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E06407F-AE7F-3BBE-2F75-7730253F21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2351" y="3941223"/>
                <a:ext cx="1526741" cy="37811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1CAC20F-EC26-B5B1-7233-C097D272BB96}"/>
                  </a:ext>
                </a:extLst>
              </p:cNvPr>
              <p:cNvSpPr txBox="1"/>
              <p:nvPr/>
            </p:nvSpPr>
            <p:spPr>
              <a:xfrm>
                <a:off x="6277160" y="5584997"/>
                <a:ext cx="2358907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0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05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1CAC20F-EC26-B5B1-7233-C097D272BB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7160" y="5584997"/>
                <a:ext cx="2358907" cy="391646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0C7C8EA8-F319-D7E0-8067-9D1EAC76E64F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5DA953AF-25C3-1D39-4B06-09ED975BB1A5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Footer Placeholder 2">
              <a:extLst>
                <a:ext uri="{FF2B5EF4-FFF2-40B4-BE49-F238E27FC236}">
                  <a16:creationId xmlns:a16="http://schemas.microsoft.com/office/drawing/2014/main" id="{4BCE2257-F05E-832B-4E41-697261064FAC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848409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7443C-1132-470C-D64F-59D770C6D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37ADF0A-BC65-2B59-DB0A-5AC2D897D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CCF66D6-7D94-C687-307E-E0B2527B1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46AB8D3-DEB4-0AE6-6FE3-850FB50B2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22</a:t>
            </a:fld>
            <a:endParaRPr lang="fr-FR" sz="1200" b="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28FC845-40D7-1D84-2831-0F5EB2B9A9BD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52D14195-002C-3AC6-91BA-38D5950E6A8F}"/>
              </a:ext>
            </a:extLst>
          </p:cNvPr>
          <p:cNvGrpSpPr/>
          <p:nvPr/>
        </p:nvGrpSpPr>
        <p:grpSpPr>
          <a:xfrm>
            <a:off x="890041" y="4838220"/>
            <a:ext cx="8051023" cy="1210580"/>
            <a:chOff x="194470" y="5083538"/>
            <a:chExt cx="8484459" cy="121058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B8A93C6F-6963-CF1D-4030-848C335D32BA}"/>
                </a:ext>
              </a:extLst>
            </p:cNvPr>
            <p:cNvGrpSpPr/>
            <p:nvPr/>
          </p:nvGrpSpPr>
          <p:grpSpPr>
            <a:xfrm>
              <a:off x="194470" y="5083538"/>
              <a:ext cx="8484459" cy="1150814"/>
              <a:chOff x="194470" y="5083538"/>
              <a:chExt cx="8484459" cy="1150814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4EC0EFE0-5A7E-434A-48B5-6D0BDA324E79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B24626F8-3405-7B94-857D-F1F2A8E46808}"/>
                    </a:ext>
                  </a:extLst>
                </p:cNvPr>
                <p:cNvSpPr/>
                <p:nvPr/>
              </p:nvSpPr>
              <p:spPr>
                <a:xfrm>
                  <a:off x="4222980" y="3059437"/>
                  <a:ext cx="1244192" cy="739126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Filtrage Interne</a:t>
                  </a:r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E65B8228-B903-2034-466C-E1CF7CE3C58B}"/>
                    </a:ext>
                  </a:extLst>
                </p:cNvPr>
                <p:cNvSpPr/>
                <p:nvPr/>
              </p:nvSpPr>
              <p:spPr>
                <a:xfrm>
                  <a:off x="2406061" y="3059437"/>
                  <a:ext cx="1244192" cy="739126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Induction</a:t>
                  </a:r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67C62744-6624-30B8-4516-B89653B12216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57" name="Straight Arrow Connector 56">
                  <a:extLst>
                    <a:ext uri="{FF2B5EF4-FFF2-40B4-BE49-F238E27FC236}">
                      <a16:creationId xmlns:a16="http://schemas.microsoft.com/office/drawing/2014/main" id="{BE861EC0-ADFA-BFD5-9A59-357BF9F8DA0C}"/>
                    </a:ext>
                  </a:extLst>
                </p:cNvPr>
                <p:cNvCxnSpPr>
                  <a:cxnSpLocks/>
                  <a:stCxn id="55" idx="3"/>
                  <a:endCxn id="54" idx="1"/>
                </p:cNvCxnSpPr>
                <p:nvPr/>
              </p:nvCxnSpPr>
              <p:spPr>
                <a:xfrm>
                  <a:off x="3650253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Arrow Connector 57">
                  <a:extLst>
                    <a:ext uri="{FF2B5EF4-FFF2-40B4-BE49-F238E27FC236}">
                      <a16:creationId xmlns:a16="http://schemas.microsoft.com/office/drawing/2014/main" id="{CBAA01B1-07B4-0E8E-EA74-4165A97C907C}"/>
                    </a:ext>
                  </a:extLst>
                </p:cNvPr>
                <p:cNvCxnSpPr>
                  <a:cxnSpLocks/>
                  <a:stCxn id="54" idx="3"/>
                  <a:endCxn id="56" idx="1"/>
                </p:cNvCxnSpPr>
                <p:nvPr/>
              </p:nvCxnSpPr>
              <p:spPr>
                <a:xfrm>
                  <a:off x="5467172" y="3429000"/>
                  <a:ext cx="572726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Arrow Connector 58">
                  <a:extLst>
                    <a:ext uri="{FF2B5EF4-FFF2-40B4-BE49-F238E27FC236}">
                      <a16:creationId xmlns:a16="http://schemas.microsoft.com/office/drawing/2014/main" id="{2351D297-C352-0650-1F96-4B946D7E8EDF}"/>
                    </a:ext>
                  </a:extLst>
                </p:cNvPr>
                <p:cNvCxnSpPr>
                  <a:cxnSpLocks/>
                  <a:endCxn id="55" idx="1"/>
                </p:cNvCxnSpPr>
                <p:nvPr/>
              </p:nvCxnSpPr>
              <p:spPr>
                <a:xfrm>
                  <a:off x="1833334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Arrow Connector 59">
                  <a:extLst>
                    <a:ext uri="{FF2B5EF4-FFF2-40B4-BE49-F238E27FC236}">
                      <a16:creationId xmlns:a16="http://schemas.microsoft.com/office/drawing/2014/main" id="{2C793BFD-06C9-831C-9B6A-6D0B4AB1F2FB}"/>
                    </a:ext>
                  </a:extLst>
                </p:cNvPr>
                <p:cNvCxnSpPr>
                  <a:cxnSpLocks/>
                  <a:stCxn id="56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BC89B3A1-9684-D240-5467-3E824101697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BC89B3A1-9684-D240-5467-3E824101697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0A65CBD3-56E2-8142-5CE2-5D9B819463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0A65CBD3-56E2-8142-5CE2-5D9B8194632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74510184-3A41-CDD1-88B7-90ACF554C78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74510184-3A41-CDD1-88B7-90ACF554C78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r="-8219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8AEFA58-920D-CA4B-0F07-1505906941E3}"/>
                  </a:ext>
                </a:extLst>
              </p:cNvPr>
              <p:cNvSpPr txBox="1"/>
              <p:nvPr/>
            </p:nvSpPr>
            <p:spPr>
              <a:xfrm>
                <a:off x="194470" y="5571687"/>
                <a:ext cx="1313526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Champ Magnétique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AE9D5FC-7311-9DE7-224D-265153585FFE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62E58AEB-3C8B-BEE6-23D3-28ACF6A082A1}"/>
                  </a:ext>
                </a:extLst>
              </p:cNvPr>
              <p:cNvSpPr txBox="1"/>
              <p:nvPr/>
            </p:nvSpPr>
            <p:spPr>
              <a:xfrm>
                <a:off x="2968578" y="5083538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>
                    <a:solidFill>
                      <a:srgbClr val="C00000"/>
                    </a:solidFill>
                  </a:rPr>
                  <a:t>Micro</a:t>
                </a:r>
              </a:p>
            </p:txBody>
          </p:sp>
        </p:grp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39D5AB90-5B5D-299C-905F-5A23D8466EEA}"/>
                </a:ext>
              </a:extLst>
            </p:cNvPr>
            <p:cNvSpPr/>
            <p:nvPr/>
          </p:nvSpPr>
          <p:spPr>
            <a:xfrm>
              <a:off x="1791455" y="5434033"/>
              <a:ext cx="3187230" cy="860085"/>
            </a:xfrm>
            <a:prstGeom prst="rect">
              <a:avLst/>
            </a:prstGeom>
            <a:noFill/>
            <a:ln w="38100">
              <a:solidFill>
                <a:srgbClr val="C0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7E631FB0-AF2B-52D9-ABF9-A8C72A563A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18" t="7821" r="16609" b="12129"/>
          <a:stretch>
            <a:fillRect/>
          </a:stretch>
        </p:blipFill>
        <p:spPr>
          <a:xfrm>
            <a:off x="1734842" y="1174970"/>
            <a:ext cx="6192596" cy="376155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553E6B5-774E-45B6-DA00-9F5B475B3E3F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Réduction du ’’Hum’’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50706A1-BAF8-0ABA-BBB5-9605B362C076}"/>
              </a:ext>
            </a:extLst>
          </p:cNvPr>
          <p:cNvGrpSpPr/>
          <p:nvPr/>
        </p:nvGrpSpPr>
        <p:grpSpPr>
          <a:xfrm>
            <a:off x="202936" y="594095"/>
            <a:ext cx="720000" cy="5600965"/>
            <a:chOff x="297252" y="716513"/>
            <a:chExt cx="720000" cy="4930125"/>
          </a:xfrm>
        </p:grpSpPr>
        <p:sp>
          <p:nvSpPr>
            <p:cNvPr id="20" name="Arrow: Notched Right 19">
              <a:extLst>
                <a:ext uri="{FF2B5EF4-FFF2-40B4-BE49-F238E27FC236}">
                  <a16:creationId xmlns:a16="http://schemas.microsoft.com/office/drawing/2014/main" id="{8A9C9857-0BF1-6B0C-D679-EB7A3B5B769B}"/>
                </a:ext>
              </a:extLst>
            </p:cNvPr>
            <p:cNvSpPr/>
            <p:nvPr/>
          </p:nvSpPr>
          <p:spPr>
            <a:xfrm rot="5400000">
              <a:off x="-242748" y="1256513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1" name="Arrow: Notched Right 20">
              <a:extLst>
                <a:ext uri="{FF2B5EF4-FFF2-40B4-BE49-F238E27FC236}">
                  <a16:creationId xmlns:a16="http://schemas.microsoft.com/office/drawing/2014/main" id="{80F90705-71A0-2149-EA0C-E35C0DE32146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2" name="Arrow: Notched Right 21">
              <a:extLst>
                <a:ext uri="{FF2B5EF4-FFF2-40B4-BE49-F238E27FC236}">
                  <a16:creationId xmlns:a16="http://schemas.microsoft.com/office/drawing/2014/main" id="{227E36FC-9D2E-DFD4-4123-DC5A431AF29D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07D1DE63-1FBC-6661-9677-B384958B3830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6F19366-E464-2982-AC55-682B5038ECC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Footer Placeholder 2">
              <a:extLst>
                <a:ext uri="{FF2B5EF4-FFF2-40B4-BE49-F238E27FC236}">
                  <a16:creationId xmlns:a16="http://schemas.microsoft.com/office/drawing/2014/main" id="{D84F2450-77A8-A713-52EC-5795B2CDDA3C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487995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1C3C5-724E-6B47-34F2-CF92308B7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723932D-DB1E-0F79-2630-BD139B43CBE1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A165BD7B-D6B6-F854-07A0-F8064B514725}"/>
                  </a:ext>
                </a:extLst>
              </p:cNvPr>
              <p:cNvSpPr/>
              <p:nvPr/>
            </p:nvSpPr>
            <p:spPr>
              <a:xfrm>
                <a:off x="1211000" y="2537460"/>
                <a:ext cx="3842591" cy="3657600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t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500" dirty="0"/>
                  <a:t>: Gradient du champ parasite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du champ parasite</a:t>
                </a: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A165BD7B-D6B6-F854-07A0-F8064B5147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1000" y="2537460"/>
                <a:ext cx="3842591" cy="3657600"/>
              </a:xfrm>
              <a:prstGeom prst="rect">
                <a:avLst/>
              </a:prstGeom>
              <a:blipFill>
                <a:blip r:embed="rId2"/>
                <a:stretch>
                  <a:fillRect l="-472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9FDBC51-B7C5-D612-8598-965C48AC72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176A7DB-7D10-F9C8-D148-462CE4532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ADAE1A4-DBF7-136C-C7FB-905349CD6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23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DB6957C-FA40-780F-7F7C-92FF0723E95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9F7A028-A084-247B-14D0-F31ACD171867}"/>
                  </a:ext>
                </a:extLst>
              </p:cNvPr>
              <p:cNvSpPr/>
              <p:nvPr/>
            </p:nvSpPr>
            <p:spPr>
              <a:xfrm>
                <a:off x="5153163" y="1371600"/>
                <a:ext cx="3797279" cy="4823460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dirty="0">
                    <a:solidFill>
                      <a:schemeClr val="tx1"/>
                    </a:solidFill>
                  </a:rPr>
                  <a:t>On considère un champ parasite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′)</m:t>
                      </m:r>
                      <m:func>
                        <m:func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pPr algn="ctr"/>
                <a:endParaRPr lang="fr-FR" sz="1600" dirty="0"/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Pour un micro SingleCoil :</a:t>
                </a: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On place le micro tel que </a:t>
                </a:r>
                <a14:m>
                  <m:oMath xmlns:m="http://schemas.openxmlformats.org/officeDocument/2006/math"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′=0</m:t>
                    </m:r>
                  </m:oMath>
                </a14:m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u="sng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ⅇ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(0, 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pPr algn="ctr"/>
                <a:endParaRPr lang="fr-FR" sz="1600" dirty="0"/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Pour un micro Humbucker :</a:t>
                </a:r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u="sng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ⅇ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2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𝑁𝑆</m:t>
                          </m: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bSup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|</m:t>
                      </m:r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9F7A028-A084-247B-14D0-F31ACD1718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3163" y="1371600"/>
                <a:ext cx="3797279" cy="4823460"/>
              </a:xfrm>
              <a:prstGeom prst="rect">
                <a:avLst/>
              </a:prstGeom>
              <a:blipFill>
                <a:blip r:embed="rId3"/>
                <a:stretch>
                  <a:fillRect l="-318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AutoShape 2" descr="Image de ">
            <a:extLst>
              <a:ext uri="{FF2B5EF4-FFF2-40B4-BE49-F238E27FC236}">
                <a16:creationId xmlns:a16="http://schemas.microsoft.com/office/drawing/2014/main" id="{191D9128-D82D-813C-F887-06FAE524B6D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75F50479-08FB-2EE6-757E-66C7267A670D}"/>
                  </a:ext>
                </a:extLst>
              </p:cNvPr>
              <p:cNvSpPr/>
              <p:nvPr/>
            </p:nvSpPr>
            <p:spPr>
              <a:xfrm>
                <a:off x="1210999" y="1371600"/>
                <a:ext cx="3842591" cy="1023002"/>
              </a:xfrm>
              <a:prstGeom prst="rect">
                <a:avLst/>
              </a:prstGeom>
              <a:ln w="38100"/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Hypothèses 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Gradient magnétique </a:t>
                </a:r>
                <a14:m>
                  <m:oMath xmlns:m="http://schemas.openxmlformats.org/officeDocument/2006/math">
                    <m:r>
                      <a:rPr lang="fr-FR" sz="16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600" dirty="0"/>
                  <a:t> 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Micros ponctuels</a:t>
                </a:r>
              </a:p>
            </p:txBody>
          </p:sp>
        </mc:Choice>
        <mc:Fallback xmlns="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75F50479-08FB-2EE6-757E-66C7267A67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0999" y="1371600"/>
                <a:ext cx="3842591" cy="1023002"/>
              </a:xfrm>
              <a:prstGeom prst="rect">
                <a:avLst/>
              </a:prstGeom>
              <a:blipFill>
                <a:blip r:embed="rId4"/>
                <a:stretch>
                  <a:fillRect l="-472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FAA40752-E5E1-66A7-7976-506A1FE13A71}"/>
              </a:ext>
            </a:extLst>
          </p:cNvPr>
          <p:cNvSpPr txBox="1"/>
          <p:nvPr/>
        </p:nvSpPr>
        <p:spPr>
          <a:xfrm>
            <a:off x="1151432" y="757210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Théorie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F73D4D17-B068-BC08-FD30-C054806AF9D6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32494" b="70953" l="13960" r="44675"/>
                    </a14:imgEffect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462" t="33994" r="56355" b="28677"/>
          <a:stretch>
            <a:fillRect/>
          </a:stretch>
        </p:blipFill>
        <p:spPr>
          <a:xfrm rot="16200000">
            <a:off x="3789600" y="4075725"/>
            <a:ext cx="540000" cy="72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C37DEA7-2203-42F7-6199-1F53CB0FEEA9}"/>
              </a:ext>
            </a:extLst>
          </p:cNvPr>
          <p:cNvPicPr>
            <a:picLocks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51165" t="31109" r="16927" b="29421"/>
          <a:stretch>
            <a:fillRect/>
          </a:stretch>
        </p:blipFill>
        <p:spPr>
          <a:xfrm rot="16200000">
            <a:off x="3519600" y="5043882"/>
            <a:ext cx="1080000" cy="720000"/>
          </a:xfrm>
          <a:prstGeom prst="rect">
            <a:avLst/>
          </a:prstGeom>
        </p:spPr>
      </p:pic>
      <p:grpSp>
        <p:nvGrpSpPr>
          <p:cNvPr id="41" name="Group 40">
            <a:extLst>
              <a:ext uri="{FF2B5EF4-FFF2-40B4-BE49-F238E27FC236}">
                <a16:creationId xmlns:a16="http://schemas.microsoft.com/office/drawing/2014/main" id="{BE12A478-9168-E9A7-08C1-904DA5C9D11F}"/>
              </a:ext>
            </a:extLst>
          </p:cNvPr>
          <p:cNvGrpSpPr/>
          <p:nvPr/>
        </p:nvGrpSpPr>
        <p:grpSpPr>
          <a:xfrm>
            <a:off x="3464259" y="4302651"/>
            <a:ext cx="1304635" cy="1803753"/>
            <a:chOff x="1435741" y="3154410"/>
            <a:chExt cx="1304635" cy="180375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A3BE3CFB-79EF-46B3-B885-C590E1FFCCB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85090" y="4255046"/>
              <a:ext cx="487716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13CEC012-6C4D-4FA6-13FD-D7443D6FED09}"/>
                    </a:ext>
                  </a:extLst>
                </p:cNvPr>
                <p:cNvSpPr txBox="1"/>
                <p:nvPr/>
              </p:nvSpPr>
              <p:spPr>
                <a:xfrm>
                  <a:off x="1435741" y="4143861"/>
                  <a:ext cx="169918" cy="2223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13CEC012-6C4D-4FA6-13FD-D7443D6FED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5741" y="4143861"/>
                  <a:ext cx="169918" cy="222369"/>
                </a:xfrm>
                <a:prstGeom prst="rect">
                  <a:avLst/>
                </a:prstGeom>
                <a:blipFill>
                  <a:blip r:embed="rId9"/>
                  <a:stretch>
                    <a:fillRect l="-28571" r="-32143" b="-2973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20A816B5-53E3-F589-38D2-8FB5899DC46E}"/>
                </a:ext>
              </a:extLst>
            </p:cNvPr>
            <p:cNvCxnSpPr>
              <a:cxnSpLocks/>
            </p:cNvCxnSpPr>
            <p:nvPr/>
          </p:nvCxnSpPr>
          <p:spPr>
            <a:xfrm>
              <a:off x="2072806" y="4255046"/>
              <a:ext cx="0" cy="416567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DDD4A81F-E446-8C5B-C4B6-971AC4B98CD1}"/>
                    </a:ext>
                  </a:extLst>
                </p:cNvPr>
                <p:cNvSpPr txBox="1"/>
                <p:nvPr/>
              </p:nvSpPr>
              <p:spPr>
                <a:xfrm>
                  <a:off x="1990251" y="4735794"/>
                  <a:ext cx="165110" cy="2223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DDD4A81F-E446-8C5B-C4B6-971AC4B98C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0251" y="4735794"/>
                  <a:ext cx="165110" cy="222369"/>
                </a:xfrm>
                <a:prstGeom prst="rect">
                  <a:avLst/>
                </a:prstGeom>
                <a:blipFill>
                  <a:blip r:embed="rId10"/>
                  <a:stretch>
                    <a:fillRect l="-22222" r="-22222" b="-8108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CC432440-AFBD-FE2E-238F-FB732EA55D33}"/>
                    </a:ext>
                  </a:extLst>
                </p:cNvPr>
                <p:cNvSpPr txBox="1"/>
                <p:nvPr/>
              </p:nvSpPr>
              <p:spPr>
                <a:xfrm>
                  <a:off x="2391082" y="4290780"/>
                  <a:ext cx="34663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CC432440-AFBD-FE2E-238F-FB732EA55D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91082" y="4290780"/>
                  <a:ext cx="346633" cy="276999"/>
                </a:xfrm>
                <a:prstGeom prst="rect">
                  <a:avLst/>
                </a:prstGeom>
                <a:blipFill>
                  <a:blip r:embed="rId11"/>
                  <a:stretch>
                    <a:fillRect l="-8772" t="-2174" r="-17544" b="-1521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4066B23E-CB7A-24DB-69DB-5E458707C247}"/>
                    </a:ext>
                  </a:extLst>
                </p:cNvPr>
                <p:cNvSpPr txBox="1"/>
                <p:nvPr/>
              </p:nvSpPr>
              <p:spPr>
                <a:xfrm>
                  <a:off x="2388421" y="3868311"/>
                  <a:ext cx="35195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4066B23E-CB7A-24DB-69DB-5E458707C2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88421" y="3868311"/>
                  <a:ext cx="351955" cy="276999"/>
                </a:xfrm>
                <a:prstGeom prst="rect">
                  <a:avLst/>
                </a:prstGeom>
                <a:blipFill>
                  <a:blip r:embed="rId12"/>
                  <a:stretch>
                    <a:fillRect l="-8772" t="-2222" r="-19298" b="-17778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0329C849-FD05-E48F-7B3A-455288FE671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85090" y="3279270"/>
              <a:ext cx="487716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91721E5-D838-9684-957E-F4B2D764E8F9}"/>
                    </a:ext>
                  </a:extLst>
                </p:cNvPr>
                <p:cNvSpPr txBox="1"/>
                <p:nvPr/>
              </p:nvSpPr>
              <p:spPr>
                <a:xfrm>
                  <a:off x="1435741" y="3154410"/>
                  <a:ext cx="169918" cy="2223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91721E5-D838-9684-957E-F4B2D764E8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5741" y="3154410"/>
                  <a:ext cx="169918" cy="222369"/>
                </a:xfrm>
                <a:prstGeom prst="rect">
                  <a:avLst/>
                </a:prstGeom>
                <a:blipFill>
                  <a:blip r:embed="rId13"/>
                  <a:stretch>
                    <a:fillRect l="-28571" r="-32143" b="-3055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4CCB477B-68D4-66E8-9099-532A344293A4}"/>
                </a:ext>
              </a:extLst>
            </p:cNvPr>
            <p:cNvCxnSpPr>
              <a:cxnSpLocks/>
            </p:cNvCxnSpPr>
            <p:nvPr/>
          </p:nvCxnSpPr>
          <p:spPr>
            <a:xfrm>
              <a:off x="2072806" y="3279270"/>
              <a:ext cx="0" cy="166055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A9B3E65F-92A4-D8EE-10ED-0F9447D71CBD}"/>
                    </a:ext>
                  </a:extLst>
                </p:cNvPr>
                <p:cNvSpPr txBox="1"/>
                <p:nvPr/>
              </p:nvSpPr>
              <p:spPr>
                <a:xfrm>
                  <a:off x="1990251" y="3430485"/>
                  <a:ext cx="165110" cy="2223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A9B3E65F-92A4-D8EE-10ED-0F9447D71C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0251" y="3430485"/>
                  <a:ext cx="165110" cy="222369"/>
                </a:xfrm>
                <a:prstGeom prst="rect">
                  <a:avLst/>
                </a:prstGeom>
                <a:blipFill>
                  <a:blip r:embed="rId14"/>
                  <a:stretch>
                    <a:fillRect l="-22222" r="-22222" b="-8108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D125323C-5C14-F193-F991-30FAE1066184}"/>
              </a:ext>
            </a:extLst>
          </p:cNvPr>
          <p:cNvGrpSpPr/>
          <p:nvPr/>
        </p:nvGrpSpPr>
        <p:grpSpPr>
          <a:xfrm>
            <a:off x="1699654" y="4952326"/>
            <a:ext cx="1544379" cy="901924"/>
            <a:chOff x="1699654" y="4952326"/>
            <a:chExt cx="1544379" cy="901924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9E8E7F2C-74F6-4532-DDC7-7644551959A7}"/>
                </a:ext>
              </a:extLst>
            </p:cNvPr>
            <p:cNvCxnSpPr/>
            <p:nvPr/>
          </p:nvCxnSpPr>
          <p:spPr>
            <a:xfrm>
              <a:off x="1700920" y="5403881"/>
              <a:ext cx="1508760" cy="0"/>
            </a:xfrm>
            <a:prstGeom prst="straightConnector1">
              <a:avLst/>
            </a:prstGeom>
            <a:ln w="38100"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48B2373-3BE8-8DA8-0C01-F9A3AD3ED065}"/>
                    </a:ext>
                  </a:extLst>
                </p:cNvPr>
                <p:cNvSpPr txBox="1"/>
                <p:nvPr/>
              </p:nvSpPr>
              <p:spPr>
                <a:xfrm>
                  <a:off x="2283738" y="5006421"/>
                  <a:ext cx="347211" cy="34515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2000" i="1" smtClean="0">
                                <a:solidFill>
                                  <a:srgbClr val="38903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2000" b="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000" b="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fr-FR" sz="2000" b="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20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48B2373-3BE8-8DA8-0C01-F9A3AD3ED0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83738" y="5006421"/>
                  <a:ext cx="347211" cy="345159"/>
                </a:xfrm>
                <a:prstGeom prst="rect">
                  <a:avLst/>
                </a:prstGeom>
                <a:blipFill>
                  <a:blip r:embed="rId15"/>
                  <a:stretch>
                    <a:fillRect l="-15789" r="-3509" b="-1578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4" name="Arc 43">
              <a:extLst>
                <a:ext uri="{FF2B5EF4-FFF2-40B4-BE49-F238E27FC236}">
                  <a16:creationId xmlns:a16="http://schemas.microsoft.com/office/drawing/2014/main" id="{85D0D423-6440-EDF0-0B59-8D2843A8BF31}"/>
                </a:ext>
              </a:extLst>
            </p:cNvPr>
            <p:cNvSpPr/>
            <p:nvPr/>
          </p:nvSpPr>
          <p:spPr>
            <a:xfrm>
              <a:off x="1700920" y="5403288"/>
              <a:ext cx="1508760" cy="450962"/>
            </a:xfrm>
            <a:prstGeom prst="arc">
              <a:avLst>
                <a:gd name="adj1" fmla="val 16200000"/>
                <a:gd name="adj2" fmla="val 21318415"/>
              </a:avLst>
            </a:prstGeom>
            <a:ln w="28575">
              <a:solidFill>
                <a:srgbClr val="38903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5" name="Arc 44">
              <a:extLst>
                <a:ext uri="{FF2B5EF4-FFF2-40B4-BE49-F238E27FC236}">
                  <a16:creationId xmlns:a16="http://schemas.microsoft.com/office/drawing/2014/main" id="{FE8E84BD-8DB9-8C32-A2D5-836E000D5D67}"/>
                </a:ext>
              </a:extLst>
            </p:cNvPr>
            <p:cNvSpPr/>
            <p:nvPr/>
          </p:nvSpPr>
          <p:spPr>
            <a:xfrm flipV="1">
              <a:off x="1699654" y="4952326"/>
              <a:ext cx="1508760" cy="450962"/>
            </a:xfrm>
            <a:prstGeom prst="arc">
              <a:avLst>
                <a:gd name="adj1" fmla="val 16200000"/>
                <a:gd name="adj2" fmla="val 21318415"/>
              </a:avLst>
            </a:prstGeom>
            <a:ln w="28575">
              <a:solidFill>
                <a:srgbClr val="38903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6" name="Isosceles Triangle 45">
              <a:extLst>
                <a:ext uri="{FF2B5EF4-FFF2-40B4-BE49-F238E27FC236}">
                  <a16:creationId xmlns:a16="http://schemas.microsoft.com/office/drawing/2014/main" id="{E8F1C0D4-E7BF-A56A-66B8-2EF66503523C}"/>
                </a:ext>
              </a:extLst>
            </p:cNvPr>
            <p:cNvSpPr/>
            <p:nvPr/>
          </p:nvSpPr>
          <p:spPr>
            <a:xfrm rot="2778153">
              <a:off x="3174565" y="5186224"/>
              <a:ext cx="67698" cy="71238"/>
            </a:xfrm>
            <a:prstGeom prst="triangle">
              <a:avLst/>
            </a:prstGeom>
            <a:solidFill>
              <a:srgbClr val="38903A"/>
            </a:solidFill>
            <a:ln>
              <a:solidFill>
                <a:srgbClr val="3890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7" name="Isosceles Triangle 46">
              <a:extLst>
                <a:ext uri="{FF2B5EF4-FFF2-40B4-BE49-F238E27FC236}">
                  <a16:creationId xmlns:a16="http://schemas.microsoft.com/office/drawing/2014/main" id="{FF99D8DF-EB3C-7D2B-91C5-6DA397B1020C}"/>
                </a:ext>
              </a:extLst>
            </p:cNvPr>
            <p:cNvSpPr/>
            <p:nvPr/>
          </p:nvSpPr>
          <p:spPr>
            <a:xfrm rot="8004520">
              <a:off x="3164379" y="5548707"/>
              <a:ext cx="67698" cy="71238"/>
            </a:xfrm>
            <a:prstGeom prst="triangle">
              <a:avLst/>
            </a:prstGeom>
            <a:solidFill>
              <a:srgbClr val="38903A"/>
            </a:solidFill>
            <a:ln>
              <a:solidFill>
                <a:srgbClr val="3890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6D80C00-81CF-0ACA-2B22-AD88491FC8A1}"/>
              </a:ext>
            </a:extLst>
          </p:cNvPr>
          <p:cNvCxnSpPr/>
          <p:nvPr/>
        </p:nvCxnSpPr>
        <p:spPr>
          <a:xfrm flipH="1">
            <a:off x="1447764" y="4792980"/>
            <a:ext cx="327663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4F9E354E-E60E-E463-62F4-338A1F273E89}"/>
              </a:ext>
            </a:extLst>
          </p:cNvPr>
          <p:cNvGrpSpPr/>
          <p:nvPr/>
        </p:nvGrpSpPr>
        <p:grpSpPr>
          <a:xfrm>
            <a:off x="202936" y="594095"/>
            <a:ext cx="720000" cy="5600965"/>
            <a:chOff x="297252" y="716513"/>
            <a:chExt cx="720000" cy="4930125"/>
          </a:xfrm>
        </p:grpSpPr>
        <p:sp>
          <p:nvSpPr>
            <p:cNvPr id="26" name="Arrow: Notched Right 25">
              <a:extLst>
                <a:ext uri="{FF2B5EF4-FFF2-40B4-BE49-F238E27FC236}">
                  <a16:creationId xmlns:a16="http://schemas.microsoft.com/office/drawing/2014/main" id="{084A79AB-938F-F853-693D-A39ACF5ECD5D}"/>
                </a:ext>
              </a:extLst>
            </p:cNvPr>
            <p:cNvSpPr/>
            <p:nvPr/>
          </p:nvSpPr>
          <p:spPr>
            <a:xfrm rot="5400000">
              <a:off x="-242748" y="1256513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7" name="Arrow: Notched Right 26">
              <a:extLst>
                <a:ext uri="{FF2B5EF4-FFF2-40B4-BE49-F238E27FC236}">
                  <a16:creationId xmlns:a16="http://schemas.microsoft.com/office/drawing/2014/main" id="{5937F862-1D7F-4ECB-C0DA-79BE4F378E6D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8" name="Arrow: Notched Right 27">
              <a:extLst>
                <a:ext uri="{FF2B5EF4-FFF2-40B4-BE49-F238E27FC236}">
                  <a16:creationId xmlns:a16="http://schemas.microsoft.com/office/drawing/2014/main" id="{E8C4B8AB-41E2-8F9C-E48B-41BBE0CAC648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98DBCAD-8DE2-B26A-F28F-DE975A13CF1C}"/>
              </a:ext>
            </a:extLst>
          </p:cNvPr>
          <p:cNvGrpSpPr/>
          <p:nvPr/>
        </p:nvGrpSpPr>
        <p:grpSpPr>
          <a:xfrm>
            <a:off x="1713173" y="3988565"/>
            <a:ext cx="1544379" cy="901924"/>
            <a:chOff x="1699654" y="4952326"/>
            <a:chExt cx="1544379" cy="901924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F3F9B1D8-9D10-F88F-4092-C5BE6B1D1EAA}"/>
                </a:ext>
              </a:extLst>
            </p:cNvPr>
            <p:cNvCxnSpPr/>
            <p:nvPr/>
          </p:nvCxnSpPr>
          <p:spPr>
            <a:xfrm>
              <a:off x="1700920" y="5403881"/>
              <a:ext cx="1508760" cy="0"/>
            </a:xfrm>
            <a:prstGeom prst="straightConnector1">
              <a:avLst/>
            </a:prstGeom>
            <a:ln w="38100"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0DB244FD-9C5A-2D4B-196B-CA6F26C94AEF}"/>
                    </a:ext>
                  </a:extLst>
                </p:cNvPr>
                <p:cNvSpPr txBox="1"/>
                <p:nvPr/>
              </p:nvSpPr>
              <p:spPr>
                <a:xfrm>
                  <a:off x="2283738" y="5006421"/>
                  <a:ext cx="347211" cy="34515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2000" i="1" smtClean="0">
                                <a:solidFill>
                                  <a:srgbClr val="38903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2000" b="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000" b="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fr-FR" sz="2000" b="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20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0DB244FD-9C5A-2D4B-196B-CA6F26C94A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83738" y="5006421"/>
                  <a:ext cx="347211" cy="345159"/>
                </a:xfrm>
                <a:prstGeom prst="rect">
                  <a:avLst/>
                </a:prstGeom>
                <a:blipFill>
                  <a:blip r:embed="rId16"/>
                  <a:stretch>
                    <a:fillRect l="-15789" r="-3509" b="-1578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Arc 36">
              <a:extLst>
                <a:ext uri="{FF2B5EF4-FFF2-40B4-BE49-F238E27FC236}">
                  <a16:creationId xmlns:a16="http://schemas.microsoft.com/office/drawing/2014/main" id="{3E97DF05-5490-31B1-A805-F06F41AA3A12}"/>
                </a:ext>
              </a:extLst>
            </p:cNvPr>
            <p:cNvSpPr/>
            <p:nvPr/>
          </p:nvSpPr>
          <p:spPr>
            <a:xfrm>
              <a:off x="1700920" y="5403288"/>
              <a:ext cx="1508760" cy="450962"/>
            </a:xfrm>
            <a:prstGeom prst="arc">
              <a:avLst>
                <a:gd name="adj1" fmla="val 16200000"/>
                <a:gd name="adj2" fmla="val 21318415"/>
              </a:avLst>
            </a:prstGeom>
            <a:ln w="28575">
              <a:solidFill>
                <a:srgbClr val="38903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8" name="Arc 37">
              <a:extLst>
                <a:ext uri="{FF2B5EF4-FFF2-40B4-BE49-F238E27FC236}">
                  <a16:creationId xmlns:a16="http://schemas.microsoft.com/office/drawing/2014/main" id="{B2354A2E-C08C-81D8-2AFE-6DC06DC0D8B4}"/>
                </a:ext>
              </a:extLst>
            </p:cNvPr>
            <p:cNvSpPr/>
            <p:nvPr/>
          </p:nvSpPr>
          <p:spPr>
            <a:xfrm flipV="1">
              <a:off x="1699654" y="4952326"/>
              <a:ext cx="1508760" cy="450962"/>
            </a:xfrm>
            <a:prstGeom prst="arc">
              <a:avLst>
                <a:gd name="adj1" fmla="val 16200000"/>
                <a:gd name="adj2" fmla="val 21318415"/>
              </a:avLst>
            </a:prstGeom>
            <a:ln w="28575">
              <a:solidFill>
                <a:srgbClr val="38903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Isosceles Triangle 38">
              <a:extLst>
                <a:ext uri="{FF2B5EF4-FFF2-40B4-BE49-F238E27FC236}">
                  <a16:creationId xmlns:a16="http://schemas.microsoft.com/office/drawing/2014/main" id="{96F9CB74-D7AB-3B25-38FB-F4F08ECD4546}"/>
                </a:ext>
              </a:extLst>
            </p:cNvPr>
            <p:cNvSpPr/>
            <p:nvPr/>
          </p:nvSpPr>
          <p:spPr>
            <a:xfrm rot="2778153">
              <a:off x="3174565" y="5186224"/>
              <a:ext cx="67698" cy="71238"/>
            </a:xfrm>
            <a:prstGeom prst="triangle">
              <a:avLst/>
            </a:prstGeom>
            <a:solidFill>
              <a:srgbClr val="38903A"/>
            </a:solidFill>
            <a:ln>
              <a:solidFill>
                <a:srgbClr val="3890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0" name="Isosceles Triangle 39">
              <a:extLst>
                <a:ext uri="{FF2B5EF4-FFF2-40B4-BE49-F238E27FC236}">
                  <a16:creationId xmlns:a16="http://schemas.microsoft.com/office/drawing/2014/main" id="{83616F32-5E18-8F61-D331-A3D22F87DE3F}"/>
                </a:ext>
              </a:extLst>
            </p:cNvPr>
            <p:cNvSpPr/>
            <p:nvPr/>
          </p:nvSpPr>
          <p:spPr>
            <a:xfrm rot="8004520">
              <a:off x="3164379" y="5548707"/>
              <a:ext cx="67698" cy="71238"/>
            </a:xfrm>
            <a:prstGeom prst="triangle">
              <a:avLst/>
            </a:prstGeom>
            <a:solidFill>
              <a:srgbClr val="38903A"/>
            </a:solidFill>
            <a:ln>
              <a:solidFill>
                <a:srgbClr val="3890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06E3F63-18A3-9498-5073-A5EF88801CCB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CD188FC-F06E-EA7C-476B-D42BE57B1E8F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" name="Footer Placeholder 2">
              <a:extLst>
                <a:ext uri="{FF2B5EF4-FFF2-40B4-BE49-F238E27FC236}">
                  <a16:creationId xmlns:a16="http://schemas.microsoft.com/office/drawing/2014/main" id="{8E4F5BB7-84F5-256D-1766-FF80BA3A6684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884591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317EF-1FA9-4C71-24AC-92C2CCEDF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7A830A7-B734-AAE1-B623-C2C7A0333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E4270AEB-E3E1-1E93-ABDC-EF4719ADC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02644A6-17D6-7DD7-E116-6CC650453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24</a:t>
            </a:fld>
            <a:endParaRPr lang="fr-FR" sz="1200" b="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D17026C-30AC-055B-0F5E-C7C1D3422A7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BE267BF-F8C8-7B9F-086E-2829E24D70E2}"/>
              </a:ext>
            </a:extLst>
          </p:cNvPr>
          <p:cNvGrpSpPr/>
          <p:nvPr/>
        </p:nvGrpSpPr>
        <p:grpSpPr>
          <a:xfrm>
            <a:off x="1159140" y="1536491"/>
            <a:ext cx="6758213" cy="4658569"/>
            <a:chOff x="1088521" y="1146180"/>
            <a:chExt cx="6758213" cy="4934910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C325D940-13FD-EE6E-C1BF-2EAC1C5E3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227" b="5227"/>
            <a:stretch/>
          </p:blipFill>
          <p:spPr>
            <a:xfrm rot="16200000">
              <a:off x="2190128" y="306547"/>
              <a:ext cx="2942282" cy="4621547"/>
            </a:xfrm>
            <a:prstGeom prst="rect">
              <a:avLst/>
            </a:prstGeom>
            <a:ln w="28575">
              <a:noFill/>
            </a:ln>
            <a:effectLst>
              <a:softEdge rad="31750"/>
            </a:effectLst>
          </p:spPr>
        </p:pic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C1537CB8-8F77-3361-FCF5-324906ABEE21}"/>
                </a:ext>
              </a:extLst>
            </p:cNvPr>
            <p:cNvGrpSpPr/>
            <p:nvPr/>
          </p:nvGrpSpPr>
          <p:grpSpPr>
            <a:xfrm flipH="1">
              <a:off x="1433732" y="4360802"/>
              <a:ext cx="6413002" cy="1720288"/>
              <a:chOff x="1440953" y="2466429"/>
              <a:chExt cx="6262094" cy="1720288"/>
            </a:xfrm>
          </p:grpSpPr>
          <p:pic>
            <p:nvPicPr>
              <p:cNvPr id="134" name="Picture 133">
                <a:extLst>
                  <a:ext uri="{FF2B5EF4-FFF2-40B4-BE49-F238E27FC236}">
                    <a16:creationId xmlns:a16="http://schemas.microsoft.com/office/drawing/2014/main" id="{485931D7-3E78-6020-17E4-F6EE0BB401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 rot="16140000">
                <a:off x="4210262" y="693933"/>
                <a:ext cx="723475" cy="6262094"/>
              </a:xfrm>
              <a:prstGeom prst="rect">
                <a:avLst/>
              </a:prstGeom>
            </p:spPr>
          </p:pic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749D53FD-1AA2-3F26-4A50-75DD1D2E5A33}"/>
                  </a:ext>
                </a:extLst>
              </p:cNvPr>
              <p:cNvSpPr txBox="1"/>
              <p:nvPr/>
            </p:nvSpPr>
            <p:spPr>
              <a:xfrm>
                <a:off x="4052454" y="2466429"/>
                <a:ext cx="633157" cy="27699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fr-FR" sz="1200" dirty="0"/>
                  <a:t>Corde</a:t>
                </a:r>
              </a:p>
            </p:txBody>
          </p:sp>
        </p:grpSp>
        <p:cxnSp>
          <p:nvCxnSpPr>
            <p:cNvPr id="21" name="Connector: Elbow 20">
              <a:extLst>
                <a:ext uri="{FF2B5EF4-FFF2-40B4-BE49-F238E27FC236}">
                  <a16:creationId xmlns:a16="http://schemas.microsoft.com/office/drawing/2014/main" id="{3EE8BFC5-F2AA-D1A3-380C-6809D26261A6}"/>
                </a:ext>
              </a:extLst>
            </p:cNvPr>
            <p:cNvCxnSpPr>
              <a:cxnSpLocks/>
              <a:stCxn id="23" idx="0"/>
            </p:cNvCxnSpPr>
            <p:nvPr/>
          </p:nvCxnSpPr>
          <p:spPr>
            <a:xfrm rot="5400000" flipH="1" flipV="1">
              <a:off x="1274767" y="3531748"/>
              <a:ext cx="1167611" cy="256417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1729105-5D1B-BD47-7B86-BF65201E2C22}"/>
                </a:ext>
              </a:extLst>
            </p:cNvPr>
            <p:cNvSpPr txBox="1"/>
            <p:nvPr/>
          </p:nvSpPr>
          <p:spPr>
            <a:xfrm flipH="1">
              <a:off x="2525532" y="4255954"/>
              <a:ext cx="1387055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Micro Humbucker</a:t>
              </a:r>
            </a:p>
          </p:txBody>
        </p:sp>
        <p:cxnSp>
          <p:nvCxnSpPr>
            <p:cNvPr id="51" name="Connector: Elbow 50">
              <a:extLst>
                <a:ext uri="{FF2B5EF4-FFF2-40B4-BE49-F238E27FC236}">
                  <a16:creationId xmlns:a16="http://schemas.microsoft.com/office/drawing/2014/main" id="{3736A5C1-091B-7125-5BE6-37A8B606888F}"/>
                </a:ext>
              </a:extLst>
            </p:cNvPr>
            <p:cNvCxnSpPr>
              <a:cxnSpLocks/>
              <a:stCxn id="23" idx="2"/>
            </p:cNvCxnSpPr>
            <p:nvPr/>
          </p:nvCxnSpPr>
          <p:spPr>
            <a:xfrm rot="16200000" flipH="1">
              <a:off x="1724074" y="4527051"/>
              <a:ext cx="1036591" cy="1024010"/>
            </a:xfrm>
            <a:prstGeom prst="bentConnector3">
              <a:avLst>
                <a:gd name="adj1" fmla="val 19616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ctor: Elbow 57">
              <a:extLst>
                <a:ext uri="{FF2B5EF4-FFF2-40B4-BE49-F238E27FC236}">
                  <a16:creationId xmlns:a16="http://schemas.microsoft.com/office/drawing/2014/main" id="{9A269F26-F8FB-BD35-8D1C-147049D4D4C3}"/>
                </a:ext>
              </a:extLst>
            </p:cNvPr>
            <p:cNvCxnSpPr>
              <a:cxnSpLocks/>
              <a:stCxn id="24" idx="2"/>
            </p:cNvCxnSpPr>
            <p:nvPr/>
          </p:nvCxnSpPr>
          <p:spPr>
            <a:xfrm rot="5400000">
              <a:off x="2678638" y="4956566"/>
              <a:ext cx="964034" cy="116808"/>
            </a:xfrm>
            <a:prstGeom prst="bentConnector3">
              <a:avLst>
                <a:gd name="adj1" fmla="val 20491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or: Elbow 60">
              <a:extLst>
                <a:ext uri="{FF2B5EF4-FFF2-40B4-BE49-F238E27FC236}">
                  <a16:creationId xmlns:a16="http://schemas.microsoft.com/office/drawing/2014/main" id="{CD4B400A-45D8-1178-C9C6-D74658FD0F29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 rot="16200000" flipV="1">
              <a:off x="2166435" y="3203329"/>
              <a:ext cx="1167611" cy="937638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Connector: Elbow 140">
              <a:extLst>
                <a:ext uri="{FF2B5EF4-FFF2-40B4-BE49-F238E27FC236}">
                  <a16:creationId xmlns:a16="http://schemas.microsoft.com/office/drawing/2014/main" id="{2B74BC81-0396-58E2-4F5F-25A19BB7D6D7}"/>
                </a:ext>
              </a:extLst>
            </p:cNvPr>
            <p:cNvCxnSpPr>
              <a:cxnSpLocks/>
              <a:stCxn id="161" idx="2"/>
            </p:cNvCxnSpPr>
            <p:nvPr/>
          </p:nvCxnSpPr>
          <p:spPr>
            <a:xfrm rot="5400000">
              <a:off x="3978664" y="4933548"/>
              <a:ext cx="1165175" cy="573681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Connector: Elbow 145">
              <a:extLst>
                <a:ext uri="{FF2B5EF4-FFF2-40B4-BE49-F238E27FC236}">
                  <a16:creationId xmlns:a16="http://schemas.microsoft.com/office/drawing/2014/main" id="{4427088E-AEAA-CC36-74E4-446F94028ABB}"/>
                </a:ext>
              </a:extLst>
            </p:cNvPr>
            <p:cNvCxnSpPr>
              <a:cxnSpLocks/>
              <a:stCxn id="161" idx="0"/>
            </p:cNvCxnSpPr>
            <p:nvPr/>
          </p:nvCxnSpPr>
          <p:spPr>
            <a:xfrm rot="16200000" flipV="1">
              <a:off x="3888275" y="3400986"/>
              <a:ext cx="1295657" cy="623976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2AC37F92-0300-2194-BBFA-28D6CCCBFC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04620" y="3077337"/>
              <a:ext cx="4509001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E98F84A-A707-90F0-135B-B3D6DB6478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51685" y="5819775"/>
              <a:ext cx="5373659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B7AF251-442D-D41A-2407-64D8B6581262}"/>
                </a:ext>
              </a:extLst>
            </p:cNvPr>
            <p:cNvSpPr txBox="1"/>
            <p:nvPr/>
          </p:nvSpPr>
          <p:spPr>
            <a:xfrm flipH="1">
              <a:off x="1088521" y="4243762"/>
              <a:ext cx="1283687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Micro SingleCoil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DAA78053-9B3F-8A75-512E-06D3655B0586}"/>
                  </a:ext>
                </a:extLst>
              </p:cNvPr>
              <p:cNvSpPr/>
              <p:nvPr/>
            </p:nvSpPr>
            <p:spPr>
              <a:xfrm>
                <a:off x="6451777" y="1536488"/>
                <a:ext cx="2485046" cy="3919700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600" b="1" dirty="0">
                    <a:solidFill>
                      <a:schemeClr val="tx1"/>
                    </a:solidFill>
                  </a:rPr>
                  <a:t>Protocole</a:t>
                </a:r>
              </a:p>
              <a:p>
                <a:endParaRPr lang="fr-FR" sz="1600" b="1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Utilisation de Bobine Helmholtz pour contrôler le champ parasite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6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20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num>
                            <m:den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3/2</m:t>
                          </m:r>
                        </m:sup>
                      </m:sSup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box>
                        <m:box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h𝑒𝑙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DAA78053-9B3F-8A75-512E-06D3655B05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1777" y="1536488"/>
                <a:ext cx="2485046" cy="3919700"/>
              </a:xfrm>
              <a:prstGeom prst="rect">
                <a:avLst/>
              </a:prstGeom>
              <a:blipFill>
                <a:blip r:embed="rId4"/>
                <a:stretch>
                  <a:fillRect l="-242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Picture 2" descr="Bobine de Helmholtz sur socle : PAM067370">
            <a:extLst>
              <a:ext uri="{FF2B5EF4-FFF2-40B4-BE49-F238E27FC236}">
                <a16:creationId xmlns:a16="http://schemas.microsoft.com/office/drawing/2014/main" id="{97F9CA38-454F-5EAF-74D4-E7E8E328C6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0839" y="3222403"/>
            <a:ext cx="2227030" cy="14742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61A8287-CC45-F296-8ECB-B5F08F23D09F}"/>
              </a:ext>
            </a:extLst>
          </p:cNvPr>
          <p:cNvSpPr txBox="1"/>
          <p:nvPr/>
        </p:nvSpPr>
        <p:spPr>
          <a:xfrm>
            <a:off x="1151432" y="757210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Expérimentation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5C99DC4-F3DF-C32D-947D-3E2B0DFF7179}"/>
              </a:ext>
            </a:extLst>
          </p:cNvPr>
          <p:cNvGrpSpPr/>
          <p:nvPr/>
        </p:nvGrpSpPr>
        <p:grpSpPr>
          <a:xfrm>
            <a:off x="202936" y="594095"/>
            <a:ext cx="720000" cy="5600965"/>
            <a:chOff x="297252" y="716513"/>
            <a:chExt cx="720000" cy="4930125"/>
          </a:xfrm>
        </p:grpSpPr>
        <p:sp>
          <p:nvSpPr>
            <p:cNvPr id="18" name="Arrow: Notched Right 17">
              <a:extLst>
                <a:ext uri="{FF2B5EF4-FFF2-40B4-BE49-F238E27FC236}">
                  <a16:creationId xmlns:a16="http://schemas.microsoft.com/office/drawing/2014/main" id="{537A9D31-F37A-8C5A-EB4B-54CA2888191F}"/>
                </a:ext>
              </a:extLst>
            </p:cNvPr>
            <p:cNvSpPr/>
            <p:nvPr/>
          </p:nvSpPr>
          <p:spPr>
            <a:xfrm rot="5400000">
              <a:off x="-242748" y="1256513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19" name="Arrow: Notched Right 18">
              <a:extLst>
                <a:ext uri="{FF2B5EF4-FFF2-40B4-BE49-F238E27FC236}">
                  <a16:creationId xmlns:a16="http://schemas.microsoft.com/office/drawing/2014/main" id="{0B3EADAE-1E5A-7804-AD1A-2E7ABB862D59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0" name="Arrow: Notched Right 19">
              <a:extLst>
                <a:ext uri="{FF2B5EF4-FFF2-40B4-BE49-F238E27FC236}">
                  <a16:creationId xmlns:a16="http://schemas.microsoft.com/office/drawing/2014/main" id="{7542F3D2-755E-67CE-3305-5C8CAC5DA620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F4D060AE-4742-D8B5-61B6-553566A7F6A2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1A61D3E-6CDD-7313-43C9-D2F0E63324C1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Footer Placeholder 2">
              <a:extLst>
                <a:ext uri="{FF2B5EF4-FFF2-40B4-BE49-F238E27FC236}">
                  <a16:creationId xmlns:a16="http://schemas.microsoft.com/office/drawing/2014/main" id="{391E767F-0360-B146-2D34-43323635A9B6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624458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E6AFA-70C9-B7FE-A472-60C4C27834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A348215-9595-C53C-9D1F-0AE715543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A3EE6B27-66B7-FBF2-69B6-655417A4F3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EEB7A66-3E79-4383-848F-4D2E2E6CAD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25</a:t>
            </a:fld>
            <a:endParaRPr lang="fr-FR" sz="1200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F549BE0-B26C-0AB6-EB7D-9447C548FAE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7F41339-ACB6-8863-7950-5672C56AEF8E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77252" y="1647754"/>
            <a:ext cx="3779997" cy="314999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5582A0BE-17D0-6897-21C0-590EC19507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0D2E2814-83D3-CDD3-DC54-C42B81F387CD}"/>
              </a:ext>
            </a:extLst>
          </p:cNvPr>
          <p:cNvSpPr txBox="1"/>
          <p:nvPr/>
        </p:nvSpPr>
        <p:spPr>
          <a:xfrm>
            <a:off x="1054904" y="487540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7712810-785D-7528-A8C6-78D6B9BF007F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5EF38C6-5917-7E73-6FF0-C484BB1275D9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54905" y="1647095"/>
            <a:ext cx="3779997" cy="3149997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2D8AC4E-A10C-73EE-FA95-EAC26325FA84}"/>
                  </a:ext>
                </a:extLst>
              </p:cNvPr>
              <p:cNvSpPr txBox="1"/>
              <p:nvPr/>
            </p:nvSpPr>
            <p:spPr>
              <a:xfrm>
                <a:off x="1054902" y="5281705"/>
                <a:ext cx="3780001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2D8AC4E-A10C-73EE-FA95-EAC26325FA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902" y="5281705"/>
                <a:ext cx="3780001" cy="276999"/>
              </a:xfrm>
              <a:prstGeom prst="rect">
                <a:avLst/>
              </a:prstGeom>
              <a:blipFill>
                <a:blip r:embed="rId6"/>
                <a:stretch>
                  <a:fillRect b="-6250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10FF9EE-9AB4-8DB0-9E80-35E7FA1749EF}"/>
                  </a:ext>
                </a:extLst>
              </p:cNvPr>
              <p:cNvSpPr txBox="1"/>
              <p:nvPr/>
            </p:nvSpPr>
            <p:spPr>
              <a:xfrm>
                <a:off x="4966870" y="5281705"/>
                <a:ext cx="3780002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|"/>
                          <m:endChr m:val="|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10FF9EE-9AB4-8DB0-9E80-35E7FA1749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6870" y="5281705"/>
                <a:ext cx="3780002" cy="276999"/>
              </a:xfrm>
              <a:prstGeom prst="rect">
                <a:avLst/>
              </a:prstGeom>
              <a:blipFill>
                <a:blip r:embed="rId7"/>
                <a:stretch>
                  <a:fillRect b="-6250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3BEB6DEA-6687-34D8-298A-343E3C0CC09A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75ECA57-6933-57BD-366F-AD8B13CE52D9}"/>
              </a:ext>
            </a:extLst>
          </p:cNvPr>
          <p:cNvGrpSpPr/>
          <p:nvPr/>
        </p:nvGrpSpPr>
        <p:grpSpPr>
          <a:xfrm>
            <a:off x="202936" y="594095"/>
            <a:ext cx="720000" cy="5600965"/>
            <a:chOff x="297252" y="716513"/>
            <a:chExt cx="720000" cy="4930125"/>
          </a:xfrm>
        </p:grpSpPr>
        <p:sp>
          <p:nvSpPr>
            <p:cNvPr id="4" name="Arrow: Notched Right 3">
              <a:extLst>
                <a:ext uri="{FF2B5EF4-FFF2-40B4-BE49-F238E27FC236}">
                  <a16:creationId xmlns:a16="http://schemas.microsoft.com/office/drawing/2014/main" id="{EB2061F9-A72F-B2CB-5A23-51E1F5036801}"/>
                </a:ext>
              </a:extLst>
            </p:cNvPr>
            <p:cNvSpPr/>
            <p:nvPr/>
          </p:nvSpPr>
          <p:spPr>
            <a:xfrm rot="5400000">
              <a:off x="-242748" y="1256513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8" name="Arrow: Notched Right 7">
              <a:extLst>
                <a:ext uri="{FF2B5EF4-FFF2-40B4-BE49-F238E27FC236}">
                  <a16:creationId xmlns:a16="http://schemas.microsoft.com/office/drawing/2014/main" id="{03845822-C55D-966B-4B3F-9A39D61F7D39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18" name="Arrow: Notched Right 17">
              <a:extLst>
                <a:ext uri="{FF2B5EF4-FFF2-40B4-BE49-F238E27FC236}">
                  <a16:creationId xmlns:a16="http://schemas.microsoft.com/office/drawing/2014/main" id="{62926A4D-5D56-0DD3-0766-578FE01DA908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00F479B-F6C9-DCB8-465D-82AB5E7D5ABF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90FD158-F7CC-BF97-4506-C6C4480FEBB5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Footer Placeholder 2">
              <a:extLst>
                <a:ext uri="{FF2B5EF4-FFF2-40B4-BE49-F238E27FC236}">
                  <a16:creationId xmlns:a16="http://schemas.microsoft.com/office/drawing/2014/main" id="{86EFEB16-0B2D-3D86-D7F0-B4BE4AF9744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267210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DE352-AE06-E004-5CFF-5213AB19A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DE84039-989B-A9DF-DE7E-BBEA6F1F2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26E8735-7952-61D9-6518-78B8FC4E9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B6BDE8C-2386-2827-B841-0C05C3231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26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BACE4722-9215-C766-B596-8EAAE3E1C70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3C72D6-A81E-FE9B-6FA7-B4EAF9D122A2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0A22C6F-ECD4-170F-2DD9-944B78FD07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65441" y="1398894"/>
            <a:ext cx="4766410" cy="456336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217ECAE-8489-89FE-382A-0CCCFD537475}"/>
                  </a:ext>
                </a:extLst>
              </p:cNvPr>
              <p:cNvSpPr/>
              <p:nvPr/>
            </p:nvSpPr>
            <p:spPr>
              <a:xfrm>
                <a:off x="5958063" y="1390254"/>
                <a:ext cx="2840497" cy="457200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endParaRPr lang="fr-FR" sz="1400" b="1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fr-FR" sz="1400" b="1" dirty="0">
                    <a:solidFill>
                      <a:schemeClr val="tx1"/>
                    </a:solidFill>
                  </a:rPr>
                  <a:t>Mesures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Théoriquement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47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l-G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b="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0,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05 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fr-FR" sz="14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=29,3 </m:t>
                      </m:r>
                      <m:r>
                        <m:rPr>
                          <m:nor/>
                        </m:rPr>
                        <a:rPr lang="fr-FR" sz="14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endParaRPr lang="fr-FR" sz="1400" dirty="0">
                  <a:solidFill>
                    <a:srgbClr val="C00000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Expérimentalement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sSub>
                          <m:sSubPr>
                            <m:ctrlP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𝑒𝑥𝑝</m:t>
                            </m:r>
                          </m:sub>
                        </m:sSub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1,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50 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l-G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sSub>
                          <m:sSubPr>
                            <m:ctrlP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𝑒𝑥𝑝</m:t>
                            </m:r>
                          </m:sub>
                        </m:sSub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0,61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fr-FR" sz="14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𝑀𝑅</m:t>
                      </m:r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4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fr-FR" sz="14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𝑒𝑥𝑝</m:t>
                                      </m:r>
                                    </m:sub>
                                  </m:sSub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𝑒𝑥𝑝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7,7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fr-FR" sz="140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217ECAE-8489-89FE-382A-0CCCFD53747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063" y="1390254"/>
                <a:ext cx="2840497" cy="457200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2" descr="Python Logo PNG Transparent – Brands Logos">
            <a:extLst>
              <a:ext uri="{FF2B5EF4-FFF2-40B4-BE49-F238E27FC236}">
                <a16:creationId xmlns:a16="http://schemas.microsoft.com/office/drawing/2014/main" id="{4DA0E7B2-A0B5-774E-ADC9-6B74F1FE1D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57C8F5F-29B0-45A8-4977-1B10256AE062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D3A6606-217B-AACE-C117-A97EFC222185}"/>
              </a:ext>
            </a:extLst>
          </p:cNvPr>
          <p:cNvGrpSpPr/>
          <p:nvPr/>
        </p:nvGrpSpPr>
        <p:grpSpPr>
          <a:xfrm>
            <a:off x="202936" y="594095"/>
            <a:ext cx="720000" cy="5600965"/>
            <a:chOff x="297252" y="716513"/>
            <a:chExt cx="720000" cy="4930125"/>
          </a:xfrm>
        </p:grpSpPr>
        <p:sp>
          <p:nvSpPr>
            <p:cNvPr id="9" name="Arrow: Notched Right 8">
              <a:extLst>
                <a:ext uri="{FF2B5EF4-FFF2-40B4-BE49-F238E27FC236}">
                  <a16:creationId xmlns:a16="http://schemas.microsoft.com/office/drawing/2014/main" id="{6B7D2A0E-475D-0B36-BCFC-76B4036604B8}"/>
                </a:ext>
              </a:extLst>
            </p:cNvPr>
            <p:cNvSpPr/>
            <p:nvPr/>
          </p:nvSpPr>
          <p:spPr>
            <a:xfrm rot="5400000">
              <a:off x="-242748" y="1256513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13" name="Arrow: Notched Right 12">
              <a:extLst>
                <a:ext uri="{FF2B5EF4-FFF2-40B4-BE49-F238E27FC236}">
                  <a16:creationId xmlns:a16="http://schemas.microsoft.com/office/drawing/2014/main" id="{4119228B-90D0-DB2C-409A-EB96BF052E38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14" name="Arrow: Notched Right 13">
              <a:extLst>
                <a:ext uri="{FF2B5EF4-FFF2-40B4-BE49-F238E27FC236}">
                  <a16:creationId xmlns:a16="http://schemas.microsoft.com/office/drawing/2014/main" id="{D6AFC58E-8A0B-7319-A652-CE3B92C6602F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3E62176-6A79-DD4C-108A-F005EEA2AB1E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A4CAB60-75F8-B2A7-399E-0F6B0763FA30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" name="Footer Placeholder 2">
              <a:extLst>
                <a:ext uri="{FF2B5EF4-FFF2-40B4-BE49-F238E27FC236}">
                  <a16:creationId xmlns:a16="http://schemas.microsoft.com/office/drawing/2014/main" id="{003448A4-F15B-6F57-E347-FF9EB2272499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527125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FAADE7-FD45-49B7-A31C-CE41D3B9F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A303AFB-C154-547F-DEE5-F04AD1B2C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67278B5B-5BB1-E1EB-8A73-36B147DC91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2A79059-CEAD-2397-F6D1-B5BA0830B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27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5D232ECE-7A90-FE8A-6D58-9A81DE5C468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3723174-5E09-7C0C-A0A5-4D3B8382CA8B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46DFA67-4566-F437-A2B8-0A3350AE49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42541" y="2719136"/>
            <a:ext cx="3806562" cy="341750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2" descr="Python Logo PNG Transparent – Brands Logos">
            <a:extLst>
              <a:ext uri="{FF2B5EF4-FFF2-40B4-BE49-F238E27FC236}">
                <a16:creationId xmlns:a16="http://schemas.microsoft.com/office/drawing/2014/main" id="{6E7EBE7C-C3F9-1A78-D5DC-D93F0EA49D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4EC0549-9677-1BB2-0F11-EE5189B8269B}"/>
                  </a:ext>
                </a:extLst>
              </p:cNvPr>
              <p:cNvSpPr/>
              <p:nvPr/>
            </p:nvSpPr>
            <p:spPr>
              <a:xfrm>
                <a:off x="1104899" y="1390254"/>
                <a:ext cx="3467101" cy="1196158"/>
              </a:xfrm>
              <a:prstGeom prst="rect">
                <a:avLst/>
              </a:prstGeom>
              <a:ln w="38100"/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Hypothèses 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Gradient magnétique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600" dirty="0"/>
                  <a:t> 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Micros ponctuels</a:t>
                </a: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4EC0549-9677-1BB2-0F11-EE5189B8269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4899" y="1390254"/>
                <a:ext cx="3467101" cy="1196158"/>
              </a:xfrm>
              <a:prstGeom prst="rect">
                <a:avLst/>
              </a:prstGeom>
              <a:blipFill>
                <a:blip r:embed="rId5"/>
                <a:stretch>
                  <a:fillRect l="-348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0A1277C-77EB-E66C-5E73-D430AAD91E8E}"/>
                  </a:ext>
                </a:extLst>
              </p:cNvPr>
              <p:cNvSpPr/>
              <p:nvPr/>
            </p:nvSpPr>
            <p:spPr>
              <a:xfrm>
                <a:off x="1104898" y="2719137"/>
                <a:ext cx="3467102" cy="3417503"/>
              </a:xfrm>
              <a:prstGeom prst="rect">
                <a:avLst/>
              </a:prstGeom>
              <a:ln w="38100">
                <a:solidFill>
                  <a:srgbClr val="C00000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Ecarts : </a:t>
                </a: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29,3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7,7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</m:num>
                        <m:den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29,3</m:t>
                          </m:r>
                        </m:den>
                      </m:f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73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FR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7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Limites du modèle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Incertitude sur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fr-FR" sz="16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fr-FR" sz="16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Limites expérimentales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Asymétrie de bobinage</a:t>
                </a:r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0A1277C-77EB-E66C-5E73-D430AAD91E8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4898" y="2719137"/>
                <a:ext cx="3467102" cy="3417503"/>
              </a:xfrm>
              <a:prstGeom prst="rect">
                <a:avLst/>
              </a:prstGeom>
              <a:blipFill>
                <a:blip r:embed="rId6"/>
                <a:stretch>
                  <a:fillRect l="-348"/>
                </a:stretch>
              </a:blipFill>
              <a:ln w="3810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61F143F-D303-BE60-2B52-FCF45CC81A04}"/>
                  </a:ext>
                </a:extLst>
              </p:cNvPr>
              <p:cNvSpPr/>
              <p:nvPr/>
            </p:nvSpPr>
            <p:spPr>
              <a:xfrm>
                <a:off x="4842541" y="1390254"/>
                <a:ext cx="3806562" cy="1180761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Mesures :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29,3 </m:t>
                      </m:r>
                      <m:r>
                        <m:rPr>
                          <m:nor/>
                        </m:rPr>
                        <a:rPr lang="fr-FR" sz="1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</m:sub>
                      </m:sSub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7,7</m:t>
                      </m:r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fr-FR" sz="1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61F143F-D303-BE60-2B52-FCF45CC81A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2541" y="1390254"/>
                <a:ext cx="3806562" cy="118076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4836AF97-1715-83EC-BA8A-120B25276E3B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Ecarts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300A525-71C4-3964-E1CA-09F4DD2CD6CA}"/>
              </a:ext>
            </a:extLst>
          </p:cNvPr>
          <p:cNvGrpSpPr/>
          <p:nvPr/>
        </p:nvGrpSpPr>
        <p:grpSpPr>
          <a:xfrm>
            <a:off x="202936" y="594095"/>
            <a:ext cx="720000" cy="5600965"/>
            <a:chOff x="297252" y="716513"/>
            <a:chExt cx="720000" cy="4930125"/>
          </a:xfrm>
        </p:grpSpPr>
        <p:sp>
          <p:nvSpPr>
            <p:cNvPr id="14" name="Arrow: Notched Right 13">
              <a:extLst>
                <a:ext uri="{FF2B5EF4-FFF2-40B4-BE49-F238E27FC236}">
                  <a16:creationId xmlns:a16="http://schemas.microsoft.com/office/drawing/2014/main" id="{459A838C-06D0-EDCD-94E1-216BF741CC96}"/>
                </a:ext>
              </a:extLst>
            </p:cNvPr>
            <p:cNvSpPr/>
            <p:nvPr/>
          </p:nvSpPr>
          <p:spPr>
            <a:xfrm rot="5400000">
              <a:off x="-242748" y="1256513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15" name="Arrow: Notched Right 14">
              <a:extLst>
                <a:ext uri="{FF2B5EF4-FFF2-40B4-BE49-F238E27FC236}">
                  <a16:creationId xmlns:a16="http://schemas.microsoft.com/office/drawing/2014/main" id="{EF1EAA0A-D789-3B56-D17C-B9310E0CA0FF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16" name="Arrow: Notched Right 15">
              <a:extLst>
                <a:ext uri="{FF2B5EF4-FFF2-40B4-BE49-F238E27FC236}">
                  <a16:creationId xmlns:a16="http://schemas.microsoft.com/office/drawing/2014/main" id="{AAFE285D-71C5-EFFC-D28E-5D36350B9D49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FB02FF1-8F7E-6576-0D0F-8D0A8ACC3A1B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B35BE02-2258-1C96-B10A-3DFAB7195F2D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Footer Placeholder 2">
              <a:extLst>
                <a:ext uri="{FF2B5EF4-FFF2-40B4-BE49-F238E27FC236}">
                  <a16:creationId xmlns:a16="http://schemas.microsoft.com/office/drawing/2014/main" id="{3C6DF927-190C-81D6-96DF-F85949D15ECB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61353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19A9E-1C8C-7508-4A99-E9E72DA06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C41BDD6-0B7E-DB68-BFEB-ED6C52B4A4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8188F378-BB87-FA6A-6251-64979DCB4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B83BD53-0BEB-220C-AC97-3EEC3B150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28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5DCA8F8-D862-BC8C-AF76-12EA5860996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D500E49-9BB6-266A-A15B-45A7A7E94780}"/>
              </a:ext>
            </a:extLst>
          </p:cNvPr>
          <p:cNvSpPr/>
          <p:nvPr/>
        </p:nvSpPr>
        <p:spPr>
          <a:xfrm>
            <a:off x="36609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2629154-4AC2-A8C2-E930-45F35D77F155}"/>
              </a:ext>
            </a:extLst>
          </p:cNvPr>
          <p:cNvSpPr txBox="1"/>
          <p:nvPr/>
        </p:nvSpPr>
        <p:spPr>
          <a:xfrm>
            <a:off x="313675" y="629422"/>
            <a:ext cx="844465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/>
              <a:t>Conclusion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2" name="Table 21">
                <a:extLst>
                  <a:ext uri="{FF2B5EF4-FFF2-40B4-BE49-F238E27FC236}">
                    <a16:creationId xmlns:a16="http://schemas.microsoft.com/office/drawing/2014/main" id="{4FB65596-7E87-29A0-E639-8589E9E9B18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64910985"/>
                  </p:ext>
                </p:extLst>
              </p:nvPr>
            </p:nvGraphicFramePr>
            <p:xfrm>
              <a:off x="366090" y="1156334"/>
              <a:ext cx="8424000" cy="4299776"/>
            </p:xfrm>
            <a:graphic>
              <a:graphicData uri="http://schemas.openxmlformats.org/drawingml/2006/table">
                <a:tbl>
                  <a:tblPr firstRow="1" firstCol="1" bandRow="1">
                    <a:tableStyleId>{D27102A9-8310-4765-A935-A1911B00CA55}</a:tableStyleId>
                  </a:tblPr>
                  <a:tblGrid>
                    <a:gridCol w="2996870">
                      <a:extLst>
                        <a:ext uri="{9D8B030D-6E8A-4147-A177-3AD203B41FA5}">
                          <a16:colId xmlns:a16="http://schemas.microsoft.com/office/drawing/2014/main" val="1602020623"/>
                        </a:ext>
                      </a:extLst>
                    </a:gridCol>
                    <a:gridCol w="2692400">
                      <a:extLst>
                        <a:ext uri="{9D8B030D-6E8A-4147-A177-3AD203B41FA5}">
                          <a16:colId xmlns:a16="http://schemas.microsoft.com/office/drawing/2014/main" val="409788336"/>
                        </a:ext>
                      </a:extLst>
                    </a:gridCol>
                    <a:gridCol w="2734730">
                      <a:extLst>
                        <a:ext uri="{9D8B030D-6E8A-4147-A177-3AD203B41FA5}">
                          <a16:colId xmlns:a16="http://schemas.microsoft.com/office/drawing/2014/main" val="67347306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Micro SingleCoil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Micro Humbucker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57929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dirty="0"/>
                            <a:t>Filtrage électrique interne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5791457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  <a:p>
                          <a:pPr algn="ctr"/>
                          <a:r>
                            <a:rPr lang="fr-FR" dirty="0"/>
                            <a:t>//</a:t>
                          </a:r>
                        </a:p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>
                            <a:solidFill>
                              <a:srgbClr val="C00000"/>
                            </a:solidFill>
                          </a:endParaRPr>
                        </a:p>
                        <a:p>
                          <a:pPr algn="ctr"/>
                          <a:r>
                            <a:rPr lang="fr-FR" dirty="0">
                              <a:solidFill>
                                <a:schemeClr val="tx1"/>
                              </a:solidFill>
                            </a:rPr>
                            <a:t>//</a:t>
                          </a:r>
                        </a:p>
                        <a:p>
                          <a:endParaRPr lang="fr-FR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09358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Induction, filtrage spatial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125036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fr-FR" b="0" i="1" dirty="0">
                            <a:latin typeface="Cambria Math" panose="02040503050406030204" pitchFamily="18" charset="0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𝑆𝐶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𝑒𝑥𝑝</m:t>
                                        </m:r>
                                      </m:sub>
                                    </m:sSub>
                                  </m:sub>
                                </m:s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=5000 </m:t>
                                </m:r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𝐻𝑧</m:t>
                                </m:r>
                              </m:oMath>
                            </m:oMathPara>
                          </a14:m>
                          <a:endParaRPr lang="fr-FR" dirty="0"/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fr-FR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fr-FR" b="0" i="1" dirty="0">
                            <a:latin typeface="Cambria Math" panose="02040503050406030204" pitchFamily="18" charset="0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𝐻𝐵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𝑒𝑥𝑝</m:t>
                                        </m:r>
                                      </m:sub>
                                    </m:sSub>
                                  </m:sub>
                                </m:s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=7500 </m:t>
                                </m:r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𝐻𝑧</m:t>
                                </m:r>
                              </m:oMath>
                            </m:oMathPara>
                          </a14:m>
                          <a:endParaRPr lang="fr-FR" dirty="0"/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fr-FR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2541355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Réduction du « Hum »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28562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fr-FR" dirty="0"/>
                        </a:p>
                        <a:p>
                          <a:pPr algn="ctr"/>
                          <a:r>
                            <a:rPr lang="fr-FR" dirty="0"/>
                            <a:t>//</a:t>
                          </a:r>
                        </a:p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𝐶𝑀𝑅</m:t>
                                </m:r>
                                <m:sSub>
                                  <m:sSubPr>
                                    <m:ctrlPr>
                                      <a:rPr lang="fr-F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fr-F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𝑇h</m:t>
                                    </m:r>
                                  </m:sub>
                                </m:sSub>
                                <m:r>
                                  <a:rPr lang="fr-F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=29,</m:t>
                                </m:r>
                                <m:r>
                                  <m:rPr>
                                    <m:nor/>
                                  </m:rPr>
                                  <a:rPr lang="fr-FR" sz="18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3 </m:t>
                                </m:r>
                                <m:r>
                                  <m:rPr>
                                    <m:nor/>
                                  </m:rPr>
                                  <a:rPr lang="fr-FR" sz="18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dB</m:t>
                                </m:r>
                              </m:oMath>
                            </m:oMathPara>
                          </a14:m>
                          <a:endParaRPr lang="fr-FR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𝐶𝑀𝑅</m:t>
                                </m:r>
                                <m:sSub>
                                  <m:sSubPr>
                                    <m:ctrlPr>
                                      <a:rPr lang="fr-F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fr-F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𝑒𝑥𝑝</m:t>
                                    </m:r>
                                  </m:sub>
                                </m:sSub>
                                <m:r>
                                  <a:rPr lang="fr-F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=8,1</m:t>
                                </m:r>
                                <m:r>
                                  <m:rPr>
                                    <m:nor/>
                                  </m:rPr>
                                  <a:rPr lang="fr-FR" sz="18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fr-FR" sz="18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dB</m:t>
                                </m:r>
                              </m:oMath>
                            </m:oMathPara>
                          </a14:m>
                          <a:endParaRPr lang="fr-FR" sz="1800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lang="fr-FR" sz="1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𝐶𝑀𝑅𝑅</m:t>
                                    </m:r>
                                  </m:sub>
                                </m:sSub>
                                <m:r>
                                  <a:rPr lang="fr-FR" sz="18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=72,4 %</m:t>
                                </m:r>
                              </m:oMath>
                            </m:oMathPara>
                          </a14:m>
                          <a:endParaRPr lang="fr-FR" sz="1800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3638180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2" name="Table 21">
                <a:extLst>
                  <a:ext uri="{FF2B5EF4-FFF2-40B4-BE49-F238E27FC236}">
                    <a16:creationId xmlns:a16="http://schemas.microsoft.com/office/drawing/2014/main" id="{4FB65596-7E87-29A0-E639-8589E9E9B18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64910985"/>
                  </p:ext>
                </p:extLst>
              </p:nvPr>
            </p:nvGraphicFramePr>
            <p:xfrm>
              <a:off x="366090" y="1156334"/>
              <a:ext cx="8424000" cy="4299776"/>
            </p:xfrm>
            <a:graphic>
              <a:graphicData uri="http://schemas.openxmlformats.org/drawingml/2006/table">
                <a:tbl>
                  <a:tblPr firstRow="1" firstCol="1" bandRow="1">
                    <a:tableStyleId>{D27102A9-8310-4765-A935-A1911B00CA55}</a:tableStyleId>
                  </a:tblPr>
                  <a:tblGrid>
                    <a:gridCol w="2996870">
                      <a:extLst>
                        <a:ext uri="{9D8B030D-6E8A-4147-A177-3AD203B41FA5}">
                          <a16:colId xmlns:a16="http://schemas.microsoft.com/office/drawing/2014/main" val="1602020623"/>
                        </a:ext>
                      </a:extLst>
                    </a:gridCol>
                    <a:gridCol w="2692400">
                      <a:extLst>
                        <a:ext uri="{9D8B030D-6E8A-4147-A177-3AD203B41FA5}">
                          <a16:colId xmlns:a16="http://schemas.microsoft.com/office/drawing/2014/main" val="409788336"/>
                        </a:ext>
                      </a:extLst>
                    </a:gridCol>
                    <a:gridCol w="2734730">
                      <a:extLst>
                        <a:ext uri="{9D8B030D-6E8A-4147-A177-3AD203B41FA5}">
                          <a16:colId xmlns:a16="http://schemas.microsoft.com/office/drawing/2014/main" val="67347306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Micro SingleCoil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Micro Humbucker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57929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dirty="0"/>
                            <a:t>Filtrage électrique interne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57914577"/>
                      </a:ext>
                    </a:extLst>
                  </a:tr>
                  <a:tr h="914400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  <a:p>
                          <a:pPr algn="ctr"/>
                          <a:r>
                            <a:rPr lang="fr-FR" dirty="0"/>
                            <a:t>//</a:t>
                          </a:r>
                        </a:p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>
                            <a:solidFill>
                              <a:srgbClr val="C00000"/>
                            </a:solidFill>
                          </a:endParaRPr>
                        </a:p>
                        <a:p>
                          <a:pPr algn="ctr"/>
                          <a:r>
                            <a:rPr lang="fr-FR" dirty="0">
                              <a:solidFill>
                                <a:schemeClr val="tx1"/>
                              </a:solidFill>
                            </a:rPr>
                            <a:t>//</a:t>
                          </a:r>
                        </a:p>
                        <a:p>
                          <a:endParaRPr lang="fr-FR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09358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Induction, filtrage spatial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12503637"/>
                      </a:ext>
                    </a:extLst>
                  </a:tr>
                  <a:tr h="966407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3"/>
                          <a:stretch>
                            <a:fillRect l="-111565" t="-212579" r="-102041" b="-13584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3"/>
                          <a:stretch>
                            <a:fillRect l="-207795" t="-212579" r="-223" b="-1358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2541355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Réduction du « Hum »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28562062"/>
                      </a:ext>
                    </a:extLst>
                  </a:tr>
                  <a:tr h="935609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fr-FR" dirty="0"/>
                        </a:p>
                        <a:p>
                          <a:pPr algn="ctr"/>
                          <a:r>
                            <a:rPr lang="fr-FR" dirty="0"/>
                            <a:t>//</a:t>
                          </a:r>
                        </a:p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3"/>
                          <a:stretch>
                            <a:fillRect l="-207795" t="-362338" r="-223" b="-6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36381802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4" name="Graphic 3" descr="Checkmark with solid fill">
            <a:extLst>
              <a:ext uri="{FF2B5EF4-FFF2-40B4-BE49-F238E27FC236}">
                <a16:creationId xmlns:a16="http://schemas.microsoft.com/office/drawing/2014/main" id="{2012BD2A-C579-D57F-B1C1-1D0651FB02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81344" y="4194810"/>
            <a:ext cx="288000" cy="288000"/>
          </a:xfrm>
          <a:prstGeom prst="rect">
            <a:avLst/>
          </a:prstGeom>
        </p:spPr>
      </p:pic>
      <p:pic>
        <p:nvPicPr>
          <p:cNvPr id="24" name="Graphic 23" descr="Warning with solid fill">
            <a:extLst>
              <a:ext uri="{FF2B5EF4-FFF2-40B4-BE49-F238E27FC236}">
                <a16:creationId xmlns:a16="http://schemas.microsoft.com/office/drawing/2014/main" id="{0C57217D-D04A-11BE-641E-8AB1CAA45C4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500000" y="2809497"/>
            <a:ext cx="360000" cy="360000"/>
          </a:xfrm>
          <a:prstGeom prst="rect">
            <a:avLst/>
          </a:prstGeom>
        </p:spPr>
      </p:pic>
      <p:pic>
        <p:nvPicPr>
          <p:cNvPr id="25" name="Graphic 24" descr="Checkmark with solid fill">
            <a:extLst>
              <a:ext uri="{FF2B5EF4-FFF2-40B4-BE49-F238E27FC236}">
                <a16:creationId xmlns:a16="http://schemas.microsoft.com/office/drawing/2014/main" id="{FEC24F00-47FD-EFA5-AF52-3B89677FAB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17344" y="2849095"/>
            <a:ext cx="288000" cy="288000"/>
          </a:xfrm>
          <a:prstGeom prst="rect">
            <a:avLst/>
          </a:prstGeom>
        </p:spPr>
      </p:pic>
      <p:pic>
        <p:nvPicPr>
          <p:cNvPr id="26" name="Graphic 25" descr="Warning with solid fill">
            <a:extLst>
              <a:ext uri="{FF2B5EF4-FFF2-40B4-BE49-F238E27FC236}">
                <a16:creationId xmlns:a16="http://schemas.microsoft.com/office/drawing/2014/main" id="{8A2D7334-C6E3-053C-3A16-33839DCD396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500000" y="4133104"/>
            <a:ext cx="360000" cy="360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1E4BF96-13FC-AAE7-FE03-F72E37775B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5322983" y="1136682"/>
            <a:ext cx="485997" cy="400111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2">
            <a:extLst>
              <a:ext uri="{FF2B5EF4-FFF2-40B4-BE49-F238E27FC236}">
                <a16:creationId xmlns:a16="http://schemas.microsoft.com/office/drawing/2014/main" id="{7B024F95-B138-985B-1165-9E03066759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8183594" y="1156334"/>
            <a:ext cx="451537" cy="362586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Graphic 28" descr="Checkmark with solid fill">
            <a:extLst>
              <a:ext uri="{FF2B5EF4-FFF2-40B4-BE49-F238E27FC236}">
                <a16:creationId xmlns:a16="http://schemas.microsoft.com/office/drawing/2014/main" id="{773902E8-7385-D6E4-53E2-8D0D2A476D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00" y="1557890"/>
            <a:ext cx="288000" cy="288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3A2CF22B-A0CD-F2F2-A223-EEEC41D171E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58877" y="3179975"/>
            <a:ext cx="1182362" cy="985302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3A93B823-416B-5238-8982-58C7DFDA976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83002" y="1925643"/>
            <a:ext cx="1134111" cy="850583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ADC3F462-EA18-9496-23A1-3311DAC88DD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99046" y="4512034"/>
            <a:ext cx="1102024" cy="918353"/>
          </a:xfrm>
          <a:prstGeom prst="rect">
            <a:avLst/>
          </a:prstGeom>
        </p:spPr>
      </p:pic>
      <p:pic>
        <p:nvPicPr>
          <p:cNvPr id="9" name="Graphic 8" descr="Checkmark with solid fill">
            <a:extLst>
              <a:ext uri="{FF2B5EF4-FFF2-40B4-BE49-F238E27FC236}">
                <a16:creationId xmlns:a16="http://schemas.microsoft.com/office/drawing/2014/main" id="{76F66E15-A814-8A8C-8614-701E13CE2EF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81344" y="1557419"/>
            <a:ext cx="288000" cy="288000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AA9A0B97-C62F-658B-F983-80B2EEFBB947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5559317-5E18-475F-41AB-2D45B40A5ABC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Footer Placeholder 2">
              <a:extLst>
                <a:ext uri="{FF2B5EF4-FFF2-40B4-BE49-F238E27FC236}">
                  <a16:creationId xmlns:a16="http://schemas.microsoft.com/office/drawing/2014/main" id="{57C2ED85-A2C2-A521-06FA-698ECFF15631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681875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267F8-102B-ED7B-0DE1-585BD24C6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574C88C-C846-3D06-3760-839BCCE4D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A71A85B-44A7-312F-DA38-FF2BAFF29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67D19BA-9241-DDAC-50D0-86F96248A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29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DCCB68E-E8C2-CC4C-3A75-B5BA7F6D35A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F93ABBD-287B-55E3-11A3-68FE11A2765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BD774-13EC-37E7-5421-E3BB7AFFF9C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Annexes : Sommaire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6C8F2F-1A54-CCBE-AAF5-AE4AD230532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4F1C7E-5DAA-15EF-C04B-EF6B2C9D445E}"/>
              </a:ext>
            </a:extLst>
          </p:cNvPr>
          <p:cNvSpPr txBox="1"/>
          <p:nvPr/>
        </p:nvSpPr>
        <p:spPr>
          <a:xfrm>
            <a:off x="345440" y="1174810"/>
            <a:ext cx="8472118" cy="504753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Sources et Bibliographie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Remerciements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Loi d’induction de Faraday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Architecture des micros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Le micro SingleCoil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Le micro Humbucker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Démonstration du modèle Théorique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Notations 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Micro SingleCoil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Micro Humbucker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Micro SingleCoil &amp; Humbucker excité par un Champ Parasite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Expérimentation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Dimensionnement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Filtrage des données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Python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Réponse fréquentielle du micro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Modèle Théorique &amp; Résultats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400" dirty="0"/>
              <a:t>Initialisation du programme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400" dirty="0"/>
              <a:t>Fonctions du modèle théorique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400" dirty="0"/>
              <a:t>Fonctions utiles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400" dirty="0"/>
              <a:t>Calcul du modèle théorique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400" dirty="0"/>
              <a:t>Calcul et affichage des FFT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400" dirty="0"/>
              <a:t>Enregistrement des courbes</a:t>
            </a:r>
          </a:p>
        </p:txBody>
      </p:sp>
    </p:spTree>
    <p:extLst>
      <p:ext uri="{BB962C8B-B14F-4D97-AF65-F5344CB8AC3E}">
        <p14:creationId xmlns:p14="http://schemas.microsoft.com/office/powerpoint/2010/main" val="40866970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6FC30-AAA2-E5BB-32E0-683CC058E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C011195-2549-BCE2-65E7-95D97701B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D27B990-34B8-0612-B00F-135A3864A2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DCD4202-BEB8-74F4-5148-FD85D148C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30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6465F9-2328-58C8-82DC-3D4C33494CAC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6118C6D-1578-28CB-51EF-9F9921702B38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27CD10-7EEF-021B-45BD-839A366C0544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1. Sources &amp; Bibliographie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2768E8-3415-4446-BB84-549A102258D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FE077D-2C94-B4B1-D675-115CAB645DBB}"/>
              </a:ext>
            </a:extLst>
          </p:cNvPr>
          <p:cNvSpPr txBox="1"/>
          <p:nvPr/>
        </p:nvSpPr>
        <p:spPr>
          <a:xfrm>
            <a:off x="345439" y="1254482"/>
            <a:ext cx="8491113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[1] </a:t>
            </a:r>
            <a:r>
              <a:rPr lang="en-GB" sz="1400" dirty="0" err="1"/>
              <a:t>WiseGuy</a:t>
            </a:r>
            <a:r>
              <a:rPr lang="en-GB" sz="1400" dirty="0"/>
              <a:t> Research Consultants, "Global Electric Guitar Pickup Market Research Report 2024," Pune, India, 2024.</a:t>
            </a:r>
            <a:endParaRPr lang="en-GB" sz="1400" b="1" dirty="0"/>
          </a:p>
          <a:p>
            <a:endParaRPr lang="en-GB" sz="1400" b="1" dirty="0"/>
          </a:p>
          <a:p>
            <a:r>
              <a:rPr lang="en-GB" sz="1400" b="1" dirty="0"/>
              <a:t>[2]</a:t>
            </a:r>
            <a:r>
              <a:rPr lang="en-GB" sz="1400" dirty="0"/>
              <a:t> Matthew W. Hill, "The hidden history of the electric guitar", in </a:t>
            </a:r>
            <a:r>
              <a:rPr lang="en-GB" sz="1400" i="1" dirty="0"/>
              <a:t>Quand la </a:t>
            </a:r>
            <a:r>
              <a:rPr lang="en-GB" sz="1400" i="1" dirty="0" err="1"/>
              <a:t>guitare</a:t>
            </a:r>
            <a:r>
              <a:rPr lang="en-GB" sz="1400" i="1" dirty="0"/>
              <a:t> [s']</a:t>
            </a:r>
            <a:r>
              <a:rPr lang="en-GB" sz="1400" i="1" dirty="0" err="1"/>
              <a:t>électrise</a:t>
            </a:r>
            <a:r>
              <a:rPr lang="en-GB" sz="1400" i="1" dirty="0"/>
              <a:t> !</a:t>
            </a:r>
            <a:r>
              <a:rPr lang="en-GB" sz="1400" dirty="0"/>
              <a:t>, Benoît Navarret et al. (dir.), Sorbonne Université Presses, pp. 33-61, 2022.</a:t>
            </a:r>
          </a:p>
          <a:p>
            <a:endParaRPr lang="fr-FR" sz="1400" dirty="0"/>
          </a:p>
          <a:p>
            <a:r>
              <a:rPr lang="en-GB" sz="1400" b="1" dirty="0"/>
              <a:t>[3]</a:t>
            </a:r>
            <a:r>
              <a:rPr lang="fr-FR" sz="1400" dirty="0"/>
              <a:t> B. d’Andréa-Novel, B. Fabre, et P. </a:t>
            </a:r>
            <a:r>
              <a:rPr lang="fr-FR" sz="1400" dirty="0" err="1"/>
              <a:t>Jouvelot</a:t>
            </a:r>
            <a:r>
              <a:rPr lang="fr-FR" sz="1400" dirty="0"/>
              <a:t>, </a:t>
            </a:r>
            <a:r>
              <a:rPr lang="fr-FR" sz="1400" i="1" dirty="0"/>
              <a:t>Acoustique Informatique </a:t>
            </a:r>
            <a:r>
              <a:rPr lang="fr-FR" sz="1400" i="1" dirty="0" err="1"/>
              <a:t>MusiquE</a:t>
            </a:r>
            <a:r>
              <a:rPr lang="fr-FR" sz="1400" i="1" dirty="0"/>
              <a:t> : Outils scientifiques pour la musique</a:t>
            </a:r>
            <a:r>
              <a:rPr lang="fr-FR" sz="1400" dirty="0"/>
              <a:t>. Paris, France : Presses des Mines, 2010, ch. 4</a:t>
            </a:r>
          </a:p>
          <a:p>
            <a:endParaRPr lang="fr-FR" sz="1400" dirty="0"/>
          </a:p>
          <a:p>
            <a:r>
              <a:rPr lang="en-GB" sz="1400" b="1" dirty="0"/>
              <a:t>[4]</a:t>
            </a:r>
            <a:r>
              <a:rPr lang="en-GB" sz="1400" dirty="0"/>
              <a:t> S. W. Duncan, "Interview With Seth Lover", </a:t>
            </a:r>
            <a:r>
              <a:rPr lang="en-GB" sz="1400" i="1" dirty="0"/>
              <a:t>Seymour Duncan</a:t>
            </a:r>
            <a:r>
              <a:rPr lang="en-GB" sz="1400" dirty="0"/>
              <a:t>.  </a:t>
            </a:r>
            <a:r>
              <a:rPr lang="fr-FR" sz="1400" dirty="0"/>
              <a:t>[En ligne]. Disponible sur: </a:t>
            </a:r>
            <a:br>
              <a:rPr lang="fr-FR" sz="1400" dirty="0"/>
            </a:br>
            <a:r>
              <a:rPr lang="fr-FR" sz="1400" i="1" u="sng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https://www.seymourduncan.com/blog/latest-updates/seymour-w-duncans-interview-with-seth-lover</a:t>
            </a:r>
            <a:br>
              <a:rPr lang="fr-FR" sz="1400" u="sng" dirty="0"/>
            </a:br>
            <a:endParaRPr lang="fr-FR" sz="1400" u="sng" dirty="0"/>
          </a:p>
          <a:p>
            <a:r>
              <a:rPr lang="en-GB" sz="1400" b="1" dirty="0"/>
              <a:t>[5]</a:t>
            </a:r>
            <a:r>
              <a:rPr lang="en-GB" sz="1400" dirty="0"/>
              <a:t> Dan Carson, "Investigation of the Electromagnetic Properties of Electric Guitar Pickups", </a:t>
            </a:r>
            <a:r>
              <a:rPr lang="en-GB" sz="1400" i="1" dirty="0"/>
              <a:t>University of Illinois at Urbana-Champaign</a:t>
            </a:r>
            <a:r>
              <a:rPr lang="en-GB" sz="1400" dirty="0"/>
              <a:t>, Physics Senior Thesis, 2009.</a:t>
            </a:r>
          </a:p>
          <a:p>
            <a:endParaRPr lang="fr-FR" sz="1400" dirty="0"/>
          </a:p>
          <a:p>
            <a:r>
              <a:rPr lang="en-GB" sz="1400" b="1" dirty="0"/>
              <a:t>[6]</a:t>
            </a:r>
            <a:r>
              <a:rPr lang="en-GB" sz="1400" dirty="0"/>
              <a:t> A. Novak, B. </a:t>
            </a:r>
            <a:r>
              <a:rPr lang="en-GB" sz="1400" dirty="0" err="1"/>
              <a:t>Lihoreau</a:t>
            </a:r>
            <a:r>
              <a:rPr lang="en-GB" sz="1400" dirty="0"/>
              <a:t>, E. Brasseur, P. Lotton et L. Simon, "Guitar Pickup: Measurement of its Two-Dimensional Nonlinear Function", </a:t>
            </a:r>
            <a:r>
              <a:rPr lang="en-GB" sz="1400" i="1" dirty="0"/>
              <a:t>Journal of the Audio Engineering Society</a:t>
            </a:r>
            <a:r>
              <a:rPr lang="en-GB" sz="1400" dirty="0"/>
              <a:t>, vol. 68, no. 3, pp. 184-192, 2020.</a:t>
            </a:r>
          </a:p>
          <a:p>
            <a:endParaRPr lang="fr-FR" sz="1400" dirty="0"/>
          </a:p>
          <a:p>
            <a:r>
              <a:rPr lang="en-GB" sz="1400" b="1" dirty="0"/>
              <a:t>[7]</a:t>
            </a:r>
            <a:r>
              <a:rPr lang="en-GB" sz="1400" dirty="0"/>
              <a:t> R. </a:t>
            </a:r>
            <a:r>
              <a:rPr lang="en-GB" sz="1400" dirty="0" err="1"/>
              <a:t>Giampiccolo</a:t>
            </a:r>
            <a:r>
              <a:rPr lang="en-GB" sz="1400" dirty="0"/>
              <a:t>, A. Bernardini et A. Sarti, "Virtualization of Guitar Pickups Through Circuit Inversion", </a:t>
            </a:r>
            <a:r>
              <a:rPr lang="en-GB" sz="1400" i="1" dirty="0"/>
              <a:t>IEEE Signal Processing Letters</a:t>
            </a:r>
            <a:r>
              <a:rPr lang="en-GB" sz="1400" dirty="0"/>
              <a:t>, vol. 30, pp. 458-462, 2023.</a:t>
            </a:r>
            <a:endParaRPr lang="fr-FR" sz="1400" dirty="0"/>
          </a:p>
          <a:p>
            <a:endParaRPr lang="fr-FR" sz="1400" dirty="0"/>
          </a:p>
        </p:txBody>
      </p:sp>
    </p:spTree>
    <p:extLst>
      <p:ext uri="{BB962C8B-B14F-4D97-AF65-F5344CB8AC3E}">
        <p14:creationId xmlns:p14="http://schemas.microsoft.com/office/powerpoint/2010/main" val="363090163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3E6D5-1701-3BEE-B0A5-E256A3A64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9093611-3561-6AFC-8B29-235BE2B59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0E37560-868B-C35D-2C79-FD3A41EA0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1EE7CF6-6544-6E25-5056-82E210227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31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63023A3-599A-FB7A-D703-1D211D7CCED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6650CE6B-EA61-AA9D-5CD4-B098290A02B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FE578E-E842-899B-459C-15B4BA0F22E9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2. Remerciements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599E44F-1F36-18D2-50B8-92E3C5465C7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AD91B2-998A-B850-BFB6-9B10EF3C3C36}"/>
              </a:ext>
            </a:extLst>
          </p:cNvPr>
          <p:cNvSpPr txBox="1"/>
          <p:nvPr/>
        </p:nvSpPr>
        <p:spPr>
          <a:xfrm>
            <a:off x="1744980" y="1390254"/>
            <a:ext cx="707257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fr-FR" sz="16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b="1" dirty="0"/>
              <a:t>Art Music Store</a:t>
            </a:r>
            <a:r>
              <a:rPr lang="fr-FR" sz="1600" dirty="0"/>
              <a:t>,</a:t>
            </a:r>
            <a:r>
              <a:rPr lang="fr-FR" sz="1600" b="1" dirty="0"/>
              <a:t> </a:t>
            </a:r>
            <a:r>
              <a:rPr lang="fr-FR" sz="1600" dirty="0"/>
              <a:t>3800, Grenoble, Place Victor Hugo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b="1" dirty="0"/>
              <a:t>Menuiserie Paradis</a:t>
            </a:r>
            <a:r>
              <a:rPr lang="fr-FR" sz="1600" dirty="0"/>
              <a:t>, 38590, Brézins, Rue des Caillères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</p:txBody>
      </p:sp>
      <p:pic>
        <p:nvPicPr>
          <p:cNvPr id="2050" name="Picture 2" descr="Les Boutiques | Art Rock Music Store, Magasin de Musique à Crolles et à ...">
            <a:extLst>
              <a:ext uri="{FF2B5EF4-FFF2-40B4-BE49-F238E27FC236}">
                <a16:creationId xmlns:a16="http://schemas.microsoft.com/office/drawing/2014/main" id="{6B5FA1A0-A21F-2704-4B07-98DC048FDC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440" y="1344216"/>
            <a:ext cx="1239000" cy="12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4" descr="Menuiserie Jérôme Paradis | Brézins">
            <a:extLst>
              <a:ext uri="{FF2B5EF4-FFF2-40B4-BE49-F238E27FC236}">
                <a16:creationId xmlns:a16="http://schemas.microsoft.com/office/drawing/2014/main" id="{60E6E8E9-ADE0-B962-617A-584376023BE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5C5BC96-6601-01EF-A1A8-0CDE5F1285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263" y="2750010"/>
            <a:ext cx="1346717" cy="12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02403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7EEA9-F7B8-9D5F-AC77-42444A77E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0697540-CBC1-7307-57A5-D4FD6B78E0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2AD455C-4E0F-8C44-FB73-C500A0B30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CE99780-CA7B-47C1-ABE2-119498B51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32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3A568D-A22D-99BA-EE74-88DC5BA3799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5695410-0F63-6315-9F97-C9017F7BE1F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44EA3F-0ED5-07EF-A5BD-494C702F369B}"/>
              </a:ext>
            </a:extLst>
          </p:cNvPr>
          <p:cNvSpPr txBox="1"/>
          <p:nvPr/>
        </p:nvSpPr>
        <p:spPr>
          <a:xfrm>
            <a:off x="345440" y="721360"/>
            <a:ext cx="6827520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3. Loi d’induction de Faraday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CCF56A8-C29C-5426-89FC-284E560D8A8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40E1D4B-FF0A-ADB0-43F0-458577E9DE7F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9029F39-5C02-3985-AF5F-A28D263A7881}"/>
              </a:ext>
            </a:extLst>
          </p:cNvPr>
          <p:cNvGrpSpPr/>
          <p:nvPr/>
        </p:nvGrpSpPr>
        <p:grpSpPr>
          <a:xfrm rot="10800000">
            <a:off x="2134897" y="2043580"/>
            <a:ext cx="4973727" cy="2925771"/>
            <a:chOff x="4696904" y="1390254"/>
            <a:chExt cx="4973727" cy="2925771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3A4741D-B170-2F09-583D-545C54E14DE0}"/>
                </a:ext>
              </a:extLst>
            </p:cNvPr>
            <p:cNvGrpSpPr/>
            <p:nvPr/>
          </p:nvGrpSpPr>
          <p:grpSpPr>
            <a:xfrm>
              <a:off x="5907188" y="1390254"/>
              <a:ext cx="2527760" cy="2925771"/>
              <a:chOff x="5907188" y="1390254"/>
              <a:chExt cx="2527760" cy="2925771"/>
            </a:xfrm>
          </p:grpSpPr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821CFDF9-4291-8D12-74B3-B173DE76F8DE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1109894D-0C13-D7BC-0A38-126F9177B79E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CA38F9B1-D91D-1218-899D-63801034424A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FEFA7991-B1FD-4D9F-E2A8-E8EE349CA2DE}"/>
                  </a:ext>
                </a:extLst>
              </p:cNvPr>
              <p:cNvSpPr/>
              <p:nvPr/>
            </p:nvSpPr>
            <p:spPr>
              <a:xfrm>
                <a:off x="5991859" y="315726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8" name="Arc 27">
                <a:extLst>
                  <a:ext uri="{FF2B5EF4-FFF2-40B4-BE49-F238E27FC236}">
                    <a16:creationId xmlns:a16="http://schemas.microsoft.com/office/drawing/2014/main" id="{F4AE618D-44F2-E55D-1043-667FB8FBF8FA}"/>
                  </a:ext>
                </a:extLst>
              </p:cNvPr>
              <p:cNvSpPr/>
              <p:nvPr/>
            </p:nvSpPr>
            <p:spPr>
              <a:xfrm rot="5400000">
                <a:off x="5166741" y="2301751"/>
                <a:ext cx="2672806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Arc 28">
                <a:extLst>
                  <a:ext uri="{FF2B5EF4-FFF2-40B4-BE49-F238E27FC236}">
                    <a16:creationId xmlns:a16="http://schemas.microsoft.com/office/drawing/2014/main" id="{9572B0B0-2176-7203-972E-1EA06FB2A7CD}"/>
                  </a:ext>
                </a:extLst>
              </p:cNvPr>
              <p:cNvSpPr/>
              <p:nvPr/>
            </p:nvSpPr>
            <p:spPr>
              <a:xfrm rot="5400000" flipV="1">
                <a:off x="6501124" y="2298382"/>
                <a:ext cx="2675737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FDDF69DD-1E42-2112-9BF5-84E28D6B5F92}"/>
                  </a:ext>
                </a:extLst>
              </p:cNvPr>
              <p:cNvCxnSpPr>
                <a:cxnSpLocks/>
                <a:stCxn id="42" idx="1"/>
              </p:cNvCxnSpPr>
              <p:nvPr/>
            </p:nvCxnSpPr>
            <p:spPr>
              <a:xfrm rot="10800000" flipH="1" flipV="1">
                <a:off x="7172960" y="2917222"/>
                <a:ext cx="19314" cy="1398803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17205DBE-459C-B395-3584-9F4722AB65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82847AF-498C-DF5E-BDE4-017FDB6B1D1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5F6D1BD-9F89-FCC2-B040-CD22C7FB6A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E150BE16-5E9F-407A-16A7-6130EBF540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1CA8DA61-3CB2-1EF9-0F7D-89B45934CB9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BB967B8D-E992-37D1-73EF-496B4779BD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E3B2475F-F2A5-6B66-44F9-7385BA187E3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863F86B7-F05C-00CA-4D2F-CC9B3737F5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C4675CC6-5BA0-23F3-5EA6-AB7ADCC403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8D39CC67-64C7-AF1A-9F7A-208E6F904B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C9386F2B-937C-216F-8A7D-DB7A20EB35C8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27" name="TextBox 1026">
                    <a:extLst>
                      <a:ext uri="{FF2B5EF4-FFF2-40B4-BE49-F238E27FC236}">
                        <a16:creationId xmlns:a16="http://schemas.microsoft.com/office/drawing/2014/main" id="{38FD531E-F5DC-BB2B-7744-9747DCF9AB9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25000" r="-19444" b="-980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5D0BAF00-F5A2-ADBD-073E-C00978D6471C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29A901C5-9433-402F-B6E7-920E3568775F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/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E6379458-06A2-8BE6-84DA-CDDF9B5A55A1}"/>
              </a:ext>
            </a:extLst>
          </p:cNvPr>
          <p:cNvGrpSpPr/>
          <p:nvPr/>
        </p:nvGrpSpPr>
        <p:grpSpPr>
          <a:xfrm rot="10800000">
            <a:off x="-773591" y="2139463"/>
            <a:ext cx="4744887" cy="2817999"/>
            <a:chOff x="4696904" y="1390254"/>
            <a:chExt cx="4973727" cy="3198879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466DA6C7-65F1-7B57-BA30-F55D1109FDA7}"/>
                </a:ext>
              </a:extLst>
            </p:cNvPr>
            <p:cNvGrpSpPr/>
            <p:nvPr/>
          </p:nvGrpSpPr>
          <p:grpSpPr>
            <a:xfrm>
              <a:off x="5907191" y="1390254"/>
              <a:ext cx="2527756" cy="3198879"/>
              <a:chOff x="5907191" y="1390254"/>
              <a:chExt cx="2527756" cy="3198879"/>
            </a:xfrm>
          </p:grpSpPr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C5A41D1F-96FD-ABAF-2D61-59961D5F60C8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A4AB24D2-E5CC-651D-CBD4-6E4E03DBFC19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02E2B5F-45EC-5E56-4C43-1E1AD9649537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9AB23C8A-12E2-A70F-DA1F-5F7A290E69D8}"/>
                  </a:ext>
                </a:extLst>
              </p:cNvPr>
              <p:cNvSpPr/>
              <p:nvPr/>
            </p:nvSpPr>
            <p:spPr>
              <a:xfrm>
                <a:off x="5974194" y="406420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1" name="Arc 50">
                <a:extLst>
                  <a:ext uri="{FF2B5EF4-FFF2-40B4-BE49-F238E27FC236}">
                    <a16:creationId xmlns:a16="http://schemas.microsoft.com/office/drawing/2014/main" id="{18C1FC13-5AA2-560D-DD00-4E43B2CA7F47}"/>
                  </a:ext>
                </a:extLst>
              </p:cNvPr>
              <p:cNvSpPr/>
              <p:nvPr/>
            </p:nvSpPr>
            <p:spPr>
              <a:xfrm rot="5400000">
                <a:off x="5128641" y="2300660"/>
                <a:ext cx="2749012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2" name="Arc 51">
                <a:extLst>
                  <a:ext uri="{FF2B5EF4-FFF2-40B4-BE49-F238E27FC236}">
                    <a16:creationId xmlns:a16="http://schemas.microsoft.com/office/drawing/2014/main" id="{B2322817-EDBD-2DC7-B5B5-7D90D12FBA8A}"/>
                  </a:ext>
                </a:extLst>
              </p:cNvPr>
              <p:cNvSpPr/>
              <p:nvPr/>
            </p:nvSpPr>
            <p:spPr>
              <a:xfrm rot="5400000" flipV="1">
                <a:off x="6480374" y="2301307"/>
                <a:ext cx="2717236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7D2797B2-7C00-FB64-3F35-4B733C60B4BC}"/>
                  </a:ext>
                </a:extLst>
              </p:cNvPr>
              <p:cNvCxnSpPr>
                <a:cxnSpLocks/>
                <a:stCxn id="68" idx="1"/>
              </p:cNvCxnSpPr>
              <p:nvPr/>
            </p:nvCxnSpPr>
            <p:spPr>
              <a:xfrm rot="10800000" flipH="1" flipV="1">
                <a:off x="7172960" y="2917222"/>
                <a:ext cx="842" cy="1475009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0D6708DB-8DD5-1664-B357-BD630BD0EB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C897620C-1260-B939-E21B-D5059235416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72E4FD29-97F3-8025-A398-8E33D4BBBAB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EB34D579-0D90-49AF-EB49-36B656F65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AF05426E-36B0-A234-10C7-460D1B0BA4D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B4FAABA4-1527-1FDF-36E6-8CC489C59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200C5091-6592-C43E-7830-CB28A68888D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E2932CA7-7A48-C6E0-39CC-B823923189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97D9F166-CCCC-C2E3-61BC-825383407E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4E4DA187-A8B1-5C37-3CB8-F84175BF78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F74C7FF2-F223-3375-DFB5-85944DE2C6A7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56" name="TextBox 1055">
                    <a:extLst>
                      <a:ext uri="{FF2B5EF4-FFF2-40B4-BE49-F238E27FC236}">
                        <a16:creationId xmlns:a16="http://schemas.microsoft.com/office/drawing/2014/main" id="{F7E63660-0DD0-CEC0-8FAF-7979B946592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5714" r="-22857" b="-2444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7" name="Arc 46">
              <a:extLst>
                <a:ext uri="{FF2B5EF4-FFF2-40B4-BE49-F238E27FC236}">
                  <a16:creationId xmlns:a16="http://schemas.microsoft.com/office/drawing/2014/main" id="{BC829507-AA5C-C0B3-B29F-46A9EA5EBA49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8" name="Arc 47">
              <a:extLst>
                <a:ext uri="{FF2B5EF4-FFF2-40B4-BE49-F238E27FC236}">
                  <a16:creationId xmlns:a16="http://schemas.microsoft.com/office/drawing/2014/main" id="{F6686F3D-53BD-B64B-E53B-5C8C11606DED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CEAE1717-2D77-09AF-B9F7-AFBE8B19269C}"/>
              </a:ext>
            </a:extLst>
          </p:cNvPr>
          <p:cNvCxnSpPr/>
          <p:nvPr/>
        </p:nvCxnSpPr>
        <p:spPr>
          <a:xfrm>
            <a:off x="2710866" y="4268850"/>
            <a:ext cx="86896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6B13798B-711E-BD04-CAB9-6C762668F066}"/>
              </a:ext>
            </a:extLst>
          </p:cNvPr>
          <p:cNvSpPr txBox="1"/>
          <p:nvPr/>
        </p:nvSpPr>
        <p:spPr>
          <a:xfrm>
            <a:off x="6116245" y="1648429"/>
            <a:ext cx="270131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Dans un circuit fermé conducteur, une variation de flux magnétique entraine la formation d’une tension induite</a:t>
            </a:r>
          </a:p>
          <a:p>
            <a:pPr algn="ctr"/>
            <a:endParaRPr lang="fr-FR" sz="1600" dirty="0"/>
          </a:p>
          <a:p>
            <a:pPr algn="ctr"/>
            <a:endParaRPr lang="fr-FR" sz="1600" dirty="0"/>
          </a:p>
          <a:p>
            <a:pPr algn="ctr"/>
            <a:r>
              <a:rPr lang="fr-FR" sz="1600" dirty="0"/>
              <a:t>L’effet de la F.E.M induite est tel qu’il s’oppose à la variation de flux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0C68269-9448-F8FA-F1B2-4684A925FF31}"/>
              </a:ext>
            </a:extLst>
          </p:cNvPr>
          <p:cNvCxnSpPr>
            <a:cxnSpLocks/>
            <a:endCxn id="27" idx="3"/>
          </p:cNvCxnSpPr>
          <p:nvPr/>
        </p:nvCxnSpPr>
        <p:spPr>
          <a:xfrm flipH="1">
            <a:off x="5467733" y="2742981"/>
            <a:ext cx="139203" cy="11306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1967282-0FD1-2B99-0A9F-12EB732A8BA6}"/>
              </a:ext>
            </a:extLst>
          </p:cNvPr>
          <p:cNvSpPr txBox="1"/>
          <p:nvPr/>
        </p:nvSpPr>
        <p:spPr>
          <a:xfrm>
            <a:off x="5665434" y="2487950"/>
            <a:ext cx="260087" cy="3253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C00000"/>
                </a:solidFill>
              </a:rPr>
              <a:t>i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6B1667E-665E-86DC-D2E3-E8A05030BB4B}"/>
              </a:ext>
            </a:extLst>
          </p:cNvPr>
          <p:cNvCxnSpPr>
            <a:cxnSpLocks/>
            <a:endCxn id="27" idx="3"/>
          </p:cNvCxnSpPr>
          <p:nvPr/>
        </p:nvCxnSpPr>
        <p:spPr>
          <a:xfrm flipH="1" flipV="1">
            <a:off x="5467733" y="2754287"/>
            <a:ext cx="108901" cy="95322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013653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9203F-DCDD-12E1-40BC-C0D730A8F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570B1D8-BB74-16EB-2892-64289F770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142FD07-64E6-E464-580A-FA09B9EA4E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B56186A-F3C3-7A25-162A-EA12991E2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33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2FB7617-FDB8-45D6-8EAA-EF67E85D13D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243D993-E88C-5B5E-D44F-B26EDBEE1970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2F9468-985A-44C8-BDEF-F74DFF87AA08}"/>
              </a:ext>
            </a:extLst>
          </p:cNvPr>
          <p:cNvSpPr txBox="1"/>
          <p:nvPr/>
        </p:nvSpPr>
        <p:spPr>
          <a:xfrm>
            <a:off x="345440" y="721360"/>
            <a:ext cx="6827520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4.1. Architecture du micro SingleCoil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489CB-09ED-2991-34E1-D6F8CAEC6137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316F42-233E-3C36-3E70-075C1059148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DD1306D-FA3F-D6EC-8F4E-8867B9261745}"/>
                  </a:ext>
                </a:extLst>
              </p:cNvPr>
              <p:cNvSpPr txBox="1"/>
              <p:nvPr/>
            </p:nvSpPr>
            <p:spPr>
              <a:xfrm>
                <a:off x="6440173" y="5236219"/>
                <a:ext cx="1329690" cy="525913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DD1306D-FA3F-D6EC-8F4E-8867B92617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0173" y="5236219"/>
                <a:ext cx="1329690" cy="5259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 descr="A colorful image of a person's figure&#10;&#10;AI-generated content may be incorrect.">
            <a:extLst>
              <a:ext uri="{FF2B5EF4-FFF2-40B4-BE49-F238E27FC236}">
                <a16:creationId xmlns:a16="http://schemas.microsoft.com/office/drawing/2014/main" id="{7D2EAD4D-0676-FCCB-2F80-18DDD24A458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23" t="8853" r="2401" b="3627"/>
          <a:stretch>
            <a:fillRect/>
          </a:stretch>
        </p:blipFill>
        <p:spPr>
          <a:xfrm>
            <a:off x="345440" y="1359476"/>
            <a:ext cx="4373217" cy="4401584"/>
          </a:xfrm>
          <a:prstGeom prst="rect">
            <a:avLst/>
          </a:prstGeom>
        </p:spPr>
      </p:pic>
      <p:pic>
        <p:nvPicPr>
          <p:cNvPr id="13" name="Picture 2">
            <a:extLst>
              <a:ext uri="{FF2B5EF4-FFF2-40B4-BE49-F238E27FC236}">
                <a16:creationId xmlns:a16="http://schemas.microsoft.com/office/drawing/2014/main" id="{9FB169DC-4756-2647-DEC2-0FAE09A050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4358657" y="606157"/>
            <a:ext cx="720000" cy="592762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Free femm 4.2 software download (Windows)">
            <a:extLst>
              <a:ext uri="{FF2B5EF4-FFF2-40B4-BE49-F238E27FC236}">
                <a16:creationId xmlns:a16="http://schemas.microsoft.com/office/drawing/2014/main" id="{7B9464FC-0456-F9DF-7DDC-3285522144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E9992BE-DD53-5050-97B0-C5548C7A1EE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32494" b="70953" l="13960" r="44675"/>
                    </a14:imgEffect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120" t="27687" r="51486" b="24239"/>
          <a:stretch>
            <a:fillRect/>
          </a:stretch>
        </p:blipFill>
        <p:spPr>
          <a:xfrm>
            <a:off x="5452450" y="2164326"/>
            <a:ext cx="3441020" cy="2791884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5E460B4F-455F-70B8-BEC9-E4F3FA210578}"/>
              </a:ext>
            </a:extLst>
          </p:cNvPr>
          <p:cNvSpPr/>
          <p:nvPr/>
        </p:nvSpPr>
        <p:spPr>
          <a:xfrm>
            <a:off x="5305018" y="2172322"/>
            <a:ext cx="3600000" cy="72000"/>
          </a:xfrm>
          <a:prstGeom prst="rect">
            <a:avLst/>
          </a:prstGeom>
          <a:blipFill>
            <a:blip r:embed="rId8">
              <a:extLst>
                <a:ext uri="{837473B0-CC2E-450A-ABE3-18F120FF3D39}">
                  <a1611:picAttrSrcUrl xmlns:a1611="http://schemas.microsoft.com/office/drawing/2016/11/main" r:id="rId9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61E191-2E0A-41A8-D844-9FC2EAD95EEF}"/>
              </a:ext>
            </a:extLst>
          </p:cNvPr>
          <p:cNvSpPr txBox="1"/>
          <p:nvPr/>
        </p:nvSpPr>
        <p:spPr>
          <a:xfrm>
            <a:off x="2381250" y="2936668"/>
            <a:ext cx="323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C00000"/>
                </a:solidFill>
                <a:latin typeface="Arial Black" panose="020B0A04020102020204" pitchFamily="34" charset="0"/>
              </a:rPr>
              <a:t>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387B4F0-7667-1614-F661-0E2B55A7A083}"/>
              </a:ext>
            </a:extLst>
          </p:cNvPr>
          <p:cNvSpPr txBox="1"/>
          <p:nvPr/>
        </p:nvSpPr>
        <p:spPr>
          <a:xfrm>
            <a:off x="2396490" y="3952944"/>
            <a:ext cx="323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accent1"/>
                </a:solidFill>
                <a:latin typeface="Arial Black" panose="020B0A04020102020204" pitchFamily="34" charset="0"/>
              </a:rPr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13702037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ECF82E-31FC-569C-F715-A12FE805C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E0027713-1A14-ADCF-1EB7-44F0BC3E4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C63C213D-C1A7-E785-4D52-F5D2BDCA2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BE6DA4B-21E4-EF20-2D85-B54BD3760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34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FCCF7BA-78DF-C865-CE3E-1012AFEDFCB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81A58F4-E0F1-C08F-AA23-ECAC47BAD33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121FBD-DF28-19BE-1ABD-AB49FBE1FF6E}"/>
              </a:ext>
            </a:extLst>
          </p:cNvPr>
          <p:cNvSpPr txBox="1"/>
          <p:nvPr/>
        </p:nvSpPr>
        <p:spPr>
          <a:xfrm>
            <a:off x="345440" y="721360"/>
            <a:ext cx="6827520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4.1. Architecture du micro Humbucker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895C85-EE62-318D-3E46-D911D5058D2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CF266A6-00C5-92E4-F027-0104E6F114D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5BDA5A8-7889-D010-7F52-770E7E854901}"/>
                  </a:ext>
                </a:extLst>
              </p:cNvPr>
              <p:cNvSpPr txBox="1"/>
              <p:nvPr/>
            </p:nvSpPr>
            <p:spPr>
              <a:xfrm>
                <a:off x="6754518" y="5097278"/>
                <a:ext cx="1329690" cy="525913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5BDA5A8-7889-D010-7F52-770E7E8549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4518" y="5097278"/>
                <a:ext cx="1329690" cy="5259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Free femm 4.2 software download (Windows)">
            <a:extLst>
              <a:ext uri="{FF2B5EF4-FFF2-40B4-BE49-F238E27FC236}">
                <a16:creationId xmlns:a16="http://schemas.microsoft.com/office/drawing/2014/main" id="{35F5D6CB-7847-62D7-A9DA-0C33A2392A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 descr="A blue and yellow graphic of a beam&#10;&#10;AI-generated content may be incorrect.">
            <a:extLst>
              <a:ext uri="{FF2B5EF4-FFF2-40B4-BE49-F238E27FC236}">
                <a16:creationId xmlns:a16="http://schemas.microsoft.com/office/drawing/2014/main" id="{1B9F4EB4-3A12-19DE-1414-86731117B70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861" t="3983" r="6896" b="1499"/>
          <a:stretch>
            <a:fillRect/>
          </a:stretch>
        </p:blipFill>
        <p:spPr>
          <a:xfrm>
            <a:off x="345440" y="1350084"/>
            <a:ext cx="5318310" cy="4157832"/>
          </a:xfrm>
          <a:prstGeom prst="rect">
            <a:avLst/>
          </a:prstGeom>
        </p:spPr>
      </p:pic>
      <p:pic>
        <p:nvPicPr>
          <p:cNvPr id="11" name="Picture 2">
            <a:extLst>
              <a:ext uri="{FF2B5EF4-FFF2-40B4-BE49-F238E27FC236}">
                <a16:creationId xmlns:a16="http://schemas.microsoft.com/office/drawing/2014/main" id="{DF5162EA-F359-83EC-F22B-9C4BFDA138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4572000" y="616942"/>
            <a:ext cx="720000" cy="57816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B016E24-88DB-777F-B5A4-963FE8D57FE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7370" t="27687" r="14237" b="24239"/>
          <a:stretch>
            <a:fillRect/>
          </a:stretch>
        </p:blipFill>
        <p:spPr>
          <a:xfrm>
            <a:off x="5741689" y="2797946"/>
            <a:ext cx="3367309" cy="2301685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5814FBA4-BAF4-BD20-65A1-AFAE5EE8EC82}"/>
              </a:ext>
            </a:extLst>
          </p:cNvPr>
          <p:cNvSpPr/>
          <p:nvPr/>
        </p:nvSpPr>
        <p:spPr>
          <a:xfrm>
            <a:off x="5979363" y="2679908"/>
            <a:ext cx="2880000" cy="72000"/>
          </a:xfrm>
          <a:prstGeom prst="rect">
            <a:avLst/>
          </a:prstGeom>
          <a:blipFill>
            <a:blip r:embed="rId8">
              <a:extLst>
                <a:ext uri="{837473B0-CC2E-450A-ABE3-18F120FF3D39}">
                  <a1611:picAttrSrcUrl xmlns:a1611="http://schemas.microsoft.com/office/drawing/2016/11/main" r:id="rId9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43E33C-B3CA-C217-7F03-D4AEFBC165C6}"/>
              </a:ext>
            </a:extLst>
          </p:cNvPr>
          <p:cNvSpPr txBox="1"/>
          <p:nvPr/>
        </p:nvSpPr>
        <p:spPr>
          <a:xfrm>
            <a:off x="1821180" y="2967408"/>
            <a:ext cx="323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C00000"/>
                </a:solidFill>
                <a:latin typeface="Arial Black" panose="020B0A04020102020204" pitchFamily="34" charset="0"/>
              </a:rPr>
              <a:t>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A3E4B30-52EA-6509-CEF5-8403656C9B14}"/>
              </a:ext>
            </a:extLst>
          </p:cNvPr>
          <p:cNvSpPr txBox="1"/>
          <p:nvPr/>
        </p:nvSpPr>
        <p:spPr>
          <a:xfrm>
            <a:off x="1832610" y="3785937"/>
            <a:ext cx="323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accent1"/>
                </a:solidFill>
                <a:latin typeface="Arial Black" panose="020B0A04020102020204" pitchFamily="34" charset="0"/>
              </a:rPr>
              <a:t>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5A8239-C96F-D33E-10AC-3FAC5A069651}"/>
              </a:ext>
            </a:extLst>
          </p:cNvPr>
          <p:cNvSpPr txBox="1"/>
          <p:nvPr/>
        </p:nvSpPr>
        <p:spPr>
          <a:xfrm>
            <a:off x="3802380" y="2998857"/>
            <a:ext cx="323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accent1"/>
                </a:solidFill>
                <a:latin typeface="Arial Black" panose="020B0A04020102020204" pitchFamily="34" charset="0"/>
              </a:rPr>
              <a:t>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37530E6-0416-2EBB-8B77-2143CC3DAE7B}"/>
              </a:ext>
            </a:extLst>
          </p:cNvPr>
          <p:cNvSpPr txBox="1"/>
          <p:nvPr/>
        </p:nvSpPr>
        <p:spPr>
          <a:xfrm>
            <a:off x="3779520" y="3824681"/>
            <a:ext cx="323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C00000"/>
                </a:solidFill>
                <a:latin typeface="Arial Black" panose="020B0A04020102020204" pitchFamily="34" charset="0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325934889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2C47B-CF41-2900-27D1-46C22C904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2B99003-69ED-29F2-2154-EF399E28E4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C932B8A-C6B9-4095-13C6-EE9083520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630691B-0CB2-5EB8-C15E-7B7CC27FB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35</a:t>
            </a:fld>
            <a:endParaRPr lang="fr-FR" sz="1200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8329F9A-04DF-6D44-BE37-517D9275BA9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B00D7958-9538-AA0F-07AD-58D3D9A6A30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D09EDA-BBC9-C23C-F784-E5E302DC689C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5.1 Modèle Théorique : Notations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488B616-4201-AC96-BA95-677E016CA99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0560B29-A1C4-46F9-1E1D-BC1F80949B6B}"/>
                  </a:ext>
                </a:extLst>
              </p:cNvPr>
              <p:cNvSpPr/>
              <p:nvPr/>
            </p:nvSpPr>
            <p:spPr>
              <a:xfrm>
                <a:off x="345439" y="1240558"/>
                <a:ext cx="8472118" cy="4896082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2" rtlCol="0" anchor="ctr"/>
              <a:lstStyle/>
              <a:p>
                <a:r>
                  <a:rPr lang="fr-FR" sz="1200" b="1" dirty="0"/>
                  <a:t>Paramètres des micros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F.E.M. induite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𝑆𝐶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Nombre de spires du micro SingleCoil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𝐻𝐵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Nombre de spires du micro Humbucker</a:t>
                </a:r>
                <a:endParaRPr lang="fr-FR" sz="1200" i="1" dirty="0"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Surface active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Gradient du champ magnétique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Position du micro SingleCoil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Positions respectives des deux bobinages du </a:t>
                </a:r>
                <a:r>
                  <a:rPr lang="fr-FR" sz="1200" i="1" dirty="0"/>
                  <a:t>Humbucker</a:t>
                </a:r>
                <a:r>
                  <a:rPr lang="fr-FR" sz="1200" dirty="0"/>
                  <a:t>.</a:t>
                </a:r>
              </a:p>
              <a:p>
                <a:endParaRPr lang="fr-FR" sz="1200" b="1" dirty="0"/>
              </a:p>
              <a:p>
                <a:r>
                  <a:rPr lang="fr-FR" sz="1200" b="1" dirty="0"/>
                  <a:t>Modélisation de la corde</a:t>
                </a:r>
                <a:endParaRPr lang="fr-FR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2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Longueur vibrante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Fréquence fondamentale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Amplitude initiale de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Position de la source d’excitation </a:t>
                </a:r>
              </a:p>
              <a:p>
                <a:endParaRPr lang="fr-FR" sz="1200" dirty="0"/>
              </a:p>
              <a:p>
                <a:r>
                  <a:rPr lang="fr-FR" sz="1200" b="1" dirty="0"/>
                  <a:t>Analyse du signal et performance</a:t>
                </a:r>
                <a:endParaRPr lang="fr-FR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𝑆𝐶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Fréquence de coupure du SingleCoil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𝐻𝐵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Fréquence de coupure du Humbucker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20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fr-FR" sz="1200" dirty="0"/>
                  <a:t>: Bande passante à -3dB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𝐶𝑀𝑅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𝑡h</m:t>
                        </m:r>
                      </m:sub>
                    </m:sSub>
                  </m:oMath>
                </a14:m>
                <a:r>
                  <a:rPr lang="fr-FR" sz="1200" dirty="0"/>
                  <a:t>: Taux de rejection de Mode commun théorique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 dirty="0">
                        <a:latin typeface="Cambria Math" panose="02040503050406030204" pitchFamily="18" charset="0"/>
                      </a:rPr>
                      <m:t>𝐶𝑀𝑅</m:t>
                    </m:r>
                    <m:sSub>
                      <m:sSubPr>
                        <m:ctrlPr>
                          <a:rPr lang="fr-FR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 dirty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200" i="1" dirty="0">
                            <a:latin typeface="Cambria Math" panose="02040503050406030204" pitchFamily="18" charset="0"/>
                          </a:rPr>
                          <m:t>𝑒𝑥𝑝</m:t>
                        </m:r>
                      </m:sub>
                    </m:sSub>
                  </m:oMath>
                </a14:m>
                <a:r>
                  <a:rPr lang="fr-FR" sz="1200" dirty="0"/>
                  <a:t>: Taux de rejection de Mode commun expérimental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fr-FR" sz="1200" dirty="0"/>
                  <a:t> : Ecart à la théorie</a:t>
                </a:r>
              </a:p>
              <a:p>
                <a:endParaRPr lang="fr-FR" sz="1200" dirty="0"/>
              </a:p>
              <a:p>
                <a:r>
                  <a:rPr lang="fr-FR" sz="1200" b="1" dirty="0"/>
                  <a:t>Dispositif expérimental</a:t>
                </a:r>
                <a:endParaRPr lang="fr-FR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200" dirty="0"/>
                  <a:t>: Champ magnétique au centre du système de bobine de Helmholtz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Nombre de spire par bobine de Helmholtz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Rayon de chaque bobine de Helmholtz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Resistance et Inductance de chaque bobine de Helmholtz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Amplitude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Amplitude du champ magnétique généré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Fréquence du champ parasite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200" dirty="0"/>
                  <a:t>: Gradient du champ parasite</a:t>
                </a:r>
              </a:p>
              <a:p>
                <a:endParaRPr lang="fr-FR" sz="1200" b="1" dirty="0"/>
              </a:p>
              <a:p>
                <a:r>
                  <a:rPr lang="fr-FR" sz="1200" b="1" dirty="0"/>
                  <a:t>Constantes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: Perméabilité du vide</a:t>
                </a:r>
              </a:p>
              <a:p>
                <a:endParaRPr lang="fr-FR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200" dirty="0"/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0560B29-A1C4-46F9-1E1D-BC1F80949B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1240558"/>
                <a:ext cx="8472118" cy="489608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703650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5F2D0-380E-9F8B-EAB7-F239559D3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10E9A24-B484-295A-C630-F6DE6A33E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7083A4E-2E4A-99E1-8563-6734096B4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A39197A-E1E0-DE57-ABEA-CF1EC7363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36</a:t>
            </a:fld>
            <a:endParaRPr lang="fr-FR" sz="1200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2889EBA-FB81-9346-F14B-289AA14F693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22B8513-685B-5D00-3E76-767B4A734F7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BE10D5-B238-9259-C2A5-819981B66C65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5.2 Modèle Théorique : Micro SingleCoil </a:t>
            </a:r>
            <a:r>
              <a:rPr lang="fr-FR" sz="1000" i="1" dirty="0"/>
              <a:t>cf. [3] 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71D93A8-3068-FD13-67A6-BED55AE652C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279650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avec une force de pincement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279650"/>
              </a:xfrm>
              <a:prstGeom prst="rect">
                <a:avLst/>
              </a:prstGeom>
              <a:blipFill>
                <a:blip r:embed="rId2"/>
                <a:stretch>
                  <a:fillRect t="-115" r="-888" b="-1570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sSub>
                          <m:sSub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S</m:t>
                            </m:r>
                          </m:sub>
                        </m:sSub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S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blipFill>
                <a:blip r:embed="rId3"/>
                <a:stretch>
                  <a:fillRect t="-231" b="-715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FA777B76-EF7C-8876-1D5D-D609496C95D8}"/>
              </a:ext>
            </a:extLst>
          </p:cNvPr>
          <p:cNvGrpSpPr/>
          <p:nvPr/>
        </p:nvGrpSpPr>
        <p:grpSpPr>
          <a:xfrm>
            <a:off x="3035508" y="2752725"/>
            <a:ext cx="1623736" cy="676275"/>
            <a:chOff x="3501390" y="2752725"/>
            <a:chExt cx="1157854" cy="676275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1A38606B-02D3-FB4F-4E84-A06CC752B21A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E7E64599-1C52-9F19-E75C-1C83054A94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98173CE4-32B0-FCB4-0133-B7F7F801D647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A230515D-0CF5-C54C-6696-F26CC43280DD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3241828B-5116-7216-6B5A-F400AF0BB812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1FB3372-8A72-8A3C-4185-141A249DDF65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10714" r="-3571" b="-2272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81669049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86607-AF33-333D-A48D-AA97A0210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6420539-7C82-3DC3-D605-71C74034FA1D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486D2CB-1A06-EE4B-DEFC-C26A1576D75F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279650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avec une force de pincement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486D2CB-1A06-EE4B-DEFC-C26A1576D7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279650"/>
              </a:xfrm>
              <a:prstGeom prst="rect">
                <a:avLst/>
              </a:prstGeom>
              <a:blipFill>
                <a:blip r:embed="rId2"/>
                <a:stretch>
                  <a:fillRect t="-115" r="-888" b="-1570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512D3D3-39DC-2244-F3FD-49F86491C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FF81650-FA47-57FC-1660-8E146A13A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6DDDF7F-2340-DA52-AD2C-73D63FC33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37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3A031C7-F8C9-3D51-FCA5-4FB45D9F8B4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3C4E3F2-185F-33C0-706F-4AE175C9604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331495-1EB2-6E55-EC77-D35C50372978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5.3 Modèle Théorique : Micro Humbucker </a:t>
            </a:r>
            <a:r>
              <a:rPr lang="fr-FR" sz="1000" i="1" dirty="0"/>
              <a:t>cf. [3] </a:t>
            </a:r>
            <a:endParaRPr lang="fr-FR" sz="2000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unc>
                                <m:func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 sz="105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f>
                                    <m:f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den>
                                  </m:f>
                                  <m:sSub>
                                    <m:sSub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))</m:t>
                                  </m:r>
                                </m:e>
                              </m:func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05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sSub>
                          <m:sSub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fr-FR" sz="1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num>
                                  <m:den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den>
                                </m:f>
                                <m:sSub>
                                  <m:sSub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blipFill>
                <a:blip r:embed="rId3"/>
                <a:stretch>
                  <a:fillRect t="-233" b="-722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CED2B23B-FD4E-F970-C927-67D404F465DC}"/>
              </a:ext>
            </a:extLst>
          </p:cNvPr>
          <p:cNvGrpSpPr/>
          <p:nvPr/>
        </p:nvGrpSpPr>
        <p:grpSpPr>
          <a:xfrm>
            <a:off x="3035508" y="2752725"/>
            <a:ext cx="1623736" cy="676275"/>
            <a:chOff x="3501390" y="2752725"/>
            <a:chExt cx="1157854" cy="67627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E7CBA275-C1FE-59FE-DA04-1639C9AE8658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92D01097-69F2-BF57-B64F-3F63F0C6CB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10714" r="-3571" b="-2272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2854331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1B5F2-B144-CF76-1F8C-26C914CAC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BB62E9F-C416-8E56-1CDE-C3F6958ED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4D4D643-B8B6-EFC0-6384-7CE3B90FB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DC783EB-893F-C311-8294-9AEF8605C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38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1EA3AD-E635-C8B5-91C8-B28A2A0C9F48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406A6A33-5483-E45A-C886-DB9DB0F3FCE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670956-3195-813A-9090-176A89DD32F0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5.4 Modèle Théorique : Action d’un champ parasite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AB61CD-D09F-44E9-C03D-924382A1A1A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4769191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400" b="1" u="sng" dirty="0"/>
                  <a:t>Modèle du champ parasite :</a:t>
                </a:r>
                <a:endParaRPr lang="fr-FR" sz="1400" dirty="0"/>
              </a:p>
              <a:p>
                <a:r>
                  <a:rPr lang="fr-FR" sz="1400" dirty="0"/>
                  <a:t>On étudie un champ parasite d’amplitude B0, de fréquence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fr-FR" sz="1400" dirty="0"/>
                  <a:t> et de gradient </a:t>
                </a:r>
                <a14:m>
                  <m:oMath xmlns:m="http://schemas.openxmlformats.org/officeDocument/2006/math">
                    <m:r>
                      <a:rPr lang="fr-FR" sz="1400" b="0" i="1" dirty="0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400" dirty="0"/>
                  <a:t> régie par l’équation:</a:t>
                </a:r>
              </a:p>
              <a:p>
                <a:pPr algn="ctr"/>
                <a:endParaRPr lang="fr-FR" sz="14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′, 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′)</m:t>
                      </m:r>
                      <m:func>
                        <m:func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/>
              </a:p>
              <a:p>
                <a:pPr algn="ctr"/>
                <a:endParaRPr lang="fr-FR" sz="1400" dirty="0"/>
              </a:p>
              <a:p>
                <a:r>
                  <a:rPr lang="fr-FR" sz="1400" dirty="0"/>
                  <a:t>Ainsi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′)2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La FEM induite </a:t>
                </a:r>
                <a14:m>
                  <m:oMath xmlns:m="http://schemas.openxmlformats.org/officeDocument/2006/math">
                    <m:r>
                      <a:rPr lang="fr-FR" sz="14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4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4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4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400" dirty="0"/>
                  <a:t> spire est régie par la </a:t>
                </a:r>
                <a:r>
                  <a:rPr lang="fr-FR" sz="1400" u="sng" dirty="0"/>
                  <a:t>Loi d’induction de Faraday</a:t>
                </a:r>
                <a:r>
                  <a:rPr lang="fr-FR" sz="14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b="1" u="sng" dirty="0"/>
                  <a:t>Pour un micro SingleCoil :</a:t>
                </a:r>
              </a:p>
              <a:p>
                <a:r>
                  <a:rPr lang="fr-FR" sz="1400" dirty="0"/>
                  <a:t>On génère alors une FEM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(0,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  <a:p>
                <a:r>
                  <a:rPr lang="fr-FR" sz="1400" dirty="0"/>
                  <a:t>Ainsi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4769191"/>
              </a:xfrm>
              <a:prstGeom prst="rect">
                <a:avLst/>
              </a:prstGeom>
              <a:blipFill>
                <a:blip r:embed="rId3"/>
                <a:stretch>
                  <a:fillRect l="-444" t="-25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46736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400" b="1" u="sng" dirty="0"/>
                  <a:t>Pour un micro Humbucker :</a:t>
                </a:r>
              </a:p>
              <a:p>
                <a:r>
                  <a:rPr lang="fr-FR" sz="1400" dirty="0"/>
                  <a:t>On génère une FEM par bobinage: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Le micro est composé de deux bobine à </a:t>
                </a:r>
                <a14:m>
                  <m:oMath xmlns:m="http://schemas.openxmlformats.org/officeDocument/2006/math"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spire câblée en opposition de phase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𝑆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𝑆</m:t>
                          </m:r>
                          <m:f>
                            <m:f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bSup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C’est-à-dire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′,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′,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|"/>
                          <m:endChr m:val="|"/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endParaRPr lang="fr-FR" sz="1400" dirty="0"/>
              </a:p>
              <a:p>
                <a:r>
                  <a:rPr lang="fr-FR" sz="1400" dirty="0"/>
                  <a:t>NB :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On a une annulation totale du bruit si et seulement si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fr-FR" sz="1400" dirty="0"/>
                  <a:t>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fr-FR" sz="1400" dirty="0"/>
                  <a:t> proche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En pratique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fr-FR" sz="1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=0.02 </m:t>
                    </m:r>
                  </m:oMath>
                </a14:m>
                <a:r>
                  <a:rPr lang="fr-FR" sz="1400" dirty="0"/>
                  <a:t>mètre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D’où l’efficacité du Humbucker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4673652"/>
              </a:xfrm>
              <a:prstGeom prst="rect">
                <a:avLst/>
              </a:prstGeom>
              <a:blipFill>
                <a:blip r:embed="rId4"/>
                <a:stretch>
                  <a:fillRect l="-444" t="-261" b="-13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952069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87C1C-A9E7-26DD-5A78-3FADD678E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8DA6C4D-4525-E18F-9555-CAEE2FF05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E066EC66-9FAC-8589-387E-B4B8FD13E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F3027C7-92F3-E063-932E-3B94F56CA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39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D9A809-BAA5-C2C3-A094-88CF56D19A0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530EEE73-BB7D-C4D0-738A-79B41E9FA3C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3C9C9A-6414-9E44-333A-AA367358FB3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E4C63B-D2E6-7A26-7BC5-409FA36680C2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6.1 Dimensionnement de l’expérimentation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D9E6B13-6A5D-2DAE-9C77-B81DD77F1C63}"/>
              </a:ext>
            </a:extLst>
          </p:cNvPr>
          <p:cNvSpPr txBox="1"/>
          <p:nvPr/>
        </p:nvSpPr>
        <p:spPr>
          <a:xfrm>
            <a:off x="345440" y="1315849"/>
            <a:ext cx="52086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générer et contrôler un champ magnétique parasite 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/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par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Inductance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Resistance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Rayon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Perméabilité du vide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500" dirty="0"/>
                  <a:t>: Champ magnétique au centre du système</a:t>
                </a:r>
              </a:p>
            </p:txBody>
          </p:sp>
        </mc:Choice>
        <mc:Fallback xmlns="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blipFill>
                <a:blip r:embed="rId2"/>
                <a:stretch>
                  <a:fillRect l="-359" b="-1359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TextBox 71">
            <a:extLst>
              <a:ext uri="{FF2B5EF4-FFF2-40B4-BE49-F238E27FC236}">
                <a16:creationId xmlns:a16="http://schemas.microsoft.com/office/drawing/2014/main" id="{D5EE7BFD-22A9-C42D-D83F-4ED3539508EB}"/>
              </a:ext>
            </a:extLst>
          </p:cNvPr>
          <p:cNvSpPr txBox="1"/>
          <p:nvPr/>
        </p:nvSpPr>
        <p:spPr>
          <a:xfrm>
            <a:off x="345439" y="4696284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on obtient la relation 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/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d>
                        <m:d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num>
                            <m:den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3/2</m:t>
                          </m:r>
                        </m:sup>
                      </m:sSup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box>
                        <m:box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/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blipFill>
                <a:blip r:embed="rId6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/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fr-FR" sz="1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i="1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fr-FR" sz="1800" i="1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sz="1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blipFill>
                <a:blip r:embed="rId7"/>
                <a:stretch>
                  <a:fillRect r="-5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7A20D67A-ABBB-0F42-5126-090B491D5C6A}"/>
              </a:ext>
            </a:extLst>
          </p:cNvPr>
          <p:cNvSpPr txBox="1"/>
          <p:nvPr/>
        </p:nvSpPr>
        <p:spPr>
          <a:xfrm>
            <a:off x="5956224" y="2455967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Le GBF délivre une tension 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682485-A8DF-8912-5129-AE9F97A8E14E}"/>
              </a:ext>
            </a:extLst>
          </p:cNvPr>
          <p:cNvSpPr txBox="1"/>
          <p:nvPr/>
        </p:nvSpPr>
        <p:spPr>
          <a:xfrm>
            <a:off x="5956223" y="3269908"/>
            <a:ext cx="28205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l’intensité dans la bobine de Helmholtz</a:t>
            </a:r>
            <a:r>
              <a:rPr lang="fr-FR" dirty="0"/>
              <a:t> </a:t>
            </a:r>
            <a:r>
              <a:rPr lang="fr-FR" sz="1600" dirty="0"/>
              <a:t>est : </a:t>
            </a:r>
          </a:p>
        </p:txBody>
      </p:sp>
      <p:pic>
        <p:nvPicPr>
          <p:cNvPr id="14" name="Graphic 13" descr="Right pointing backhand index with solid fill">
            <a:extLst>
              <a:ext uri="{FF2B5EF4-FFF2-40B4-BE49-F238E27FC236}">
                <a16:creationId xmlns:a16="http://schemas.microsoft.com/office/drawing/2014/main" id="{D43490FA-7939-0BC0-E2E1-D0079CA8B2B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74131" y="5317433"/>
            <a:ext cx="360000" cy="36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/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600" dirty="0"/>
                  <a:t>Ordre de Grandeur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=100 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</m:oMath>
                </a14:m>
                <a:endParaRPr lang="fr-FR" sz="1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blipFill>
                <a:blip r:embed="rId10"/>
                <a:stretch>
                  <a:fillRect l="-1128" t="-5455" b="-2363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Bobine de Helmholtz sur socle : PAM067370">
            <a:extLst>
              <a:ext uri="{FF2B5EF4-FFF2-40B4-BE49-F238E27FC236}">
                <a16:creationId xmlns:a16="http://schemas.microsoft.com/office/drawing/2014/main" id="{451DB793-FC6C-87B9-4DF0-4142BD3499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0424" y="575668"/>
            <a:ext cx="2649772" cy="1754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2286975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7108C-A3BE-9F30-5F6D-AE6C160ED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3AE4AA4-C3C7-2E15-4FE6-655BAA3E9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89BD6CD-590C-DC75-B6A6-53CADD5AE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EF6E153-E804-1E6D-AC1A-DA165A1241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40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2B8B654-1B83-0BB3-377A-8226457F88A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E06A84A3-244C-E4E5-16D2-E0D81E52023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9AD8E1-E315-A065-149E-7D95BAB5C66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98F16D-9EEC-BD13-9BA6-4441C8EDBF7E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 Filtrage des données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FEFF123-A369-3024-2D63-5BC511850FC0}"/>
              </a:ext>
            </a:extLst>
          </p:cNvPr>
          <p:cNvSpPr txBox="1"/>
          <p:nvPr/>
        </p:nvSpPr>
        <p:spPr>
          <a:xfrm>
            <a:off x="345440" y="1121470"/>
            <a:ext cx="8950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passer de données bruitées non exploitables a des données exploitables?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160F269-E440-1BF8-F93A-BDF8772DA1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440" y="1564631"/>
            <a:ext cx="5486411" cy="457200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BB76C7F-A157-584F-297C-3D944A36C729}"/>
                  </a:ext>
                </a:extLst>
              </p:cNvPr>
              <p:cNvSpPr txBox="1"/>
              <p:nvPr/>
            </p:nvSpPr>
            <p:spPr>
              <a:xfrm>
                <a:off x="5951220" y="1564631"/>
                <a:ext cx="2885334" cy="44113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400" b="1" u="sng" dirty="0">
                    <a:sym typeface="Wingdings" panose="05000000000000000000" pitchFamily="2" charset="2"/>
                  </a:rPr>
                  <a:t>Filtrage par Moyenne Mobile </a:t>
                </a:r>
                <a:r>
                  <a:rPr lang="fr-FR" sz="1400" dirty="0">
                    <a:sym typeface="Wingdings" panose="05000000000000000000" pitchFamily="2" charset="2"/>
                  </a:rPr>
                  <a:t>Chaque point est la moyenne des 50 précédents et 50 suivants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❌ Temps de calcul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❌ Risque de ‘’raboter’’ les pics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✅ Aucun déphasage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b="1" u="sng" dirty="0">
                    <a:sym typeface="Wingdings" panose="05000000000000000000" pitchFamily="2" charset="2"/>
                  </a:rPr>
                  <a:t>Filtrage numérique passe-bas</a:t>
                </a:r>
              </a:p>
              <a:p>
                <a:r>
                  <a:rPr lang="fr-FR" sz="1400" b="0" dirty="0">
                    <a:sym typeface="Wingdings" panose="05000000000000000000" pitchFamily="2" charset="2"/>
                  </a:rPr>
                  <a:t>Méthode d’Euler avec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H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(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p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) = </m:t>
                      </m:r>
                      <m:f>
                        <m:f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1</m:t>
                          </m:r>
                        </m:num>
                        <m:den>
                          <m: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1 + </m:t>
                          </m:r>
                          <m:r>
                            <m:rPr>
                              <m:sty m:val="p"/>
                            </m:rP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τp</m:t>
                          </m:r>
                        </m:den>
                      </m:f>
                    </m:oMath>
                  </m:oMathPara>
                </a14:m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✅ Temps de calcul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✅ Preserve l’allure globale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❌ Introduit un déphasage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BB76C7F-A157-584F-297C-3D944A36C7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1220" y="1564631"/>
                <a:ext cx="2885334" cy="4411336"/>
              </a:xfrm>
              <a:prstGeom prst="rect">
                <a:avLst/>
              </a:prstGeom>
              <a:blipFill>
                <a:blip r:embed="rId3"/>
                <a:stretch>
                  <a:fillRect l="-633" t="-27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0029440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8AAD9-A422-7202-0B30-0D28B5E9C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6D1B4FF1-9E06-8C21-3237-980566602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D1FF31C7-6DE8-9F8E-C316-27342893D2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78E00E3-9107-F660-4465-7D796FF2A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41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6B6054-7546-BF4C-05E8-838799AD94F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D889E58-42C8-3971-7404-080199592D5B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E322EC-5E0A-C386-1A8F-6C04DB50602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7.1 Réponse fréquentielle du micro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57FDBA9-87D9-FF36-0C64-B77D97DFCB74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AFD8FB-4203-5C2E-4D6F-4259F8AF1F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86" t="60247" r="6447" b="2716"/>
          <a:stretch>
            <a:fillRect/>
          </a:stretch>
        </p:blipFill>
        <p:spPr>
          <a:xfrm>
            <a:off x="4231677" y="1280495"/>
            <a:ext cx="3464559" cy="333130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204532C9-1EF7-26FA-8D12-D5A9A1630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C749963-8865-1816-009C-0CABB6D788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06" t="3209" r="6927" b="41032"/>
          <a:stretch>
            <a:fillRect/>
          </a:stretch>
        </p:blipFill>
        <p:spPr>
          <a:xfrm>
            <a:off x="340579" y="1280495"/>
            <a:ext cx="3464560" cy="501517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Graphic 3" descr="Right pointing backhand index with solid fill">
            <a:extLst>
              <a:ext uri="{FF2B5EF4-FFF2-40B4-BE49-F238E27FC236}">
                <a16:creationId xmlns:a16="http://schemas.microsoft.com/office/drawing/2014/main" id="{194DCAD5-73FD-55DA-C924-EC1909F0A2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231677" y="5265172"/>
            <a:ext cx="360000" cy="360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9085686-D57F-38D7-7542-740C25BAC881}"/>
              </a:ext>
            </a:extLst>
          </p:cNvPr>
          <p:cNvSpPr txBox="1"/>
          <p:nvPr/>
        </p:nvSpPr>
        <p:spPr>
          <a:xfrm>
            <a:off x="4591677" y="5278801"/>
            <a:ext cx="32454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Données récoltées avec </a:t>
            </a:r>
            <a:r>
              <a:rPr lang="fr-FR" sz="1600" dirty="0" err="1"/>
              <a:t>LTSpice</a:t>
            </a:r>
            <a:endParaRPr lang="fr-FR" sz="1600" dirty="0"/>
          </a:p>
        </p:txBody>
      </p:sp>
      <p:sp>
        <p:nvSpPr>
          <p:cNvPr id="13" name="AutoShape 2" descr="¿Qué es LTspice, para qué sirve y cómo funciona?">
            <a:extLst>
              <a:ext uri="{FF2B5EF4-FFF2-40B4-BE49-F238E27FC236}">
                <a16:creationId xmlns:a16="http://schemas.microsoft.com/office/drawing/2014/main" id="{E07F733D-9340-15B4-B245-198FB2C94E0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028" name="Picture 4" descr="Télécharger LTspice pour Windows, Mac, Web - Telecharger.com">
            <a:extLst>
              <a:ext uri="{FF2B5EF4-FFF2-40B4-BE49-F238E27FC236}">
                <a16:creationId xmlns:a16="http://schemas.microsoft.com/office/drawing/2014/main" id="{5626FB59-DD46-52CF-056C-0FB4C4D596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6796" y="1620111"/>
            <a:ext cx="1005133" cy="1005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609551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A8ED5-098F-9570-ACBB-50E36703E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8C2D956-F966-AEF2-A241-8A64B547C18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43846F8-18FE-7C6A-76A8-741E4FC6CE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3" t="20008" r="8298" b="4779"/>
          <a:stretch>
            <a:fillRect/>
          </a:stretch>
        </p:blipFill>
        <p:spPr>
          <a:xfrm>
            <a:off x="438390" y="1390254"/>
            <a:ext cx="3617103" cy="47937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88F337AC-67EE-EE9F-8EEA-E34CDB745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79EDBB6-2569-8CC7-2E3A-9DBB702C4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AF25C25-B363-4618-EBC2-4D4930A7F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42</a:t>
            </a:fld>
            <a:endParaRPr lang="fr-FR" sz="1200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368E95-18D2-6289-E9EB-39FA45A05413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EC4A2D2-685C-87E5-E824-234E3CE0DD9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14904E-75D1-4B5C-FFEA-D1D58774429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7.2.1 Initialisation du programme</a:t>
            </a:r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4A83DFF8-F0FD-FA36-AC9C-376370D3A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C15B571-6E75-E471-0443-E271469ED2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3" t="3556" r="8298" b="79928"/>
          <a:stretch>
            <a:fillRect/>
          </a:stretch>
        </p:blipFill>
        <p:spPr>
          <a:xfrm>
            <a:off x="4196240" y="1386473"/>
            <a:ext cx="3617103" cy="105261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5735003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23F56-6D1A-012E-0840-51E2961D1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21ABD7D-7909-F7E6-327C-22C936D770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AD8057DB-A890-35FD-BE54-B929F1FBC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7EF5319-1BBC-6FA6-9B28-6AE4EE4E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43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EA7EE6-6ED5-C3B5-06D5-DDE4D72DEFD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509A956-1EDE-8A91-05AC-6C6A89CAADF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9A9CC2-F54A-74ED-EF78-C0FDAC1823F1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7.2.2 Fonctions du modèle théorique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F51DC8C-2F05-DC95-710B-7ACF5BC334A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1EEB7B0D-8F85-F90D-F830-E739D70D4F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8AFFFBE-CB6F-21A6-282E-728B37DFD5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48" t="5311" r="3306" b="5110"/>
          <a:stretch>
            <a:fillRect/>
          </a:stretch>
        </p:blipFill>
        <p:spPr>
          <a:xfrm>
            <a:off x="345440" y="1390254"/>
            <a:ext cx="7235687" cy="4533468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E59C470-13B0-9975-D958-781778B6025D}"/>
                  </a:ext>
                </a:extLst>
              </p:cNvPr>
              <p:cNvSpPr txBox="1"/>
              <p:nvPr/>
            </p:nvSpPr>
            <p:spPr>
              <a:xfrm>
                <a:off x="4859309" y="3115116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E59C470-13B0-9975-D958-781778B602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9309" y="3115116"/>
                <a:ext cx="2566035" cy="540533"/>
              </a:xfrm>
              <a:prstGeom prst="rect">
                <a:avLst/>
              </a:prstGeom>
              <a:blipFill>
                <a:blip r:embed="rId4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66451665-5910-D729-CFA8-47544067DF6E}"/>
              </a:ext>
            </a:extLst>
          </p:cNvPr>
          <p:cNvCxnSpPr>
            <a:cxnSpLocks/>
            <a:stCxn id="11" idx="0"/>
          </p:cNvCxnSpPr>
          <p:nvPr/>
        </p:nvCxnSpPr>
        <p:spPr>
          <a:xfrm rot="16200000" flipV="1">
            <a:off x="5395996" y="2368785"/>
            <a:ext cx="265236" cy="1227426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64F5A72-15A5-5002-01B8-114755A0140D}"/>
              </a:ext>
            </a:extLst>
          </p:cNvPr>
          <p:cNvCxnSpPr>
            <a:cxnSpLocks/>
            <a:stCxn id="11" idx="2"/>
          </p:cNvCxnSpPr>
          <p:nvPr/>
        </p:nvCxnSpPr>
        <p:spPr>
          <a:xfrm rot="5400000">
            <a:off x="5374453" y="3196097"/>
            <a:ext cx="308323" cy="1227427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12AF010-ED15-BC8C-BCC5-DF5C616F7068}"/>
                  </a:ext>
                </a:extLst>
              </p:cNvPr>
              <p:cNvSpPr txBox="1"/>
              <p:nvPr/>
            </p:nvSpPr>
            <p:spPr>
              <a:xfrm>
                <a:off x="4914901" y="1659671"/>
                <a:ext cx="2566035" cy="54053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6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12AF010-ED15-BC8C-BCC5-DF5C616F70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4901" y="1659671"/>
                <a:ext cx="2566035" cy="540533"/>
              </a:xfrm>
              <a:prstGeom prst="rect">
                <a:avLst/>
              </a:prstGeom>
              <a:blipFill>
                <a:blip r:embed="rId5"/>
                <a:stretch>
                  <a:fillRect t="-112088" b="-15824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78E1945-9155-3DB3-7037-B1602D1043D8}"/>
              </a:ext>
            </a:extLst>
          </p:cNvPr>
          <p:cNvCxnSpPr>
            <a:cxnSpLocks/>
            <a:stCxn id="22" idx="1"/>
          </p:cNvCxnSpPr>
          <p:nvPr/>
        </p:nvCxnSpPr>
        <p:spPr>
          <a:xfrm flipH="1" flipV="1">
            <a:off x="4739640" y="1929937"/>
            <a:ext cx="175261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46A5A34-8361-03F1-1615-B92B571DD60D}"/>
                  </a:ext>
                </a:extLst>
              </p:cNvPr>
              <p:cNvSpPr txBox="1"/>
              <p:nvPr/>
            </p:nvSpPr>
            <p:spPr>
              <a:xfrm>
                <a:off x="4066828" y="5106589"/>
                <a:ext cx="3358516" cy="65460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sSup>
                            <m:sSup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num>
                                        <m:den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f>
                                    <m:f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sup>
                              </m:sSup>
                            </m:den>
                          </m:f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num>
                                        <m:den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f>
                                    <m:f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sup>
                              </m:sSup>
                            </m:den>
                          </m:f>
                        </m:e>
                      </m:d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1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46A5A34-8361-03F1-1615-B92B571DD6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6828" y="5106589"/>
                <a:ext cx="3358516" cy="65460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C59B3C6D-8A61-2DFD-BDE8-19177307F10C}"/>
              </a:ext>
            </a:extLst>
          </p:cNvPr>
          <p:cNvCxnSpPr>
            <a:cxnSpLocks/>
            <a:stCxn id="27" idx="3"/>
          </p:cNvCxnSpPr>
          <p:nvPr/>
        </p:nvCxnSpPr>
        <p:spPr>
          <a:xfrm flipH="1" flipV="1">
            <a:off x="6965722" y="4511040"/>
            <a:ext cx="459622" cy="922851"/>
          </a:xfrm>
          <a:prstGeom prst="bentConnector4">
            <a:avLst>
              <a:gd name="adj1" fmla="val -109421"/>
              <a:gd name="adj2" fmla="val 10034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315828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293B7-83EF-C759-D713-7720613D2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45BA8A6-C306-B9A7-E8C7-8DE21A2E3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7ED4F2D-A1EA-57EA-FD48-1DF15F709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4821DE5-01AE-C317-8481-DC9BB9C6D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44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9147E7-34EA-CAB2-9065-587A16AC991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BC895C5-4F1B-048E-4B6C-7E439A1B327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24B27F-1212-9E03-3094-0EE4BE422EDB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7.2.3 Fonctions utiles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680B1F-EBF7-F346-714A-DE70738BCA4F}"/>
              </a:ext>
            </a:extLst>
          </p:cNvPr>
          <p:cNvSpPr/>
          <p:nvPr/>
        </p:nvSpPr>
        <p:spPr>
          <a:xfrm>
            <a:off x="345440" y="420890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BA4C4A0F-96CA-E1B3-99B7-AFE420CACB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4D3557C-2ED0-8EFD-9235-98BC8630FD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05" t="4171" r="5415" b="7335"/>
          <a:stretch>
            <a:fillRect/>
          </a:stretch>
        </p:blipFill>
        <p:spPr>
          <a:xfrm>
            <a:off x="345440" y="1121470"/>
            <a:ext cx="5057030" cy="501517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084B4A61-21FB-3BA6-382D-D04369E875AE}"/>
              </a:ext>
            </a:extLst>
          </p:cNvPr>
          <p:cNvGrpSpPr/>
          <p:nvPr/>
        </p:nvGrpSpPr>
        <p:grpSpPr>
          <a:xfrm>
            <a:off x="5538464" y="1866041"/>
            <a:ext cx="3773176" cy="390000"/>
            <a:chOff x="462961" y="1234846"/>
            <a:chExt cx="3773176" cy="39000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9689B63-8C05-D3E6-A850-35A9891AFEAF}"/>
                </a:ext>
              </a:extLst>
            </p:cNvPr>
            <p:cNvSpPr txBox="1"/>
            <p:nvPr/>
          </p:nvSpPr>
          <p:spPr>
            <a:xfrm>
              <a:off x="822961" y="1255514"/>
              <a:ext cx="3413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Lire les fichiers de données</a:t>
              </a:r>
            </a:p>
          </p:txBody>
        </p:sp>
        <p:pic>
          <p:nvPicPr>
            <p:cNvPr id="12" name="Graphic 11" descr="Right pointing backhand index with solid fill">
              <a:extLst>
                <a:ext uri="{FF2B5EF4-FFF2-40B4-BE49-F238E27FC236}">
                  <a16:creationId xmlns:a16="http://schemas.microsoft.com/office/drawing/2014/main" id="{1E217E7C-CB68-25F4-158B-5117E1F962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2961" y="1234846"/>
              <a:ext cx="360000" cy="3900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94C5C41-EAC8-D9C5-99A7-F3114A3F70DF}"/>
              </a:ext>
            </a:extLst>
          </p:cNvPr>
          <p:cNvGrpSpPr/>
          <p:nvPr/>
        </p:nvGrpSpPr>
        <p:grpSpPr>
          <a:xfrm>
            <a:off x="5538756" y="3818902"/>
            <a:ext cx="3773176" cy="390000"/>
            <a:chOff x="462961" y="1234846"/>
            <a:chExt cx="3773176" cy="39000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BD2BE30-D43A-A299-8DAD-FA4FD7BB24B6}"/>
                </a:ext>
              </a:extLst>
            </p:cNvPr>
            <p:cNvSpPr txBox="1"/>
            <p:nvPr/>
          </p:nvSpPr>
          <p:spPr>
            <a:xfrm>
              <a:off x="822961" y="1255514"/>
              <a:ext cx="3413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Enregistrer des courbes</a:t>
              </a:r>
            </a:p>
          </p:txBody>
        </p:sp>
        <p:pic>
          <p:nvPicPr>
            <p:cNvPr id="15" name="Graphic 14" descr="Right pointing backhand index with solid fill">
              <a:extLst>
                <a:ext uri="{FF2B5EF4-FFF2-40B4-BE49-F238E27FC236}">
                  <a16:creationId xmlns:a16="http://schemas.microsoft.com/office/drawing/2014/main" id="{542F2087-09B0-14A9-1D2E-F88626DDBE9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2961" y="1234846"/>
              <a:ext cx="360000" cy="390000"/>
            </a:xfrm>
            <a:prstGeom prst="rect">
              <a:avLst/>
            </a:prstGeom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C6A6464-700D-FC5E-2BFF-7B6D2548DC70}"/>
              </a:ext>
            </a:extLst>
          </p:cNvPr>
          <p:cNvGrpSpPr/>
          <p:nvPr/>
        </p:nvGrpSpPr>
        <p:grpSpPr>
          <a:xfrm>
            <a:off x="5538756" y="5576763"/>
            <a:ext cx="3773176" cy="390000"/>
            <a:chOff x="462961" y="1234846"/>
            <a:chExt cx="3773176" cy="390000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69E0A1B-278C-C69A-F73E-79F6A8EC24AE}"/>
                </a:ext>
              </a:extLst>
            </p:cNvPr>
            <p:cNvSpPr txBox="1"/>
            <p:nvPr/>
          </p:nvSpPr>
          <p:spPr>
            <a:xfrm>
              <a:off x="822961" y="1255514"/>
              <a:ext cx="3413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Normaliser les spectres</a:t>
              </a:r>
            </a:p>
          </p:txBody>
        </p:sp>
        <p:pic>
          <p:nvPicPr>
            <p:cNvPr id="19" name="Graphic 18" descr="Right pointing backhand index with solid fill">
              <a:extLst>
                <a:ext uri="{FF2B5EF4-FFF2-40B4-BE49-F238E27FC236}">
                  <a16:creationId xmlns:a16="http://schemas.microsoft.com/office/drawing/2014/main" id="{C54953FD-2FA5-AB1D-79BD-1C7E61E527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2961" y="1234846"/>
              <a:ext cx="360000" cy="39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5934848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78E55-0328-F4B0-A17D-BED52B53F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0DF0711-0040-41B4-3A89-7B4B75A97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3443A08-CB38-39EE-F965-164A8A422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94DF264-97D3-6DFC-B316-BED4DA0AD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45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4A3F5-C7A8-271E-97D8-81B4143785ED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AC73F6F-0601-97D4-F519-6A47C21DB23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33F4DE-0227-BE4E-1565-18A6CFBEC6FB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7.2.4 Calcul du modèle théorique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7277FFB-8AF7-D472-BE53-8CF7BB16989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A9D7A4F6-4B6C-FEED-F754-DEB193E584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A48AED5-099F-D34F-2AF3-8BC9362CCA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16" t="6791" r="6952" b="6061"/>
          <a:stretch>
            <a:fillRect/>
          </a:stretch>
        </p:blipFill>
        <p:spPr>
          <a:xfrm>
            <a:off x="420982" y="1216549"/>
            <a:ext cx="4512364" cy="474693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8771036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FE18E-DFA5-AD92-64CD-8F15A6B098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41620D0-6239-2CC1-BCE0-CA2A27BE6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C16FB689-AC83-BD94-1929-F1DBF98D8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32BB74E-1DC2-8EF0-178F-2374878D1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46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EE406F-22C3-7649-16AE-8AC16C29DEC6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DA525A0-9D68-105C-C49D-63990A85062B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826590-8C71-35E8-49E9-4F811BC9CFF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7.2.5 Calcul et affichages des FFT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3D9334-81B8-14A3-6CA8-E5833BD3EEA4}"/>
              </a:ext>
            </a:extLst>
          </p:cNvPr>
          <p:cNvSpPr/>
          <p:nvPr/>
        </p:nvSpPr>
        <p:spPr>
          <a:xfrm>
            <a:off x="345440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F93D5E62-2E0F-5E65-93A5-F253C27661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34AF0C6-537E-6B20-F5DF-10EB348DED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5" t="5070" r="6046" b="5465"/>
          <a:stretch>
            <a:fillRect/>
          </a:stretch>
        </p:blipFill>
        <p:spPr>
          <a:xfrm>
            <a:off x="347871" y="1200647"/>
            <a:ext cx="4731025" cy="472307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9148343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BED92-A1AA-6697-2E70-5C51D1F5C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F18D14F-51CA-5C96-A864-DE3C18FD8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0986B93-385B-899F-8705-22FD215EA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831DBE4-7E7E-1EC9-D91C-337D4ED26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47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64DE755-DBCA-E4FF-E4AF-02D38DF125B3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4FEFFEB-8768-5E46-43F4-FB0EAB30C3A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5EC40F-996F-C57F-87E7-2830A4FA6506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7.2.6 Enregistrements des courbes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1409239-756B-F1DC-3238-68546D8884B5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81CB7D3F-A693-40F0-90A3-133C6C7151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34C0BDD-0950-1C96-9E1F-B436E55AD7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91" t="7203" r="4143" b="7943"/>
          <a:stretch>
            <a:fillRect/>
          </a:stretch>
        </p:blipFill>
        <p:spPr>
          <a:xfrm>
            <a:off x="345440" y="1390254"/>
            <a:ext cx="7696863" cy="42235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15282838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4332</Words>
  <Application>Microsoft Office PowerPoint</Application>
  <PresentationFormat>On-screen Show (4:3)</PresentationFormat>
  <Paragraphs>910</Paragraphs>
  <Slides>47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3" baseType="lpstr">
      <vt:lpstr>Arial</vt:lpstr>
      <vt:lpstr>Arial Black</vt:lpstr>
      <vt:lpstr>Calibri</vt:lpstr>
      <vt:lpstr>Cambria Math</vt:lpstr>
      <vt:lpstr>Wingdings</vt:lpstr>
      <vt:lpstr>Retrospect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 MOREL</dc:creator>
  <cp:lastModifiedBy>Christophe MOREL</cp:lastModifiedBy>
  <cp:revision>634</cp:revision>
  <dcterms:created xsi:type="dcterms:W3CDTF">2025-06-09T15:35:56Z</dcterms:created>
  <dcterms:modified xsi:type="dcterms:W3CDTF">2026-01-29T13:08:21Z</dcterms:modified>
</cp:coreProperties>
</file>