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48"/>
  </p:notesMasterIdLst>
  <p:sldIdLst>
    <p:sldId id="256" r:id="rId2"/>
    <p:sldId id="340" r:id="rId3"/>
    <p:sldId id="338" r:id="rId4"/>
    <p:sldId id="339" r:id="rId5"/>
    <p:sldId id="335" r:id="rId6"/>
    <p:sldId id="337" r:id="rId7"/>
    <p:sldId id="336" r:id="rId8"/>
    <p:sldId id="265" r:id="rId9"/>
    <p:sldId id="360" r:id="rId10"/>
    <p:sldId id="362" r:id="rId11"/>
    <p:sldId id="353" r:id="rId12"/>
    <p:sldId id="329" r:id="rId13"/>
    <p:sldId id="327" r:id="rId14"/>
    <p:sldId id="354" r:id="rId15"/>
    <p:sldId id="333" r:id="rId16"/>
    <p:sldId id="359" r:id="rId17"/>
    <p:sldId id="357" r:id="rId18"/>
    <p:sldId id="363" r:id="rId19"/>
    <p:sldId id="356" r:id="rId20"/>
    <p:sldId id="345" r:id="rId21"/>
    <p:sldId id="346" r:id="rId22"/>
    <p:sldId id="361" r:id="rId23"/>
    <p:sldId id="324" r:id="rId24"/>
    <p:sldId id="313" r:id="rId25"/>
    <p:sldId id="355" r:id="rId26"/>
    <p:sldId id="318" r:id="rId27"/>
    <p:sldId id="344" r:id="rId28"/>
    <p:sldId id="330" r:id="rId29"/>
    <p:sldId id="303" r:id="rId30"/>
    <p:sldId id="271" r:id="rId31"/>
    <p:sldId id="302" r:id="rId32"/>
    <p:sldId id="272" r:id="rId33"/>
    <p:sldId id="341" r:id="rId34"/>
    <p:sldId id="342" r:id="rId35"/>
    <p:sldId id="348" r:id="rId36"/>
    <p:sldId id="277" r:id="rId37"/>
    <p:sldId id="304" r:id="rId38"/>
    <p:sldId id="305" r:id="rId39"/>
    <p:sldId id="311" r:id="rId40"/>
    <p:sldId id="275" r:id="rId41"/>
    <p:sldId id="306" r:id="rId42"/>
    <p:sldId id="307" r:id="rId43"/>
    <p:sldId id="308" r:id="rId44"/>
    <p:sldId id="309" r:id="rId45"/>
    <p:sldId id="317" r:id="rId46"/>
    <p:sldId id="310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9AD7"/>
    <a:srgbClr val="38903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975" autoAdjust="0"/>
  </p:normalViewPr>
  <p:slideViewPr>
    <p:cSldViewPr snapToGrid="0">
      <p:cViewPr varScale="1">
        <p:scale>
          <a:sx n="102" d="100"/>
          <a:sy n="102" d="100"/>
        </p:scale>
        <p:origin x="10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Parts de marché estimées selon les </a:t>
            </a:r>
          </a:p>
          <a:p>
            <a:pPr>
              <a:defRPr/>
            </a:pPr>
            <a:r>
              <a:rPr lang="fr-FR" dirty="0"/>
              <a:t>volumes de vente. </a:t>
            </a:r>
            <a:r>
              <a:rPr lang="fr-FR" sz="1100" dirty="0"/>
              <a:t>(cf. [7])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dPt>
            <c:idx val="0"/>
            <c:bubble3D val="0"/>
            <c:spPr>
              <a:solidFill>
                <a:srgbClr val="CC6600"/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4BB2-4BD0-9775-74F36B14B2B8}"/>
              </c:ext>
            </c:extLst>
          </c:dPt>
          <c:dPt>
            <c:idx val="1"/>
            <c:bubble3D val="0"/>
            <c:spPr>
              <a:solidFill>
                <a:srgbClr val="559AD7"/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BB2-4BD0-9775-74F36B14B2B8}"/>
              </c:ext>
            </c:extLst>
          </c:dPt>
          <c:dPt>
            <c:idx val="2"/>
            <c:bubble3D val="0"/>
            <c:spPr>
              <a:solidFill>
                <a:srgbClr val="38903A"/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BB2-4BD0-9775-74F36B14B2B8}"/>
              </c:ext>
            </c:extLst>
          </c:dPt>
          <c:dPt>
            <c:idx val="3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4BB2-4BD0-9775-74F36B14B2B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4BB2-4BD0-9775-74F36B14B2B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4BB2-4BD0-9775-74F36B14B2B8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BB2-4BD0-9775-74F36B14B2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Micros SingleCoil</c:v>
                </c:pt>
                <c:pt idx="1">
                  <c:v>Micros Humbucker</c:v>
                </c:pt>
                <c:pt idx="2">
                  <c:v>Micros Actifs</c:v>
                </c:pt>
                <c:pt idx="3">
                  <c:v>Autres Micros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2-4BD0-9775-74F36B14B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2022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40%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1C852-5D74-4F80-A124-F60AD28CB0FD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B1946031-CC6F-4798-BB24-30EB0DDC5277}">
      <dgm:prSet phldrT="[Text]" phldr="0"/>
      <dgm:spPr/>
      <dgm:t>
        <a:bodyPr/>
        <a:lstStyle/>
        <a:p>
          <a:pPr algn="l"/>
          <a:r>
            <a:rPr lang="fr-FR" dirty="0"/>
            <a:t>De l’onde à la F.E.M.</a:t>
          </a:r>
        </a:p>
      </dgm:t>
    </dgm:pt>
    <dgm:pt modelId="{DF9440CB-AEE4-4B4A-BAD8-C0D9B8C74E86}" type="par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6409785A-3A6B-45D0-AECD-0CF83416FC6F}" type="sib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E1F92468-EED0-446C-8F01-19EC7893BEB7}">
      <dgm:prSet phldrT="[Text]" phldr="0"/>
      <dgm:spPr/>
      <dgm:t>
        <a:bodyPr/>
        <a:lstStyle/>
        <a:p>
          <a:pPr algn="l"/>
          <a:r>
            <a:rPr lang="fr-FR" dirty="0"/>
            <a:t>Filtrage interne des </a:t>
          </a:r>
        </a:p>
        <a:p>
          <a:pPr algn="l"/>
          <a:r>
            <a:rPr lang="fr-FR" dirty="0"/>
            <a:t>micros </a:t>
          </a:r>
        </a:p>
      </dgm:t>
    </dgm:pt>
    <dgm:pt modelId="{4C193A07-5FE8-45B1-B54F-43ACFEBFA259}" type="par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4A5BA3C-A19D-47E5-9693-F13538540662}" type="sib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999190F-4751-4CC0-8C2C-D4D1BD8541A5}">
      <dgm:prSet phldrT="[Text]" phldr="0"/>
      <dgm:spPr/>
      <dgm:t>
        <a:bodyPr/>
        <a:lstStyle/>
        <a:p>
          <a:pPr algn="l"/>
          <a:r>
            <a:rPr lang="fr-FR" dirty="0"/>
            <a:t>Reduction du bourdonnement</a:t>
          </a:r>
        </a:p>
      </dgm:t>
    </dgm:pt>
    <dgm:pt modelId="{B937862D-19FD-452C-9AA2-58269B000A85}" type="par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E02B0FFD-8631-41F2-A902-D43C76613677}" type="sib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3492A474-1DB8-418E-8701-8300C7EB9CDA}" type="pres">
      <dgm:prSet presAssocID="{AFD1C852-5D74-4F80-A124-F60AD28CB0FD}" presName="Name0" presStyleCnt="0">
        <dgm:presLayoutVars>
          <dgm:dir/>
          <dgm:resizeHandles val="exact"/>
        </dgm:presLayoutVars>
      </dgm:prSet>
      <dgm:spPr/>
    </dgm:pt>
    <dgm:pt modelId="{07B121FE-B513-4273-8542-483E825BE23A}" type="pres">
      <dgm:prSet presAssocID="{B1946031-CC6F-4798-BB24-30EB0DDC5277}" presName="parTxOnly" presStyleLbl="node1" presStyleIdx="0" presStyleCnt="3" custScaleX="90834" custScaleY="433715">
        <dgm:presLayoutVars>
          <dgm:bulletEnabled val="1"/>
        </dgm:presLayoutVars>
      </dgm:prSet>
      <dgm:spPr/>
    </dgm:pt>
    <dgm:pt modelId="{DB817F39-88FC-4708-9DF3-C7F5734050DC}" type="pres">
      <dgm:prSet presAssocID="{6409785A-3A6B-45D0-AECD-0CF83416FC6F}" presName="parSpace" presStyleCnt="0"/>
      <dgm:spPr/>
    </dgm:pt>
    <dgm:pt modelId="{1C5D07C3-19A8-4A2B-ADAD-760FB67323AE}" type="pres">
      <dgm:prSet presAssocID="{E1F92468-EED0-446C-8F01-19EC7893BEB7}" presName="parTxOnly" presStyleLbl="node1" presStyleIdx="1" presStyleCnt="3" custScaleX="85590" custScaleY="433715">
        <dgm:presLayoutVars>
          <dgm:bulletEnabled val="1"/>
        </dgm:presLayoutVars>
      </dgm:prSet>
      <dgm:spPr/>
    </dgm:pt>
    <dgm:pt modelId="{095CFF29-6108-477A-98A8-6875BCA81A2B}" type="pres">
      <dgm:prSet presAssocID="{24A5BA3C-A19D-47E5-9693-F13538540662}" presName="parSpace" presStyleCnt="0"/>
      <dgm:spPr/>
    </dgm:pt>
    <dgm:pt modelId="{EDB0DA63-DB1A-4CF7-9C2D-141473F1AEC3}" type="pres">
      <dgm:prSet presAssocID="{2999190F-4751-4CC0-8C2C-D4D1BD8541A5}" presName="parTxOnly" presStyleLbl="node1" presStyleIdx="2" presStyleCnt="3" custScaleX="77451" custScaleY="433715">
        <dgm:presLayoutVars>
          <dgm:bulletEnabled val="1"/>
        </dgm:presLayoutVars>
      </dgm:prSet>
      <dgm:spPr/>
    </dgm:pt>
  </dgm:ptLst>
  <dgm:cxnLst>
    <dgm:cxn modelId="{9D335623-9A20-41EC-8986-84118AEFF14B}" srcId="{AFD1C852-5D74-4F80-A124-F60AD28CB0FD}" destId="{2999190F-4751-4CC0-8C2C-D4D1BD8541A5}" srcOrd="2" destOrd="0" parTransId="{B937862D-19FD-452C-9AA2-58269B000A85}" sibTransId="{E02B0FFD-8631-41F2-A902-D43C76613677}"/>
    <dgm:cxn modelId="{5087FD27-24EB-4362-B69A-7FAAD70FE1F4}" type="presOf" srcId="{2999190F-4751-4CC0-8C2C-D4D1BD8541A5}" destId="{EDB0DA63-DB1A-4CF7-9C2D-141473F1AEC3}" srcOrd="0" destOrd="0" presId="urn:microsoft.com/office/officeart/2005/8/layout/hChevron3"/>
    <dgm:cxn modelId="{F295B632-26E4-4F8E-AE79-C863461F4647}" type="presOf" srcId="{E1F92468-EED0-446C-8F01-19EC7893BEB7}" destId="{1C5D07C3-19A8-4A2B-ADAD-760FB67323AE}" srcOrd="0" destOrd="0" presId="urn:microsoft.com/office/officeart/2005/8/layout/hChevron3"/>
    <dgm:cxn modelId="{0A6C1934-F3BE-4907-9741-F2ECA6A31CF0}" type="presOf" srcId="{AFD1C852-5D74-4F80-A124-F60AD28CB0FD}" destId="{3492A474-1DB8-418E-8701-8300C7EB9CDA}" srcOrd="0" destOrd="0" presId="urn:microsoft.com/office/officeart/2005/8/layout/hChevron3"/>
    <dgm:cxn modelId="{A54F9490-DB61-4C3A-A7B7-F92EB5A17874}" srcId="{AFD1C852-5D74-4F80-A124-F60AD28CB0FD}" destId="{B1946031-CC6F-4798-BB24-30EB0DDC5277}" srcOrd="0" destOrd="0" parTransId="{DF9440CB-AEE4-4B4A-BAD8-C0D9B8C74E86}" sibTransId="{6409785A-3A6B-45D0-AECD-0CF83416FC6F}"/>
    <dgm:cxn modelId="{A28B0F9F-7F70-4B9B-AD8E-DEBE0C3994F7}" type="presOf" srcId="{B1946031-CC6F-4798-BB24-30EB0DDC5277}" destId="{07B121FE-B513-4273-8542-483E825BE23A}" srcOrd="0" destOrd="0" presId="urn:microsoft.com/office/officeart/2005/8/layout/hChevron3"/>
    <dgm:cxn modelId="{F47725DE-476A-4FAB-9188-719AD3DBBAB7}" srcId="{AFD1C852-5D74-4F80-A124-F60AD28CB0FD}" destId="{E1F92468-EED0-446C-8F01-19EC7893BEB7}" srcOrd="1" destOrd="0" parTransId="{4C193A07-5FE8-45B1-B54F-43ACFEBFA259}" sibTransId="{24A5BA3C-A19D-47E5-9693-F13538540662}"/>
    <dgm:cxn modelId="{183DF5FB-2D9F-4A87-A6B3-1671C769EC58}" type="presParOf" srcId="{3492A474-1DB8-418E-8701-8300C7EB9CDA}" destId="{07B121FE-B513-4273-8542-483E825BE23A}" srcOrd="0" destOrd="0" presId="urn:microsoft.com/office/officeart/2005/8/layout/hChevron3"/>
    <dgm:cxn modelId="{DFE9872F-29F9-4634-B09D-A4AB7A045767}" type="presParOf" srcId="{3492A474-1DB8-418E-8701-8300C7EB9CDA}" destId="{DB817F39-88FC-4708-9DF3-C7F5734050DC}" srcOrd="1" destOrd="0" presId="urn:microsoft.com/office/officeart/2005/8/layout/hChevron3"/>
    <dgm:cxn modelId="{BE1A6A62-7316-4FD4-9DD5-327C01F70C73}" type="presParOf" srcId="{3492A474-1DB8-418E-8701-8300C7EB9CDA}" destId="{1C5D07C3-19A8-4A2B-ADAD-760FB67323AE}" srcOrd="2" destOrd="0" presId="urn:microsoft.com/office/officeart/2005/8/layout/hChevron3"/>
    <dgm:cxn modelId="{C7840BB5-EAAD-4336-89F2-604ABDBD43C8}" type="presParOf" srcId="{3492A474-1DB8-418E-8701-8300C7EB9CDA}" destId="{095CFF29-6108-477A-98A8-6875BCA81A2B}" srcOrd="3" destOrd="0" presId="urn:microsoft.com/office/officeart/2005/8/layout/hChevron3"/>
    <dgm:cxn modelId="{AAC58604-1623-4538-B840-D6B80108F5A3}" type="presParOf" srcId="{3492A474-1DB8-418E-8701-8300C7EB9CDA}" destId="{EDB0DA63-DB1A-4CF7-9C2D-141473F1AEC3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2022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40%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121FE-B513-4273-8542-483E825BE23A}">
      <dsp:nvSpPr>
        <dsp:cNvPr id="0" name=""/>
        <dsp:cNvSpPr/>
      </dsp:nvSpPr>
      <dsp:spPr>
        <a:xfrm>
          <a:off x="2067" y="0"/>
          <a:ext cx="2955431" cy="47223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De l’onde à la F.E.M.</a:t>
          </a:r>
        </a:p>
      </dsp:txBody>
      <dsp:txXfrm>
        <a:off x="2067" y="0"/>
        <a:ext cx="2837372" cy="472237"/>
      </dsp:txXfrm>
    </dsp:sp>
    <dsp:sp modelId="{1C5D07C3-19A8-4A2B-ADAD-760FB67323AE}">
      <dsp:nvSpPr>
        <dsp:cNvPr id="0" name=""/>
        <dsp:cNvSpPr/>
      </dsp:nvSpPr>
      <dsp:spPr>
        <a:xfrm>
          <a:off x="2306766" y="0"/>
          <a:ext cx="2784809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interne des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micros </a:t>
          </a:r>
        </a:p>
      </dsp:txBody>
      <dsp:txXfrm>
        <a:off x="2542885" y="0"/>
        <a:ext cx="2312572" cy="472237"/>
      </dsp:txXfrm>
    </dsp:sp>
    <dsp:sp modelId="{EDB0DA63-DB1A-4CF7-9C2D-141473F1AEC3}">
      <dsp:nvSpPr>
        <dsp:cNvPr id="0" name=""/>
        <dsp:cNvSpPr/>
      </dsp:nvSpPr>
      <dsp:spPr>
        <a:xfrm>
          <a:off x="4440842" y="0"/>
          <a:ext cx="2519993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du bourdonnement</a:t>
          </a:r>
        </a:p>
      </dsp:txBody>
      <dsp:txXfrm>
        <a:off x="4676961" y="0"/>
        <a:ext cx="2047756" cy="472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19CC-8F2E-E730-26C5-50B1313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B5F9-19A2-8239-EF2B-F99FDE45A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9BC5-E338-8D25-9AFB-D31191AB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B000-4390-D34E-E236-7CDF47B3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18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3F19-FC15-FF58-F6DC-6A5CB966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4F60-8385-2E11-EAD0-9A2DE7129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9070F-D77F-D61D-1636-7AA560F64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7FC55-50FC-C09A-3D98-7BA145570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02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80FC-692D-26AD-B431-C5EFC2B7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FBFA1-8F74-E673-911D-3181A49E9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63A5C-B4B4-955D-8215-497777D9C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1C4DC-2C8D-DD50-3314-1504AECE2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00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9924-4D85-1D24-FD57-C1C57323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7FBF6-954E-174E-9BA2-B4BC50FE7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8284A-A707-148D-40DD-E5BD2696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76E1-6CD1-CD7C-AB4C-E63A4F6CF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49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9C00-5F76-9C97-36C9-B1345D9F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CA20E-11B3-F44A-825E-D687E0B00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00B5B-86FA-C725-031E-ABDB8670F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83695-0350-EB18-B848-2248C0648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995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5E5-34B6-A91D-57BA-0BA2E1F3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1174F-4483-8765-082B-6AD207855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2B9F3-31ED-588E-D434-8E1DD345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EEC3-FD3F-2A98-CBC3-30A11301A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347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7C0D-D66C-7F3D-FAED-AFE18822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B221F-871F-8F86-6340-589A3C0AA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7F321-BC45-B1F1-22AA-BF52BDD2B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1F916-CFC9-023A-0880-6A57AB2A9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847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336-7D3A-EAE6-9F30-4197D11A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105-101D-4ABB-45A9-D39435CA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66F-8BBA-5FAB-C7D8-8B782678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955B-7625-293A-C6C0-9FA48F69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52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4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5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1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3.jpeg"/><Relationship Id="rId9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33.jpeg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3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microsoft.com/office/2007/relationships/hdphoto" Target="../media/hdphoto4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microsoft.com/office/2007/relationships/hdphoto" Target="../media/hdphoto3.wdp"/><Relationship Id="rId4" Type="http://schemas.openxmlformats.org/officeDocument/2006/relationships/image" Target="../media/image48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58.png"/><Relationship Id="rId3" Type="http://schemas.openxmlformats.org/officeDocument/2006/relationships/image" Target="../media/image33.jpeg"/><Relationship Id="rId21" Type="http://schemas.openxmlformats.org/officeDocument/2006/relationships/image" Target="../media/image68.png"/><Relationship Id="rId7" Type="http://schemas.openxmlformats.org/officeDocument/2006/relationships/image" Target="../media/image15.png"/><Relationship Id="rId12" Type="http://schemas.openxmlformats.org/officeDocument/2006/relationships/image" Target="../media/image63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47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jpeg"/><Relationship Id="rId4" Type="http://schemas.openxmlformats.org/officeDocument/2006/relationships/image" Target="../media/image6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5" Type="http://schemas.openxmlformats.org/officeDocument/2006/relationships/image" Target="../media/image73.png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jpeg"/><Relationship Id="rId4" Type="http://schemas.openxmlformats.org/officeDocument/2006/relationships/image" Target="../media/image4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4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0.png"/><Relationship Id="rId5" Type="http://schemas.openxmlformats.org/officeDocument/2006/relationships/image" Target="../media/image750.png"/><Relationship Id="rId4" Type="http://schemas.openxmlformats.org/officeDocument/2006/relationships/image" Target="../media/image33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7.png"/><Relationship Id="rId7" Type="http://schemas.openxmlformats.org/officeDocument/2006/relationships/image" Target="../media/image81.sv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43.png"/><Relationship Id="rId5" Type="http://schemas.openxmlformats.org/officeDocument/2006/relationships/image" Target="../media/image79.svg"/><Relationship Id="rId10" Type="http://schemas.openxmlformats.org/officeDocument/2006/relationships/image" Target="../media/image56.png"/><Relationship Id="rId4" Type="http://schemas.openxmlformats.org/officeDocument/2006/relationships/image" Target="../media/image78.png"/><Relationship Id="rId9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84.png"/><Relationship Id="rId7" Type="http://schemas.microsoft.com/office/2007/relationships/hdphoto" Target="../media/hdphoto1.wdp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hyperlink" Target="https://pixabay.com/en/steel-brushed-metal-metallic-499897/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18.png"/><Relationship Id="rId7" Type="http://schemas.microsoft.com/office/2007/relationships/hdphoto" Target="../media/hdphoto1.wdp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15.png"/><Relationship Id="rId4" Type="http://schemas.openxmlformats.org/officeDocument/2006/relationships/image" Target="../media/image86.png"/><Relationship Id="rId9" Type="http://schemas.openxmlformats.org/officeDocument/2006/relationships/hyperlink" Target="https://pixabay.com/en/steel-brushed-metal-metallic-499897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70.png"/><Relationship Id="rId7" Type="http://schemas.openxmlformats.org/officeDocument/2006/relationships/image" Target="../media/image30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320.png"/><Relationship Id="rId7" Type="http://schemas.openxmlformats.org/officeDocument/2006/relationships/image" Target="../media/image30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40.png"/><Relationship Id="rId7" Type="http://schemas.openxmlformats.org/officeDocument/2006/relationships/image" Target="../media/image30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71.jpeg"/><Relationship Id="rId10" Type="http://schemas.openxmlformats.org/officeDocument/2006/relationships/image" Target="../media/image330.png"/><Relationship Id="rId9" Type="http://schemas.openxmlformats.org/officeDocument/2006/relationships/image" Target="../media/image89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0.png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Loi d’induction de Faraday : Le fonctionnement d’une guitare électrique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</a:t>
            </a:fld>
            <a:endParaRPr lang="fr-FR" b="1" dirty="0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643E5-0F2B-2FE2-DE0E-F9374C232A58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6D130B-046F-5180-5387-DB486A26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A497463-3A83-B0B5-6946-79174372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1B0276-EFF9-456D-E1E7-4ED3C710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7DB1DB-6877-AD95-7BFA-723F07652E4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F7BFC6-A0BB-58CB-0A26-507B2DF051F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41DAE65-9B17-4A9F-2325-941B2D69EBC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0864453"/>
              </p:ext>
            </p:extLst>
          </p:nvPr>
        </p:nvGraphicFramePr>
        <p:xfrm>
          <a:off x="622219" y="18620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1043" y="49926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6203" y="50400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3397" y="50347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D6EDA89-9709-22F1-2CE0-CBAB49D2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87CDF6B-C0AF-8235-A63F-60F77CAE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70CCCFE-D2CF-F036-A6E9-C8D4FF0A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CEB692-5A10-63DD-ACDC-616336C82C2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867646-E3EE-4E36-C073-2D2C5E8158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3BDAC4A3-6D25-7436-F2DF-4DDF7A32DB3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A97F1B0-9969-DA59-97A2-8D0A14849903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136497" y="1186363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385745" y="5434033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  <a:stCxn id="29" idx="3"/>
                  <a:endCxn id="12" idx="1"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1099-0B67-D045-8865-09C50052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2321691-D7BF-2AF8-8675-49BED2CEB0A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2EF41A-60DC-66CC-75A8-537EEA9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D7E49E6-ADD6-388C-12D1-62FB2F27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1A4F1CE-3A04-B681-3406-915026EC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50ED2-D5FA-AD40-3121-5CBF693E87A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DAA85FE-E9A6-2776-DCC3-9E5576CFD3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151352"/>
              </p:ext>
            </p:extLst>
          </p:nvPr>
        </p:nvGraphicFramePr>
        <p:xfrm>
          <a:off x="822961" y="1145570"/>
          <a:ext cx="7586402" cy="4991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13982E51-6C2B-8ACF-880A-415E94B20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569" y="3069000"/>
            <a:ext cx="1022310" cy="72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49ACA9-163C-6215-6E51-42DBC5316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412" y="4487428"/>
            <a:ext cx="1021750" cy="72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F5FC9C7-1347-17E1-2F66-E5984C38A8B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4FF870-EEE4-37C4-BA49-2B26502D025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F548215D-9884-6CA7-D5C0-40D49D98122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6FCDE9-83EE-E6C4-255E-D696C1C9AD07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</p:spTree>
    <p:extLst>
      <p:ext uri="{BB962C8B-B14F-4D97-AF65-F5344CB8AC3E}">
        <p14:creationId xmlns:p14="http://schemas.microsoft.com/office/powerpoint/2010/main" val="156004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EE4635-0063-BDB8-5C00-81533E5D3062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169199-8D0C-60A6-8967-E16A78F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885F29E-8678-D36A-0D35-75C3A704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EDCE98-18ED-99C0-05A3-B2ABDB2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658A02-6127-85C2-C96E-6360A48C80D9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5C0811-70DD-0811-C4AB-C5BA5BEE7798}"/>
              </a:ext>
            </a:extLst>
          </p:cNvPr>
          <p:cNvGrpSpPr/>
          <p:nvPr/>
        </p:nvGrpSpPr>
        <p:grpSpPr>
          <a:xfrm>
            <a:off x="757357" y="1267336"/>
            <a:ext cx="2794357" cy="1456239"/>
            <a:chOff x="757357" y="3644776"/>
            <a:chExt cx="2794357" cy="145623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888DA-EA85-BACA-4DA1-AC7AADA6FDED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0E33EAE-DCBB-59AD-9586-0B278CCFB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7" r="7227"/>
            <a:stretch/>
          </p:blipFill>
          <p:spPr bwMode="auto">
            <a:xfrm>
              <a:off x="1802614" y="3655444"/>
              <a:ext cx="1749100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A955A1-3FE8-E23C-FB32-197625FCE777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9FA4007-D881-298D-16E0-8B10B844EC4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C89D83A-8EAF-A29A-3D99-1A5A4BA3B567}"/>
              </a:ext>
            </a:extLst>
          </p:cNvPr>
          <p:cNvSpPr txBox="1"/>
          <p:nvPr/>
        </p:nvSpPr>
        <p:spPr>
          <a:xfrm>
            <a:off x="1071094" y="1826633"/>
            <a:ext cx="73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1931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1B0F9D-8566-0C35-DA3D-12B83B1D5D8F}"/>
              </a:ext>
            </a:extLst>
          </p:cNvPr>
          <p:cNvGrpSpPr/>
          <p:nvPr/>
        </p:nvGrpSpPr>
        <p:grpSpPr>
          <a:xfrm>
            <a:off x="4257048" y="1278005"/>
            <a:ext cx="4556752" cy="4679896"/>
            <a:chOff x="5128260" y="2555821"/>
            <a:chExt cx="3281103" cy="2838917"/>
          </a:xfrm>
        </p:grpSpPr>
        <p:pic>
          <p:nvPicPr>
            <p:cNvPr id="10" name="Picture 9" descr="A blue and white drawing of a square and a rectangle&#10;&#10;AI-generated content may be incorrect.">
              <a:extLst>
                <a:ext uri="{FF2B5EF4-FFF2-40B4-BE49-F238E27FC236}">
                  <a16:creationId xmlns:a16="http://schemas.microsoft.com/office/drawing/2014/main" id="{35B1D760-66A7-4EF2-06F7-CEB0F740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161" r="12491"/>
            <a:stretch>
              <a:fillRect/>
            </a:stretch>
          </p:blipFill>
          <p:spPr>
            <a:xfrm>
              <a:off x="5128260" y="2555821"/>
              <a:ext cx="3281103" cy="283891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6B4602-42B8-CD9D-7B5A-B72982226E4D}"/>
                </a:ext>
              </a:extLst>
            </p:cNvPr>
            <p:cNvSpPr/>
            <p:nvPr/>
          </p:nvSpPr>
          <p:spPr>
            <a:xfrm>
              <a:off x="6606541" y="3415664"/>
              <a:ext cx="308610" cy="2698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BEE47B49-AC29-0A5B-BE91-5834088C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0" t="27687" r="51486" b="24239"/>
            <a:stretch>
              <a:fillRect/>
            </a:stretch>
          </p:blipFill>
          <p:spPr>
            <a:xfrm>
              <a:off x="5573128" y="3130807"/>
              <a:ext cx="2477717" cy="1693612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0357CB-6D07-11C5-8EC3-85C6EB5CB4BF}"/>
                </a:ext>
              </a:extLst>
            </p:cNvPr>
            <p:cNvSpPr/>
            <p:nvPr/>
          </p:nvSpPr>
          <p:spPr>
            <a:xfrm>
              <a:off x="6732270" y="3216592"/>
              <a:ext cx="53340" cy="5524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369F20-F607-9F18-F30E-4FC8F48B5B99}"/>
              </a:ext>
            </a:extLst>
          </p:cNvPr>
          <p:cNvSpPr txBox="1"/>
          <p:nvPr/>
        </p:nvSpPr>
        <p:spPr>
          <a:xfrm>
            <a:off x="1951551" y="2415066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SingleCoil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53688-28E3-395D-70F6-E50EF0BE10AB}"/>
              </a:ext>
            </a:extLst>
          </p:cNvPr>
          <p:cNvSpPr txBox="1"/>
          <p:nvPr/>
        </p:nvSpPr>
        <p:spPr>
          <a:xfrm flipH="1">
            <a:off x="2037872" y="321154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81BAC7-2F05-D532-04C6-1C065A8CDC42}"/>
              </a:ext>
            </a:extLst>
          </p:cNvPr>
          <p:cNvCxnSpPr>
            <a:cxnSpLocks/>
            <a:stCxn id="14" idx="1"/>
          </p:cNvCxnSpPr>
          <p:nvPr/>
        </p:nvCxnSpPr>
        <p:spPr>
          <a:xfrm flipV="1">
            <a:off x="3491406" y="2410534"/>
            <a:ext cx="2993270" cy="939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750372-0D76-1A6A-DD9B-C7FF226BC376}"/>
              </a:ext>
            </a:extLst>
          </p:cNvPr>
          <p:cNvSpPr txBox="1"/>
          <p:nvPr/>
        </p:nvSpPr>
        <p:spPr>
          <a:xfrm flipH="1">
            <a:off x="2037872" y="3973760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DBB6C-E453-637C-7462-FBC874B60003}"/>
              </a:ext>
            </a:extLst>
          </p:cNvPr>
          <p:cNvSpPr txBox="1"/>
          <p:nvPr/>
        </p:nvSpPr>
        <p:spPr>
          <a:xfrm flipH="1">
            <a:off x="2033051" y="473597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 permanent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1FCA9BF-D568-7FEF-8F3A-CC03ABDECFCE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491406" y="3542645"/>
            <a:ext cx="2249820" cy="569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422936-A5EF-FA57-44E3-7B65B2489857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 flipH="1" flipV="1">
            <a:off x="4491508" y="2982771"/>
            <a:ext cx="298515" cy="3761897"/>
          </a:xfrm>
          <a:prstGeom prst="bentConnector4">
            <a:avLst>
              <a:gd name="adj1" fmla="val -76579"/>
              <a:gd name="adj2" fmla="val 10002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118DBD2-7E50-D6F0-E0F2-39D09FF10BB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36B2100-381E-6627-2A4C-8D5E9855E1E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ooter Placeholder 2">
              <a:extLst>
                <a:ext uri="{FF2B5EF4-FFF2-40B4-BE49-F238E27FC236}">
                  <a16:creationId xmlns:a16="http://schemas.microsoft.com/office/drawing/2014/main" id="{7943EED2-5DFA-3DF4-1F1F-FE10AB15299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94324AA-72FC-C282-79A1-90C96CC9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0757ED-665B-4A13-863D-6BEDFEE7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DEB640-326C-4C8A-4353-C88BEC4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75690-14A5-1EF6-BD3E-E169BCC560FD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489540" y="1506714"/>
            <a:ext cx="7074840" cy="429745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1F9ECEF-EC47-6469-E720-9088512AA15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DEFAC-2DF9-FC8B-A55A-6B6843139A09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4C452B8E-33AF-08B9-B3BE-46D9B421354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0779B0-67EA-76FE-96B9-060854B464E4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8F499-9990-532A-C930-5A86537966B7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2C224-2B65-C621-0EC0-73274997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3E4FC93-C63B-8406-6B00-3E5F54AB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9ED0F94-BE44-0B30-1195-0C653D9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3DE5677-D04C-C907-22CF-48E34F9CEF3C}"/>
              </a:ext>
            </a:extLst>
          </p:cNvPr>
          <p:cNvSpPr/>
          <p:nvPr/>
        </p:nvSpPr>
        <p:spPr>
          <a:xfrm>
            <a:off x="322686" y="1178781"/>
            <a:ext cx="1125078" cy="4500438"/>
          </a:xfrm>
          <a:prstGeom prst="downArrow">
            <a:avLst>
              <a:gd name="adj1" fmla="val 37279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7775C-D727-1789-6DAC-ED5112DC6709}"/>
              </a:ext>
            </a:extLst>
          </p:cNvPr>
          <p:cNvSpPr/>
          <p:nvPr/>
        </p:nvSpPr>
        <p:spPr>
          <a:xfrm>
            <a:off x="640098" y="1353566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6C38B-927C-53CF-E6AB-365D740BBA91}"/>
              </a:ext>
            </a:extLst>
          </p:cNvPr>
          <p:cNvSpPr/>
          <p:nvPr/>
        </p:nvSpPr>
        <p:spPr>
          <a:xfrm>
            <a:off x="622370" y="171795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2E47D5-1C5D-136A-061D-9A1220859249}"/>
              </a:ext>
            </a:extLst>
          </p:cNvPr>
          <p:cNvGrpSpPr/>
          <p:nvPr/>
        </p:nvGrpSpPr>
        <p:grpSpPr>
          <a:xfrm>
            <a:off x="757357" y="3644776"/>
            <a:ext cx="2840277" cy="1456239"/>
            <a:chOff x="757357" y="3644776"/>
            <a:chExt cx="2840277" cy="14562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69E515-1F8E-1A6F-32EB-A4113124209A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077574-15D0-65B4-FDC0-91F3532B9BE6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D1783E-179B-5321-AD09-59B4859B3E63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EB520E7-EF31-D47F-BBBC-DF62DEF6C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r="6123"/>
            <a:stretch/>
          </p:blipFill>
          <p:spPr bwMode="auto">
            <a:xfrm>
              <a:off x="1804368" y="3652396"/>
              <a:ext cx="1793266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11BF4-7805-35AB-84D0-864D256DA30B}"/>
                </a:ext>
              </a:extLst>
            </p:cNvPr>
            <p:cNvSpPr txBox="1"/>
            <p:nvPr/>
          </p:nvSpPr>
          <p:spPr>
            <a:xfrm>
              <a:off x="1071094" y="4204613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1955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B490B0-BCD6-A56F-0B4F-C5F684FE9AB2}"/>
              </a:ext>
            </a:extLst>
          </p:cNvPr>
          <p:cNvSpPr txBox="1"/>
          <p:nvPr/>
        </p:nvSpPr>
        <p:spPr>
          <a:xfrm>
            <a:off x="1975388" y="4810594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Humbucker</a:t>
            </a:r>
          </a:p>
        </p:txBody>
      </p:sp>
      <p:pic>
        <p:nvPicPr>
          <p:cNvPr id="22" name="Picture 21" descr="A drawing of a computer&#10;&#10;AI-generated content may be incorrect.">
            <a:extLst>
              <a:ext uri="{FF2B5EF4-FFF2-40B4-BE49-F238E27FC236}">
                <a16:creationId xmlns:a16="http://schemas.microsoft.com/office/drawing/2014/main" id="{D940559A-4517-B76C-7191-DBF90D78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5567"/>
            <a:ext cx="4303537" cy="39380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ACEF00-6939-5D0B-A13E-4FE798F62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5252630" y="2402996"/>
            <a:ext cx="3113821" cy="20603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916CAF-70B9-62A8-15A1-E542690D7E33}"/>
              </a:ext>
            </a:extLst>
          </p:cNvPr>
          <p:cNvSpPr txBox="1"/>
          <p:nvPr/>
        </p:nvSpPr>
        <p:spPr>
          <a:xfrm flipH="1">
            <a:off x="2037872" y="140560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500AF0-2911-5316-990D-909F60C91DD4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>
            <a:off x="3491406" y="1544102"/>
            <a:ext cx="1097739" cy="7330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4B729FB-031A-BAE3-5916-1E9BCF4B4649}"/>
              </a:ext>
            </a:extLst>
          </p:cNvPr>
          <p:cNvSpPr txBox="1"/>
          <p:nvPr/>
        </p:nvSpPr>
        <p:spPr>
          <a:xfrm flipH="1">
            <a:off x="1802613" y="2167820"/>
            <a:ext cx="168397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93002B-9402-19C4-80AB-1BF0833056FE}"/>
              </a:ext>
            </a:extLst>
          </p:cNvPr>
          <p:cNvSpPr txBox="1"/>
          <p:nvPr/>
        </p:nvSpPr>
        <p:spPr>
          <a:xfrm flipH="1">
            <a:off x="2033051" y="293003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Bobines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27D8FF0-B915-4B4D-DDF6-06610E686E7C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4256375" y="833042"/>
            <a:ext cx="174504" cy="33980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8CECA19-DB69-E156-5705-713CB10CF7E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3991493" y="1975362"/>
            <a:ext cx="270852" cy="27342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A070375-38D7-0425-E55D-0B48FE1180FC}"/>
              </a:ext>
            </a:extLst>
          </p:cNvPr>
          <p:cNvSpPr/>
          <p:nvPr/>
        </p:nvSpPr>
        <p:spPr>
          <a:xfrm>
            <a:off x="4589145" y="2237711"/>
            <a:ext cx="4276317" cy="7881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2" descr="Free femm 4.2 software download (Windows)">
            <a:extLst>
              <a:ext uri="{FF2B5EF4-FFF2-40B4-BE49-F238E27FC236}">
                <a16:creationId xmlns:a16="http://schemas.microsoft.com/office/drawing/2014/main" id="{3FA0ADC1-9B0B-00B1-E104-3F4417610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5F4D756-3D4B-B7AF-83E9-16BF14AE775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3C3DA7-A7BE-817F-80FB-26C06BC7096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Footer Placeholder 2">
              <a:extLst>
                <a:ext uri="{FF2B5EF4-FFF2-40B4-BE49-F238E27FC236}">
                  <a16:creationId xmlns:a16="http://schemas.microsoft.com/office/drawing/2014/main" id="{6BE2CC90-94E4-F0A5-13CB-7AA3338FB1C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9A119C-A152-8451-8BAD-3058A88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B7045-CF40-0E65-A5C7-9FB0BF30525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19" y="2253924"/>
            <a:ext cx="74253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</a:t>
            </a:r>
            <a:r>
              <a:rPr lang="fr-FR" sz="2000" b="1" dirty="0"/>
              <a:t>le type de micro </a:t>
            </a:r>
            <a:r>
              <a:rPr lang="fr-FR" sz="2000" dirty="0"/>
              <a:t>influence-t-il le </a:t>
            </a:r>
            <a:r>
              <a:rPr lang="fr-FR" sz="2000" b="1" dirty="0"/>
              <a:t>timbre</a:t>
            </a:r>
            <a:r>
              <a:rPr lang="fr-FR" sz="2000" dirty="0"/>
              <a:t> et </a:t>
            </a:r>
            <a:r>
              <a:rPr lang="fr-FR" sz="2000" b="1" dirty="0"/>
              <a:t>la qualité</a:t>
            </a:r>
            <a:r>
              <a:rPr lang="fr-FR" sz="2000" dirty="0"/>
              <a:t> du </a:t>
            </a:r>
            <a:r>
              <a:rPr lang="fr-FR" sz="2000" b="1" dirty="0"/>
              <a:t>son</a:t>
            </a:r>
            <a:r>
              <a:rPr lang="fr-FR" sz="2000" dirty="0"/>
              <a:t> d’une guitare électrique 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SingleCoil </a:t>
            </a:r>
          </a:p>
          <a:p>
            <a:pPr algn="ctr"/>
            <a:r>
              <a:rPr lang="fr-FR" dirty="0"/>
              <a:t>(ou simple bobinage)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 </a:t>
            </a:r>
          </a:p>
          <a:p>
            <a:pPr algn="ctr"/>
            <a:r>
              <a:rPr lang="fr-FR" dirty="0"/>
              <a:t>(ou double bobinage)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92DDB-5107-9492-084E-A0324494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067480" y="3425036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E83BBAA-0E05-C329-303D-8623CD61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860681" y="3425036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A2E5A45-09B6-6201-9655-31940D8E76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926561"/>
              </p:ext>
            </p:extLst>
          </p:nvPr>
        </p:nvGraphicFramePr>
        <p:xfrm>
          <a:off x="1215239" y="5535351"/>
          <a:ext cx="6962904" cy="47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094F3D5-9355-C183-0051-5A525B2FEB08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Problématique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FCD4-D77B-F1C4-55DD-38C4A934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6C5A857-3856-ABEB-0586-58660E5A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AB217C6-0AA4-7B48-5B93-D3A14E4D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3353FF4-31AA-5E70-D72A-ECD17373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9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176C0-9C44-1775-37E4-AD2AFEED553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F150A1-C0FD-2A31-918E-93B83058E113}"/>
              </a:ext>
            </a:extLst>
          </p:cNvPr>
          <p:cNvGrpSpPr/>
          <p:nvPr/>
        </p:nvGrpSpPr>
        <p:grpSpPr>
          <a:xfrm>
            <a:off x="1071545" y="4838220"/>
            <a:ext cx="7869519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1E8A2-562F-2391-DE82-01FB673AEF5C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CC22706-E154-E480-834B-0A0914D263CE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8D96272-AB69-A3F2-22CA-7CB0AF5B7115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2482C0E-9587-3BAE-6CD8-E6F6F1AC4195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rgbClr val="559AD7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04BD342-1123-F804-2806-2DFDD4AC9A2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DF1803B1-9D88-36E3-0A95-86E105BC2365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E4A1CAC-CFDD-3534-8AA1-4979F7B51B35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E6E9B31-F506-D994-C412-03730C5F49D8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85B4BC89-9F96-94D7-6A77-412D6FACFCE0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6A8F45-F97F-1579-0616-154D45687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08772BC-B767-5069-5611-84F2D865EA5D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CC04AB-3F10-7818-1627-D458DD445E99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A3BDDDA-3141-7E4A-0F8B-25F068259B22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B0E4D0-484C-0B4E-BDE7-3504057701ED}"/>
              </a:ext>
            </a:extLst>
          </p:cNvPr>
          <p:cNvGrpSpPr/>
          <p:nvPr/>
        </p:nvGrpSpPr>
        <p:grpSpPr>
          <a:xfrm>
            <a:off x="758331" y="1002105"/>
            <a:ext cx="8378236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8D23FFC-B47E-B3BA-1B54-489B1B98EC8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9E3ADCD7-C186-B526-3478-BB91B2959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84FFA659-5182-64DC-FE6E-6A51D79B76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2BC230A-33A9-0CE3-C146-6A6EFA12400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D32D96BA-E861-4A25-8537-B34D005C1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92837-9A60-019E-1348-26C9B419118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D284C1C-5CEC-C7C5-03C9-CC224408666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8693BA70-7E94-2313-FE27-C37EE2084EB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65FA32B-7D06-3CDC-06A4-D594690F4EEF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1" name="Arrow: Notched Right 10">
              <a:extLst>
                <a:ext uri="{FF2B5EF4-FFF2-40B4-BE49-F238E27FC236}">
                  <a16:creationId xmlns:a16="http://schemas.microsoft.com/office/drawing/2014/main" id="{EBA9A299-B261-28EE-CD7A-3A9AE8180C67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83D0F28B-568E-9D3C-51C0-A53469A99C0C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19B22F95-0D45-4FFB-CA4A-55D9C142094B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A3249BC-8CE7-CDA3-3B94-E7F3EF3B59FC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De l’onde à la F.E.M.</a:t>
            </a:r>
          </a:p>
        </p:txBody>
      </p:sp>
    </p:spTree>
    <p:extLst>
      <p:ext uri="{BB962C8B-B14F-4D97-AF65-F5344CB8AC3E}">
        <p14:creationId xmlns:p14="http://schemas.microsoft.com/office/powerpoint/2010/main" val="111159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1A89-AE2B-E041-5B38-418F6180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54A7EF-E819-7403-B518-89541C0929F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8AFA9E9-9719-679C-6FBE-1201DA0B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6BA397-9AAB-6252-4978-88DC5315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01C7BF-D0F9-5DDA-0EB7-BA641961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5EC5D-3C65-7E5A-2EDA-1360881BB7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1B1DFE7-8FA8-677E-D0C4-9ECAB1E04C0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/>
              <p:nvPr/>
            </p:nvSpPr>
            <p:spPr>
              <a:xfrm>
                <a:off x="1131100" y="1260116"/>
                <a:ext cx="3842591" cy="1580519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1260116"/>
                <a:ext cx="3842591" cy="1580519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/>
              <p:nvPr/>
            </p:nvSpPr>
            <p:spPr>
              <a:xfrm>
                <a:off x="5097198" y="1260117"/>
                <a:ext cx="3842591" cy="4952962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Initialement on a :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/>
                  <a:t>L’équation d’onde de la corde est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60117"/>
                <a:ext cx="3842591" cy="4952962"/>
              </a:xfrm>
              <a:prstGeom prst="rect">
                <a:avLst/>
              </a:prstGeom>
              <a:blipFill>
                <a:blip r:embed="rId3"/>
                <a:stretch>
                  <a:fillRect l="-314" t="-12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31C4B18-D16D-2A7C-FA54-DBD8C62F12B7}"/>
              </a:ext>
            </a:extLst>
          </p:cNvPr>
          <p:cNvGrpSpPr/>
          <p:nvPr/>
        </p:nvGrpSpPr>
        <p:grpSpPr>
          <a:xfrm>
            <a:off x="5863482" y="1532367"/>
            <a:ext cx="2310021" cy="699787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B764E5A-ED98-B76E-2C56-F3E05CAF7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5CD6CF9-24F7-7B53-4AD6-6FFBD8EC9D77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5CD6CF9-24F7-7B53-4AD6-6FFBD8EC9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31579" r="-52632" b="-13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2987E6F-BA8C-5202-2C1C-6F726B798189}"/>
                  </a:ext>
                </a:extLst>
              </p:cNvPr>
              <p:cNvSpPr/>
              <p:nvPr/>
            </p:nvSpPr>
            <p:spPr>
              <a:xfrm>
                <a:off x="1131100" y="2976854"/>
                <a:ext cx="3842591" cy="3218207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4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Nombre de spire du micro Humbucker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Gradient du champ B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Fréquence fondamentale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Amplitude initiale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du 1</a:t>
                </a:r>
                <a:r>
                  <a:rPr lang="fr-FR" sz="1400" baseline="30000" dirty="0"/>
                  <a:t>er</a:t>
                </a:r>
                <a:r>
                  <a:rPr lang="fr-FR" sz="14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du 2</a:t>
                </a:r>
                <a:r>
                  <a:rPr lang="fr-FR" sz="1400" baseline="30000" dirty="0"/>
                  <a:t>e</a:t>
                </a:r>
                <a:r>
                  <a:rPr lang="fr-FR" sz="1400" dirty="0"/>
                  <a:t> bobinage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2987E6F-BA8C-5202-2C1C-6F726B798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2976854"/>
                <a:ext cx="3842591" cy="321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4D7A720-C1AF-8FFD-5276-6377974A72CE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4" name="Arrow: Notched Right 23">
              <a:extLst>
                <a:ext uri="{FF2B5EF4-FFF2-40B4-BE49-F238E27FC236}">
                  <a16:creationId xmlns:a16="http://schemas.microsoft.com/office/drawing/2014/main" id="{98C81E02-2700-29D0-D996-5422895C53EB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5" name="Arrow: Notched Right 24">
              <a:extLst>
                <a:ext uri="{FF2B5EF4-FFF2-40B4-BE49-F238E27FC236}">
                  <a16:creationId xmlns:a16="http://schemas.microsoft.com/office/drawing/2014/main" id="{F92BEF86-6538-C444-241A-241BFE661542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26" name="Arrow: Notched Right 25">
              <a:extLst>
                <a:ext uri="{FF2B5EF4-FFF2-40B4-BE49-F238E27FC236}">
                  <a16:creationId xmlns:a16="http://schemas.microsoft.com/office/drawing/2014/main" id="{221D5E09-9334-FD20-555B-6362CF74F0B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911BEFF-6FB0-C592-5173-789210A75215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p:pic>
        <p:nvPicPr>
          <p:cNvPr id="10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81906A3C-88C9-1D36-3F04-582CE4AFF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0987" y="605107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339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513E-37CC-0777-9DD6-ED38E2EF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9778B6-4640-3777-106C-B2E81C72F006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5B422C-332E-F0F8-A11E-5F71F43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A9828E5-2969-F367-35D6-476C88C1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3E3C6F8-227B-9DAC-05A8-6050A1DB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E6851C-5CE4-9D4F-E469-99136E49A19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B049565-EA1F-D493-3653-16E2BD0D20AE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4C36CF-5FC4-DEED-4595-E69C59A5490B}"/>
                  </a:ext>
                </a:extLst>
              </p:cNvPr>
              <p:cNvSpPr/>
              <p:nvPr/>
            </p:nvSpPr>
            <p:spPr>
              <a:xfrm>
                <a:off x="1131100" y="1260116"/>
                <a:ext cx="3842591" cy="1580519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4C36CF-5FC4-DEED-4595-E69C59A5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1260116"/>
                <a:ext cx="3842591" cy="1580519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9DBC45-4208-EB2C-566B-C727C2C36B18}"/>
                  </a:ext>
                </a:extLst>
              </p:cNvPr>
              <p:cNvSpPr/>
              <p:nvPr/>
            </p:nvSpPr>
            <p:spPr>
              <a:xfrm>
                <a:off x="5097198" y="1260117"/>
                <a:ext cx="3842591" cy="4952962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Initialement on a :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/>
                  <a:t>L’équation d’onde de la corde est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9DBC45-4208-EB2C-566B-C727C2C36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60117"/>
                <a:ext cx="3842591" cy="4952962"/>
              </a:xfrm>
              <a:prstGeom prst="rect">
                <a:avLst/>
              </a:prstGeom>
              <a:blipFill>
                <a:blip r:embed="rId3"/>
                <a:stretch>
                  <a:fillRect l="-314" t="-12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1CB52F20-067F-B398-1BBC-A12EBFC85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7" b="3027"/>
          <a:stretch/>
        </p:blipFill>
        <p:spPr bwMode="auto">
          <a:xfrm>
            <a:off x="8040987" y="639069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297DB57-E777-D4DE-D60F-498B839103CF}"/>
              </a:ext>
            </a:extLst>
          </p:cNvPr>
          <p:cNvGrpSpPr/>
          <p:nvPr/>
        </p:nvGrpSpPr>
        <p:grpSpPr>
          <a:xfrm>
            <a:off x="5863482" y="1532367"/>
            <a:ext cx="2310021" cy="699787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4F4A932-FD35-712C-BF76-F01145DBA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C9A2855-CFD7-D79A-8D1F-5209EF57AB1C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C9A2855-CFD7-D79A-8D1F-5209EF57A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28571" r="-38095" b="-10588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5D0AA0-5C14-903C-1C82-83333456D025}"/>
                  </a:ext>
                </a:extLst>
              </p:cNvPr>
              <p:cNvSpPr/>
              <p:nvPr/>
            </p:nvSpPr>
            <p:spPr>
              <a:xfrm>
                <a:off x="1131100" y="2976854"/>
                <a:ext cx="3842591" cy="3218207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4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Nombre de spire du micro Humbucker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Gradient du champ B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Fréquence fondamentale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Amplitude initiale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du 1</a:t>
                </a:r>
                <a:r>
                  <a:rPr lang="fr-FR" sz="1400" baseline="30000" dirty="0"/>
                  <a:t>er</a:t>
                </a:r>
                <a:r>
                  <a:rPr lang="fr-FR" sz="14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Position du 2</a:t>
                </a:r>
                <a:r>
                  <a:rPr lang="fr-FR" sz="1400" baseline="30000" dirty="0"/>
                  <a:t>e</a:t>
                </a:r>
                <a:r>
                  <a:rPr lang="fr-FR" sz="1400" dirty="0"/>
                  <a:t> bobinage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5D0AA0-5C14-903C-1C82-83333456D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2976854"/>
                <a:ext cx="3842591" cy="321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E0BCAEC-6F8A-4120-C5C4-AEBF9E39DBA1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4" name="Arrow: Notched Right 23">
              <a:extLst>
                <a:ext uri="{FF2B5EF4-FFF2-40B4-BE49-F238E27FC236}">
                  <a16:creationId xmlns:a16="http://schemas.microsoft.com/office/drawing/2014/main" id="{D8C1DFFE-09CE-A6F0-B557-527F4E3BB307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5" name="Arrow: Notched Right 24">
              <a:extLst>
                <a:ext uri="{FF2B5EF4-FFF2-40B4-BE49-F238E27FC236}">
                  <a16:creationId xmlns:a16="http://schemas.microsoft.com/office/drawing/2014/main" id="{56B224F1-B7CE-3422-7A70-5B03F6EC4BA5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26" name="Arrow: Notched Right 25">
              <a:extLst>
                <a:ext uri="{FF2B5EF4-FFF2-40B4-BE49-F238E27FC236}">
                  <a16:creationId xmlns:a16="http://schemas.microsoft.com/office/drawing/2014/main" id="{3B3747CD-F49D-56FD-7E80-5C8FB4F2D31F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26CF2F2-A7C7-F1BD-72F6-03BF835FF9D8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</p:spTree>
    <p:extLst>
      <p:ext uri="{BB962C8B-B14F-4D97-AF65-F5344CB8AC3E}">
        <p14:creationId xmlns:p14="http://schemas.microsoft.com/office/powerpoint/2010/main" val="115111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D5DECE-2A60-2317-83E1-58347A3F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9D97A53-F324-D847-0D7A-606ADF6E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5306DF-F81B-2F74-5E66-B9A57BEB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12</a:t>
            </a:fld>
            <a:endParaRPr lang="fr-FR" sz="1200" b="1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5F6D45-9037-6C83-8CAB-4DE7CB47F0D9}"/>
              </a:ext>
            </a:extLst>
          </p:cNvPr>
          <p:cNvGrpSpPr/>
          <p:nvPr/>
        </p:nvGrpSpPr>
        <p:grpSpPr>
          <a:xfrm>
            <a:off x="1151432" y="1287780"/>
            <a:ext cx="6551579" cy="4759218"/>
            <a:chOff x="1040582" y="1319307"/>
            <a:chExt cx="8606514" cy="477249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F8B616C-BA44-CC85-7A63-484E9D8C67D2}"/>
                </a:ext>
              </a:extLst>
            </p:cNvPr>
            <p:cNvGrpSpPr/>
            <p:nvPr/>
          </p:nvGrpSpPr>
          <p:grpSpPr>
            <a:xfrm>
              <a:off x="1040582" y="1319307"/>
              <a:ext cx="8606514" cy="4772492"/>
              <a:chOff x="1040582" y="1319307"/>
              <a:chExt cx="8606514" cy="477249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1ECDDAB-FE4C-91AF-6FF8-D226B63E5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6" r="27170"/>
              <a:stretch>
                <a:fillRect/>
              </a:stretch>
            </p:blipFill>
            <p:spPr>
              <a:xfrm rot="5400000">
                <a:off x="2729400" y="-369511"/>
                <a:ext cx="3437289" cy="6814925"/>
              </a:xfrm>
              <a:prstGeom prst="rect">
                <a:avLst/>
              </a:prstGeom>
              <a:ln w="28575">
                <a:noFill/>
              </a:ln>
              <a:effectLst>
                <a:softEdge rad="31750"/>
              </a:effectLst>
            </p:spPr>
          </p:pic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9F7DA611-55F3-BB6C-D4A0-D9C1F2AEF5CE}"/>
                  </a:ext>
                </a:extLst>
              </p:cNvPr>
              <p:cNvGrpSpPr/>
              <p:nvPr/>
            </p:nvGrpSpPr>
            <p:grpSpPr>
              <a:xfrm flipH="1">
                <a:off x="1433594" y="4843239"/>
                <a:ext cx="8213502" cy="1248560"/>
                <a:chOff x="-317043" y="2948866"/>
                <a:chExt cx="8020224" cy="1248560"/>
              </a:xfrm>
            </p:grpSpPr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7628D95F-B909-97AA-8AF0-643319E2F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 rot="16140000">
                  <a:off x="3331331" y="-174423"/>
                  <a:ext cx="723475" cy="8020224"/>
                </a:xfrm>
                <a:prstGeom prst="rect">
                  <a:avLst/>
                </a:prstGeom>
              </p:spPr>
            </p:pic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A0B5C525-B1D9-149D-1C21-32C54BFA8514}"/>
                    </a:ext>
                  </a:extLst>
                </p:cNvPr>
                <p:cNvSpPr txBox="1"/>
                <p:nvPr/>
              </p:nvSpPr>
              <p:spPr>
                <a:xfrm>
                  <a:off x="1495088" y="2948866"/>
                  <a:ext cx="1107789" cy="24804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sz="1200" dirty="0"/>
                    <a:t>Corde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96C0D-356A-1130-A43B-569F02015153}"/>
                  </a:ext>
                </a:extLst>
              </p:cNvPr>
              <p:cNvSpPr txBox="1"/>
              <p:nvPr/>
            </p:nvSpPr>
            <p:spPr>
              <a:xfrm flipH="1">
                <a:off x="1147351" y="4826753"/>
                <a:ext cx="1325159" cy="4167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SingleCoil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4D3656-6CBC-8BF0-2BAB-244DCEE4D29A}"/>
                  </a:ext>
                </a:extLst>
              </p:cNvPr>
              <p:cNvSpPr txBox="1"/>
              <p:nvPr/>
            </p:nvSpPr>
            <p:spPr>
              <a:xfrm flipH="1">
                <a:off x="3985961" y="4843239"/>
                <a:ext cx="1611658" cy="4133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Humbucker</a:t>
                </a:r>
              </a:p>
            </p:txBody>
          </p: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ED1E97F8-A8FA-1050-B6EB-F4BACD4BECC6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>
                <a:off x="2472509" y="5035144"/>
                <a:ext cx="655756" cy="48497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or: Elbow 57">
                <a:extLst>
                  <a:ext uri="{FF2B5EF4-FFF2-40B4-BE49-F238E27FC236}">
                    <a16:creationId xmlns:a16="http://schemas.microsoft.com/office/drawing/2014/main" id="{5A12C03A-AC35-78C7-64F8-0CD2464AEE27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 flipV="1">
                <a:off x="3612100" y="5049938"/>
                <a:ext cx="373862" cy="47017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nector: Elbow 140">
                <a:extLst>
                  <a:ext uri="{FF2B5EF4-FFF2-40B4-BE49-F238E27FC236}">
                    <a16:creationId xmlns:a16="http://schemas.microsoft.com/office/drawing/2014/main" id="{E958A863-0B06-BFF6-31E6-930BF8318979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 flipV="1">
                <a:off x="6353339" y="4967259"/>
                <a:ext cx="303470" cy="85060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34A3299A-CB86-52FB-03E5-0995B8449F4C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>
                <a:off x="3741263" y="4208082"/>
                <a:ext cx="244697" cy="8418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748DA0E0-3241-0B77-F0EB-1D0C22CC53F4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>
                <a:off x="6057887" y="4658298"/>
                <a:ext cx="598922" cy="30896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750B4731-EC69-1E7A-E492-1FDDC929851E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V="1">
                <a:off x="2472509" y="4042296"/>
                <a:ext cx="920269" cy="99285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3206AAC-BE44-239A-2F98-44FDDFB5C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658" y="3370548"/>
              <a:ext cx="3080036" cy="13434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89EE43-4C1C-B53A-481A-3B95B1A1E364}"/>
              </a:ext>
            </a:extLst>
          </p:cNvPr>
          <p:cNvCxnSpPr>
            <a:cxnSpLocks/>
          </p:cNvCxnSpPr>
          <p:nvPr/>
        </p:nvCxnSpPr>
        <p:spPr>
          <a:xfrm flipH="1">
            <a:off x="2049780" y="5781295"/>
            <a:ext cx="52501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52D22F-CABB-77B2-FA12-0A1F4414A2B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38D3F1-E023-E957-7E93-0E852832BB7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Footer Placeholder 2">
              <a:extLst>
                <a:ext uri="{FF2B5EF4-FFF2-40B4-BE49-F238E27FC236}">
                  <a16:creationId xmlns:a16="http://schemas.microsoft.com/office/drawing/2014/main" id="{6CEAFEBB-B7D7-A979-765E-DCADAB67C2C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767123D-085A-EA48-F0FB-8020E045038A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29" name="Arrow: Notched Right 128">
              <a:extLst>
                <a:ext uri="{FF2B5EF4-FFF2-40B4-BE49-F238E27FC236}">
                  <a16:creationId xmlns:a16="http://schemas.microsoft.com/office/drawing/2014/main" id="{A5A81864-70AB-80A0-739C-09807BB04218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36" name="Arrow: Notched Right 135">
              <a:extLst>
                <a:ext uri="{FF2B5EF4-FFF2-40B4-BE49-F238E27FC236}">
                  <a16:creationId xmlns:a16="http://schemas.microsoft.com/office/drawing/2014/main" id="{6EF156CB-1DC5-4B08-944D-33327097FD23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37" name="Arrow: Notched Right 136">
              <a:extLst>
                <a:ext uri="{FF2B5EF4-FFF2-40B4-BE49-F238E27FC236}">
                  <a16:creationId xmlns:a16="http://schemas.microsoft.com/office/drawing/2014/main" id="{04AF5BFF-5235-BABE-C411-10C6D140B5E7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D1CDCC24-52FC-A6FC-AF35-DBBA86C51873}"/>
                  </a:ext>
                </a:extLst>
              </p:cNvPr>
              <p:cNvSpPr/>
              <p:nvPr/>
            </p:nvSpPr>
            <p:spPr>
              <a:xfrm>
                <a:off x="6457016" y="1318510"/>
                <a:ext cx="2485046" cy="377980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Excitation de la corde ‘’à la main’’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Relevé de la tension aux bornes la résistance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𝑎𝑚𝑝</m:t>
                        </m:r>
                      </m:sub>
                    </m:sSub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D1CDCC24-52FC-A6FC-AF35-DBBA86C51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016" y="1318510"/>
                <a:ext cx="2485046" cy="3779800"/>
              </a:xfrm>
              <a:prstGeom prst="rect">
                <a:avLst/>
              </a:prstGeom>
              <a:blipFill>
                <a:blip r:embed="rId4"/>
                <a:stretch>
                  <a:fillRect l="-24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985EE0D-F2B6-D1EF-898E-9DF666DFB442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C121-196D-B280-2659-B969A21D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C9B5D88-FDE6-E3A7-51AD-089C3F31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152A36-64FE-DA5A-CF24-1B317D16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087F9B-168A-BB0B-C61B-7988E2A0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13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14F2C-529C-4FAF-4F41-2E4E75650E9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31AD5-3BA8-F330-6E59-627CDF882B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2" y="1647754"/>
            <a:ext cx="3779998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060ADC2C-B38D-B11B-810B-940D54072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95B009F-B96E-9B87-61A7-F2485C2D90C3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D97FD-6B83-C324-B6C0-BC4B9DC437F7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CE785-2413-FA0C-B860-AACDD4563B5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095"/>
            <a:ext cx="3779998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/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blipFill>
                <a:blip r:embed="rId6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7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/>
              <p:nvPr/>
            </p:nvSpPr>
            <p:spPr>
              <a:xfrm>
                <a:off x="1568728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28" y="5859029"/>
                <a:ext cx="2752349" cy="3916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29D7D0E-393F-2A3A-6785-4CD09BB5482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2C6C4-7726-1D99-BBAE-1A107256985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D0399C1C-C0CB-8BC1-D1D5-3734F40CD9A8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5EC00-C4CF-C8F5-2F9C-D810015F4C57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D6F5D3FE-E5FC-12BD-8F72-B952980D5D5B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4" name="Arrow: Notched Right 23">
              <a:extLst>
                <a:ext uri="{FF2B5EF4-FFF2-40B4-BE49-F238E27FC236}">
                  <a16:creationId xmlns:a16="http://schemas.microsoft.com/office/drawing/2014/main" id="{D2A26094-DADF-D659-8101-99EC3D8702D6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25" name="Arrow: Notched Right 24">
              <a:extLst>
                <a:ext uri="{FF2B5EF4-FFF2-40B4-BE49-F238E27FC236}">
                  <a16:creationId xmlns:a16="http://schemas.microsoft.com/office/drawing/2014/main" id="{83BD7053-8796-FD99-28AB-4B1108CE6C2F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AF5280-3AA5-1B44-8C3A-87275694BB13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244738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BF31-E821-6728-8E36-B1099664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4B0B741-545A-D68A-8952-4EDCE703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B74477D-D7F2-2ABE-7B81-51C5B69D6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CAE67E7-325B-A442-4AC4-87E82005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14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0354A-5BAE-D59C-011E-94CD7A8C139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8A4BA533-9059-7C5E-704B-0229E4610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CBD1878-4ECE-5A45-5102-8635728F222F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D6E9F1-5F99-B827-FBC9-5EAE06A91D90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58936-2546-51C5-057D-441EA23AB3BD}"/>
                  </a:ext>
                </a:extLst>
              </p:cNvPr>
              <p:cNvSpPr txBox="1"/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58936-2546-51C5-057D-441EA23AB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blipFill>
                <a:blip r:embed="rId4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3AB1F1-5F0A-AABC-284D-E0702F0C75F3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3AB1F1-5F0A-AABC-284D-E0702F0C7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5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03DC35-6662-A54A-97E3-F31B70B1393E}"/>
                  </a:ext>
                </a:extLst>
              </p:cNvPr>
              <p:cNvSpPr txBox="1"/>
              <p:nvPr/>
            </p:nvSpPr>
            <p:spPr>
              <a:xfrm>
                <a:off x="1568728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03DC35-6662-A54A-97E3-F31B70B13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28" y="5859029"/>
                <a:ext cx="2752349" cy="3916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4BF7F6-E87C-3E5E-36EE-4D75917740C5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4BF7F6-E87C-3E5E-36EE-4D759177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59A820F-DAE5-F680-509B-87432EE0252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231E8A6-CE2A-ECA2-050D-E5FD5FE1861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856F163F-BBAF-72F4-4F3D-FDF1CC1DAA4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1FA3D01-767B-F75B-D388-668D594FB1E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753"/>
            <a:ext cx="3779998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9FB2D9-16CB-E2B5-AF61-0D4CF37873D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4" y="1647753"/>
            <a:ext cx="3779998" cy="314999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0C13F47-2FA4-AEFE-6475-709019BC670A}"/>
              </a:ext>
            </a:extLst>
          </p:cNvPr>
          <p:cNvGrpSpPr/>
          <p:nvPr/>
        </p:nvGrpSpPr>
        <p:grpSpPr>
          <a:xfrm>
            <a:off x="1723315" y="4448696"/>
            <a:ext cx="355600" cy="375297"/>
            <a:chOff x="1276060" y="5077968"/>
            <a:chExt cx="355600" cy="37529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2246581-1E3F-C376-EE9B-51D8410EA4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EE4536-26B1-2B40-D8BF-7685C5D4CC1B}"/>
              </a:ext>
            </a:extLst>
          </p:cNvPr>
          <p:cNvGrpSpPr/>
          <p:nvPr/>
        </p:nvGrpSpPr>
        <p:grpSpPr>
          <a:xfrm>
            <a:off x="5662588" y="4457719"/>
            <a:ext cx="355600" cy="375297"/>
            <a:chOff x="1276060" y="5077968"/>
            <a:chExt cx="355600" cy="37529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B9F7230-A85C-CFE7-3A4C-A4E31E0D1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5F5FE91-15A2-EC81-88D6-69F493F1A42A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5F5FE91-15A2-EC81-88D6-69F493F1A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66D1C2-8D11-87CE-DB2F-740050041B12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32" name="Arrow: Notched Right 31">
              <a:extLst>
                <a:ext uri="{FF2B5EF4-FFF2-40B4-BE49-F238E27FC236}">
                  <a16:creationId xmlns:a16="http://schemas.microsoft.com/office/drawing/2014/main" id="{E6DB03AB-82A3-FF85-7B67-C0C272EB17C3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34" name="Arrow: Notched Right 33">
              <a:extLst>
                <a:ext uri="{FF2B5EF4-FFF2-40B4-BE49-F238E27FC236}">
                  <a16:creationId xmlns:a16="http://schemas.microsoft.com/office/drawing/2014/main" id="{4A1E4EE3-E81F-13F4-02F5-965E6C6FE80E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37" name="Arrow: Notched Right 36">
              <a:extLst>
                <a:ext uri="{FF2B5EF4-FFF2-40B4-BE49-F238E27FC236}">
                  <a16:creationId xmlns:a16="http://schemas.microsoft.com/office/drawing/2014/main" id="{8AFE3000-A660-CAC9-97CD-DA06475125E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260DF8-7C16-C630-753B-924737FB9F3C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2271429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D8542C0-197A-96FC-F849-6D84EC76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6116114-727D-00CA-E09B-62BF1F91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F0E06E-2288-33E6-28E3-CCE75F9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15</a:t>
            </a:fld>
            <a:endParaRPr lang="fr-FR" sz="1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6115470" y="1390254"/>
                <a:ext cx="2721084" cy="848497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du gain d’atténuation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𝑆𝐶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70" y="1390254"/>
                <a:ext cx="2721084" cy="848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D8CDDD17-77F4-AB75-F09C-BCEFD8A01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FC82B-F70C-8D5D-E171-A36BE02D4021}"/>
              </a:ext>
            </a:extLst>
          </p:cNvPr>
          <p:cNvGrpSpPr/>
          <p:nvPr/>
        </p:nvGrpSpPr>
        <p:grpSpPr>
          <a:xfrm>
            <a:off x="6114891" y="2389099"/>
            <a:ext cx="2721663" cy="3573164"/>
            <a:chOff x="5958063" y="2389099"/>
            <a:chExt cx="2878491" cy="3573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A3093A-8816-005B-D928-3B44B655C8E2}"/>
                </a:ext>
              </a:extLst>
            </p:cNvPr>
            <p:cNvSpPr/>
            <p:nvPr/>
          </p:nvSpPr>
          <p:spPr>
            <a:xfrm>
              <a:off x="5958063" y="2389099"/>
              <a:ext cx="2878491" cy="3573164"/>
            </a:xfrm>
            <a:prstGeom prst="rect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400" b="1" u="sng" dirty="0">
                  <a:solidFill>
                    <a:schemeClr val="tx1"/>
                  </a:solidFill>
                </a:rPr>
                <a:t>Nœuds de vibration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r>
                <a:rPr lang="fr-FR" sz="1400" b="1" u="sng" dirty="0">
                  <a:solidFill>
                    <a:schemeClr val="tx1"/>
                  </a:solidFill>
                </a:rPr>
                <a:t>Filtrage en peigne spatial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C3E0C0-FBAB-DC78-5B15-476675A96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>
              <a:off x="6477938" y="4714645"/>
              <a:ext cx="1798321" cy="3775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40B446E-9BC2-8E92-5207-9220276E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6988242" y="5175132"/>
              <a:ext cx="793915" cy="525312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1575B3-C3E7-D035-FD8D-5A909416EA0A}"/>
                </a:ext>
              </a:extLst>
            </p:cNvPr>
            <p:cNvGrpSpPr/>
            <p:nvPr/>
          </p:nvGrpSpPr>
          <p:grpSpPr>
            <a:xfrm>
              <a:off x="6100686" y="2976560"/>
              <a:ext cx="2593244" cy="1059640"/>
              <a:chOff x="6082122" y="3612551"/>
              <a:chExt cx="2593242" cy="101041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B147258-36F6-4862-BCFA-8C34DAA43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67476" y="3612551"/>
                <a:ext cx="1798320" cy="3600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A19C6E1-1347-2947-0051-4E4B5CAD3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6920250" y="3866659"/>
                <a:ext cx="932157" cy="756309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459B7B-7876-DECC-7C5D-6EF7F711F3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0935" y="3612551"/>
                <a:ext cx="0" cy="863841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9C823F4-FBD6-6BF7-DDFC-373F3F49B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82122" y="3612551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49EE9B9-324D-BB3C-541F-721FD32B5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65796" y="3612551"/>
                <a:ext cx="409568" cy="360000"/>
              </a:xfrm>
              <a:prstGeom prst="rect">
                <a:avLst/>
              </a:prstGeom>
            </p:spPr>
          </p:pic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5BA09B4-C52E-B87A-CF04-8232C165D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2582" y="4985385"/>
              <a:ext cx="0" cy="696047"/>
            </a:xfrm>
            <a:prstGeom prst="line">
              <a:avLst/>
            </a:prstGeom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93E4C2-FBE4-4065-9278-90914A6EC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982" y="4813935"/>
              <a:ext cx="0" cy="867498"/>
            </a:xfrm>
            <a:prstGeom prst="line">
              <a:avLst/>
            </a:prstGeom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0" name="Double Bracket 19">
            <a:extLst>
              <a:ext uri="{FF2B5EF4-FFF2-40B4-BE49-F238E27FC236}">
                <a16:creationId xmlns:a16="http://schemas.microsoft.com/office/drawing/2014/main" id="{6E4C1837-4EBD-8787-1C07-65C9D3DDB5A8}"/>
              </a:ext>
            </a:extLst>
          </p:cNvPr>
          <p:cNvSpPr/>
          <p:nvPr/>
        </p:nvSpPr>
        <p:spPr>
          <a:xfrm>
            <a:off x="1226825" y="5400774"/>
            <a:ext cx="2971796" cy="96520"/>
          </a:xfrm>
          <a:prstGeom prst="bracketPair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A1C77BA-55F9-A5A5-C777-7BF0CABA02B9}"/>
              </a:ext>
            </a:extLst>
          </p:cNvPr>
          <p:cNvGrpSpPr/>
          <p:nvPr/>
        </p:nvGrpSpPr>
        <p:grpSpPr>
          <a:xfrm>
            <a:off x="1065440" y="1389521"/>
            <a:ext cx="4914598" cy="4572742"/>
            <a:chOff x="345440" y="1389521"/>
            <a:chExt cx="5486411" cy="457274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7D0547-D387-B897-E456-A805D590B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5440" y="1389521"/>
              <a:ext cx="5486411" cy="45727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1526FE5-B9B6-7D56-BB70-BA9F289D6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8621" y="1944624"/>
              <a:ext cx="0" cy="3523855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72EACD1-D0B6-DC55-3E77-2CB706E83160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>
              <a:off x="1908053" y="5449034"/>
              <a:ext cx="2290568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8B4C1CC-7E38-8787-C6B7-557E5FD2D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053" y="2758190"/>
              <a:ext cx="0" cy="2710289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F753BD3-78F0-43C9-32B1-67B3644D3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3133" y="1944624"/>
              <a:ext cx="0" cy="78134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52E0894-8D5D-CD84-E4C4-5A790B367E03}"/>
                </a:ext>
              </a:extLst>
            </p:cNvPr>
            <p:cNvSpPr txBox="1"/>
            <p:nvPr/>
          </p:nvSpPr>
          <p:spPr>
            <a:xfrm>
              <a:off x="1902968" y="5160789"/>
              <a:ext cx="2290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rgbClr val="C00000"/>
                  </a:solidFill>
                </a:rPr>
                <a:t>Domaine accessible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0F1140-1F9C-0340-FBEB-B6316CDCD5B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2935C9-5214-174F-F09C-760E00934AFB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8255C837-1440-26AF-9E32-1F36C15BE9E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2618890-4C5E-4013-CA49-D8235EC261B7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32" name="Arrow: Notched Right 31">
              <a:extLst>
                <a:ext uri="{FF2B5EF4-FFF2-40B4-BE49-F238E27FC236}">
                  <a16:creationId xmlns:a16="http://schemas.microsoft.com/office/drawing/2014/main" id="{9A4B68A4-D533-2DB2-0667-163BD37B7C11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33" name="Arrow: Notched Right 32">
              <a:extLst>
                <a:ext uri="{FF2B5EF4-FFF2-40B4-BE49-F238E27FC236}">
                  <a16:creationId xmlns:a16="http://schemas.microsoft.com/office/drawing/2014/main" id="{9530E611-11B0-A718-0694-AE59F340F008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36" name="Arrow: Notched Right 35">
              <a:extLst>
                <a:ext uri="{FF2B5EF4-FFF2-40B4-BE49-F238E27FC236}">
                  <a16:creationId xmlns:a16="http://schemas.microsoft.com/office/drawing/2014/main" id="{F4786C78-2046-5B31-D0A4-8FA53979062A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E397FF-C015-EFB0-8B23-1CAD33D41E2A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80A3-9A59-5127-D9C7-F5AFA092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3BD9D1B-34B6-3893-1197-CE4DD8B5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888F504-413F-3847-F0D4-E8064E90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7FC35DE-8157-F414-649A-6D2E1083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CD44C8-FCB1-27CF-83C2-A0969BA974E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7BACFC8-BDD3-D377-C28D-980DFC2EC36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E3D5FD-3A22-45E0-0C9C-EA0C9C43AF6D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CBC9D350-BB21-5193-DD3D-D3FAFFE55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5003FF-EE58-13A8-78FF-F4A24C73D21F}"/>
                  </a:ext>
                </a:extLst>
              </p:cNvPr>
              <p:cNvSpPr/>
              <p:nvPr/>
            </p:nvSpPr>
            <p:spPr>
              <a:xfrm>
                <a:off x="1104899" y="1390254"/>
                <a:ext cx="3467101" cy="1426950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75003FF-EE58-13A8-78FF-F4A24C73D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9" y="1390254"/>
                <a:ext cx="3467101" cy="1426950"/>
              </a:xfrm>
              <a:prstGeom prst="rect">
                <a:avLst/>
              </a:prstGeom>
              <a:blipFill>
                <a:blip r:embed="rId5"/>
                <a:stretch>
                  <a:fillRect l="-348" t="-417" b="-5000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BDABC6-FB7F-0E79-2F6D-62E47FAFBE97}"/>
                  </a:ext>
                </a:extLst>
              </p:cNvPr>
              <p:cNvSpPr/>
              <p:nvPr/>
            </p:nvSpPr>
            <p:spPr>
              <a:xfrm>
                <a:off x="1104898" y="2933700"/>
                <a:ext cx="3467102" cy="3202940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Limites du modèle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Limites expérimentales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BDABC6-FB7F-0E79-2F6D-62E47FAFBE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8" y="2933700"/>
                <a:ext cx="3467102" cy="3202940"/>
              </a:xfrm>
              <a:prstGeom prst="rect">
                <a:avLst/>
              </a:prstGeom>
              <a:blipFill>
                <a:blip r:embed="rId6"/>
                <a:stretch>
                  <a:fillRect l="-348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A0F13E7-4A53-C00C-F981-1B86061EE822}"/>
                  </a:ext>
                </a:extLst>
              </p:cNvPr>
              <p:cNvSpPr/>
              <p:nvPr/>
            </p:nvSpPr>
            <p:spPr>
              <a:xfrm>
                <a:off x="4842541" y="1390254"/>
                <a:ext cx="3806562" cy="1426950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Mesures :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A0F13E7-4A53-C00C-F981-1B86061EE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541" y="1390254"/>
                <a:ext cx="3806562" cy="14269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E88B8F-CE8B-7854-BA7C-EADA0B6662B7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B5967FBD-642A-633B-B82A-16F34500AF71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F50602A6-BB91-8F51-EF22-5B2B99039215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6" name="Arrow: Notched Right 15">
              <a:extLst>
                <a:ext uri="{FF2B5EF4-FFF2-40B4-BE49-F238E27FC236}">
                  <a16:creationId xmlns:a16="http://schemas.microsoft.com/office/drawing/2014/main" id="{A1919A10-4E1C-6D09-921A-8933ED688D2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B2D04E-4FF2-DA1D-8E2A-8DBE64C37534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Ecarts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51EF51-C029-970E-04BA-0772178B2971}"/>
              </a:ext>
            </a:extLst>
          </p:cNvPr>
          <p:cNvGrpSpPr/>
          <p:nvPr/>
        </p:nvGrpSpPr>
        <p:grpSpPr>
          <a:xfrm>
            <a:off x="4842539" y="2933698"/>
            <a:ext cx="3806563" cy="3202941"/>
            <a:chOff x="345440" y="1389521"/>
            <a:chExt cx="5486411" cy="457274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C86A7B3-B358-2276-B41D-9D3B27E88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5440" y="1389521"/>
              <a:ext cx="5486411" cy="45727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8605D8-7B7C-D055-8162-4D7741266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8621" y="1944624"/>
              <a:ext cx="0" cy="3523855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6FE7D9-5AD4-838C-2FFC-5F3229247196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53" y="5449034"/>
              <a:ext cx="2290568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6DC6B85-2245-2E19-936B-E79009DEE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053" y="2758190"/>
              <a:ext cx="0" cy="2710289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4C8D5D-5882-7634-6F2E-64D0BDD8E9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3133" y="1944624"/>
              <a:ext cx="0" cy="78134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A135FF-C2E9-CD65-16A2-5C4262A373E9}"/>
                </a:ext>
              </a:extLst>
            </p:cNvPr>
            <p:cNvSpPr txBox="1"/>
            <p:nvPr/>
          </p:nvSpPr>
          <p:spPr>
            <a:xfrm>
              <a:off x="1902968" y="5096587"/>
              <a:ext cx="2290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rgbClr val="C00000"/>
                  </a:solidFill>
                </a:rPr>
                <a:t>Domaine accessible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58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C728-A276-BD6F-B1A1-73D1F90E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2BE61F3-98BD-710E-BAED-39EA2E83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A77E5CE-D98F-48A8-D034-9B8C375A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AFC78A4-5A40-488E-CAD5-2FB8ECCA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17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09688F-5B12-79E1-1E86-6709835E8D4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A2C485-C6DF-E159-7051-CC67CB6B749A}"/>
              </a:ext>
            </a:extLst>
          </p:cNvPr>
          <p:cNvGrpSpPr/>
          <p:nvPr/>
        </p:nvGrpSpPr>
        <p:grpSpPr>
          <a:xfrm>
            <a:off x="1071545" y="4838220"/>
            <a:ext cx="7869519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A235FAC-1816-2621-D75E-ECE249D01798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763671F-376D-3A28-FE6B-4D527CEABA44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19E74E8-8FB5-3724-59F5-5D59E0C74A59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56314C5-F5BB-C6BA-D1FF-CCE8FD3852E7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F56ED56-D806-9650-B8AC-2417D1AB08F7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9BF26410-CFAB-C09E-4325-65476E831000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9936EE64-0BBC-4292-5B15-126AC522E309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CCE01AA-96DD-BE87-8097-D101B7604EC9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7E489F27-484A-D27F-1D09-DEAEDDE4544F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516378D-EA5E-799D-7662-6EFE897982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516378D-EA5E-799D-7662-6EFE897982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9FA2B951-6352-70F1-3CF5-32BFCC6440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9FA2B951-6352-70F1-3CF5-32BFCC6440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1768AA6-1B96-8342-C374-671FDD9B50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1768AA6-1B96-8342-C374-671FDD9B50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00F4CE7F-7A00-B21F-4655-0E73055F8E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00F4CE7F-7A00-B21F-4655-0E73055F8E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5D3EFC3-19DA-B7F0-5821-F800B0919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FC628C-84DD-BA1D-CD14-6F12A0D08967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21FBF65-C5F9-2536-099D-BF9856442B6F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F4CCE26-EFBA-2D5B-D6E7-1338F478E5DF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BCB7869-9EAF-0B66-27C0-ECC3479448D1}"/>
              </a:ext>
            </a:extLst>
          </p:cNvPr>
          <p:cNvGrpSpPr/>
          <p:nvPr/>
        </p:nvGrpSpPr>
        <p:grpSpPr>
          <a:xfrm>
            <a:off x="758331" y="1002105"/>
            <a:ext cx="8378236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C91FEDC-6488-8B24-0B65-4758A6F64531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65A87B68-C1FB-FD05-00C6-048368A43A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F6C1D0F5-3350-CA8C-9635-45B135D991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BFE2619-898B-BCA8-665C-4FA487B52AA8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E4E79733-7519-9D1B-CACF-29E1516176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294F593-7D8B-3A73-23C2-7BA6243BB700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520289E2-7DE7-AB56-B165-2E8B008BE4D5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1C9B1426-B1FB-AE47-FFEC-99D5D9B131B2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433F6D36-1D43-A646-51E0-4B8E5F59EB07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8CDCE6-B0D7-5489-2E4A-409C55FC21A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96F62B-EEDD-23EF-46B5-5C3CC93632F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B55017AD-8563-AD82-3B76-F6994059916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985173-BCAA-706B-CF53-65F6293BA17D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Filtrage Interne des micros</a:t>
            </a:r>
          </a:p>
        </p:txBody>
      </p:sp>
    </p:spTree>
    <p:extLst>
      <p:ext uri="{BB962C8B-B14F-4D97-AF65-F5344CB8AC3E}">
        <p14:creationId xmlns:p14="http://schemas.microsoft.com/office/powerpoint/2010/main" val="2069943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876-19B1-E4B6-716D-FD5FA24B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C70D36F4-D5FF-945D-E39A-606CC8E48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623" y="591089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ECB0D33-C7A4-8A73-9AEE-71A29782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02EC264-1B15-1E87-988D-BD7E3B66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986005C-A574-5528-5018-7A91E88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9A2A6-B29E-6AD7-96B9-D52CCEC4D1A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E79BA3-AB92-32BA-3883-6CA7CE319C5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05F42-26E0-2632-97A3-AB63C2B354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C8B805-5A00-DF26-9274-1372E1E8BC4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874" y="1606865"/>
            <a:ext cx="3779998" cy="31499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FEA458E-9DF0-8621-C23E-0FD9FA68A323}"/>
              </a:ext>
            </a:extLst>
          </p:cNvPr>
          <p:cNvSpPr txBox="1"/>
          <p:nvPr/>
        </p:nvSpPr>
        <p:spPr>
          <a:xfrm>
            <a:off x="1054904" y="4907204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12AC73-6CEC-C446-2C29-D16FE96678A7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59E311-11DF-A182-1184-1245BFDF38A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443" y="1606865"/>
            <a:ext cx="3780000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09C4E3-2807-F5FE-4F5E-0E7023FB094C}"/>
                  </a:ext>
                </a:extLst>
              </p:cNvPr>
              <p:cNvSpPr txBox="1"/>
              <p:nvPr/>
            </p:nvSpPr>
            <p:spPr>
              <a:xfrm>
                <a:off x="1054904" y="5251135"/>
                <a:ext cx="3780000" cy="52443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09C4E3-2807-F5FE-4F5E-0E7023FB0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04" y="5251135"/>
                <a:ext cx="3780000" cy="524439"/>
              </a:xfrm>
              <a:prstGeom prst="rect">
                <a:avLst/>
              </a:prstGeom>
              <a:blipFill>
                <a:blip r:embed="rId8"/>
                <a:stretch>
                  <a:fillRect b="-449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/>
              <p:nvPr/>
            </p:nvSpPr>
            <p:spPr>
              <a:xfrm>
                <a:off x="4966872" y="5251135"/>
                <a:ext cx="3780000" cy="52443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72" y="5251135"/>
                <a:ext cx="3780000" cy="524439"/>
              </a:xfrm>
              <a:prstGeom prst="rect">
                <a:avLst/>
              </a:prstGeom>
              <a:blipFill>
                <a:blip r:embed="rId9"/>
                <a:stretch>
                  <a:fillRect l="-482" r="-963" b="-449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A99F060-DE69-1EAB-B521-D0531705BFE7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8" name="Arrow: Notched Right 27">
              <a:extLst>
                <a:ext uri="{FF2B5EF4-FFF2-40B4-BE49-F238E27FC236}">
                  <a16:creationId xmlns:a16="http://schemas.microsoft.com/office/drawing/2014/main" id="{2B06A351-1282-E465-6B2C-E8B62B3906E1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9" name="Arrow: Notched Right 28">
              <a:extLst>
                <a:ext uri="{FF2B5EF4-FFF2-40B4-BE49-F238E27FC236}">
                  <a16:creationId xmlns:a16="http://schemas.microsoft.com/office/drawing/2014/main" id="{25D04E7A-ADBC-7E1D-D5C8-ADCEC7CE538E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30" name="Arrow: Notched Right 29">
              <a:extLst>
                <a:ext uri="{FF2B5EF4-FFF2-40B4-BE49-F238E27FC236}">
                  <a16:creationId xmlns:a16="http://schemas.microsoft.com/office/drawing/2014/main" id="{628EF028-712C-8843-E591-7FB7D5324E01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2AAE83-25D6-5C8B-6786-A77DE700832E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Simulation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64543C-E851-FEB5-FB0B-ADC7E10CFDCE}"/>
              </a:ext>
            </a:extLst>
          </p:cNvPr>
          <p:cNvSpPr/>
          <p:nvPr/>
        </p:nvSpPr>
        <p:spPr>
          <a:xfrm>
            <a:off x="1551480" y="2329557"/>
            <a:ext cx="569627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FF6692-02DB-2BAD-9736-3F7A9C46E824}"/>
              </a:ext>
            </a:extLst>
          </p:cNvPr>
          <p:cNvSpPr/>
          <p:nvPr/>
        </p:nvSpPr>
        <p:spPr>
          <a:xfrm>
            <a:off x="1551479" y="3208247"/>
            <a:ext cx="569627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733BCE-A9AF-5C2C-0150-DCF00D160A00}"/>
              </a:ext>
            </a:extLst>
          </p:cNvPr>
          <p:cNvSpPr/>
          <p:nvPr/>
        </p:nvSpPr>
        <p:spPr>
          <a:xfrm>
            <a:off x="2734159" y="3165615"/>
            <a:ext cx="569627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A97779-86EB-D4C5-0616-D79902CA7A03}"/>
              </a:ext>
            </a:extLst>
          </p:cNvPr>
          <p:cNvSpPr/>
          <p:nvPr/>
        </p:nvSpPr>
        <p:spPr>
          <a:xfrm>
            <a:off x="4126389" y="3112184"/>
            <a:ext cx="569627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66622-D887-C02B-48A3-3C066C5B2CED}"/>
              </a:ext>
            </a:extLst>
          </p:cNvPr>
          <p:cNvSpPr/>
          <p:nvPr/>
        </p:nvSpPr>
        <p:spPr>
          <a:xfrm>
            <a:off x="5295463" y="3167911"/>
            <a:ext cx="569627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406ED4-FEF6-4DAC-DE0C-F90B5FC97BE8}"/>
              </a:ext>
            </a:extLst>
          </p:cNvPr>
          <p:cNvSpPr/>
          <p:nvPr/>
        </p:nvSpPr>
        <p:spPr>
          <a:xfrm flipV="1">
            <a:off x="5982521" y="3117160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3FB117-8415-5F03-E87F-41A06E543179}"/>
              </a:ext>
            </a:extLst>
          </p:cNvPr>
          <p:cNvSpPr/>
          <p:nvPr/>
        </p:nvSpPr>
        <p:spPr>
          <a:xfrm flipV="1">
            <a:off x="6182131" y="3188272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091B57-D5A1-3957-99CA-890B7CB3868E}"/>
              </a:ext>
            </a:extLst>
          </p:cNvPr>
          <p:cNvSpPr/>
          <p:nvPr/>
        </p:nvSpPr>
        <p:spPr>
          <a:xfrm flipV="1">
            <a:off x="5295463" y="2249588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5CF74A-3235-334E-632B-CC390B45C369}"/>
              </a:ext>
            </a:extLst>
          </p:cNvPr>
          <p:cNvSpPr/>
          <p:nvPr/>
        </p:nvSpPr>
        <p:spPr>
          <a:xfrm flipV="1">
            <a:off x="7457440" y="3112184"/>
            <a:ext cx="34883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9204D-E32E-5B95-5640-B88E7B17169B}"/>
              </a:ext>
            </a:extLst>
          </p:cNvPr>
          <p:cNvSpPr/>
          <p:nvPr/>
        </p:nvSpPr>
        <p:spPr>
          <a:xfrm flipV="1">
            <a:off x="8306560" y="3163393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75D12-6B9E-4593-678A-EE6E88218F7F}"/>
              </a:ext>
            </a:extLst>
          </p:cNvPr>
          <p:cNvSpPr/>
          <p:nvPr/>
        </p:nvSpPr>
        <p:spPr>
          <a:xfrm flipV="1">
            <a:off x="6182131" y="4000962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492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C1C5097-5663-EE26-5A50-7D842017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4815ABF-6C67-8729-C6B2-8E28EC30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1C5B82-F24C-54E1-B2B4-47EDF43A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19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DB2FD9-8561-DD34-BE8A-3C4F511D98C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A70C24-D7F7-F71F-925C-CFAB7903423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4CC4784C-69C0-B60D-A342-A1FD2F3F58A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AAC0E1E9-9630-1795-4D01-63EDE489C412}"/>
              </a:ext>
            </a:extLst>
          </p:cNvPr>
          <p:cNvSpPr/>
          <p:nvPr/>
        </p:nvSpPr>
        <p:spPr>
          <a:xfrm>
            <a:off x="6451777" y="717300"/>
            <a:ext cx="2485046" cy="411812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Expérimentation</a:t>
            </a:r>
          </a:p>
          <a:p>
            <a:endParaRPr lang="fr-FR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</a:rPr>
              <a:t>Déterminer expérimentalement l’impédance du micro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193D5E-E0B7-F000-46D3-019B919C44A4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659712E3-6881-7DEA-1970-D83D79BC2E65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F325AE9F-F879-CBC9-E077-12798B819F25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2D801B53-8108-83F1-E38F-FB7C1138B0A1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0F540E-DE24-A629-17F9-FED8C4C38554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C71C571-0E5F-3D4C-EAFA-E4D0E697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AFE199B-3EBF-D69B-C847-F3F718E9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E8E22F3-36AA-64A0-F7DA-405F92F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20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5F862-173C-9691-6002-3E59590AEB4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F1C82144-927B-4AF8-0078-296BB4BDF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5600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6122542" y="1396728"/>
                <a:ext cx="2878491" cy="3455462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Méthode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Identification du facteur de qualité: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de l’inductance: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num>
                        <m:den>
                          <m: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de la capacité;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d>
                            <m:d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400" b="1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542" y="1396728"/>
                <a:ext cx="2878491" cy="34554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E13FBE1-205D-E582-62BC-7A4109719076}"/>
                  </a:ext>
                </a:extLst>
              </p:cNvPr>
              <p:cNvSpPr/>
              <p:nvPr/>
            </p:nvSpPr>
            <p:spPr>
              <a:xfrm>
                <a:off x="6122541" y="5000515"/>
                <a:ext cx="2878491" cy="961748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du gain d’atténuation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)²</m:t>
                          </m:r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E13FBE1-205D-E582-62BC-7A4109719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541" y="5000515"/>
                <a:ext cx="2878491" cy="9617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9858591-4426-5A02-77DA-B4FE911F20CC}"/>
              </a:ext>
            </a:extLst>
          </p:cNvPr>
          <p:cNvGrpSpPr/>
          <p:nvPr/>
        </p:nvGrpSpPr>
        <p:grpSpPr>
          <a:xfrm>
            <a:off x="1065440" y="1396728"/>
            <a:ext cx="4914598" cy="4565535"/>
            <a:chOff x="345440" y="1628509"/>
            <a:chExt cx="5486411" cy="409549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A0507F6-1CAF-6D7E-A062-151372E24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5440" y="1628509"/>
              <a:ext cx="5486411" cy="40954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4A6A1D-4708-5F7C-7D25-5EDEC0204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5598" y="2117790"/>
              <a:ext cx="12760" cy="3162713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CDE15F-5D21-0080-DBEE-96B33520FE2A}"/>
                </a:ext>
              </a:extLst>
            </p:cNvPr>
            <p:cNvCxnSpPr>
              <a:cxnSpLocks/>
            </p:cNvCxnSpPr>
            <p:nvPr/>
          </p:nvCxnSpPr>
          <p:spPr>
            <a:xfrm>
              <a:off x="1831494" y="5277609"/>
              <a:ext cx="201410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7ED3192-B6DA-460F-42F3-8612F0258B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1494" y="2563538"/>
              <a:ext cx="0" cy="2713546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EF968A-64E2-1B93-9478-27B4E4102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1494" y="2117790"/>
              <a:ext cx="0" cy="55524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A3EA0A-FA65-5732-38E2-F44D9FA85AE7}"/>
                </a:ext>
              </a:extLst>
            </p:cNvPr>
            <p:cNvSpPr txBox="1"/>
            <p:nvPr/>
          </p:nvSpPr>
          <p:spPr>
            <a:xfrm>
              <a:off x="1831494" y="5054839"/>
              <a:ext cx="2014102" cy="248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rgbClr val="C00000"/>
                  </a:solidFill>
                </a:rPr>
                <a:t>Domaine accessible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BAEA4A-8018-BE90-5371-88858C7DB61F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6" name="Arrow: Notched Right 25">
              <a:extLst>
                <a:ext uri="{FF2B5EF4-FFF2-40B4-BE49-F238E27FC236}">
                  <a16:creationId xmlns:a16="http://schemas.microsoft.com/office/drawing/2014/main" id="{66EC9CCB-EA59-F6F5-0BD2-5D4FE96D4E69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7" name="Arrow: Notched Right 26">
              <a:extLst>
                <a:ext uri="{FF2B5EF4-FFF2-40B4-BE49-F238E27FC236}">
                  <a16:creationId xmlns:a16="http://schemas.microsoft.com/office/drawing/2014/main" id="{BAE12545-1514-FF60-6655-2F068416FF0E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28" name="Arrow: Notched Right 27">
              <a:extLst>
                <a:ext uri="{FF2B5EF4-FFF2-40B4-BE49-F238E27FC236}">
                  <a16:creationId xmlns:a16="http://schemas.microsoft.com/office/drawing/2014/main" id="{11C67EB8-BCEA-D9E8-F546-0EE98F22E79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27B51E-DBAE-82DF-0B1C-79C88399FA78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3249544-0A0A-C649-155C-A9E1F782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447B49A-2FA1-BF12-2AB9-D3DFD2AA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8BACC0-48BC-CC88-7B3A-B5A7AC62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21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614AD2-DF06-7C94-8B21-40FC3C420A5F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C04A41E5-50B4-42D4-6FA7-4B417CDD4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5600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53D11042-1D2E-E957-00DB-053C4C87F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236" y="548629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48E86E-AFDE-64CF-910D-59D60AE89C06}"/>
              </a:ext>
            </a:extLst>
          </p:cNvPr>
          <p:cNvSpPr/>
          <p:nvPr/>
        </p:nvSpPr>
        <p:spPr>
          <a:xfrm>
            <a:off x="6122542" y="1390255"/>
            <a:ext cx="2676018" cy="316269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Mesures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BADB57-200A-F238-D116-4D9C3D12E72C}"/>
              </a:ext>
            </a:extLst>
          </p:cNvPr>
          <p:cNvGrpSpPr/>
          <p:nvPr/>
        </p:nvGrpSpPr>
        <p:grpSpPr>
          <a:xfrm>
            <a:off x="1065440" y="1375126"/>
            <a:ext cx="4914598" cy="4598454"/>
            <a:chOff x="345440" y="2012083"/>
            <a:chExt cx="5486411" cy="332559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6947833-463C-EB44-5963-1AAF0DF2B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5440" y="2012083"/>
              <a:ext cx="5486411" cy="33255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160916-7A3C-5112-16DF-38D96C91E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9063" y="2428352"/>
              <a:ext cx="0" cy="2543505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537C9A-EBD8-C146-700F-8908854F0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1494" y="4971857"/>
              <a:ext cx="2470329" cy="7646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F418EE-2B15-366D-311D-B52905D89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4481" y="2428352"/>
              <a:ext cx="0" cy="2177566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542FA0-0CE4-16A4-9489-0299F57930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321" y="4916332"/>
              <a:ext cx="0" cy="55524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F5900A-579D-9623-FCD5-7BB387D2D7B0}"/>
                </a:ext>
              </a:extLst>
            </p:cNvPr>
            <p:cNvSpPr txBox="1"/>
            <p:nvPr/>
          </p:nvSpPr>
          <p:spPr>
            <a:xfrm>
              <a:off x="1818734" y="3401445"/>
              <a:ext cx="2470329" cy="200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rgbClr val="C00000"/>
                  </a:solidFill>
                </a:rPr>
                <a:t>Domaine accessible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217A8BE-5016-5EF4-C0B2-204E77484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5974" y="3580348"/>
              <a:ext cx="2470329" cy="7646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2BFDAD-F18D-0B48-A82D-FC547361D243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38" name="Arrow: Notched Right 37">
              <a:extLst>
                <a:ext uri="{FF2B5EF4-FFF2-40B4-BE49-F238E27FC236}">
                  <a16:creationId xmlns:a16="http://schemas.microsoft.com/office/drawing/2014/main" id="{2C85E2F0-B21B-9BBA-DD75-DF5F43D1EFCA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39" name="Arrow: Notched Right 38">
              <a:extLst>
                <a:ext uri="{FF2B5EF4-FFF2-40B4-BE49-F238E27FC236}">
                  <a16:creationId xmlns:a16="http://schemas.microsoft.com/office/drawing/2014/main" id="{C21CFC1D-C9BD-C0A9-142C-8AA659B01595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40" name="Arrow: Notched Right 39">
              <a:extLst>
                <a:ext uri="{FF2B5EF4-FFF2-40B4-BE49-F238E27FC236}">
                  <a16:creationId xmlns:a16="http://schemas.microsoft.com/office/drawing/2014/main" id="{348A21AB-1055-79DA-6E65-3D3690D31B0E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D058C2-FA86-0CE6-1F22-D2B6A9ECC442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D1DC69-6E93-34A2-76BF-81BA47DD3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26881"/>
              </p:ext>
            </p:extLst>
          </p:nvPr>
        </p:nvGraphicFramePr>
        <p:xfrm>
          <a:off x="6200551" y="2161880"/>
          <a:ext cx="2520000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4448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7C533D9-7DFA-79EE-4A19-D789A4A25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7143774" y="2163634"/>
            <a:ext cx="451379" cy="371611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8032CFF-BDD8-180A-137A-E477C1E78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8058894" y="2171032"/>
            <a:ext cx="451379" cy="3624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5CB517-8B9A-74B8-916C-CC06DE32F184}"/>
                  </a:ext>
                </a:extLst>
              </p:cNvPr>
              <p:cNvSpPr txBox="1"/>
              <p:nvPr/>
            </p:nvSpPr>
            <p:spPr>
              <a:xfrm>
                <a:off x="6464380" y="2575683"/>
                <a:ext cx="2620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5CB517-8B9A-74B8-916C-CC06DE32F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380" y="2575683"/>
                <a:ext cx="262058" cy="276999"/>
              </a:xfrm>
              <a:prstGeom prst="rect">
                <a:avLst/>
              </a:prstGeom>
              <a:blipFill>
                <a:blip r:embed="rId8"/>
                <a:stretch>
                  <a:fillRect l="-30233" t="-2222" r="-4651" b="-3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D10DED-E16C-3D9D-EADA-20712EF627F1}"/>
                  </a:ext>
                </a:extLst>
              </p:cNvPr>
              <p:cNvSpPr txBox="1"/>
              <p:nvPr/>
            </p:nvSpPr>
            <p:spPr>
              <a:xfrm>
                <a:off x="6913023" y="2573413"/>
                <a:ext cx="9128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5000 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D10DED-E16C-3D9D-EADA-20712EF62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023" y="2573413"/>
                <a:ext cx="912879" cy="276999"/>
              </a:xfrm>
              <a:prstGeom prst="rect">
                <a:avLst/>
              </a:prstGeom>
              <a:blipFill>
                <a:blip r:embed="rId9"/>
                <a:stretch>
                  <a:fillRect l="-5333" r="-5333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B6955-CED7-5A0F-3508-5FB7BA2B391D}"/>
                  </a:ext>
                </a:extLst>
              </p:cNvPr>
              <p:cNvSpPr txBox="1"/>
              <p:nvPr/>
            </p:nvSpPr>
            <p:spPr>
              <a:xfrm>
                <a:off x="7807672" y="2585260"/>
                <a:ext cx="9128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7500 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4B6955-CED7-5A0F-3508-5FB7BA2B3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672" y="2585260"/>
                <a:ext cx="912879" cy="276999"/>
              </a:xfrm>
              <a:prstGeom prst="rect">
                <a:avLst/>
              </a:prstGeom>
              <a:blipFill>
                <a:blip r:embed="rId10"/>
                <a:stretch>
                  <a:fillRect l="-5333" r="-4667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A99A63-AC6D-9FE9-F03F-71911BDB622D}"/>
                  </a:ext>
                </a:extLst>
              </p:cNvPr>
              <p:cNvSpPr txBox="1"/>
              <p:nvPr/>
            </p:nvSpPr>
            <p:spPr>
              <a:xfrm>
                <a:off x="6482237" y="2950294"/>
                <a:ext cx="226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A99A63-AC6D-9FE9-F03F-71911BDB6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237" y="2950294"/>
                <a:ext cx="226344" cy="276999"/>
              </a:xfrm>
              <a:prstGeom prst="rect">
                <a:avLst/>
              </a:prstGeom>
              <a:blipFill>
                <a:blip r:embed="rId11"/>
                <a:stretch>
                  <a:fillRect l="-32432" r="-29730" b="-3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323973-4A2A-589C-D021-E77E071122D0}"/>
                  </a:ext>
                </a:extLst>
              </p:cNvPr>
              <p:cNvSpPr txBox="1"/>
              <p:nvPr/>
            </p:nvSpPr>
            <p:spPr>
              <a:xfrm>
                <a:off x="6371725" y="3309368"/>
                <a:ext cx="447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323973-4A2A-589C-D021-E77E0711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25" y="3309368"/>
                <a:ext cx="447367" cy="276999"/>
              </a:xfrm>
              <a:prstGeom prst="rect">
                <a:avLst/>
              </a:prstGeom>
              <a:blipFill>
                <a:blip r:embed="rId12"/>
                <a:stretch>
                  <a:fillRect l="-10811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6DCB84-CBDF-174E-3000-E40A0CC0879E}"/>
                  </a:ext>
                </a:extLst>
              </p:cNvPr>
              <p:cNvSpPr txBox="1"/>
              <p:nvPr/>
            </p:nvSpPr>
            <p:spPr>
              <a:xfrm>
                <a:off x="6499260" y="3696016"/>
                <a:ext cx="1922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6DCB84-CBDF-174E-3000-E40A0CC08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60" y="3696016"/>
                <a:ext cx="192296" cy="276999"/>
              </a:xfrm>
              <a:prstGeom prst="rect">
                <a:avLst/>
              </a:prstGeom>
              <a:blipFill>
                <a:blip r:embed="rId13"/>
                <a:stretch>
                  <a:fillRect l="-25000" r="-21875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7DD250-7AC8-2167-3733-9528364415E4}"/>
                  </a:ext>
                </a:extLst>
              </p:cNvPr>
              <p:cNvSpPr txBox="1"/>
              <p:nvPr/>
            </p:nvSpPr>
            <p:spPr>
              <a:xfrm>
                <a:off x="6496145" y="4065734"/>
                <a:ext cx="2121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7DD250-7AC8-2167-3733-952836441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145" y="4065734"/>
                <a:ext cx="212109" cy="276999"/>
              </a:xfrm>
              <a:prstGeom prst="rect">
                <a:avLst/>
              </a:prstGeom>
              <a:blipFill>
                <a:blip r:embed="rId14"/>
                <a:stretch>
                  <a:fillRect l="-26471" r="-20588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B2B537-378C-68C2-9D4C-B7E63DCBA5E4}"/>
                  </a:ext>
                </a:extLst>
              </p:cNvPr>
              <p:cNvSpPr txBox="1"/>
              <p:nvPr/>
            </p:nvSpPr>
            <p:spPr>
              <a:xfrm>
                <a:off x="8036117" y="2950294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2,14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B2B537-378C-68C2-9D4C-B7E63DCBA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6117" y="2950294"/>
                <a:ext cx="496931" cy="276999"/>
              </a:xfrm>
              <a:prstGeom prst="rect">
                <a:avLst/>
              </a:prstGeom>
              <a:blipFill>
                <a:blip r:embed="rId15"/>
                <a:stretch>
                  <a:fillRect l="-8537" r="-10976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8E5250-1DF7-8AA4-50A6-FDF67CBC89CD}"/>
                  </a:ext>
                </a:extLst>
              </p:cNvPr>
              <p:cNvSpPr txBox="1"/>
              <p:nvPr/>
            </p:nvSpPr>
            <p:spPr>
              <a:xfrm>
                <a:off x="7830626" y="3305118"/>
                <a:ext cx="8319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4,52 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8E5250-1DF7-8AA4-50A6-FDF67CBC8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626" y="3305118"/>
                <a:ext cx="831958" cy="276999"/>
              </a:xfrm>
              <a:prstGeom prst="rect">
                <a:avLst/>
              </a:prstGeom>
              <a:blipFill>
                <a:blip r:embed="rId16"/>
                <a:stretch>
                  <a:fillRect l="-5882" r="-6618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C6DF5A-3CE2-27D5-5B2C-6E137716A78C}"/>
                  </a:ext>
                </a:extLst>
              </p:cNvPr>
              <p:cNvSpPr txBox="1"/>
              <p:nvPr/>
            </p:nvSpPr>
            <p:spPr>
              <a:xfrm>
                <a:off x="7922942" y="3688563"/>
                <a:ext cx="723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,26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C6DF5A-3CE2-27D5-5B2C-6E137716A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42" y="3688563"/>
                <a:ext cx="723275" cy="276999"/>
              </a:xfrm>
              <a:prstGeom prst="rect">
                <a:avLst/>
              </a:prstGeom>
              <a:blipFill>
                <a:blip r:embed="rId17"/>
                <a:stretch>
                  <a:fillRect l="-6780" r="-6780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64DF37-B894-8C7F-9363-8D0FF31D3D6E}"/>
                  </a:ext>
                </a:extLst>
              </p:cNvPr>
              <p:cNvSpPr txBox="1"/>
              <p:nvPr/>
            </p:nvSpPr>
            <p:spPr>
              <a:xfrm>
                <a:off x="7878188" y="4061089"/>
                <a:ext cx="831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,14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64DF37-B894-8C7F-9363-8D0FF31D3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188" y="4061089"/>
                <a:ext cx="831381" cy="276999"/>
              </a:xfrm>
              <a:prstGeom prst="rect">
                <a:avLst/>
              </a:prstGeom>
              <a:blipFill>
                <a:blip r:embed="rId18"/>
                <a:stretch>
                  <a:fillRect l="-5109" r="-5109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3DBB24-F5C5-1EE6-1A79-9BF4ED2CA046}"/>
                  </a:ext>
                </a:extLst>
              </p:cNvPr>
              <p:cNvSpPr txBox="1"/>
              <p:nvPr/>
            </p:nvSpPr>
            <p:spPr>
              <a:xfrm>
                <a:off x="7123883" y="294382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2,38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3DBB24-F5C5-1EE6-1A79-9BF4ED2CA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883" y="2943826"/>
                <a:ext cx="496931" cy="276999"/>
              </a:xfrm>
              <a:prstGeom prst="rect">
                <a:avLst/>
              </a:prstGeom>
              <a:blipFill>
                <a:blip r:embed="rId19"/>
                <a:stretch>
                  <a:fillRect l="-9877" r="-11111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54EED0D-94AF-DA9C-233A-D7336FBB7B1C}"/>
                  </a:ext>
                </a:extLst>
              </p:cNvPr>
              <p:cNvSpPr txBox="1"/>
              <p:nvPr/>
            </p:nvSpPr>
            <p:spPr>
              <a:xfrm>
                <a:off x="6961596" y="3305118"/>
                <a:ext cx="8319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5,30 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54EED0D-94AF-DA9C-233A-D7336FBB7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596" y="3305118"/>
                <a:ext cx="831959" cy="276999"/>
              </a:xfrm>
              <a:prstGeom prst="rect">
                <a:avLst/>
              </a:prstGeom>
              <a:blipFill>
                <a:blip r:embed="rId20"/>
                <a:stretch>
                  <a:fillRect l="-5882" r="-6618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EBF7A3-93D5-D3D5-5009-CCBDE6FFCA35}"/>
                  </a:ext>
                </a:extLst>
              </p:cNvPr>
              <p:cNvSpPr txBox="1"/>
              <p:nvPr/>
            </p:nvSpPr>
            <p:spPr>
              <a:xfrm>
                <a:off x="7022880" y="3696015"/>
                <a:ext cx="723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4,02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EBF7A3-93D5-D3D5-5009-CCBDE6FFC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880" y="3696015"/>
                <a:ext cx="723275" cy="276999"/>
              </a:xfrm>
              <a:prstGeom prst="rect">
                <a:avLst/>
              </a:prstGeom>
              <a:blipFill>
                <a:blip r:embed="rId21"/>
                <a:stretch>
                  <a:fillRect l="-5882" r="-6723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A1E2E55-0322-ACAE-9FAF-CC79F3D9F2E6}"/>
                  </a:ext>
                </a:extLst>
              </p:cNvPr>
              <p:cNvSpPr txBox="1"/>
              <p:nvPr/>
            </p:nvSpPr>
            <p:spPr>
              <a:xfrm>
                <a:off x="6985342" y="4070626"/>
                <a:ext cx="831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A1E2E55-0322-ACAE-9FAF-CC79F3D9F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42" y="4070626"/>
                <a:ext cx="831381" cy="276999"/>
              </a:xfrm>
              <a:prstGeom prst="rect">
                <a:avLst/>
              </a:prstGeom>
              <a:blipFill>
                <a:blip r:embed="rId22"/>
                <a:stretch>
                  <a:fillRect l="-5882" r="-5147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8A070C-F2AD-2BDC-0779-EA2E51443113}"/>
                  </a:ext>
                </a:extLst>
              </p:cNvPr>
              <p:cNvSpPr txBox="1"/>
              <p:nvPr/>
            </p:nvSpPr>
            <p:spPr>
              <a:xfrm>
                <a:off x="6051289" y="4657839"/>
                <a:ext cx="2818523" cy="697627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58A070C-F2AD-2BDC-0779-EA2E5144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289" y="4657839"/>
                <a:ext cx="2818523" cy="69762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443C-1132-470C-D64F-59D770C6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ADF0A-BC65-2B59-DB0A-5AC2D897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CCF66D6-7D94-C687-307E-E0B2527B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46AB8D3-DEB4-0AE6-6FE3-850FB50B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22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FC845-40D7-1D84-2831-0F5EB2B9A9B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2D14195-002C-3AC6-91BA-38D5950E6A8F}"/>
              </a:ext>
            </a:extLst>
          </p:cNvPr>
          <p:cNvGrpSpPr/>
          <p:nvPr/>
        </p:nvGrpSpPr>
        <p:grpSpPr>
          <a:xfrm>
            <a:off x="890041" y="4838220"/>
            <a:ext cx="8051023" cy="1210580"/>
            <a:chOff x="194470" y="5083538"/>
            <a:chExt cx="8484459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A93C6F-6963-CF1D-4030-848C335D32BA}"/>
                </a:ext>
              </a:extLst>
            </p:cNvPr>
            <p:cNvGrpSpPr/>
            <p:nvPr/>
          </p:nvGrpSpPr>
          <p:grpSpPr>
            <a:xfrm>
              <a:off x="194470" y="5083538"/>
              <a:ext cx="8484459" cy="1150814"/>
              <a:chOff x="194470" y="5083538"/>
              <a:chExt cx="8484459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EC0EFE0-5A7E-434A-48B5-6D0BDA324E7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4626F8-3405-7B94-857D-F1F2A8E46808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5B8228-B903-2034-466C-E1CF7CE3C58B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C62744-6624-30B8-4516-B89653B1221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BE861EC0-ADFA-BFD5-9A59-357BF9F8DA0C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CBAA01B1-07B4-0E8E-EA74-4165A97C907C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2351D297-C352-0650-1F96-4B946D7E8EDF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C793BFD-06C9-831C-9B6A-6D0B4AB1F2FB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AEFA58-920D-CA4B-0F07-1505906941E3}"/>
                  </a:ext>
                </a:extLst>
              </p:cNvPr>
              <p:cNvSpPr txBox="1"/>
              <p:nvPr/>
            </p:nvSpPr>
            <p:spPr>
              <a:xfrm>
                <a:off x="194470" y="5571687"/>
                <a:ext cx="13135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Champ Magnétique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E9D5FC-7311-9DE7-224D-265153585F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E58AEB-3C8B-BEE6-23D3-28ACF6A082A1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9D5AB90-5B5D-299C-905F-5A23D8466EEA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2E9E42-5AB6-4C24-1F11-2FC771963F3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DF8512-FC6C-F901-809A-BCC3B91FB877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76617CDC-F149-0C28-3A05-7D34BB5D57F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631FB0-AF2B-52D9-ABF9-A8C72A563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734842" y="1174970"/>
            <a:ext cx="6192596" cy="376155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9972E7-F101-AF53-FB07-224A3DC3CD93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0238521C-E1DA-9F7A-EE2C-2FEC4A307F60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FD8CBE74-2060-F22E-B668-E47615306BC9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2986A7A9-712D-4594-3F53-E4063288C984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53E6B5-774E-45B6-DA00-9F5B475B3E3F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Réduction du ’’Hum’’</a:t>
            </a:r>
          </a:p>
        </p:txBody>
      </p:sp>
    </p:spTree>
    <p:extLst>
      <p:ext uri="{BB962C8B-B14F-4D97-AF65-F5344CB8AC3E}">
        <p14:creationId xmlns:p14="http://schemas.microsoft.com/office/powerpoint/2010/main" val="3548799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C3C5-724E-6B47-34F2-CF92308B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23932D-DB1E-0F79-2630-BD139B43CBE1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/>
              <p:nvPr/>
            </p:nvSpPr>
            <p:spPr>
              <a:xfrm>
                <a:off x="1211000" y="3429000"/>
                <a:ext cx="3842591" cy="2766060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500" dirty="0"/>
                  <a:t>: Gradient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Espacement entre les deux bobinages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000" y="3429000"/>
                <a:ext cx="3842591" cy="2766060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9FDBC51-B7C5-D612-8598-965C48AC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176A7DB-7D10-F9C8-D148-462CE453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DAE1A4-DBF7-136C-C7FB-905349CD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C0CE4-5ED2-FFA6-9DD9-47F59A76BEC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B6957C-FA40-780F-7F7C-92FF0723E95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/>
              <p:nvPr/>
            </p:nvSpPr>
            <p:spPr>
              <a:xfrm>
                <a:off x="5153163" y="1371600"/>
                <a:ext cx="3797279" cy="482346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On considère un champ parasite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Humbucker :</a:t>
                </a:r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SingleCoil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Supposons le champ uniforme (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sz="1600" dirty="0"/>
                  <a:t>)</a:t>
                </a:r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163" y="1371600"/>
                <a:ext cx="3797279" cy="4823460"/>
              </a:xfrm>
              <a:prstGeom prst="rect">
                <a:avLst/>
              </a:prstGeom>
              <a:blipFill>
                <a:blip r:embed="rId3"/>
                <a:stretch>
                  <a:fillRect l="-318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 descr="Image de ">
            <a:extLst>
              <a:ext uri="{FF2B5EF4-FFF2-40B4-BE49-F238E27FC236}">
                <a16:creationId xmlns:a16="http://schemas.microsoft.com/office/drawing/2014/main" id="{191D9128-D82D-813C-F887-06FAE524B6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9069A7-D057-A5DB-C73E-63B636622687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2" name="Arrow: Notched Right 11">
              <a:extLst>
                <a:ext uri="{FF2B5EF4-FFF2-40B4-BE49-F238E27FC236}">
                  <a16:creationId xmlns:a16="http://schemas.microsoft.com/office/drawing/2014/main" id="{5D89B670-589F-3327-4D79-7DA06C023B2F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1ADDF304-31A5-9965-2BE2-F0BFCC75E977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968095A2-6A64-18CB-C766-F5CC936B9B80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5F50479-08FB-2EE6-757E-66C7267A670D}"/>
              </a:ext>
            </a:extLst>
          </p:cNvPr>
          <p:cNvSpPr/>
          <p:nvPr/>
        </p:nvSpPr>
        <p:spPr>
          <a:xfrm>
            <a:off x="1210999" y="1371600"/>
            <a:ext cx="3842591" cy="1905000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 magnétique parasite linéaire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Micros ponctuels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40752-E5E1-66A7-7976-506A1FE13A71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</p:spTree>
    <p:extLst>
      <p:ext uri="{BB962C8B-B14F-4D97-AF65-F5344CB8AC3E}">
        <p14:creationId xmlns:p14="http://schemas.microsoft.com/office/powerpoint/2010/main" val="4288459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7A830A7-B734-AAE1-B623-C2C7A033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4270AEB-E3E1-1E93-ABDC-EF4719AD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2644A6-17D6-7DD7-E116-6CC6504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24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E267BF-F8C8-7B9F-086E-2829E24D70E2}"/>
              </a:ext>
            </a:extLst>
          </p:cNvPr>
          <p:cNvGrpSpPr/>
          <p:nvPr/>
        </p:nvGrpSpPr>
        <p:grpSpPr>
          <a:xfrm>
            <a:off x="1159140" y="1536491"/>
            <a:ext cx="6758213" cy="4658569"/>
            <a:chOff x="1088521" y="1146180"/>
            <a:chExt cx="6758213" cy="4934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25D940-13FD-EE6E-C1BF-2EAC1C5E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7" b="5227"/>
            <a:stretch/>
          </p:blipFill>
          <p:spPr>
            <a:xfrm rot="16200000">
              <a:off x="2190128" y="306547"/>
              <a:ext cx="2942282" cy="4621547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1537CB8-8F77-3361-FCF5-324906ABEE21}"/>
                </a:ext>
              </a:extLst>
            </p:cNvPr>
            <p:cNvGrpSpPr/>
            <p:nvPr/>
          </p:nvGrpSpPr>
          <p:grpSpPr>
            <a:xfrm flipH="1">
              <a:off x="1433732" y="4360802"/>
              <a:ext cx="6413002" cy="1720288"/>
              <a:chOff x="1440953" y="2466429"/>
              <a:chExt cx="6262094" cy="1720288"/>
            </a:xfrm>
          </p:grpSpPr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485931D7-3E78-6020-17E4-F6EE0BB40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6140000">
                <a:off x="4210262" y="693933"/>
                <a:ext cx="723475" cy="6262094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749D53FD-1AA2-3F26-4A50-75DD1D2E5A33}"/>
                  </a:ext>
                </a:extLst>
              </p:cNvPr>
              <p:cNvSpPr txBox="1"/>
              <p:nvPr/>
            </p:nvSpPr>
            <p:spPr>
              <a:xfrm>
                <a:off x="4052454" y="2466429"/>
                <a:ext cx="633157" cy="2769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Corde</a:t>
                </a:r>
              </a:p>
            </p:txBody>
          </p:sp>
        </p:grp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3EE8BFC5-F2AA-D1A3-380C-6809D26261A6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rot="5400000" flipH="1" flipV="1">
              <a:off x="1274767" y="3531748"/>
              <a:ext cx="1167611" cy="25641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29105-5D1B-BD47-7B86-BF65201E2C22}"/>
                </a:ext>
              </a:extLst>
            </p:cNvPr>
            <p:cNvSpPr txBox="1"/>
            <p:nvPr/>
          </p:nvSpPr>
          <p:spPr>
            <a:xfrm flipH="1">
              <a:off x="2525532" y="4255954"/>
              <a:ext cx="1387055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Humbucker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3736A5C1-091B-7125-5BE6-37A8B606888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rot="16200000" flipH="1">
              <a:off x="1724074" y="4527051"/>
              <a:ext cx="1036591" cy="1024010"/>
            </a:xfrm>
            <a:prstGeom prst="bentConnector3">
              <a:avLst>
                <a:gd name="adj1" fmla="val 1961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9A269F26-F8FB-BD35-8D1C-147049D4D4C3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rot="5400000">
              <a:off x="2678638" y="4956566"/>
              <a:ext cx="964034" cy="116808"/>
            </a:xfrm>
            <a:prstGeom prst="bentConnector3">
              <a:avLst>
                <a:gd name="adj1" fmla="val 20491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CD4B400A-45D8-1178-C9C6-D74658FD0F2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rot="16200000" flipV="1">
              <a:off x="2166435" y="3203329"/>
              <a:ext cx="1167611" cy="937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: Elbow 140">
              <a:extLst>
                <a:ext uri="{FF2B5EF4-FFF2-40B4-BE49-F238E27FC236}">
                  <a16:creationId xmlns:a16="http://schemas.microsoft.com/office/drawing/2014/main" id="{2B74BC81-0396-58E2-4F5F-25A19BB7D6D7}"/>
                </a:ext>
              </a:extLst>
            </p:cNvPr>
            <p:cNvCxnSpPr>
              <a:cxnSpLocks/>
              <a:stCxn id="161" idx="2"/>
            </p:cNvCxnSpPr>
            <p:nvPr/>
          </p:nvCxnSpPr>
          <p:spPr>
            <a:xfrm rot="5400000">
              <a:off x="3978664" y="4933548"/>
              <a:ext cx="1165175" cy="5736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4427088E-AEAA-CC36-74E4-446F94028ABB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rot="16200000" flipV="1">
              <a:off x="3888275" y="3400986"/>
              <a:ext cx="1295657" cy="62397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AC37F92-0300-2194-BBFA-28D6CCCBF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4620" y="3077337"/>
              <a:ext cx="45090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98F84A-A707-90F0-135B-B3D6DB647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1685" y="5819775"/>
              <a:ext cx="53736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AF251-442D-D41A-2407-64D8B6581262}"/>
                </a:ext>
              </a:extLst>
            </p:cNvPr>
            <p:cNvSpPr txBox="1"/>
            <p:nvPr/>
          </p:nvSpPr>
          <p:spPr>
            <a:xfrm flipH="1">
              <a:off x="1088521" y="4243762"/>
              <a:ext cx="128368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SingleCoil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F22A3C-6325-EA4C-4F2F-907153CFABE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DB406E-23CD-8252-4EC0-7EB9E4452537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0D503466-1912-0486-628C-8C677F6C8CA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78C7AA-694A-C0E1-4D71-27FD48CB339A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C3F8D3BE-4A16-0A8B-1441-6A38328B8B80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20" name="Arrow: Notched Right 19">
              <a:extLst>
                <a:ext uri="{FF2B5EF4-FFF2-40B4-BE49-F238E27FC236}">
                  <a16:creationId xmlns:a16="http://schemas.microsoft.com/office/drawing/2014/main" id="{D3D75939-2B6D-811D-29D2-10595D4A4D64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7C14067C-77A0-5799-BEDA-749C32A1BAD1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A78053-9B3F-8A75-512E-06D3655B0586}"/>
                  </a:ext>
                </a:extLst>
              </p:cNvPr>
              <p:cNvSpPr/>
              <p:nvPr/>
            </p:nvSpPr>
            <p:spPr>
              <a:xfrm>
                <a:off x="6451777" y="1536488"/>
                <a:ext cx="2485046" cy="391970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Utilisation de Bobine Helmholtz pour contrôler le champ parasite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h𝑒𝑙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A78053-9B3F-8A75-512E-06D3655B05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777" y="1536488"/>
                <a:ext cx="2485046" cy="3919700"/>
              </a:xfrm>
              <a:prstGeom prst="rect">
                <a:avLst/>
              </a:prstGeom>
              <a:blipFill>
                <a:blip r:embed="rId4"/>
                <a:stretch>
                  <a:fillRect l="-24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2" descr="Bobine de Helmholtz sur socle : PAM067370">
            <a:extLst>
              <a:ext uri="{FF2B5EF4-FFF2-40B4-BE49-F238E27FC236}">
                <a16:creationId xmlns:a16="http://schemas.microsoft.com/office/drawing/2014/main" id="{97F9CA38-454F-5EAF-74D4-E7E8E328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839" y="3222403"/>
            <a:ext cx="2227030" cy="147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A8287-CC45-F296-8ECB-B5F08F23D09F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3972-CCF2-A72B-A8D5-FAB0B48B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79A5D04-4041-B972-40CE-C41CA22B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73E515-C0A4-F7D8-A603-8B6BB907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60B846D-0D18-C5C3-90A8-9CEF8209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25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EFD92-656B-2E29-6805-FDC2F51B7C5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ABCC70-9EBD-31D3-2917-F8AEF134F5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2" y="1647754"/>
            <a:ext cx="3779998" cy="31499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DF09D912-1643-DEAB-8E04-88725BC86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52B6950-996C-D7F5-0BA0-1FA2622F9668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3D0A13-00D1-8B28-BB62-D4431F5E0840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75CFCD-FC92-079B-4C26-5295E4A62C6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095"/>
            <a:ext cx="3779998" cy="314999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A5766-42E5-5F7B-7AE4-70034B091C7C}"/>
                  </a:ext>
                </a:extLst>
              </p:cNvPr>
              <p:cNvSpPr txBox="1"/>
              <p:nvPr/>
            </p:nvSpPr>
            <p:spPr>
              <a:xfrm>
                <a:off x="1054902" y="5281705"/>
                <a:ext cx="378000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EA5766-42E5-5F7B-7AE4-70034B09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02" y="5281705"/>
                <a:ext cx="3780001" cy="27699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6DBE0F-C1BB-D404-F8C6-149D40A27E67}"/>
                  </a:ext>
                </a:extLst>
              </p:cNvPr>
              <p:cNvSpPr txBox="1"/>
              <p:nvPr/>
            </p:nvSpPr>
            <p:spPr>
              <a:xfrm>
                <a:off x="4966870" y="5281705"/>
                <a:ext cx="3780002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6DBE0F-C1BB-D404-F8C6-149D40A27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70" y="5281705"/>
                <a:ext cx="3780002" cy="276999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FB36BD6F-5DDF-BE9D-9B1E-3FDFAE01230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5B3C4E-6FEA-F1F6-5408-17AAB7A5FF0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B2AF83A9-2044-A707-7D12-39AE7EB5B0F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467218-1502-E969-1EB8-6FC653B53F90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DB8DF837-9C31-871F-C2E5-6AAD4891DEAC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3140796C-CF64-7150-C277-0B6A388C0AFA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DCF375DC-76B8-1D42-B1DF-C4B284744862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8B4C03E-EC8F-568B-02A3-ADCE2DF464D5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140121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E352-AE06-E004-5CFF-5213AB19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DE84039-989B-A9DF-DE7E-BBEA6F1F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26E8735-7952-61D9-6518-78B8FC4E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B6BDE8C-2386-2827-B841-0C05C323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C704F-376A-076F-1D3C-A56EAD281681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CE4722-9215-C766-B596-8EAAE3E1C7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C72D6-A81E-FE9B-6FA7-B4EAF9D122A2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A22C6F-ECD4-170F-2DD9-944B78FD0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1" y="1390254"/>
            <a:ext cx="4766410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/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fr-F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Mesures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Théoriquement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05 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=29,3 </m:t>
                      </m:r>
                      <m:r>
                        <m:rPr>
                          <m:nor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Expérimentalement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1,76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0,69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8,1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4DA0E7B2-A0B5-774E-ADC9-6B74F1FE1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B90E298-B371-7D47-057D-F3029BF38498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63BD45AC-FBE0-B36E-71E4-172131DE5CCB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F3B2FFFB-ADE8-E11B-633D-5D7444F740C6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5F200D3C-6717-CF56-57E3-474BA6D7980C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57C8F5F-29B0-45A8-4977-1B10256AE062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2252712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ADE7-FD45-49B7-A31C-CE41D3B9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A303AFB-C154-547F-DEE5-F04AD1B2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7278B5B-5BB1-E1EB-8A73-36B147DC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A79059-CEAD-2397-F6D1-B5BA0830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27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2DC73D-1732-F977-8F7D-223DC979BF1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D232ECE-7A90-FE8A-6D58-9A81DE5C468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723174-5E09-7C0C-A0A5-4D3B8382CA8B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6DFA67-4566-F437-A2B8-0A3350AE4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2541" y="2719137"/>
            <a:ext cx="3806562" cy="34175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6E7EBE7C-C3F9-1A78-D5DC-D93F0EA4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EC0549-9677-1BB2-0F11-EE5189B8269B}"/>
                  </a:ext>
                </a:extLst>
              </p:cNvPr>
              <p:cNvSpPr/>
              <p:nvPr/>
            </p:nvSpPr>
            <p:spPr>
              <a:xfrm>
                <a:off x="1104899" y="1390254"/>
                <a:ext cx="3467101" cy="119615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parfaits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EC0549-9677-1BB2-0F11-EE5189B826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9" y="1390254"/>
                <a:ext cx="3467101" cy="1196158"/>
              </a:xfrm>
              <a:prstGeom prst="rect">
                <a:avLst/>
              </a:prstGeom>
              <a:blipFill>
                <a:blip r:embed="rId5"/>
                <a:stretch>
                  <a:fillRect l="-348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A1277C-77EB-E66C-5E73-D430AAD91E8E}"/>
                  </a:ext>
                </a:extLst>
              </p:cNvPr>
              <p:cNvSpPr/>
              <p:nvPr/>
            </p:nvSpPr>
            <p:spPr>
              <a:xfrm>
                <a:off x="1104898" y="2719137"/>
                <a:ext cx="3467102" cy="3417503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29,3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8,1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29,3</m:t>
                          </m:r>
                        </m:den>
                      </m:f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Limites du modèle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Hypothèse d’un gradient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Incertitude sur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r-F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Limites expérimentales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Asymétrie de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Incertitudes de mesure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A1277C-77EB-E66C-5E73-D430AAD91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8" y="2719137"/>
                <a:ext cx="3467102" cy="3417503"/>
              </a:xfrm>
              <a:prstGeom prst="rect">
                <a:avLst/>
              </a:prstGeom>
              <a:blipFill>
                <a:blip r:embed="rId6"/>
                <a:stretch>
                  <a:fillRect l="-348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61F143F-D303-BE60-2B52-FCF45CC81A04}"/>
                  </a:ext>
                </a:extLst>
              </p:cNvPr>
              <p:cNvSpPr/>
              <p:nvPr/>
            </p:nvSpPr>
            <p:spPr>
              <a:xfrm>
                <a:off x="4842541" y="1390254"/>
                <a:ext cx="3806562" cy="1180761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Mesures :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29,3 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=8,1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61F143F-D303-BE60-2B52-FCF45CC81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541" y="1390254"/>
                <a:ext cx="3806562" cy="1180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708B631-9D80-D6D1-14AB-AC181ED96748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8D03824E-585E-46DC-6663-9D57EA335632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De l’onde à la F.E.M.</a:t>
              </a:r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338FF837-FCF4-BAD8-76E3-D282D0BAF5B0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interne des micros</a:t>
              </a:r>
            </a:p>
          </p:txBody>
        </p:sp>
        <p:sp>
          <p:nvSpPr>
            <p:cNvPr id="16" name="Arrow: Notched Right 15">
              <a:extLst>
                <a:ext uri="{FF2B5EF4-FFF2-40B4-BE49-F238E27FC236}">
                  <a16:creationId xmlns:a16="http://schemas.microsoft.com/office/drawing/2014/main" id="{CF4AED26-1C90-579F-A812-D39B8AAD34D1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bruit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36AF97-1715-83EC-BA8A-120B25276E3B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Ecarts</a:t>
            </a:r>
          </a:p>
        </p:txBody>
      </p:sp>
    </p:spTree>
    <p:extLst>
      <p:ext uri="{BB962C8B-B14F-4D97-AF65-F5344CB8AC3E}">
        <p14:creationId xmlns:p14="http://schemas.microsoft.com/office/powerpoint/2010/main" val="2661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A9E-1C8C-7508-4A99-E9E72DA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C41BDD6-0B7E-DB68-BFEB-ED6C52B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188F378-BB87-FA6A-6251-64979DCB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83BD53-0BEB-220C-AC97-3EEC3B1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9AD768-93B1-9342-3E71-9F51C81E308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5DCA8F8-D862-BC8C-AF76-12EA5860996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500E49-9BB6-266A-A15B-45A7A7E94780}"/>
              </a:ext>
            </a:extLst>
          </p:cNvPr>
          <p:cNvSpPr/>
          <p:nvPr/>
        </p:nvSpPr>
        <p:spPr>
          <a:xfrm>
            <a:off x="36609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629154-4AC2-A8C2-E930-45F35D77F155}"/>
              </a:ext>
            </a:extLst>
          </p:cNvPr>
          <p:cNvSpPr txBox="1"/>
          <p:nvPr/>
        </p:nvSpPr>
        <p:spPr>
          <a:xfrm>
            <a:off x="313675" y="629422"/>
            <a:ext cx="844465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4FB65596-7E87-29A0-E639-8589E9E9B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045777"/>
                  </p:ext>
                </p:extLst>
              </p:nvPr>
            </p:nvGraphicFramePr>
            <p:xfrm>
              <a:off x="366090" y="1156334"/>
              <a:ext cx="8424000" cy="4299776"/>
            </p:xfrm>
            <a:graphic>
              <a:graphicData uri="http://schemas.openxmlformats.org/drawingml/2006/table">
                <a:tbl>
                  <a:tblPr firstRow="1" firstCol="1" bandRow="1">
                    <a:tableStyleId>{D27102A9-8310-4765-A935-A1911B00CA55}</a:tableStyleId>
                  </a:tblPr>
                  <a:tblGrid>
                    <a:gridCol w="2996870">
                      <a:extLst>
                        <a:ext uri="{9D8B030D-6E8A-4147-A177-3AD203B41FA5}">
                          <a16:colId xmlns:a16="http://schemas.microsoft.com/office/drawing/2014/main" val="1602020623"/>
                        </a:ext>
                      </a:extLst>
                    </a:gridCol>
                    <a:gridCol w="2692400">
                      <a:extLst>
                        <a:ext uri="{9D8B030D-6E8A-4147-A177-3AD203B41FA5}">
                          <a16:colId xmlns:a16="http://schemas.microsoft.com/office/drawing/2014/main" val="409788336"/>
                        </a:ext>
                      </a:extLst>
                    </a:gridCol>
                    <a:gridCol w="2734730">
                      <a:extLst>
                        <a:ext uri="{9D8B030D-6E8A-4147-A177-3AD203B41FA5}">
                          <a16:colId xmlns:a16="http://schemas.microsoft.com/office/drawing/2014/main" val="6734730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Micro 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Micro 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57929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Transduction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914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//</a:t>
                          </a:r>
                        </a:p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//</a:t>
                          </a:r>
                        </a:p>
                        <a:p>
                          <a:pPr/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0935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Filtrage interne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503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𝑒𝑥𝑝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5000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𝑒𝑥𝑝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7500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5413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Réduction du Hum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8562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//</a:t>
                          </a:r>
                        </a:p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𝐶𝑀𝑅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𝑇h</m:t>
                                    </m:r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=29,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𝐶𝑀𝑅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𝑒𝑥𝑝</m:t>
                                    </m:r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=8,1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fr-FR" sz="1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dB</m:t>
                                </m:r>
                              </m:oMath>
                            </m:oMathPara>
                          </a14:m>
                          <a:endParaRPr lang="fr-FR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𝐶𝑀𝑅𝑅</m:t>
                                    </m:r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=72,4 %</m:t>
                                </m:r>
                              </m:oMath>
                            </m:oMathPara>
                          </a14:m>
                          <a:endParaRPr lang="fr-FR" sz="18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63818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4FB65596-7E87-29A0-E639-8589E9E9B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045777"/>
                  </p:ext>
                </p:extLst>
              </p:nvPr>
            </p:nvGraphicFramePr>
            <p:xfrm>
              <a:off x="366090" y="1156334"/>
              <a:ext cx="8424000" cy="4299776"/>
            </p:xfrm>
            <a:graphic>
              <a:graphicData uri="http://schemas.openxmlformats.org/drawingml/2006/table">
                <a:tbl>
                  <a:tblPr firstRow="1" firstCol="1" bandRow="1">
                    <a:tableStyleId>{D27102A9-8310-4765-A935-A1911B00CA55}</a:tableStyleId>
                  </a:tblPr>
                  <a:tblGrid>
                    <a:gridCol w="2996870">
                      <a:extLst>
                        <a:ext uri="{9D8B030D-6E8A-4147-A177-3AD203B41FA5}">
                          <a16:colId xmlns:a16="http://schemas.microsoft.com/office/drawing/2014/main" val="1602020623"/>
                        </a:ext>
                      </a:extLst>
                    </a:gridCol>
                    <a:gridCol w="2692400">
                      <a:extLst>
                        <a:ext uri="{9D8B030D-6E8A-4147-A177-3AD203B41FA5}">
                          <a16:colId xmlns:a16="http://schemas.microsoft.com/office/drawing/2014/main" val="409788336"/>
                        </a:ext>
                      </a:extLst>
                    </a:gridCol>
                    <a:gridCol w="2734730">
                      <a:extLst>
                        <a:ext uri="{9D8B030D-6E8A-4147-A177-3AD203B41FA5}">
                          <a16:colId xmlns:a16="http://schemas.microsoft.com/office/drawing/2014/main" val="6734730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Micro SingleCoil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Micro Humbucker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57929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Transduction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91457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//</a:t>
                          </a:r>
                        </a:p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//</a:t>
                          </a:r>
                        </a:p>
                        <a:p>
                          <a:pPr/>
                          <a:endParaRPr lang="fr-FR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09358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Filtrage interne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503637"/>
                      </a:ext>
                    </a:extLst>
                  </a:tr>
                  <a:tr h="966407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11565" t="-212579" r="-102041" b="-1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07795" t="-212579" r="-223" b="-1358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5413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Réduction du Hum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8562062"/>
                      </a:ext>
                    </a:extLst>
                  </a:tr>
                  <a:tr h="935609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dirty="0"/>
                            <a:t>//</a:t>
                          </a:r>
                        </a:p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07795" t="-362338" r="-223" b="-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63818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2012BD2A-C579-D57F-B1C1-1D0651FB0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1344" y="4194810"/>
            <a:ext cx="288000" cy="288000"/>
          </a:xfrm>
          <a:prstGeom prst="rect">
            <a:avLst/>
          </a:prstGeom>
        </p:spPr>
      </p:pic>
      <p:pic>
        <p:nvPicPr>
          <p:cNvPr id="14" name="Graphic 13" descr="Warning with solid fill">
            <a:extLst>
              <a:ext uri="{FF2B5EF4-FFF2-40B4-BE49-F238E27FC236}">
                <a16:creationId xmlns:a16="http://schemas.microsoft.com/office/drawing/2014/main" id="{3BB5C535-4333-776E-D945-A6D563001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5344" y="1532372"/>
            <a:ext cx="360000" cy="360000"/>
          </a:xfrm>
          <a:prstGeom prst="rect">
            <a:avLst/>
          </a:prstGeom>
        </p:spPr>
      </p:pic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0C57217D-D04A-11BE-641E-8AB1CAA45C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000" y="2809497"/>
            <a:ext cx="360000" cy="360000"/>
          </a:xfrm>
          <a:prstGeom prst="rect">
            <a:avLst/>
          </a:prstGeom>
        </p:spPr>
      </p:pic>
      <p:pic>
        <p:nvPicPr>
          <p:cNvPr id="25" name="Graphic 24" descr="Checkmark with solid fill">
            <a:extLst>
              <a:ext uri="{FF2B5EF4-FFF2-40B4-BE49-F238E27FC236}">
                <a16:creationId xmlns:a16="http://schemas.microsoft.com/office/drawing/2014/main" id="{FEC24F00-47FD-EFA5-AF52-3B89677FA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7344" y="2849095"/>
            <a:ext cx="288000" cy="288000"/>
          </a:xfrm>
          <a:prstGeom prst="rect">
            <a:avLst/>
          </a:prstGeom>
        </p:spPr>
      </p:pic>
      <p:pic>
        <p:nvPicPr>
          <p:cNvPr id="26" name="Graphic 25" descr="Warning with solid fill">
            <a:extLst>
              <a:ext uri="{FF2B5EF4-FFF2-40B4-BE49-F238E27FC236}">
                <a16:creationId xmlns:a16="http://schemas.microsoft.com/office/drawing/2014/main" id="{8A2D7334-C6E3-053C-3A16-33839DCD3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000" y="4133104"/>
            <a:ext cx="360000" cy="3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E4BF96-13FC-AAE7-FE03-F72E3777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5322983" y="1136682"/>
            <a:ext cx="485997" cy="400111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7B024F95-B138-985B-1165-9E030667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8183594" y="1156334"/>
            <a:ext cx="451537" cy="362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773902E8-7385-D6E4-53E2-8D0D2A476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557890"/>
            <a:ext cx="288000" cy="28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A2CF22B-A0CD-F2F2-A223-EEEC41D171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3190" y="3179975"/>
            <a:ext cx="1313737" cy="98530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A93B823-416B-5238-8982-58C7DFDA97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3002" y="1892372"/>
            <a:ext cx="1134111" cy="9171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DC3F462-EA18-9496-23A1-3311DAC88D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9046" y="4512034"/>
            <a:ext cx="1102024" cy="9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7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574C88C-C846-3D06-3760-839BCCE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A71A85B-44A7-312F-DA38-FF2BAFF2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7D19BA-9241-DDAC-50D0-86F96248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CB68E-E8C2-CC4C-3A75-B5BA7F6D35A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F93ABBD-287B-55E3-11A3-68FE11A2765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BD774-13EC-37E7-5421-E3BB7AFFF9C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Annexes : Sommaire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F1C7E-5DAA-15EF-C04B-EF6B2C9D445E}"/>
              </a:ext>
            </a:extLst>
          </p:cNvPr>
          <p:cNvSpPr txBox="1"/>
          <p:nvPr/>
        </p:nvSpPr>
        <p:spPr>
          <a:xfrm>
            <a:off x="345440" y="1282532"/>
            <a:ext cx="8472118" cy="48320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Sources et Bibliographie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Remerciements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Loi d’induction de Faraday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Architecture des micros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Le micro SingleCoil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Le micro Humbucker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Démonstration du modèle Théorique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Notations 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Humbucker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&amp; Humbucker excité par un Champ Parasite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Expérimentation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Dimensionnement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Python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Réponse fréquentielle du micro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Modèle Théorique &amp; Résultats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Initialisation du programme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Fonctions du modèle théorique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Fonctions utiles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Calcul du modèle théorique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Calcul et affichage des FFT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400" dirty="0"/>
              <a:t>Enregistrement des courbes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27B990-34B8-0612-B00F-135A386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1. 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[1] </a:t>
            </a:r>
            <a:r>
              <a:rPr lang="en-GB" sz="1400" dirty="0" err="1"/>
              <a:t>WiseGuy</a:t>
            </a:r>
            <a:r>
              <a:rPr lang="en-GB" sz="1400" dirty="0"/>
              <a:t> Research Consultants, "Global Electric Guitar Pickup Market Research Report 2024," Pune, India, 2024.</a:t>
            </a:r>
            <a:endParaRPr lang="en-GB" sz="1400" b="1" dirty="0"/>
          </a:p>
          <a:p>
            <a:endParaRPr lang="en-GB" sz="1400" b="1" dirty="0"/>
          </a:p>
          <a:p>
            <a:r>
              <a:rPr lang="en-GB" sz="1400" b="1" dirty="0"/>
              <a:t>[2]</a:t>
            </a:r>
            <a:r>
              <a:rPr lang="en-GB" sz="1400" dirty="0"/>
              <a:t> Matthew W. Hill, "The hidden history of the electric guitar", in </a:t>
            </a:r>
            <a:r>
              <a:rPr lang="en-GB" sz="1400" i="1" dirty="0"/>
              <a:t>Quand la </a:t>
            </a:r>
            <a:r>
              <a:rPr lang="en-GB" sz="1400" i="1" dirty="0" err="1"/>
              <a:t>guitare</a:t>
            </a:r>
            <a:r>
              <a:rPr lang="en-GB" sz="1400" i="1" dirty="0"/>
              <a:t> [s']</a:t>
            </a:r>
            <a:r>
              <a:rPr lang="en-GB" sz="1400" i="1" dirty="0" err="1"/>
              <a:t>électrise</a:t>
            </a:r>
            <a:r>
              <a:rPr lang="en-GB" sz="1400" i="1" dirty="0"/>
              <a:t> !</a:t>
            </a:r>
            <a:r>
              <a:rPr lang="en-GB" sz="1400" dirty="0"/>
              <a:t>, Benoît Navarret et al. (dir.), Sorbonne Université Presses, pp. 33-61, 2022.</a:t>
            </a:r>
          </a:p>
          <a:p>
            <a:endParaRPr lang="fr-FR" sz="1400" dirty="0"/>
          </a:p>
          <a:p>
            <a:r>
              <a:rPr lang="en-GB" sz="1400" b="1" dirty="0"/>
              <a:t>[3]</a:t>
            </a:r>
            <a:r>
              <a:rPr lang="en-GB" sz="1400" dirty="0"/>
              <a:t> Dan Carson, "Investigation of the Electromagnetic Properties of Electric Guitar Pickups", </a:t>
            </a:r>
            <a:r>
              <a:rPr lang="en-GB" sz="1400" i="1" dirty="0"/>
              <a:t>University of Illinois at Urbana-Champaign</a:t>
            </a:r>
            <a:r>
              <a:rPr lang="en-GB" sz="1400" dirty="0"/>
              <a:t>, Physics Senior Thesis, 2009.</a:t>
            </a:r>
          </a:p>
          <a:p>
            <a:endParaRPr lang="fr-FR" sz="1400" dirty="0"/>
          </a:p>
          <a:p>
            <a:r>
              <a:rPr lang="en-GB" sz="1400" b="1" dirty="0"/>
              <a:t>[4]</a:t>
            </a:r>
            <a:r>
              <a:rPr lang="en-GB" sz="1400" dirty="0"/>
              <a:t> P. Perov, W. Johnson et N. Perova-Mello, "The physics of guitar string vibrations", </a:t>
            </a:r>
            <a:r>
              <a:rPr lang="en-GB" sz="1400" i="1" dirty="0"/>
              <a:t>American Journal of Physics</a:t>
            </a:r>
            <a:r>
              <a:rPr lang="en-GB" sz="1400" dirty="0"/>
              <a:t>, vol. 84, no. 1, pp. 38–43, 2016.</a:t>
            </a:r>
          </a:p>
          <a:p>
            <a:endParaRPr lang="fr-FR" sz="1400" dirty="0"/>
          </a:p>
          <a:p>
            <a:r>
              <a:rPr lang="en-GB" sz="1400" b="1" dirty="0"/>
              <a:t>[5]</a:t>
            </a:r>
            <a:r>
              <a:rPr lang="en-GB" sz="1400" dirty="0"/>
              <a:t> S. W. Duncan, "Interview With Seth Lover", </a:t>
            </a:r>
            <a:r>
              <a:rPr lang="en-GB" sz="1400" i="1" dirty="0"/>
              <a:t>Seymour Duncan</a:t>
            </a:r>
            <a:r>
              <a:rPr lang="en-GB" sz="1400" dirty="0"/>
              <a:t>.  </a:t>
            </a:r>
            <a:r>
              <a:rPr lang="fr-FR" sz="1400" dirty="0"/>
              <a:t>[En ligne]. Disponible sur: </a:t>
            </a:r>
            <a:br>
              <a:rPr lang="fr-FR" sz="1400" dirty="0"/>
            </a:br>
            <a:r>
              <a:rPr lang="fr-FR" sz="1400" u="sng" dirty="0">
                <a:hlinkClick r:id="rId3"/>
              </a:rPr>
              <a:t>https://www.seymourduncan.com/blog/latest-updates/seymour-w-duncans-interview-with-seth-lover</a:t>
            </a:r>
            <a:br>
              <a:rPr lang="fr-FR" sz="1400" u="sng" dirty="0"/>
            </a:br>
            <a:endParaRPr lang="fr-FR" sz="1400" dirty="0"/>
          </a:p>
          <a:p>
            <a:r>
              <a:rPr lang="en-GB" sz="1400" b="1" dirty="0"/>
              <a:t>[6]</a:t>
            </a:r>
            <a:r>
              <a:rPr lang="en-GB" sz="1400" dirty="0"/>
              <a:t> A. Novak, B. </a:t>
            </a:r>
            <a:r>
              <a:rPr lang="en-GB" sz="1400" dirty="0" err="1"/>
              <a:t>Lihoreau</a:t>
            </a:r>
            <a:r>
              <a:rPr lang="en-GB" sz="1400" dirty="0"/>
              <a:t>, E. Brasseur, P. Lotton et L. Simon, "Guitar Pickup: Measurement of its Two-Dimensional Nonlinear Function", </a:t>
            </a:r>
            <a:r>
              <a:rPr lang="en-GB" sz="1400" i="1" dirty="0"/>
              <a:t>Journal of the Audio Engineering Society</a:t>
            </a:r>
            <a:r>
              <a:rPr lang="en-GB" sz="1400" dirty="0"/>
              <a:t>, vol. 68, no. 3, pp. 184-192, 2020.</a:t>
            </a:r>
          </a:p>
          <a:p>
            <a:endParaRPr lang="fr-FR" sz="1400" dirty="0"/>
          </a:p>
          <a:p>
            <a:r>
              <a:rPr lang="en-GB" sz="1400" b="1" dirty="0"/>
              <a:t>[7]</a:t>
            </a:r>
            <a:r>
              <a:rPr lang="en-GB" sz="1400" dirty="0"/>
              <a:t> R. </a:t>
            </a:r>
            <a:r>
              <a:rPr lang="en-GB" sz="1400" dirty="0" err="1"/>
              <a:t>Giampiccolo</a:t>
            </a:r>
            <a:r>
              <a:rPr lang="en-GB" sz="1400" dirty="0"/>
              <a:t>, A. Bernardini et A. Sarti, "Virtualization of Guitar Pickups Through Circuit Inversion", </a:t>
            </a:r>
            <a:r>
              <a:rPr lang="en-GB" sz="1400" i="1" dirty="0"/>
              <a:t>IEEE Signal Processing Letters</a:t>
            </a:r>
            <a:r>
              <a:rPr lang="en-GB" sz="1400" dirty="0"/>
              <a:t>, vol. 30, pp. 458-462, 2023.</a:t>
            </a:r>
            <a:endParaRPr lang="fr-FR" sz="1400" dirty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6D5-1701-3BEE-B0A5-E256A3A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093611-3561-6AFC-8B29-235BE2B5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0E37560-868B-C35D-2C79-FD3A41EA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EE7CF6-6544-6E25-5056-82E21022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023A3-599A-FB7A-D703-1D211D7CCED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650CE6B-EA61-AA9D-5CD4-B098290A02B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E578E-E842-899B-459C-15B4BA0F22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2. Remerciements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9E44F-1F36-18D2-50B8-92E3C5465C7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D91B2-998A-B850-BFB6-9B10EF3C3C36}"/>
              </a:ext>
            </a:extLst>
          </p:cNvPr>
          <p:cNvSpPr txBox="1"/>
          <p:nvPr/>
        </p:nvSpPr>
        <p:spPr>
          <a:xfrm>
            <a:off x="1744980" y="1390254"/>
            <a:ext cx="7072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Art Music Store</a:t>
            </a:r>
            <a:r>
              <a:rPr lang="fr-FR" sz="1600" dirty="0"/>
              <a:t>,</a:t>
            </a:r>
            <a:r>
              <a:rPr lang="fr-FR" sz="1600" b="1" dirty="0"/>
              <a:t> </a:t>
            </a:r>
            <a:r>
              <a:rPr lang="fr-FR" sz="16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Menuiserie Paradis</a:t>
            </a:r>
            <a:r>
              <a:rPr lang="fr-FR" sz="16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pic>
        <p:nvPicPr>
          <p:cNvPr id="2050" name="Picture 2" descr="Les Boutiques | Art Rock Music Store, Magasin de Musique à Crolles et à ...">
            <a:extLst>
              <a:ext uri="{FF2B5EF4-FFF2-40B4-BE49-F238E27FC236}">
                <a16:creationId xmlns:a16="http://schemas.microsoft.com/office/drawing/2014/main" id="{6B5FA1A0-A21F-2704-4B07-98DC048F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1344216"/>
            <a:ext cx="1239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nuiserie Jérôme Paradis | Brézins">
            <a:extLst>
              <a:ext uri="{FF2B5EF4-FFF2-40B4-BE49-F238E27FC236}">
                <a16:creationId xmlns:a16="http://schemas.microsoft.com/office/drawing/2014/main" id="{60E6E8E9-ADE0-B962-617A-584376023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BC96-6601-01EF-A1A8-0CDE5F128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3" y="2750010"/>
            <a:ext cx="1346717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0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EEA9-F7B8-9D5F-AC77-42444A77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0697540-CBC1-7307-57A5-D4FD6B7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AD455C-4E0F-8C44-FB73-C500A0B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E99780-CA7B-47C1-ABE2-119498B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32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A568D-A22D-99BA-EE74-88DC5BA3799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5695410-0F63-6315-9F97-C9017F7BE1F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EA3F-0ED5-07EF-A5BD-494C702F369B}"/>
              </a:ext>
            </a:extLst>
          </p:cNvPr>
          <p:cNvSpPr txBox="1"/>
          <p:nvPr/>
        </p:nvSpPr>
        <p:spPr>
          <a:xfrm>
            <a:off x="345440" y="721360"/>
            <a:ext cx="682752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3. Loi d’induction de Faraday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F56A8-C29C-5426-89FC-284E560D8A8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E1D4B-FF0A-ADB0-43F0-458577E9DE7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029F39-5C02-3985-AF5F-A28D263A7881}"/>
              </a:ext>
            </a:extLst>
          </p:cNvPr>
          <p:cNvGrpSpPr/>
          <p:nvPr/>
        </p:nvGrpSpPr>
        <p:grpSpPr>
          <a:xfrm rot="10800000">
            <a:off x="-736802" y="1802750"/>
            <a:ext cx="4973727" cy="2925771"/>
            <a:chOff x="4696904" y="1390254"/>
            <a:chExt cx="4973727" cy="29257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A4741D-B170-2F09-583D-545C54E14DE0}"/>
                </a:ext>
              </a:extLst>
            </p:cNvPr>
            <p:cNvGrpSpPr/>
            <p:nvPr/>
          </p:nvGrpSpPr>
          <p:grpSpPr>
            <a:xfrm>
              <a:off x="5907188" y="1390254"/>
              <a:ext cx="2527760" cy="2925771"/>
              <a:chOff x="5907188" y="1390254"/>
              <a:chExt cx="2527760" cy="292577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21CFDF9-4291-8D12-74B3-B173DE76F8DE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109894D-0C13-D7BC-0A38-126F9177B79E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38F9B1-D91D-1218-899D-63801034424A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FA7991-B1FD-4D9F-E2A8-E8EE349CA2DE}"/>
                  </a:ext>
                </a:extLst>
              </p:cNvPr>
              <p:cNvSpPr/>
              <p:nvPr/>
            </p:nvSpPr>
            <p:spPr>
              <a:xfrm>
                <a:off x="5991859" y="315726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4AE618D-44F2-E55D-1043-667FB8FBF8FA}"/>
                  </a:ext>
                </a:extLst>
              </p:cNvPr>
              <p:cNvSpPr/>
              <p:nvPr/>
            </p:nvSpPr>
            <p:spPr>
              <a:xfrm rot="5400000">
                <a:off x="5166741" y="2301751"/>
                <a:ext cx="2672806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572B0B0-2176-7203-972E-1EA06FB2A7CD}"/>
                  </a:ext>
                </a:extLst>
              </p:cNvPr>
              <p:cNvSpPr/>
              <p:nvPr/>
            </p:nvSpPr>
            <p:spPr>
              <a:xfrm rot="5400000" flipV="1">
                <a:off x="6501124" y="2298382"/>
                <a:ext cx="2675737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DDF69DD-1E42-2112-9BF5-84E28D6B5F92}"/>
                  </a:ext>
                </a:extLst>
              </p:cNvPr>
              <p:cNvCxnSpPr>
                <a:cxnSpLocks/>
                <a:stCxn id="42" idx="1"/>
              </p:cNvCxnSpPr>
              <p:nvPr/>
            </p:nvCxnSpPr>
            <p:spPr>
              <a:xfrm rot="10800000" flipH="1" flipV="1">
                <a:off x="7172960" y="2917222"/>
                <a:ext cx="19314" cy="1398803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7205DBE-459C-B395-3584-9F4722AB6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82847AF-498C-DF5E-BDE4-017FDB6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5F6D1BD-9F89-FCC2-B040-CD22C7FB6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150BE16-5E9F-407A-16A7-6130EBF54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A8DA61-3CB2-1EF9-0F7D-89B45934C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B967B8D-E992-37D1-73EF-496B4779B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B2475F-F2A5-6B66-44F9-7385BA187E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63F86B7-F05C-00CA-4D2F-CC9B3737F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675CC6-5BA0-23F3-5EA6-AB7ADCC40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39CC67-64C7-AF1A-9F7A-208E6F90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9386F2B-937C-216F-8A7D-DB7A20EB35C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8FD531E-F5DC-BB2B-7744-9747DCF9AB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19444" b="-980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D0BAF00-F5A2-ADBD-073E-C00978D6471C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A901C5-9433-402F-B6E7-920E3568775F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/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79458-06A2-8BE6-84DA-CDDF9B5A55A1}"/>
              </a:ext>
            </a:extLst>
          </p:cNvPr>
          <p:cNvGrpSpPr/>
          <p:nvPr/>
        </p:nvGrpSpPr>
        <p:grpSpPr>
          <a:xfrm rot="10800000">
            <a:off x="2222427" y="1802749"/>
            <a:ext cx="4744887" cy="2939324"/>
            <a:chOff x="4696904" y="1390254"/>
            <a:chExt cx="4973727" cy="33366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66DA6C7-65F1-7B57-BA30-F55D1109FDA7}"/>
                </a:ext>
              </a:extLst>
            </p:cNvPr>
            <p:cNvGrpSpPr/>
            <p:nvPr/>
          </p:nvGrpSpPr>
          <p:grpSpPr>
            <a:xfrm>
              <a:off x="5837879" y="1390254"/>
              <a:ext cx="2597068" cy="3336602"/>
              <a:chOff x="5837879" y="1390254"/>
              <a:chExt cx="2597068" cy="333660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5A41D1F-96FD-ABAF-2D61-59961D5F60C8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A4AB24D2-E5CC-651D-CBD4-6E4E03DBFC19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02E2B5F-45EC-5E56-4C43-1E1AD9649537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B23C8A-12E2-A70F-DA1F-5F7A290E69D8}"/>
                  </a:ext>
                </a:extLst>
              </p:cNvPr>
              <p:cNvSpPr/>
              <p:nvPr/>
            </p:nvSpPr>
            <p:spPr>
              <a:xfrm>
                <a:off x="5974194" y="406420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18C1FC13-5AA2-560D-DD00-4E43B2CA7F47}"/>
                  </a:ext>
                </a:extLst>
              </p:cNvPr>
              <p:cNvSpPr/>
              <p:nvPr/>
            </p:nvSpPr>
            <p:spPr>
              <a:xfrm rot="5400000">
                <a:off x="5128641" y="2300660"/>
                <a:ext cx="2749012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B2322817-EDBD-2DC7-B5B5-7D90D12FBA8A}"/>
                  </a:ext>
                </a:extLst>
              </p:cNvPr>
              <p:cNvSpPr/>
              <p:nvPr/>
            </p:nvSpPr>
            <p:spPr>
              <a:xfrm rot="5400000" flipV="1">
                <a:off x="6480374" y="2301307"/>
                <a:ext cx="2717236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D2797B2-7C00-FB64-3F35-4B733C60B4BC}"/>
                  </a:ext>
                </a:extLst>
              </p:cNvPr>
              <p:cNvCxnSpPr>
                <a:cxnSpLocks/>
                <a:stCxn id="68" idx="1"/>
              </p:cNvCxnSpPr>
              <p:nvPr/>
            </p:nvCxnSpPr>
            <p:spPr>
              <a:xfrm rot="10800000" flipH="1" flipV="1">
                <a:off x="7172960" y="2917222"/>
                <a:ext cx="842" cy="1475009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967282-0FD1-2B99-0A9F-12EB732A8BA6}"/>
                  </a:ext>
                </a:extLst>
              </p:cNvPr>
              <p:cNvSpPr txBox="1"/>
              <p:nvPr/>
            </p:nvSpPr>
            <p:spPr>
              <a:xfrm rot="10800000">
                <a:off x="5837879" y="4357524"/>
                <a:ext cx="272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C00000"/>
                    </a:solidFill>
                  </a:rPr>
                  <a:t>i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0C68269-9448-F8FA-F1B2-4684A925FF31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flipV="1">
                <a:off x="6154535" y="4512258"/>
                <a:ext cx="165595" cy="372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CF4A742-FFB2-EA95-12B9-60EED3BA4CBC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 flipV="1">
                <a:off x="6256062" y="4392230"/>
                <a:ext cx="64068" cy="12002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6708DB-8DD5-1664-B357-BD630BD0E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897620C-1260-B939-E21B-D50592354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2E4FD29-97F3-8025-A398-8E33D4BBB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B34D579-0D90-49AF-EB49-36B656F65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05426E-36B0-A234-10C7-460D1B0BA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AABA4-1527-1FDF-36E6-8CC489C5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0C5091-6592-C43E-7830-CB28A6888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2932CA7-7A48-C6E0-39CC-B82392318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D9F166-CCCC-C2E3-61BC-825383407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4DA187-A8B1-5C37-3CB8-F84175BF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74C7FF2-F223-3375-DFB5-85944DE2C6A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F7E63660-0DD0-CEC0-8FAF-7979B94659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714" r="-22857" b="-2444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BC829507-AA5C-C0B3-B29F-46A9EA5EBA49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6686F3D-53BD-B64B-E53B-5C8C11606DED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AE1717-2D77-09AF-B9F7-AFBE8B19269C}"/>
              </a:ext>
            </a:extLst>
          </p:cNvPr>
          <p:cNvCxnSpPr/>
          <p:nvPr/>
        </p:nvCxnSpPr>
        <p:spPr>
          <a:xfrm>
            <a:off x="2710866" y="4268850"/>
            <a:ext cx="86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13798B-711E-BD04-CAB9-6C762668F066}"/>
              </a:ext>
            </a:extLst>
          </p:cNvPr>
          <p:cNvSpPr txBox="1"/>
          <p:nvPr/>
        </p:nvSpPr>
        <p:spPr>
          <a:xfrm>
            <a:off x="6116245" y="1648429"/>
            <a:ext cx="2701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Dans un circuit fermé conducteur, une variation de flux magnétique entraine la formation d’un courant induit</a:t>
            </a:r>
          </a:p>
          <a:p>
            <a:pPr algn="ctr"/>
            <a:endParaRPr lang="fr-FR" sz="16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L’effet de la F.E.M induite est tel qu’il s’oppose à la variation de flux</a:t>
            </a:r>
          </a:p>
        </p:txBody>
      </p:sp>
    </p:spTree>
    <p:extLst>
      <p:ext uri="{BB962C8B-B14F-4D97-AF65-F5344CB8AC3E}">
        <p14:creationId xmlns:p14="http://schemas.microsoft.com/office/powerpoint/2010/main" val="3010136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203F-DCDD-12E1-40BC-C0D730A8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570B1D8-BB74-16EB-2892-64289F77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142FD07-64E6-E464-580A-FA09B9EA4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B56186A-F3C3-7A25-162A-EA12991E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B7617-FDB8-45D6-8EAA-EF67E85D13D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243D993-E88C-5B5E-D44F-B26EDBEE197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F9468-985A-44C8-BDEF-F74DFF87AA08}"/>
              </a:ext>
            </a:extLst>
          </p:cNvPr>
          <p:cNvSpPr txBox="1"/>
          <p:nvPr/>
        </p:nvSpPr>
        <p:spPr>
          <a:xfrm>
            <a:off x="345440" y="721360"/>
            <a:ext cx="682752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4. Architecture du micro SingleCoil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489CB-09ED-2991-34E1-D6F8CAEC6137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316F42-233E-3C36-3E70-075C105914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D1306D-FA3F-D6EC-8F4E-8867B9261745}"/>
                  </a:ext>
                </a:extLst>
              </p:cNvPr>
              <p:cNvSpPr txBox="1"/>
              <p:nvPr/>
            </p:nvSpPr>
            <p:spPr>
              <a:xfrm>
                <a:off x="6440173" y="5236219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D1306D-FA3F-D6EC-8F4E-8867B9261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173" y="5236219"/>
                <a:ext cx="1329690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colorful image of a person's figure&#10;&#10;AI-generated content may be incorrect.">
            <a:extLst>
              <a:ext uri="{FF2B5EF4-FFF2-40B4-BE49-F238E27FC236}">
                <a16:creationId xmlns:a16="http://schemas.microsoft.com/office/drawing/2014/main" id="{7D2EAD4D-0676-FCCB-2F80-18DDD24A45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" t="8853" r="2401" b="3627"/>
          <a:stretch>
            <a:fillRect/>
          </a:stretch>
        </p:blipFill>
        <p:spPr>
          <a:xfrm>
            <a:off x="345440" y="1359476"/>
            <a:ext cx="4373217" cy="4401584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FB169DC-4756-2647-DEC2-0FAE09A05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4358657" y="606157"/>
            <a:ext cx="720000" cy="59276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ree femm 4.2 software download (Windows)">
            <a:extLst>
              <a:ext uri="{FF2B5EF4-FFF2-40B4-BE49-F238E27FC236}">
                <a16:creationId xmlns:a16="http://schemas.microsoft.com/office/drawing/2014/main" id="{7B9464FC-0456-F9DF-7DDC-328552214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9992BE-DD53-5050-97B0-C5548C7A1E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>
            <a:off x="5452450" y="2164326"/>
            <a:ext cx="3441020" cy="279188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E460B4F-455F-70B8-BEC9-E4F3FA210578}"/>
              </a:ext>
            </a:extLst>
          </p:cNvPr>
          <p:cNvSpPr/>
          <p:nvPr/>
        </p:nvSpPr>
        <p:spPr>
          <a:xfrm>
            <a:off x="5305018" y="2172322"/>
            <a:ext cx="3600000" cy="72000"/>
          </a:xfrm>
          <a:prstGeom prst="rect">
            <a:avLst/>
          </a:prstGeom>
          <a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E191-2E0A-41A8-D844-9FC2EAD95EEF}"/>
              </a:ext>
            </a:extLst>
          </p:cNvPr>
          <p:cNvSpPr txBox="1"/>
          <p:nvPr/>
        </p:nvSpPr>
        <p:spPr>
          <a:xfrm>
            <a:off x="2381250" y="2936668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87B4F0-7667-1614-F661-0E2B55A7A083}"/>
              </a:ext>
            </a:extLst>
          </p:cNvPr>
          <p:cNvSpPr txBox="1"/>
          <p:nvPr/>
        </p:nvSpPr>
        <p:spPr>
          <a:xfrm>
            <a:off x="2396490" y="3952944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Arial Black" panose="020B0A0402010202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70203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F82E-31FC-569C-F715-A12FE805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0027713-1A14-ADCF-1EB7-44F0BC3E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63C213D-C1A7-E785-4D52-F5D2BDCA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E6DA4B-21E4-EF20-2D85-B54BD376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CCF7BA-78DF-C865-CE3E-1012AFEDFCB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81A58F4-E0F1-C08F-AA23-ECAC47BAD33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21FBD-DF28-19BE-1ABD-AB49FBE1FF6E}"/>
              </a:ext>
            </a:extLst>
          </p:cNvPr>
          <p:cNvSpPr txBox="1"/>
          <p:nvPr/>
        </p:nvSpPr>
        <p:spPr>
          <a:xfrm>
            <a:off x="345440" y="721360"/>
            <a:ext cx="682752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4. Architecture du micro Humbucker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95C85-EE62-318D-3E46-D911D5058D2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F266A6-00C5-92E4-F027-0104E6F114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BDA5A8-7889-D010-7F52-770E7E854901}"/>
                  </a:ext>
                </a:extLst>
              </p:cNvPr>
              <p:cNvSpPr txBox="1"/>
              <p:nvPr/>
            </p:nvSpPr>
            <p:spPr>
              <a:xfrm>
                <a:off x="6754518" y="5097278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BDA5A8-7889-D010-7F52-770E7E854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18" y="5097278"/>
                <a:ext cx="1329690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ree femm 4.2 software download (Windows)">
            <a:extLst>
              <a:ext uri="{FF2B5EF4-FFF2-40B4-BE49-F238E27FC236}">
                <a16:creationId xmlns:a16="http://schemas.microsoft.com/office/drawing/2014/main" id="{35F5D6CB-7847-62D7-A9DA-0C33A2392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ue and yellow graphic of a beam&#10;&#10;AI-generated content may be incorrect.">
            <a:extLst>
              <a:ext uri="{FF2B5EF4-FFF2-40B4-BE49-F238E27FC236}">
                <a16:creationId xmlns:a16="http://schemas.microsoft.com/office/drawing/2014/main" id="{1B9F4EB4-3A12-19DE-1414-86731117B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1" t="3983" r="6896" b="1499"/>
          <a:stretch>
            <a:fillRect/>
          </a:stretch>
        </p:blipFill>
        <p:spPr>
          <a:xfrm>
            <a:off x="345440" y="1350084"/>
            <a:ext cx="5318310" cy="4157832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F5162EA-F359-83EC-F22B-9C4BFDA13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4572000" y="616942"/>
            <a:ext cx="720000" cy="5781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016E24-88DB-777F-B5A4-963FE8D57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370" t="27687" r="14237" b="24239"/>
          <a:stretch>
            <a:fillRect/>
          </a:stretch>
        </p:blipFill>
        <p:spPr>
          <a:xfrm>
            <a:off x="5741689" y="2797946"/>
            <a:ext cx="3367309" cy="23016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814FBA4-BAF4-BD20-65A1-AFAE5EE8EC82}"/>
              </a:ext>
            </a:extLst>
          </p:cNvPr>
          <p:cNvSpPr/>
          <p:nvPr/>
        </p:nvSpPr>
        <p:spPr>
          <a:xfrm>
            <a:off x="5979363" y="2679908"/>
            <a:ext cx="2880000" cy="72000"/>
          </a:xfrm>
          <a:prstGeom prst="rect">
            <a:avLst/>
          </a:prstGeom>
          <a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3E33C-B3CA-C217-7F03-D4AEFBC165C6}"/>
              </a:ext>
            </a:extLst>
          </p:cNvPr>
          <p:cNvSpPr txBox="1"/>
          <p:nvPr/>
        </p:nvSpPr>
        <p:spPr>
          <a:xfrm>
            <a:off x="1821180" y="2967408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E4B30-52EA-6509-CEF5-8403656C9B14}"/>
              </a:ext>
            </a:extLst>
          </p:cNvPr>
          <p:cNvSpPr txBox="1"/>
          <p:nvPr/>
        </p:nvSpPr>
        <p:spPr>
          <a:xfrm>
            <a:off x="1832610" y="3785937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A8239-C96F-D33E-10AC-3FAC5A069651}"/>
              </a:ext>
            </a:extLst>
          </p:cNvPr>
          <p:cNvSpPr txBox="1"/>
          <p:nvPr/>
        </p:nvSpPr>
        <p:spPr>
          <a:xfrm>
            <a:off x="3802380" y="2998857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530E6-0416-2EBB-8B77-2143CC3DAE7B}"/>
              </a:ext>
            </a:extLst>
          </p:cNvPr>
          <p:cNvSpPr txBox="1"/>
          <p:nvPr/>
        </p:nvSpPr>
        <p:spPr>
          <a:xfrm>
            <a:off x="3779520" y="3824681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  <a:latin typeface="Arial Black" panose="020B0A040201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59348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2B99003-69ED-29F2-2154-EF399E28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C932B8A-C6B9-4095-13C6-EE908352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630691B-0CB2-5EB8-C15E-7B7CC27F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35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29F9A-04DF-6D44-BE37-517D9275BA9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00D7958-9538-AA0F-07AD-58D3D9A6A30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5.1 Modèle Théorique : Notations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/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200" b="1" dirty="0"/>
                  <a:t>Paramètres des micros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F.E.M. induite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Humbucker</a:t>
                </a:r>
                <a:endParaRPr lang="fr-FR" sz="12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Gradient du champ magnétique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Positions respectives des deux bobinages du </a:t>
                </a:r>
                <a:r>
                  <a:rPr lang="fr-FR" sz="1200" i="1" dirty="0"/>
                  <a:t>Humbucker</a:t>
                </a:r>
                <a:r>
                  <a:rPr lang="fr-FR" sz="1200" dirty="0"/>
                  <a:t>.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Modélisation de la corde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2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Longueur vibrante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fondamentale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initiale de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de la source d’excitation 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Analyse du signal et performance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Humbucker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1200" dirty="0"/>
                  <a:t>: Bande passante à -3dB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théorique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dirty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expérimental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fr-FR" sz="1200" dirty="0"/>
                  <a:t> : Ecart à la théorie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Dispositif expérimental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200" dirty="0"/>
                  <a:t>: Champ magnétique au centre du système de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 par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Rayon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Resistance et Inductance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champ magnétique généré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: Gradient du champ parasite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Constantes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: Perméabilité du vide</a:t>
                </a:r>
              </a:p>
              <a:p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2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083A4E-2E4A-99E1-8563-6734096B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36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5.2 Modèle Théorique : Micro SingleCoil </a:t>
            </a:r>
            <a:r>
              <a:rPr lang="fr-FR" sz="1000" i="1" dirty="0"/>
              <a:t>cf. [4]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blipFill>
                <a:blip r:embed="rId2"/>
                <a:stretch>
                  <a:fillRect t="-120" r="-888" b="-19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blipFill>
                <a:blip r:embed="rId3"/>
                <a:stretch>
                  <a:fillRect t="-231" b="-88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B259E3C-965D-2431-C9F5-3AB1F9C1D2C2}"/>
              </a:ext>
            </a:extLst>
          </p:cNvPr>
          <p:cNvGrpSpPr/>
          <p:nvPr/>
        </p:nvGrpSpPr>
        <p:grpSpPr>
          <a:xfrm>
            <a:off x="3501390" y="2752725"/>
            <a:ext cx="1157854" cy="676275"/>
            <a:chOff x="3501390" y="2752725"/>
            <a:chExt cx="1157854" cy="6762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B36DA9-ED7C-EC02-93A6-63AC824984B7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F95B142-67A4-A817-F539-9E5FF0838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7D0EC3-584D-8431-D1DA-D93C4A505153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7D0EC3-584D-8431-D1DA-D93C4A5051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C26A7E-419B-52FD-9313-920A0B9EB60F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C26A7E-419B-52FD-9313-920A0B9EB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89ED87-2FFF-F523-6E2D-418DD0CAF3C0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89ED87-2FFF-F523-6E2D-418DD0CAF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B0D90AD-1569-2F6C-966E-E02113A5DBCD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B0D90AD-1569-2F6C-966E-E02113A5D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22222" r="-22222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6607-AF33-333D-A48D-AA97A021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12D3D3-39DC-2244-F3FD-49F86491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F81650-FA47-57FC-1660-8E146A13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6DDDF7F-2340-DA52-AD2C-73D63FC3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37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031C7-F8C9-3D51-FCA5-4FB45D9F8B4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C4E3F2-185F-33C0-706F-4AE175C9604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31495-1EB2-6E55-EC77-D35C50372978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5.3 Modèle Théorique : Micro Humbucker </a:t>
            </a:r>
            <a:r>
              <a:rPr lang="fr-FR" sz="1000" i="1" dirty="0"/>
              <a:t>cf. [4]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20539-7C82-3DC3-D605-71C74034FA1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EB867-7067-73B2-84AC-36D702654B12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EB867-7067-73B2-84AC-36D702654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blipFill>
                <a:blip r:embed="rId2"/>
                <a:stretch>
                  <a:fillRect t="-120" r="-888" b="-19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05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blipFill>
                <a:blip r:embed="rId3"/>
                <a:stretch>
                  <a:fillRect t="-233" b="-90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ED2B23B-FD4E-F970-C927-67D404F465DC}"/>
              </a:ext>
            </a:extLst>
          </p:cNvPr>
          <p:cNvGrpSpPr/>
          <p:nvPr/>
        </p:nvGrpSpPr>
        <p:grpSpPr>
          <a:xfrm>
            <a:off x="3501390" y="2752725"/>
            <a:ext cx="1157854" cy="676275"/>
            <a:chOff x="3501390" y="2752725"/>
            <a:chExt cx="1157854" cy="6762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7CBA275-C1FE-59FE-DA04-1639C9AE8658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2D01097-69F2-BF57-B64F-3F63F0C6C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22222" r="-22222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85433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BB62E9F-C416-8E56-1CDE-C3F6958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4D4D643-B8B6-EFC0-6384-7CE3B90F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C783EB-893F-C311-8294-9AEF8605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1EA3AD-E635-C8B5-91C8-B28A2A0C9F48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5.4 Modèle Théorique : Action d’un champ parasite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400" b="1" u="sng" dirty="0"/>
                  <a:t>Modèle du champ parasite :</a:t>
                </a:r>
                <a:endParaRPr lang="fr-FR" sz="1400" dirty="0"/>
              </a:p>
              <a:p>
                <a:r>
                  <a:rPr lang="fr-FR" sz="1400" dirty="0"/>
                  <a:t>On étudie un champ parasite d’amplitude B0, de fréquence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400" dirty="0"/>
                  <a:t> et de gradient </a:t>
                </a:r>
                <a14:m>
                  <m:oMath xmlns:m="http://schemas.openxmlformats.org/officeDocument/2006/math"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400" dirty="0"/>
                  <a:t> régie par l’équation:</a:t>
                </a:r>
              </a:p>
              <a:p>
                <a:pPr algn="ctr"/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pPr algn="ctr"/>
                <a:endParaRPr lang="fr-FR" sz="1400" dirty="0"/>
              </a:p>
              <a:p>
                <a:r>
                  <a:rPr lang="fr-FR" sz="1400" dirty="0"/>
                  <a:t>Ainsi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′)2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La FEM induite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4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400" dirty="0"/>
                  <a:t> spire est régie par la </a:t>
                </a:r>
                <a:r>
                  <a:rPr lang="fr-FR" sz="1400" u="sng" dirty="0"/>
                  <a:t>Loi d’induction de Faraday</a:t>
                </a:r>
                <a:r>
                  <a:rPr lang="fr-FR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b="1" u="sng" dirty="0"/>
                  <a:t>Pour un micro SingleCoil :</a:t>
                </a:r>
              </a:p>
              <a:p>
                <a:r>
                  <a:rPr lang="fr-FR" sz="1400" dirty="0"/>
                  <a:t>On génère alors une FEM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r>
                  <a:rPr lang="fr-FR" sz="1400" dirty="0"/>
                  <a:t>Ainsi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blipFill>
                <a:blip r:embed="rId3"/>
                <a:stretch>
                  <a:fillRect l="-444" t="-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u="sng" dirty="0"/>
                  <a:t>Pour un micro Humbucker :</a:t>
                </a:r>
              </a:p>
              <a:p>
                <a:r>
                  <a:rPr lang="fr-FR" sz="14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Le micro est composé de deux bobine à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C’est-à-dire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/>
              </a:p>
              <a:p>
                <a:r>
                  <a:rPr lang="fr-FR" sz="1400" dirty="0"/>
                  <a:t>NB 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4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 proche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En pratique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 </m:t>
                    </m:r>
                  </m:oMath>
                </a14:m>
                <a:r>
                  <a:rPr lang="fr-FR" sz="1400" dirty="0"/>
                  <a:t>mètre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D’où l’efficacité du Humbucker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blipFill>
                <a:blip r:embed="rId4"/>
                <a:stretch>
                  <a:fillRect l="-444" t="-261" b="-1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7C1C-A9E7-26DD-5A78-3FADD678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8DA6C4D-4525-E18F-9555-CAEE2FF0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6EC66-9FAC-8589-387E-B4B8FD13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F3027C7-92F3-E063-932E-3B94F56C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9A809-BAA5-C2C3-A094-88CF56D19A0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30EEE73-BB7D-C4D0-738A-79B41E9FA3C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C9C9A-6414-9E44-333A-AA367358FB3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4C63B-D2E6-7A26-7BC5-409FA36680C2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6.1 Dimensionnement de l’expérimentation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E6B13-6A5D-2DAE-9C77-B81DD77F1C63}"/>
              </a:ext>
            </a:extLst>
          </p:cNvPr>
          <p:cNvSpPr txBox="1"/>
          <p:nvPr/>
        </p:nvSpPr>
        <p:spPr>
          <a:xfrm>
            <a:off x="345440" y="1315849"/>
            <a:ext cx="520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générer et contrôler un champ magnétique parasite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/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par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Inductance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Resistance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Rayon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Perméabilité du vide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Champ magnétique au centre du système</a:t>
                </a: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blipFill>
                <a:blip r:embed="rId2"/>
                <a:stretch>
                  <a:fillRect l="-359" b="-1359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5EE7BFD-22A9-C42D-D83F-4ED3539508EB}"/>
              </a:ext>
            </a:extLst>
          </p:cNvPr>
          <p:cNvSpPr txBox="1"/>
          <p:nvPr/>
        </p:nvSpPr>
        <p:spPr>
          <a:xfrm>
            <a:off x="345439" y="4696284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on obtient la relation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/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/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/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fr-FR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blipFill>
                <a:blip r:embed="rId7"/>
                <a:stretch>
                  <a:fillRect r="-5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A20D67A-ABBB-0F42-5126-090B491D5C6A}"/>
              </a:ext>
            </a:extLst>
          </p:cNvPr>
          <p:cNvSpPr txBox="1"/>
          <p:nvPr/>
        </p:nvSpPr>
        <p:spPr>
          <a:xfrm>
            <a:off x="5956224" y="2455967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GBF délivre une tension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82485-A8DF-8912-5129-AE9F97A8E14E}"/>
              </a:ext>
            </a:extLst>
          </p:cNvPr>
          <p:cNvSpPr txBox="1"/>
          <p:nvPr/>
        </p:nvSpPr>
        <p:spPr>
          <a:xfrm>
            <a:off x="5956223" y="3269908"/>
            <a:ext cx="28205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l’intensité dans la bobine de Helmholtz</a:t>
            </a:r>
            <a:r>
              <a:rPr lang="fr-FR" dirty="0"/>
              <a:t> </a:t>
            </a:r>
            <a:r>
              <a:rPr lang="fr-FR" sz="1600" dirty="0"/>
              <a:t>est : </a:t>
            </a:r>
          </a:p>
        </p:txBody>
      </p:sp>
      <p:pic>
        <p:nvPicPr>
          <p:cNvPr id="14" name="Graphic 13" descr="Right pointing backhand index with solid fill">
            <a:extLst>
              <a:ext uri="{FF2B5EF4-FFF2-40B4-BE49-F238E27FC236}">
                <a16:creationId xmlns:a16="http://schemas.microsoft.com/office/drawing/2014/main" id="{D43490FA-7939-0BC0-E2E1-D0079CA8B2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4131" y="5317433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/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Ordre de Grandeur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blipFill>
                <a:blip r:embed="rId10"/>
                <a:stretch>
                  <a:fillRect l="-1128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obine de Helmholtz sur socle : PAM067370">
            <a:extLst>
              <a:ext uri="{FF2B5EF4-FFF2-40B4-BE49-F238E27FC236}">
                <a16:creationId xmlns:a16="http://schemas.microsoft.com/office/drawing/2014/main" id="{451DB793-FC6C-87B9-4DF0-4142BD34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24" y="575668"/>
            <a:ext cx="2649772" cy="17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869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AD9-A422-7202-0B30-0D28B5E9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D1B4FF1-9E06-8C21-3237-98056660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1FF31C7-6DE8-9F8E-C316-27342893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8E00E3-9107-F660-4465-7D796FF2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B6054-7546-BF4C-05E8-838799AD94F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889E58-42C8-3971-7404-080199592D5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322EC-5E0A-C386-1A8F-6C04DB50602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7.1 Réponse fréquentielle du micro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FDBA9-87D9-FF36-0C64-B77D97DFCB7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AFD8FB-4203-5C2E-4D6F-4259F8AF1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60247" r="6447" b="2716"/>
          <a:stretch>
            <a:fillRect/>
          </a:stretch>
        </p:blipFill>
        <p:spPr>
          <a:xfrm>
            <a:off x="4231677" y="1280495"/>
            <a:ext cx="3464559" cy="3331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204532C9-1EF7-26FA-8D12-D5A9A163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749963-8865-1816-009C-0CABB6D78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" t="3209" r="6927" b="41032"/>
          <a:stretch>
            <a:fillRect/>
          </a:stretch>
        </p:blipFill>
        <p:spPr>
          <a:xfrm>
            <a:off x="340579" y="1280495"/>
            <a:ext cx="3464560" cy="5015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raphic 3" descr="Right pointing backhand index with solid fill">
            <a:extLst>
              <a:ext uri="{FF2B5EF4-FFF2-40B4-BE49-F238E27FC236}">
                <a16:creationId xmlns:a16="http://schemas.microsoft.com/office/drawing/2014/main" id="{194DCAD5-73FD-55DA-C924-EC1909F0A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1677" y="5265172"/>
            <a:ext cx="360000" cy="3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085686-D57F-38D7-7542-740C25BAC881}"/>
              </a:ext>
            </a:extLst>
          </p:cNvPr>
          <p:cNvSpPr txBox="1"/>
          <p:nvPr/>
        </p:nvSpPr>
        <p:spPr>
          <a:xfrm>
            <a:off x="4591677" y="5278801"/>
            <a:ext cx="3245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Données récoltées avec </a:t>
            </a:r>
            <a:r>
              <a:rPr lang="fr-FR" sz="1600" dirty="0" err="1"/>
              <a:t>LTSpice</a:t>
            </a:r>
            <a:endParaRPr lang="fr-FR" sz="1600" dirty="0"/>
          </a:p>
        </p:txBody>
      </p:sp>
      <p:sp>
        <p:nvSpPr>
          <p:cNvPr id="13" name="AutoShape 2" descr="¿Qué es LTspice, para qué sirve y cómo funciona?">
            <a:extLst>
              <a:ext uri="{FF2B5EF4-FFF2-40B4-BE49-F238E27FC236}">
                <a16:creationId xmlns:a16="http://schemas.microsoft.com/office/drawing/2014/main" id="{E07F733D-9340-15B4-B245-198FB2C94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5626FB59-DD46-52CF-056C-0FB4C4D5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96" y="1620111"/>
            <a:ext cx="1005133" cy="100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095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8ED5-098F-9570-ACBB-50E36703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C2D956-F966-AEF2-A241-8A64B547C18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3846F8-18FE-7C6A-76A8-741E4FC6C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t="20008" r="8298" b="4779"/>
          <a:stretch>
            <a:fillRect/>
          </a:stretch>
        </p:blipFill>
        <p:spPr>
          <a:xfrm>
            <a:off x="438390" y="1390254"/>
            <a:ext cx="3617103" cy="4793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8F337AC-67EE-EE9F-8EEA-E34CDB74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9EDBB6-2569-8CC7-2E3A-9DBB702C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AF25C25-B363-4618-EBC2-4D4930A7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41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68E95-18D2-6289-E9EB-39FA45A05413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EC4A2D2-685C-87E5-E824-234E3CE0DD9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4904E-75D1-4B5C-FFEA-D1D58774429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7.2.1 Initialisation du programme</a:t>
            </a:r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4A83DFF8-F0FD-FA36-AC9C-376370D3A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15B571-6E75-E471-0443-E271469ED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t="3556" r="8298" b="79928"/>
          <a:stretch>
            <a:fillRect/>
          </a:stretch>
        </p:blipFill>
        <p:spPr>
          <a:xfrm>
            <a:off x="4196240" y="1386473"/>
            <a:ext cx="3617103" cy="1052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7350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3F56-6D1A-012E-0840-51E2961D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21ABD7D-7909-F7E6-327C-22C936D7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D8057DB-A890-35FD-BE54-B929F1FB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7EF5319-1BBC-6FA6-9B28-6AE4EE4E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42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A7EE6-6ED5-C3B5-06D5-DDE4D72DEFD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509A956-1EDE-8A91-05AC-6C6A89CAADF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A9CC2-F54A-74ED-EF78-C0FDAC1823F1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7.2.2 Fonctions du modèle théorique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51DC8C-2F05-DC95-710B-7ACF5BC334A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1EEB7B0D-8F85-F90D-F830-E739D70D4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AFFFBE-CB6F-21A6-282E-728B37DFD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t="5311" r="3306" b="5110"/>
          <a:stretch>
            <a:fillRect/>
          </a:stretch>
        </p:blipFill>
        <p:spPr>
          <a:xfrm>
            <a:off x="345440" y="1390254"/>
            <a:ext cx="7235687" cy="453346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59C470-13B0-9975-D958-781778B6025D}"/>
                  </a:ext>
                </a:extLst>
              </p:cNvPr>
              <p:cNvSpPr txBox="1"/>
              <p:nvPr/>
            </p:nvSpPr>
            <p:spPr>
              <a:xfrm>
                <a:off x="4859309" y="3115116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59C470-13B0-9975-D958-781778B60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309" y="3115116"/>
                <a:ext cx="2566035" cy="540533"/>
              </a:xfrm>
              <a:prstGeom prst="rect">
                <a:avLst/>
              </a:prstGeom>
              <a:blipFill>
                <a:blip r:embed="rId4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6451665-5910-D729-CFA8-47544067DF6E}"/>
              </a:ext>
            </a:extLst>
          </p:cNvPr>
          <p:cNvCxnSpPr>
            <a:cxnSpLocks/>
            <a:stCxn id="11" idx="0"/>
          </p:cNvCxnSpPr>
          <p:nvPr/>
        </p:nvCxnSpPr>
        <p:spPr>
          <a:xfrm rot="16200000" flipV="1">
            <a:off x="5395996" y="2368785"/>
            <a:ext cx="265236" cy="1227426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64F5A72-15A5-5002-01B8-114755A0140D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5374453" y="3196097"/>
            <a:ext cx="308323" cy="1227427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2AF010-ED15-BC8C-BCC5-DF5C616F7068}"/>
                  </a:ext>
                </a:extLst>
              </p:cNvPr>
              <p:cNvSpPr txBox="1"/>
              <p:nvPr/>
            </p:nvSpPr>
            <p:spPr>
              <a:xfrm>
                <a:off x="4914901" y="1659671"/>
                <a:ext cx="2566035" cy="5405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2AF010-ED15-BC8C-BCC5-DF5C616F7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01" y="1659671"/>
                <a:ext cx="2566035" cy="540533"/>
              </a:xfrm>
              <a:prstGeom prst="rect">
                <a:avLst/>
              </a:prstGeom>
              <a:blipFill>
                <a:blip r:embed="rId5"/>
                <a:stretch>
                  <a:fillRect t="-112088" b="-1582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8E1945-9155-3DB3-7037-B1602D1043D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739640" y="1929937"/>
            <a:ext cx="17526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6A5A34-8361-03F1-1615-B92B571DD60D}"/>
                  </a:ext>
                </a:extLst>
              </p:cNvPr>
              <p:cNvSpPr txBox="1"/>
              <p:nvPr/>
            </p:nvSpPr>
            <p:spPr>
              <a:xfrm>
                <a:off x="4066828" y="5106589"/>
                <a:ext cx="3358516" cy="6546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d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6A5A34-8361-03F1-1615-B92B571DD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828" y="5106589"/>
                <a:ext cx="3358516" cy="6546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59B3C6D-8A61-2DFD-BDE8-19177307F10C}"/>
              </a:ext>
            </a:extLst>
          </p:cNvPr>
          <p:cNvCxnSpPr>
            <a:cxnSpLocks/>
            <a:stCxn id="27" idx="3"/>
          </p:cNvCxnSpPr>
          <p:nvPr/>
        </p:nvCxnSpPr>
        <p:spPr>
          <a:xfrm flipH="1" flipV="1">
            <a:off x="6965722" y="4511040"/>
            <a:ext cx="459622" cy="922851"/>
          </a:xfrm>
          <a:prstGeom prst="bentConnector4">
            <a:avLst>
              <a:gd name="adj1" fmla="val -109421"/>
              <a:gd name="adj2" fmla="val 10034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158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93B7-83EF-C759-D713-7720613D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45BA8A6-C306-B9A7-E8C7-8DE21A2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7ED4F2D-A1EA-57EA-FD48-1DF15F70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4821DE5-01AE-C317-8481-DC9BB9C6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47E7-34EA-CAB2-9065-587A16AC991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BC895C5-4F1B-048E-4B6C-7E439A1B327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4B27F-1212-9E03-3094-0EE4BE422ED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7.2.3 Fonctions utiles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80B1F-EBF7-F346-714A-DE70738BCA4F}"/>
              </a:ext>
            </a:extLst>
          </p:cNvPr>
          <p:cNvSpPr/>
          <p:nvPr/>
        </p:nvSpPr>
        <p:spPr>
          <a:xfrm>
            <a:off x="345440" y="420890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BA4C4A0F-96CA-E1B3-99B7-AFE420CAC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3557C-2ED0-8EFD-9235-98BC8630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" t="4171" r="5415" b="7335"/>
          <a:stretch>
            <a:fillRect/>
          </a:stretch>
        </p:blipFill>
        <p:spPr>
          <a:xfrm>
            <a:off x="345440" y="1121470"/>
            <a:ext cx="5057030" cy="501517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4B4A61-21FB-3BA6-382D-D04369E875AE}"/>
              </a:ext>
            </a:extLst>
          </p:cNvPr>
          <p:cNvGrpSpPr/>
          <p:nvPr/>
        </p:nvGrpSpPr>
        <p:grpSpPr>
          <a:xfrm>
            <a:off x="5538464" y="1866041"/>
            <a:ext cx="3773176" cy="390000"/>
            <a:chOff x="462961" y="1234846"/>
            <a:chExt cx="3773176" cy="390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689B63-8C05-D3E6-A850-35A9891AFEAF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Lire les fichiers de données</a:t>
              </a:r>
            </a:p>
          </p:txBody>
        </p:sp>
        <p:pic>
          <p:nvPicPr>
            <p:cNvPr id="12" name="Graphic 11" descr="Right pointing backhand index with solid fill">
              <a:extLst>
                <a:ext uri="{FF2B5EF4-FFF2-40B4-BE49-F238E27FC236}">
                  <a16:creationId xmlns:a16="http://schemas.microsoft.com/office/drawing/2014/main" id="{1E217E7C-CB68-25F4-158B-5117E1F96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4C5C41-EAC8-D9C5-99A7-F3114A3F70DF}"/>
              </a:ext>
            </a:extLst>
          </p:cNvPr>
          <p:cNvGrpSpPr/>
          <p:nvPr/>
        </p:nvGrpSpPr>
        <p:grpSpPr>
          <a:xfrm>
            <a:off x="5538756" y="3818902"/>
            <a:ext cx="3773176" cy="390000"/>
            <a:chOff x="462961" y="1234846"/>
            <a:chExt cx="3773176" cy="390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D2BE30-D43A-A299-8DAD-FA4FD7BB24B6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Enregistrer des courbes</a:t>
              </a:r>
            </a:p>
          </p:txBody>
        </p:sp>
        <p:pic>
          <p:nvPicPr>
            <p:cNvPr id="15" name="Graphic 14" descr="Right pointing backhand index with solid fill">
              <a:extLst>
                <a:ext uri="{FF2B5EF4-FFF2-40B4-BE49-F238E27FC236}">
                  <a16:creationId xmlns:a16="http://schemas.microsoft.com/office/drawing/2014/main" id="{542F2087-09B0-14A9-1D2E-F88626DDB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6A6464-700D-FC5E-2BFF-7B6D2548DC70}"/>
              </a:ext>
            </a:extLst>
          </p:cNvPr>
          <p:cNvGrpSpPr/>
          <p:nvPr/>
        </p:nvGrpSpPr>
        <p:grpSpPr>
          <a:xfrm>
            <a:off x="5538756" y="5576763"/>
            <a:ext cx="3773176" cy="390000"/>
            <a:chOff x="462961" y="1234846"/>
            <a:chExt cx="3773176" cy="3900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9E0A1B-278C-C69A-F73E-79F6A8EC24AE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Normaliser les spectres</a:t>
              </a:r>
            </a:p>
          </p:txBody>
        </p:sp>
        <p:pic>
          <p:nvPicPr>
            <p:cNvPr id="19" name="Graphic 18" descr="Right pointing backhand index with solid fill">
              <a:extLst>
                <a:ext uri="{FF2B5EF4-FFF2-40B4-BE49-F238E27FC236}">
                  <a16:creationId xmlns:a16="http://schemas.microsoft.com/office/drawing/2014/main" id="{C54953FD-2FA5-AB1D-79BD-1C7E61E52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9348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8E55-0328-F4B0-A17D-BED52B53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DF0711-0040-41B4-3A89-7B4B75A9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3443A08-CB38-39EE-F965-164A8A42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4DF264-97D3-6DFC-B316-BED4DA0A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4A3F5-C7A8-271E-97D8-81B4143785ED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AC73F6F-0601-97D4-F519-6A47C21DB23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3F4DE-0227-BE4E-1565-18A6CFBEC6F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7.2.4 Calcul du modèle théorique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277FFB-8AF7-D472-BE53-8CF7BB16989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A9D7A4F6-4B6C-FEED-F754-DEB193E5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48AED5-099F-D34F-2AF3-8BC9362CC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6" t="6791" r="6952" b="6061"/>
          <a:stretch>
            <a:fillRect/>
          </a:stretch>
        </p:blipFill>
        <p:spPr>
          <a:xfrm>
            <a:off x="420982" y="1216549"/>
            <a:ext cx="4512364" cy="47469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7710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E18E-DFA5-AD92-64CD-8F15A6B0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41620D0-6239-2CC1-BCE0-CA2A27BE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6FB689-AC83-BD94-1929-F1DBF98D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32BB74E-1DC2-8EF0-178F-2374878D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45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E406F-22C3-7649-16AE-8AC16C29DEC6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DA525A0-9D68-105C-C49D-63990A85062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26590-8C71-35E8-49E9-4F811BC9CFF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7.2.5 Calcul et affichages des FFT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3D9334-81B8-14A3-6CA8-E5833BD3EEA4}"/>
              </a:ext>
            </a:extLst>
          </p:cNvPr>
          <p:cNvSpPr/>
          <p:nvPr/>
        </p:nvSpPr>
        <p:spPr>
          <a:xfrm>
            <a:off x="345440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F93D5E62-2E0F-5E65-93A5-F253C276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4AF0C6-537E-6B20-F5DF-10EB348DE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t="5070" r="6046" b="5465"/>
          <a:stretch>
            <a:fillRect/>
          </a:stretch>
        </p:blipFill>
        <p:spPr>
          <a:xfrm>
            <a:off x="347871" y="1200647"/>
            <a:ext cx="4731025" cy="47230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1483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ED92-A1AA-6697-2E70-5C51D1F5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F18D14F-51CA-5C96-A864-DE3C18FD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0986B93-385B-899F-8705-22FD215E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831DBE4-7E7E-1EC9-D91C-337D4ED2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4DE755-DBCA-E4FF-E4AF-02D38DF125B3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4FEFFEB-8768-5E46-43F4-FB0EAB30C3A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EC40F-996F-C57F-87E7-2830A4FA6506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7.2.6 Enregistrements des courbes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409239-756B-F1DC-3238-68546D8884B5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81CB7D3F-A693-40F0-90A3-133C6C715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4C0BDD-0950-1C96-9E1F-B436E55AD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" t="7203" r="4143" b="7943"/>
          <a:stretch>
            <a:fillRect/>
          </a:stretch>
        </p:blipFill>
        <p:spPr>
          <a:xfrm>
            <a:off x="345440" y="1390254"/>
            <a:ext cx="7696863" cy="4223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2828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4027</Words>
  <Application>Microsoft Office PowerPoint</Application>
  <PresentationFormat>On-screen Show (4:3)</PresentationFormat>
  <Paragraphs>846</Paragraphs>
  <Slides>46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580</cp:revision>
  <dcterms:created xsi:type="dcterms:W3CDTF">2025-06-09T15:35:56Z</dcterms:created>
  <dcterms:modified xsi:type="dcterms:W3CDTF">2025-12-16T19:30:24Z</dcterms:modified>
</cp:coreProperties>
</file>