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5"/>
  </p:notesMasterIdLst>
  <p:sldIdLst>
    <p:sldId id="256" r:id="rId2"/>
    <p:sldId id="340" r:id="rId3"/>
    <p:sldId id="338" r:id="rId4"/>
    <p:sldId id="339" r:id="rId5"/>
    <p:sldId id="335" r:id="rId6"/>
    <p:sldId id="337" r:id="rId7"/>
    <p:sldId id="336" r:id="rId8"/>
    <p:sldId id="265" r:id="rId9"/>
    <p:sldId id="357" r:id="rId10"/>
    <p:sldId id="363" r:id="rId11"/>
    <p:sldId id="356" r:id="rId12"/>
    <p:sldId id="345" r:id="rId13"/>
    <p:sldId id="346" r:id="rId14"/>
    <p:sldId id="360" r:id="rId15"/>
    <p:sldId id="362" r:id="rId16"/>
    <p:sldId id="353" r:id="rId17"/>
    <p:sldId id="329" r:id="rId18"/>
    <p:sldId id="327" r:id="rId19"/>
    <p:sldId id="354" r:id="rId20"/>
    <p:sldId id="367" r:id="rId21"/>
    <p:sldId id="333" r:id="rId22"/>
    <p:sldId id="361" r:id="rId23"/>
    <p:sldId id="324" r:id="rId24"/>
    <p:sldId id="313" r:id="rId25"/>
    <p:sldId id="364" r:id="rId26"/>
    <p:sldId id="318" r:id="rId27"/>
    <p:sldId id="344" r:id="rId28"/>
    <p:sldId id="330" r:id="rId29"/>
    <p:sldId id="303" r:id="rId30"/>
    <p:sldId id="271" r:id="rId31"/>
    <p:sldId id="302" r:id="rId32"/>
    <p:sldId id="272" r:id="rId33"/>
    <p:sldId id="341" r:id="rId34"/>
    <p:sldId id="342" r:id="rId35"/>
    <p:sldId id="348" r:id="rId36"/>
    <p:sldId id="277" r:id="rId37"/>
    <p:sldId id="304" r:id="rId38"/>
    <p:sldId id="305" r:id="rId39"/>
    <p:sldId id="368" r:id="rId40"/>
    <p:sldId id="370" r:id="rId41"/>
    <p:sldId id="369" r:id="rId42"/>
    <p:sldId id="311" r:id="rId43"/>
    <p:sldId id="365" r:id="rId4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91" autoAdjust="0"/>
    <p:restoredTop sz="95975" autoAdjust="0"/>
  </p:normalViewPr>
  <p:slideViewPr>
    <p:cSldViewPr snapToGrid="0">
      <p:cViewPr>
        <p:scale>
          <a:sx n="100" d="100"/>
          <a:sy n="100" d="100"/>
        </p:scale>
        <p:origin x="1085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02/02/2026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E3F19-FC15-FF58-F6DC-6A5CB966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94F60-8385-2E11-EAD0-9A2DE7129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9070F-D77F-D61D-1636-7AA560F64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7FC55-50FC-C09A-3D98-7BA145570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028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396C-81FC-C1A3-17F0-F112BED8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18F11-382F-385B-12A6-4B7B99E0D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2EB1B-59C2-7389-62B7-63390A136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176B5-6D2B-0164-2020-A63E86B3C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4845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26850-C3D8-4967-E994-01E39D0BE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C4ACC-CC35-5895-5BAC-0D53DBA829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04066-1246-1CA3-2E85-6F8B1FE69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FB24B-053C-5A82-E979-432DD32C2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7134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7C0D-D66C-7F3D-FAED-AFE188222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B221F-871F-8F86-6340-589A3C0AA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7F321-BC45-B1F1-22AA-BF52BDD2B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1F916-CFC9-023A-0880-6A57AB2A9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18475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microsoft.com/office/2007/relationships/hdphoto" Target="../media/hdphoto2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microsoft.com/office/2007/relationships/hdphoto" Target="../media/hdphoto3.wdp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18" Type="http://schemas.openxmlformats.org/officeDocument/2006/relationships/image" Target="../media/image15.png"/><Relationship Id="rId3" Type="http://schemas.openxmlformats.org/officeDocument/2006/relationships/image" Target="../media/image35.jpeg"/><Relationship Id="rId7" Type="http://schemas.openxmlformats.org/officeDocument/2006/relationships/image" Target="../media/image342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2.png"/><Relationship Id="rId11" Type="http://schemas.openxmlformats.org/officeDocument/2006/relationships/image" Target="../media/image38.png"/><Relationship Id="rId5" Type="http://schemas.openxmlformats.org/officeDocument/2006/relationships/image" Target="../media/image36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16.png"/><Relationship Id="rId4" Type="http://schemas.openxmlformats.org/officeDocument/2006/relationships/image" Target="../media/image311.png"/><Relationship Id="rId9" Type="http://schemas.openxmlformats.org/officeDocument/2006/relationships/image" Target="../media/image360.png"/><Relationship Id="rId1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18" Type="http://schemas.openxmlformats.org/officeDocument/2006/relationships/image" Target="../media/image16.png"/><Relationship Id="rId3" Type="http://schemas.openxmlformats.org/officeDocument/2006/relationships/image" Target="../media/image35.jpeg"/><Relationship Id="rId21" Type="http://schemas.microsoft.com/office/2007/relationships/hdphoto" Target="../media/hdphoto2.wdp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7.png"/><Relationship Id="rId20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23" Type="http://schemas.openxmlformats.org/officeDocument/2006/relationships/image" Target="../media/image60.png"/><Relationship Id="rId10" Type="http://schemas.openxmlformats.org/officeDocument/2006/relationships/image" Target="../media/image51.png"/><Relationship Id="rId19" Type="http://schemas.openxmlformats.org/officeDocument/2006/relationships/image" Target="../media/image58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Relationship Id="rId22" Type="http://schemas.openxmlformats.org/officeDocument/2006/relationships/image" Target="../media/image5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270.png"/><Relationship Id="rId4" Type="http://schemas.openxmlformats.org/officeDocument/2006/relationships/image" Target="../media/image46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image" Target="../media/image30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331.png"/><Relationship Id="rId4" Type="http://schemas.openxmlformats.org/officeDocument/2006/relationships/image" Target="../media/image6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64.png"/><Relationship Id="rId7" Type="http://schemas.openxmlformats.org/officeDocument/2006/relationships/image" Target="../media/image340.png"/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5.wdp"/><Relationship Id="rId5" Type="http://schemas.openxmlformats.org/officeDocument/2006/relationships/image" Target="../media/image65.png"/><Relationship Id="rId4" Type="http://schemas.openxmlformats.org/officeDocument/2006/relationships/image" Target="../media/image32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1.png"/><Relationship Id="rId3" Type="http://schemas.openxmlformats.org/officeDocument/2006/relationships/image" Target="../media/image66.png"/><Relationship Id="rId7" Type="http://schemas.openxmlformats.org/officeDocument/2006/relationships/image" Target="../media/image4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5" Type="http://schemas.openxmlformats.org/officeDocument/2006/relationships/image" Target="../media/image67.png"/><Relationship Id="rId10" Type="http://schemas.openxmlformats.org/officeDocument/2006/relationships/image" Target="../media/image401.png"/><Relationship Id="rId4" Type="http://schemas.openxmlformats.org/officeDocument/2006/relationships/image" Target="../media/image35.jpeg"/><Relationship Id="rId9" Type="http://schemas.openxmlformats.org/officeDocument/2006/relationships/image" Target="../media/image44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35.jpeg"/><Relationship Id="rId7" Type="http://schemas.openxmlformats.org/officeDocument/2006/relationships/image" Target="../media/image442.png"/><Relationship Id="rId12" Type="http://schemas.openxmlformats.org/officeDocument/2006/relationships/image" Target="../media/image4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11" Type="http://schemas.openxmlformats.org/officeDocument/2006/relationships/image" Target="../media/image450.png"/><Relationship Id="rId5" Type="http://schemas.openxmlformats.org/officeDocument/2006/relationships/image" Target="../media/image420.png"/><Relationship Id="rId10" Type="http://schemas.openxmlformats.org/officeDocument/2006/relationships/image" Target="../media/image441.png"/><Relationship Id="rId4" Type="http://schemas.openxmlformats.org/officeDocument/2006/relationships/image" Target="../media/image410.png"/><Relationship Id="rId9" Type="http://schemas.openxmlformats.org/officeDocument/2006/relationships/image" Target="../media/image6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92.png"/><Relationship Id="rId7" Type="http://schemas.openxmlformats.org/officeDocument/2006/relationships/image" Target="../media/image22.png"/><Relationship Id="rId12" Type="http://schemas.openxmlformats.org/officeDocument/2006/relationships/image" Target="../media/image50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microsoft.com/office/2007/relationships/hdphoto" Target="../media/hdphoto6.wdp"/><Relationship Id="rId11" Type="http://schemas.openxmlformats.org/officeDocument/2006/relationships/image" Target="../media/image491.png"/><Relationship Id="rId5" Type="http://schemas.openxmlformats.org/officeDocument/2006/relationships/image" Target="../media/image71.png"/><Relationship Id="rId10" Type="http://schemas.openxmlformats.org/officeDocument/2006/relationships/image" Target="../media/image72.png"/><Relationship Id="rId4" Type="http://schemas.openxmlformats.org/officeDocument/2006/relationships/image" Target="../media/image35.jpeg"/><Relationship Id="rId9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.png"/><Relationship Id="rId3" Type="http://schemas.openxmlformats.org/officeDocument/2006/relationships/image" Target="../media/image521.png"/><Relationship Id="rId7" Type="http://schemas.openxmlformats.org/officeDocument/2006/relationships/image" Target="../media/image73.png"/><Relationship Id="rId12" Type="http://schemas.openxmlformats.org/officeDocument/2006/relationships/image" Target="../media/image81.png"/><Relationship Id="rId2" Type="http://schemas.openxmlformats.org/officeDocument/2006/relationships/image" Target="../media/image74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0.png"/><Relationship Id="rId5" Type="http://schemas.openxmlformats.org/officeDocument/2006/relationships/image" Target="../media/image18.png"/><Relationship Id="rId15" Type="http://schemas.openxmlformats.org/officeDocument/2006/relationships/image" Target="../media/image520.png"/><Relationship Id="rId10" Type="http://schemas.openxmlformats.org/officeDocument/2006/relationships/image" Target="../media/image79.png"/><Relationship Id="rId4" Type="http://schemas.openxmlformats.org/officeDocument/2006/relationships/image" Target="../media/image76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5.jpeg"/><Relationship Id="rId4" Type="http://schemas.openxmlformats.org/officeDocument/2006/relationships/image" Target="../media/image67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5" Type="http://schemas.openxmlformats.org/officeDocument/2006/relationships/image" Target="../media/image84.png"/><Relationship Id="rId4" Type="http://schemas.openxmlformats.org/officeDocument/2006/relationships/image" Target="../media/image35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jpeg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0.png"/><Relationship Id="rId5" Type="http://schemas.openxmlformats.org/officeDocument/2006/relationships/image" Target="../media/image90.png"/><Relationship Id="rId4" Type="http://schemas.openxmlformats.org/officeDocument/2006/relationships/image" Target="../media/image35.jpe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50.png"/><Relationship Id="rId7" Type="http://schemas.openxmlformats.org/officeDocument/2006/relationships/image" Target="../media/image92.svg"/><Relationship Id="rId12" Type="http://schemas.openxmlformats.org/officeDocument/2006/relationships/image" Target="../media/image9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11" Type="http://schemas.openxmlformats.org/officeDocument/2006/relationships/image" Target="../media/image93.png"/><Relationship Id="rId5" Type="http://schemas.openxmlformats.org/officeDocument/2006/relationships/image" Target="../media/image89.svg"/><Relationship Id="rId10" Type="http://schemas.openxmlformats.org/officeDocument/2006/relationships/image" Target="../media/image72.png"/><Relationship Id="rId4" Type="http://schemas.openxmlformats.org/officeDocument/2006/relationships/image" Target="../media/image88.png"/><Relationship Id="rId9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jpg"/><Relationship Id="rId3" Type="http://schemas.openxmlformats.org/officeDocument/2006/relationships/image" Target="../media/image97.png"/><Relationship Id="rId7" Type="http://schemas.microsoft.com/office/2007/relationships/hdphoto" Target="../media/hdphoto1.wdp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Relationship Id="rId9" Type="http://schemas.openxmlformats.org/officeDocument/2006/relationships/hyperlink" Target="https://pixabay.com/en/steel-brushed-metal-metallic-499897/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jpg"/><Relationship Id="rId3" Type="http://schemas.openxmlformats.org/officeDocument/2006/relationships/image" Target="../media/image19.png"/><Relationship Id="rId7" Type="http://schemas.microsoft.com/office/2007/relationships/hdphoto" Target="../media/hdphoto1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16.png"/><Relationship Id="rId4" Type="http://schemas.openxmlformats.org/officeDocument/2006/relationships/image" Target="../media/image99.png"/><Relationship Id="rId9" Type="http://schemas.openxmlformats.org/officeDocument/2006/relationships/hyperlink" Target="https://pixabay.com/en/steel-brushed-metal-metallic-499897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8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0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2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0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0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5.png"/><Relationship Id="rId7" Type="http://schemas.openxmlformats.org/officeDocument/2006/relationships/image" Target="../media/image110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10" Type="http://schemas.openxmlformats.org/officeDocument/2006/relationships/image" Target="../media/image113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030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75.jpeg"/><Relationship Id="rId10" Type="http://schemas.openxmlformats.org/officeDocument/2006/relationships/image" Target="../media/image330.png"/><Relationship Id="rId9" Type="http://schemas.openxmlformats.org/officeDocument/2006/relationships/image" Target="../media/image116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0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z="1050" b="1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F643E5-0F2B-2FE2-DE0E-F9374C232A5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5423282"/>
              </p:ext>
            </p:extLst>
          </p:nvPr>
        </p:nvGraphicFramePr>
        <p:xfrm>
          <a:off x="622219" y="18620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9926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50400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50347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391B9131-EB23-2B12-2B61-FA9315644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6A58F24-9212-A31F-655A-74C609D63B8A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375457-0E9C-DB85-2DE0-B08ED03CF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11099-0B67-D045-8865-09C50052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2321691-D7BF-2AF8-8675-49BED2CEB0A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2EF41A-60DC-66CC-75A8-537EEA90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A4F1CE-3A04-B681-3406-915026EC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C50ED2-D5FA-AD40-3121-5CBF693E87A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 descr="Guitar Pickup Market By Region">
            <a:extLst>
              <a:ext uri="{FF2B5EF4-FFF2-40B4-BE49-F238E27FC236}">
                <a16:creationId xmlns:a16="http://schemas.microsoft.com/office/drawing/2014/main" id="{802ACDBF-FDCB-8D8E-2413-1C229B6DD7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1" t="1" r="88" b="1662"/>
          <a:stretch>
            <a:fillRect/>
          </a:stretch>
        </p:blipFill>
        <p:spPr>
          <a:xfrm>
            <a:off x="330200" y="1423280"/>
            <a:ext cx="8498627" cy="4696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EA63F4-D860-8504-87A9-107CE6582E3C}"/>
              </a:ext>
            </a:extLst>
          </p:cNvPr>
          <p:cNvSpPr txBox="1"/>
          <p:nvPr/>
        </p:nvSpPr>
        <p:spPr>
          <a:xfrm>
            <a:off x="1323304" y="511519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4A505B-E6DB-0F7F-FEDB-9A1443F4EE9B}"/>
              </a:ext>
            </a:extLst>
          </p:cNvPr>
          <p:cNvSpPr txBox="1"/>
          <p:nvPr/>
        </p:nvSpPr>
        <p:spPr>
          <a:xfrm>
            <a:off x="4427184" y="34290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18.0%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D4FE6-684A-FDAD-A1EA-A9D7B890968F}"/>
              </a:ext>
            </a:extLst>
          </p:cNvPr>
          <p:cNvSpPr txBox="1"/>
          <p:nvPr/>
        </p:nvSpPr>
        <p:spPr>
          <a:xfrm>
            <a:off x="5935944" y="297002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B78AF9-E908-446E-FF2D-427E7C3A2F17}"/>
              </a:ext>
            </a:extLst>
          </p:cNvPr>
          <p:cNvSpPr txBox="1"/>
          <p:nvPr/>
        </p:nvSpPr>
        <p:spPr>
          <a:xfrm>
            <a:off x="7483800" y="2662851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9.0%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3982E51-6C2B-8ACF-880A-415E94B20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285" y="5785023"/>
            <a:ext cx="766733" cy="54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849ACA9-163C-6215-6E51-42DBC5316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697" y="5785023"/>
            <a:ext cx="766313" cy="540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51FAA9A-7462-BE8B-460B-EFCB9367AD19}"/>
              </a:ext>
            </a:extLst>
          </p:cNvPr>
          <p:cNvSpPr txBox="1"/>
          <p:nvPr/>
        </p:nvSpPr>
        <p:spPr>
          <a:xfrm>
            <a:off x="2874194" y="415263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36.1%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56E6BC-8C92-4F8C-9491-222C5A36E7EF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9BCEE5-5183-DB97-9218-02677D2D77D7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A6B31C-A895-9DAD-8403-22D5A4842858}"/>
              </a:ext>
            </a:extLst>
          </p:cNvPr>
          <p:cNvSpPr/>
          <p:nvPr/>
        </p:nvSpPr>
        <p:spPr>
          <a:xfrm>
            <a:off x="1119987" y="3792511"/>
            <a:ext cx="2627554" cy="179670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E6B642-B609-22B2-66C3-744C7C6DC071}"/>
              </a:ext>
            </a:extLst>
          </p:cNvPr>
          <p:cNvSpPr txBox="1"/>
          <p:nvPr/>
        </p:nvSpPr>
        <p:spPr>
          <a:xfrm>
            <a:off x="1985724" y="3452852"/>
            <a:ext cx="785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60%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5191606-F356-18B8-7060-5FE25908E2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FC971E0-D12E-C9B4-706F-439E03FA4C8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ooter Placeholder 2">
              <a:extLst>
                <a:ext uri="{FF2B5EF4-FFF2-40B4-BE49-F238E27FC236}">
                  <a16:creationId xmlns:a16="http://schemas.microsoft.com/office/drawing/2014/main" id="{B0F71C06-FC89-064C-08DC-160CF4F89C3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12D79C-69CE-1C6D-6D4B-69E550DB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56004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EE4635-0063-BDB8-5C00-81533E5D3062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0EE9C1D9-D262-11D0-9BC5-9F3CCB213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22C74A-2D39-290A-3B7E-9289C14E27F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7BDCDD4D-4B66-2C58-F3EC-5C0B5C1B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B0877C8-3F34-D58C-1038-34894EB0E4EB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C075A36E-F98A-813D-84C4-58FB63CA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571" y="2055421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094F3D5-9355-C183-0051-5A525B2FEB0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Problématique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E15C5062-7476-D32D-8882-11E83F153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CC728-A276-BD6F-B1A1-73D1F90E0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2BE61F3-98BD-710E-BAED-39EA2E834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FC78A4-5A40-488E-CAD5-2FB8ECCA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09688F-5B12-79E1-1E86-6709835E8D4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A2C485-C6DF-E159-7051-CC67CB6B749A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235FAC-1816-2621-D75E-ECE249D01798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2763671F-376D-3A28-FE6B-4D527CEABA44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A19E74E8-8FB5-3724-59F5-5D59E0C74A59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56314C5-F5BB-C6BA-D1FF-CCE8FD3852E7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8F56ED56-D806-9650-B8AC-2417D1AB08F7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9BF26410-CFAB-C09E-4325-65476E831000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9936EE64-0BBC-4292-5B15-126AC522E309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CCE01AA-96DD-BE87-8097-D101B7604EC9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7E489F27-484A-D27F-1D09-DEAEDDE4544F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5D3EFC3-19DA-B7F0-5821-F800B0919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3FC628C-84DD-BA1D-CD14-6F12A0D08967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21FBF65-C5F9-2536-099D-BF9856442B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F4CCE26-EFBA-2D5B-D6E7-1338F478E5DF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BCB7869-9EAF-0B66-27C0-ECC3479448D1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C91FEDC-6488-8B24-0B65-4758A6F64531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65A87B68-C1FB-FD05-00C6-048368A43A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6C1D0F5-3350-CA8C-9635-45B135D991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BFE2619-898B-BCA8-665C-4FA487B52AA8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E4E79733-7519-9D1B-CACF-29E1516176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0985173-BCAA-706B-CF53-65F6293BA17D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Filtrage Interne des micros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B068F1F-6B40-C837-A4CF-4DF09C222333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2561626-2C98-09F1-0E0B-471B36884DB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B0B4E057-5976-E51F-1FE8-B8FF1C1F4F4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C1C3D24C-A82B-568A-7EF8-53F39B8B0C62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9A8CB3-AEC5-4C1A-1777-B554650A865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98CEA6-4380-542D-75AA-71E77BDC1D9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2724399-3584-9C0A-D693-3FB61CB1046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D026D54C-7693-74F3-E8C5-95115B38A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069943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7623" y="59108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4234905" y="5052548"/>
                <a:ext cx="4654783" cy="68807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905" y="5052548"/>
                <a:ext cx="4654783" cy="68807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407430" y="5783476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A94FD46-4DBB-7AE8-02E4-2E08C2E8913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9" name="Arrow: Notched Right 28">
              <a:extLst>
                <a:ext uri="{FF2B5EF4-FFF2-40B4-BE49-F238E27FC236}">
                  <a16:creationId xmlns:a16="http://schemas.microsoft.com/office/drawing/2014/main" id="{30A4728F-D819-2CDE-E57D-393578E9C0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0" name="Arrow: Notched Right 29">
              <a:extLst>
                <a:ext uri="{FF2B5EF4-FFF2-40B4-BE49-F238E27FC236}">
                  <a16:creationId xmlns:a16="http://schemas.microsoft.com/office/drawing/2014/main" id="{AA1DC1C9-D3A2-7904-9F92-B08B357C886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7" name="Arrow: Notched Right 36">
              <a:extLst>
                <a:ext uri="{FF2B5EF4-FFF2-40B4-BE49-F238E27FC236}">
                  <a16:creationId xmlns:a16="http://schemas.microsoft.com/office/drawing/2014/main" id="{5CA1BD4F-D0AB-2830-EE36-AC49BF65B3D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 par la vibration de la corde</a:t>
                </a:r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de la bobine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en CC du micro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interne du micro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due aux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3" y="1110401"/>
                <a:ext cx="2878491" cy="496061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4248829" y="1363393"/>
            <a:ext cx="4626939" cy="3600000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6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248828" y="4675115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B61DF536-AB20-09C4-4CD2-C37677694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C0E1E9-9630-1795-4D01-63EDE489C412}"/>
              </a:ext>
            </a:extLst>
          </p:cNvPr>
          <p:cNvSpPr/>
          <p:nvPr/>
        </p:nvSpPr>
        <p:spPr>
          <a:xfrm>
            <a:off x="6453713" y="1358001"/>
            <a:ext cx="2485046" cy="4758929"/>
          </a:xfrm>
          <a:prstGeom prst="rect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Protocole</a:t>
            </a:r>
          </a:p>
          <a:p>
            <a:endParaRPr lang="fr-FR" sz="1600" b="1" dirty="0">
              <a:solidFill>
                <a:schemeClr val="tx1"/>
              </a:solidFill>
            </a:endParaRPr>
          </a:p>
          <a:p>
            <a:r>
              <a:rPr lang="fr-FR" sz="1600" b="1" u="sng" dirty="0">
                <a:solidFill>
                  <a:schemeClr val="tx1"/>
                </a:solidFill>
              </a:rPr>
              <a:t>Objectif :</a:t>
            </a:r>
          </a:p>
          <a:p>
            <a:r>
              <a:rPr lang="fr-FR" sz="1600" dirty="0">
                <a:solidFill>
                  <a:schemeClr val="tx1"/>
                </a:solidFill>
              </a:rPr>
              <a:t>Déterminer l’impédance du micro en fonction de la fréquence</a:t>
            </a:r>
          </a:p>
          <a:p>
            <a:endParaRPr lang="fr-FR" sz="1600" b="1" u="sng" dirty="0">
              <a:solidFill>
                <a:schemeClr val="tx1"/>
              </a:solidFill>
            </a:endParaRPr>
          </a:p>
          <a:p>
            <a:r>
              <a:rPr lang="fr-FR" sz="1600" b="1" u="sng" dirty="0">
                <a:solidFill>
                  <a:schemeClr val="tx1"/>
                </a:solidFill>
              </a:rPr>
              <a:t>Méthode :</a:t>
            </a:r>
          </a:p>
          <a:p>
            <a:r>
              <a:rPr lang="fr-FR" sz="1600" dirty="0">
                <a:solidFill>
                  <a:schemeClr val="tx1"/>
                </a:solidFill>
              </a:rPr>
              <a:t>Pont diviseur de tension</a:t>
            </a:r>
          </a:p>
          <a:p>
            <a:endParaRPr lang="fr-FR" sz="1600" dirty="0">
              <a:solidFill>
                <a:schemeClr val="tx1"/>
              </a:solidFill>
            </a:endParaRPr>
          </a:p>
          <a:p>
            <a:endParaRPr lang="fr-FR" sz="1600" dirty="0">
              <a:solidFill>
                <a:schemeClr val="tx1"/>
              </a:solidFill>
            </a:endParaRPr>
          </a:p>
          <a:p>
            <a:pPr/>
            <a:endParaRPr lang="fr-FR" sz="1600" b="0" i="1" dirty="0">
              <a:solidFill>
                <a:schemeClr val="tx1"/>
              </a:solidFill>
              <a:latin typeface="Cambria Math" panose="02040503050406030204" pitchFamily="18" charset="0"/>
            </a:endParaRPr>
          </a:p>
          <a:p>
            <a:endParaRPr lang="fr-FR" sz="1600" b="0" i="1" dirty="0">
              <a:solidFill>
                <a:schemeClr val="tx1"/>
              </a:solidFill>
              <a:latin typeface="Cambria Math" panose="02040503050406030204" pitchFamily="18" charset="0"/>
            </a:endParaRP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0F540E-DE24-A629-17F9-FED8C4C38554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5A8F708-C88A-E8E8-FD69-804BC786E135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6F727A3E-660E-F523-F72F-6F1015FC2AF1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80194B9F-39BB-A656-F85A-D39BF0002FB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139A8F48-9A36-D977-2F7B-3EA1EF4F2B7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301DC408-888A-6405-0042-8A6DE09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4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5613" b="5641"/>
          <a:stretch>
            <a:fillRect/>
          </a:stretch>
        </p:blipFill>
        <p:spPr>
          <a:xfrm>
            <a:off x="1045291" y="1313654"/>
            <a:ext cx="5286067" cy="3634009"/>
          </a:xfrm>
          <a:prstGeom prst="rect">
            <a:avLst/>
          </a:prstGeom>
          <a:effectLst>
            <a:softEdge rad="31750"/>
          </a:effec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40AE3B0-3622-A0A7-43DB-F941CD823C60}"/>
                  </a:ext>
                </a:extLst>
              </p:cNvPr>
              <p:cNvSpPr txBox="1"/>
              <p:nvPr/>
            </p:nvSpPr>
            <p:spPr>
              <a:xfrm>
                <a:off x="1045291" y="5264931"/>
                <a:ext cx="5286067" cy="4916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800" b="0" dirty="0">
                    <a:solidFill>
                      <a:schemeClr val="tx1"/>
                    </a:solidFill>
                  </a:rPr>
                  <a:t>On a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fr-FR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m:rPr>
                            <m:sty m:val="p"/>
                          </m:rPr>
                          <a:rPr lang="fr-F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den>
                    </m:f>
                    <m:sSub>
                      <m:sSubPr>
                        <m:ctrlPr>
                          <a:rPr lang="fr-F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GBF</m:t>
                        </m:r>
                      </m:sub>
                    </m:sSub>
                  </m:oMath>
                </a14:m>
                <a:r>
                  <a:rPr lang="fr-FR" dirty="0"/>
                  <a:t>  d’où :  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fr-F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 = 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GBF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den>
                    </m:f>
                    <m:r>
                      <a:rPr lang="fr-FR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40AE3B0-3622-A0A7-43DB-F941CD823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91" y="5264931"/>
                <a:ext cx="5286067" cy="491673"/>
              </a:xfrm>
              <a:prstGeom prst="rect">
                <a:avLst/>
              </a:prstGeom>
              <a:blipFill>
                <a:blip r:embed="rId4"/>
                <a:stretch>
                  <a:fillRect l="-922" b="-75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A723D10F-DC3E-0502-B8F8-4D38F5670C0A}"/>
              </a:ext>
            </a:extLst>
          </p:cNvPr>
          <p:cNvGrpSpPr/>
          <p:nvPr/>
        </p:nvGrpSpPr>
        <p:grpSpPr>
          <a:xfrm>
            <a:off x="6542865" y="3679700"/>
            <a:ext cx="2319661" cy="2383821"/>
            <a:chOff x="6497896" y="3679700"/>
            <a:chExt cx="1608308" cy="238382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BA87804-E793-D915-5A30-57C6AEB52B60}"/>
                </a:ext>
              </a:extLst>
            </p:cNvPr>
            <p:cNvGrpSpPr/>
            <p:nvPr/>
          </p:nvGrpSpPr>
          <p:grpSpPr>
            <a:xfrm>
              <a:off x="6497896" y="3679700"/>
              <a:ext cx="1608308" cy="2383821"/>
              <a:chOff x="6497896" y="3679700"/>
              <a:chExt cx="1608308" cy="2383821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1514A741-CB88-186A-C4B1-6DCE3856F2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6306" t="10463" r="4185" b="8803"/>
              <a:stretch>
                <a:fillRect/>
              </a:stretch>
            </p:blipFill>
            <p:spPr>
              <a:xfrm>
                <a:off x="6497896" y="3679700"/>
                <a:ext cx="1608308" cy="2383821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442F70-CCD4-8D46-B6DE-910E10217EA2}"/>
                  </a:ext>
                </a:extLst>
              </p:cNvPr>
              <p:cNvSpPr/>
              <p:nvPr/>
            </p:nvSpPr>
            <p:spPr>
              <a:xfrm>
                <a:off x="7432839" y="4056920"/>
                <a:ext cx="337279" cy="54615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7671E79-08BE-83DE-FA73-714A8E9F71DE}"/>
                </a:ext>
              </a:extLst>
            </p:cNvPr>
            <p:cNvGrpSpPr/>
            <p:nvPr/>
          </p:nvGrpSpPr>
          <p:grpSpPr>
            <a:xfrm>
              <a:off x="6928661" y="4756793"/>
              <a:ext cx="368691" cy="333760"/>
              <a:chOff x="6928661" y="4756793"/>
              <a:chExt cx="368691" cy="333760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D7D492C5-9B73-C6CA-041A-FE1E349AD3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43869" y="4756793"/>
                <a:ext cx="0" cy="333760"/>
              </a:xfrm>
              <a:prstGeom prst="straightConnector1">
                <a:avLst/>
              </a:prstGeom>
              <a:ln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F415487-9BB7-B80B-8283-C78CB2FEBF88}"/>
                      </a:ext>
                    </a:extLst>
                  </p:cNvPr>
                  <p:cNvSpPr txBox="1"/>
                  <p:nvPr/>
                </p:nvSpPr>
                <p:spPr>
                  <a:xfrm>
                    <a:off x="6928661" y="4831340"/>
                    <a:ext cx="36869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  <m:t>GBF</m:t>
                              </m:r>
                            </m:sub>
                          </m:sSub>
                        </m:oMath>
                      </m:oMathPara>
                    </a14:m>
                    <a:endParaRPr lang="fr-FR" sz="12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F415487-9BB7-B80B-8283-C78CB2FEBF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28661" y="4831340"/>
                    <a:ext cx="368691" cy="18466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666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EA8C134-BA8E-CC3F-12D8-CF0F721FA6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55402" y="5313463"/>
              <a:ext cx="0" cy="33376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CAE14E7-0E0B-1399-EDCF-F1EE790AA363}"/>
                    </a:ext>
                  </a:extLst>
                </p:cNvPr>
                <p:cNvSpPr txBox="1"/>
                <p:nvPr/>
              </p:nvSpPr>
              <p:spPr>
                <a:xfrm>
                  <a:off x="7297352" y="5388010"/>
                  <a:ext cx="14266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CAE14E7-0E0B-1399-EDCF-F1EE790AA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7352" y="5388010"/>
                  <a:ext cx="142668" cy="184666"/>
                </a:xfrm>
                <a:prstGeom prst="rect">
                  <a:avLst/>
                </a:prstGeom>
                <a:blipFill>
                  <a:blip r:embed="rId8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166DF18A-1892-5FE0-EB86-11E4337FC251}"/>
              </a:ext>
            </a:extLst>
          </p:cNvPr>
          <p:cNvSpPr txBox="1"/>
          <p:nvPr/>
        </p:nvSpPr>
        <p:spPr>
          <a:xfrm>
            <a:off x="8293068" y="4105798"/>
            <a:ext cx="7015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Arial Black" panose="020B0A04020102020204" pitchFamily="34" charset="0"/>
              </a:rPr>
              <a:t>MICRO</a:t>
            </a:r>
          </a:p>
        </p:txBody>
      </p: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une algorithme d’apprentissage IA : </a:t>
                </a:r>
                <a:r>
                  <a:rPr lang="fr-FR" sz="1400" dirty="0"/>
                  <a:t>Levenberg-Marquardt</a:t>
                </a: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542" y="1396728"/>
                <a:ext cx="2878491" cy="2283357"/>
              </a:xfrm>
              <a:prstGeom prst="rect">
                <a:avLst/>
              </a:prstGeom>
              <a:blipFill>
                <a:blip r:embed="rId4"/>
                <a:stretch>
                  <a:fillRect b="-262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6727"/>
            <a:ext cx="4914598" cy="456553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FADA63D2-9CEB-AC0C-9B82-8E7C4C1BAC6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24A28D03-1ACA-522A-A681-60E488EBA85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5285111C-3E06-E8E3-A492-DF582EA0CFE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5550AEA-7ED9-4550-941F-B72882F9AA5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6122541" y="3781186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587028"/>
              </p:ext>
            </p:extLst>
          </p:nvPr>
        </p:nvGraphicFramePr>
        <p:xfrm>
          <a:off x="6178279" y="4052869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647" y="4467161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54" t="-2222" r="-10769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8008" y="4830320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r="-14286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0859" y="5200274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6481" r="-12037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8279" y="5570228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185" t="-2041" r="-10370" b="-2857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/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8" y="4467161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756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/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788" y="4472812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/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877" y="4833071"/>
                <a:ext cx="496931" cy="276999"/>
              </a:xfrm>
              <a:prstGeom prst="rect">
                <a:avLst/>
              </a:prstGeom>
              <a:blipFill>
                <a:blip r:embed="rId12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/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0921" y="5195680"/>
                <a:ext cx="448841" cy="276999"/>
              </a:xfrm>
              <a:prstGeom prst="rect">
                <a:avLst/>
              </a:prstGeom>
              <a:blipFill>
                <a:blip r:embed="rId13"/>
                <a:stretch>
                  <a:fillRect l="-10811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/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755" y="5589569"/>
                <a:ext cx="625171" cy="276999"/>
              </a:xfrm>
              <a:prstGeom prst="rect">
                <a:avLst/>
              </a:prstGeom>
              <a:blipFill>
                <a:blip r:embed="rId14"/>
                <a:stretch>
                  <a:fillRect l="-7843" r="-8824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/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291" y="4830319"/>
                <a:ext cx="496931" cy="276999"/>
              </a:xfrm>
              <a:prstGeom prst="rect">
                <a:avLst/>
              </a:prstGeom>
              <a:blipFill>
                <a:blip r:embed="rId15"/>
                <a:stretch>
                  <a:fillRect l="-8537" r="-1097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/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743" y="5219114"/>
                <a:ext cx="448841" cy="276999"/>
              </a:xfrm>
              <a:prstGeom prst="rect">
                <a:avLst/>
              </a:prstGeom>
              <a:blipFill>
                <a:blip r:embed="rId16"/>
                <a:stretch>
                  <a:fillRect l="-12162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/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5577" y="5570228"/>
                <a:ext cx="625171" cy="276999"/>
              </a:xfrm>
              <a:prstGeom prst="rect">
                <a:avLst/>
              </a:prstGeom>
              <a:blipFill>
                <a:blip r:embed="rId17"/>
                <a:stretch>
                  <a:fillRect l="-7843" r="-8824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4857" y="4044999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673" y="4052869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Footer Placeholder 2">
            <a:extLst>
              <a:ext uri="{FF2B5EF4-FFF2-40B4-BE49-F238E27FC236}">
                <a16:creationId xmlns:a16="http://schemas.microsoft.com/office/drawing/2014/main" id="{96AD9D58-FAFC-CBE8-A6DF-0867908DA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ED3A24-B808-74F2-AB89-A325641DFC77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4A41E5-50B4-42D4-6FA7-4B417CDD4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6947833-463C-EB44-5963-1AAF0DF2BF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8894"/>
            <a:ext cx="4914598" cy="471803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D058C2-FA86-0CE6-1F22-D2B6A9ECC44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8C53F9-674F-FF39-483E-2E6227463819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AE58B520-3693-5E48-EE97-B4496C1641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A4289A1-CA60-8011-FF10-2CC8FFE5C50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AECCBDC-2C2E-5B2B-D57B-60DF42C617A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CC04EFB-BC59-E67C-009B-150F73FBDE59}"/>
              </a:ext>
            </a:extLst>
          </p:cNvPr>
          <p:cNvSpPr/>
          <p:nvPr/>
        </p:nvSpPr>
        <p:spPr>
          <a:xfrm>
            <a:off x="6118311" y="2773418"/>
            <a:ext cx="2878490" cy="218107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5960CFE0-2431-2CD5-946C-A5785058E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8636384"/>
              </p:ext>
            </p:extLst>
          </p:nvPr>
        </p:nvGraphicFramePr>
        <p:xfrm>
          <a:off x="6174049" y="3045101"/>
          <a:ext cx="2767013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90575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88219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/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412B6D7-1E3E-57B9-337F-D57EADCA0A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6417" y="3459393"/>
                <a:ext cx="797654" cy="276999"/>
              </a:xfrm>
              <a:prstGeom prst="rect">
                <a:avLst/>
              </a:prstGeom>
              <a:blipFill>
                <a:blip r:embed="rId5"/>
                <a:stretch>
                  <a:fillRect l="-6107" r="-9924" b="-3913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/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9C4BEDD-6682-EA1A-43CC-C0ABE7C74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3778" y="3822552"/>
                <a:ext cx="557845" cy="276999"/>
              </a:xfrm>
              <a:prstGeom prst="rect">
                <a:avLst/>
              </a:prstGeom>
              <a:blipFill>
                <a:blip r:embed="rId6"/>
                <a:stretch>
                  <a:fillRect l="-7609" r="-14130" b="-4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/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2CA6CE8-E25D-CC70-B264-EE5AEC8DA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629" y="4192506"/>
                <a:ext cx="657231" cy="276999"/>
              </a:xfrm>
              <a:prstGeom prst="rect">
                <a:avLst/>
              </a:prstGeom>
              <a:blipFill>
                <a:blip r:embed="rId7"/>
                <a:stretch>
                  <a:fillRect l="-6481" t="-2222" r="-12037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/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25541A-2E15-AD10-E20F-AF2B19E7E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049" y="4562460"/>
                <a:ext cx="821700" cy="301686"/>
              </a:xfrm>
              <a:prstGeom prst="rect">
                <a:avLst/>
              </a:prstGeom>
              <a:blipFill>
                <a:blip r:embed="rId8"/>
                <a:stretch>
                  <a:fillRect l="-5926" r="-9630" b="-28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/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BBAAB8C-252C-39D5-5BFE-38CD949D6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8" y="3459393"/>
                <a:ext cx="496931" cy="276999"/>
              </a:xfrm>
              <a:prstGeom prst="rect">
                <a:avLst/>
              </a:prstGeom>
              <a:blipFill>
                <a:blip r:embed="rId9"/>
                <a:stretch>
                  <a:fillRect l="-9877" r="-111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/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4788BD5-0AEC-1875-65D0-53FC4942D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7558" y="3465044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877" r="-1234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/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593BC6E-B896-2C54-1FD2-24CD9F02A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2647" y="3825303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9877" r="-1234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/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24B8E28-0B95-6151-7B45-4FCFBE573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6691" y="4187912"/>
                <a:ext cx="448841" cy="276999"/>
              </a:xfrm>
              <a:prstGeom prst="rect">
                <a:avLst/>
              </a:prstGeom>
              <a:blipFill>
                <a:blip r:embed="rId12"/>
                <a:stretch>
                  <a:fillRect l="-12329" r="-10959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/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7FEF32A-67B8-C195-383B-DB932F01A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525" y="4581801"/>
                <a:ext cx="625171" cy="276999"/>
              </a:xfrm>
              <a:prstGeom prst="rect">
                <a:avLst/>
              </a:prstGeom>
              <a:blipFill>
                <a:blip r:embed="rId13"/>
                <a:stretch>
                  <a:fillRect l="-7767" r="-8738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/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BFF2795-457B-5ABF-75CA-1E1436DE8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2061" y="3822551"/>
                <a:ext cx="496931" cy="276999"/>
              </a:xfrm>
              <a:prstGeom prst="rect">
                <a:avLst/>
              </a:prstGeom>
              <a:blipFill>
                <a:blip r:embed="rId14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/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5576D12-ED88-3B66-1344-0D67B1015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9513" y="4211346"/>
                <a:ext cx="448841" cy="276999"/>
              </a:xfrm>
              <a:prstGeom prst="rect">
                <a:avLst/>
              </a:prstGeom>
              <a:blipFill>
                <a:blip r:embed="rId15"/>
                <a:stretch>
                  <a:fillRect l="-12329" r="-12329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/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8A60CC-9B9A-2D88-BFD8-B52003BE7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347" y="4562460"/>
                <a:ext cx="625171" cy="276999"/>
              </a:xfrm>
              <a:prstGeom prst="rect">
                <a:avLst/>
              </a:prstGeom>
              <a:blipFill>
                <a:blip r:embed="rId16"/>
                <a:stretch>
                  <a:fillRect l="-6796" r="-8738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2" name="Picture 51">
            <a:extLst>
              <a:ext uri="{FF2B5EF4-FFF2-40B4-BE49-F238E27FC236}">
                <a16:creationId xmlns:a16="http://schemas.microsoft.com/office/drawing/2014/main" id="{41BA7F39-FF36-ADD9-D90E-ED1319EA22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240627" y="3037231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2">
            <a:extLst>
              <a:ext uri="{FF2B5EF4-FFF2-40B4-BE49-F238E27FC236}">
                <a16:creationId xmlns:a16="http://schemas.microsoft.com/office/drawing/2014/main" id="{DD724051-C6CF-FBC1-FEDE-204BEB2A4E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79443" y="3045101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312" y="5125921"/>
                <a:ext cx="2878489" cy="10012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E7C2BCAC-574B-57EB-E52C-8270D11EE01C}"/>
              </a:ext>
            </a:extLst>
          </p:cNvPr>
          <p:cNvGrpSpPr/>
          <p:nvPr/>
        </p:nvGrpSpPr>
        <p:grpSpPr>
          <a:xfrm>
            <a:off x="6118311" y="1381675"/>
            <a:ext cx="2878490" cy="1270807"/>
            <a:chOff x="1054904" y="1200155"/>
            <a:chExt cx="4927617" cy="3601072"/>
          </a:xfrm>
        </p:grpSpPr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D705EA26-1D4C-7DDB-DC00-9789B1B1199D}"/>
                </a:ext>
              </a:extLst>
            </p:cNvPr>
            <p:cNvPicPr>
              <a:picLocks/>
            </p:cNvPicPr>
            <p:nvPr/>
          </p:nvPicPr>
          <p:blipFill>
            <a:blip r:embed="rId20"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54904" y="1200155"/>
              <a:ext cx="4927617" cy="36010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05BA284-9FE3-C2E0-4B18-C347D0056B73}"/>
                </a:ext>
              </a:extLst>
            </p:cNvPr>
            <p:cNvSpPr/>
            <p:nvPr/>
          </p:nvSpPr>
          <p:spPr>
            <a:xfrm>
              <a:off x="1486014" y="210415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AC686AB-67CB-AD1B-5341-694E42F381F6}"/>
                </a:ext>
              </a:extLst>
            </p:cNvPr>
            <p:cNvSpPr/>
            <p:nvPr/>
          </p:nvSpPr>
          <p:spPr>
            <a:xfrm>
              <a:off x="2555070" y="303342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C983CA8-983B-4B0A-8691-58F7971A6BC8}"/>
                </a:ext>
              </a:extLst>
            </p:cNvPr>
            <p:cNvSpPr/>
            <p:nvPr/>
          </p:nvSpPr>
          <p:spPr>
            <a:xfrm>
              <a:off x="3715970" y="3073533"/>
              <a:ext cx="703406" cy="24014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60BBA2B-D46B-CAB2-C1AA-BFC085A668A6}"/>
                </a:ext>
              </a:extLst>
            </p:cNvPr>
            <p:cNvSpPr/>
            <p:nvPr/>
          </p:nvSpPr>
          <p:spPr>
            <a:xfrm>
              <a:off x="5397029" y="3091033"/>
              <a:ext cx="527521" cy="20117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95ECC14-3541-0557-7429-A355B09A0F80}"/>
                </a:ext>
              </a:extLst>
            </p:cNvPr>
            <p:cNvSpPr/>
            <p:nvPr/>
          </p:nvSpPr>
          <p:spPr>
            <a:xfrm>
              <a:off x="1468417" y="3119201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37E2390-42D5-25B6-5177-FDCED4D0DE9B}"/>
              </a:ext>
            </a:extLst>
          </p:cNvPr>
          <p:cNvCxnSpPr>
            <a:cxnSpLocks/>
          </p:cNvCxnSpPr>
          <p:nvPr/>
        </p:nvCxnSpPr>
        <p:spPr>
          <a:xfrm flipV="1">
            <a:off x="6539033" y="2291482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/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164DB8A1-BD5A-2EF2-6776-71288B2195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061" y="2305020"/>
                <a:ext cx="316562" cy="184666"/>
              </a:xfrm>
              <a:prstGeom prst="rect">
                <a:avLst/>
              </a:prstGeom>
              <a:blipFill>
                <a:blip r:embed="rId22"/>
                <a:stretch>
                  <a:fillRect l="-5769" r="-15385" b="-4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C1E2BAB-5645-112B-4E77-DFC5F72D1FA8}"/>
              </a:ext>
            </a:extLst>
          </p:cNvPr>
          <p:cNvCxnSpPr>
            <a:cxnSpLocks/>
          </p:cNvCxnSpPr>
          <p:nvPr/>
        </p:nvCxnSpPr>
        <p:spPr>
          <a:xfrm flipV="1">
            <a:off x="8405132" y="1913713"/>
            <a:ext cx="0" cy="20624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/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70DB5AF-B81B-2CBE-83D8-43B104627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8560" y="1928668"/>
                <a:ext cx="321178" cy="184666"/>
              </a:xfrm>
              <a:prstGeom prst="rect">
                <a:avLst/>
              </a:prstGeom>
              <a:blipFill>
                <a:blip r:embed="rId23"/>
                <a:stretch>
                  <a:fillRect l="-3774" r="-15094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2">
            <a:extLst>
              <a:ext uri="{FF2B5EF4-FFF2-40B4-BE49-F238E27FC236}">
                <a16:creationId xmlns:a16="http://schemas.microsoft.com/office/drawing/2014/main" id="{12FCA72B-A395-406E-8C4A-C20084E75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A3249BC-8CE7-CDA3-3B94-E7F3EF3B59FC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De l’onde à la F.E.M.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D396C41-374B-1D09-9629-C60E3A9CCA8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10A645F3-7664-0F4D-13A2-E50C5ECC87A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5DA8B901-57E6-DDC6-CEAD-D65243DA96B0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88D84FF5-0693-73B8-1733-F1DA5CB3FCD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EE3A26E4-93FB-9F10-6EB6-2D1E5A8A7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911BEFF-6FB0-C592-5173-789210A75215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60510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1131099" y="2817570"/>
            <a:ext cx="3842591" cy="3253445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4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F.E.M. dans le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Gradient du champ B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1" y="4577744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5E23B1E-D22B-C1C3-211C-4098B0633DE8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13998A97-F2D5-B1C0-C170-A264D774C08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74C26BD-0BEA-AB24-5A09-47BB79EA0F5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46F2E6FF-603E-8503-4C70-916C21ACE0F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32302FE-C087-438E-ED4E-ACC60AFC9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513E-37CC-0777-9DD6-ED38E2EFD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79778B6-4640-3777-106C-B2E81C72F006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5B422C-332E-F0F8-A11E-5F71F437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3E3C6F8-227B-9DAC-05A8-6050A1DB6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B049565-EA1F-D493-3653-16E2BD0D20A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/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200" dirty="0"/>
              </a:p>
              <a:p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>
            <a:extLst>
              <a:ext uri="{FF2B5EF4-FFF2-40B4-BE49-F238E27FC236}">
                <a16:creationId xmlns:a16="http://schemas.microsoft.com/office/drawing/2014/main" id="{1CB52F20-067F-B398-1BBC-A12EBFC85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7" b="3027"/>
          <a:stretch/>
        </p:blipFill>
        <p:spPr bwMode="auto">
          <a:xfrm>
            <a:off x="8040987" y="639069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6CF2F2-A7C7-F1BD-72F6-03BF835FF9D8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/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4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F.E.M. dans le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</m:oMath>
                </a14:m>
                <a:r>
                  <a:rPr lang="fr-FR" sz="1400" dirty="0"/>
                  <a:t>: Nombre de spire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Fréquence fondamentale de la corde</a:t>
                </a: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F964D86-6E5C-B2D0-40FE-435125A796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C7690E-626C-C246-8037-6F9AE911FA0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2D16F32C-8EDC-0178-A964-793FB5A4F52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F2B37B6-0884-6BE6-7801-976136CE96E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A36492CC-C5EA-1EA4-CE62-515629578CB6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1F22D463-47F8-956A-3F2F-CF897649A0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4435989"/>
            <a:ext cx="3680460" cy="154154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3FBE7F5A-3536-7CF0-14B1-DE357590CC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70C852B-1950-4746-3FBA-D747D6BA222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F3B8F8D4-1699-00FC-51A7-889678BE648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6BAFEDEF-AAE4-6C4C-924E-1CC92F88C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15111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1151432" y="1287780"/>
            <a:ext cx="6551579" cy="4759218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612100" y="5049938"/>
                <a:ext cx="373862" cy="47017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6057887" y="4658298"/>
                <a:ext cx="598922" cy="30896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nector: Elbow 10">
                <a:extLst>
                  <a:ext uri="{FF2B5EF4-FFF2-40B4-BE49-F238E27FC236}">
                    <a16:creationId xmlns:a16="http://schemas.microsoft.com/office/drawing/2014/main" id="{750B4731-EC69-1E7A-E492-1FDDC929851E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V="1">
                <a:off x="2472509" y="4042296"/>
                <a:ext cx="920269" cy="992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658" y="3370548"/>
              <a:ext cx="3080036" cy="13434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9780" y="5781295"/>
            <a:ext cx="52501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/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Excitation de la corde ‘’à la main’’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Relevé de la tension aux bornes la résistance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𝑎𝑚𝑝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985EE0D-F2B6-D1EF-898E-9DF666DFB442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3E68A-A65C-A12E-753D-45B38F124E8F}"/>
              </a:ext>
            </a:extLst>
          </p:cNvPr>
          <p:cNvSpPr/>
          <p:nvPr/>
        </p:nvSpPr>
        <p:spPr>
          <a:xfrm rot="16200000">
            <a:off x="6269362" y="4195744"/>
            <a:ext cx="1312065" cy="45719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7392EF7-E69A-FBBE-FF61-674BDCF2226A}"/>
              </a:ext>
            </a:extLst>
          </p:cNvPr>
          <p:cNvGrpSpPr/>
          <p:nvPr/>
        </p:nvGrpSpPr>
        <p:grpSpPr>
          <a:xfrm>
            <a:off x="7114959" y="3562570"/>
            <a:ext cx="1800921" cy="1110504"/>
            <a:chOff x="7133777" y="3809995"/>
            <a:chExt cx="1683780" cy="76146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AD72CAD-7612-3CF0-D4E3-C46A4DFF0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89763" y="3876498"/>
              <a:ext cx="827794" cy="69011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AD20C-FA20-6811-A6D9-40C43C57256C}"/>
                </a:ext>
              </a:extLst>
            </p:cNvPr>
            <p:cNvSpPr/>
            <p:nvPr/>
          </p:nvSpPr>
          <p:spPr>
            <a:xfrm>
              <a:off x="7133777" y="3881349"/>
              <a:ext cx="179882" cy="690115"/>
            </a:xfrm>
            <a:prstGeom prst="rect">
              <a:avLst/>
            </a:prstGeom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BA47D6C8-36D4-44AD-CA04-1DB90FF0D34A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 rot="10800000" flipV="1">
              <a:off x="7223719" y="4453242"/>
              <a:ext cx="935397" cy="118221"/>
            </a:xfrm>
            <a:prstGeom prst="bentConnector4">
              <a:avLst>
                <a:gd name="adj1" fmla="val 388"/>
                <a:gd name="adj2" fmla="val 293367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7D855CD3-8716-F3D8-180F-1F7F063076E1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 rot="10800000" flipV="1">
              <a:off x="7223718" y="3809995"/>
              <a:ext cx="925872" cy="71353"/>
            </a:xfrm>
            <a:prstGeom prst="bentConnector2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00744D9-C28C-C8A8-7738-98A2945790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9590" y="3810000"/>
              <a:ext cx="0" cy="18557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6ECB0DE-2F92-E777-710D-46FE392347D3}"/>
                </a:ext>
              </a:extLst>
            </p:cNvPr>
            <p:cNvSpPr txBox="1"/>
            <p:nvPr/>
          </p:nvSpPr>
          <p:spPr>
            <a:xfrm>
              <a:off x="7215489" y="3860089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Micro</a:t>
              </a:r>
              <a:endParaRPr lang="fr-FR" b="1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9AF6A25-32DF-F6FA-62E8-D619AC7C340C}"/>
              </a:ext>
            </a:extLst>
          </p:cNvPr>
          <p:cNvSpPr txBox="1"/>
          <p:nvPr/>
        </p:nvSpPr>
        <p:spPr>
          <a:xfrm>
            <a:off x="6429026" y="3345405"/>
            <a:ext cx="607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Corde</a:t>
            </a:r>
            <a:endParaRPr lang="fr-FR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47045F-3CC6-9ECE-B003-4ABC5359256F}"/>
              </a:ext>
            </a:extLst>
          </p:cNvPr>
          <p:cNvCxnSpPr/>
          <p:nvPr/>
        </p:nvCxnSpPr>
        <p:spPr>
          <a:xfrm flipV="1">
            <a:off x="7388051" y="3926343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/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blipFill>
                <a:blip r:embed="rId7"/>
                <a:stretch>
                  <a:fillRect l="-5769" t="-3333" r="-15385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05B622C-2AE6-B718-55A0-799064579779}"/>
              </a:ext>
            </a:extLst>
          </p:cNvPr>
          <p:cNvCxnSpPr/>
          <p:nvPr/>
        </p:nvCxnSpPr>
        <p:spPr>
          <a:xfrm flipV="1">
            <a:off x="8030496" y="3899852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/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blipFill>
                <a:blip r:embed="rId8"/>
                <a:stretch>
                  <a:fillRect l="-5882" r="-17647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B333434C-E0AE-A015-4682-6A3CFAF2B69C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4D9BA6C9-1419-8CAD-9538-E0AAD8477086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3CEF1F90-C8C9-EFDD-5E04-01202774DB7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A1EEDE2E-FA18-CE7E-30C9-727188A7B46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686A051F-9DAE-A8C6-000C-F8E486C0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29D7D0E-393F-2A3A-6785-4CD09BB5482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132C6C4-7726-1D99-BBAE-1A107256985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D0399C1C-C0CB-8BC1-D1D5-3734F40CD9A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FAF5280-3AA5-1B44-8C3A-87275694BB13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B1D48AA-71C9-A7F8-0D24-E665B883315B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C97CD50-58E7-6748-6E75-9521AA7B384B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738A9CC1-944D-D4F5-87AE-D807BB4F22F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F1D0898C-70A4-CB34-3467-AA35C697B953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D15E045-16DB-F511-190B-24133BD08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BF31-E821-6728-8E36-B1099664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4B0B741-545A-D68A-8952-4EDCE703A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AE67E7-325B-A442-4AC4-87E82005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0354A-5BAE-D59C-011E-94CD7A8C139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8A4BA533-9059-7C5E-704B-0229E461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CBD1878-4ECE-5A45-5102-8635728F222F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D6E9F1-5F99-B827-FBC9-5EAE06A91D90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31FA3D01-767B-F75B-D388-668D594FB1EA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75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9FB2D9-16CB-E2B5-AF61-0D4CF37873D8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64775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0C13F47-2FA4-AEFE-6475-709019BC670A}"/>
              </a:ext>
            </a:extLst>
          </p:cNvPr>
          <p:cNvGrpSpPr/>
          <p:nvPr/>
        </p:nvGrpSpPr>
        <p:grpSpPr>
          <a:xfrm>
            <a:off x="1719505" y="4456316"/>
            <a:ext cx="355600" cy="375297"/>
            <a:chOff x="1276060" y="5077968"/>
            <a:chExt cx="355600" cy="375297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2246581-1E3F-C376-EE9B-51D8410EA4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3EE4536-26B1-2B40-D8BF-7685C5D4CC1B}"/>
              </a:ext>
            </a:extLst>
          </p:cNvPr>
          <p:cNvGrpSpPr/>
          <p:nvPr/>
        </p:nvGrpSpPr>
        <p:grpSpPr>
          <a:xfrm>
            <a:off x="5643538" y="4457719"/>
            <a:ext cx="355600" cy="375297"/>
            <a:chOff x="1276060" y="5077968"/>
            <a:chExt cx="355600" cy="375297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B9F7230-A85C-CFE7-3A4C-A4E31E0D10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F260DF8-7C16-C630-753B-924737FB9F3C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95FE662-20B9-FDA7-5421-DC6F8E322DAA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3419AE0F-2DB3-15FB-A87C-192FEF9F5519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14A0456A-81E2-9AB1-5784-BCA96F0A441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2AE978F8-610B-DDB8-4A40-4F47868BD78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BABE2FC-67BF-42FF-6590-B6CCC3747F5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783FCE0-7361-8B86-C2D4-845368F74E2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Footer Placeholder 2">
              <a:extLst>
                <a:ext uri="{FF2B5EF4-FFF2-40B4-BE49-F238E27FC236}">
                  <a16:creationId xmlns:a16="http://schemas.microsoft.com/office/drawing/2014/main" id="{0730AE4D-952C-BC66-3EC8-221522D8D50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7F19667C-A37B-B1F1-50F4-E9FECA43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271429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EEB36B-EEE7-63AD-1052-BA146B18C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A5A48B76-A6CD-19C7-74B2-E06DEF701A27}"/>
              </a:ext>
            </a:extLst>
          </p:cNvPr>
          <p:cNvSpPr txBox="1"/>
          <p:nvPr/>
        </p:nvSpPr>
        <p:spPr>
          <a:xfrm>
            <a:off x="1054904" y="451564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3F3EB-D479-9A6F-A19E-59AB047F3EBF}"/>
              </a:ext>
            </a:extLst>
          </p:cNvPr>
          <p:cNvSpPr txBox="1"/>
          <p:nvPr/>
        </p:nvSpPr>
        <p:spPr>
          <a:xfrm>
            <a:off x="4966872" y="453561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B37EA2-7557-EB46-3122-779BC075F9D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28799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55C68E-0D1F-AA84-54C4-642507483F2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28799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BF73783-841E-F7A1-178A-9885A488D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1F75714-D4DD-EF69-3314-DA25BB526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C7279A-6E1C-E599-41B1-1C5420B5694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C65AE9B5-E6E0-28F8-8BF8-AF682AD5D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3931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935E-1413-D3CD-45F9-6BC6ACC700A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B282290-DB22-4D59-CE2B-2021E4E3C227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4F03A7F7-9D75-9978-46BA-C2C3D64E9314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A8394F4D-4346-5727-81CF-705EE75C4B7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0DF1F93D-9A82-4609-192C-2E1CFB6F46D1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/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numCol="2"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</a:t>
                </a:r>
                <a:r>
                  <a:rPr lang="fr-FR" sz="1600" b="1" dirty="0">
                    <a:solidFill>
                      <a:schemeClr val="tx1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Vibration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Hypothèse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blipFill>
                <a:blip r:embed="rId6"/>
                <a:stretch>
                  <a:fillRect l="-158" b="-873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EC7F2364-F43F-0BBD-A1ED-163426380F3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1951B74-B20D-2F4D-76C0-45E7023951D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2219366-967F-9594-9E79-B307AA90BF9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2" name="Footer Placeholder 2">
            <a:extLst>
              <a:ext uri="{FF2B5EF4-FFF2-40B4-BE49-F238E27FC236}">
                <a16:creationId xmlns:a16="http://schemas.microsoft.com/office/drawing/2014/main" id="{3A461584-4726-30CC-E862-31940DE7B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3434659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6114891" y="2389099"/>
            <a:ext cx="2721663" cy="3573164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solidFill>
                <a:schemeClr val="accent4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100686" y="2976560"/>
              <a:ext cx="2593244" cy="1059640"/>
              <a:chOff x="6082122" y="3612551"/>
              <a:chExt cx="2593242" cy="1010417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0547-D387-B897-E456-A805D590BB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0253"/>
            <a:ext cx="4914598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6E397FF-C015-EFB0-8B23-1CAD33D41E2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025DD0-215E-234D-A6A2-1FD5805F9C02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31" name="Arrow: Notched Right 30">
              <a:extLst>
                <a:ext uri="{FF2B5EF4-FFF2-40B4-BE49-F238E27FC236}">
                  <a16:creationId xmlns:a16="http://schemas.microsoft.com/office/drawing/2014/main" id="{D3A4AB58-3A63-9814-076B-2FC4796E289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2" name="Arrow: Notched Right 31">
              <a:extLst>
                <a:ext uri="{FF2B5EF4-FFF2-40B4-BE49-F238E27FC236}">
                  <a16:creationId xmlns:a16="http://schemas.microsoft.com/office/drawing/2014/main" id="{4197452A-40AD-A015-B333-911394D6D8A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3" name="Arrow: Notched Right 32">
              <a:extLst>
                <a:ext uri="{FF2B5EF4-FFF2-40B4-BE49-F238E27FC236}">
                  <a16:creationId xmlns:a16="http://schemas.microsoft.com/office/drawing/2014/main" id="{AD2B9C32-4F6B-825A-F2F7-6B13BC2A1D4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/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/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A77982B-C36B-8EDB-5099-18085A7BE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890041" y="4838220"/>
            <a:ext cx="8051023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734842" y="1174970"/>
            <a:ext cx="6192596" cy="37615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53E6B5-774E-45B6-DA00-9F5B475B3E3F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Réduction du ’’Hum’’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0706A1-BAF8-0ABA-BBB5-9605B362C076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8A9C9857-0BF1-6B0C-D679-EB7A3B5B769B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0F90705-71A0-2149-EA0C-E35C0DE32146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27E36FC-9D2E-DFD4-4123-DC5A431AF29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7D1DE63-1FBC-6661-9677-B384958B383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6F19366-E464-2982-AC55-682B5038EC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D84F2450-77A8-A713-52EC-5795B2CDDA3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7F9072DF-6B10-F3FF-2E80-2B8708D4A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blipFill>
                <a:blip r:embed="rId2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blipFill>
                <a:blip r:embed="rId3"/>
                <a:stretch>
                  <a:fillRect l="-318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/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blipFill>
                <a:blip r:embed="rId4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AA40752-E5E1-66A7-7976-506A1FE13A71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3D4D17-B068-BC08-FD30-C054806AF9D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62" t="33994" r="56355" b="28677"/>
          <a:stretch>
            <a:fillRect/>
          </a:stretch>
        </p:blipFill>
        <p:spPr>
          <a:xfrm rot="16200000">
            <a:off x="3789600" y="4075725"/>
            <a:ext cx="540000" cy="72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7DEA7-2203-42F7-6199-1F53CB0FEEA9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165" t="31109" r="16927" b="29421"/>
          <a:stretch>
            <a:fillRect/>
          </a:stretch>
        </p:blipFill>
        <p:spPr>
          <a:xfrm rot="16200000">
            <a:off x="3519600" y="5043882"/>
            <a:ext cx="1080000" cy="720000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E12A478-9168-E9A7-08C1-904DA5C9D11F}"/>
              </a:ext>
            </a:extLst>
          </p:cNvPr>
          <p:cNvGrpSpPr/>
          <p:nvPr/>
        </p:nvGrpSpPr>
        <p:grpSpPr>
          <a:xfrm>
            <a:off x="3464259" y="4302651"/>
            <a:ext cx="1304635" cy="1803753"/>
            <a:chOff x="1435741" y="3154410"/>
            <a:chExt cx="1304635" cy="180375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3BE3CFB-79EF-46B3-B885-C590E1FFCC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4255046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/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blipFill>
                  <a:blip r:embed="rId9"/>
                  <a:stretch>
                    <a:fillRect l="-28571" r="-32143" b="-2973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A816B5-53E3-F589-38D2-8FB5899DC46E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4255046"/>
              <a:ext cx="0" cy="41656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/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blipFill>
                  <a:blip r:embed="rId10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/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8772" t="-2174" r="-17544" b="-1521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/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8772" t="-2222" r="-19298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329C849-FD05-E48F-7B3A-455288FE6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3279270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/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blipFill>
                  <a:blip r:embed="rId13"/>
                  <a:stretch>
                    <a:fillRect l="-28571" r="-32143" b="-3055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CCB477B-68D4-66E8-9099-532A344293A4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3279270"/>
              <a:ext cx="0" cy="16605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/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blipFill>
                  <a:blip r:embed="rId14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25323C-5C14-F193-F991-30FAE1066184}"/>
              </a:ext>
            </a:extLst>
          </p:cNvPr>
          <p:cNvGrpSpPr/>
          <p:nvPr/>
        </p:nvGrpSpPr>
        <p:grpSpPr>
          <a:xfrm>
            <a:off x="1699654" y="4952326"/>
            <a:ext cx="1544379" cy="901924"/>
            <a:chOff x="1699654" y="4952326"/>
            <a:chExt cx="1544379" cy="901924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E8E7F2C-74F6-4532-DDC7-7644551959A7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5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85D0D423-6440-EDF0-0B59-8D2843A8BF31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FE8E84BD-8DB9-8C32-A2D5-836E000D5D67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E8F1C0D4-E7BF-A56A-66B8-2EF66503523C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FF99D8DF-EB3C-7D2B-91C5-6DA397B1020C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D80C00-81CF-0ACA-2B22-AD88491FC8A1}"/>
              </a:ext>
            </a:extLst>
          </p:cNvPr>
          <p:cNvCxnSpPr/>
          <p:nvPr/>
        </p:nvCxnSpPr>
        <p:spPr>
          <a:xfrm flipH="1">
            <a:off x="1447764" y="4792980"/>
            <a:ext cx="327663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4F9E354E-E60E-E463-62F4-338A1F273E8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6" name="Arrow: Notched Right 25">
              <a:extLst>
                <a:ext uri="{FF2B5EF4-FFF2-40B4-BE49-F238E27FC236}">
                  <a16:creationId xmlns:a16="http://schemas.microsoft.com/office/drawing/2014/main" id="{084A79AB-938F-F853-693D-A39ACF5ECD5D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7" name="Arrow: Notched Right 26">
              <a:extLst>
                <a:ext uri="{FF2B5EF4-FFF2-40B4-BE49-F238E27FC236}">
                  <a16:creationId xmlns:a16="http://schemas.microsoft.com/office/drawing/2014/main" id="{5937F862-1D7F-4ECB-C0DA-79BE4F378E6D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8" name="Arrow: Notched Right 27">
              <a:extLst>
                <a:ext uri="{FF2B5EF4-FFF2-40B4-BE49-F238E27FC236}">
                  <a16:creationId xmlns:a16="http://schemas.microsoft.com/office/drawing/2014/main" id="{E8C4B8AB-41E2-8F9C-E48B-41BBE0CAC64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98DBCAD-8DE2-B26A-F28F-DE975A13CF1C}"/>
              </a:ext>
            </a:extLst>
          </p:cNvPr>
          <p:cNvGrpSpPr/>
          <p:nvPr/>
        </p:nvGrpSpPr>
        <p:grpSpPr>
          <a:xfrm>
            <a:off x="1713173" y="3988565"/>
            <a:ext cx="1544379" cy="901924"/>
            <a:chOff x="1699654" y="4952326"/>
            <a:chExt cx="1544379" cy="901924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3F9B1D8-9D10-F88F-4092-C5BE6B1D1EAA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6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3E97DF05-5490-31B1-A805-F06F41AA3A12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Arc 37">
              <a:extLst>
                <a:ext uri="{FF2B5EF4-FFF2-40B4-BE49-F238E27FC236}">
                  <a16:creationId xmlns:a16="http://schemas.microsoft.com/office/drawing/2014/main" id="{B2354A2E-C08C-81D8-2AFE-6DC06DC0D8B4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Isosceles Triangle 38">
              <a:extLst>
                <a:ext uri="{FF2B5EF4-FFF2-40B4-BE49-F238E27FC236}">
                  <a16:creationId xmlns:a16="http://schemas.microsoft.com/office/drawing/2014/main" id="{96F9CB74-D7AB-3B25-38FB-F4F08ECD4546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83616F32-5E18-8F61-D331-A3D22F87DE3F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0702EA55-3B7D-8E0A-598A-0BCE3646F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1159140" y="1536491"/>
            <a:ext cx="6758213" cy="4658569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/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Utilisation de Bobine Helmholtz pour contrôler le champ parasite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h𝑒𝑙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2" descr="Bobine de Helmholtz sur socle : PAM067370">
            <a:extLst>
              <a:ext uri="{FF2B5EF4-FFF2-40B4-BE49-F238E27FC236}">
                <a16:creationId xmlns:a16="http://schemas.microsoft.com/office/drawing/2014/main" id="{97F9CA38-454F-5EAF-74D4-E7E8E328C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0839" y="3222403"/>
            <a:ext cx="2227030" cy="1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1A8287-CC45-F296-8ECB-B5F08F23D09F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5C99DC4-F3DF-C32D-947D-3E2B0DFF717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537A9D31-F37A-8C5A-EB4B-54CA2888191F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0B3EADAE-1E5A-7804-AD1A-2E7ABB862D5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7542F3D2-755E-67CE-3305-5C8CAC5DA620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8480ED95-278F-2E07-99E5-455FF7B8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6AFA-70C9-B7FE-A472-60C4C2783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A348215-9595-C53C-9D1F-0AE715543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EB7A66-3E79-4383-848F-4D2E2E6CA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549BE0-B26C-0AB6-EB7D-9447C548FAE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F41339-ACB6-8863-7950-5672C56AEF8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5582A0BE-17D0-6897-21C0-590EC1950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D2E2814-83D3-CDD3-DC54-C42B81F387CD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712810-785D-7528-A8C6-78D6B9BF007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EF38C6-5917-7E73-6FF0-C484BB1275D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/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/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BEB6DEA-6687-34D8-298A-343E3C0CC09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75ECA57-6933-57BD-366F-AD8B13CE52D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B2061F9-A72F-B2CB-5A23-51E1F5036801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03845822-C55D-966B-4B3F-9A39D61F7D3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2926A4D-5D56-0DD3-0766-578FE01DA90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00F479B-F6C9-DCB8-465D-82AB5E7D5A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90FD158-F7CC-BF97-4506-C6C4480FEBB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86EFEB16-0B2D-3D86-D7F0-B4BE4AF9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67004240-9EF1-1DFA-4A2A-8CC299923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726721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1" y="1398894"/>
            <a:ext cx="4766410" cy="456336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7C8F5F-29B0-45A8-4977-1B10256AE06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3A6606-217B-AACE-C117-A97EFC222185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6B7D2A0E-475D-0B36-BCFC-76B4036604B8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3" name="Arrow: Notched Right 12">
              <a:extLst>
                <a:ext uri="{FF2B5EF4-FFF2-40B4-BE49-F238E27FC236}">
                  <a16:creationId xmlns:a16="http://schemas.microsoft.com/office/drawing/2014/main" id="{4119228B-90D0-DB2C-409A-EB96BF052E3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D6AFC58E-8A0B-7319-A652-CE3B92C6602F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3E62176-6A79-DD4C-108A-F005EEA2AB1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A4CAB60-75F8-B2A7-399E-0F6B0763FA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003448A4-F15B-6F57-E347-FF9EB227249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80103DAC-E798-1BDF-3529-82C1DD1AF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AADE7-FD45-49B7-A31C-CE41D3B9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A303AFB-C154-547F-DEE5-F04AD1B2C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2A79059-CEAD-2397-F6D1-B5BA0830B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D232ECE-7A90-FE8A-6D58-9A81DE5C468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23174-5E09-7C0C-A0A5-4D3B8382CA8B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DFA67-4566-F437-A2B8-0A3350AE4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541" y="2719136"/>
            <a:ext cx="3806562" cy="34175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6E7EBE7C-C3F9-1A78-D5DC-D93F0EA49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/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blipFill>
                <a:blip r:embed="rId5"/>
                <a:stretch>
                  <a:fillRect l="-34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/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7,7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73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blipFill>
                <a:blip r:embed="rId6"/>
                <a:stretch>
                  <a:fillRect l="-348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4836AF97-1715-83EC-BA8A-120B25276E3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300A525-71C4-3964-E1CA-09F4DD2CD6CA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459A838C-06D0-EDCD-94E1-216BF741CC96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EF1EAA0A-D789-3B56-D17C-B9310E0CA0F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6" name="Arrow: Notched Right 15">
              <a:extLst>
                <a:ext uri="{FF2B5EF4-FFF2-40B4-BE49-F238E27FC236}">
                  <a16:creationId xmlns:a16="http://schemas.microsoft.com/office/drawing/2014/main" id="{AAFE285D-71C5-EFFC-D28E-5D36350B9D4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FB02FF1-8F7E-6576-0D0F-8D0A8ACC3A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B35BE02-2258-1C96-B10A-3DFAB7195F2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3C6DF927-190C-81D6-96DF-F85949D15EC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A1ACC4D3-F54F-7AA7-0617-045B62C7A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6613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13675" y="629422"/>
            <a:ext cx="844465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𝑆𝐶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=5000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𝐻𝐵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=7500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𝑇h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=29,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𝑒𝑥𝑝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=8,1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𝐶𝑀𝑅𝑅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=72,4 %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966407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11565" t="-212579" r="-102041" b="-1358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212579" r="-223" b="-1358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935609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362338" r="-223" b="-6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4194810"/>
            <a:ext cx="288000" cy="288000"/>
          </a:xfrm>
          <a:prstGeom prst="rect">
            <a:avLst/>
          </a:prstGeom>
        </p:spPr>
      </p:pic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0C57217D-D04A-11BE-641E-8AB1CAA45C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2809497"/>
            <a:ext cx="360000" cy="360000"/>
          </a:xfrm>
          <a:prstGeom prst="rect">
            <a:avLst/>
          </a:prstGeom>
        </p:spPr>
      </p:pic>
      <p:pic>
        <p:nvPicPr>
          <p:cNvPr id="25" name="Graphic 24" descr="Checkmark with solid fill">
            <a:extLst>
              <a:ext uri="{FF2B5EF4-FFF2-40B4-BE49-F238E27FC236}">
                <a16:creationId xmlns:a16="http://schemas.microsoft.com/office/drawing/2014/main" id="{FEC24F00-47FD-EFA5-AF52-3B89677FA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7344" y="2849095"/>
            <a:ext cx="288000" cy="288000"/>
          </a:xfrm>
          <a:prstGeom prst="rect">
            <a:avLst/>
          </a:prstGeom>
        </p:spPr>
      </p:pic>
      <p:pic>
        <p:nvPicPr>
          <p:cNvPr id="26" name="Graphic 25" descr="Warning with solid fill">
            <a:extLst>
              <a:ext uri="{FF2B5EF4-FFF2-40B4-BE49-F238E27FC236}">
                <a16:creationId xmlns:a16="http://schemas.microsoft.com/office/drawing/2014/main" id="{8A2D7334-C6E3-053C-3A16-33839DCD39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4133104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E4BF96-13FC-AAE7-FE03-F72E37775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322983" y="1136682"/>
            <a:ext cx="485997" cy="4001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>
            <a:extLst>
              <a:ext uri="{FF2B5EF4-FFF2-40B4-BE49-F238E27FC236}">
                <a16:creationId xmlns:a16="http://schemas.microsoft.com/office/drawing/2014/main" id="{7B024F95-B138-985B-1165-9E0306675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594" y="1156334"/>
            <a:ext cx="451537" cy="36258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Graphic 28" descr="Checkmark with solid fill">
            <a:extLst>
              <a:ext uri="{FF2B5EF4-FFF2-40B4-BE49-F238E27FC236}">
                <a16:creationId xmlns:a16="http://schemas.microsoft.com/office/drawing/2014/main" id="{773902E8-7385-D6E4-53E2-8D0D2A476D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557890"/>
            <a:ext cx="288000" cy="288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A2CF22B-A0CD-F2F2-A223-EEEC41D171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8877" y="3179975"/>
            <a:ext cx="1182362" cy="98530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A93B823-416B-5238-8982-58C7DFDA976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3002" y="1925643"/>
            <a:ext cx="1134111" cy="85058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DC3F462-EA18-9496-23A1-3311DAC88D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99046" y="4512034"/>
            <a:ext cx="1102024" cy="918353"/>
          </a:xfrm>
          <a:prstGeom prst="rect">
            <a:avLst/>
          </a:prstGeom>
        </p:spPr>
      </p:pic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76F66E15-A814-8A8C-8614-701E13CE2E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1557419"/>
            <a:ext cx="288000" cy="2880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FB4953A3-EECA-18B3-CF42-FBC3F9802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2144306"/>
            <a:ext cx="8472118" cy="310854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Architecture des micros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SingleCoil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Humbucker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AA300-0088-5FE7-E14B-005D0418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fr-FR" sz="1400" dirty="0"/>
              <a:t> B. d’Andréa-Novel, B. Fabre, et P. </a:t>
            </a:r>
            <a:r>
              <a:rPr lang="fr-FR" sz="1400" dirty="0" err="1"/>
              <a:t>Jouvelot</a:t>
            </a:r>
            <a:r>
              <a:rPr lang="fr-FR" sz="1400" dirty="0"/>
              <a:t>, </a:t>
            </a:r>
            <a:r>
              <a:rPr lang="fr-FR" sz="1400" i="1" dirty="0"/>
              <a:t>Acoustique Informatique </a:t>
            </a:r>
            <a:r>
              <a:rPr lang="fr-FR" sz="1400" i="1" dirty="0" err="1"/>
              <a:t>MusiquE</a:t>
            </a:r>
            <a:r>
              <a:rPr lang="fr-FR" sz="1400" i="1" dirty="0"/>
              <a:t> : Outils scientifiques pour la musique</a:t>
            </a:r>
            <a:r>
              <a:rPr lang="fr-FR" sz="1400" dirty="0"/>
              <a:t>. Paris, France : Presses des Mines, 2010, ch. 4</a:t>
            </a:r>
          </a:p>
          <a:p>
            <a:endParaRPr lang="fr-FR" sz="1400" dirty="0"/>
          </a:p>
          <a:p>
            <a:r>
              <a:rPr lang="en-GB" sz="1400" b="1" dirty="0"/>
              <a:t>[4]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u="sng" dirty="0"/>
          </a:p>
          <a:p>
            <a:r>
              <a:rPr lang="en-GB" sz="1400" b="1" dirty="0"/>
              <a:t>[5]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[6]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  <a:p>
            <a:endParaRPr lang="fr-FR" sz="1400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991F70DF-5274-3947-B274-A2EAF490D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FD5FC0E5-64EB-8361-1BFF-E07DE3179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2134897" y="204358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-773591" y="2139463"/>
            <a:ext cx="4744887" cy="2817999"/>
            <a:chOff x="4696904" y="1390254"/>
            <a:chExt cx="4973727" cy="319887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907191" y="1390254"/>
              <a:ext cx="2527756" cy="3198879"/>
              <a:chOff x="5907191" y="1390254"/>
              <a:chExt cx="2527756" cy="3198879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d’une tension induite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C68269-9448-F8FA-F1B2-4684A925FF31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5467733" y="2742981"/>
            <a:ext cx="139203" cy="11306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1967282-0FD1-2B99-0A9F-12EB732A8BA6}"/>
              </a:ext>
            </a:extLst>
          </p:cNvPr>
          <p:cNvSpPr txBox="1"/>
          <p:nvPr/>
        </p:nvSpPr>
        <p:spPr>
          <a:xfrm>
            <a:off x="5665434" y="2487950"/>
            <a:ext cx="260087" cy="325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C00000"/>
                </a:solidFill>
              </a:rPr>
              <a:t>i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B1667E-665E-86DC-D2E3-E8A05030BB4B}"/>
              </a:ext>
            </a:extLst>
          </p:cNvPr>
          <p:cNvCxnSpPr>
            <a:cxnSpLocks/>
            <a:endCxn id="27" idx="3"/>
          </p:cNvCxnSpPr>
          <p:nvPr/>
        </p:nvCxnSpPr>
        <p:spPr>
          <a:xfrm flipH="1" flipV="1">
            <a:off x="5467733" y="2754287"/>
            <a:ext cx="108901" cy="95322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60E16A14-6658-2124-554E-8B2B2D8A1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919203F-DCDD-12E1-40BC-C0D730A8F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570B1D8-BB74-16EB-2892-64289F770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B56186A-F3C3-7A25-162A-EA12991E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FB7617-FDB8-45D6-8EAA-EF67E85D13D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243D993-E88C-5B5E-D44F-B26EDBEE197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F9468-985A-44C8-BDEF-F74DFF87AA08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SingleCoil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489CB-09ED-2991-34E1-D6F8CAEC6137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16F42-233E-3C36-3E70-075C105914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/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olorful image of a person's figure&#10;&#10;AI-generated content may be incorrect.">
            <a:extLst>
              <a:ext uri="{FF2B5EF4-FFF2-40B4-BE49-F238E27FC236}">
                <a16:creationId xmlns:a16="http://schemas.microsoft.com/office/drawing/2014/main" id="{7D2EAD4D-0676-FCCB-2F80-18DDD24A45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3" t="8853" r="2401" b="3627"/>
          <a:stretch>
            <a:fillRect/>
          </a:stretch>
        </p:blipFill>
        <p:spPr>
          <a:xfrm>
            <a:off x="345440" y="1359476"/>
            <a:ext cx="4373217" cy="4401584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9FB169DC-4756-2647-DEC2-0FAE09A0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4585018" y="599717"/>
            <a:ext cx="720000" cy="59276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7B9464FC-0456-F9DF-7DDC-328552214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9992BE-DD53-5050-97B0-C5548C7A1E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5452450" y="2164326"/>
            <a:ext cx="3441020" cy="279188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E460B4F-455F-70B8-BEC9-E4F3FA210578}"/>
              </a:ext>
            </a:extLst>
          </p:cNvPr>
          <p:cNvSpPr/>
          <p:nvPr/>
        </p:nvSpPr>
        <p:spPr>
          <a:xfrm>
            <a:off x="5305018" y="2172322"/>
            <a:ext cx="360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61E191-2E0A-41A8-D844-9FC2EAD95EEF}"/>
              </a:ext>
            </a:extLst>
          </p:cNvPr>
          <p:cNvSpPr txBox="1"/>
          <p:nvPr/>
        </p:nvSpPr>
        <p:spPr>
          <a:xfrm>
            <a:off x="2381250" y="293666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87B4F0-7667-1614-F661-0E2B55A7A083}"/>
              </a:ext>
            </a:extLst>
          </p:cNvPr>
          <p:cNvSpPr txBox="1"/>
          <p:nvPr/>
        </p:nvSpPr>
        <p:spPr>
          <a:xfrm>
            <a:off x="2396490" y="3952944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65E8FEF7-3196-DECF-31F2-52AA28A00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370203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ECF82E-31FC-569C-F715-A12FE805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027713-1A14-ADCF-1EB7-44F0BC3E4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BE6DA4B-21E4-EF20-2D85-B54BD3760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CCF7BA-78DF-C865-CE3E-1012AFEDFCB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1A58F4-E0F1-C08F-AA23-ECAC47BAD33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21FBD-DF28-19BE-1ABD-AB49FBE1FF6E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Humbucker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895C85-EE62-318D-3E46-D911D5058D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F266A6-00C5-92E4-F027-0104E6F114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/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35F5D6CB-7847-62D7-A9DA-0C33A2392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ue and yellow graphic of a beam&#10;&#10;AI-generated content may be incorrect.">
            <a:extLst>
              <a:ext uri="{FF2B5EF4-FFF2-40B4-BE49-F238E27FC236}">
                <a16:creationId xmlns:a16="http://schemas.microsoft.com/office/drawing/2014/main" id="{1B9F4EB4-3A12-19DE-1414-86731117B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861" t="3983" r="6896" b="1499"/>
          <a:stretch>
            <a:fillRect/>
          </a:stretch>
        </p:blipFill>
        <p:spPr>
          <a:xfrm>
            <a:off x="345440" y="1350084"/>
            <a:ext cx="5318310" cy="4157832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DF5162EA-F359-83EC-F22B-9C4BFDA13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4661941" y="616942"/>
            <a:ext cx="720000" cy="5781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016E24-88DB-777F-B5A4-963FE8D57F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370" t="27687" r="14237" b="24239"/>
          <a:stretch>
            <a:fillRect/>
          </a:stretch>
        </p:blipFill>
        <p:spPr>
          <a:xfrm>
            <a:off x="5741689" y="2797946"/>
            <a:ext cx="3367309" cy="230168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814FBA4-BAF4-BD20-65A1-AFAE5EE8EC82}"/>
              </a:ext>
            </a:extLst>
          </p:cNvPr>
          <p:cNvSpPr/>
          <p:nvPr/>
        </p:nvSpPr>
        <p:spPr>
          <a:xfrm>
            <a:off x="5979363" y="2679908"/>
            <a:ext cx="288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43E33C-B3CA-C217-7F03-D4AEFBC165C6}"/>
              </a:ext>
            </a:extLst>
          </p:cNvPr>
          <p:cNvSpPr txBox="1"/>
          <p:nvPr/>
        </p:nvSpPr>
        <p:spPr>
          <a:xfrm>
            <a:off x="1821180" y="296740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3E4B30-52EA-6509-CEF5-8403656C9B14}"/>
              </a:ext>
            </a:extLst>
          </p:cNvPr>
          <p:cNvSpPr txBox="1"/>
          <p:nvPr/>
        </p:nvSpPr>
        <p:spPr>
          <a:xfrm>
            <a:off x="1832610" y="378593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5A8239-C96F-D33E-10AC-3FAC5A069651}"/>
              </a:ext>
            </a:extLst>
          </p:cNvPr>
          <p:cNvSpPr txBox="1"/>
          <p:nvPr/>
        </p:nvSpPr>
        <p:spPr>
          <a:xfrm>
            <a:off x="3802380" y="299885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7530E6-0416-2EBB-8B77-2143CC3DAE7B}"/>
              </a:ext>
            </a:extLst>
          </p:cNvPr>
          <p:cNvSpPr txBox="1"/>
          <p:nvPr/>
        </p:nvSpPr>
        <p:spPr>
          <a:xfrm>
            <a:off x="3779520" y="3824681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8" name="Footer Placeholder 2">
            <a:extLst>
              <a:ext uri="{FF2B5EF4-FFF2-40B4-BE49-F238E27FC236}">
                <a16:creationId xmlns:a16="http://schemas.microsoft.com/office/drawing/2014/main" id="{356C707D-EA04-4E5C-2A68-180ACD067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32593488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329F9A-04DF-6D44-BE37-517D9275BA9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00D7958-9538-AA0F-07AD-58D3D9A6A30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5.1 Modèle Théorique : Notations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 l="-72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D22C1-5163-DFF3-B750-9677CA9F4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5.2 Modèle Théorique : Micro SingleCoil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7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C6C170-7191-7DC0-F875-65C4BD15D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5.3 Modèle Théorique : Micro Humbucker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7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6EE3699D-46D5-2B36-C196-9E11A94CA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5EFADAD-C3A6-A8E3-9DC1-9398FA59CC54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F3696E1-2746-792F-E1BE-E73591F4906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B6D7A170-2D3D-68AD-F6C5-30ED8CE3B4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A5ACE84-5626-8115-C7EF-EDF0A9FC34E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67AB326F-B451-3291-F97D-2AF3285609E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664590-68FE-ADBC-2FE3-CBDCBE8C5CA4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6939978-C48D-DF75-B928-C37568D0A9D7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5.4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97B6E3-8EE4-F64E-7E5A-C4237D3CD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8EB8047-B6FD-C262-D749-BA2812726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3D2A4C-27D1-DFAF-6C8D-8C59AA46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212FC-BA55-7339-B303-E92B692503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7367D-863A-93E2-06BC-B67FD2AE2D2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289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28905"/>
              </a:xfrm>
              <a:prstGeom prst="rect">
                <a:avLst/>
              </a:prstGeom>
              <a:blipFill>
                <a:blip r:embed="rId3"/>
                <a:stretch>
                  <a:fillRect l="-633" t="-275" r="-6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58A68-4175-1FE0-DFCA-73363B0F3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AF5A9F0-2A4C-02C4-E2F8-B040A3F3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C534992-DB8E-40A8-C706-E82CEB302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227665-A735-5AEC-9DB4-494F608942E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258F603-827C-9F7F-25B9-66795A26B2C3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blipFill>
                <a:blip r:embed="rId2"/>
                <a:stretch>
                  <a:fillRect l="-429" t="-2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89229-D649-26C3-F99E-5A1F94B1F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587720"/>
            <a:ext cx="3617103" cy="4428906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-7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endParaRPr lang="fr-FR" sz="400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blipFill>
                  <a:blip r:embed="rId5"/>
                  <a:stretch>
                    <a:fillRect t="-30000" b="-5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9F725-F30E-FFF1-247B-CAE165BDB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BA89CEA-EA6C-1932-59C2-C163781B7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9BAAAD-EA15-022E-4FCE-B78B8D876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4C22D8-BEE6-F481-54F2-48F24B6D39B5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2BE9920-F94E-5B72-6FFA-7DBA438FC24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075226-A072-B012-1F0D-BEFE9B51ED8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E5E953-BE79-3C07-E348-AC3EF89F364A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6.1. Algorithme de Levenberg-Marquardt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962DF5-94C7-7241-6039-42369E911E5B}"/>
                  </a:ext>
                </a:extLst>
              </p:cNvPr>
              <p:cNvSpPr txBox="1"/>
              <p:nvPr/>
            </p:nvSpPr>
            <p:spPr>
              <a:xfrm>
                <a:off x="5982677" y="1390254"/>
                <a:ext cx="2885334" cy="3884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962DF5-94C7-7241-6039-42369E911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2677" y="1390254"/>
                <a:ext cx="2885334" cy="3884461"/>
              </a:xfrm>
              <a:prstGeom prst="rect">
                <a:avLst/>
              </a:prstGeom>
              <a:blipFill>
                <a:blip r:embed="rId2"/>
                <a:stretch>
                  <a:fillRect l="-633" t="-31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6A7F031-17CB-DDDE-C76E-76F7D7740C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99" t="11717" r="5655" b="6734"/>
          <a:stretch>
            <a:fillRect/>
          </a:stretch>
        </p:blipFill>
        <p:spPr>
          <a:xfrm>
            <a:off x="345440" y="1390254"/>
            <a:ext cx="5624777" cy="442890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18A7CB-23D7-ED80-AA89-DB3468D9D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42920975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ADCD0-05A8-4491-060C-60273600E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B8B654-1B83-0BB3-377A-8226457F88A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6.3.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B9AED8-D051-72A1-0FAB-7881F8ACE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4446</Words>
  <Application>Microsoft Office PowerPoint</Application>
  <PresentationFormat>On-screen Show (4:3)</PresentationFormat>
  <Paragraphs>933</Paragraphs>
  <Slides>43</Slides>
  <Notes>14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642</cp:revision>
  <dcterms:created xsi:type="dcterms:W3CDTF">2025-06-09T15:35:56Z</dcterms:created>
  <dcterms:modified xsi:type="dcterms:W3CDTF">2026-02-02T20:25:55Z</dcterms:modified>
</cp:coreProperties>
</file>