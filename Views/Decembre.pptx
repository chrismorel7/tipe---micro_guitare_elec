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1"/>
  </p:notesMasterIdLst>
  <p:sldIdLst>
    <p:sldId id="256" r:id="rId2"/>
    <p:sldId id="340" r:id="rId3"/>
    <p:sldId id="338" r:id="rId4"/>
    <p:sldId id="339" r:id="rId5"/>
    <p:sldId id="335" r:id="rId6"/>
    <p:sldId id="337" r:id="rId7"/>
    <p:sldId id="336" r:id="rId8"/>
    <p:sldId id="265" r:id="rId9"/>
    <p:sldId id="319" r:id="rId10"/>
    <p:sldId id="320" r:id="rId11"/>
    <p:sldId id="329" r:id="rId12"/>
    <p:sldId id="327" r:id="rId13"/>
    <p:sldId id="328" r:id="rId14"/>
    <p:sldId id="333" r:id="rId15"/>
    <p:sldId id="289" r:id="rId16"/>
    <p:sldId id="324" r:id="rId17"/>
    <p:sldId id="313" r:id="rId18"/>
    <p:sldId id="315" r:id="rId19"/>
    <p:sldId id="325" r:id="rId20"/>
    <p:sldId id="326" r:id="rId21"/>
    <p:sldId id="318" r:id="rId22"/>
    <p:sldId id="330" r:id="rId23"/>
    <p:sldId id="303" r:id="rId24"/>
    <p:sldId id="271" r:id="rId25"/>
    <p:sldId id="302" r:id="rId26"/>
    <p:sldId id="272" r:id="rId27"/>
    <p:sldId id="341" r:id="rId28"/>
    <p:sldId id="342" r:id="rId29"/>
    <p:sldId id="277" r:id="rId30"/>
    <p:sldId id="304" r:id="rId31"/>
    <p:sldId id="305" r:id="rId32"/>
    <p:sldId id="311" r:id="rId33"/>
    <p:sldId id="275" r:id="rId34"/>
    <p:sldId id="306" r:id="rId35"/>
    <p:sldId id="307" r:id="rId36"/>
    <p:sldId id="308" r:id="rId37"/>
    <p:sldId id="309" r:id="rId38"/>
    <p:sldId id="317" r:id="rId39"/>
    <p:sldId id="310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903A"/>
    <a:srgbClr val="CC6600"/>
    <a:srgbClr val="559A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>
        <p:scale>
          <a:sx n="100" d="100"/>
          <a:sy n="100" d="100"/>
        </p:scale>
        <p:origin x="1085" y="-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fr-FR" dirty="0"/>
              <a:t>Parts de marché estimées selon les </a:t>
            </a:r>
          </a:p>
          <a:p>
            <a:pPr>
              <a:defRPr/>
            </a:pPr>
            <a:r>
              <a:rPr lang="fr-FR" dirty="0"/>
              <a:t>volumes de vente. </a:t>
            </a:r>
            <a:r>
              <a:rPr lang="fr-FR" sz="1100" dirty="0"/>
              <a:t>(cf. [7])</a:t>
            </a:r>
            <a:endParaRPr lang="fr-F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Series1</c:v>
                </c:pt>
              </c:strCache>
            </c:strRef>
          </c:tx>
          <c:dPt>
            <c:idx val="0"/>
            <c:bubble3D val="0"/>
            <c:spPr>
              <a:solidFill>
                <a:srgbClr val="CC6600"/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2-4BB2-4BD0-9775-74F36B14B2B8}"/>
              </c:ext>
            </c:extLst>
          </c:dPt>
          <c:dPt>
            <c:idx val="1"/>
            <c:bubble3D val="0"/>
            <c:spPr>
              <a:solidFill>
                <a:srgbClr val="559AD7"/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4BB2-4BD0-9775-74F36B14B2B8}"/>
              </c:ext>
            </c:extLst>
          </c:dPt>
          <c:dPt>
            <c:idx val="2"/>
            <c:bubble3D val="0"/>
            <c:spPr>
              <a:solidFill>
                <a:srgbClr val="38903A"/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4BB2-4BD0-9775-74F36B14B2B8}"/>
              </c:ext>
            </c:extLst>
          </c:dPt>
          <c:dPt>
            <c:idx val="3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4-4BB2-4BD0-9775-74F36B14B2B8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2-4BB2-4BD0-9775-74F36B14B2B8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1-4BB2-4BD0-9775-74F36B14B2B8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3-4BB2-4BD0-9775-74F36B14B2B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bestFit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tx2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Micros SingleCoil</c:v>
                </c:pt>
                <c:pt idx="1">
                  <c:v>Micros Humbucker</c:v>
                </c:pt>
                <c:pt idx="2">
                  <c:v>Micros Actifs</c:v>
                </c:pt>
                <c:pt idx="3">
                  <c:v>Autres Micros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B2-4BD0-9775-74F36B14B2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5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2022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40%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2022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40%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07/12/2025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D29C-73BD-360B-8B2C-1EB9D4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A5AA6-FF0C-E4C0-1234-51AD20A0D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D2513-005E-DAD7-8232-7A0A28F4F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B70D1-4C8C-6971-8430-6A40F1062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4911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E781-A695-B7FC-6DB0-CF193AF0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0711D-7ECF-FC28-ED1A-352D619C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95E39-2033-A503-F7AC-707428C1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9D26-802A-7E8E-AC92-2233882F20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9648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1384A-A5F4-2113-DF8F-E79B5DD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30884-3750-BE92-616E-082925A1A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C2C82-C17B-FACB-9DA2-613B40E5F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7E1A-7E78-B66A-6F8A-857ABC46C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67197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81.png"/><Relationship Id="rId7" Type="http://schemas.openxmlformats.org/officeDocument/2006/relationships/image" Target="../media/image11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Relationship Id="rId9" Type="http://schemas.openxmlformats.org/officeDocument/2006/relationships/image" Target="../media/image1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150.png"/><Relationship Id="rId7" Type="http://schemas.openxmlformats.org/officeDocument/2006/relationships/image" Target="../media/image16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20.png"/><Relationship Id="rId9" Type="http://schemas.openxmlformats.org/officeDocument/2006/relationships/image" Target="../media/image1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image" Target="../media/image23.png"/><Relationship Id="rId7" Type="http://schemas.openxmlformats.org/officeDocument/2006/relationships/image" Target="../media/image2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0.png"/><Relationship Id="rId5" Type="http://schemas.openxmlformats.org/officeDocument/2006/relationships/image" Target="../media/image25.png"/><Relationship Id="rId4" Type="http://schemas.openxmlformats.org/officeDocument/2006/relationships/image" Target="../media/image24.jpeg"/><Relationship Id="rId9" Type="http://schemas.openxmlformats.org/officeDocument/2006/relationships/image" Target="../media/image2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26.png"/><Relationship Id="rId7" Type="http://schemas.openxmlformats.org/officeDocument/2006/relationships/image" Target="../media/image27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1.png"/><Relationship Id="rId11" Type="http://schemas.openxmlformats.org/officeDocument/2006/relationships/image" Target="../media/image230.png"/><Relationship Id="rId5" Type="http://schemas.openxmlformats.org/officeDocument/2006/relationships/image" Target="../media/image27.png"/><Relationship Id="rId10" Type="http://schemas.openxmlformats.org/officeDocument/2006/relationships/image" Target="../media/image220.png"/><Relationship Id="rId4" Type="http://schemas.openxmlformats.org/officeDocument/2006/relationships/image" Target="../media/image24.jpeg"/><Relationship Id="rId9" Type="http://schemas.openxmlformats.org/officeDocument/2006/relationships/image" Target="../media/image21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jpeg"/><Relationship Id="rId4" Type="http://schemas.openxmlformats.org/officeDocument/2006/relationships/image" Target="../media/image29.png"/><Relationship Id="rId9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34.png"/><Relationship Id="rId18" Type="http://schemas.openxmlformats.org/officeDocument/2006/relationships/image" Target="../media/image340.png"/><Relationship Id="rId3" Type="http://schemas.openxmlformats.org/officeDocument/2006/relationships/image" Target="../media/image19.jpeg"/><Relationship Id="rId12" Type="http://schemas.openxmlformats.org/officeDocument/2006/relationships/image" Target="../media/image24.jpeg"/><Relationship Id="rId17" Type="http://schemas.openxmlformats.org/officeDocument/2006/relationships/image" Target="../media/image331.png"/><Relationship Id="rId2" Type="http://schemas.openxmlformats.org/officeDocument/2006/relationships/notesSlide" Target="../notesSlides/notesSlide5.xml"/><Relationship Id="rId16" Type="http://schemas.microsoft.com/office/2007/relationships/hdphoto" Target="../media/hdphoto4.wdp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3.png"/><Relationship Id="rId15" Type="http://schemas.openxmlformats.org/officeDocument/2006/relationships/image" Target="../media/image35.png"/><Relationship Id="rId10" Type="http://schemas.openxmlformats.org/officeDocument/2006/relationships/image" Target="../media/image292.png"/><Relationship Id="rId19" Type="http://schemas.openxmlformats.org/officeDocument/2006/relationships/image" Target="../media/image350.png"/><Relationship Id="rId9" Type="http://schemas.openxmlformats.org/officeDocument/2006/relationships/image" Target="../media/image32.png"/><Relationship Id="rId14" Type="http://schemas.microsoft.com/office/2007/relationships/hdphoto" Target="../media/hdphoto3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9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3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0.png"/><Relationship Id="rId5" Type="http://schemas.openxmlformats.org/officeDocument/2006/relationships/image" Target="../media/image41.png"/><Relationship Id="rId4" Type="http://schemas.openxmlformats.org/officeDocument/2006/relationships/image" Target="../media/image24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24.jpe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3" Type="http://schemas.openxmlformats.org/officeDocument/2006/relationships/image" Target="../media/image44.png"/><Relationship Id="rId7" Type="http://schemas.openxmlformats.org/officeDocument/2006/relationships/image" Target="../media/image4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5" Type="http://schemas.openxmlformats.org/officeDocument/2006/relationships/image" Target="../media/image45.png"/><Relationship Id="rId4" Type="http://schemas.openxmlformats.org/officeDocument/2006/relationships/image" Target="../media/image24.jpeg"/><Relationship Id="rId9" Type="http://schemas.openxmlformats.org/officeDocument/2006/relationships/image" Target="../media/image46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jpeg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svg"/><Relationship Id="rId3" Type="http://schemas.openxmlformats.org/officeDocument/2006/relationships/image" Target="../media/image48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3.svg"/><Relationship Id="rId4" Type="http://schemas.openxmlformats.org/officeDocument/2006/relationships/image" Target="../media/image32.png"/><Relationship Id="rId9" Type="http://schemas.openxmlformats.org/officeDocument/2006/relationships/image" Target="../media/image5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jpg"/><Relationship Id="rId3" Type="http://schemas.openxmlformats.org/officeDocument/2006/relationships/image" Target="../media/image57.png"/><Relationship Id="rId7" Type="http://schemas.microsoft.com/office/2007/relationships/hdphoto" Target="../media/hdphoto1.wdp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58.png"/><Relationship Id="rId4" Type="http://schemas.openxmlformats.org/officeDocument/2006/relationships/image" Target="../media/image12.png"/><Relationship Id="rId9" Type="http://schemas.openxmlformats.org/officeDocument/2006/relationships/hyperlink" Target="https://pixabay.com/en/steel-brushed-metal-metallic-499897/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jpg"/><Relationship Id="rId3" Type="http://schemas.openxmlformats.org/officeDocument/2006/relationships/image" Target="../media/image58.png"/><Relationship Id="rId7" Type="http://schemas.microsoft.com/office/2007/relationships/hdphoto" Target="../media/hdphoto1.wdp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13.png"/><Relationship Id="rId4" Type="http://schemas.openxmlformats.org/officeDocument/2006/relationships/image" Target="../media/image62.png"/><Relationship Id="rId9" Type="http://schemas.openxmlformats.org/officeDocument/2006/relationships/hyperlink" Target="https://pixabay.com/en/steel-brushed-metal-metallic-499897/" TargetMode="Externa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65.jpeg"/><Relationship Id="rId10" Type="http://schemas.openxmlformats.org/officeDocument/2006/relationships/image" Target="../media/image330.png"/><Relationship Id="rId9" Type="http://schemas.openxmlformats.org/officeDocument/2006/relationships/image" Target="../media/image64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64.svg"/><Relationship Id="rId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4.svg"/><Relationship Id="rId4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497463-3A83-B0B5-6946-79174372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F7BFC6-A0BB-58CB-0A26-507B2DF051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41DAE65-9B17-4A9F-2325-941B2D69EBC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DA9486-9653-B694-78B7-682A91A09AF0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40864453"/>
              </p:ext>
            </p:extLst>
          </p:nvPr>
        </p:nvGraphicFramePr>
        <p:xfrm>
          <a:off x="622219" y="18620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9926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50400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503477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7CDF6B-C0AF-8235-A63F-60F77CAE6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132B42-5A83-CD1C-3138-E5A71883CF9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05D3E2A-EB1A-E519-8035-46308B11912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97F1B0-9969-DA59-97A2-8D0A1484990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66977" y="1567792"/>
            <a:ext cx="9223365" cy="3893765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BED688C2-27EC-1CC9-1C45-44CE22F4C5C5}"/>
              </a:ext>
            </a:extLst>
          </p:cNvPr>
          <p:cNvSpPr txBox="1"/>
          <p:nvPr/>
        </p:nvSpPr>
        <p:spPr>
          <a:xfrm>
            <a:off x="275753" y="5684494"/>
            <a:ext cx="2023606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Signal Mécanique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DF7839-AB8C-91AA-2BAA-AA131B9B5087}"/>
              </a:ext>
            </a:extLst>
          </p:cNvPr>
          <p:cNvSpPr txBox="1"/>
          <p:nvPr/>
        </p:nvSpPr>
        <p:spPr>
          <a:xfrm>
            <a:off x="3556440" y="5680432"/>
            <a:ext cx="2023606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Signal Electrique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7BD563-1B6C-5416-34CA-6E55900E6057}"/>
              </a:ext>
            </a:extLst>
          </p:cNvPr>
          <p:cNvSpPr txBox="1"/>
          <p:nvPr/>
        </p:nvSpPr>
        <p:spPr>
          <a:xfrm>
            <a:off x="6835752" y="5676677"/>
            <a:ext cx="2023606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Signal Mécanique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B63AD95-D14C-F34A-48E2-97755BB48BF1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 flipV="1">
            <a:off x="2299359" y="5865098"/>
            <a:ext cx="1257081" cy="40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A1F7BC-7D33-1FD8-BC5A-59DD38478C06}"/>
              </a:ext>
            </a:extLst>
          </p:cNvPr>
          <p:cNvCxnSpPr>
            <a:cxnSpLocks/>
            <a:stCxn id="34" idx="3"/>
            <a:endCxn id="35" idx="1"/>
          </p:cNvCxnSpPr>
          <p:nvPr/>
        </p:nvCxnSpPr>
        <p:spPr>
          <a:xfrm flipV="1">
            <a:off x="5580046" y="5861343"/>
            <a:ext cx="1255706" cy="37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11099-0B67-D045-8865-09C50052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321691-D7BF-2AF8-8675-49BED2CEB0A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2EF41A-60DC-66CC-75A8-537EEA9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D7E49E6-ADD6-388C-12D1-62FB2F27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A4F1CE-3A04-B681-3406-915026EC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AE116D-2459-5908-39E1-829F0303733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F83A05-1BA3-3BBB-F8CA-C493B384124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EB65CA-D125-DF0D-791D-D598A63879FA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C50ED2-D5FA-AD40-3121-5CBF693E87A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2DAA85FE-E9A6-2776-DCC3-9E5576CFD3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6151352"/>
              </p:ext>
            </p:extLst>
          </p:nvPr>
        </p:nvGraphicFramePr>
        <p:xfrm>
          <a:off x="822961" y="1145570"/>
          <a:ext cx="7586402" cy="49910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13982E51-6C2B-8ACF-880A-415E94B20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9569" y="3069000"/>
            <a:ext cx="1022310" cy="72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49ACA9-163C-6215-6E51-42DBC5316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4412" y="4487428"/>
            <a:ext cx="102175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04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85F29E-8678-D36A-0D35-75C3A704A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0B2680B-8505-F7BE-1729-18B8A8D27FB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809783-6328-4E10-4F41-D622F0977A0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DC8BB3-9BEB-3117-CE7F-F62053D2659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32270" y="3216592"/>
              <a:ext cx="53340" cy="5524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E0757ED-665B-4A13-863D-6BEDFEE75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325F84-C41E-3685-D28C-48BE1FA1E6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AD78B9-F0E6-284B-5AA8-0AA2142E618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778A4E-35EB-6E4A-6CDF-BE113766A4A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3E4FC93-C63B-8406-6B00-3E5F54AB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DD6CC-6B43-2500-B9FA-4614C6915F4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909FC932-BB01-2787-4EE2-43CECB602FE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62086A-4B41-4BA3-55EB-67653790389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2037872" y="216782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316396" y="893062"/>
            <a:ext cx="174506" cy="327802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1887481" y="4975297"/>
            <a:ext cx="1620000" cy="133371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680681" y="4991720"/>
            <a:ext cx="1620000" cy="13008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2AE35-C24B-947A-A987-D72795A00587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A9AFB-601F-0D10-6B20-7E1434391FC0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D15FC3-A370-29D3-C94A-AE247888BF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913210B-6F96-8414-571E-2D9D9641430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E6975-0BD3-4765-200E-FBE90D4D3DF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1ECDDAB-FE4C-91AF-6FF8-D226B63E5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6" r="21836"/>
          <a:stretch/>
        </p:blipFill>
        <p:spPr>
          <a:xfrm rot="54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F7DA611-55F3-BB6C-D4A0-D9C1F2AEF5CE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0BCD9E6-C4E3-D97F-20FF-6F9EA36D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C2B9229-FCB0-59A8-E169-B2D6B3D6E2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863A744-4C8C-0983-0F2F-B1C0A26874B1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628D95F-B909-97AA-8AF0-643319E2F9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5B078D-1A98-6ED5-C628-4915E681F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0D5804D-1ABD-3B0D-5696-340BE1BEEAD0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CF24A4-79F4-DF8B-FFC5-11778BB7DAF9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A6BF2A2-C0F1-2942-5728-DDBFD830C702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76C911C-AADC-DF2F-6546-6986C34D1D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16D688EF-71CF-65FC-053D-74766E760A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94460FF-3F74-8475-92BD-E1C12440F8BF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0B5C525-B1D9-149D-1C21-32C54BFA8514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557102-C995-BF1E-B2AD-0FB65CA044AD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FD8045D-A5C6-31D5-E782-69BF3A4B9DB1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2179289" y="2851706"/>
            <a:ext cx="956264" cy="15660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0896C0D-356A-1130-A43B-569F02015153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4D3656-6CBC-8BF0-2BAB-244DCEE4D29A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ED1E97F8-A8FA-1050-B6EB-F4BACD4BECC6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A12C03A-AC35-78C7-64F8-0CD2464AEE27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69283860-83DC-3D09-17EF-7EDAFCDDC462}"/>
              </a:ext>
            </a:extLst>
          </p:cNvPr>
          <p:cNvCxnSpPr>
            <a:cxnSpLocks/>
            <a:stCxn id="24" idx="0"/>
          </p:cNvCxnSpPr>
          <p:nvPr/>
        </p:nvCxnSpPr>
        <p:spPr>
          <a:xfrm rot="5400000" flipH="1" flipV="1">
            <a:off x="3311878" y="3584610"/>
            <a:ext cx="749811" cy="2914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E958A863-0B06-BFF6-31E6-930BF8318979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8973885-A9D0-29A7-7952-86F03749463E}"/>
              </a:ext>
            </a:extLst>
          </p:cNvPr>
          <p:cNvCxnSpPr>
            <a:cxnSpLocks/>
            <a:stCxn id="161" idx="0"/>
          </p:cNvCxnSpPr>
          <p:nvPr/>
        </p:nvCxnSpPr>
        <p:spPr>
          <a:xfrm rot="5400000" flipH="1" flipV="1">
            <a:off x="4491728" y="4004439"/>
            <a:ext cx="71272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0530469-2330-1521-AA8F-292130B8591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10234F-0B86-F53A-22E1-8DDBBD9E5AF4}"/>
              </a:ext>
            </a:extLst>
          </p:cNvPr>
          <p:cNvSpPr txBox="1"/>
          <p:nvPr/>
        </p:nvSpPr>
        <p:spPr>
          <a:xfrm>
            <a:off x="6275119" y="1107708"/>
            <a:ext cx="26673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206AAC-BE44-239A-2F98-44FDDFB5C148}"/>
              </a:ext>
            </a:extLst>
          </p:cNvPr>
          <p:cNvCxnSpPr>
            <a:cxnSpLocks/>
          </p:cNvCxnSpPr>
          <p:nvPr/>
        </p:nvCxnSpPr>
        <p:spPr>
          <a:xfrm flipH="1" flipV="1">
            <a:off x="3257550" y="2699385"/>
            <a:ext cx="2249805" cy="13220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4065" y="5817870"/>
            <a:ext cx="538127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0978DB-B858-E0D1-D839-26DA371B65B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13E7F75-F7D2-A337-4755-01BBBC2242E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07ACD-4BD7-417D-245D-4529E66D31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620C-E318-6081-8191-5663CAC5B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A7BA208-73EA-A679-6B88-92AA338E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AE41562-9F29-8A13-1F8A-24C71C71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B0AC912-A953-E8EF-BD52-91AB0941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48E63-6014-5CF7-E254-77160B8C03B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A01B43A-F989-EE1E-CB92-54390803279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F84EE-4226-FF97-A4A7-887219E2691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A6307-ACC4-F372-EB86-D0B167E8CB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0A79A0-EDEE-72FB-1F13-86761E2A2B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3" y="160686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2C39EC58-670A-CC4F-01B3-48DCEE995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EC58178-EB13-A6E4-E8CE-7B29FFF30336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2B23BA-01CC-E06A-C6F8-9BDEBE333E0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9438E3-7521-FEBB-59AD-3157B149917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686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26AFA6-CA0D-92EA-F82F-9281E16DAA74}"/>
              </a:ext>
            </a:extLst>
          </p:cNvPr>
          <p:cNvGrpSpPr/>
          <p:nvPr/>
        </p:nvGrpSpPr>
        <p:grpSpPr>
          <a:xfrm>
            <a:off x="1039713" y="4329995"/>
            <a:ext cx="355600" cy="493407"/>
            <a:chOff x="1276060" y="5077968"/>
            <a:chExt cx="355600" cy="49340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A3706D-3275-4F0F-6497-8DDD0B4330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0AEBF4-A32D-CD38-18F8-B10A2DD8051B}"/>
              </a:ext>
            </a:extLst>
          </p:cNvPr>
          <p:cNvGrpSpPr/>
          <p:nvPr/>
        </p:nvGrpSpPr>
        <p:grpSpPr>
          <a:xfrm>
            <a:off x="5601263" y="4338523"/>
            <a:ext cx="355600" cy="493407"/>
            <a:chOff x="1276060" y="5077968"/>
            <a:chExt cx="355600" cy="493407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3588C5-3BDC-D606-42AD-5BE93585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8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9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495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2E767F-BD51-8D0B-9969-6D70F4B5BC8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DDA1D4A-27B7-6F42-A30C-F2706A65D33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7F364B-68DD-FD60-EC7D-1F4E45FFE1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/>
              <a:t>La Source du Signal : De l'Onde à la FEM</a:t>
            </a:r>
            <a:endParaRPr lang="fr-FR" sz="20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0547-D387-B897-E456-A805D590BB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84849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𝐻𝐵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𝑆𝐶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8484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CA3093A-8816-005B-D928-3B44B655C8E2}"/>
              </a:ext>
            </a:extLst>
          </p:cNvPr>
          <p:cNvSpPr/>
          <p:nvPr/>
        </p:nvSpPr>
        <p:spPr>
          <a:xfrm>
            <a:off x="5958063" y="2389099"/>
            <a:ext cx="2840497" cy="3573164"/>
          </a:xfrm>
          <a:prstGeom prst="rect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400" dirty="0">
                <a:solidFill>
                  <a:schemeClr val="tx1"/>
                </a:solidFill>
              </a:rPr>
              <a:t>On voit apparaitre les </a:t>
            </a:r>
            <a:r>
              <a:rPr lang="fr-FR" sz="1400" b="1" u="sng" dirty="0">
                <a:solidFill>
                  <a:schemeClr val="tx1"/>
                </a:solidFill>
              </a:rPr>
              <a:t>nœuds de vibrations</a:t>
            </a:r>
            <a:r>
              <a:rPr lang="fr-FR" sz="1400" dirty="0">
                <a:solidFill>
                  <a:schemeClr val="tx1"/>
                </a:solidFill>
              </a:rPr>
              <a:t> :</a:t>
            </a:r>
          </a:p>
          <a:p>
            <a:endParaRPr lang="fr-FR" sz="1400" b="1" u="sng" dirty="0">
              <a:solidFill>
                <a:schemeClr val="tx1"/>
              </a:solidFill>
            </a:endParaRPr>
          </a:p>
          <a:p>
            <a:endParaRPr lang="fr-FR" sz="1400" b="1" u="sng" dirty="0">
              <a:solidFill>
                <a:schemeClr val="tx1"/>
              </a:solidFill>
            </a:endParaRPr>
          </a:p>
          <a:p>
            <a:r>
              <a:rPr lang="fr-FR" sz="1400" b="1" dirty="0">
                <a:solidFill>
                  <a:schemeClr val="tx1"/>
                </a:solidFill>
              </a:rPr>
              <a:t>à 440 Hz : </a:t>
            </a:r>
            <a:r>
              <a:rPr lang="fr-FR" sz="1400" dirty="0">
                <a:solidFill>
                  <a:schemeClr val="tx1"/>
                </a:solidFill>
              </a:rPr>
              <a:t>SingleCoil</a:t>
            </a:r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r>
              <a:rPr lang="fr-FR" sz="1400" b="1" dirty="0">
                <a:solidFill>
                  <a:schemeClr val="tx1"/>
                </a:solidFill>
              </a:rPr>
              <a:t>à 660 Hz : </a:t>
            </a:r>
            <a:r>
              <a:rPr lang="fr-FR" sz="1400" dirty="0">
                <a:solidFill>
                  <a:schemeClr val="tx1"/>
                </a:solidFill>
              </a:rPr>
              <a:t>Humbucker</a:t>
            </a: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A1651DA-3FA0-EAA6-50EF-BE78F2EFD1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14237" b="24239"/>
          <a:stretch>
            <a:fillRect/>
          </a:stretch>
        </p:blipFill>
        <p:spPr>
          <a:xfrm>
            <a:off x="7172960" y="4166710"/>
            <a:ext cx="875318" cy="30368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EBA155B-6CC1-7813-6376-34A4360797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14237" b="24239"/>
          <a:stretch>
            <a:fillRect/>
          </a:stretch>
        </p:blipFill>
        <p:spPr>
          <a:xfrm>
            <a:off x="7172960" y="5529556"/>
            <a:ext cx="875318" cy="303682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08A12E2F-6440-0C66-3EED-338F2F4CBA71}"/>
              </a:ext>
            </a:extLst>
          </p:cNvPr>
          <p:cNvGrpSpPr/>
          <p:nvPr/>
        </p:nvGrpSpPr>
        <p:grpSpPr>
          <a:xfrm>
            <a:off x="6028225" y="3603428"/>
            <a:ext cx="2708910" cy="584583"/>
            <a:chOff x="6020605" y="3603428"/>
            <a:chExt cx="2708910" cy="58458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35C51C9-3E55-4ED4-F52C-75C8B9D22A57}"/>
                </a:ext>
              </a:extLst>
            </p:cNvPr>
            <p:cNvGrpSpPr/>
            <p:nvPr/>
          </p:nvGrpSpPr>
          <p:grpSpPr>
            <a:xfrm>
              <a:off x="6473173" y="3603428"/>
              <a:ext cx="2256342" cy="584583"/>
              <a:chOff x="6017895" y="3591098"/>
              <a:chExt cx="2256342" cy="584583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63" r="3312"/>
              <a:stretch>
                <a:fillRect/>
              </a:stretch>
            </p:blipFill>
            <p:spPr>
              <a:xfrm>
                <a:off x="6017895" y="3591098"/>
                <a:ext cx="1803774" cy="584583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611F04AF-6208-0FD2-2CE4-38437FDC11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64" r="72921"/>
              <a:stretch>
                <a:fillRect/>
              </a:stretch>
            </p:blipFill>
            <p:spPr>
              <a:xfrm>
                <a:off x="7821670" y="3591098"/>
                <a:ext cx="452567" cy="584583"/>
              </a:xfrm>
              <a:prstGeom prst="rect">
                <a:avLst/>
              </a:prstGeom>
            </p:spPr>
          </p:pic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59FA1D13-9BC4-EF92-FF84-0FA06FAB2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26924" r="49606"/>
            <a:stretch>
              <a:fillRect/>
            </a:stretch>
          </p:blipFill>
          <p:spPr>
            <a:xfrm>
              <a:off x="6020605" y="3603428"/>
              <a:ext cx="455576" cy="584583"/>
            </a:xfrm>
            <a:prstGeom prst="rect">
              <a:avLst/>
            </a:prstGeom>
          </p:spPr>
        </p:pic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89C2B76-14A7-352C-3558-94E72D3645FB}"/>
              </a:ext>
            </a:extLst>
          </p:cNvPr>
          <p:cNvCxnSpPr>
            <a:cxnSpLocks/>
          </p:cNvCxnSpPr>
          <p:nvPr/>
        </p:nvCxnSpPr>
        <p:spPr>
          <a:xfrm flipV="1">
            <a:off x="7385685" y="3528060"/>
            <a:ext cx="0" cy="982980"/>
          </a:xfrm>
          <a:prstGeom prst="line">
            <a:avLst/>
          </a:prstGeom>
          <a:ln w="9525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9022EBE5-7C06-7B7D-774C-594FF859AF10}"/>
              </a:ext>
            </a:extLst>
          </p:cNvPr>
          <p:cNvGrpSpPr/>
          <p:nvPr/>
        </p:nvGrpSpPr>
        <p:grpSpPr>
          <a:xfrm>
            <a:off x="6031230" y="4869799"/>
            <a:ext cx="1793012" cy="584583"/>
            <a:chOff x="6020605" y="3603428"/>
            <a:chExt cx="2256342" cy="584583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C7B5256-4F67-B265-B611-CD025B84FD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63" r="3312"/>
            <a:stretch>
              <a:fillRect/>
            </a:stretch>
          </p:blipFill>
          <p:spPr>
            <a:xfrm>
              <a:off x="6473173" y="3603428"/>
              <a:ext cx="1803774" cy="584583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A9D45AE-CAC6-1FAC-6A97-83B566C0D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26924" r="49606"/>
            <a:stretch>
              <a:fillRect/>
            </a:stretch>
          </p:blipFill>
          <p:spPr>
            <a:xfrm>
              <a:off x="6020605" y="3603428"/>
              <a:ext cx="455576" cy="584583"/>
            </a:xfrm>
            <a:prstGeom prst="rect">
              <a:avLst/>
            </a:prstGeom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6626B956-6A31-C45B-31EA-3FC18D281B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37506" r="3312"/>
          <a:stretch>
            <a:fillRect/>
          </a:stretch>
        </p:blipFill>
        <p:spPr>
          <a:xfrm rot="10800000">
            <a:off x="7824241" y="4883162"/>
            <a:ext cx="912893" cy="584583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F8BBEE0-1D85-AECC-01F9-428B6D92ECA9}"/>
              </a:ext>
            </a:extLst>
          </p:cNvPr>
          <p:cNvCxnSpPr>
            <a:cxnSpLocks/>
          </p:cNvCxnSpPr>
          <p:nvPr/>
        </p:nvCxnSpPr>
        <p:spPr>
          <a:xfrm flipV="1">
            <a:off x="7831999" y="4896735"/>
            <a:ext cx="0" cy="982980"/>
          </a:xfrm>
          <a:prstGeom prst="line">
            <a:avLst/>
          </a:prstGeom>
          <a:ln w="9525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9851"/>
              </p:ext>
            </p:extLst>
          </p:nvPr>
        </p:nvGraphicFramePr>
        <p:xfrm>
          <a:off x="449950" y="1397000"/>
          <a:ext cx="4122050" cy="4640580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6035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3708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Le Timbre : L'Effet du Filtre Interne RLC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674519" y="1741305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678716" y="4086405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5" y="5771618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/>
        </p:blipFill>
        <p:spPr>
          <a:xfrm>
            <a:off x="4695507" y="1341342"/>
            <a:ext cx="4006341" cy="2960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𝑐𝑠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8219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r>
                  <a:rPr lang="fr-FR" sz="1600" dirty="0"/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4502 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blipFill>
                <a:blip r:embed="rId10"/>
                <a:stretch>
                  <a:fillRect l="-792" t="-2206" b="-44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4F6C346-A3C5-1522-6B30-1F651D83DC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60213" y="1525636"/>
            <a:ext cx="1546490" cy="15944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87AB88-97AD-E218-4D68-9EE41709C01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77164" y="4158670"/>
            <a:ext cx="1792861" cy="1109628"/>
          </a:xfrm>
          <a:prstGeom prst="rect">
            <a:avLst/>
          </a:prstGeom>
        </p:spPr>
      </p:pic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0E825AA0-19F2-F874-0523-5C4D47B5EC72}"/>
              </a:ext>
            </a:extLst>
          </p:cNvPr>
          <p:cNvSpPr/>
          <p:nvPr/>
        </p:nvSpPr>
        <p:spPr>
          <a:xfrm>
            <a:off x="5758180" y="3949559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9ED15B-E6BC-7AE9-95AF-28E49CCC9D24}"/>
              </a:ext>
            </a:extLst>
          </p:cNvPr>
          <p:cNvCxnSpPr>
            <a:cxnSpLocks/>
          </p:cNvCxnSpPr>
          <p:nvPr/>
        </p:nvCxnSpPr>
        <p:spPr>
          <a:xfrm>
            <a:off x="5758180" y="3992104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7E9BBF-4D7A-402A-291A-6391E71D125F}"/>
              </a:ext>
            </a:extLst>
          </p:cNvPr>
          <p:cNvSpPr txBox="1"/>
          <p:nvPr/>
        </p:nvSpPr>
        <p:spPr>
          <a:xfrm>
            <a:off x="5731585" y="3704611"/>
            <a:ext cx="15670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solidFill>
                  <a:srgbClr val="C00000"/>
                </a:solidFill>
              </a:rPr>
              <a:t>Domaine accessible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/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blipFill>
                <a:blip r:embed="rId17"/>
                <a:stretch>
                  <a:fillRect t="-1031" b="-3093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/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blipFill>
                <a:blip r:embed="rId18"/>
                <a:stretch>
                  <a:fillRect b="-1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38F8C0-BDF7-8BA1-8605-E7492823E15C}"/>
              </a:ext>
            </a:extLst>
          </p:cNvPr>
          <p:cNvCxnSpPr>
            <a:cxnSpLocks/>
          </p:cNvCxnSpPr>
          <p:nvPr/>
        </p:nvCxnSpPr>
        <p:spPr>
          <a:xfrm flipV="1">
            <a:off x="7272020" y="1691640"/>
            <a:ext cx="0" cy="104267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DA1487E-703C-C235-C1D6-7329EC3075FA}"/>
              </a:ext>
            </a:extLst>
          </p:cNvPr>
          <p:cNvCxnSpPr>
            <a:cxnSpLocks/>
          </p:cNvCxnSpPr>
          <p:nvPr/>
        </p:nvCxnSpPr>
        <p:spPr>
          <a:xfrm flipV="1">
            <a:off x="5758180" y="1691640"/>
            <a:ext cx="0" cy="70866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0DA2B48-8402-60E2-5FEB-C330C7CB97E4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575818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79D34D3-446F-0DB0-1D34-CF2A9097C512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727202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7BEDA43-68F6-F3B9-DAF5-75E21BEE402F}"/>
              </a:ext>
            </a:extLst>
          </p:cNvPr>
          <p:cNvCxnSpPr>
            <a:cxnSpLocks/>
          </p:cNvCxnSpPr>
          <p:nvPr/>
        </p:nvCxnSpPr>
        <p:spPr>
          <a:xfrm flipV="1">
            <a:off x="5758180" y="2691765"/>
            <a:ext cx="0" cy="42545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261DFBF-9D0A-89FC-97EC-9581D6D0FCFB}"/>
              </a:ext>
            </a:extLst>
          </p:cNvPr>
          <p:cNvGrpSpPr/>
          <p:nvPr/>
        </p:nvGrpSpPr>
        <p:grpSpPr>
          <a:xfrm>
            <a:off x="7731933" y="4019554"/>
            <a:ext cx="355600" cy="404987"/>
            <a:chOff x="1291300" y="5077968"/>
            <a:chExt cx="355600" cy="404987"/>
          </a:xfrm>
        </p:grpSpPr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9029F23-2623-1CE1-1453-E8A6092F00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𝒄𝒔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1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F8BA76-AD12-0317-7181-C8D57AC87E40}"/>
              </a:ext>
            </a:extLst>
          </p:cNvPr>
          <p:cNvGrpSpPr/>
          <p:nvPr/>
        </p:nvGrpSpPr>
        <p:grpSpPr>
          <a:xfrm>
            <a:off x="7460904" y="4015605"/>
            <a:ext cx="355600" cy="404987"/>
            <a:chOff x="1291300" y="5077968"/>
            <a:chExt cx="355600" cy="404987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7354AFF-FB03-6625-CF50-F0D7AC778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𝒄𝒉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2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Espacement entre les deux bobinages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blipFill>
                <a:blip r:embed="rId2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4BB3D-1902-55C0-F635-6C138FD49C9A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Intérêt du Humbucker : L’annulation du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Supposons le champ uniforme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600" dirty="0"/>
                  <a:t>)</a:t>
                </a:r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el-G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2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blipFill>
                <a:blip r:embed="rId3"/>
                <a:stretch>
                  <a:fillRect l="-430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EAF15FF1-795D-844B-4386-4B6F1C844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21C569-9488-D1D8-6F63-F78A9BC1BA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345439" y="1362548"/>
            <a:ext cx="4216714" cy="256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1839139" y="657537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223972" y="3595922"/>
            <a:ext cx="1154232" cy="14144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525532" y="4255954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24074" y="4527051"/>
            <a:ext cx="1036591" cy="1024010"/>
          </a:xfrm>
          <a:prstGeom prst="bentConnector3">
            <a:avLst>
              <a:gd name="adj1" fmla="val 19616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678638" y="4956566"/>
            <a:ext cx="964034" cy="116808"/>
          </a:xfrm>
          <a:prstGeom prst="bentConnector3">
            <a:avLst>
              <a:gd name="adj1" fmla="val 20491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099361" y="3136255"/>
            <a:ext cx="1167610" cy="10717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283309" y="2383134"/>
            <a:ext cx="1609558" cy="512085"/>
          </a:xfrm>
          <a:prstGeom prst="bentConnector3">
            <a:avLst>
              <a:gd name="adj1" fmla="val 99895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5936658" y="1173542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C37F92-0300-2194-BBFA-28D6CCCBFC3F}"/>
              </a:ext>
            </a:extLst>
          </p:cNvPr>
          <p:cNvCxnSpPr>
            <a:cxnSpLocks/>
          </p:cNvCxnSpPr>
          <p:nvPr/>
        </p:nvCxnSpPr>
        <p:spPr>
          <a:xfrm flipH="1">
            <a:off x="1404620" y="3077337"/>
            <a:ext cx="3840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98F84A-A707-90F0-135B-B3D6DB6478CF}"/>
              </a:ext>
            </a:extLst>
          </p:cNvPr>
          <p:cNvCxnSpPr>
            <a:cxnSpLocks/>
          </p:cNvCxnSpPr>
          <p:nvPr/>
        </p:nvCxnSpPr>
        <p:spPr>
          <a:xfrm flipH="1">
            <a:off x="2051685" y="5819775"/>
            <a:ext cx="53736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1EFDBD-E61E-278F-44CD-F2CF49819FCC}"/>
                  </a:ext>
                </a:extLst>
              </p:cNvPr>
              <p:cNvSpPr txBox="1"/>
              <p:nvPr/>
            </p:nvSpPr>
            <p:spPr>
              <a:xfrm>
                <a:off x="5472068" y="4108011"/>
                <a:ext cx="3596562" cy="638445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1EFDBD-E61E-278F-44CD-F2CF49819F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068" y="4108011"/>
                <a:ext cx="3596562" cy="6384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088521" y="4243762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44081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66872" y="4895376"/>
            <a:ext cx="3744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/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BC1AD-D662-AF41-F177-355DE484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07612C5-4A26-0B28-2BD4-3A8F0CAD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915AB5E-C31B-83F0-8756-B39AD42E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CA1D53-FBAC-07F1-1634-E7200C0F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518319-7113-8BB5-7B76-0997B476402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605B48-9A4A-8845-4E30-DB8A70A03D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5308E7-3108-B4A2-CB1B-A36615B3F1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17FE39-D06B-92A8-3C3B-37F7B7C457A9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EB4B2E-5AB8-F070-9D49-1607376C31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9B84C60E-3F0A-1DF5-2981-48DCA486B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558A09-C574-4E88-7830-77728A6B8D54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915B1B-F1D5-4122-3435-158E00B22FD1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84CB12-A218-367D-D503-E7BB7299F61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14851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0C72B-4961-E843-949D-D5A434BCC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0364E0E-5649-AE35-0AC0-F1FCF641F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5B8C822-0F98-D84B-3809-245893B60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6BF90DF-3B52-AA5F-9259-44C014051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25C9A0-5F84-B1AE-6321-6B11D5DC683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7659626-0619-3AC7-5309-304086C2FEE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73A919-E9F2-05A2-8AC0-9DB60D2289C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D57718-A78C-9B18-06A6-9CD65E45442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7871DE-93D7-4BEE-BCFB-64C2A6C97E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3" y="164775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1CE37557-6835-FC1A-A047-49DCA85C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E43EEBF-FD28-3EDB-5D3E-7BCD2D845D6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01092-E189-42FD-8276-6B9177C12D1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87A465-B075-231C-C729-919AE474ABF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C0C4B50-A414-2854-3E94-6C7A6B485D4A}"/>
              </a:ext>
            </a:extLst>
          </p:cNvPr>
          <p:cNvGrpSpPr/>
          <p:nvPr/>
        </p:nvGrpSpPr>
        <p:grpSpPr>
          <a:xfrm>
            <a:off x="1136233" y="4388291"/>
            <a:ext cx="355600" cy="480773"/>
            <a:chOff x="1364960" y="5087464"/>
            <a:chExt cx="355600" cy="480773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5B248C-9F2B-4A82-1217-FDEAB9089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/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9E11F0-6038-7ECF-3624-A516FA41FD8D}"/>
              </a:ext>
            </a:extLst>
          </p:cNvPr>
          <p:cNvGrpSpPr/>
          <p:nvPr/>
        </p:nvGrpSpPr>
        <p:grpSpPr>
          <a:xfrm>
            <a:off x="869533" y="4388291"/>
            <a:ext cx="355600" cy="477500"/>
            <a:chOff x="1168945" y="5077968"/>
            <a:chExt cx="355600" cy="47750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90F5EE3-AC94-07B1-0969-F4DD1499E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/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C259C6-64C0-168F-36C9-54FE6408BBD6}"/>
              </a:ext>
            </a:extLst>
          </p:cNvPr>
          <p:cNvGrpSpPr/>
          <p:nvPr/>
        </p:nvGrpSpPr>
        <p:grpSpPr>
          <a:xfrm>
            <a:off x="5732163" y="4456819"/>
            <a:ext cx="355600" cy="355726"/>
            <a:chOff x="1383175" y="5087464"/>
            <a:chExt cx="355600" cy="35572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3CAC429-FD1D-C325-B41D-36624A5198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005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/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F086CF9-0534-511C-4648-563B667A2FE3}"/>
              </a:ext>
            </a:extLst>
          </p:cNvPr>
          <p:cNvGrpSpPr/>
          <p:nvPr/>
        </p:nvGrpSpPr>
        <p:grpSpPr>
          <a:xfrm>
            <a:off x="5447248" y="4456819"/>
            <a:ext cx="355600" cy="350076"/>
            <a:chOff x="1168945" y="5077968"/>
            <a:chExt cx="355600" cy="350076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36CCFA-14E0-7327-2696-A71CEC06D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00501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/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8437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1,76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0,69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8,1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Soit un écart de :</a:t>
                </a: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𝑇h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𝑒𝑥𝑝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𝑇h</m:t>
                              </m:r>
                            </m:sub>
                          </m:sSub>
                        </m:den>
                      </m:f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=72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,4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%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D41862-C3BD-3DBC-9C94-5AA0370D9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7910" y="117557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D9D983-D7EC-1847-6F67-1C73EF899C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091" y="1175575"/>
            <a:ext cx="3779998" cy="31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7285B1D-7589-38F4-8881-77CD6EFBFA3D}"/>
              </a:ext>
            </a:extLst>
          </p:cNvPr>
          <p:cNvSpPr txBox="1"/>
          <p:nvPr/>
        </p:nvSpPr>
        <p:spPr>
          <a:xfrm>
            <a:off x="366090" y="4378199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Influence sur le timbre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BAAEE-82DC-9B7D-B472-CECEDB124BF3}"/>
              </a:ext>
            </a:extLst>
          </p:cNvPr>
          <p:cNvSpPr txBox="1"/>
          <p:nvPr/>
        </p:nvSpPr>
        <p:spPr>
          <a:xfrm>
            <a:off x="4997910" y="4384042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Influence sur le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0781B3E-CE78-9C77-C256-488F2AA5284D}"/>
                  </a:ext>
                </a:extLst>
              </p:cNvPr>
              <p:cNvSpPr txBox="1"/>
              <p:nvPr/>
            </p:nvSpPr>
            <p:spPr>
              <a:xfrm>
                <a:off x="7031909" y="4703141"/>
                <a:ext cx="1745999" cy="265201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=8,1</m:t>
                      </m:r>
                      <m:r>
                        <m:rPr>
                          <m:nor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0781B3E-CE78-9C77-C256-488F2AA52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909" y="4703141"/>
                <a:ext cx="1745999" cy="265201"/>
              </a:xfrm>
              <a:prstGeom prst="rect">
                <a:avLst/>
              </a:prstGeom>
              <a:blipFill>
                <a:blip r:embed="rId5"/>
                <a:stretch>
                  <a:fillRect l="-1042" r="-694" b="-2000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D129F86-93BF-EC4E-2286-CDD3B494D6C3}"/>
                  </a:ext>
                </a:extLst>
              </p:cNvPr>
              <p:cNvSpPr txBox="1"/>
              <p:nvPr/>
            </p:nvSpPr>
            <p:spPr>
              <a:xfrm>
                <a:off x="4997910" y="4703141"/>
                <a:ext cx="1745999" cy="246221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</m:t>
                      </m:r>
                      <m:r>
                        <m:rPr>
                          <m:nor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3 </m:t>
                      </m:r>
                      <m:r>
                        <m:rPr>
                          <m:nor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D129F86-93BF-EC4E-2286-CDD3B494D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7910" y="4703141"/>
                <a:ext cx="1745999" cy="246221"/>
              </a:xfrm>
              <a:prstGeom prst="rect">
                <a:avLst/>
              </a:prstGeom>
              <a:blipFill>
                <a:blip r:embed="rId6"/>
                <a:stretch>
                  <a:fillRect l="-2083" r="-1736" b="-14286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66055" y="1181069"/>
            <a:ext cx="288000" cy="288000"/>
          </a:xfrm>
          <a:prstGeom prst="rect">
            <a:avLst/>
          </a:prstGeom>
        </p:spPr>
      </p:pic>
      <p:pic>
        <p:nvPicPr>
          <p:cNvPr id="14" name="Graphic 13" descr="Warning with solid fill">
            <a:extLst>
              <a:ext uri="{FF2B5EF4-FFF2-40B4-BE49-F238E27FC236}">
                <a16:creationId xmlns:a16="http://schemas.microsoft.com/office/drawing/2014/main" id="{3BB5C535-4333-776E-D945-A6D5630016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59200" y="1197908"/>
            <a:ext cx="360000" cy="360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E488894-49D1-3554-23E5-83AF96D476C2}"/>
              </a:ext>
            </a:extLst>
          </p:cNvPr>
          <p:cNvSpPr/>
          <p:nvPr/>
        </p:nvSpPr>
        <p:spPr>
          <a:xfrm>
            <a:off x="366090" y="5136543"/>
            <a:ext cx="3780000" cy="1097279"/>
          </a:xfrm>
          <a:prstGeom prst="rect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fr-FR" sz="1600" b="1" u="sng" dirty="0">
                <a:solidFill>
                  <a:schemeClr val="tx1"/>
                </a:solidFill>
              </a:rPr>
              <a:t>Limite du modèle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Incertitude expérimentale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Asymétrie de bobinage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Gradient magnétique linéaire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86FBBA-1594-B820-8875-9882C8B1736D}"/>
              </a:ext>
            </a:extLst>
          </p:cNvPr>
          <p:cNvSpPr/>
          <p:nvPr/>
        </p:nvSpPr>
        <p:spPr>
          <a:xfrm>
            <a:off x="4997910" y="5128291"/>
            <a:ext cx="3780000" cy="1097279"/>
          </a:xfrm>
          <a:prstGeom prst="rect">
            <a:avLst/>
          </a:prstGeom>
          <a:ln w="38100">
            <a:solidFill>
              <a:schemeClr val="accent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fr-FR" sz="1600" b="1" u="sng" dirty="0">
                <a:solidFill>
                  <a:schemeClr val="tx1"/>
                </a:solidFill>
              </a:rPr>
              <a:t>Ouverture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Micros actifs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Filtrage numérique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Intelligence artificielle</a:t>
            </a:r>
          </a:p>
        </p:txBody>
      </p: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61664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Architecture des micros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SingleCoil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Humbucker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Enregistrement des courbes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[4]</a:t>
            </a:r>
            <a:r>
              <a:rPr lang="en-GB" sz="1400" dirty="0"/>
              <a:t> P. Perov, W. Johnson et N. Perova-Mello, "The physics of guitar string vibrations", </a:t>
            </a:r>
            <a:r>
              <a:rPr lang="en-GB" sz="1400" i="1" dirty="0"/>
              <a:t>American Journal of Physics</a:t>
            </a:r>
            <a:r>
              <a:rPr lang="en-GB" sz="1400" dirty="0"/>
              <a:t>, vol. 84, no. 1, pp. 38–43, 2016.</a:t>
            </a:r>
          </a:p>
          <a:p>
            <a:endParaRPr lang="fr-FR" sz="1400" dirty="0"/>
          </a:p>
          <a:p>
            <a:r>
              <a:rPr lang="en-GB" sz="1400" b="1" dirty="0"/>
              <a:t>[5]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u="sng" dirty="0">
                <a:hlinkClick r:id="rId3"/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dirty="0"/>
          </a:p>
          <a:p>
            <a:r>
              <a:rPr lang="en-GB" sz="1400" b="1" dirty="0"/>
              <a:t>[6]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9203F-DCDD-12E1-40BC-C0D730A8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570B1D8-BB74-16EB-2892-64289F770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142FD07-64E6-E464-580A-FA09B9EA4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B56186A-F3C3-7A25-162A-EA12991E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FB7617-FDB8-45D6-8EAA-EF67E85D13D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243D993-E88C-5B5E-D44F-B26EDBEE197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F9468-985A-44C8-BDEF-F74DFF87AA08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 Architecture du micro SingleCoil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489CB-09ED-2991-34E1-D6F8CAEC6137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16F42-233E-3C36-3E70-075C105914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/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olorful image of a person's figure&#10;&#10;AI-generated content may be incorrect.">
            <a:extLst>
              <a:ext uri="{FF2B5EF4-FFF2-40B4-BE49-F238E27FC236}">
                <a16:creationId xmlns:a16="http://schemas.microsoft.com/office/drawing/2014/main" id="{7D2EAD4D-0676-FCCB-2F80-18DDD24A45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3" t="8853" r="2401" b="3627"/>
          <a:stretch>
            <a:fillRect/>
          </a:stretch>
        </p:blipFill>
        <p:spPr>
          <a:xfrm>
            <a:off x="345440" y="1359476"/>
            <a:ext cx="4373217" cy="4401584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9FB169DC-4756-2647-DEC2-0FAE09A0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4358657" y="606157"/>
            <a:ext cx="720000" cy="59276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7B9464FC-0456-F9DF-7DDC-328552214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9992BE-DD53-5050-97B0-C5548C7A1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5452450" y="2164326"/>
            <a:ext cx="3441020" cy="279188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E460B4F-455F-70B8-BEC9-E4F3FA210578}"/>
              </a:ext>
            </a:extLst>
          </p:cNvPr>
          <p:cNvSpPr/>
          <p:nvPr/>
        </p:nvSpPr>
        <p:spPr>
          <a:xfrm>
            <a:off x="5305018" y="2172322"/>
            <a:ext cx="360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037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CF82E-31FC-569C-F715-A12FE805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027713-1A14-ADCF-1EB7-44F0BC3E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63C213D-C1A7-E785-4D52-F5D2BDCA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BE6DA4B-21E4-EF20-2D85-B54BD3760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CF7BA-78DF-C865-CE3E-1012AFEDFCB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1A58F4-E0F1-C08F-AA23-ECAC47BAD33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21FBD-DF28-19BE-1ABD-AB49FBE1FF6E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 Architecture du micro Humbucker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895C85-EE62-318D-3E46-D911D5058D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F266A6-00C5-92E4-F027-0104E6F114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/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35F5D6CB-7847-62D7-A9DA-0C33A2392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ue and yellow graphic of a beam&#10;&#10;AI-generated content may be incorrect.">
            <a:extLst>
              <a:ext uri="{FF2B5EF4-FFF2-40B4-BE49-F238E27FC236}">
                <a16:creationId xmlns:a16="http://schemas.microsoft.com/office/drawing/2014/main" id="{1B9F4EB4-3A12-19DE-1414-86731117B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861" t="3983" r="6896" b="1499"/>
          <a:stretch>
            <a:fillRect/>
          </a:stretch>
        </p:blipFill>
        <p:spPr>
          <a:xfrm>
            <a:off x="345440" y="1350084"/>
            <a:ext cx="5318310" cy="4157832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F5162EA-F359-83EC-F22B-9C4BFDA13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4572000" y="616942"/>
            <a:ext cx="720000" cy="5781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016E24-88DB-777F-B5A4-963FE8D57F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370" t="27687" r="14237" b="24239"/>
          <a:stretch>
            <a:fillRect/>
          </a:stretch>
        </p:blipFill>
        <p:spPr>
          <a:xfrm>
            <a:off x="5741689" y="2797946"/>
            <a:ext cx="3367309" cy="230168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814FBA4-BAF4-BD20-65A1-AFAE5EE8EC82}"/>
              </a:ext>
            </a:extLst>
          </p:cNvPr>
          <p:cNvSpPr/>
          <p:nvPr/>
        </p:nvSpPr>
        <p:spPr>
          <a:xfrm>
            <a:off x="5979363" y="2679908"/>
            <a:ext cx="288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93488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5.1 Modèle Théorique : Micro Simple </a:t>
            </a:r>
            <a:r>
              <a:rPr lang="fr-FR" sz="1000" i="1" dirty="0"/>
              <a:t>cf. [4]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5.2 Modèle Théorique : Micro Humbucker </a:t>
            </a:r>
            <a:r>
              <a:rPr lang="fr-FR" sz="1000" i="1" dirty="0"/>
              <a:t>cf. [4]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3327</Words>
  <Application>Microsoft Office PowerPoint</Application>
  <PresentationFormat>On-screen Show (4:3)</PresentationFormat>
  <Paragraphs>603</Paragraphs>
  <Slides>39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462</cp:revision>
  <dcterms:created xsi:type="dcterms:W3CDTF">2025-06-09T15:35:56Z</dcterms:created>
  <dcterms:modified xsi:type="dcterms:W3CDTF">2025-12-07T11:54:09Z</dcterms:modified>
</cp:coreProperties>
</file>