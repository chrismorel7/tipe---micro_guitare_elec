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notesMasterIdLst>
    <p:notesMasterId r:id="rId22"/>
  </p:notesMasterIdLst>
  <p:sldIdLst>
    <p:sldId id="256" r:id="rId2"/>
    <p:sldId id="265" r:id="rId3"/>
    <p:sldId id="278" r:id="rId4"/>
    <p:sldId id="289" r:id="rId5"/>
    <p:sldId id="295" r:id="rId6"/>
    <p:sldId id="281" r:id="rId7"/>
    <p:sldId id="283" r:id="rId8"/>
    <p:sldId id="296" r:id="rId9"/>
    <p:sldId id="297" r:id="rId10"/>
    <p:sldId id="298" r:id="rId11"/>
    <p:sldId id="300" r:id="rId12"/>
    <p:sldId id="271" r:id="rId13"/>
    <p:sldId id="272" r:id="rId14"/>
    <p:sldId id="277" r:id="rId15"/>
    <p:sldId id="287" r:id="rId16"/>
    <p:sldId id="275" r:id="rId17"/>
    <p:sldId id="292" r:id="rId18"/>
    <p:sldId id="293" r:id="rId19"/>
    <p:sldId id="286" r:id="rId20"/>
    <p:sldId id="28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91" autoAdjust="0"/>
    <p:restoredTop sz="94660"/>
  </p:normalViewPr>
  <p:slideViewPr>
    <p:cSldViewPr snapToGrid="0">
      <p:cViewPr varScale="1">
        <p:scale>
          <a:sx n="96" d="100"/>
          <a:sy n="96" d="100"/>
        </p:scale>
        <p:origin x="120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E8646E-8D3C-430C-BFA9-96BAF70313EA}" type="datetimeFigureOut">
              <a:rPr lang="fr-FR" smtClean="0"/>
              <a:t>28/09/2025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29F9D8-59C4-4910-A7AD-28D3BB517C7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5894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2547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C724F-4508-4890-B18E-3F5BB1B02F24}" type="datetimeFigureOut">
              <a:rPr lang="fr-FR" smtClean="0"/>
              <a:t>28/09/2025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9688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C724F-4508-4890-B18E-3F5BB1B02F24}" type="datetimeFigureOut">
              <a:rPr lang="fr-FR" smtClean="0"/>
              <a:t>28/09/2025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2248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C724F-4508-4890-B18E-3F5BB1B02F24}" type="datetimeFigureOut">
              <a:rPr lang="fr-FR" smtClean="0"/>
              <a:t>28/09/2025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0018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C724F-4508-4890-B18E-3F5BB1B02F24}" type="datetimeFigureOut">
              <a:rPr lang="fr-FR" smtClean="0"/>
              <a:t>28/09/2025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9728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C724F-4508-4890-B18E-3F5BB1B02F24}" type="datetimeFigureOut">
              <a:rPr lang="fr-FR" smtClean="0"/>
              <a:t>28/09/2025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757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C724F-4508-4890-B18E-3F5BB1B02F24}" type="datetimeFigureOut">
              <a:rPr lang="fr-FR" smtClean="0"/>
              <a:t>28/09/2025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3231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C724F-4508-4890-B18E-3F5BB1B02F24}" type="datetimeFigureOut">
              <a:rPr lang="fr-FR" smtClean="0"/>
              <a:t>28/09/2025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1095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1C7C724F-4508-4890-B18E-3F5BB1B02F24}" type="datetimeFigureOut">
              <a:rPr lang="fr-FR" smtClean="0"/>
              <a:t>28/09/2025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4298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C724F-4508-4890-B18E-3F5BB1B02F24}" type="datetimeFigureOut">
              <a:rPr lang="fr-FR" smtClean="0"/>
              <a:t>28/09/2025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5573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C724F-4508-4890-B18E-3F5BB1B02F24}" type="datetimeFigureOut">
              <a:rPr lang="fr-FR" smtClean="0"/>
              <a:t>28/09/2025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1322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C724F-4508-4890-B18E-3F5BB1B02F24}" type="datetimeFigureOut">
              <a:rPr lang="fr-FR" smtClean="0"/>
              <a:t>28/09/2025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5225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C7C724F-4508-4890-B18E-3F5BB1B02F24}" type="datetimeFigureOut">
              <a:rPr lang="fr-FR" smtClean="0"/>
              <a:t>28/09/2025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7912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61.png"/><Relationship Id="rId4" Type="http://schemas.openxmlformats.org/officeDocument/2006/relationships/image" Target="../media/image5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image" Target="../media/image14.png"/><Relationship Id="rId7" Type="http://schemas.openxmlformats.org/officeDocument/2006/relationships/image" Target="../media/image14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1.png"/><Relationship Id="rId4" Type="http://schemas.openxmlformats.org/officeDocument/2006/relationships/image" Target="../media/image130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eymourduncan.com/" TargetMode="External"/><Relationship Id="rId2" Type="http://schemas.openxmlformats.org/officeDocument/2006/relationships/hyperlink" Target="https://www.thomann.de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jensign.com/Discovery/Pickup/index.html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0.png"/><Relationship Id="rId4" Type="http://schemas.openxmlformats.org/officeDocument/2006/relationships/image" Target="../media/image20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3.png"/><Relationship Id="rId4" Type="http://schemas.openxmlformats.org/officeDocument/2006/relationships/image" Target="../media/image2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A121F9-7273-1CF4-F60D-E01BEEB3AF96}"/>
              </a:ext>
            </a:extLst>
          </p:cNvPr>
          <p:cNvSpPr/>
          <p:nvPr/>
        </p:nvSpPr>
        <p:spPr>
          <a:xfrm>
            <a:off x="628649" y="262383"/>
            <a:ext cx="7886701" cy="775252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350" dirty="0">
                <a:latin typeface="Arial Black" panose="020B0A04020102020204" pitchFamily="34" charset="0"/>
              </a:rPr>
              <a:t>Loi d’induction de Faraday : Le fonctionnement d’une guitare électrique</a:t>
            </a:r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5CA91E38-0C9E-C7FB-9A24-FA98AC9C8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9C1-8EE1-4062-8A80-955144FCA279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11FCC0EF-4B1B-F41C-656B-2BE699CDE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A305C624-2E1B-C39E-B3B4-807FF6A6B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1</a:t>
            </a:fld>
            <a:endParaRPr lang="fr-FR"/>
          </a:p>
        </p:txBody>
      </p:sp>
      <p:pic>
        <p:nvPicPr>
          <p:cNvPr id="1026" name="Picture 2" descr="Guitare, La Musique, Guitare Électrique">
            <a:extLst>
              <a:ext uri="{FF2B5EF4-FFF2-40B4-BE49-F238E27FC236}">
                <a16:creationId xmlns:a16="http://schemas.microsoft.com/office/drawing/2014/main" id="{0098F414-3793-7E07-8CE1-A5A56D7C25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01" b="423"/>
          <a:stretch>
            <a:fillRect/>
          </a:stretch>
        </p:blipFill>
        <p:spPr bwMode="auto">
          <a:xfrm>
            <a:off x="628662" y="1210868"/>
            <a:ext cx="7886688" cy="482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7878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FAE0E-A710-B751-21D5-1465D9560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23CE604F-6BFC-79C1-4FC3-CA1EA5356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9C1-8EE1-4062-8A80-955144FCA279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7C9A119C-A152-8451-8BAD-3058A8833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BA6762A-3000-D56B-00BC-9C877DB75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2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1B7045-CF40-0E65-A5C7-9FB0BF30525B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A0A1813A-2397-9FF3-55B4-A7083DA4BF3A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3AB908-2C09-A846-F7C5-107A095B6297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>
                <a:latin typeface="+mj-lt"/>
              </a:rPr>
              <a:t>Problématique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896A7184-965A-9FF1-E334-6E90259941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4019" y="2253924"/>
            <a:ext cx="742534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000" dirty="0"/>
              <a:t>Comment </a:t>
            </a:r>
            <a:r>
              <a:rPr lang="fr-FR" sz="2000" b="1" dirty="0"/>
              <a:t>le type de micro </a:t>
            </a:r>
            <a:r>
              <a:rPr lang="fr-FR" sz="2000" dirty="0"/>
              <a:t>influence-t-il le </a:t>
            </a:r>
            <a:r>
              <a:rPr lang="fr-FR" sz="2000" b="1" dirty="0"/>
              <a:t>timbre</a:t>
            </a:r>
            <a:r>
              <a:rPr lang="fr-FR" sz="2000" dirty="0"/>
              <a:t> et </a:t>
            </a:r>
            <a:r>
              <a:rPr lang="fr-FR" sz="2000" b="1" dirty="0"/>
              <a:t>l’amplitude</a:t>
            </a:r>
            <a:r>
              <a:rPr lang="fr-FR" sz="2000" dirty="0"/>
              <a:t> du </a:t>
            </a:r>
            <a:r>
              <a:rPr lang="fr-FR" sz="2000" b="1" dirty="0"/>
              <a:t>son</a:t>
            </a:r>
            <a:r>
              <a:rPr lang="fr-FR" sz="2000" dirty="0"/>
              <a:t> d’une guitare électrique ?</a:t>
            </a:r>
            <a:endParaRPr kumimoji="0" lang="fr-FR" altLang="fr-FR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4EE9D4-1D4E-E6DD-563B-928B9E769F11}"/>
              </a:ext>
            </a:extLst>
          </p:cNvPr>
          <p:cNvSpPr txBox="1"/>
          <p:nvPr/>
        </p:nvSpPr>
        <p:spPr>
          <a:xfrm>
            <a:off x="822961" y="4436823"/>
            <a:ext cx="3749039" cy="646331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/>
              <a:t>Single </a:t>
            </a:r>
            <a:r>
              <a:rPr lang="fr-FR" dirty="0" err="1"/>
              <a:t>Coil</a:t>
            </a:r>
            <a:r>
              <a:rPr lang="fr-FR" dirty="0"/>
              <a:t> </a:t>
            </a:r>
          </a:p>
          <a:p>
            <a:pPr algn="ctr"/>
            <a:r>
              <a:rPr lang="fr-FR" dirty="0"/>
              <a:t>(ou simple bobinage)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7F5EE0-EFED-C507-DAB9-15D261AF6049}"/>
              </a:ext>
            </a:extLst>
          </p:cNvPr>
          <p:cNvSpPr txBox="1"/>
          <p:nvPr/>
        </p:nvSpPr>
        <p:spPr>
          <a:xfrm>
            <a:off x="4572000" y="4436823"/>
            <a:ext cx="3837363" cy="646331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 err="1"/>
              <a:t>Humbucker</a:t>
            </a:r>
            <a:r>
              <a:rPr lang="fr-FR" dirty="0"/>
              <a:t> </a:t>
            </a:r>
          </a:p>
          <a:p>
            <a:pPr algn="ctr"/>
            <a:r>
              <a:rPr lang="fr-FR" dirty="0"/>
              <a:t>(ou double bobinage)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3DBB3E-CACA-593E-E545-39E8047A68D3}"/>
              </a:ext>
            </a:extLst>
          </p:cNvPr>
          <p:cNvSpPr txBox="1"/>
          <p:nvPr/>
        </p:nvSpPr>
        <p:spPr>
          <a:xfrm>
            <a:off x="2802834" y="3896190"/>
            <a:ext cx="3538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Types de micro :</a:t>
            </a:r>
          </a:p>
        </p:txBody>
      </p:sp>
    </p:spTree>
    <p:extLst>
      <p:ext uri="{BB962C8B-B14F-4D97-AF65-F5344CB8AC3E}">
        <p14:creationId xmlns:p14="http://schemas.microsoft.com/office/powerpoint/2010/main" val="1424046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B8DB-462A-9B19-1F31-BB4FD26B1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94FB20C-02CF-35BD-3AB9-670C42C7A9C6}"/>
              </a:ext>
            </a:extLst>
          </p:cNvPr>
          <p:cNvSpPr/>
          <p:nvPr/>
        </p:nvSpPr>
        <p:spPr>
          <a:xfrm>
            <a:off x="322686" y="4268850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FEDDED1E-275F-6831-62E9-95476B043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9C1-8EE1-4062-8A80-955144FCA279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7C1D5E31-18D5-EFA4-FF70-9C214035B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916D650-4C5C-541D-6925-FDAE466CB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3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488C05C-557A-D965-1B57-D283BF34BE59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0018A027-1E36-7A49-BFE5-C63B39A43736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AD89E9-806A-4E89-859A-696AFF1D31BF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>
                <a:latin typeface="+mj-lt"/>
              </a:rPr>
              <a:t>Comment fonctionne une guitare électrique ?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92E8534-760B-A9A0-98A4-5631C1A1EEAC}"/>
              </a:ext>
            </a:extLst>
          </p:cNvPr>
          <p:cNvGrpSpPr/>
          <p:nvPr/>
        </p:nvGrpSpPr>
        <p:grpSpPr>
          <a:xfrm>
            <a:off x="406695" y="1450258"/>
            <a:ext cx="4737343" cy="4279165"/>
            <a:chOff x="-34756" y="1586102"/>
            <a:chExt cx="4737343" cy="4279165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4E26F642-1EDB-D9D0-339B-2432C09158E6}"/>
                </a:ext>
              </a:extLst>
            </p:cNvPr>
            <p:cNvGrpSpPr/>
            <p:nvPr/>
          </p:nvGrpSpPr>
          <p:grpSpPr>
            <a:xfrm>
              <a:off x="-34756" y="1586102"/>
              <a:ext cx="4437385" cy="3960146"/>
              <a:chOff x="-34756" y="1586102"/>
              <a:chExt cx="4437385" cy="3960146"/>
            </a:xfrm>
          </p:grpSpPr>
          <p:pic>
            <p:nvPicPr>
              <p:cNvPr id="11" name="Picture 2" descr="5 Best Humbuckers: Gear Guide to Amazing Pickups | Equipboard®">
                <a:extLst>
                  <a:ext uri="{FF2B5EF4-FFF2-40B4-BE49-F238E27FC236}">
                    <a16:creationId xmlns:a16="http://schemas.microsoft.com/office/drawing/2014/main" id="{EF933A2A-B5DF-0F82-4FC8-301F3207B13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2666" t="-7130" r="-141" b="-876"/>
              <a:stretch>
                <a:fillRect/>
              </a:stretch>
            </p:blipFill>
            <p:spPr bwMode="auto">
              <a:xfrm>
                <a:off x="2743124" y="4230934"/>
                <a:ext cx="1637990" cy="1315314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26" name="Picture 2" descr="5 Best Humbuckers: Gear Guide to Amazing Pickups | Equipboard®">
                <a:extLst>
                  <a:ext uri="{FF2B5EF4-FFF2-40B4-BE49-F238E27FC236}">
                    <a16:creationId xmlns:a16="http://schemas.microsoft.com/office/drawing/2014/main" id="{D101A5E5-BA4D-16F2-BED9-3954FE2B9AF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183" t="-8093" r="50325" b="-7437"/>
              <a:stretch>
                <a:fillRect/>
              </a:stretch>
            </p:blipFill>
            <p:spPr bwMode="auto">
              <a:xfrm>
                <a:off x="2764639" y="2136281"/>
                <a:ext cx="1637990" cy="1406367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2" name="Picture 8">
                <a:extLst>
                  <a:ext uri="{FF2B5EF4-FFF2-40B4-BE49-F238E27FC236}">
                    <a16:creationId xmlns:a16="http://schemas.microsoft.com/office/drawing/2014/main" id="{A86E6CB6-2C7D-D59A-DF2C-EA03047A1D2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20587223">
                <a:off x="-34756" y="1586102"/>
                <a:ext cx="3569635" cy="35696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3" name="Connector: Curved 12">
                <a:extLst>
                  <a:ext uri="{FF2B5EF4-FFF2-40B4-BE49-F238E27FC236}">
                    <a16:creationId xmlns:a16="http://schemas.microsoft.com/office/drawing/2014/main" id="{9CC502A0-585D-65D8-BE79-3175E05CA03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47764" y="2873204"/>
                <a:ext cx="1316875" cy="1241596"/>
              </a:xfrm>
              <a:prstGeom prst="curvedConnector3">
                <a:avLst>
                  <a:gd name="adj1" fmla="val 50000"/>
                </a:avLst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Connector: Curved 16">
                <a:extLst>
                  <a:ext uri="{FF2B5EF4-FFF2-40B4-BE49-F238E27FC236}">
                    <a16:creationId xmlns:a16="http://schemas.microsoft.com/office/drawing/2014/main" id="{8EFCF990-1181-93F4-481C-E26808409BF1}"/>
                  </a:ext>
                </a:extLst>
              </p:cNvPr>
              <p:cNvCxnSpPr>
                <a:cxnSpLocks/>
                <a:endCxn id="11" idx="2"/>
              </p:cNvCxnSpPr>
              <p:nvPr/>
            </p:nvCxnSpPr>
            <p:spPr>
              <a:xfrm>
                <a:off x="1210381" y="4529667"/>
                <a:ext cx="1532743" cy="358924"/>
              </a:xfrm>
              <a:prstGeom prst="curvedConnector3">
                <a:avLst>
                  <a:gd name="adj1" fmla="val 50000"/>
                </a:avLst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B270C04-EA57-651F-EDDD-A94BAC32E88F}"/>
                </a:ext>
              </a:extLst>
            </p:cNvPr>
            <p:cNvSpPr/>
            <p:nvPr/>
          </p:nvSpPr>
          <p:spPr>
            <a:xfrm>
              <a:off x="3052943" y="3223152"/>
              <a:ext cx="1018352" cy="10801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900" b="1" dirty="0">
                  <a:solidFill>
                    <a:schemeClr val="tx1"/>
                  </a:solidFill>
                </a:rPr>
                <a:t>Micro Simple Bobinage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071E06E-24A1-72B4-FDB8-7EF1C91610E7}"/>
                </a:ext>
              </a:extLst>
            </p:cNvPr>
            <p:cNvSpPr txBox="1"/>
            <p:nvPr/>
          </p:nvSpPr>
          <p:spPr>
            <a:xfrm>
              <a:off x="115978" y="5305567"/>
              <a:ext cx="20499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>
                  <a:solidFill>
                    <a:schemeClr val="bg1">
                      <a:lumMod val="50000"/>
                    </a:schemeClr>
                  </a:solidFill>
                </a:rPr>
                <a:t>Source image : Ibanez.com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6107C41-0105-178A-FD27-7A8169B1D63D}"/>
                </a:ext>
              </a:extLst>
            </p:cNvPr>
            <p:cNvSpPr txBox="1"/>
            <p:nvPr/>
          </p:nvSpPr>
          <p:spPr>
            <a:xfrm>
              <a:off x="2421650" y="5588268"/>
              <a:ext cx="22809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>
                  <a:solidFill>
                    <a:schemeClr val="bg1">
                      <a:lumMod val="50000"/>
                    </a:schemeClr>
                  </a:solidFill>
                </a:rPr>
                <a:t>Source image : zonagitar.net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1722B83-45F3-5744-53DC-A62D4D10B97F}"/>
              </a:ext>
            </a:extLst>
          </p:cNvPr>
          <p:cNvGrpSpPr/>
          <p:nvPr/>
        </p:nvGrpSpPr>
        <p:grpSpPr>
          <a:xfrm>
            <a:off x="5332797" y="1183684"/>
            <a:ext cx="3253774" cy="2467030"/>
            <a:chOff x="5667169" y="1186325"/>
            <a:chExt cx="3253774" cy="246703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31DA7C6-3177-5DAE-EA3B-CBADF68E40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67169" y="1244713"/>
              <a:ext cx="2880000" cy="240864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DD1E2B4-4DC4-BFF8-BCFA-2B72083095DB}"/>
                </a:ext>
              </a:extLst>
            </p:cNvPr>
            <p:cNvSpPr txBox="1"/>
            <p:nvPr/>
          </p:nvSpPr>
          <p:spPr>
            <a:xfrm>
              <a:off x="7961130" y="1186325"/>
              <a:ext cx="77617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b="1" dirty="0"/>
                <a:t>Corde</a:t>
              </a:r>
              <a:endParaRPr lang="fr-FR" b="1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F622751-A6D0-42C3-28B3-F68D18C67F78}"/>
                </a:ext>
              </a:extLst>
            </p:cNvPr>
            <p:cNvSpPr txBox="1"/>
            <p:nvPr/>
          </p:nvSpPr>
          <p:spPr>
            <a:xfrm>
              <a:off x="7961130" y="1634635"/>
              <a:ext cx="88036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b="1" dirty="0"/>
                <a:t>Aimant</a:t>
              </a:r>
              <a:endParaRPr lang="fr-FR" b="1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3DA263E-0590-99A6-59B0-5A7FFF31BF9B}"/>
                </a:ext>
              </a:extLst>
            </p:cNvPr>
            <p:cNvSpPr txBox="1"/>
            <p:nvPr/>
          </p:nvSpPr>
          <p:spPr>
            <a:xfrm>
              <a:off x="8042176" y="2534650"/>
              <a:ext cx="87876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b="1" dirty="0"/>
                <a:t>Bobine</a:t>
              </a:r>
              <a:endParaRPr lang="fr-FR" b="1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8859890-BEA0-2A6D-B83D-F447B7BF2099}"/>
              </a:ext>
            </a:extLst>
          </p:cNvPr>
          <p:cNvGrpSpPr/>
          <p:nvPr/>
        </p:nvGrpSpPr>
        <p:grpSpPr>
          <a:xfrm>
            <a:off x="5030505" y="3629305"/>
            <a:ext cx="3556066" cy="2358182"/>
            <a:chOff x="5460435" y="3589841"/>
            <a:chExt cx="3556066" cy="2358182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B0AA049-23B8-B6FC-3C64-5926BB74BC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60435" y="3668769"/>
              <a:ext cx="2880000" cy="2279254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41465CF-7C7E-9F23-FE0D-44E273ADDF05}"/>
                </a:ext>
              </a:extLst>
            </p:cNvPr>
            <p:cNvSpPr txBox="1"/>
            <p:nvPr/>
          </p:nvSpPr>
          <p:spPr>
            <a:xfrm>
              <a:off x="7917353" y="3589841"/>
              <a:ext cx="77617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b="1" dirty="0"/>
                <a:t>Corde</a:t>
              </a:r>
              <a:endParaRPr lang="fr-FR" b="1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713B603-29FF-1082-A698-6D63F694086E}"/>
                </a:ext>
              </a:extLst>
            </p:cNvPr>
            <p:cNvSpPr txBox="1"/>
            <p:nvPr/>
          </p:nvSpPr>
          <p:spPr>
            <a:xfrm>
              <a:off x="8020906" y="4022548"/>
              <a:ext cx="88036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b="1" dirty="0"/>
                <a:t>Aimant</a:t>
              </a:r>
              <a:endParaRPr lang="fr-FR" b="1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DF1D9EF-CD58-7C8B-9033-3D57E532EBBC}"/>
                </a:ext>
              </a:extLst>
            </p:cNvPr>
            <p:cNvSpPr txBox="1"/>
            <p:nvPr/>
          </p:nvSpPr>
          <p:spPr>
            <a:xfrm>
              <a:off x="8137734" y="4869662"/>
              <a:ext cx="87876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b="1" dirty="0"/>
                <a:t>Bobine</a:t>
              </a:r>
              <a:endParaRPr lang="fr-FR" b="1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81155CB-43FA-DD8B-DCA9-43F02CC7E1E4}"/>
              </a:ext>
            </a:extLst>
          </p:cNvPr>
          <p:cNvSpPr txBox="1"/>
          <p:nvPr/>
        </p:nvSpPr>
        <p:spPr>
          <a:xfrm>
            <a:off x="2914580" y="3457318"/>
            <a:ext cx="22809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Source image : zonagitar.net</a:t>
            </a:r>
          </a:p>
        </p:txBody>
      </p:sp>
    </p:spTree>
    <p:extLst>
      <p:ext uri="{BB962C8B-B14F-4D97-AF65-F5344CB8AC3E}">
        <p14:creationId xmlns:p14="http://schemas.microsoft.com/office/powerpoint/2010/main" val="3456280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D7A07-07D0-A1CB-8899-D355F4D51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72B04609-9011-75C1-428E-AEC92A9E8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9C1-8EE1-4062-8A80-955144FCA279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5B394A24-A5ED-B4AB-743F-176B4BC52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EB4F0ABD-A3FF-3FA4-1508-CB40B0A88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4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64F6E0-59C6-5FA8-3FF9-66A6EBA747DE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1C3D19D7-7B78-6C3C-DB0D-BD75D8D009BD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0D9AE2-CD0C-5DD6-009A-C7A8EDFFA33D}"/>
              </a:ext>
            </a:extLst>
          </p:cNvPr>
          <p:cNvSpPr txBox="1"/>
          <p:nvPr/>
        </p:nvSpPr>
        <p:spPr>
          <a:xfrm>
            <a:off x="345439" y="721360"/>
            <a:ext cx="8603121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>
                <a:latin typeface="+mj-lt"/>
              </a:rPr>
              <a:t>Modélisation : Impédance d’un micro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1288E9-B3DA-B302-03ED-BB1A2F90FFD7}"/>
              </a:ext>
            </a:extLst>
          </p:cNvPr>
          <p:cNvSpPr/>
          <p:nvPr/>
        </p:nvSpPr>
        <p:spPr>
          <a:xfrm>
            <a:off x="449950" y="424704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7" name="Picture 2" descr="5 Best Humbuckers: Gear Guide to Amazing Pickups | Equipboard®">
            <a:extLst>
              <a:ext uri="{FF2B5EF4-FFF2-40B4-BE49-F238E27FC236}">
                <a16:creationId xmlns:a16="http://schemas.microsoft.com/office/drawing/2014/main" id="{56DD3104-026C-3288-625E-3BE3270D2D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3" t="-8093" r="50325" b="-7437"/>
          <a:stretch>
            <a:fillRect/>
          </a:stretch>
        </p:blipFill>
        <p:spPr bwMode="auto">
          <a:xfrm>
            <a:off x="589088" y="1594415"/>
            <a:ext cx="2088076" cy="156363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34B3668-9950-D54E-4021-2767A4E519A7}"/>
              </a:ext>
            </a:extLst>
          </p:cNvPr>
          <p:cNvCxnSpPr/>
          <p:nvPr/>
        </p:nvCxnSpPr>
        <p:spPr>
          <a:xfrm>
            <a:off x="3275937" y="2177082"/>
            <a:ext cx="1224501" cy="0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D42FDFE-B0FF-BB1A-5754-682A30D2E14A}"/>
              </a:ext>
            </a:extLst>
          </p:cNvPr>
          <p:cNvGrpSpPr/>
          <p:nvPr/>
        </p:nvGrpSpPr>
        <p:grpSpPr>
          <a:xfrm>
            <a:off x="5099211" y="1126695"/>
            <a:ext cx="3455701" cy="2204177"/>
            <a:chOff x="5099211" y="953876"/>
            <a:chExt cx="3455701" cy="2204177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8925C452-D972-2BFA-9988-ABA8B76045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99211" y="1121471"/>
              <a:ext cx="3310151" cy="2036582"/>
            </a:xfrm>
            <a:prstGeom prst="rect">
              <a:avLst/>
            </a:prstGeom>
          </p:spPr>
        </p:pic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6B5C0E07-DE31-DEDA-3E6D-937F75084841}"/>
                </a:ext>
              </a:extLst>
            </p:cNvPr>
            <p:cNvCxnSpPr/>
            <p:nvPr/>
          </p:nvCxnSpPr>
          <p:spPr>
            <a:xfrm>
              <a:off x="5749497" y="1327496"/>
              <a:ext cx="762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D3864887-2DBC-D5CC-3DDA-8D1492A0AF86}"/>
                </a:ext>
              </a:extLst>
            </p:cNvPr>
            <p:cNvCxnSpPr/>
            <p:nvPr/>
          </p:nvCxnSpPr>
          <p:spPr>
            <a:xfrm flipV="1">
              <a:off x="5827115" y="1978607"/>
              <a:ext cx="0" cy="39694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BE05F1EC-B603-BD98-CC85-789D4681EE37}"/>
                </a:ext>
              </a:extLst>
            </p:cNvPr>
            <p:cNvCxnSpPr/>
            <p:nvPr/>
          </p:nvCxnSpPr>
          <p:spPr>
            <a:xfrm flipV="1">
              <a:off x="7898101" y="1960886"/>
              <a:ext cx="0" cy="396949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E86499F-4F3C-AD0D-4159-A94EF281BF3D}"/>
                </a:ext>
              </a:extLst>
            </p:cNvPr>
            <p:cNvSpPr txBox="1"/>
            <p:nvPr/>
          </p:nvSpPr>
          <p:spPr>
            <a:xfrm>
              <a:off x="7933498" y="1970485"/>
              <a:ext cx="62141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dirty="0">
                  <a:solidFill>
                    <a:schemeClr val="accent5"/>
                  </a:solidFill>
                </a:rPr>
                <a:t>s(t)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07E7E82-32DD-A957-F61B-ABAD304B16FF}"/>
                </a:ext>
              </a:extLst>
            </p:cNvPr>
            <p:cNvSpPr txBox="1"/>
            <p:nvPr/>
          </p:nvSpPr>
          <p:spPr>
            <a:xfrm>
              <a:off x="5862512" y="1990083"/>
              <a:ext cx="62141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dirty="0">
                  <a:solidFill>
                    <a:schemeClr val="accent5"/>
                  </a:solidFill>
                </a:rPr>
                <a:t>e(t)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FE05816-10F8-B3D5-B5C6-E1C29AAA4FDB}"/>
                </a:ext>
              </a:extLst>
            </p:cNvPr>
            <p:cNvSpPr txBox="1"/>
            <p:nvPr/>
          </p:nvSpPr>
          <p:spPr>
            <a:xfrm>
              <a:off x="5622689" y="953876"/>
              <a:ext cx="62141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dirty="0">
                  <a:solidFill>
                    <a:schemeClr val="accent3"/>
                  </a:solidFill>
                </a:rPr>
                <a:t>i(t)</a:t>
              </a: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FDBC6A37-DDBF-F687-EBD1-64A17E668D8A}"/>
              </a:ext>
            </a:extLst>
          </p:cNvPr>
          <p:cNvSpPr txBox="1"/>
          <p:nvPr/>
        </p:nvSpPr>
        <p:spPr>
          <a:xfrm>
            <a:off x="345439" y="3589736"/>
            <a:ext cx="3846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On observe que :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1111786-1097-3A1F-4F48-C24CDA48D3F6}"/>
              </a:ext>
            </a:extLst>
          </p:cNvPr>
          <p:cNvSpPr txBox="1"/>
          <p:nvPr/>
        </p:nvSpPr>
        <p:spPr>
          <a:xfrm>
            <a:off x="345439" y="4688241"/>
            <a:ext cx="2129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D’autre part, on a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B971983-DC6D-8032-7E68-1BC91730E2D1}"/>
                  </a:ext>
                </a:extLst>
              </p:cNvPr>
              <p:cNvSpPr txBox="1"/>
              <p:nvPr/>
            </p:nvSpPr>
            <p:spPr>
              <a:xfrm>
                <a:off x="1887508" y="4096728"/>
                <a:ext cx="1174489" cy="276999"/>
              </a:xfrm>
              <a:prstGeom prst="rect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B971983-DC6D-8032-7E68-1BC91730E2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7508" y="4096728"/>
                <a:ext cx="1174489" cy="276999"/>
              </a:xfrm>
              <a:prstGeom prst="rect">
                <a:avLst/>
              </a:prstGeom>
              <a:blipFill>
                <a:blip r:embed="rId4"/>
                <a:stretch>
                  <a:fillRect l="-1538" r="-5641" b="-31250"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D975126-EFCA-AF65-288A-FB75F93925E4}"/>
                  </a:ext>
                </a:extLst>
              </p:cNvPr>
              <p:cNvSpPr txBox="1"/>
              <p:nvPr/>
            </p:nvSpPr>
            <p:spPr>
              <a:xfrm>
                <a:off x="944061" y="5164226"/>
                <a:ext cx="3466205" cy="567078"/>
              </a:xfrm>
              <a:prstGeom prst="rect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𝑚𝑖𝑐𝑟𝑜</m:t>
                          </m:r>
                        </m:sub>
                      </m:sSub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num>
                        <m:den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p>
                            <m:sSupPr>
                              <m:ctrlP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sSub>
                            <m:sSubPr>
                              <m:ctrlP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</m:oMath>
                  </m:oMathPara>
                </a14:m>
                <a:endParaRPr lang="fr-FR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D975126-EFCA-AF65-288A-FB75F93925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061" y="5164226"/>
                <a:ext cx="3466205" cy="56707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EB47B678-3F5B-0BED-1640-5CE5F94E60B1}"/>
                  </a:ext>
                </a:extLst>
              </p:cNvPr>
              <p:cNvSpPr/>
              <p:nvPr/>
            </p:nvSpPr>
            <p:spPr>
              <a:xfrm>
                <a:off x="5094372" y="3428999"/>
                <a:ext cx="3310150" cy="2302305"/>
              </a:xfrm>
              <a:prstGeom prst="rect">
                <a:avLst/>
              </a:prstGeom>
              <a:ln w="38100"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numCol="1" rtlCol="0" anchor="ctr"/>
              <a:lstStyle/>
              <a:p>
                <a:r>
                  <a:rPr lang="fr-FR" sz="1600" b="1" dirty="0"/>
                  <a:t>Notations :</a:t>
                </a:r>
              </a:p>
              <a:p>
                <a:endParaRPr lang="fr-FR" sz="16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fr-FR" sz="15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15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fr-FR" sz="1500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fr-FR" sz="1500" dirty="0"/>
                  <a:t>: FEM dans le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500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fr-FR" sz="1500" dirty="0"/>
                  <a:t>: Tension de sortie du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fr-FR" sz="15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Resistance interne du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fr-FR" sz="15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Inductance du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sz="15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Capacité distribué entre spire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fr-FR" sz="1500" dirty="0"/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EB47B678-3F5B-0BED-1640-5CE5F94E60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4372" y="3428999"/>
                <a:ext cx="3310150" cy="2302305"/>
              </a:xfrm>
              <a:prstGeom prst="rect">
                <a:avLst/>
              </a:prstGeom>
              <a:blipFill>
                <a:blip r:embed="rId6"/>
                <a:stretch>
                  <a:fillRect l="-546"/>
                </a:stretch>
              </a:blipFill>
              <a:ln w="38100"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EE207542-9DA0-28A0-B390-D52D35F7089A}"/>
              </a:ext>
            </a:extLst>
          </p:cNvPr>
          <p:cNvSpPr txBox="1"/>
          <p:nvPr/>
        </p:nvSpPr>
        <p:spPr>
          <a:xfrm>
            <a:off x="277572" y="3019552"/>
            <a:ext cx="2711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Source image : zonagitar.net</a:t>
            </a:r>
          </a:p>
        </p:txBody>
      </p:sp>
    </p:spTree>
    <p:extLst>
      <p:ext uri="{BB962C8B-B14F-4D97-AF65-F5344CB8AC3E}">
        <p14:creationId xmlns:p14="http://schemas.microsoft.com/office/powerpoint/2010/main" val="898925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1A1FD-A6FC-C7C2-DE37-662B2CD31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855E5BE-58A7-022E-6167-8A7B7F9B025C}"/>
              </a:ext>
            </a:extLst>
          </p:cNvPr>
          <p:cNvSpPr txBox="1"/>
          <p:nvPr/>
        </p:nvSpPr>
        <p:spPr>
          <a:xfrm>
            <a:off x="473803" y="5624506"/>
            <a:ext cx="973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Avec :</a:t>
            </a:r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7E3A72F7-049B-A3CC-1B2E-02529849B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9C1-8EE1-4062-8A80-955144FCA279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BD52B121-9E62-729F-B3D5-86BB1018D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13D1EFD-9144-A6ED-4EF0-340A2FFA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5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028266-1353-9D29-9412-6AFD6644D1A2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ABADD112-3E65-EB14-379D-D522541DFA3F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86FB64-1820-E8EA-22F7-D3261EDD1A9D}"/>
              </a:ext>
            </a:extLst>
          </p:cNvPr>
          <p:cNvSpPr txBox="1"/>
          <p:nvPr/>
        </p:nvSpPr>
        <p:spPr>
          <a:xfrm>
            <a:off x="345439" y="721360"/>
            <a:ext cx="8603121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>
                <a:latin typeface="+mj-lt"/>
              </a:rPr>
              <a:t>Modélisation : Force électromotrice FEM du micro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D469900-7C91-746A-DF9C-76998DDDDC23}"/>
              </a:ext>
            </a:extLst>
          </p:cNvPr>
          <p:cNvSpPr/>
          <p:nvPr/>
        </p:nvSpPr>
        <p:spPr>
          <a:xfrm>
            <a:off x="449950" y="424704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938429-08DD-9D34-7052-F2B1EFB35D6A}"/>
              </a:ext>
            </a:extLst>
          </p:cNvPr>
          <p:cNvSpPr/>
          <p:nvPr/>
        </p:nvSpPr>
        <p:spPr>
          <a:xfrm>
            <a:off x="462440" y="1303261"/>
            <a:ext cx="4496905" cy="1376329"/>
          </a:xfrm>
          <a:prstGeom prst="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600" b="1" dirty="0"/>
              <a:t>Hypothèses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Vibration de la corde : Onde stationnaire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Champs Magnétique de la corde Uniforme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04FFBD4-8ECC-17F0-456E-3092458D7F36}"/>
              </a:ext>
            </a:extLst>
          </p:cNvPr>
          <p:cNvSpPr txBox="1"/>
          <p:nvPr/>
        </p:nvSpPr>
        <p:spPr>
          <a:xfrm>
            <a:off x="462440" y="4840431"/>
            <a:ext cx="3287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On a donc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19D75804-48F9-1952-9D77-3AA86B746162}"/>
                  </a:ext>
                </a:extLst>
              </p:cNvPr>
              <p:cNvSpPr/>
              <p:nvPr/>
            </p:nvSpPr>
            <p:spPr>
              <a:xfrm>
                <a:off x="449950" y="2811320"/>
                <a:ext cx="8498610" cy="1720924"/>
              </a:xfrm>
              <a:prstGeom prst="rect">
                <a:avLst/>
              </a:prstGeom>
              <a:ln w="38100"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numCol="2" rtlCol="0" anchor="ctr"/>
              <a:lstStyle/>
              <a:p>
                <a:r>
                  <a:rPr lang="fr-FR" sz="1600" b="1" dirty="0"/>
                  <a:t>Notations 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F.E.M. dans le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Nombre de spire du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Surface du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fr-FR" sz="15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𝑑𝐵</m:t>
                        </m:r>
                      </m:num>
                      <m:den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𝑑𝑦</m:t>
                        </m:r>
                      </m:den>
                    </m:f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Gradient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Amplitude de vibration de la corde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Longueur de la corde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Masse linéique de la corde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Tension de la corde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Position de la source de la vibration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5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Position du micro</a:t>
                </a:r>
              </a:p>
            </p:txBody>
          </p:sp>
        </mc:Choice>
        <mc:Fallback xmlns="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19D75804-48F9-1952-9D77-3AA86B7461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950" y="2811320"/>
                <a:ext cx="8498610" cy="1720924"/>
              </a:xfrm>
              <a:prstGeom prst="rect">
                <a:avLst/>
              </a:prstGeom>
              <a:blipFill>
                <a:blip r:embed="rId2"/>
                <a:stretch>
                  <a:fillRect l="-214"/>
                </a:stretch>
              </a:blipFill>
              <a:ln w="38100"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D6AA2C2-FEF5-1C9F-ACB5-B77E215F9864}"/>
                  </a:ext>
                </a:extLst>
              </p:cNvPr>
              <p:cNvSpPr/>
              <p:nvPr/>
            </p:nvSpPr>
            <p:spPr>
              <a:xfrm>
                <a:off x="5098473" y="1298671"/>
                <a:ext cx="3842591" cy="1380920"/>
              </a:xfrm>
              <a:prstGeom prst="rect">
                <a:avLst/>
              </a:prstGeom>
              <a:ln w="38100">
                <a:solidFill>
                  <a:schemeClr val="accent6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fr-FR" sz="1600" b="1" dirty="0"/>
                  <a:t>Lois et principes 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dirty="0"/>
                  <a:t>Loi d’induction de Faraday 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fr-FR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f>
                        <m:fPr>
                          <m:ctrlPr>
                            <a:rPr lang="fr-FR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sSub>
                            <m:sSubPr>
                              <m:ctrlPr>
                                <a:rPr lang="fr-FR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𝝓</m:t>
                              </m:r>
                            </m:e>
                            <m:sub>
                              <m:r>
                                <a:rPr lang="fr-FR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𝑩</m:t>
                              </m:r>
                            </m:sub>
                          </m:sSub>
                        </m:num>
                        <m:den>
                          <m:r>
                            <a:rPr lang="fr-FR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𝒅𝒕</m:t>
                          </m:r>
                        </m:den>
                      </m:f>
                    </m:oMath>
                  </m:oMathPara>
                </a14:m>
                <a:endParaRPr lang="fr-FR" sz="1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D6AA2C2-FEF5-1C9F-ACB5-B77E215F98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8473" y="1298671"/>
                <a:ext cx="3842591" cy="1380920"/>
              </a:xfrm>
              <a:prstGeom prst="rect">
                <a:avLst/>
              </a:prstGeom>
              <a:blipFill>
                <a:blip r:embed="rId3"/>
                <a:stretch>
                  <a:fillRect l="-314"/>
                </a:stretch>
              </a:blipFill>
              <a:ln w="38100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70F88A1-E4DF-4196-E16A-92C2C9FDD3A7}"/>
                  </a:ext>
                </a:extLst>
              </p:cNvPr>
              <p:cNvSpPr txBox="1"/>
              <p:nvPr/>
            </p:nvSpPr>
            <p:spPr>
              <a:xfrm>
                <a:off x="3574794" y="5432818"/>
                <a:ext cx="2379468" cy="7527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4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𝐴</m:t>
                          </m:r>
                          <m:func>
                            <m:funcPr>
                              <m:ctrlPr>
                                <a:rPr lang="fr-FR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4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num>
                        <m:den>
                          <m:f>
                            <m:fPr>
                              <m:ctrlPr>
                                <a:rPr lang="fr-FR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  <m:d>
                            <m:dPr>
                              <m:ctrlPr>
                                <a:rPr lang="fr-FR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1 − </m:t>
                              </m:r>
                              <m:f>
                                <m:fPr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fr-F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fr-F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</m:oMath>
                  </m:oMathPara>
                </a14:m>
                <a:endParaRPr lang="fr-F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70F88A1-E4DF-4196-E16A-92C2C9FDD3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4794" y="5432818"/>
                <a:ext cx="2379468" cy="7527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D32275D-B666-AD1E-6020-ABBAE6A2C0FD}"/>
                  </a:ext>
                </a:extLst>
              </p:cNvPr>
              <p:cNvSpPr txBox="1"/>
              <p:nvPr/>
            </p:nvSpPr>
            <p:spPr>
              <a:xfrm>
                <a:off x="1938313" y="4663973"/>
                <a:ext cx="3579441" cy="722249"/>
              </a:xfrm>
              <a:prstGeom prst="rect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rad>
                                </m:den>
                              </m:f>
                              <m: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fr-FR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D32275D-B666-AD1E-6020-ABBAE6A2C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8313" y="4663973"/>
                <a:ext cx="3579441" cy="72224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2" descr="5 Best Humbuckers: Gear Guide to Amazing Pickups | Equipboard®">
            <a:extLst>
              <a:ext uri="{FF2B5EF4-FFF2-40B4-BE49-F238E27FC236}">
                <a16:creationId xmlns:a16="http://schemas.microsoft.com/office/drawing/2014/main" id="{548E630A-12F5-32F1-CC8A-2622DB0C99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3" t="-8093" r="50325" b="-7437"/>
          <a:stretch>
            <a:fillRect/>
          </a:stretch>
        </p:blipFill>
        <p:spPr bwMode="auto">
          <a:xfrm>
            <a:off x="8041625" y="584646"/>
            <a:ext cx="899439" cy="67353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4695637-20E7-2963-CDD3-67AA3DA098E8}"/>
                  </a:ext>
                </a:extLst>
              </p:cNvPr>
              <p:cNvSpPr txBox="1"/>
              <p:nvPr/>
            </p:nvSpPr>
            <p:spPr>
              <a:xfrm>
                <a:off x="1325453" y="5511911"/>
                <a:ext cx="1982290" cy="5945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fr-FR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fr-FR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fr-F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fr-F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fr-F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  <m:sSub>
                            <m:sSubPr>
                              <m:ctrlPr>
                                <a:rPr lang="fr-F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fr-FR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f>
                            <m:fPr>
                              <m:ctrlPr>
                                <a:rPr lang="fr-F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fr-F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ad>
                                <m:radPr>
                                  <m:degHide m:val="on"/>
                                  <m:ctrlPr>
                                    <a:rPr lang="fr-FR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fr-FR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fr-F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ad>
                                <m:radPr>
                                  <m:degHide m:val="on"/>
                                  <m:ctrlPr>
                                    <a:rPr lang="fr-FR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fr-FR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rad>
                            </m:den>
                          </m:f>
                        </m:e>
                      </m:func>
                    </m:oMath>
                  </m:oMathPara>
                </a14:m>
                <a:endParaRPr lang="fr-F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4695637-20E7-2963-CDD3-67AA3DA098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5453" y="5511911"/>
                <a:ext cx="1982290" cy="59452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2CF629CA-DDF5-5C23-1162-F3F0C74C233A}"/>
              </a:ext>
            </a:extLst>
          </p:cNvPr>
          <p:cNvGrpSpPr/>
          <p:nvPr/>
        </p:nvGrpSpPr>
        <p:grpSpPr>
          <a:xfrm>
            <a:off x="6381742" y="4607133"/>
            <a:ext cx="2559322" cy="779089"/>
            <a:chOff x="500933" y="4427234"/>
            <a:chExt cx="4020249" cy="1409897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2C1AEE0C-A67A-1330-96A5-6065DC1AB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00933" y="4427234"/>
              <a:ext cx="4020249" cy="140989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8FB0AD10-B999-2905-1B3A-F6ADE2E9CDE6}"/>
                    </a:ext>
                  </a:extLst>
                </p:cNvPr>
                <p:cNvSpPr txBox="1"/>
                <p:nvPr/>
              </p:nvSpPr>
              <p:spPr>
                <a:xfrm>
                  <a:off x="1554367" y="5573503"/>
                  <a:ext cx="195695" cy="18466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8FB0AD10-B999-2905-1B3A-F6ADE2E9CD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4367" y="5573503"/>
                  <a:ext cx="195695" cy="184666"/>
                </a:xfrm>
                <a:prstGeom prst="rect">
                  <a:avLst/>
                </a:prstGeom>
                <a:blipFill>
                  <a:blip r:embed="rId9"/>
                  <a:stretch>
                    <a:fillRect l="-35000" r="-45000" b="-11875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63745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9010F-DF56-9432-02C2-D32A27367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CBF2B52F-25EC-86A1-1982-155B9932D89D}"/>
              </a:ext>
            </a:extLst>
          </p:cNvPr>
          <p:cNvGrpSpPr/>
          <p:nvPr/>
        </p:nvGrpSpPr>
        <p:grpSpPr>
          <a:xfrm>
            <a:off x="6381742" y="4607133"/>
            <a:ext cx="2559322" cy="779089"/>
            <a:chOff x="500933" y="4427234"/>
            <a:chExt cx="4020249" cy="1409897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D64B9D5-3565-3841-03E8-FE52034EEE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0933" y="4427234"/>
              <a:ext cx="4020249" cy="140989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1D62C09A-D914-3D01-F179-A659E59888E8}"/>
                    </a:ext>
                  </a:extLst>
                </p:cNvPr>
                <p:cNvSpPr txBox="1"/>
                <p:nvPr/>
              </p:nvSpPr>
              <p:spPr>
                <a:xfrm>
                  <a:off x="1554367" y="5573503"/>
                  <a:ext cx="195695" cy="18466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1D62C09A-D914-3D01-F179-A659E59888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4367" y="5573503"/>
                  <a:ext cx="195695" cy="184666"/>
                </a:xfrm>
                <a:prstGeom prst="rect">
                  <a:avLst/>
                </a:prstGeom>
                <a:blipFill>
                  <a:blip r:embed="rId3"/>
                  <a:stretch>
                    <a:fillRect l="-35000" r="-45000" b="-11875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2D9F0C0B-1CCE-1701-4564-9070DD87E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9C1-8EE1-4062-8A80-955144FCA279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06F42ED7-BDC4-FA14-71AC-33563D8EF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2576DF31-6CF8-BA8E-5EFA-8E5389ACB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6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2B99EE-5C41-4EA9-BB98-7ED5E47D8DC0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DADF3B29-6309-63E4-DAC0-4D3C3D7A4D79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A1B16E-6C41-9660-8DE9-A37A0AB7E175}"/>
              </a:ext>
            </a:extLst>
          </p:cNvPr>
          <p:cNvSpPr txBox="1"/>
          <p:nvPr/>
        </p:nvSpPr>
        <p:spPr>
          <a:xfrm>
            <a:off x="345439" y="721360"/>
            <a:ext cx="8603121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Modélisation : Force électromotrice FEM du micro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760DBF-34A0-70F3-18A5-EAC899830298}"/>
              </a:ext>
            </a:extLst>
          </p:cNvPr>
          <p:cNvSpPr/>
          <p:nvPr/>
        </p:nvSpPr>
        <p:spPr>
          <a:xfrm>
            <a:off x="449950" y="424704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0F6DBD-695B-4189-F38D-DDC03E7AACDF}"/>
              </a:ext>
            </a:extLst>
          </p:cNvPr>
          <p:cNvSpPr/>
          <p:nvPr/>
        </p:nvSpPr>
        <p:spPr>
          <a:xfrm>
            <a:off x="462440" y="1303261"/>
            <a:ext cx="4496905" cy="1376329"/>
          </a:xfrm>
          <a:prstGeom prst="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600" b="1" dirty="0"/>
              <a:t>Hypothèses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Vibration de la corde : Onde stationnaire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Champs Magnétique de la corde Uniforme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07D3140-8ECA-CFC1-FF10-11A7070E2C1E}"/>
              </a:ext>
            </a:extLst>
          </p:cNvPr>
          <p:cNvSpPr txBox="1"/>
          <p:nvPr/>
        </p:nvSpPr>
        <p:spPr>
          <a:xfrm>
            <a:off x="462440" y="4840431"/>
            <a:ext cx="3287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On a donc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A9F52FB-8CC9-7E9F-BC07-904E55692F48}"/>
                  </a:ext>
                </a:extLst>
              </p:cNvPr>
              <p:cNvSpPr txBox="1"/>
              <p:nvPr/>
            </p:nvSpPr>
            <p:spPr>
              <a:xfrm>
                <a:off x="1960158" y="4663973"/>
                <a:ext cx="3579441" cy="722249"/>
              </a:xfrm>
              <a:prstGeom prst="rect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fr-FR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rad>
                                </m:den>
                              </m:f>
                              <m: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fr-FR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A9F52FB-8CC9-7E9F-BC07-904E55692F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158" y="4663973"/>
                <a:ext cx="3579441" cy="7222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D6A25780-A78E-0C68-4708-9ED7CF9A05B6}"/>
                  </a:ext>
                </a:extLst>
              </p:cNvPr>
              <p:cNvSpPr/>
              <p:nvPr/>
            </p:nvSpPr>
            <p:spPr>
              <a:xfrm>
                <a:off x="449950" y="2811320"/>
                <a:ext cx="8498610" cy="1720924"/>
              </a:xfrm>
              <a:prstGeom prst="rect">
                <a:avLst/>
              </a:prstGeom>
              <a:ln w="38100"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numCol="2" rtlCol="0" anchor="ctr"/>
              <a:lstStyle/>
              <a:p>
                <a:r>
                  <a:rPr lang="fr-FR" sz="1600" b="1" dirty="0"/>
                  <a:t>Notations 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F.E.M. dans le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Nombre de spire du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Surface du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fr-FR" sz="15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𝑑𝐵</m:t>
                        </m:r>
                      </m:num>
                      <m:den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𝑑𝑦</m:t>
                        </m:r>
                      </m:den>
                    </m:f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Gradient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Amplitude de vibration de la corde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Longueur de la corde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Masse linéique de la corde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Tension de la corde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Position de la source de la vibration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Position du 1</a:t>
                </a:r>
                <a:r>
                  <a:rPr lang="fr-FR" sz="1500" baseline="30000" dirty="0"/>
                  <a:t>er</a:t>
                </a:r>
                <a:r>
                  <a:rPr lang="fr-FR" sz="1500" dirty="0"/>
                  <a:t> bobinage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Position du 2</a:t>
                </a:r>
                <a:r>
                  <a:rPr lang="fr-FR" sz="1500" baseline="30000" dirty="0"/>
                  <a:t>nd</a:t>
                </a:r>
                <a:r>
                  <a:rPr lang="fr-FR" sz="1500" dirty="0"/>
                  <a:t> bobinage</a:t>
                </a:r>
              </a:p>
            </p:txBody>
          </p:sp>
        </mc:Choice>
        <mc:Fallback xmlns="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D6A25780-A78E-0C68-4708-9ED7CF9A05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950" y="2811320"/>
                <a:ext cx="8498610" cy="1720924"/>
              </a:xfrm>
              <a:prstGeom prst="rect">
                <a:avLst/>
              </a:prstGeom>
              <a:blipFill>
                <a:blip r:embed="rId5"/>
                <a:stretch>
                  <a:fillRect l="-214"/>
                </a:stretch>
              </a:blipFill>
              <a:ln w="38100"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C94340E-38F0-066F-1B5E-DC334FAA03BB}"/>
                  </a:ext>
                </a:extLst>
              </p:cNvPr>
              <p:cNvSpPr/>
              <p:nvPr/>
            </p:nvSpPr>
            <p:spPr>
              <a:xfrm>
                <a:off x="5098473" y="1298671"/>
                <a:ext cx="3842591" cy="1380920"/>
              </a:xfrm>
              <a:prstGeom prst="rect">
                <a:avLst/>
              </a:prstGeom>
              <a:ln w="38100">
                <a:solidFill>
                  <a:schemeClr val="accent6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fr-FR" sz="1600" b="1" dirty="0"/>
                  <a:t>Lois et principes 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dirty="0"/>
                  <a:t>Loi d’induction de Faraday 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fr-FR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f>
                        <m:fPr>
                          <m:ctrlPr>
                            <a:rPr lang="fr-FR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sSub>
                            <m:sSubPr>
                              <m:ctrlPr>
                                <a:rPr lang="fr-FR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𝝓</m:t>
                              </m:r>
                            </m:e>
                            <m:sub>
                              <m:r>
                                <a:rPr lang="fr-FR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𝑩</m:t>
                              </m:r>
                            </m:sub>
                          </m:sSub>
                        </m:num>
                        <m:den>
                          <m:r>
                            <a:rPr lang="fr-FR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𝒅𝒕</m:t>
                          </m:r>
                        </m:den>
                      </m:f>
                    </m:oMath>
                  </m:oMathPara>
                </a14:m>
                <a:endParaRPr lang="fr-FR" sz="1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C94340E-38F0-066F-1B5E-DC334FAA03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8473" y="1298671"/>
                <a:ext cx="3842591" cy="1380920"/>
              </a:xfrm>
              <a:prstGeom prst="rect">
                <a:avLst/>
              </a:prstGeom>
              <a:blipFill>
                <a:blip r:embed="rId6"/>
                <a:stretch>
                  <a:fillRect l="-314"/>
                </a:stretch>
              </a:blipFill>
              <a:ln w="38100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D2D306D-3216-4C85-B874-8EA67DF9E853}"/>
                  </a:ext>
                </a:extLst>
              </p:cNvPr>
              <p:cNvSpPr txBox="1"/>
              <p:nvPr/>
            </p:nvSpPr>
            <p:spPr>
              <a:xfrm>
                <a:off x="4572000" y="5432818"/>
                <a:ext cx="2379468" cy="7527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4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𝐴</m:t>
                          </m:r>
                          <m:func>
                            <m:funcPr>
                              <m:ctrlPr>
                                <a:rPr lang="fr-FR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4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num>
                        <m:den>
                          <m:f>
                            <m:fPr>
                              <m:ctrlPr>
                                <a:rPr lang="fr-FR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  <m:d>
                            <m:dPr>
                              <m:ctrlPr>
                                <a:rPr lang="fr-FR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1 − </m:t>
                              </m:r>
                              <m:f>
                                <m:fPr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fr-F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fr-F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</m:oMath>
                  </m:oMathPara>
                </a14:m>
                <a:endParaRPr lang="fr-F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D2D306D-3216-4C85-B874-8EA67DF9E8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5432818"/>
                <a:ext cx="2379468" cy="75270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9F03902F-5230-DAFD-040F-91D8B468A007}"/>
              </a:ext>
            </a:extLst>
          </p:cNvPr>
          <p:cNvSpPr txBox="1"/>
          <p:nvPr/>
        </p:nvSpPr>
        <p:spPr>
          <a:xfrm>
            <a:off x="449950" y="5624506"/>
            <a:ext cx="3287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Avec :</a:t>
            </a:r>
          </a:p>
        </p:txBody>
      </p:sp>
      <p:pic>
        <p:nvPicPr>
          <p:cNvPr id="11" name="Picture 2" descr="5 Best Humbuckers: Gear Guide to Amazing Pickups | Equipboard®">
            <a:extLst>
              <a:ext uri="{FF2B5EF4-FFF2-40B4-BE49-F238E27FC236}">
                <a16:creationId xmlns:a16="http://schemas.microsoft.com/office/drawing/2014/main" id="{53979BD0-56F0-2C0D-9A37-AD6D904E5B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66" t="-7130" r="-141" b="-876"/>
          <a:stretch>
            <a:fillRect/>
          </a:stretch>
        </p:blipFill>
        <p:spPr bwMode="auto">
          <a:xfrm>
            <a:off x="8101701" y="558793"/>
            <a:ext cx="839363" cy="67401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3D4695E-1632-F53E-514F-3D3E84FA92F3}"/>
                  </a:ext>
                </a:extLst>
              </p:cNvPr>
              <p:cNvSpPr txBox="1"/>
              <p:nvPr/>
            </p:nvSpPr>
            <p:spPr>
              <a:xfrm>
                <a:off x="1447764" y="5511911"/>
                <a:ext cx="3076873" cy="5945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fr-FR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fr-FR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fr-FR" sz="1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fr-FR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fr-F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fr-F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fr-F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  <m:sSub>
                            <m:sSubPr>
                              <m:ctrlPr>
                                <a:rPr lang="fr-F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fr-F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fr-FR" sz="1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fr-FR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fr-F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))</m:t>
                              </m:r>
                            </m:e>
                          </m:func>
                          <m:f>
                            <m:fPr>
                              <m:ctrlPr>
                                <a:rPr lang="fr-F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fr-F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ad>
                                <m:radPr>
                                  <m:degHide m:val="on"/>
                                  <m:ctrlPr>
                                    <a:rPr lang="fr-FR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fr-FR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fr-F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ad>
                                <m:radPr>
                                  <m:degHide m:val="on"/>
                                  <m:ctrlPr>
                                    <a:rPr lang="fr-FR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fr-FR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rad>
                            </m:den>
                          </m:f>
                        </m:e>
                      </m:func>
                    </m:oMath>
                  </m:oMathPara>
                </a14:m>
                <a:endParaRPr lang="fr-F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3D4695E-1632-F53E-514F-3D3E84FA92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764" y="5511911"/>
                <a:ext cx="3076873" cy="59452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7787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6DB72-DB08-FA1F-70A3-81C7AA4B1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3B708A14-7AD8-F906-9428-55AA733330AC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E02E3EBF-83CF-CDAB-6E81-3F5619A03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9C1-8EE1-4062-8A80-955144FCA279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52C509BE-47CE-CB4E-000E-B6A2469EF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85E222B1-ADC7-D7FE-D74A-FE5F72B6A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7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976040-3426-383D-7370-6C008C2818BA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F79C7B5A-3DE1-8202-E607-0ABC8D3D8DEB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E03D6B-CAB7-46D7-8378-CCB85960F286}"/>
              </a:ext>
            </a:extLst>
          </p:cNvPr>
          <p:cNvSpPr txBox="1"/>
          <p:nvPr/>
        </p:nvSpPr>
        <p:spPr>
          <a:xfrm>
            <a:off x="345439" y="721360"/>
            <a:ext cx="8063923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Modélisation : Comparaison des micros (Corde seule)</a:t>
            </a:r>
          </a:p>
        </p:txBody>
      </p:sp>
      <p:pic>
        <p:nvPicPr>
          <p:cNvPr id="8194" name="Picture 2" descr="Python Logo PNG Transparent – Brands Logos">
            <a:extLst>
              <a:ext uri="{FF2B5EF4-FFF2-40B4-BE49-F238E27FC236}">
                <a16:creationId xmlns:a16="http://schemas.microsoft.com/office/drawing/2014/main" id="{84167BCF-6F35-D8AA-74C8-D3F4C965AC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4584" y="599276"/>
            <a:ext cx="729039" cy="7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225CEFE-1823-A9E8-6FFA-C635ED1EEE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5439" y="1808502"/>
            <a:ext cx="5304374" cy="39782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37CF42E-30D2-CB51-D06D-C0F791BD4F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129" t="10561" r="26071" b="13876"/>
          <a:stretch>
            <a:fillRect/>
          </a:stretch>
        </p:blipFill>
        <p:spPr>
          <a:xfrm>
            <a:off x="6381742" y="1808502"/>
            <a:ext cx="1902841" cy="2039929"/>
          </a:xfrm>
          <a:prstGeom prst="rect">
            <a:avLst/>
          </a:prstGeom>
          <a:solidFill>
            <a:srgbClr val="000000">
              <a:shade val="95000"/>
            </a:srgbClr>
          </a:solidFill>
          <a:ln w="381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A1A0EA52-31ED-CB98-879C-ABFDA7F4D923}"/>
              </a:ext>
            </a:extLst>
          </p:cNvPr>
          <p:cNvCxnSpPr>
            <a:cxnSpLocks/>
            <a:stCxn id="17" idx="2"/>
            <a:endCxn id="11" idx="2"/>
          </p:cNvCxnSpPr>
          <p:nvPr/>
        </p:nvCxnSpPr>
        <p:spPr>
          <a:xfrm rot="5400000" flipH="1" flipV="1">
            <a:off x="5123658" y="2974746"/>
            <a:ext cx="1335819" cy="3083190"/>
          </a:xfrm>
          <a:prstGeom prst="curvedConnector3">
            <a:avLst>
              <a:gd name="adj1" fmla="val -17113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AB964F98-5918-5181-3402-647627634AF4}"/>
              </a:ext>
            </a:extLst>
          </p:cNvPr>
          <p:cNvSpPr/>
          <p:nvPr/>
        </p:nvSpPr>
        <p:spPr>
          <a:xfrm>
            <a:off x="3927945" y="2242268"/>
            <a:ext cx="644056" cy="2941982"/>
          </a:xfrm>
          <a:prstGeom prst="rect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3010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C545A-D149-E80D-15C9-5FE1F68B1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F700D01-327A-5AB2-E6FB-09B1F24738BC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2940C8D6-C983-6464-4CC2-373E546D3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9C1-8EE1-4062-8A80-955144FCA279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9BED4395-4C4A-3DEC-4676-F46F06B13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2D03759B-2FEA-F199-966D-F24779ABA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8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EE80DA-3061-594A-1544-4DAC935A60B0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73874F8-92B7-C0B4-4E7A-E1A5E7F235BA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275BA5-A143-E0A8-B1FD-EEAE550CA4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56932" y="1325239"/>
            <a:ext cx="6248472" cy="46863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D857C63-E5E7-E917-DE9E-1DE51C3EF0A8}"/>
              </a:ext>
            </a:extLst>
          </p:cNvPr>
          <p:cNvSpPr txBox="1"/>
          <p:nvPr/>
        </p:nvSpPr>
        <p:spPr>
          <a:xfrm>
            <a:off x="345439" y="721360"/>
            <a:ext cx="8063923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Modélisation : Comparaison des micros (Champ parasite)</a:t>
            </a:r>
          </a:p>
        </p:txBody>
      </p:sp>
      <p:pic>
        <p:nvPicPr>
          <p:cNvPr id="8194" name="Picture 2" descr="Python Logo PNG Transparent – Brands Logos">
            <a:extLst>
              <a:ext uri="{FF2B5EF4-FFF2-40B4-BE49-F238E27FC236}">
                <a16:creationId xmlns:a16="http://schemas.microsoft.com/office/drawing/2014/main" id="{CA1CD7DA-6770-C48E-6DAA-ECBDB763F9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4584" y="599276"/>
            <a:ext cx="729039" cy="7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9540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F6789-59FF-E98B-2D7A-EBFD30DD3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1E4409E-BB69-4F05-6959-05D93C0C0B56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0DD9EB35-CDF2-F204-61ED-05869E8CC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9C1-8EE1-4062-8A80-955144FCA279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40B72086-A9D3-5116-8808-12F97B9B0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8C7556C1-23EF-8984-6FB4-443D96D8B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9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A26979-A461-22EA-6FB4-E3B3CD3EA870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A2E6AD15-042F-0495-9070-FD814AE938F1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04D8CA-1D55-AAC7-9336-A28353BB32A3}"/>
              </a:ext>
            </a:extLst>
          </p:cNvPr>
          <p:cNvSpPr txBox="1"/>
          <p:nvPr/>
        </p:nvSpPr>
        <p:spPr>
          <a:xfrm>
            <a:off x="345439" y="721360"/>
            <a:ext cx="8063923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Modélisation : Comparaison des micros (Corde + parasite)</a:t>
            </a:r>
          </a:p>
        </p:txBody>
      </p:sp>
      <p:pic>
        <p:nvPicPr>
          <p:cNvPr id="8194" name="Picture 2" descr="Python Logo PNG Transparent – Brands Logos">
            <a:extLst>
              <a:ext uri="{FF2B5EF4-FFF2-40B4-BE49-F238E27FC236}">
                <a16:creationId xmlns:a16="http://schemas.microsoft.com/office/drawing/2014/main" id="{2A3B655F-4B4E-D5F2-9497-C1A6F9AC2E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4584" y="599276"/>
            <a:ext cx="729039" cy="7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3552811-F479-F545-99E7-467AF3F944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8104" y="3303345"/>
            <a:ext cx="3836942" cy="2856773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4AD04D4C-C0B9-F7D9-83A7-93464B0334E0}"/>
              </a:ext>
            </a:extLst>
          </p:cNvPr>
          <p:cNvGrpSpPr/>
          <p:nvPr/>
        </p:nvGrpSpPr>
        <p:grpSpPr>
          <a:xfrm>
            <a:off x="359725" y="1604733"/>
            <a:ext cx="4815097" cy="3611323"/>
            <a:chOff x="362607" y="1604733"/>
            <a:chExt cx="5232047" cy="397828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445F650-9350-E19B-7B37-75B5646491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62607" y="1604733"/>
              <a:ext cx="5232047" cy="3978281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EB83F2-A07C-395D-CB28-5FA0648AC1CD}"/>
                </a:ext>
              </a:extLst>
            </p:cNvPr>
            <p:cNvSpPr/>
            <p:nvPr/>
          </p:nvSpPr>
          <p:spPr>
            <a:xfrm>
              <a:off x="3881120" y="2038499"/>
              <a:ext cx="644056" cy="2941982"/>
            </a:xfrm>
            <a:prstGeom prst="rect">
              <a:avLst/>
            </a:prstGeom>
            <a:noFill/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26509A36-2478-6FFB-2B7A-9D55399A23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390" t="10063" r="26103" b="14012"/>
          <a:stretch>
            <a:fillRect/>
          </a:stretch>
        </p:blipFill>
        <p:spPr>
          <a:xfrm>
            <a:off x="5900432" y="1421138"/>
            <a:ext cx="1524912" cy="1582539"/>
          </a:xfrm>
          <a:prstGeom prst="rect">
            <a:avLst/>
          </a:prstGeom>
          <a:solidFill>
            <a:srgbClr val="000000">
              <a:shade val="95000"/>
            </a:srgbClr>
          </a:solidFill>
          <a:ln w="381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87E0B9A3-1292-B63F-DAAC-6489834BA374}"/>
              </a:ext>
            </a:extLst>
          </p:cNvPr>
          <p:cNvCxnSpPr>
            <a:cxnSpLocks/>
          </p:cNvCxnSpPr>
          <p:nvPr/>
        </p:nvCxnSpPr>
        <p:spPr>
          <a:xfrm flipV="1">
            <a:off x="4217668" y="1604733"/>
            <a:ext cx="1682764" cy="59547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15447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09104-889E-FEED-38F6-C3620D742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BDF59EE9-5541-3C35-D9F3-4286FB3CB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9C1-8EE1-4062-8A80-955144FCA279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8456BA52-60DE-BBCD-33A6-948F7C0B3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1A7DA8-31DF-35B6-F503-F848EFFAA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10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81309A-E7A7-6863-5C96-5E4ED1E2F76B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B6180FF7-3A39-B8EC-A752-BDE9EB41E268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7EF125-1D42-4832-0684-544004348805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Expérimentation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39B12CB-DF61-CDB0-E7B9-3D2385D235CC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16E47E-10D0-EAA6-08EB-4DB3E60BB44C}"/>
              </a:ext>
            </a:extLst>
          </p:cNvPr>
          <p:cNvSpPr txBox="1"/>
          <p:nvPr/>
        </p:nvSpPr>
        <p:spPr>
          <a:xfrm>
            <a:off x="452411" y="1241427"/>
            <a:ext cx="3030260" cy="4801314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b="1" dirty="0"/>
              <a:t>Matériel :</a:t>
            </a:r>
          </a:p>
          <a:p>
            <a:endParaRPr lang="fr-F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u="sng" dirty="0"/>
              <a:t>Déjà possédé :</a:t>
            </a:r>
          </a:p>
          <a:p>
            <a:endParaRPr lang="fr-FR" u="sng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Corde Métallique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Mécaniques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Micros (Simple &amp; Double)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Ordinateur Portable</a:t>
            </a:r>
          </a:p>
          <a:p>
            <a:r>
              <a:rPr lang="fr-FR" b="1" dirty="0"/>
              <a:t> </a:t>
            </a:r>
          </a:p>
          <a:p>
            <a:endParaRPr lang="fr-F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u="sng" dirty="0"/>
              <a:t>Reste à trouver :</a:t>
            </a:r>
          </a:p>
          <a:p>
            <a:endParaRPr lang="fr-FR" u="sng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Système d’excitation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Solénoïde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Carte d’acquisition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Oscilloscope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9B89B2-1B31-E264-13DF-C63CCFCF8423}"/>
              </a:ext>
            </a:extLst>
          </p:cNvPr>
          <p:cNvSpPr txBox="1"/>
          <p:nvPr/>
        </p:nvSpPr>
        <p:spPr>
          <a:xfrm>
            <a:off x="3759200" y="4565413"/>
            <a:ext cx="5064543" cy="1477328"/>
          </a:xfrm>
          <a:prstGeom prst="rect">
            <a:avLst/>
          </a:prstGeom>
          <a:ln w="38100">
            <a:solidFill>
              <a:schemeClr val="accent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numCol="1" rtlCol="0">
            <a:spAutoFit/>
          </a:bodyPr>
          <a:lstStyle/>
          <a:p>
            <a:r>
              <a:rPr lang="fr-FR" b="1" dirty="0"/>
              <a:t>Paramètres variables :</a:t>
            </a:r>
          </a:p>
          <a:p>
            <a:endParaRPr lang="fr-FR" b="1" dirty="0"/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fr-FR" dirty="0">
                <a:sym typeface="Wingdings" panose="05000000000000000000" pitchFamily="2" charset="2"/>
              </a:rPr>
              <a:t>Type de micro utilisé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fr-FR" dirty="0">
                <a:sym typeface="Wingdings" panose="05000000000000000000" pitchFamily="2" charset="2"/>
              </a:rPr>
              <a:t>Intensité &amp; Fréquence du champ parasite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fr-FR" dirty="0"/>
              <a:t>Tension de la corde (Note jouée)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ED359E7-849E-BD8C-61EE-C0140C4ACC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7421" y="2951290"/>
            <a:ext cx="5628641" cy="816991"/>
          </a:xfrm>
          <a:prstGeom prst="rect">
            <a:avLst/>
          </a:prstGeom>
        </p:spPr>
      </p:pic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A8033BC9-9F5E-C3E2-1B06-02C39D176A13}"/>
              </a:ext>
            </a:extLst>
          </p:cNvPr>
          <p:cNvCxnSpPr>
            <a:cxnSpLocks/>
          </p:cNvCxnSpPr>
          <p:nvPr/>
        </p:nvCxnSpPr>
        <p:spPr>
          <a:xfrm>
            <a:off x="7684805" y="2502535"/>
            <a:ext cx="0" cy="614045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F498DA7-3338-5409-5681-101EDFAF0052}"/>
              </a:ext>
            </a:extLst>
          </p:cNvPr>
          <p:cNvSpPr/>
          <p:nvPr/>
        </p:nvSpPr>
        <p:spPr>
          <a:xfrm>
            <a:off x="6775443" y="1390254"/>
            <a:ext cx="1841586" cy="7345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15C2591-2043-BF16-CB74-7452B5776708}"/>
              </a:ext>
            </a:extLst>
          </p:cNvPr>
          <p:cNvSpPr/>
          <p:nvPr/>
        </p:nvSpPr>
        <p:spPr>
          <a:xfrm>
            <a:off x="6775443" y="1534517"/>
            <a:ext cx="1841585" cy="477163"/>
          </a:xfrm>
          <a:custGeom>
            <a:avLst/>
            <a:gdLst>
              <a:gd name="connsiteX0" fmla="*/ 0 w 1875580"/>
              <a:gd name="connsiteY0" fmla="*/ 477163 h 477163"/>
              <a:gd name="connsiteX1" fmla="*/ 198782 w 1875580"/>
              <a:gd name="connsiteY1" fmla="*/ 23939 h 477163"/>
              <a:gd name="connsiteX2" fmla="*/ 421419 w 1875580"/>
              <a:gd name="connsiteY2" fmla="*/ 405601 h 477163"/>
              <a:gd name="connsiteX3" fmla="*/ 588396 w 1875580"/>
              <a:gd name="connsiteY3" fmla="*/ 8036 h 477163"/>
              <a:gd name="connsiteX4" fmla="*/ 779228 w 1875580"/>
              <a:gd name="connsiteY4" fmla="*/ 373796 h 477163"/>
              <a:gd name="connsiteX5" fmla="*/ 930302 w 1875580"/>
              <a:gd name="connsiteY5" fmla="*/ 85 h 477163"/>
              <a:gd name="connsiteX6" fmla="*/ 1160890 w 1875580"/>
              <a:gd name="connsiteY6" fmla="*/ 413553 h 477163"/>
              <a:gd name="connsiteX7" fmla="*/ 1264257 w 1875580"/>
              <a:gd name="connsiteY7" fmla="*/ 8036 h 477163"/>
              <a:gd name="connsiteX8" fmla="*/ 1478942 w 1875580"/>
              <a:gd name="connsiteY8" fmla="*/ 389699 h 477163"/>
              <a:gd name="connsiteX9" fmla="*/ 1574358 w 1875580"/>
              <a:gd name="connsiteY9" fmla="*/ 8036 h 477163"/>
              <a:gd name="connsiteX10" fmla="*/ 1741335 w 1875580"/>
              <a:gd name="connsiteY10" fmla="*/ 373796 h 477163"/>
              <a:gd name="connsiteX11" fmla="*/ 1852654 w 1875580"/>
              <a:gd name="connsiteY11" fmla="*/ 206819 h 477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875580" h="477163">
                <a:moveTo>
                  <a:pt x="0" y="477163"/>
                </a:moveTo>
                <a:cubicBezTo>
                  <a:pt x="64273" y="256514"/>
                  <a:pt x="128546" y="35866"/>
                  <a:pt x="198782" y="23939"/>
                </a:cubicBezTo>
                <a:cubicBezTo>
                  <a:pt x="269018" y="12012"/>
                  <a:pt x="356483" y="408251"/>
                  <a:pt x="421419" y="405601"/>
                </a:cubicBezTo>
                <a:cubicBezTo>
                  <a:pt x="486355" y="402950"/>
                  <a:pt x="528761" y="13337"/>
                  <a:pt x="588396" y="8036"/>
                </a:cubicBezTo>
                <a:cubicBezTo>
                  <a:pt x="648031" y="2735"/>
                  <a:pt x="722244" y="375121"/>
                  <a:pt x="779228" y="373796"/>
                </a:cubicBezTo>
                <a:cubicBezTo>
                  <a:pt x="836212" y="372471"/>
                  <a:pt x="866692" y="-6541"/>
                  <a:pt x="930302" y="85"/>
                </a:cubicBezTo>
                <a:cubicBezTo>
                  <a:pt x="993912" y="6711"/>
                  <a:pt x="1105231" y="412228"/>
                  <a:pt x="1160890" y="413553"/>
                </a:cubicBezTo>
                <a:cubicBezTo>
                  <a:pt x="1216549" y="414878"/>
                  <a:pt x="1211248" y="12012"/>
                  <a:pt x="1264257" y="8036"/>
                </a:cubicBezTo>
                <a:cubicBezTo>
                  <a:pt x="1317266" y="4060"/>
                  <a:pt x="1427259" y="389699"/>
                  <a:pt x="1478942" y="389699"/>
                </a:cubicBezTo>
                <a:cubicBezTo>
                  <a:pt x="1530625" y="389699"/>
                  <a:pt x="1530626" y="10686"/>
                  <a:pt x="1574358" y="8036"/>
                </a:cubicBezTo>
                <a:cubicBezTo>
                  <a:pt x="1618090" y="5386"/>
                  <a:pt x="1694952" y="340665"/>
                  <a:pt x="1741335" y="373796"/>
                </a:cubicBezTo>
                <a:cubicBezTo>
                  <a:pt x="1787718" y="406927"/>
                  <a:pt x="1930842" y="164412"/>
                  <a:pt x="1852654" y="206819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9" name="Graphic 18" descr="Laptop with solid fill">
            <a:extLst>
              <a:ext uri="{FF2B5EF4-FFF2-40B4-BE49-F238E27FC236}">
                <a16:creationId xmlns:a16="http://schemas.microsoft.com/office/drawing/2014/main" id="{9BCDF8A8-7F99-8FE8-7BF1-C7A885BD71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14657" y="1305513"/>
            <a:ext cx="914400" cy="914400"/>
          </a:xfrm>
          <a:prstGeom prst="rect">
            <a:avLst/>
          </a:prstGeom>
        </p:spPr>
      </p:pic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16C49802-C0CE-B8D9-AD7F-9896EB2DC0D8}"/>
              </a:ext>
            </a:extLst>
          </p:cNvPr>
          <p:cNvCxnSpPr>
            <a:cxnSpLocks/>
          </p:cNvCxnSpPr>
          <p:nvPr/>
        </p:nvCxnSpPr>
        <p:spPr>
          <a:xfrm>
            <a:off x="7752080" y="2551734"/>
            <a:ext cx="0" cy="5648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3F249FEC-4DC7-E7B1-3BB0-5E512CD709F8}"/>
              </a:ext>
            </a:extLst>
          </p:cNvPr>
          <p:cNvSpPr/>
          <p:nvPr/>
        </p:nvSpPr>
        <p:spPr>
          <a:xfrm>
            <a:off x="5425440" y="1757506"/>
            <a:ext cx="264160" cy="26453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F74190D-EDC1-FC59-7AFE-028F03D1C459}"/>
              </a:ext>
            </a:extLst>
          </p:cNvPr>
          <p:cNvCxnSpPr>
            <a:stCxn id="20" idx="3"/>
          </p:cNvCxnSpPr>
          <p:nvPr/>
        </p:nvCxnSpPr>
        <p:spPr>
          <a:xfrm flipV="1">
            <a:off x="5689600" y="1889775"/>
            <a:ext cx="436880" cy="1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FC5F835B-5BF8-5BF0-AEB2-FF7AF0A5327C}"/>
              </a:ext>
            </a:extLst>
          </p:cNvPr>
          <p:cNvCxnSpPr>
            <a:cxnSpLocks/>
          </p:cNvCxnSpPr>
          <p:nvPr/>
        </p:nvCxnSpPr>
        <p:spPr>
          <a:xfrm>
            <a:off x="6126480" y="1889775"/>
            <a:ext cx="0" cy="599425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F6162052-4E00-A39D-4D71-FAAE73C7123A}"/>
              </a:ext>
            </a:extLst>
          </p:cNvPr>
          <p:cNvCxnSpPr>
            <a:cxnSpLocks/>
          </p:cNvCxnSpPr>
          <p:nvPr/>
        </p:nvCxnSpPr>
        <p:spPr>
          <a:xfrm>
            <a:off x="6126480" y="2489200"/>
            <a:ext cx="1558325" cy="20566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902494E8-39D4-CDA4-FA5E-D322184DCC1A}"/>
              </a:ext>
            </a:extLst>
          </p:cNvPr>
          <p:cNvCxnSpPr>
            <a:cxnSpLocks/>
          </p:cNvCxnSpPr>
          <p:nvPr/>
        </p:nvCxnSpPr>
        <p:spPr>
          <a:xfrm>
            <a:off x="6914561" y="2124758"/>
            <a:ext cx="0" cy="374725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3FFBDF89-1E85-7858-3857-95316B055C8D}"/>
              </a:ext>
            </a:extLst>
          </p:cNvPr>
          <p:cNvCxnSpPr>
            <a:cxnSpLocks/>
          </p:cNvCxnSpPr>
          <p:nvPr/>
        </p:nvCxnSpPr>
        <p:spPr>
          <a:xfrm>
            <a:off x="5689600" y="1836896"/>
            <a:ext cx="511844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57960931-404D-C970-FA3A-E573D2742DF7}"/>
              </a:ext>
            </a:extLst>
          </p:cNvPr>
          <p:cNvCxnSpPr>
            <a:cxnSpLocks/>
          </p:cNvCxnSpPr>
          <p:nvPr/>
        </p:nvCxnSpPr>
        <p:spPr>
          <a:xfrm>
            <a:off x="7885465" y="2452537"/>
            <a:ext cx="0" cy="671274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C9121BD0-04BE-0472-5174-2D2B3AF73D8C}"/>
              </a:ext>
            </a:extLst>
          </p:cNvPr>
          <p:cNvCxnSpPr>
            <a:cxnSpLocks/>
          </p:cNvCxnSpPr>
          <p:nvPr/>
        </p:nvCxnSpPr>
        <p:spPr>
          <a:xfrm>
            <a:off x="6201445" y="1836896"/>
            <a:ext cx="0" cy="594884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5253BEC2-243B-01FE-1C2F-EA6E1851A799}"/>
              </a:ext>
            </a:extLst>
          </p:cNvPr>
          <p:cNvCxnSpPr>
            <a:cxnSpLocks/>
          </p:cNvCxnSpPr>
          <p:nvPr/>
        </p:nvCxnSpPr>
        <p:spPr>
          <a:xfrm>
            <a:off x="6201444" y="2431780"/>
            <a:ext cx="1691964" cy="20757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A8D5A20B-B049-2879-C37F-CAC15A6A672B}"/>
              </a:ext>
            </a:extLst>
          </p:cNvPr>
          <p:cNvCxnSpPr>
            <a:cxnSpLocks/>
          </p:cNvCxnSpPr>
          <p:nvPr/>
        </p:nvCxnSpPr>
        <p:spPr>
          <a:xfrm>
            <a:off x="7044136" y="2134338"/>
            <a:ext cx="3290" cy="30782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0D40CC0E-7C6E-4436-BCF7-36F35FBDC27D}"/>
              </a:ext>
            </a:extLst>
          </p:cNvPr>
          <p:cNvCxnSpPr>
            <a:cxnSpLocks/>
          </p:cNvCxnSpPr>
          <p:nvPr/>
        </p:nvCxnSpPr>
        <p:spPr>
          <a:xfrm>
            <a:off x="5689600" y="1942654"/>
            <a:ext cx="3530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21E8292C-D33F-C603-6C6A-181728421FE5}"/>
              </a:ext>
            </a:extLst>
          </p:cNvPr>
          <p:cNvCxnSpPr>
            <a:cxnSpLocks/>
          </p:cNvCxnSpPr>
          <p:nvPr/>
        </p:nvCxnSpPr>
        <p:spPr>
          <a:xfrm>
            <a:off x="6042660" y="1942654"/>
            <a:ext cx="0" cy="6094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A9F1AB57-8C60-ECC6-BC6A-53120F3E2CAD}"/>
              </a:ext>
            </a:extLst>
          </p:cNvPr>
          <p:cNvCxnSpPr>
            <a:cxnSpLocks/>
          </p:cNvCxnSpPr>
          <p:nvPr/>
        </p:nvCxnSpPr>
        <p:spPr>
          <a:xfrm>
            <a:off x="6048001" y="2541803"/>
            <a:ext cx="1704079" cy="1683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B119D559-C6E2-BA2F-449E-816D84158164}"/>
              </a:ext>
            </a:extLst>
          </p:cNvPr>
          <p:cNvCxnSpPr>
            <a:cxnSpLocks/>
          </p:cNvCxnSpPr>
          <p:nvPr/>
        </p:nvCxnSpPr>
        <p:spPr>
          <a:xfrm>
            <a:off x="7159671" y="2124758"/>
            <a:ext cx="2540" cy="4338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F150104C-0626-A8EC-9C02-A84F715983B8}"/>
              </a:ext>
            </a:extLst>
          </p:cNvPr>
          <p:cNvCxnSpPr>
            <a:cxnSpLocks/>
          </p:cNvCxnSpPr>
          <p:nvPr/>
        </p:nvCxnSpPr>
        <p:spPr>
          <a:xfrm flipH="1">
            <a:off x="5102860" y="1988836"/>
            <a:ext cx="32258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BE19A105-E66C-8954-82F4-D3612B63C69F}"/>
              </a:ext>
            </a:extLst>
          </p:cNvPr>
          <p:cNvSpPr txBox="1"/>
          <p:nvPr/>
        </p:nvSpPr>
        <p:spPr>
          <a:xfrm>
            <a:off x="4472477" y="2059735"/>
            <a:ext cx="3983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PC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E224F511-B992-A9BE-5C02-6DC13F1AC8BC}"/>
              </a:ext>
            </a:extLst>
          </p:cNvPr>
          <p:cNvSpPr txBox="1"/>
          <p:nvPr/>
        </p:nvSpPr>
        <p:spPr>
          <a:xfrm>
            <a:off x="4963117" y="1473942"/>
            <a:ext cx="13283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/>
              <a:t>Carte acquisition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2D008927-9DF2-9DB5-BE45-1FAF44624EC6}"/>
              </a:ext>
            </a:extLst>
          </p:cNvPr>
          <p:cNvSpPr txBox="1"/>
          <p:nvPr/>
        </p:nvSpPr>
        <p:spPr>
          <a:xfrm>
            <a:off x="6999717" y="1069866"/>
            <a:ext cx="13283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/>
              <a:t>Oscilloscope</a:t>
            </a:r>
          </a:p>
        </p:txBody>
      </p:sp>
    </p:spTree>
    <p:extLst>
      <p:ext uri="{BB962C8B-B14F-4D97-AF65-F5344CB8AC3E}">
        <p14:creationId xmlns:p14="http://schemas.microsoft.com/office/powerpoint/2010/main" val="2397432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7C5E6-0DE1-4F1C-6F44-3FB16C6D9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6FE16BF0-5CAC-E27D-2BCA-C7ECB900B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9C1-8EE1-4062-8A80-955144FCA279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244D8848-C6E0-0932-C016-8417CD84F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8DFD7F1-F1BC-C854-C94A-8AED674D6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11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52021D-76B4-A12E-592D-D2F8076D4D87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3A2191DD-FD6C-D2E8-D7D5-F517800D6FCA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92E44C-346A-328C-2F65-C1AA752EFAE7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Expérimentation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D5999F-74D6-8034-1956-8C86720C2FF3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BE6537-99FB-9A80-B717-CE3001CCA985}"/>
              </a:ext>
            </a:extLst>
          </p:cNvPr>
          <p:cNvSpPr txBox="1"/>
          <p:nvPr/>
        </p:nvSpPr>
        <p:spPr>
          <a:xfrm>
            <a:off x="452411" y="1241427"/>
            <a:ext cx="3030260" cy="4801314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b="1" dirty="0"/>
              <a:t>Matériel :</a:t>
            </a:r>
          </a:p>
          <a:p>
            <a:endParaRPr lang="fr-F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u="sng" dirty="0"/>
              <a:t>Déjà possédé :</a:t>
            </a:r>
          </a:p>
          <a:p>
            <a:endParaRPr lang="fr-FR" u="sng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Corde Métallique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Mécaniques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Micros (Simple &amp; Double)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Ordinateur Portable</a:t>
            </a:r>
          </a:p>
          <a:p>
            <a:r>
              <a:rPr lang="fr-FR" b="1" dirty="0"/>
              <a:t> </a:t>
            </a:r>
          </a:p>
          <a:p>
            <a:endParaRPr lang="fr-F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u="sng" dirty="0"/>
              <a:t>Reste à trouver :</a:t>
            </a:r>
          </a:p>
          <a:p>
            <a:endParaRPr lang="fr-FR" u="sng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Système d’excitation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Solénoïde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Carte d’acquisition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Oscilloscope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E3331A-21AD-415B-5CCD-8DDBAF25B1BD}"/>
              </a:ext>
            </a:extLst>
          </p:cNvPr>
          <p:cNvSpPr txBox="1"/>
          <p:nvPr/>
        </p:nvSpPr>
        <p:spPr>
          <a:xfrm>
            <a:off x="3759200" y="4565413"/>
            <a:ext cx="5064543" cy="1477328"/>
          </a:xfrm>
          <a:prstGeom prst="rect">
            <a:avLst/>
          </a:prstGeom>
          <a:ln w="38100">
            <a:solidFill>
              <a:schemeClr val="accent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numCol="1" rtlCol="0">
            <a:spAutoFit/>
          </a:bodyPr>
          <a:lstStyle/>
          <a:p>
            <a:r>
              <a:rPr lang="fr-FR" b="1" dirty="0"/>
              <a:t>Paramètres variables :</a:t>
            </a:r>
          </a:p>
          <a:p>
            <a:endParaRPr lang="fr-FR" b="1" dirty="0"/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fr-FR" dirty="0">
                <a:sym typeface="Wingdings" panose="05000000000000000000" pitchFamily="2" charset="2"/>
              </a:rPr>
              <a:t>Type de micro utilisé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fr-FR" dirty="0">
                <a:sym typeface="Wingdings" panose="05000000000000000000" pitchFamily="2" charset="2"/>
              </a:rPr>
              <a:t>Intensité &amp; Fréquence du champ parasite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fr-FR" dirty="0"/>
              <a:t>Tension de la corde (Note jouée)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DA7D672-DB9E-6FA4-2544-BDB36C527A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7421" y="2951290"/>
            <a:ext cx="5628641" cy="816991"/>
          </a:xfrm>
          <a:prstGeom prst="rect">
            <a:avLst/>
          </a:prstGeom>
        </p:spPr>
      </p:pic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0703E7DF-C581-8ECA-6134-BEB0EE50D07B}"/>
              </a:ext>
            </a:extLst>
          </p:cNvPr>
          <p:cNvCxnSpPr>
            <a:cxnSpLocks/>
          </p:cNvCxnSpPr>
          <p:nvPr/>
        </p:nvCxnSpPr>
        <p:spPr>
          <a:xfrm>
            <a:off x="7684805" y="2502535"/>
            <a:ext cx="0" cy="614045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73116245-F618-0625-394A-CE37C22D5A73}"/>
              </a:ext>
            </a:extLst>
          </p:cNvPr>
          <p:cNvSpPr/>
          <p:nvPr/>
        </p:nvSpPr>
        <p:spPr>
          <a:xfrm>
            <a:off x="6775443" y="1390254"/>
            <a:ext cx="1841586" cy="7345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E070ED70-041D-8735-EE73-DC8C6A1843A2}"/>
              </a:ext>
            </a:extLst>
          </p:cNvPr>
          <p:cNvSpPr/>
          <p:nvPr/>
        </p:nvSpPr>
        <p:spPr>
          <a:xfrm>
            <a:off x="6775443" y="1534517"/>
            <a:ext cx="1841585" cy="477163"/>
          </a:xfrm>
          <a:custGeom>
            <a:avLst/>
            <a:gdLst>
              <a:gd name="connsiteX0" fmla="*/ 0 w 1875580"/>
              <a:gd name="connsiteY0" fmla="*/ 477163 h 477163"/>
              <a:gd name="connsiteX1" fmla="*/ 198782 w 1875580"/>
              <a:gd name="connsiteY1" fmla="*/ 23939 h 477163"/>
              <a:gd name="connsiteX2" fmla="*/ 421419 w 1875580"/>
              <a:gd name="connsiteY2" fmla="*/ 405601 h 477163"/>
              <a:gd name="connsiteX3" fmla="*/ 588396 w 1875580"/>
              <a:gd name="connsiteY3" fmla="*/ 8036 h 477163"/>
              <a:gd name="connsiteX4" fmla="*/ 779228 w 1875580"/>
              <a:gd name="connsiteY4" fmla="*/ 373796 h 477163"/>
              <a:gd name="connsiteX5" fmla="*/ 930302 w 1875580"/>
              <a:gd name="connsiteY5" fmla="*/ 85 h 477163"/>
              <a:gd name="connsiteX6" fmla="*/ 1160890 w 1875580"/>
              <a:gd name="connsiteY6" fmla="*/ 413553 h 477163"/>
              <a:gd name="connsiteX7" fmla="*/ 1264257 w 1875580"/>
              <a:gd name="connsiteY7" fmla="*/ 8036 h 477163"/>
              <a:gd name="connsiteX8" fmla="*/ 1478942 w 1875580"/>
              <a:gd name="connsiteY8" fmla="*/ 389699 h 477163"/>
              <a:gd name="connsiteX9" fmla="*/ 1574358 w 1875580"/>
              <a:gd name="connsiteY9" fmla="*/ 8036 h 477163"/>
              <a:gd name="connsiteX10" fmla="*/ 1741335 w 1875580"/>
              <a:gd name="connsiteY10" fmla="*/ 373796 h 477163"/>
              <a:gd name="connsiteX11" fmla="*/ 1852654 w 1875580"/>
              <a:gd name="connsiteY11" fmla="*/ 206819 h 477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875580" h="477163">
                <a:moveTo>
                  <a:pt x="0" y="477163"/>
                </a:moveTo>
                <a:cubicBezTo>
                  <a:pt x="64273" y="256514"/>
                  <a:pt x="128546" y="35866"/>
                  <a:pt x="198782" y="23939"/>
                </a:cubicBezTo>
                <a:cubicBezTo>
                  <a:pt x="269018" y="12012"/>
                  <a:pt x="356483" y="408251"/>
                  <a:pt x="421419" y="405601"/>
                </a:cubicBezTo>
                <a:cubicBezTo>
                  <a:pt x="486355" y="402950"/>
                  <a:pt x="528761" y="13337"/>
                  <a:pt x="588396" y="8036"/>
                </a:cubicBezTo>
                <a:cubicBezTo>
                  <a:pt x="648031" y="2735"/>
                  <a:pt x="722244" y="375121"/>
                  <a:pt x="779228" y="373796"/>
                </a:cubicBezTo>
                <a:cubicBezTo>
                  <a:pt x="836212" y="372471"/>
                  <a:pt x="866692" y="-6541"/>
                  <a:pt x="930302" y="85"/>
                </a:cubicBezTo>
                <a:cubicBezTo>
                  <a:pt x="993912" y="6711"/>
                  <a:pt x="1105231" y="412228"/>
                  <a:pt x="1160890" y="413553"/>
                </a:cubicBezTo>
                <a:cubicBezTo>
                  <a:pt x="1216549" y="414878"/>
                  <a:pt x="1211248" y="12012"/>
                  <a:pt x="1264257" y="8036"/>
                </a:cubicBezTo>
                <a:cubicBezTo>
                  <a:pt x="1317266" y="4060"/>
                  <a:pt x="1427259" y="389699"/>
                  <a:pt x="1478942" y="389699"/>
                </a:cubicBezTo>
                <a:cubicBezTo>
                  <a:pt x="1530625" y="389699"/>
                  <a:pt x="1530626" y="10686"/>
                  <a:pt x="1574358" y="8036"/>
                </a:cubicBezTo>
                <a:cubicBezTo>
                  <a:pt x="1618090" y="5386"/>
                  <a:pt x="1694952" y="340665"/>
                  <a:pt x="1741335" y="373796"/>
                </a:cubicBezTo>
                <a:cubicBezTo>
                  <a:pt x="1787718" y="406927"/>
                  <a:pt x="1930842" y="164412"/>
                  <a:pt x="1852654" y="206819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9" name="Graphic 18" descr="Laptop with solid fill">
            <a:extLst>
              <a:ext uri="{FF2B5EF4-FFF2-40B4-BE49-F238E27FC236}">
                <a16:creationId xmlns:a16="http://schemas.microsoft.com/office/drawing/2014/main" id="{1475BB62-8833-C74B-33F3-5FF5E6BC8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14657" y="1305513"/>
            <a:ext cx="914400" cy="914400"/>
          </a:xfrm>
          <a:prstGeom prst="rect">
            <a:avLst/>
          </a:prstGeom>
        </p:spPr>
      </p:pic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EDB22A42-8AE1-16F0-3819-E6BDA471ADB7}"/>
              </a:ext>
            </a:extLst>
          </p:cNvPr>
          <p:cNvCxnSpPr>
            <a:cxnSpLocks/>
          </p:cNvCxnSpPr>
          <p:nvPr/>
        </p:nvCxnSpPr>
        <p:spPr>
          <a:xfrm>
            <a:off x="7752080" y="2551734"/>
            <a:ext cx="0" cy="5648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F463684D-63E0-72BE-8912-85CC2694CE45}"/>
              </a:ext>
            </a:extLst>
          </p:cNvPr>
          <p:cNvSpPr/>
          <p:nvPr/>
        </p:nvSpPr>
        <p:spPr>
          <a:xfrm>
            <a:off x="5425440" y="1757506"/>
            <a:ext cx="264160" cy="26453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1200402-FF58-CD75-C6BE-09AAABD735E7}"/>
              </a:ext>
            </a:extLst>
          </p:cNvPr>
          <p:cNvGrpSpPr/>
          <p:nvPr/>
        </p:nvGrpSpPr>
        <p:grpSpPr>
          <a:xfrm>
            <a:off x="6849792" y="3032198"/>
            <a:ext cx="2135121" cy="629737"/>
            <a:chOff x="5078985" y="3438238"/>
            <a:chExt cx="2135121" cy="629737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8AD45FAD-CA9A-7A67-1473-B08926A9FC10}"/>
                </a:ext>
              </a:extLst>
            </p:cNvPr>
            <p:cNvGrpSpPr/>
            <p:nvPr/>
          </p:nvGrpSpPr>
          <p:grpSpPr>
            <a:xfrm>
              <a:off x="5124704" y="3442378"/>
              <a:ext cx="2048256" cy="625597"/>
              <a:chOff x="5205984" y="3429000"/>
              <a:chExt cx="2048256" cy="625597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32FB9EC-FB62-0BBE-3635-833EE85C04B4}"/>
                  </a:ext>
                </a:extLst>
              </p:cNvPr>
              <p:cNvSpPr/>
              <p:nvPr/>
            </p:nvSpPr>
            <p:spPr>
              <a:xfrm>
                <a:off x="5205984" y="3429000"/>
                <a:ext cx="2048256" cy="625597"/>
              </a:xfrm>
              <a:prstGeom prst="rect">
                <a:avLst/>
              </a:prstGeom>
              <a:noFill/>
              <a:ln>
                <a:solidFill>
                  <a:srgbClr val="CC66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F4CE526B-C7B7-5965-8A5B-23CEC40E11DD}"/>
                  </a:ext>
                </a:extLst>
              </p:cNvPr>
              <p:cNvCxnSpPr/>
              <p:nvPr/>
            </p:nvCxnSpPr>
            <p:spPr>
              <a:xfrm>
                <a:off x="5266944" y="3429000"/>
                <a:ext cx="0" cy="625597"/>
              </a:xfrm>
              <a:prstGeom prst="line">
                <a:avLst/>
              </a:prstGeom>
              <a:ln>
                <a:solidFill>
                  <a:srgbClr val="CC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640A5E00-828F-9433-84B2-94C228A8E334}"/>
                  </a:ext>
                </a:extLst>
              </p:cNvPr>
              <p:cNvCxnSpPr/>
              <p:nvPr/>
            </p:nvCxnSpPr>
            <p:spPr>
              <a:xfrm>
                <a:off x="5335524" y="3429000"/>
                <a:ext cx="0" cy="625597"/>
              </a:xfrm>
              <a:prstGeom prst="line">
                <a:avLst/>
              </a:prstGeom>
              <a:ln>
                <a:solidFill>
                  <a:srgbClr val="CC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F7323253-CAAB-84B6-3CE1-A355AA5AF0E6}"/>
                  </a:ext>
                </a:extLst>
              </p:cNvPr>
              <p:cNvCxnSpPr/>
              <p:nvPr/>
            </p:nvCxnSpPr>
            <p:spPr>
              <a:xfrm>
                <a:off x="5404104" y="3429000"/>
                <a:ext cx="0" cy="625597"/>
              </a:xfrm>
              <a:prstGeom prst="line">
                <a:avLst/>
              </a:prstGeom>
              <a:ln>
                <a:solidFill>
                  <a:srgbClr val="CC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4FCA6A60-9717-FA4E-FDD2-7FFA543287BB}"/>
                  </a:ext>
                </a:extLst>
              </p:cNvPr>
              <p:cNvCxnSpPr/>
              <p:nvPr/>
            </p:nvCxnSpPr>
            <p:spPr>
              <a:xfrm>
                <a:off x="5472684" y="3429000"/>
                <a:ext cx="0" cy="625597"/>
              </a:xfrm>
              <a:prstGeom prst="line">
                <a:avLst/>
              </a:prstGeom>
              <a:ln>
                <a:solidFill>
                  <a:srgbClr val="CC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FB0CE6BC-88EC-65BD-D78A-0A52A691C584}"/>
                  </a:ext>
                </a:extLst>
              </p:cNvPr>
              <p:cNvCxnSpPr/>
              <p:nvPr/>
            </p:nvCxnSpPr>
            <p:spPr>
              <a:xfrm>
                <a:off x="5541264" y="3429000"/>
                <a:ext cx="0" cy="625597"/>
              </a:xfrm>
              <a:prstGeom prst="line">
                <a:avLst/>
              </a:prstGeom>
              <a:ln>
                <a:solidFill>
                  <a:srgbClr val="CC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59FC59CD-F71E-3DE2-1263-A0F6EAFC6246}"/>
                  </a:ext>
                </a:extLst>
              </p:cNvPr>
              <p:cNvCxnSpPr/>
              <p:nvPr/>
            </p:nvCxnSpPr>
            <p:spPr>
              <a:xfrm>
                <a:off x="5609844" y="3429000"/>
                <a:ext cx="0" cy="625597"/>
              </a:xfrm>
              <a:prstGeom prst="line">
                <a:avLst/>
              </a:prstGeom>
              <a:ln>
                <a:solidFill>
                  <a:srgbClr val="CC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65181CDB-38F1-E9C9-0231-02972CAB93CA}"/>
                  </a:ext>
                </a:extLst>
              </p:cNvPr>
              <p:cNvCxnSpPr/>
              <p:nvPr/>
            </p:nvCxnSpPr>
            <p:spPr>
              <a:xfrm>
                <a:off x="5678424" y="3429000"/>
                <a:ext cx="0" cy="625597"/>
              </a:xfrm>
              <a:prstGeom prst="line">
                <a:avLst/>
              </a:prstGeom>
              <a:ln>
                <a:solidFill>
                  <a:srgbClr val="CC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219ED1D8-B1A8-65CD-3B7D-20E3C10663B8}"/>
                  </a:ext>
                </a:extLst>
              </p:cNvPr>
              <p:cNvCxnSpPr/>
              <p:nvPr/>
            </p:nvCxnSpPr>
            <p:spPr>
              <a:xfrm>
                <a:off x="5747004" y="3429000"/>
                <a:ext cx="0" cy="625597"/>
              </a:xfrm>
              <a:prstGeom prst="line">
                <a:avLst/>
              </a:prstGeom>
              <a:ln>
                <a:solidFill>
                  <a:srgbClr val="CC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20FBF310-A56E-711D-12C1-CB788ACED06C}"/>
                  </a:ext>
                </a:extLst>
              </p:cNvPr>
              <p:cNvCxnSpPr/>
              <p:nvPr/>
            </p:nvCxnSpPr>
            <p:spPr>
              <a:xfrm>
                <a:off x="5815584" y="3429000"/>
                <a:ext cx="0" cy="625597"/>
              </a:xfrm>
              <a:prstGeom prst="line">
                <a:avLst/>
              </a:prstGeom>
              <a:ln>
                <a:solidFill>
                  <a:srgbClr val="CC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E33F292D-BD97-5B44-B7B8-223F65EBBB2A}"/>
                  </a:ext>
                </a:extLst>
              </p:cNvPr>
              <p:cNvCxnSpPr/>
              <p:nvPr/>
            </p:nvCxnSpPr>
            <p:spPr>
              <a:xfrm>
                <a:off x="5884164" y="3429000"/>
                <a:ext cx="0" cy="625597"/>
              </a:xfrm>
              <a:prstGeom prst="line">
                <a:avLst/>
              </a:prstGeom>
              <a:ln>
                <a:solidFill>
                  <a:srgbClr val="CC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E94E6A3B-0D79-176E-9CB2-5FED00B887FC}"/>
                  </a:ext>
                </a:extLst>
              </p:cNvPr>
              <p:cNvCxnSpPr/>
              <p:nvPr/>
            </p:nvCxnSpPr>
            <p:spPr>
              <a:xfrm>
                <a:off x="5952744" y="3429000"/>
                <a:ext cx="0" cy="625597"/>
              </a:xfrm>
              <a:prstGeom prst="line">
                <a:avLst/>
              </a:prstGeom>
              <a:ln>
                <a:solidFill>
                  <a:srgbClr val="CC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DE7ED7BD-4003-C50B-C269-3AC26B61DD09}"/>
                  </a:ext>
                </a:extLst>
              </p:cNvPr>
              <p:cNvCxnSpPr/>
              <p:nvPr/>
            </p:nvCxnSpPr>
            <p:spPr>
              <a:xfrm>
                <a:off x="6021324" y="3429000"/>
                <a:ext cx="0" cy="625597"/>
              </a:xfrm>
              <a:prstGeom prst="line">
                <a:avLst/>
              </a:prstGeom>
              <a:ln>
                <a:solidFill>
                  <a:srgbClr val="CC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21AB024A-C405-9FD0-2A21-44470537A5ED}"/>
                  </a:ext>
                </a:extLst>
              </p:cNvPr>
              <p:cNvCxnSpPr/>
              <p:nvPr/>
            </p:nvCxnSpPr>
            <p:spPr>
              <a:xfrm>
                <a:off x="6089904" y="3429000"/>
                <a:ext cx="0" cy="625597"/>
              </a:xfrm>
              <a:prstGeom prst="line">
                <a:avLst/>
              </a:prstGeom>
              <a:ln>
                <a:solidFill>
                  <a:srgbClr val="CC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32E512DD-0CBB-21B0-325D-00607F2FF849}"/>
                  </a:ext>
                </a:extLst>
              </p:cNvPr>
              <p:cNvCxnSpPr/>
              <p:nvPr/>
            </p:nvCxnSpPr>
            <p:spPr>
              <a:xfrm>
                <a:off x="6158484" y="3429000"/>
                <a:ext cx="0" cy="625597"/>
              </a:xfrm>
              <a:prstGeom prst="line">
                <a:avLst/>
              </a:prstGeom>
              <a:ln>
                <a:solidFill>
                  <a:srgbClr val="CC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A820C23E-FFBE-CF0A-93B9-B1BE951C4FFB}"/>
                  </a:ext>
                </a:extLst>
              </p:cNvPr>
              <p:cNvCxnSpPr/>
              <p:nvPr/>
            </p:nvCxnSpPr>
            <p:spPr>
              <a:xfrm>
                <a:off x="6227064" y="3429000"/>
                <a:ext cx="0" cy="625597"/>
              </a:xfrm>
              <a:prstGeom prst="line">
                <a:avLst/>
              </a:prstGeom>
              <a:ln>
                <a:solidFill>
                  <a:srgbClr val="CC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725A34C0-D060-C509-6C1C-EA74031011A1}"/>
                  </a:ext>
                </a:extLst>
              </p:cNvPr>
              <p:cNvCxnSpPr/>
              <p:nvPr/>
            </p:nvCxnSpPr>
            <p:spPr>
              <a:xfrm>
                <a:off x="6295644" y="3429000"/>
                <a:ext cx="0" cy="625597"/>
              </a:xfrm>
              <a:prstGeom prst="line">
                <a:avLst/>
              </a:prstGeom>
              <a:ln>
                <a:solidFill>
                  <a:srgbClr val="CC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5391525B-2552-AB02-F8CD-E31001DD1B89}"/>
                  </a:ext>
                </a:extLst>
              </p:cNvPr>
              <p:cNvCxnSpPr/>
              <p:nvPr/>
            </p:nvCxnSpPr>
            <p:spPr>
              <a:xfrm>
                <a:off x="6364224" y="3429000"/>
                <a:ext cx="0" cy="625597"/>
              </a:xfrm>
              <a:prstGeom prst="line">
                <a:avLst/>
              </a:prstGeom>
              <a:ln>
                <a:solidFill>
                  <a:srgbClr val="CC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477B0E3F-2996-2B13-3735-BBE87172035D}"/>
                  </a:ext>
                </a:extLst>
              </p:cNvPr>
              <p:cNvCxnSpPr/>
              <p:nvPr/>
            </p:nvCxnSpPr>
            <p:spPr>
              <a:xfrm>
                <a:off x="6432804" y="3429000"/>
                <a:ext cx="0" cy="625597"/>
              </a:xfrm>
              <a:prstGeom prst="line">
                <a:avLst/>
              </a:prstGeom>
              <a:ln>
                <a:solidFill>
                  <a:srgbClr val="CC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CAE3A217-3914-51BE-7A90-C1F74E328B78}"/>
                  </a:ext>
                </a:extLst>
              </p:cNvPr>
              <p:cNvCxnSpPr/>
              <p:nvPr/>
            </p:nvCxnSpPr>
            <p:spPr>
              <a:xfrm>
                <a:off x="6501384" y="3429000"/>
                <a:ext cx="0" cy="625597"/>
              </a:xfrm>
              <a:prstGeom prst="line">
                <a:avLst/>
              </a:prstGeom>
              <a:ln>
                <a:solidFill>
                  <a:srgbClr val="CC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55ECD927-C128-FE8B-D8F2-8043127DB835}"/>
                  </a:ext>
                </a:extLst>
              </p:cNvPr>
              <p:cNvCxnSpPr/>
              <p:nvPr/>
            </p:nvCxnSpPr>
            <p:spPr>
              <a:xfrm>
                <a:off x="6569964" y="3429000"/>
                <a:ext cx="0" cy="625597"/>
              </a:xfrm>
              <a:prstGeom prst="line">
                <a:avLst/>
              </a:prstGeom>
              <a:ln>
                <a:solidFill>
                  <a:srgbClr val="CC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5C9FBE32-B648-7DB5-26F0-742B6359F4EB}"/>
                  </a:ext>
                </a:extLst>
              </p:cNvPr>
              <p:cNvCxnSpPr/>
              <p:nvPr/>
            </p:nvCxnSpPr>
            <p:spPr>
              <a:xfrm>
                <a:off x="6638544" y="3429000"/>
                <a:ext cx="0" cy="625597"/>
              </a:xfrm>
              <a:prstGeom prst="line">
                <a:avLst/>
              </a:prstGeom>
              <a:ln>
                <a:solidFill>
                  <a:srgbClr val="CC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DD85C51F-3A18-DBA6-0908-F257DB50DE18}"/>
                  </a:ext>
                </a:extLst>
              </p:cNvPr>
              <p:cNvCxnSpPr/>
              <p:nvPr/>
            </p:nvCxnSpPr>
            <p:spPr>
              <a:xfrm>
                <a:off x="6707124" y="3429000"/>
                <a:ext cx="0" cy="625597"/>
              </a:xfrm>
              <a:prstGeom prst="line">
                <a:avLst/>
              </a:prstGeom>
              <a:ln>
                <a:solidFill>
                  <a:srgbClr val="CC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ADD1E8E0-DFA7-B96A-F04E-7CE07E6EAF48}"/>
                  </a:ext>
                </a:extLst>
              </p:cNvPr>
              <p:cNvCxnSpPr/>
              <p:nvPr/>
            </p:nvCxnSpPr>
            <p:spPr>
              <a:xfrm>
                <a:off x="6775704" y="3429000"/>
                <a:ext cx="0" cy="625597"/>
              </a:xfrm>
              <a:prstGeom prst="line">
                <a:avLst/>
              </a:prstGeom>
              <a:ln>
                <a:solidFill>
                  <a:srgbClr val="CC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E11CF5D5-BABC-698C-FD1A-55F6A77B321E}"/>
                  </a:ext>
                </a:extLst>
              </p:cNvPr>
              <p:cNvCxnSpPr/>
              <p:nvPr/>
            </p:nvCxnSpPr>
            <p:spPr>
              <a:xfrm>
                <a:off x="6844284" y="3429000"/>
                <a:ext cx="0" cy="625597"/>
              </a:xfrm>
              <a:prstGeom prst="line">
                <a:avLst/>
              </a:prstGeom>
              <a:ln>
                <a:solidFill>
                  <a:srgbClr val="CC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6F71AAEA-7784-BF18-F1B2-BC990DBB99D7}"/>
                  </a:ext>
                </a:extLst>
              </p:cNvPr>
              <p:cNvCxnSpPr/>
              <p:nvPr/>
            </p:nvCxnSpPr>
            <p:spPr>
              <a:xfrm>
                <a:off x="6912864" y="3429000"/>
                <a:ext cx="0" cy="625597"/>
              </a:xfrm>
              <a:prstGeom prst="line">
                <a:avLst/>
              </a:prstGeom>
              <a:ln>
                <a:solidFill>
                  <a:srgbClr val="CC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0B9C6918-EA6A-3B33-B71B-E22469F76D3F}"/>
                  </a:ext>
                </a:extLst>
              </p:cNvPr>
              <p:cNvCxnSpPr/>
              <p:nvPr/>
            </p:nvCxnSpPr>
            <p:spPr>
              <a:xfrm>
                <a:off x="6981444" y="3429000"/>
                <a:ext cx="0" cy="625597"/>
              </a:xfrm>
              <a:prstGeom prst="line">
                <a:avLst/>
              </a:prstGeom>
              <a:ln>
                <a:solidFill>
                  <a:srgbClr val="CC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9E844B00-B8E6-1118-2EFA-42388EA2BEC8}"/>
                  </a:ext>
                </a:extLst>
              </p:cNvPr>
              <p:cNvCxnSpPr/>
              <p:nvPr/>
            </p:nvCxnSpPr>
            <p:spPr>
              <a:xfrm>
                <a:off x="7050024" y="3429000"/>
                <a:ext cx="0" cy="625597"/>
              </a:xfrm>
              <a:prstGeom prst="line">
                <a:avLst/>
              </a:prstGeom>
              <a:ln>
                <a:solidFill>
                  <a:srgbClr val="CC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6B7A4179-2DC9-4AD2-FA4B-BC7F3BEB1833}"/>
                  </a:ext>
                </a:extLst>
              </p:cNvPr>
              <p:cNvCxnSpPr/>
              <p:nvPr/>
            </p:nvCxnSpPr>
            <p:spPr>
              <a:xfrm>
                <a:off x="7118604" y="3429000"/>
                <a:ext cx="0" cy="625597"/>
              </a:xfrm>
              <a:prstGeom prst="line">
                <a:avLst/>
              </a:prstGeom>
              <a:ln>
                <a:solidFill>
                  <a:srgbClr val="CC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25A8B308-F48D-C1B0-DC2C-656534FEEA2C}"/>
                  </a:ext>
                </a:extLst>
              </p:cNvPr>
              <p:cNvCxnSpPr/>
              <p:nvPr/>
            </p:nvCxnSpPr>
            <p:spPr>
              <a:xfrm>
                <a:off x="7187184" y="3429000"/>
                <a:ext cx="0" cy="625597"/>
              </a:xfrm>
              <a:prstGeom prst="line">
                <a:avLst/>
              </a:prstGeom>
              <a:ln>
                <a:solidFill>
                  <a:srgbClr val="CC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F77CF9E1-8ECE-CEAD-4418-DAA01C8560FB}"/>
                </a:ext>
              </a:extLst>
            </p:cNvPr>
            <p:cNvSpPr/>
            <p:nvPr/>
          </p:nvSpPr>
          <p:spPr>
            <a:xfrm>
              <a:off x="5078985" y="3442378"/>
              <a:ext cx="45719" cy="625596"/>
            </a:xfrm>
            <a:prstGeom prst="ellipse">
              <a:avLst/>
            </a:prstGeom>
            <a:noFill/>
            <a:ln>
              <a:solidFill>
                <a:srgbClr val="CC66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8E93250B-D5A9-89D5-0D61-8CCA23667EB5}"/>
                </a:ext>
              </a:extLst>
            </p:cNvPr>
            <p:cNvSpPr/>
            <p:nvPr/>
          </p:nvSpPr>
          <p:spPr>
            <a:xfrm>
              <a:off x="7168387" y="3438238"/>
              <a:ext cx="45719" cy="625596"/>
            </a:xfrm>
            <a:prstGeom prst="ellipse">
              <a:avLst/>
            </a:prstGeom>
            <a:noFill/>
            <a:ln>
              <a:solidFill>
                <a:srgbClr val="CC66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30619061-DE82-FF4E-31BD-5B2B89D30BC8}"/>
              </a:ext>
            </a:extLst>
          </p:cNvPr>
          <p:cNvSpPr/>
          <p:nvPr/>
        </p:nvSpPr>
        <p:spPr>
          <a:xfrm>
            <a:off x="4913057" y="3742170"/>
            <a:ext cx="540000" cy="540000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700" b="1" dirty="0"/>
              <a:t>GBF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9F7618B-D6AE-3FB6-F8B6-CF92EA427779}"/>
              </a:ext>
            </a:extLst>
          </p:cNvPr>
          <p:cNvCxnSpPr>
            <a:stCxn id="4" idx="6"/>
          </p:cNvCxnSpPr>
          <p:nvPr/>
        </p:nvCxnSpPr>
        <p:spPr>
          <a:xfrm>
            <a:off x="5453057" y="4012170"/>
            <a:ext cx="1442454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6335F79-FF09-C52A-FFC4-CBB7D46008FB}"/>
              </a:ext>
            </a:extLst>
          </p:cNvPr>
          <p:cNvCxnSpPr>
            <a:cxnSpLocks/>
          </p:cNvCxnSpPr>
          <p:nvPr/>
        </p:nvCxnSpPr>
        <p:spPr>
          <a:xfrm flipV="1">
            <a:off x="6887139" y="3657794"/>
            <a:ext cx="2277" cy="35437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E89060DD-04B9-A3D8-F6F2-13FB97FF8149}"/>
              </a:ext>
            </a:extLst>
          </p:cNvPr>
          <p:cNvCxnSpPr>
            <a:cxnSpLocks/>
          </p:cNvCxnSpPr>
          <p:nvPr/>
        </p:nvCxnSpPr>
        <p:spPr>
          <a:xfrm>
            <a:off x="5453057" y="4038840"/>
            <a:ext cx="350688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57B2373-93B5-C448-D418-D627D4348FE0}"/>
              </a:ext>
            </a:extLst>
          </p:cNvPr>
          <p:cNvCxnSpPr>
            <a:cxnSpLocks/>
            <a:endCxn id="56" idx="4"/>
          </p:cNvCxnSpPr>
          <p:nvPr/>
        </p:nvCxnSpPr>
        <p:spPr>
          <a:xfrm flipV="1">
            <a:off x="8959938" y="3657794"/>
            <a:ext cx="2116" cy="38104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429526FF-5DD6-F3EB-E786-284298492EE8}"/>
              </a:ext>
            </a:extLst>
          </p:cNvPr>
          <p:cNvCxnSpPr>
            <a:stCxn id="20" idx="3"/>
          </p:cNvCxnSpPr>
          <p:nvPr/>
        </p:nvCxnSpPr>
        <p:spPr>
          <a:xfrm flipV="1">
            <a:off x="5689600" y="1889775"/>
            <a:ext cx="436880" cy="1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A2D4097B-8585-0567-481D-39D0CD35E883}"/>
              </a:ext>
            </a:extLst>
          </p:cNvPr>
          <p:cNvCxnSpPr>
            <a:cxnSpLocks/>
          </p:cNvCxnSpPr>
          <p:nvPr/>
        </p:nvCxnSpPr>
        <p:spPr>
          <a:xfrm>
            <a:off x="6126480" y="1889775"/>
            <a:ext cx="0" cy="599425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F81531F3-F4E5-8012-D987-237A398B5D5F}"/>
              </a:ext>
            </a:extLst>
          </p:cNvPr>
          <p:cNvCxnSpPr>
            <a:cxnSpLocks/>
          </p:cNvCxnSpPr>
          <p:nvPr/>
        </p:nvCxnSpPr>
        <p:spPr>
          <a:xfrm>
            <a:off x="6126480" y="2489200"/>
            <a:ext cx="1558325" cy="20566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F1564213-6302-4937-77BB-1A3B21E95F2E}"/>
              </a:ext>
            </a:extLst>
          </p:cNvPr>
          <p:cNvCxnSpPr>
            <a:cxnSpLocks/>
          </p:cNvCxnSpPr>
          <p:nvPr/>
        </p:nvCxnSpPr>
        <p:spPr>
          <a:xfrm>
            <a:off x="6914561" y="2124758"/>
            <a:ext cx="0" cy="374725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8C9288F7-64DE-7D75-EFB0-2FC3D12D0895}"/>
              </a:ext>
            </a:extLst>
          </p:cNvPr>
          <p:cNvCxnSpPr>
            <a:cxnSpLocks/>
          </p:cNvCxnSpPr>
          <p:nvPr/>
        </p:nvCxnSpPr>
        <p:spPr>
          <a:xfrm>
            <a:off x="5689600" y="1836896"/>
            <a:ext cx="511844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FB031C1A-3E84-1AB0-C7BA-D77F142B8BE8}"/>
              </a:ext>
            </a:extLst>
          </p:cNvPr>
          <p:cNvCxnSpPr>
            <a:cxnSpLocks/>
          </p:cNvCxnSpPr>
          <p:nvPr/>
        </p:nvCxnSpPr>
        <p:spPr>
          <a:xfrm>
            <a:off x="7885465" y="2452537"/>
            <a:ext cx="0" cy="671274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93659638-109D-3E3A-F406-3E1BFCBB6422}"/>
              </a:ext>
            </a:extLst>
          </p:cNvPr>
          <p:cNvCxnSpPr>
            <a:cxnSpLocks/>
          </p:cNvCxnSpPr>
          <p:nvPr/>
        </p:nvCxnSpPr>
        <p:spPr>
          <a:xfrm>
            <a:off x="6201445" y="1836896"/>
            <a:ext cx="0" cy="594884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20859230-5D7E-699B-A84F-1B5304068FA8}"/>
              </a:ext>
            </a:extLst>
          </p:cNvPr>
          <p:cNvCxnSpPr>
            <a:cxnSpLocks/>
          </p:cNvCxnSpPr>
          <p:nvPr/>
        </p:nvCxnSpPr>
        <p:spPr>
          <a:xfrm>
            <a:off x="6201444" y="2431780"/>
            <a:ext cx="1691964" cy="20757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119C40D7-35A4-8C21-B2D8-101FE563A7EA}"/>
              </a:ext>
            </a:extLst>
          </p:cNvPr>
          <p:cNvCxnSpPr>
            <a:cxnSpLocks/>
          </p:cNvCxnSpPr>
          <p:nvPr/>
        </p:nvCxnSpPr>
        <p:spPr>
          <a:xfrm>
            <a:off x="7044136" y="2134338"/>
            <a:ext cx="3290" cy="30782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853CCC1-C170-8C6E-BFF1-1CB34AC117C7}"/>
              </a:ext>
            </a:extLst>
          </p:cNvPr>
          <p:cNvCxnSpPr>
            <a:cxnSpLocks/>
          </p:cNvCxnSpPr>
          <p:nvPr/>
        </p:nvCxnSpPr>
        <p:spPr>
          <a:xfrm>
            <a:off x="5689600" y="1942654"/>
            <a:ext cx="3530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6FFEE373-16D8-7AAA-3C79-94BDEC026060}"/>
              </a:ext>
            </a:extLst>
          </p:cNvPr>
          <p:cNvCxnSpPr>
            <a:cxnSpLocks/>
          </p:cNvCxnSpPr>
          <p:nvPr/>
        </p:nvCxnSpPr>
        <p:spPr>
          <a:xfrm>
            <a:off x="6042660" y="1942654"/>
            <a:ext cx="0" cy="6094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E24C8C20-D7AC-07FF-17E7-CD7B19CEDAED}"/>
              </a:ext>
            </a:extLst>
          </p:cNvPr>
          <p:cNvCxnSpPr>
            <a:cxnSpLocks/>
          </p:cNvCxnSpPr>
          <p:nvPr/>
        </p:nvCxnSpPr>
        <p:spPr>
          <a:xfrm>
            <a:off x="6048001" y="2541803"/>
            <a:ext cx="1704079" cy="1683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E8DE69F6-73CC-7C59-8557-533E17BFCC89}"/>
              </a:ext>
            </a:extLst>
          </p:cNvPr>
          <p:cNvCxnSpPr>
            <a:cxnSpLocks/>
          </p:cNvCxnSpPr>
          <p:nvPr/>
        </p:nvCxnSpPr>
        <p:spPr>
          <a:xfrm>
            <a:off x="7159671" y="2124758"/>
            <a:ext cx="2540" cy="43388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B3066ADC-9E10-FB4B-BC6C-535BD1320A69}"/>
              </a:ext>
            </a:extLst>
          </p:cNvPr>
          <p:cNvCxnSpPr>
            <a:cxnSpLocks/>
          </p:cNvCxnSpPr>
          <p:nvPr/>
        </p:nvCxnSpPr>
        <p:spPr>
          <a:xfrm flipH="1">
            <a:off x="5102860" y="1988836"/>
            <a:ext cx="32258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BEF864ED-6C29-D104-EB65-54C09B62328E}"/>
              </a:ext>
            </a:extLst>
          </p:cNvPr>
          <p:cNvSpPr txBox="1"/>
          <p:nvPr/>
        </p:nvSpPr>
        <p:spPr>
          <a:xfrm>
            <a:off x="4472477" y="2059735"/>
            <a:ext cx="3983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PC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F0EEDB0-A4AC-132C-CFBA-4F005C4A6C77}"/>
              </a:ext>
            </a:extLst>
          </p:cNvPr>
          <p:cNvSpPr txBox="1"/>
          <p:nvPr/>
        </p:nvSpPr>
        <p:spPr>
          <a:xfrm>
            <a:off x="4963117" y="1473942"/>
            <a:ext cx="13283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/>
              <a:t>Carte acquisition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E5F5B949-65BA-01E9-A90A-A16A8CFB32F2}"/>
              </a:ext>
            </a:extLst>
          </p:cNvPr>
          <p:cNvSpPr txBox="1"/>
          <p:nvPr/>
        </p:nvSpPr>
        <p:spPr>
          <a:xfrm>
            <a:off x="6999717" y="1069866"/>
            <a:ext cx="13283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/>
              <a:t>Oscilloscope</a:t>
            </a:r>
          </a:p>
        </p:txBody>
      </p:sp>
    </p:spTree>
    <p:extLst>
      <p:ext uri="{BB962C8B-B14F-4D97-AF65-F5344CB8AC3E}">
        <p14:creationId xmlns:p14="http://schemas.microsoft.com/office/powerpoint/2010/main" val="1782830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6FC30-AAA2-E5BB-32E0-683CC058E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7C011195-2549-BCE2-65E7-95D97701B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9C1-8EE1-4062-8A80-955144FCA279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1D27B990-34B8-0612-B00F-135A3864A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ADCD4202-BEB8-74F4-5148-FD85D148C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12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6465F9-2328-58C8-82DC-3D4C33494CAC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F6118C6D-1578-28CB-51EF-9F9921702B38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27CD10-7EEF-021B-45BD-839A366C0544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Sources &amp; Bibliographie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2768E8-3415-4446-BB84-549A102258DE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FE077D-2C94-B4B1-D675-115CAB645DBB}"/>
              </a:ext>
            </a:extLst>
          </p:cNvPr>
          <p:cNvSpPr txBox="1"/>
          <p:nvPr/>
        </p:nvSpPr>
        <p:spPr>
          <a:xfrm>
            <a:off x="345439" y="1254482"/>
            <a:ext cx="849111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/>
              <a:t>[1] </a:t>
            </a:r>
            <a:r>
              <a:rPr lang="fr-FR" sz="1200" dirty="0"/>
              <a:t>P. </a:t>
            </a:r>
            <a:r>
              <a:rPr lang="fr-FR" sz="1200" dirty="0" err="1"/>
              <a:t>Perov</a:t>
            </a:r>
            <a:r>
              <a:rPr lang="fr-FR" sz="1200" dirty="0"/>
              <a:t>, W. Johnson, and N. </a:t>
            </a:r>
            <a:r>
              <a:rPr lang="fr-FR" sz="1200" dirty="0" err="1"/>
              <a:t>Perova</a:t>
            </a:r>
            <a:r>
              <a:rPr lang="fr-FR" sz="1200" dirty="0"/>
              <a:t>-Mello, "The </a:t>
            </a:r>
            <a:r>
              <a:rPr lang="fr-FR" sz="1200" dirty="0" err="1"/>
              <a:t>physics</a:t>
            </a:r>
            <a:r>
              <a:rPr lang="fr-FR" sz="1200" dirty="0"/>
              <a:t> of </a:t>
            </a:r>
            <a:r>
              <a:rPr lang="fr-FR" sz="1200" dirty="0" err="1"/>
              <a:t>guitar</a:t>
            </a:r>
            <a:r>
              <a:rPr lang="fr-FR" sz="1200" dirty="0"/>
              <a:t> string vibrations," </a:t>
            </a:r>
            <a:r>
              <a:rPr lang="fr-FR" sz="1200" i="1" dirty="0"/>
              <a:t>American Journal of </a:t>
            </a:r>
            <a:r>
              <a:rPr lang="fr-FR" sz="1200" i="1" dirty="0" err="1"/>
              <a:t>Physics</a:t>
            </a:r>
            <a:r>
              <a:rPr lang="fr-FR" sz="1200" dirty="0"/>
              <a:t>, vol. 84, pp. 38–43, 2016.</a:t>
            </a:r>
          </a:p>
          <a:p>
            <a:r>
              <a:rPr lang="fr-FR" sz="1200" b="1" dirty="0"/>
              <a:t>[2] </a:t>
            </a:r>
            <a:r>
              <a:rPr lang="fr-FR" sz="1200" dirty="0"/>
              <a:t>T. Ray, J. </a:t>
            </a:r>
            <a:r>
              <a:rPr lang="fr-FR" sz="1200" dirty="0" err="1"/>
              <a:t>Kaljun</a:t>
            </a:r>
            <a:r>
              <a:rPr lang="fr-FR" sz="1200" dirty="0"/>
              <a:t>, and B. </a:t>
            </a:r>
            <a:r>
              <a:rPr lang="fr-FR" sz="1200" dirty="0" err="1"/>
              <a:t>Dolsak</a:t>
            </a:r>
            <a:r>
              <a:rPr lang="fr-FR" sz="1200" dirty="0"/>
              <a:t>, "</a:t>
            </a:r>
            <a:r>
              <a:rPr lang="fr-FR" sz="1200" dirty="0" err="1"/>
              <a:t>Numerical</a:t>
            </a:r>
            <a:r>
              <a:rPr lang="fr-FR" sz="1200" dirty="0"/>
              <a:t> model application to </a:t>
            </a:r>
            <a:r>
              <a:rPr lang="fr-FR" sz="1200" dirty="0" err="1"/>
              <a:t>predict</a:t>
            </a:r>
            <a:r>
              <a:rPr lang="fr-FR" sz="1200" dirty="0"/>
              <a:t> the </a:t>
            </a:r>
            <a:r>
              <a:rPr lang="fr-FR" sz="1200" dirty="0" err="1"/>
              <a:t>sound</a:t>
            </a:r>
            <a:r>
              <a:rPr lang="fr-FR" sz="1200" dirty="0"/>
              <a:t> </a:t>
            </a:r>
            <a:r>
              <a:rPr lang="fr-FR" sz="1200" dirty="0" err="1"/>
              <a:t>quality</a:t>
            </a:r>
            <a:r>
              <a:rPr lang="fr-FR" sz="1200" dirty="0"/>
              <a:t> of an instrument," </a:t>
            </a:r>
            <a:r>
              <a:rPr lang="fr-FR" sz="1200" i="1" dirty="0" err="1"/>
              <a:t>University</a:t>
            </a:r>
            <a:r>
              <a:rPr lang="fr-FR" sz="1200" i="1" dirty="0"/>
              <a:t> of Maribor, </a:t>
            </a:r>
            <a:r>
              <a:rPr lang="fr-FR" sz="1200" i="1" dirty="0" err="1"/>
              <a:t>Faculty</a:t>
            </a:r>
            <a:r>
              <a:rPr lang="fr-FR" sz="1200" i="1" dirty="0"/>
              <a:t> of </a:t>
            </a:r>
            <a:r>
              <a:rPr lang="fr-FR" sz="1200" i="1" dirty="0" err="1"/>
              <a:t>Mechanical</a:t>
            </a:r>
            <a:r>
              <a:rPr lang="fr-FR" sz="1200" i="1" dirty="0"/>
              <a:t> Engineering</a:t>
            </a:r>
            <a:r>
              <a:rPr lang="fr-FR" sz="1200" dirty="0"/>
              <a:t>, </a:t>
            </a:r>
            <a:r>
              <a:rPr lang="fr-FR" sz="1200" dirty="0" err="1"/>
              <a:t>Slovenia</a:t>
            </a:r>
            <a:r>
              <a:rPr lang="fr-FR" sz="1200" dirty="0"/>
              <a:t>.</a:t>
            </a:r>
          </a:p>
          <a:p>
            <a:r>
              <a:rPr lang="fr-FR" sz="1200" b="1" dirty="0"/>
              <a:t>[3] </a:t>
            </a:r>
            <a:r>
              <a:rPr lang="fr-FR" sz="1200" dirty="0"/>
              <a:t>C. </a:t>
            </a:r>
            <a:r>
              <a:rPr lang="fr-FR" sz="1200" dirty="0" err="1"/>
              <a:t>Issanchou</a:t>
            </a:r>
            <a:r>
              <a:rPr lang="fr-FR" sz="1200" dirty="0"/>
              <a:t>, J.-L. Le </a:t>
            </a:r>
            <a:r>
              <a:rPr lang="fr-FR" sz="1200" dirty="0" err="1"/>
              <a:t>Carrou</a:t>
            </a:r>
            <a:r>
              <a:rPr lang="fr-FR" sz="1200" dirty="0"/>
              <a:t>, C. </a:t>
            </a:r>
            <a:r>
              <a:rPr lang="fr-FR" sz="1200" dirty="0" err="1"/>
              <a:t>Touzé</a:t>
            </a:r>
            <a:r>
              <a:rPr lang="fr-FR" sz="1200" dirty="0"/>
              <a:t>, and O. </a:t>
            </a:r>
            <a:r>
              <a:rPr lang="fr-FR" sz="1200" dirty="0" err="1"/>
              <a:t>Doaré</a:t>
            </a:r>
            <a:r>
              <a:rPr lang="fr-FR" sz="1200" dirty="0"/>
              <a:t>, "Étude du contact corde / frette," 2015.</a:t>
            </a:r>
          </a:p>
          <a:p>
            <a:r>
              <a:rPr lang="fr-FR" sz="1200" b="1" dirty="0"/>
              <a:t>[4] </a:t>
            </a:r>
            <a:r>
              <a:rPr lang="fr-FR" sz="1200" dirty="0"/>
              <a:t>Q. </a:t>
            </a:r>
            <a:r>
              <a:rPr lang="fr-FR" sz="1200" dirty="0" err="1"/>
              <a:t>Leclère</a:t>
            </a:r>
            <a:r>
              <a:rPr lang="fr-FR" sz="1200" dirty="0"/>
              <a:t>, J.-L. Le </a:t>
            </a:r>
            <a:r>
              <a:rPr lang="fr-FR" sz="1200" dirty="0" err="1"/>
              <a:t>Carrou</a:t>
            </a:r>
            <a:r>
              <a:rPr lang="fr-FR" sz="1200" dirty="0"/>
              <a:t>, and P.-A. </a:t>
            </a:r>
            <a:r>
              <a:rPr lang="fr-FR" sz="1200" dirty="0" err="1"/>
              <a:t>Roiron</a:t>
            </a:r>
            <a:r>
              <a:rPr lang="fr-FR" sz="1200" dirty="0"/>
              <a:t>, "Caractérisation expérimentale de la réponse d'une corde vibrante sollicitée par un plectre."</a:t>
            </a:r>
          </a:p>
          <a:p>
            <a:r>
              <a:rPr lang="fr-FR" sz="1200" b="1" dirty="0"/>
              <a:t>[5] </a:t>
            </a:r>
            <a:r>
              <a:rPr lang="fr-FR" sz="1200" dirty="0"/>
              <a:t>Thomann, "Thomann Online Music Store.’’ [Online]. </a:t>
            </a:r>
            <a:r>
              <a:rPr lang="fr-FR" sz="1200" dirty="0" err="1"/>
              <a:t>Available</a:t>
            </a:r>
            <a:r>
              <a:rPr lang="fr-FR" sz="1200" dirty="0"/>
              <a:t>: </a:t>
            </a:r>
            <a:r>
              <a:rPr lang="fr-FR" sz="1200" dirty="0">
                <a:hlinkClick r:id="rId2"/>
              </a:rPr>
              <a:t>https://www.thomann.de</a:t>
            </a:r>
            <a:endParaRPr lang="fr-FR" sz="1200" dirty="0"/>
          </a:p>
          <a:p>
            <a:r>
              <a:rPr lang="fr-FR" sz="1200" b="1" dirty="0"/>
              <a:t>[6] </a:t>
            </a:r>
            <a:r>
              <a:rPr lang="fr-FR" sz="1200" dirty="0"/>
              <a:t>S. W. Duncan, "Interview </a:t>
            </a:r>
            <a:r>
              <a:rPr lang="fr-FR" sz="1200" dirty="0" err="1"/>
              <a:t>With</a:t>
            </a:r>
            <a:r>
              <a:rPr lang="fr-FR" sz="1200" dirty="0"/>
              <a:t> Seth Lover.’’ [Online]. </a:t>
            </a:r>
            <a:r>
              <a:rPr lang="fr-FR" sz="1200" dirty="0" err="1"/>
              <a:t>Available</a:t>
            </a:r>
            <a:r>
              <a:rPr lang="fr-FR" sz="1200" dirty="0"/>
              <a:t>: </a:t>
            </a:r>
            <a:r>
              <a:rPr lang="fr-FR" sz="1200" dirty="0">
                <a:hlinkClick r:id="rId3"/>
              </a:rPr>
              <a:t>https://www.seymourduncan.com</a:t>
            </a:r>
            <a:endParaRPr lang="fr-FR" sz="1200" dirty="0"/>
          </a:p>
          <a:p>
            <a:r>
              <a:rPr lang="fr-FR" sz="1200" b="1" dirty="0"/>
              <a:t>[7] </a:t>
            </a:r>
            <a:r>
              <a:rPr lang="fr-FR" sz="1200" dirty="0" err="1"/>
              <a:t>JavaScience</a:t>
            </a:r>
            <a:r>
              <a:rPr lang="fr-FR" sz="1200" dirty="0"/>
              <a:t>, "</a:t>
            </a:r>
            <a:r>
              <a:rPr lang="en-US" sz="1200" dirty="0"/>
              <a:t>Measuring Pickup Impedance with </a:t>
            </a:r>
            <a:r>
              <a:rPr lang="en-US" sz="1200" dirty="0" err="1"/>
              <a:t>Digilent</a:t>
            </a:r>
            <a:r>
              <a:rPr lang="en-US" sz="1200" dirty="0"/>
              <a:t> Analog Discovery</a:t>
            </a:r>
            <a:r>
              <a:rPr lang="fr-FR" sz="1200" dirty="0"/>
              <a:t>’’ [Online]. </a:t>
            </a:r>
            <a:r>
              <a:rPr lang="fr-FR" sz="1200" dirty="0" err="1"/>
              <a:t>Available</a:t>
            </a:r>
            <a:r>
              <a:rPr lang="fr-FR" sz="1200" dirty="0"/>
              <a:t>: </a:t>
            </a:r>
            <a:r>
              <a:rPr lang="fr-FR" sz="1200" dirty="0">
                <a:hlinkClick r:id="rId4"/>
              </a:rPr>
              <a:t>https://www.jensign.com</a:t>
            </a:r>
            <a:endParaRPr lang="fr-FR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3B07A5-1F32-4DE7-8794-4D603A659294}"/>
              </a:ext>
            </a:extLst>
          </p:cNvPr>
          <p:cNvSpPr txBox="1"/>
          <p:nvPr/>
        </p:nvSpPr>
        <p:spPr>
          <a:xfrm>
            <a:off x="345440" y="412994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Remerciements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82DCB6-C103-387D-73AD-CBCEA5C064A5}"/>
              </a:ext>
            </a:extLst>
          </p:cNvPr>
          <p:cNvSpPr txBox="1"/>
          <p:nvPr/>
        </p:nvSpPr>
        <p:spPr>
          <a:xfrm>
            <a:off x="307447" y="4484497"/>
            <a:ext cx="84911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1" dirty="0"/>
              <a:t>Art Music Store</a:t>
            </a:r>
            <a:r>
              <a:rPr lang="fr-FR" sz="1200" dirty="0"/>
              <a:t>,</a:t>
            </a:r>
            <a:r>
              <a:rPr lang="fr-FR" sz="1200" b="1" dirty="0"/>
              <a:t> </a:t>
            </a:r>
            <a:r>
              <a:rPr lang="fr-FR" sz="1200" dirty="0"/>
              <a:t>3800, Grenoble, Place Victor Hugo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1" dirty="0"/>
              <a:t>Menuiserie Paradis</a:t>
            </a:r>
            <a:r>
              <a:rPr lang="fr-FR" sz="1200" dirty="0"/>
              <a:t>, 38590, Brézins, Rue des Caillères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36309016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7EEA9-F7B8-9D5F-AC77-42444A77E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10697540-CBC1-7307-57A5-D4FD6B78E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9C1-8EE1-4062-8A80-955144FCA279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12AD455C-4E0F-8C44-FB73-C500A0B30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CCE99780-CA7B-47C1-ABE2-119498B51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13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3A568D-A22D-99BA-EE74-88DC5BA37997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F5695410-0F63-6315-9F97-C9017F7BE1F2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44EA3F-0ED5-07EF-A5BD-494C702F369B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Annexe 1 : Loi d’induction de Faraday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CF56A8-C29C-5426-89FC-284E560D8A86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0E1D4B-FF0A-ADB0-43F0-458577E9DE7F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9029F39-5C02-3985-AF5F-A28D263A7881}"/>
              </a:ext>
            </a:extLst>
          </p:cNvPr>
          <p:cNvGrpSpPr/>
          <p:nvPr/>
        </p:nvGrpSpPr>
        <p:grpSpPr>
          <a:xfrm rot="10800000">
            <a:off x="-736802" y="1802750"/>
            <a:ext cx="4973727" cy="2925771"/>
            <a:chOff x="4696904" y="1390254"/>
            <a:chExt cx="4973727" cy="2925771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3A4741D-B170-2F09-583D-545C54E14DE0}"/>
                </a:ext>
              </a:extLst>
            </p:cNvPr>
            <p:cNvGrpSpPr/>
            <p:nvPr/>
          </p:nvGrpSpPr>
          <p:grpSpPr>
            <a:xfrm>
              <a:off x="5907188" y="1390254"/>
              <a:ext cx="2527760" cy="2925771"/>
              <a:chOff x="5907188" y="1390254"/>
              <a:chExt cx="2527760" cy="2925771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821CFDF9-4291-8D12-74B3-B173DE76F8DE}"/>
                  </a:ext>
                </a:extLst>
              </p:cNvPr>
              <p:cNvGrpSpPr/>
              <p:nvPr/>
            </p:nvGrpSpPr>
            <p:grpSpPr>
              <a:xfrm rot="16200000">
                <a:off x="6409476" y="1925906"/>
                <a:ext cx="1526968" cy="455664"/>
                <a:chOff x="1549400" y="1947332"/>
                <a:chExt cx="2430478" cy="455664"/>
              </a:xfrm>
            </p:grpSpPr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1109894D-0C13-D7BC-0A38-126F9177B79E}"/>
                    </a:ext>
                  </a:extLst>
                </p:cNvPr>
                <p:cNvSpPr/>
                <p:nvPr/>
              </p:nvSpPr>
              <p:spPr>
                <a:xfrm>
                  <a:off x="1549400" y="1947333"/>
                  <a:ext cx="1215239" cy="455663"/>
                </a:xfrm>
                <a:prstGeom prst="rect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N</a:t>
                  </a:r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CA38F9B1-D91D-1218-899D-63801034424A}"/>
                    </a:ext>
                  </a:extLst>
                </p:cNvPr>
                <p:cNvSpPr/>
                <p:nvPr/>
              </p:nvSpPr>
              <p:spPr>
                <a:xfrm>
                  <a:off x="2764639" y="1947332"/>
                  <a:ext cx="1215239" cy="455663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S</a:t>
                  </a:r>
                </a:p>
              </p:txBody>
            </p:sp>
          </p:grp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FEFA7991-B1FD-4D9F-E2A8-E8EE349CA2DE}"/>
                  </a:ext>
                </a:extLst>
              </p:cNvPr>
              <p:cNvSpPr/>
              <p:nvPr/>
            </p:nvSpPr>
            <p:spPr>
              <a:xfrm>
                <a:off x="5991859" y="3157260"/>
                <a:ext cx="2362200" cy="524933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F4AE618D-44F2-E55D-1043-667FB8FBF8FA}"/>
                  </a:ext>
                </a:extLst>
              </p:cNvPr>
              <p:cNvSpPr/>
              <p:nvPr/>
            </p:nvSpPr>
            <p:spPr>
              <a:xfrm rot="5400000">
                <a:off x="5166741" y="2301751"/>
                <a:ext cx="2672806" cy="1191911"/>
              </a:xfrm>
              <a:prstGeom prst="arc">
                <a:avLst>
                  <a:gd name="adj1" fmla="val 16315962"/>
                  <a:gd name="adj2" fmla="val 21273773"/>
                </a:avLst>
              </a:prstGeom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9572B0B0-2176-7203-972E-1EA06FB2A7CD}"/>
                  </a:ext>
                </a:extLst>
              </p:cNvPr>
              <p:cNvSpPr/>
              <p:nvPr/>
            </p:nvSpPr>
            <p:spPr>
              <a:xfrm rot="5400000" flipV="1">
                <a:off x="6501124" y="2298382"/>
                <a:ext cx="2675737" cy="1191910"/>
              </a:xfrm>
              <a:prstGeom prst="arc">
                <a:avLst>
                  <a:gd name="adj1" fmla="val 16315962"/>
                  <a:gd name="adj2" fmla="val 21273773"/>
                </a:avLst>
              </a:prstGeom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FDDF69DD-1E42-2112-9BF5-84E28D6B5F92}"/>
                  </a:ext>
                </a:extLst>
              </p:cNvPr>
              <p:cNvCxnSpPr>
                <a:cxnSpLocks/>
                <a:stCxn id="42" idx="1"/>
              </p:cNvCxnSpPr>
              <p:nvPr/>
            </p:nvCxnSpPr>
            <p:spPr>
              <a:xfrm rot="10800000" flipH="1" flipV="1">
                <a:off x="7172960" y="2917222"/>
                <a:ext cx="19314" cy="1398803"/>
              </a:xfrm>
              <a:prstGeom prst="line">
                <a:avLst/>
              </a:prstGeom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17205DBE-459C-B395-3584-9F4722AB65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26281" y="3485290"/>
                <a:ext cx="55137" cy="59410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E82847AF-498C-DF5E-BDE4-017FDB6B1D1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178365" y="3475292"/>
                <a:ext cx="53817" cy="69408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E5F6D1BD-9F89-FCC2-B040-CD22C7FB6A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2350" y="3419726"/>
                <a:ext cx="55137" cy="59410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E150BE16-5E9F-407A-16A7-6130EBF540C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37753" y="3414727"/>
                <a:ext cx="53817" cy="69408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1CA8DA61-3CB2-1EF9-0F7D-89B45934CB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06598" y="3414727"/>
                <a:ext cx="53817" cy="69408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BB967B8D-E992-37D1-73EF-496B4779BDF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427808" y="3354064"/>
                <a:ext cx="53817" cy="69408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E3B2475F-F2A5-6B66-44F9-7385BA187E3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920913" y="3365322"/>
                <a:ext cx="53817" cy="69408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863F86B7-F05C-00CA-4D2F-CC9B3737F5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71355" y="3375320"/>
                <a:ext cx="55137" cy="59410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C4675CC6-5BA0-23F3-5EA6-AB7ADCC403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57773" y="3431062"/>
                <a:ext cx="55137" cy="59410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8D39CC67-64C7-AF1A-9F7A-208E6F904B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74797" y="3378283"/>
                <a:ext cx="55137" cy="59410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C9386F2B-937C-216F-8A7D-DB7A20EB35C8}"/>
                      </a:ext>
                    </a:extLst>
                  </p:cNvPr>
                  <p:cNvSpPr txBox="1"/>
                  <p:nvPr/>
                </p:nvSpPr>
                <p:spPr>
                  <a:xfrm rot="10800000">
                    <a:off x="8025141" y="3698653"/>
                    <a:ext cx="222625" cy="31059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fr-FR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i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oMath>
                      </m:oMathPara>
                    </a14:m>
                    <a:endParaRPr lang="fr-FR" b="0" dirty="0">
                      <a:solidFill>
                        <a:schemeClr val="accent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27" name="TextBox 1026">
                    <a:extLst>
                      <a:ext uri="{FF2B5EF4-FFF2-40B4-BE49-F238E27FC236}">
                        <a16:creationId xmlns:a16="http://schemas.microsoft.com/office/drawing/2014/main" id="{38FD531E-F5DC-BB2B-7744-9747DCF9AB9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0800000">
                    <a:off x="8025141" y="3698653"/>
                    <a:ext cx="222625" cy="310598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25000" r="-19444" b="-9804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5D0BAF00-F5A2-ADBD-073E-C00978D6471C}"/>
                </a:ext>
              </a:extLst>
            </p:cNvPr>
            <p:cNvSpPr/>
            <p:nvPr/>
          </p:nvSpPr>
          <p:spPr>
            <a:xfrm rot="5400000">
              <a:off x="4612238" y="1705432"/>
              <a:ext cx="2509909" cy="2340577"/>
            </a:xfrm>
            <a:prstGeom prst="arc">
              <a:avLst>
                <a:gd name="adj1" fmla="val 16315962"/>
                <a:gd name="adj2" fmla="val 21273773"/>
              </a:avLst>
            </a:prstGeom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Arc 24">
              <a:extLst>
                <a:ext uri="{FF2B5EF4-FFF2-40B4-BE49-F238E27FC236}">
                  <a16:creationId xmlns:a16="http://schemas.microsoft.com/office/drawing/2014/main" id="{29A901C5-9433-402F-B6E7-920E3568775F}"/>
                </a:ext>
              </a:extLst>
            </p:cNvPr>
            <p:cNvSpPr/>
            <p:nvPr/>
          </p:nvSpPr>
          <p:spPr>
            <a:xfrm rot="5400000" flipV="1">
              <a:off x="7234576" y="1694620"/>
              <a:ext cx="2509909" cy="2362201"/>
            </a:xfrm>
            <a:prstGeom prst="arc">
              <a:avLst>
                <a:gd name="adj1" fmla="val 16315962"/>
                <a:gd name="adj2" fmla="val 21273773"/>
              </a:avLst>
            </a:prstGeom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6809D01-A231-5948-E676-FC31A5CC2883}"/>
                  </a:ext>
                </a:extLst>
              </p:cNvPr>
              <p:cNvSpPr txBox="1"/>
              <p:nvPr/>
            </p:nvSpPr>
            <p:spPr>
              <a:xfrm>
                <a:off x="6802056" y="4611352"/>
                <a:ext cx="1329690" cy="525913"/>
              </a:xfrm>
              <a:prstGeom prst="rect">
                <a:avLst/>
              </a:prstGeom>
              <a:noFill/>
              <a:ln w="19050">
                <a:solidFill>
                  <a:srgbClr val="C0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f>
                        <m:fPr>
                          <m:ctrlP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fr-FR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6809D01-A231-5948-E676-FC31A5CC2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2056" y="4611352"/>
                <a:ext cx="1329690" cy="5259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E6379458-06A2-8BE6-84DA-CDDF9B5A55A1}"/>
              </a:ext>
            </a:extLst>
          </p:cNvPr>
          <p:cNvGrpSpPr/>
          <p:nvPr/>
        </p:nvGrpSpPr>
        <p:grpSpPr>
          <a:xfrm rot="10800000">
            <a:off x="2222427" y="1802749"/>
            <a:ext cx="4744887" cy="2939324"/>
            <a:chOff x="4696904" y="1390254"/>
            <a:chExt cx="4973727" cy="3336602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466DA6C7-65F1-7B57-BA30-F55D1109FDA7}"/>
                </a:ext>
              </a:extLst>
            </p:cNvPr>
            <p:cNvGrpSpPr/>
            <p:nvPr/>
          </p:nvGrpSpPr>
          <p:grpSpPr>
            <a:xfrm>
              <a:off x="5837879" y="1390254"/>
              <a:ext cx="2597068" cy="3336602"/>
              <a:chOff x="5837879" y="1390254"/>
              <a:chExt cx="2597068" cy="3336602"/>
            </a:xfrm>
          </p:grpSpPr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C5A41D1F-96FD-ABAF-2D61-59961D5F60C8}"/>
                  </a:ext>
                </a:extLst>
              </p:cNvPr>
              <p:cNvGrpSpPr/>
              <p:nvPr/>
            </p:nvGrpSpPr>
            <p:grpSpPr>
              <a:xfrm rot="16200000">
                <a:off x="6409476" y="1925906"/>
                <a:ext cx="1526968" cy="455664"/>
                <a:chOff x="1549400" y="1947332"/>
                <a:chExt cx="2430478" cy="455664"/>
              </a:xfrm>
            </p:grpSpPr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A4AB24D2-E5CC-651D-CBD4-6E4E03DBFC19}"/>
                    </a:ext>
                  </a:extLst>
                </p:cNvPr>
                <p:cNvSpPr/>
                <p:nvPr/>
              </p:nvSpPr>
              <p:spPr>
                <a:xfrm>
                  <a:off x="1549400" y="1947333"/>
                  <a:ext cx="1215239" cy="455663"/>
                </a:xfrm>
                <a:prstGeom prst="rect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N</a:t>
                  </a:r>
                </a:p>
              </p:txBody>
            </p:sp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402E2B5F-45EC-5E56-4C43-1E1AD9649537}"/>
                    </a:ext>
                  </a:extLst>
                </p:cNvPr>
                <p:cNvSpPr/>
                <p:nvPr/>
              </p:nvSpPr>
              <p:spPr>
                <a:xfrm>
                  <a:off x="2764639" y="1947332"/>
                  <a:ext cx="1215239" cy="455663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S</a:t>
                  </a:r>
                </a:p>
              </p:txBody>
            </p:sp>
          </p:grp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9AB23C8A-12E2-A70F-DA1F-5F7A290E69D8}"/>
                  </a:ext>
                </a:extLst>
              </p:cNvPr>
              <p:cNvSpPr/>
              <p:nvPr/>
            </p:nvSpPr>
            <p:spPr>
              <a:xfrm>
                <a:off x="5974194" y="4064200"/>
                <a:ext cx="2362200" cy="524933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1" name="Arc 50">
                <a:extLst>
                  <a:ext uri="{FF2B5EF4-FFF2-40B4-BE49-F238E27FC236}">
                    <a16:creationId xmlns:a16="http://schemas.microsoft.com/office/drawing/2014/main" id="{18C1FC13-5AA2-560D-DD00-4E43B2CA7F47}"/>
                  </a:ext>
                </a:extLst>
              </p:cNvPr>
              <p:cNvSpPr/>
              <p:nvPr/>
            </p:nvSpPr>
            <p:spPr>
              <a:xfrm rot="5400000">
                <a:off x="5128641" y="2300660"/>
                <a:ext cx="2749012" cy="1191911"/>
              </a:xfrm>
              <a:prstGeom prst="arc">
                <a:avLst>
                  <a:gd name="adj1" fmla="val 16315962"/>
                  <a:gd name="adj2" fmla="val 21273773"/>
                </a:avLst>
              </a:prstGeom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2" name="Arc 51">
                <a:extLst>
                  <a:ext uri="{FF2B5EF4-FFF2-40B4-BE49-F238E27FC236}">
                    <a16:creationId xmlns:a16="http://schemas.microsoft.com/office/drawing/2014/main" id="{B2322817-EDBD-2DC7-B5B5-7D90D12FBA8A}"/>
                  </a:ext>
                </a:extLst>
              </p:cNvPr>
              <p:cNvSpPr/>
              <p:nvPr/>
            </p:nvSpPr>
            <p:spPr>
              <a:xfrm rot="5400000" flipV="1">
                <a:off x="6480374" y="2301307"/>
                <a:ext cx="2717236" cy="1191910"/>
              </a:xfrm>
              <a:prstGeom prst="arc">
                <a:avLst>
                  <a:gd name="adj1" fmla="val 16315962"/>
                  <a:gd name="adj2" fmla="val 21273773"/>
                </a:avLst>
              </a:prstGeom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7D2797B2-7C00-FB64-3F35-4B733C60B4BC}"/>
                  </a:ext>
                </a:extLst>
              </p:cNvPr>
              <p:cNvCxnSpPr>
                <a:cxnSpLocks/>
                <a:stCxn id="68" idx="1"/>
              </p:cNvCxnSpPr>
              <p:nvPr/>
            </p:nvCxnSpPr>
            <p:spPr>
              <a:xfrm rot="10800000" flipH="1" flipV="1">
                <a:off x="7172960" y="2917222"/>
                <a:ext cx="842" cy="1475009"/>
              </a:xfrm>
              <a:prstGeom prst="line">
                <a:avLst/>
              </a:prstGeom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1967282-0FD1-2B99-0A9F-12EB732A8BA6}"/>
                  </a:ext>
                </a:extLst>
              </p:cNvPr>
              <p:cNvSpPr txBox="1"/>
              <p:nvPr/>
            </p:nvSpPr>
            <p:spPr>
              <a:xfrm rot="10800000">
                <a:off x="5837879" y="4357524"/>
                <a:ext cx="2726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b="1" dirty="0">
                    <a:solidFill>
                      <a:srgbClr val="C00000"/>
                    </a:solidFill>
                  </a:rPr>
                  <a:t>i</a:t>
                </a:r>
              </a:p>
            </p:txBody>
          </p: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A0C68269-9448-F8FA-F1B2-4684A925FF31}"/>
                  </a:ext>
                </a:extLst>
              </p:cNvPr>
              <p:cNvCxnSpPr>
                <a:cxnSpLocks/>
                <a:endCxn id="50" idx="3"/>
              </p:cNvCxnSpPr>
              <p:nvPr/>
            </p:nvCxnSpPr>
            <p:spPr>
              <a:xfrm flipV="1">
                <a:off x="6154535" y="4512258"/>
                <a:ext cx="165595" cy="37229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ACF4A742-FFB2-EA95-12B9-60EED3BA4CBC}"/>
                  </a:ext>
                </a:extLst>
              </p:cNvPr>
              <p:cNvCxnSpPr>
                <a:cxnSpLocks/>
                <a:stCxn id="50" idx="3"/>
              </p:cNvCxnSpPr>
              <p:nvPr/>
            </p:nvCxnSpPr>
            <p:spPr>
              <a:xfrm flipH="1" flipV="1">
                <a:off x="6256062" y="4392230"/>
                <a:ext cx="64068" cy="120028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0D6708DB-8DD5-1664-B357-BD630BD0EB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26281" y="3485290"/>
                <a:ext cx="55137" cy="59410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C897620C-1260-B939-E21B-D5059235416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178365" y="3475292"/>
                <a:ext cx="53817" cy="69408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72E4FD29-97F3-8025-A398-8E33D4BBBA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2350" y="3419726"/>
                <a:ext cx="55137" cy="59410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EB34D579-0D90-49AF-EB49-36B656F65C9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37753" y="3414727"/>
                <a:ext cx="53817" cy="69408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AF05426E-36B0-A234-10C7-460D1B0BA4D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06598" y="3414727"/>
                <a:ext cx="53817" cy="69408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B4FAABA4-1527-1FDF-36E6-8CC489C59C9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427808" y="3354064"/>
                <a:ext cx="53817" cy="69408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200C5091-6592-C43E-7830-CB28A68888D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920913" y="3365322"/>
                <a:ext cx="53817" cy="69408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E2932CA7-7A48-C6E0-39CC-B823923189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71355" y="3375320"/>
                <a:ext cx="55137" cy="59410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97D9F166-CCCC-C2E3-61BC-825383407E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57773" y="3431062"/>
                <a:ext cx="55137" cy="59410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4E4DA187-A8B1-5C37-3CB8-F84175BF78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74797" y="3378283"/>
                <a:ext cx="55137" cy="59410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F74C7FF2-F223-3375-DFB5-85944DE2C6A7}"/>
                      </a:ext>
                    </a:extLst>
                  </p:cNvPr>
                  <p:cNvSpPr txBox="1"/>
                  <p:nvPr/>
                </p:nvSpPr>
                <p:spPr>
                  <a:xfrm rot="10800000">
                    <a:off x="8025141" y="3698653"/>
                    <a:ext cx="222625" cy="31059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fr-FR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i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oMath>
                      </m:oMathPara>
                    </a14:m>
                    <a:endParaRPr lang="fr-FR" b="0" dirty="0">
                      <a:solidFill>
                        <a:schemeClr val="accent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56" name="TextBox 1055">
                    <a:extLst>
                      <a:ext uri="{FF2B5EF4-FFF2-40B4-BE49-F238E27FC236}">
                        <a16:creationId xmlns:a16="http://schemas.microsoft.com/office/drawing/2014/main" id="{F7E63660-0DD0-CEC0-8FAF-7979B946592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0800000">
                    <a:off x="8025141" y="3698653"/>
                    <a:ext cx="222625" cy="310598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5714" r="-22857" b="-24444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7" name="Arc 46">
              <a:extLst>
                <a:ext uri="{FF2B5EF4-FFF2-40B4-BE49-F238E27FC236}">
                  <a16:creationId xmlns:a16="http://schemas.microsoft.com/office/drawing/2014/main" id="{BC829507-AA5C-C0B3-B29F-46A9EA5EBA49}"/>
                </a:ext>
              </a:extLst>
            </p:cNvPr>
            <p:cNvSpPr/>
            <p:nvPr/>
          </p:nvSpPr>
          <p:spPr>
            <a:xfrm rot="5400000">
              <a:off x="4612238" y="1705432"/>
              <a:ext cx="2509909" cy="2340577"/>
            </a:xfrm>
            <a:prstGeom prst="arc">
              <a:avLst>
                <a:gd name="adj1" fmla="val 16315962"/>
                <a:gd name="adj2" fmla="val 21273773"/>
              </a:avLst>
            </a:prstGeom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8" name="Arc 47">
              <a:extLst>
                <a:ext uri="{FF2B5EF4-FFF2-40B4-BE49-F238E27FC236}">
                  <a16:creationId xmlns:a16="http://schemas.microsoft.com/office/drawing/2014/main" id="{F6686F3D-53BD-B64B-E53B-5C8C11606DED}"/>
                </a:ext>
              </a:extLst>
            </p:cNvPr>
            <p:cNvSpPr/>
            <p:nvPr/>
          </p:nvSpPr>
          <p:spPr>
            <a:xfrm rot="5400000" flipV="1">
              <a:off x="7234576" y="1694620"/>
              <a:ext cx="2509909" cy="2362201"/>
            </a:xfrm>
            <a:prstGeom prst="arc">
              <a:avLst>
                <a:gd name="adj1" fmla="val 16315962"/>
                <a:gd name="adj2" fmla="val 21273773"/>
              </a:avLst>
            </a:prstGeom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EAE1717-2D77-09AF-B9F7-AFBE8B19269C}"/>
              </a:ext>
            </a:extLst>
          </p:cNvPr>
          <p:cNvCxnSpPr/>
          <p:nvPr/>
        </p:nvCxnSpPr>
        <p:spPr>
          <a:xfrm>
            <a:off x="2710866" y="4268850"/>
            <a:ext cx="86896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6B13798B-711E-BD04-CAB9-6C762668F066}"/>
              </a:ext>
            </a:extLst>
          </p:cNvPr>
          <p:cNvSpPr txBox="1"/>
          <p:nvPr/>
        </p:nvSpPr>
        <p:spPr>
          <a:xfrm>
            <a:off x="6116245" y="1648429"/>
            <a:ext cx="270131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/>
              <a:t>Dans un circuit fermé conducteur, une variation de flux magnétique entraine la formation d’un courant induit</a:t>
            </a:r>
          </a:p>
          <a:p>
            <a:pPr algn="ctr"/>
            <a:endParaRPr lang="fr-FR" sz="1600" dirty="0"/>
          </a:p>
          <a:p>
            <a:pPr algn="ctr"/>
            <a:endParaRPr lang="fr-FR" sz="1600" dirty="0"/>
          </a:p>
          <a:p>
            <a:pPr algn="ctr"/>
            <a:r>
              <a:rPr lang="fr-FR" sz="1600" dirty="0"/>
              <a:t>L’effet de la F.E.M induite est tel qu’il s’oppose à la variation de flux</a:t>
            </a:r>
          </a:p>
        </p:txBody>
      </p:sp>
    </p:spTree>
    <p:extLst>
      <p:ext uri="{BB962C8B-B14F-4D97-AF65-F5344CB8AC3E}">
        <p14:creationId xmlns:p14="http://schemas.microsoft.com/office/powerpoint/2010/main" val="30101365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5F2D0-380E-9F8B-EAB7-F239559D3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410E9A24-B484-295A-C630-F6DE6A33E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9C1-8EE1-4062-8A80-955144FCA279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97083A4E-2E4A-99E1-8563-6734096B4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A39197A-E1E0-DE57-ABEA-CF1EC7363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14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889EBA-FB81-9346-F14B-289AA14F6937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822B8513-685B-5D00-3E76-767B4A734F71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BE10D5-B238-9259-C2A5-819981B66C65}"/>
              </a:ext>
            </a:extLst>
          </p:cNvPr>
          <p:cNvSpPr txBox="1"/>
          <p:nvPr/>
        </p:nvSpPr>
        <p:spPr>
          <a:xfrm>
            <a:off x="345439" y="721360"/>
            <a:ext cx="8063923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Annexe 2 : Démonstration Modèle 1 (Micro Simple) </a:t>
            </a:r>
            <a:r>
              <a:rPr lang="fr-FR" sz="1000" i="1" dirty="0"/>
              <a:t>cf. Source [1] </a:t>
            </a:r>
            <a:endParaRPr lang="fr-FR" sz="2000" i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1D93A8-3068-FD13-67A6-BED55AE652CC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95B142-67A4-A817-F539-9E5FF0838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933" y="4427234"/>
            <a:ext cx="4020249" cy="1409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3D16238-4EA7-7517-C0A6-5F60945ECED6}"/>
                  </a:ext>
                </a:extLst>
              </p:cNvPr>
              <p:cNvSpPr txBox="1"/>
              <p:nvPr/>
            </p:nvSpPr>
            <p:spPr>
              <a:xfrm>
                <a:off x="500933" y="1232452"/>
                <a:ext cx="4020250" cy="4322402"/>
              </a:xfrm>
              <a:prstGeom prst="rect">
                <a:avLst/>
              </a:prstGeom>
              <a:noFill/>
            </p:spPr>
            <p:txBody>
              <a:bodyPr wrap="square" numCol="3" rtlCol="0">
                <a:spAutoFit/>
              </a:bodyPr>
              <a:lstStyle/>
              <a:p>
                <a:r>
                  <a:rPr lang="fr-FR" sz="1200" dirty="0"/>
                  <a:t>Pour une corde de longueur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fr-FR" sz="1200" dirty="0"/>
                  <a:t> fixé de chaque coté, le déplacement transversal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sz="1200" dirty="0"/>
                  <a:t> est régit par l’équation différentielle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²</m:t>
                          </m:r>
                          <m:r>
                            <a:rPr lang="fr-FR" sz="120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fr-FR" sz="12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²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Avec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rad>
                  </m:oMath>
                </a14:m>
                <a:r>
                  <a:rPr lang="fr-FR" sz="1200" dirty="0"/>
                  <a:t> la vitesse de l’onde,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fr-FR" sz="1200" dirty="0"/>
                  <a:t> la tension de la corde et </a:t>
                </a:r>
                <a14:m>
                  <m:oMath xmlns:m="http://schemas.openxmlformats.org/officeDocument/2006/math">
                    <m:r>
                      <a:rPr lang="fr-FR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fr-FR" sz="1200" dirty="0"/>
                  <a:t> la masse linéique de la corde.</a:t>
                </a:r>
              </a:p>
              <a:p>
                <a:r>
                  <a:rPr lang="fr-FR" sz="1200" dirty="0"/>
                  <a:t>Avec des conditions initiales telle que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, 0</m:t>
                        </m:r>
                      </m:e>
                    </m:d>
                  </m:oMath>
                </a14:m>
                <a:r>
                  <a:rPr lang="fr-FR" sz="1200" dirty="0"/>
                  <a:t> soit la forme initiale de la corde, on a alors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≥1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𝑣𝑡</m:t>
                                  </m:r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</m:e>
                      </m:nary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Avec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fr-FR" sz="1200" dirty="0"/>
                  <a:t> l’amplitude de l’harmonique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fr-FR" sz="1200" dirty="0" err="1"/>
                  <a:t>ème</a:t>
                </a:r>
                <a:r>
                  <a:rPr lang="fr-FR" sz="1200" dirty="0"/>
                  <a:t> et peut être calculer par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nary>
                        <m:nary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, 0)</m:t>
                          </m:r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endParaRPr lang="fr-FR" sz="1200" dirty="0"/>
              </a:p>
              <a:p>
                <a:endParaRPr lang="fr-FR" sz="1200" dirty="0"/>
              </a:p>
              <a:p>
                <a:endParaRPr lang="fr-FR" sz="1200" dirty="0"/>
              </a:p>
              <a:p>
                <a:endParaRPr lang="fr-FR" sz="1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3D16238-4EA7-7517-C0A6-5F60945ECE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933" y="1232452"/>
                <a:ext cx="4020250" cy="4322402"/>
              </a:xfrm>
              <a:prstGeom prst="rect">
                <a:avLst/>
              </a:prstGeom>
              <a:blipFill>
                <a:blip r:embed="rId3"/>
                <a:stretch>
                  <a:fillRect t="-141" b="-296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41C732B-CC1E-0649-36C3-A4BA70BB7FD2}"/>
                  </a:ext>
                </a:extLst>
              </p:cNvPr>
              <p:cNvSpPr txBox="1"/>
              <p:nvPr/>
            </p:nvSpPr>
            <p:spPr>
              <a:xfrm>
                <a:off x="4521182" y="1232452"/>
                <a:ext cx="4121885" cy="51948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200" dirty="0"/>
                  <a:t>Pour une corde de longueur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fr-FR" sz="1200" dirty="0"/>
                  <a:t>, tiré à la position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FR" sz="1200" dirty="0"/>
                  <a:t> d’une distance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fr-FR" sz="1200" dirty="0"/>
                  <a:t> on a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fr-FR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, 0</m:t>
                          </m:r>
                        </m:e>
                      </m:d>
                      <m:r>
                        <a:rPr lang="fr-FR" sz="12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fr-FR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sz="12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fr-FR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 0≤</m:t>
                              </m:r>
                              <m:r>
                                <a:rPr lang="fr-FR" sz="12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  <m:d>
                                <m:d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sSub>
                                <m:sSub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Ainsi on obtient que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nary>
                        <m:nary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D’où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𝐵𝑛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sSub>
                                    <m:sSubPr>
                                      <m:ctrlPr>
                                        <a:rPr lang="fr-FR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num>
                        <m:den>
                          <m:f>
                            <m:f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  <m:d>
                            <m:d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1 −</m:t>
                              </m:r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Avec la loi d’induction de Faraday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>
                          <a:latin typeface="Cambria Math" panose="02040503050406030204" pitchFamily="18" charset="0"/>
                        </a:rPr>
                        <m:t>ⅇ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𝑁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fr-FR" sz="12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f>
                        <m:f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D’où la relation :</a:t>
                </a:r>
              </a:p>
              <a:p>
                <a:endParaRPr lang="fr-FR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[−</m:t>
                              </m:r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𝑚𝑖𝑐𝑟𝑜</m:t>
                                  </m:r>
                                </m:sub>
                              </m:s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func>
                            <m:func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rad>
                                </m:den>
                              </m:f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f>
                                <m:f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func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fr-FR" sz="1200" dirty="0">
                  <a:solidFill>
                    <a:srgbClr val="C00000"/>
                  </a:solidFill>
                </a:endParaRPr>
              </a:p>
              <a:p>
                <a:endParaRPr lang="fr-FR" sz="1200" dirty="0"/>
              </a:p>
              <a:p>
                <a:endParaRPr lang="fr-FR" sz="1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41C732B-CC1E-0649-36C3-A4BA70BB7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1182" y="1232452"/>
                <a:ext cx="4121885" cy="5194820"/>
              </a:xfrm>
              <a:prstGeom prst="rect">
                <a:avLst/>
              </a:prstGeom>
              <a:blipFill>
                <a:blip r:embed="rId4"/>
                <a:stretch>
                  <a:fillRect l="-148" t="-117" b="-915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C7D0EC3-584D-8431-D1DA-D93C4A505153}"/>
                  </a:ext>
                </a:extLst>
              </p:cNvPr>
              <p:cNvSpPr txBox="1"/>
              <p:nvPr/>
            </p:nvSpPr>
            <p:spPr>
              <a:xfrm>
                <a:off x="1554367" y="5573503"/>
                <a:ext cx="195695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C7D0EC3-584D-8431-D1DA-D93C4A5051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367" y="5573503"/>
                <a:ext cx="195695" cy="184666"/>
              </a:xfrm>
              <a:prstGeom prst="rect">
                <a:avLst/>
              </a:prstGeom>
              <a:blipFill>
                <a:blip r:embed="rId5"/>
                <a:stretch>
                  <a:fillRect l="-9375" r="-3125" b="-1290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66904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F11F5-E24D-9411-5E6C-12A018130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1A41EE07-4006-7CB8-085E-290BB2BBF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9C1-8EE1-4062-8A80-955144FCA279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038707BA-0D24-7AAE-1AD8-828D7EE84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E2453AC4-1208-D410-96BF-4082CAF2D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15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14B9FA-87FC-D467-19FB-B9E4D845B0C0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4B13F1CA-BB66-383D-CEB1-8E16B8422B53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782BD2-8E79-25C3-CD5A-92EC04FFFA25}"/>
              </a:ext>
            </a:extLst>
          </p:cNvPr>
          <p:cNvSpPr txBox="1"/>
          <p:nvPr/>
        </p:nvSpPr>
        <p:spPr>
          <a:xfrm>
            <a:off x="345439" y="721360"/>
            <a:ext cx="8063923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Annexe 3 : Démonstration Modèle 2 (</a:t>
            </a:r>
            <a:r>
              <a:rPr lang="fr-FR" sz="2000" b="1" dirty="0" err="1"/>
              <a:t>Humbucker</a:t>
            </a:r>
            <a:r>
              <a:rPr lang="fr-FR" sz="2000" b="1" dirty="0"/>
              <a:t>) </a:t>
            </a:r>
            <a:r>
              <a:rPr lang="fr-FR" sz="1000" i="1" dirty="0"/>
              <a:t>cf. Source [1]</a:t>
            </a:r>
            <a:r>
              <a:rPr lang="fr-FR" sz="1000" b="1" dirty="0"/>
              <a:t> </a:t>
            </a:r>
            <a:endParaRPr lang="fr-FR" sz="2000" b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448EC05-3337-D2C1-4786-E33CB2A751D2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DD93710-B14B-B3AE-EC83-DF8CF40D553A}"/>
                  </a:ext>
                </a:extLst>
              </p:cNvPr>
              <p:cNvSpPr txBox="1"/>
              <p:nvPr/>
            </p:nvSpPr>
            <p:spPr>
              <a:xfrm>
                <a:off x="500933" y="1232452"/>
                <a:ext cx="4020250" cy="4322402"/>
              </a:xfrm>
              <a:prstGeom prst="rect">
                <a:avLst/>
              </a:prstGeom>
              <a:noFill/>
            </p:spPr>
            <p:txBody>
              <a:bodyPr wrap="square" numCol="3" rtlCol="0">
                <a:spAutoFit/>
              </a:bodyPr>
              <a:lstStyle/>
              <a:p>
                <a:r>
                  <a:rPr lang="fr-FR" sz="1200" dirty="0"/>
                  <a:t>Pour une corde de longueur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fr-FR" sz="1200" dirty="0"/>
                  <a:t> fixé de chaque coté, le déplacement transversal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sz="1200" dirty="0"/>
                  <a:t> est régit par l’équation différentielle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²</m:t>
                          </m:r>
                          <m:r>
                            <a:rPr lang="fr-FR" sz="120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fr-FR" sz="12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²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Avec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rad>
                  </m:oMath>
                </a14:m>
                <a:r>
                  <a:rPr lang="fr-FR" sz="1200" dirty="0"/>
                  <a:t> la vitesse de l’onde,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fr-FR" sz="1200" dirty="0"/>
                  <a:t> la tension de la corde et </a:t>
                </a:r>
                <a14:m>
                  <m:oMath xmlns:m="http://schemas.openxmlformats.org/officeDocument/2006/math">
                    <m:r>
                      <a:rPr lang="fr-FR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fr-FR" sz="1200" dirty="0"/>
                  <a:t> la masse linéique de la corde.</a:t>
                </a:r>
              </a:p>
              <a:p>
                <a:r>
                  <a:rPr lang="fr-FR" sz="1200" dirty="0"/>
                  <a:t>Avec des conditions initiales telle que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, 0</m:t>
                        </m:r>
                      </m:e>
                    </m:d>
                  </m:oMath>
                </a14:m>
                <a:r>
                  <a:rPr lang="fr-FR" sz="1200" dirty="0"/>
                  <a:t> soit la forme initiale de la corde, on a alors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≥1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𝑣𝑡</m:t>
                                  </m:r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</m:e>
                      </m:nary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Avec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fr-FR" sz="1200" dirty="0"/>
                  <a:t> l’amplitude de l’harmonique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fr-FR" sz="1200" dirty="0" err="1"/>
                  <a:t>ème</a:t>
                </a:r>
                <a:r>
                  <a:rPr lang="fr-FR" sz="1200" dirty="0"/>
                  <a:t> et peut être calculer par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nary>
                        <m:nary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, 0)</m:t>
                          </m:r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endParaRPr lang="fr-FR" sz="1200" dirty="0"/>
              </a:p>
              <a:p>
                <a:endParaRPr lang="fr-FR" sz="1200" dirty="0"/>
              </a:p>
              <a:p>
                <a:endParaRPr lang="fr-FR" sz="1200" dirty="0"/>
              </a:p>
              <a:p>
                <a:endParaRPr lang="fr-FR" sz="1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DD93710-B14B-B3AE-EC83-DF8CF40D55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933" y="1232452"/>
                <a:ext cx="4020250" cy="4322402"/>
              </a:xfrm>
              <a:prstGeom prst="rect">
                <a:avLst/>
              </a:prstGeom>
              <a:blipFill>
                <a:blip r:embed="rId3"/>
                <a:stretch>
                  <a:fillRect t="-141" b="-296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744700D-4EE4-A8FA-DE2E-020E3F4F0936}"/>
                  </a:ext>
                </a:extLst>
              </p:cNvPr>
              <p:cNvSpPr txBox="1"/>
              <p:nvPr/>
            </p:nvSpPr>
            <p:spPr>
              <a:xfrm>
                <a:off x="4521182" y="1232452"/>
                <a:ext cx="4121885" cy="56698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200" dirty="0"/>
                  <a:t>Pour une corde de longueur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fr-FR" sz="1200" dirty="0"/>
                  <a:t>, tiré à la position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FR" sz="1200" dirty="0"/>
                  <a:t> d’une distance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fr-FR" sz="1200" dirty="0"/>
                  <a:t> on a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fr-FR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, 0</m:t>
                          </m:r>
                        </m:e>
                      </m:d>
                      <m:r>
                        <a:rPr lang="fr-FR" sz="12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fr-FR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sz="12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fr-FR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 0≤</m:t>
                              </m:r>
                              <m:r>
                                <a:rPr lang="fr-FR" sz="12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  <m:d>
                                <m:d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sSub>
                                <m:sSub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Ainsi on obtient que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nary>
                        <m:nary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D’où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𝐵𝑛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sSub>
                                    <m:sSubPr>
                                      <m:ctrlPr>
                                        <a:rPr lang="fr-FR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num>
                        <m:den>
                          <m:f>
                            <m:f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  <m:d>
                            <m:d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1 −</m:t>
                              </m:r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Avec la loi d’induction de Faraday et sachant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>
                          <a:latin typeface="Cambria Math" panose="02040503050406030204" pitchFamily="18" charset="0"/>
                        </a:rPr>
                        <m:t>ⅇ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𝑁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𝑁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fr-FR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𝑑𝑦</m:t>
                              </m:r>
                            </m:num>
                            <m:den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</m:e>
                        <m: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𝑑𝑦</m:t>
                              </m:r>
                            </m:num>
                            <m:den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</m:e>
                        <m: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D’où la relation :</a:t>
                </a:r>
              </a:p>
              <a:p>
                <a:endParaRPr lang="fr-FR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05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05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05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05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05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05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05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sz="105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fr-FR" sz="105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05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05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05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[−</m:t>
                              </m:r>
                              <m:r>
                                <a:rPr lang="fr-FR" sz="105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05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05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fr-FR" sz="105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fr-FR" sz="105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05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fr-FR" sz="105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r>
                            <a:rPr lang="fr-FR" sz="105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fr-FR" sz="105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func>
                                <m:func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fr-FR" sz="105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f>
                                    <m:fPr>
                                      <m:ctrlPr>
                                        <a:rPr lang="fr-FR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fr-FR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fr-FR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fr-FR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fr-FR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))</m:t>
                                  </m:r>
                                </m:e>
                              </m:func>
                              <m:r>
                                <m:rPr>
                                  <m:sty m:val="p"/>
                                </m:rPr>
                                <a:rPr lang="fr-FR" sz="105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05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rad>
                                </m:den>
                              </m:f>
                              <m:r>
                                <a:rPr lang="fr-FR" sz="105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05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f>
                                <m:f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func>
                          <m:r>
                            <a:rPr lang="fr-FR" sz="105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fr-FR" sz="1200" dirty="0">
                  <a:solidFill>
                    <a:srgbClr val="C00000"/>
                  </a:solidFill>
                </a:endParaRPr>
              </a:p>
              <a:p>
                <a:endParaRPr lang="fr-FR" sz="1200" dirty="0">
                  <a:solidFill>
                    <a:srgbClr val="C00000"/>
                  </a:solidFill>
                </a:endParaRPr>
              </a:p>
              <a:p>
                <a:endParaRPr lang="fr-FR" sz="1200" dirty="0"/>
              </a:p>
              <a:p>
                <a:endParaRPr lang="fr-FR" sz="1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744700D-4EE4-A8FA-DE2E-020E3F4F09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1182" y="1232452"/>
                <a:ext cx="4121885" cy="5669822"/>
              </a:xfrm>
              <a:prstGeom prst="rect">
                <a:avLst/>
              </a:prstGeom>
              <a:blipFill>
                <a:blip r:embed="rId4"/>
                <a:stretch>
                  <a:fillRect l="-148" t="-108" b="-290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8DDB0982-D568-E0DB-7268-2E6FF24BB807}"/>
              </a:ext>
            </a:extLst>
          </p:cNvPr>
          <p:cNvGrpSpPr/>
          <p:nvPr/>
        </p:nvGrpSpPr>
        <p:grpSpPr>
          <a:xfrm>
            <a:off x="500933" y="4427234"/>
            <a:ext cx="4020249" cy="1409897"/>
            <a:chOff x="500933" y="4427234"/>
            <a:chExt cx="4020249" cy="140989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E60AA5F-DDF2-AEC4-B3B6-6DAAC74094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0933" y="4427234"/>
              <a:ext cx="4020249" cy="140989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CCDF0E6-3584-AC38-6324-40DDB4A24BD0}"/>
                    </a:ext>
                  </a:extLst>
                </p:cNvPr>
                <p:cNvSpPr txBox="1"/>
                <p:nvPr/>
              </p:nvSpPr>
              <p:spPr>
                <a:xfrm>
                  <a:off x="1554367" y="5573503"/>
                  <a:ext cx="195695" cy="18466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CCDF0E6-3584-AC38-6324-40DDB4A24B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4367" y="5573503"/>
                  <a:ext cx="195695" cy="184666"/>
                </a:xfrm>
                <a:prstGeom prst="rect">
                  <a:avLst/>
                </a:prstGeom>
                <a:blipFill>
                  <a:blip r:embed="rId6"/>
                  <a:stretch>
                    <a:fillRect l="-9375" r="-3125" b="-12903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921523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8AAD9-A422-7202-0B30-0D28B5E9C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6D1B4FF1-9E06-8C21-3237-980566602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9C1-8EE1-4062-8A80-955144FCA279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D1FF31C7-6DE8-9F8E-C316-27342893D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78E00E3-9107-F660-4465-7D796FF2A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16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6B6054-7546-BF4C-05E8-838799AD94F9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0D889E58-42C8-3971-7404-080199592D5B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E322EC-5E0A-C386-1A8F-6C04DB50602F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Annexe 4 : Code Python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7FDBA9-87D9-FF36-0C64-B77D97DFCB74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Picture 2" descr="Python Logo PNG Transparent – Brands Logos">
            <a:extLst>
              <a:ext uri="{FF2B5EF4-FFF2-40B4-BE49-F238E27FC236}">
                <a16:creationId xmlns:a16="http://schemas.microsoft.com/office/drawing/2014/main" id="{204532C9-1EF7-26FA-8D12-D5A9A1630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4090" y="617474"/>
            <a:ext cx="910546" cy="906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D8540D2-C725-B0BB-1BF7-09FC759E0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40" y="1390254"/>
            <a:ext cx="5207927" cy="4746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0955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40A2A-7071-F548-F81F-86380B803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BD032448-6661-352B-8786-FC31BF0A8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9C1-8EE1-4062-8A80-955144FCA279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F795F251-374C-C686-449F-6F0DAD2B0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98B23BB-2456-5685-9000-0ECD3D813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17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25B0FB-54E0-7FCC-E77B-BCEDFCAD791F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05E4EC44-7568-94E7-9F7F-E5B30C3A7E41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E37733-838B-FF25-7E43-BB25FDB5C02A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Annexe 4 : Code Python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C44D5DA-C64D-E1A5-2EB2-782D622281D2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Picture 2" descr="Python Logo PNG Transparent – Brands Logos">
            <a:extLst>
              <a:ext uri="{FF2B5EF4-FFF2-40B4-BE49-F238E27FC236}">
                <a16:creationId xmlns:a16="http://schemas.microsoft.com/office/drawing/2014/main" id="{3C42F3D4-B48D-7327-159D-F50F8D6F3A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4090" y="617474"/>
            <a:ext cx="910546" cy="906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E68EE13-F8A1-01AB-DBAB-CDF721753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41" y="1390254"/>
            <a:ext cx="6763026" cy="4738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5725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DA1ED-5E1C-91E2-1968-994BBA09B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B6333519-33CA-D22E-D002-FA24EF5F1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9C1-8EE1-4062-8A80-955144FCA279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810D22E1-9D8F-9490-CBD0-36DC188AB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22602ACB-7E7C-4A67-12A6-7D0ADA250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18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FDE90F-CF5A-06AB-A228-DA1353D592FC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BA0A9A78-7498-701D-64A0-C32D92C38B97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27B5CF-CB3D-B19E-C5F6-28AF8FAAE0BD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Annexe 4 : Code Python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EAEA16-6028-A3C5-F558-A1790DB52AE3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Picture 2" descr="Python Logo PNG Transparent – Brands Logos">
            <a:extLst>
              <a:ext uri="{FF2B5EF4-FFF2-40B4-BE49-F238E27FC236}">
                <a16:creationId xmlns:a16="http://schemas.microsoft.com/office/drawing/2014/main" id="{9D7D0A7E-B2E5-FE97-64D0-87B7C0ED78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4090" y="617474"/>
            <a:ext cx="910546" cy="906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62AA327-1F26-0751-84B3-07668685C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40" y="1524178"/>
            <a:ext cx="5636389" cy="2708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9504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A0D83-3D06-9CFF-78D4-0445EAD3A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39F907FA-CED1-54E9-17E7-416C91EE6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9C1-8EE1-4062-8A80-955144FCA279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433C6B84-846B-2215-13B3-782CBD082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B88646EA-FF63-7E24-3792-C56BC14EB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19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E3D7A7-AC51-8A50-88FE-7A809CDB3BF1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77DF6B46-A7D2-9FF3-D8B4-09037F978036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0C9D4E-A510-2975-30A6-4A399BB51973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Annexe 4 : Code Python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3C5C503-F3FC-7353-B31B-042B3CC23495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Picture 2" descr="Python Logo PNG Transparent – Brands Logos">
            <a:extLst>
              <a:ext uri="{FF2B5EF4-FFF2-40B4-BE49-F238E27FC236}">
                <a16:creationId xmlns:a16="http://schemas.microsoft.com/office/drawing/2014/main" id="{EE492694-F03C-B441-C89A-2A70AC5EC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4090" y="617474"/>
            <a:ext cx="910546" cy="906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728432D-6DCE-EC69-3F72-111012C124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40" y="1390254"/>
            <a:ext cx="5022631" cy="4746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4692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D92842E-33D7-43D3-4A8A-6B3D6EB081C3}"/>
              </a:ext>
            </a:extLst>
          </p:cNvPr>
          <p:cNvSpPr/>
          <p:nvPr/>
        </p:nvSpPr>
        <p:spPr>
          <a:xfrm>
            <a:off x="-63611" y="-33793"/>
            <a:ext cx="9271221" cy="692558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800" b="1" dirty="0"/>
              <a:t>FIN</a:t>
            </a:r>
          </a:p>
        </p:txBody>
      </p:sp>
    </p:spTree>
    <p:extLst>
      <p:ext uri="{BB962C8B-B14F-4D97-AF65-F5344CB8AC3E}">
        <p14:creationId xmlns:p14="http://schemas.microsoft.com/office/powerpoint/2010/main" val="425971105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1709</Words>
  <Application>Microsoft Office PowerPoint</Application>
  <PresentationFormat>On-screen Show (4:3)</PresentationFormat>
  <Paragraphs>303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Arial Black</vt:lpstr>
      <vt:lpstr>Calibri</vt:lpstr>
      <vt:lpstr>Cambria Math</vt:lpstr>
      <vt:lpstr>Wingdings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 MOREL</dc:creator>
  <cp:lastModifiedBy>Christophe MOREL</cp:lastModifiedBy>
  <cp:revision>139</cp:revision>
  <dcterms:created xsi:type="dcterms:W3CDTF">2025-06-09T15:35:56Z</dcterms:created>
  <dcterms:modified xsi:type="dcterms:W3CDTF">2025-09-28T09:44:28Z</dcterms:modified>
</cp:coreProperties>
</file>