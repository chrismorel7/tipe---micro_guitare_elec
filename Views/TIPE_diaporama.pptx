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7" r:id="rId1"/>
  </p:sldMasterIdLst>
  <p:notesMasterIdLst>
    <p:notesMasterId r:id="rId39"/>
  </p:notesMasterIdLst>
  <p:sldIdLst>
    <p:sldId id="256" r:id="rId2"/>
    <p:sldId id="340" r:id="rId3"/>
    <p:sldId id="338" r:id="rId4"/>
    <p:sldId id="380" r:id="rId5"/>
    <p:sldId id="335" r:id="rId6"/>
    <p:sldId id="337" r:id="rId7"/>
    <p:sldId id="336" r:id="rId8"/>
    <p:sldId id="265" r:id="rId9"/>
    <p:sldId id="374" r:id="rId10"/>
    <p:sldId id="363" r:id="rId11"/>
    <p:sldId id="356" r:id="rId12"/>
    <p:sldId id="345" r:id="rId13"/>
    <p:sldId id="346" r:id="rId14"/>
    <p:sldId id="360" r:id="rId15"/>
    <p:sldId id="362" r:id="rId16"/>
    <p:sldId id="329" r:id="rId17"/>
    <p:sldId id="382" r:id="rId18"/>
    <p:sldId id="333" r:id="rId19"/>
    <p:sldId id="361" r:id="rId20"/>
    <p:sldId id="324" r:id="rId21"/>
    <p:sldId id="313" r:id="rId22"/>
    <p:sldId id="383" r:id="rId23"/>
    <p:sldId id="378" r:id="rId24"/>
    <p:sldId id="379" r:id="rId25"/>
    <p:sldId id="330" r:id="rId26"/>
    <p:sldId id="303" r:id="rId27"/>
    <p:sldId id="271" r:id="rId28"/>
    <p:sldId id="302" r:id="rId29"/>
    <p:sldId id="348" r:id="rId30"/>
    <p:sldId id="277" r:id="rId31"/>
    <p:sldId id="305" r:id="rId32"/>
    <p:sldId id="365" r:id="rId33"/>
    <p:sldId id="370" r:id="rId34"/>
    <p:sldId id="368" r:id="rId35"/>
    <p:sldId id="372" r:id="rId36"/>
    <p:sldId id="373" r:id="rId37"/>
    <p:sldId id="384" r:id="rId3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4095"/>
    <a:srgbClr val="38903A"/>
    <a:srgbClr val="559AD7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91" autoAdjust="0"/>
    <p:restoredTop sz="95975" autoAdjust="0"/>
  </p:normalViewPr>
  <p:slideViewPr>
    <p:cSldViewPr snapToGrid="0">
      <p:cViewPr varScale="1">
        <p:scale>
          <a:sx n="102" d="100"/>
          <a:sy n="102" d="100"/>
        </p:scale>
        <p:origin x="1037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38B8181-43EA-4C6C-8C7F-7942035F0720}" type="doc">
      <dgm:prSet loTypeId="urn:microsoft.com/office/officeart/2005/8/layout/lProcess2" loCatId="list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fr-FR"/>
        </a:p>
      </dgm:t>
    </dgm:pt>
    <dgm:pt modelId="{91212D5D-B364-44BA-9771-63E526DCA0A1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50M</a:t>
          </a:r>
          <a:endParaRPr lang="fr-FR" sz="5400" dirty="0">
            <a:latin typeface="Arial Black" panose="020B0A04020102020204" pitchFamily="34" charset="0"/>
          </a:endParaRPr>
        </a:p>
      </dgm:t>
    </dgm:pt>
    <dgm:pt modelId="{FC78DAE6-83E5-4BC1-AC49-428A15180E75}" type="parTrans" cxnId="{0485C7B9-46CA-4C0E-96B3-8FFF5F37DD6A}">
      <dgm:prSet/>
      <dgm:spPr/>
      <dgm:t>
        <a:bodyPr/>
        <a:lstStyle/>
        <a:p>
          <a:endParaRPr lang="fr-FR"/>
        </a:p>
      </dgm:t>
    </dgm:pt>
    <dgm:pt modelId="{D781E287-DBE3-4186-9876-37AE3B390319}" type="sibTrans" cxnId="{0485C7B9-46CA-4C0E-96B3-8FFF5F37DD6A}">
      <dgm:prSet/>
      <dgm:spPr/>
      <dgm:t>
        <a:bodyPr/>
        <a:lstStyle/>
        <a:p>
          <a:endParaRPr lang="fr-FR"/>
        </a:p>
      </dgm:t>
    </dgm:pt>
    <dgm:pt modelId="{E5137407-CC18-4373-B384-F7A66AF869B6}">
      <dgm:prSet phldrT="[Text]" phldr="0" custT="1"/>
      <dgm:spPr/>
      <dgm:t>
        <a:bodyPr/>
        <a:lstStyle/>
        <a:p>
          <a:r>
            <a:rPr lang="fr-FR" sz="1800" dirty="0"/>
            <a:t>Nombre de guitare estimé dans le monde</a:t>
          </a:r>
        </a:p>
      </dgm:t>
    </dgm:pt>
    <dgm:pt modelId="{F5863376-7605-42DC-B58D-060041DC79FF}" type="parTrans" cxnId="{AD0029D9-5E4E-4AD7-A0EC-A4368455A356}">
      <dgm:prSet/>
      <dgm:spPr/>
      <dgm:t>
        <a:bodyPr/>
        <a:lstStyle/>
        <a:p>
          <a:endParaRPr lang="fr-FR"/>
        </a:p>
      </dgm:t>
    </dgm:pt>
    <dgm:pt modelId="{504827BD-EDE8-4FEA-B41A-5C51374DAF4F}" type="sibTrans" cxnId="{AD0029D9-5E4E-4AD7-A0EC-A4368455A356}">
      <dgm:prSet/>
      <dgm:spPr/>
      <dgm:t>
        <a:bodyPr/>
        <a:lstStyle/>
        <a:p>
          <a:endParaRPr lang="fr-FR"/>
        </a:p>
      </dgm:t>
    </dgm:pt>
    <dgm:pt modelId="{AB389A4B-81CD-47F4-AC53-77C6CCDA77CA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10,3B</a:t>
          </a:r>
        </a:p>
      </dgm:t>
    </dgm:pt>
    <dgm:pt modelId="{1957A227-B175-4033-8F1D-F1C3A49DEBE5}" type="parTrans" cxnId="{C1AEFF4B-406F-4617-A89D-BA61E379F596}">
      <dgm:prSet/>
      <dgm:spPr/>
      <dgm:t>
        <a:bodyPr/>
        <a:lstStyle/>
        <a:p>
          <a:endParaRPr lang="fr-FR"/>
        </a:p>
      </dgm:t>
    </dgm:pt>
    <dgm:pt modelId="{BFD4BD52-26B4-4D78-A8D4-0D5AE83B8561}" type="sibTrans" cxnId="{C1AEFF4B-406F-4617-A89D-BA61E379F596}">
      <dgm:prSet/>
      <dgm:spPr/>
      <dgm:t>
        <a:bodyPr/>
        <a:lstStyle/>
        <a:p>
          <a:endParaRPr lang="fr-FR"/>
        </a:p>
      </dgm:t>
    </dgm:pt>
    <dgm:pt modelId="{5DFF8D2C-FF16-4189-959A-DA8AF237818F}">
      <dgm:prSet phldrT="[Text]" phldr="0" custT="1"/>
      <dgm:spPr/>
      <dgm:t>
        <a:bodyPr/>
        <a:lstStyle/>
        <a:p>
          <a:r>
            <a:rPr lang="fr-FR" sz="1800" dirty="0"/>
            <a:t>Valeur du marché de la guitare en 2024</a:t>
          </a:r>
        </a:p>
      </dgm:t>
    </dgm:pt>
    <dgm:pt modelId="{E4367BA8-3CA9-4C87-B29D-AC36939C7927}" type="parTrans" cxnId="{5523898E-814B-4613-82CF-8AC3888E263E}">
      <dgm:prSet/>
      <dgm:spPr/>
      <dgm:t>
        <a:bodyPr/>
        <a:lstStyle/>
        <a:p>
          <a:endParaRPr lang="fr-FR"/>
        </a:p>
      </dgm:t>
    </dgm:pt>
    <dgm:pt modelId="{B5808FB2-8ED5-48B7-94C9-85E33B53CEFA}" type="sibTrans" cxnId="{5523898E-814B-4613-82CF-8AC3888E263E}">
      <dgm:prSet/>
      <dgm:spPr/>
      <dgm:t>
        <a:bodyPr/>
        <a:lstStyle/>
        <a:p>
          <a:endParaRPr lang="fr-FR"/>
        </a:p>
      </dgm:t>
    </dgm:pt>
    <dgm:pt modelId="{D947A9E2-2E97-41F2-A0A4-BF4BF3FB2559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48%</a:t>
          </a:r>
        </a:p>
      </dgm:t>
    </dgm:pt>
    <dgm:pt modelId="{F31CB54F-5BC7-406C-A91B-50C08608D24C}" type="parTrans" cxnId="{8FE87FC7-AC18-4165-B440-4AA7AC67A8D9}">
      <dgm:prSet/>
      <dgm:spPr/>
      <dgm:t>
        <a:bodyPr/>
        <a:lstStyle/>
        <a:p>
          <a:endParaRPr lang="fr-FR"/>
        </a:p>
      </dgm:t>
    </dgm:pt>
    <dgm:pt modelId="{45F2920D-B956-4AA8-9189-A759A3BF2F00}" type="sibTrans" cxnId="{8FE87FC7-AC18-4165-B440-4AA7AC67A8D9}">
      <dgm:prSet/>
      <dgm:spPr/>
      <dgm:t>
        <a:bodyPr/>
        <a:lstStyle/>
        <a:p>
          <a:endParaRPr lang="fr-FR"/>
        </a:p>
      </dgm:t>
    </dgm:pt>
    <dgm:pt modelId="{1D647303-1950-49A3-B3E3-511B5EAB22C1}">
      <dgm:prSet phldrT="[Text]" custT="1"/>
      <dgm:spPr/>
      <dgm:t>
        <a:bodyPr/>
        <a:lstStyle/>
        <a:p>
          <a:r>
            <a:rPr lang="fr-FR" sz="1800" dirty="0"/>
            <a:t>Part de marché des guitares électriques </a:t>
          </a:r>
        </a:p>
      </dgm:t>
    </dgm:pt>
    <dgm:pt modelId="{D66D6EFC-F33F-49A7-81CA-B602591CF869}" type="parTrans" cxnId="{201120F7-9B21-4830-87D4-34EE8C2CC62D}">
      <dgm:prSet/>
      <dgm:spPr/>
      <dgm:t>
        <a:bodyPr/>
        <a:lstStyle/>
        <a:p>
          <a:endParaRPr lang="fr-FR"/>
        </a:p>
      </dgm:t>
    </dgm:pt>
    <dgm:pt modelId="{85CCCEDD-0FA1-4E6A-8302-32155D37CF8E}" type="sibTrans" cxnId="{201120F7-9B21-4830-87D4-34EE8C2CC62D}">
      <dgm:prSet/>
      <dgm:spPr/>
      <dgm:t>
        <a:bodyPr/>
        <a:lstStyle/>
        <a:p>
          <a:endParaRPr lang="fr-FR"/>
        </a:p>
      </dgm:t>
    </dgm:pt>
    <dgm:pt modelId="{B8929512-66CE-4E69-82E8-652F86CC7F13}" type="pres">
      <dgm:prSet presAssocID="{E38B8181-43EA-4C6C-8C7F-7942035F0720}" presName="theList" presStyleCnt="0">
        <dgm:presLayoutVars>
          <dgm:dir/>
          <dgm:animLvl val="lvl"/>
          <dgm:resizeHandles val="exact"/>
        </dgm:presLayoutVars>
      </dgm:prSet>
      <dgm:spPr/>
    </dgm:pt>
    <dgm:pt modelId="{8AD1CDE0-660F-41C6-A232-AB49A944F4B1}" type="pres">
      <dgm:prSet presAssocID="{91212D5D-B364-44BA-9771-63E526DCA0A1}" presName="compNode" presStyleCnt="0"/>
      <dgm:spPr/>
    </dgm:pt>
    <dgm:pt modelId="{A122FDB8-4E52-4F24-924C-55B39B5EEF83}" type="pres">
      <dgm:prSet presAssocID="{91212D5D-B364-44BA-9771-63E526DCA0A1}" presName="aNode" presStyleLbl="bgShp" presStyleIdx="0" presStyleCnt="3"/>
      <dgm:spPr/>
    </dgm:pt>
    <dgm:pt modelId="{EE092F6B-38EB-47CC-973C-37F9D2288AA3}" type="pres">
      <dgm:prSet presAssocID="{91212D5D-B364-44BA-9771-63E526DCA0A1}" presName="textNode" presStyleLbl="bgShp" presStyleIdx="0" presStyleCnt="3"/>
      <dgm:spPr/>
    </dgm:pt>
    <dgm:pt modelId="{0448C864-2F82-4625-BA73-B4FC84AC036D}" type="pres">
      <dgm:prSet presAssocID="{91212D5D-B364-44BA-9771-63E526DCA0A1}" presName="compChildNode" presStyleCnt="0"/>
      <dgm:spPr/>
    </dgm:pt>
    <dgm:pt modelId="{28883B9D-21D9-4368-977E-4B0BD2C2A37C}" type="pres">
      <dgm:prSet presAssocID="{91212D5D-B364-44BA-9771-63E526DCA0A1}" presName="theInnerList" presStyleCnt="0"/>
      <dgm:spPr/>
    </dgm:pt>
    <dgm:pt modelId="{332FF867-5FFB-469C-995E-0CBE678B8048}" type="pres">
      <dgm:prSet presAssocID="{E5137407-CC18-4373-B384-F7A66AF869B6}" presName="childNode" presStyleLbl="node1" presStyleIdx="0" presStyleCnt="3" custScaleY="70691">
        <dgm:presLayoutVars>
          <dgm:bulletEnabled val="1"/>
        </dgm:presLayoutVars>
      </dgm:prSet>
      <dgm:spPr/>
    </dgm:pt>
    <dgm:pt modelId="{A9B3C3CC-83A5-44FD-8337-23960E5C80F6}" type="pres">
      <dgm:prSet presAssocID="{91212D5D-B364-44BA-9771-63E526DCA0A1}" presName="aSpace" presStyleCnt="0"/>
      <dgm:spPr/>
    </dgm:pt>
    <dgm:pt modelId="{51288686-012E-497C-AA23-CFA1CCA57442}" type="pres">
      <dgm:prSet presAssocID="{AB389A4B-81CD-47F4-AC53-77C6CCDA77CA}" presName="compNode" presStyleCnt="0"/>
      <dgm:spPr/>
    </dgm:pt>
    <dgm:pt modelId="{D876CD57-D8B0-4B1D-8A27-4B504FE0CFD4}" type="pres">
      <dgm:prSet presAssocID="{AB389A4B-81CD-47F4-AC53-77C6CCDA77CA}" presName="aNode" presStyleLbl="bgShp" presStyleIdx="1" presStyleCnt="3"/>
      <dgm:spPr/>
    </dgm:pt>
    <dgm:pt modelId="{753AE736-51A9-4ACF-85CA-A535BD91B08A}" type="pres">
      <dgm:prSet presAssocID="{AB389A4B-81CD-47F4-AC53-77C6CCDA77CA}" presName="textNode" presStyleLbl="bgShp" presStyleIdx="1" presStyleCnt="3"/>
      <dgm:spPr/>
    </dgm:pt>
    <dgm:pt modelId="{2037BDEE-75EB-46C8-AD3A-65B225526994}" type="pres">
      <dgm:prSet presAssocID="{AB389A4B-81CD-47F4-AC53-77C6CCDA77CA}" presName="compChildNode" presStyleCnt="0"/>
      <dgm:spPr/>
    </dgm:pt>
    <dgm:pt modelId="{051F6D2A-97B8-4664-A450-ADDEC308F567}" type="pres">
      <dgm:prSet presAssocID="{AB389A4B-81CD-47F4-AC53-77C6CCDA77CA}" presName="theInnerList" presStyleCnt="0"/>
      <dgm:spPr/>
    </dgm:pt>
    <dgm:pt modelId="{212315B0-941C-424E-9FB8-A723AE83E221}" type="pres">
      <dgm:prSet presAssocID="{5DFF8D2C-FF16-4189-959A-DA8AF237818F}" presName="childNode" presStyleLbl="node1" presStyleIdx="1" presStyleCnt="3" custScaleY="70691">
        <dgm:presLayoutVars>
          <dgm:bulletEnabled val="1"/>
        </dgm:presLayoutVars>
      </dgm:prSet>
      <dgm:spPr/>
    </dgm:pt>
    <dgm:pt modelId="{A06D310C-D4D5-42FB-BF30-8EB821EF41B8}" type="pres">
      <dgm:prSet presAssocID="{AB389A4B-81CD-47F4-AC53-77C6CCDA77CA}" presName="aSpace" presStyleCnt="0"/>
      <dgm:spPr/>
    </dgm:pt>
    <dgm:pt modelId="{72FABE35-4F33-4B5B-B72B-CE129740AEE7}" type="pres">
      <dgm:prSet presAssocID="{D947A9E2-2E97-41F2-A0A4-BF4BF3FB2559}" presName="compNode" presStyleCnt="0"/>
      <dgm:spPr/>
    </dgm:pt>
    <dgm:pt modelId="{3D118472-EB36-44B0-9CAB-89E96EDD8635}" type="pres">
      <dgm:prSet presAssocID="{D947A9E2-2E97-41F2-A0A4-BF4BF3FB2559}" presName="aNode" presStyleLbl="bgShp" presStyleIdx="2" presStyleCnt="3"/>
      <dgm:spPr/>
    </dgm:pt>
    <dgm:pt modelId="{D4961126-1C1B-4F88-A93F-D46D2428CFA2}" type="pres">
      <dgm:prSet presAssocID="{D947A9E2-2E97-41F2-A0A4-BF4BF3FB2559}" presName="textNode" presStyleLbl="bgShp" presStyleIdx="2" presStyleCnt="3"/>
      <dgm:spPr/>
    </dgm:pt>
    <dgm:pt modelId="{5B693B72-B78F-4290-A233-520D95F4748A}" type="pres">
      <dgm:prSet presAssocID="{D947A9E2-2E97-41F2-A0A4-BF4BF3FB2559}" presName="compChildNode" presStyleCnt="0"/>
      <dgm:spPr/>
    </dgm:pt>
    <dgm:pt modelId="{3DB0FDFE-0615-4995-85DF-314DBB0DEE15}" type="pres">
      <dgm:prSet presAssocID="{D947A9E2-2E97-41F2-A0A4-BF4BF3FB2559}" presName="theInnerList" presStyleCnt="0"/>
      <dgm:spPr/>
    </dgm:pt>
    <dgm:pt modelId="{522A87F0-0F3E-418E-844F-50D37BC18AE4}" type="pres">
      <dgm:prSet presAssocID="{1D647303-1950-49A3-B3E3-511B5EAB22C1}" presName="childNode" presStyleLbl="node1" presStyleIdx="2" presStyleCnt="3" custScaleY="70691">
        <dgm:presLayoutVars>
          <dgm:bulletEnabled val="1"/>
        </dgm:presLayoutVars>
      </dgm:prSet>
      <dgm:spPr/>
    </dgm:pt>
  </dgm:ptLst>
  <dgm:cxnLst>
    <dgm:cxn modelId="{94D40702-587D-4465-BCBA-552514180BBE}" type="presOf" srcId="{E38B8181-43EA-4C6C-8C7F-7942035F0720}" destId="{B8929512-66CE-4E69-82E8-652F86CC7F13}" srcOrd="0" destOrd="0" presId="urn:microsoft.com/office/officeart/2005/8/layout/lProcess2"/>
    <dgm:cxn modelId="{8F245E04-8DF9-4548-92D1-3655024527CF}" type="presOf" srcId="{D947A9E2-2E97-41F2-A0A4-BF4BF3FB2559}" destId="{D4961126-1C1B-4F88-A93F-D46D2428CFA2}" srcOrd="1" destOrd="0" presId="urn:microsoft.com/office/officeart/2005/8/layout/lProcess2"/>
    <dgm:cxn modelId="{7A5F6A19-7DAC-460E-BBA6-B384A077D6FF}" type="presOf" srcId="{1D647303-1950-49A3-B3E3-511B5EAB22C1}" destId="{522A87F0-0F3E-418E-844F-50D37BC18AE4}" srcOrd="0" destOrd="0" presId="urn:microsoft.com/office/officeart/2005/8/layout/lProcess2"/>
    <dgm:cxn modelId="{299ABB28-1B39-4096-812E-C6AA0CDDD8DA}" type="presOf" srcId="{AB389A4B-81CD-47F4-AC53-77C6CCDA77CA}" destId="{D876CD57-D8B0-4B1D-8A27-4B504FE0CFD4}" srcOrd="0" destOrd="0" presId="urn:microsoft.com/office/officeart/2005/8/layout/lProcess2"/>
    <dgm:cxn modelId="{C1AEFF4B-406F-4617-A89D-BA61E379F596}" srcId="{E38B8181-43EA-4C6C-8C7F-7942035F0720}" destId="{AB389A4B-81CD-47F4-AC53-77C6CCDA77CA}" srcOrd="1" destOrd="0" parTransId="{1957A227-B175-4033-8F1D-F1C3A49DEBE5}" sibTransId="{BFD4BD52-26B4-4D78-A8D4-0D5AE83B8561}"/>
    <dgm:cxn modelId="{A32FD154-FA1F-42EC-A904-99D643BC5003}" type="presOf" srcId="{E5137407-CC18-4373-B384-F7A66AF869B6}" destId="{332FF867-5FFB-469C-995E-0CBE678B8048}" srcOrd="0" destOrd="0" presId="urn:microsoft.com/office/officeart/2005/8/layout/lProcess2"/>
    <dgm:cxn modelId="{5191207E-417E-46C7-B34A-8DDB7C623194}" type="presOf" srcId="{5DFF8D2C-FF16-4189-959A-DA8AF237818F}" destId="{212315B0-941C-424E-9FB8-A723AE83E221}" srcOrd="0" destOrd="0" presId="urn:microsoft.com/office/officeart/2005/8/layout/lProcess2"/>
    <dgm:cxn modelId="{46AA8580-CB6C-47DD-A72E-6CB4DBC796AE}" type="presOf" srcId="{D947A9E2-2E97-41F2-A0A4-BF4BF3FB2559}" destId="{3D118472-EB36-44B0-9CAB-89E96EDD8635}" srcOrd="0" destOrd="0" presId="urn:microsoft.com/office/officeart/2005/8/layout/lProcess2"/>
    <dgm:cxn modelId="{5523898E-814B-4613-82CF-8AC3888E263E}" srcId="{AB389A4B-81CD-47F4-AC53-77C6CCDA77CA}" destId="{5DFF8D2C-FF16-4189-959A-DA8AF237818F}" srcOrd="0" destOrd="0" parTransId="{E4367BA8-3CA9-4C87-B29D-AC36939C7927}" sibTransId="{B5808FB2-8ED5-48B7-94C9-85E33B53CEFA}"/>
    <dgm:cxn modelId="{A75A9195-F7D7-468F-9696-A77A26B18F76}" type="presOf" srcId="{AB389A4B-81CD-47F4-AC53-77C6CCDA77CA}" destId="{753AE736-51A9-4ACF-85CA-A535BD91B08A}" srcOrd="1" destOrd="0" presId="urn:microsoft.com/office/officeart/2005/8/layout/lProcess2"/>
    <dgm:cxn modelId="{209C9C9E-C3F8-4D27-8697-A6FB0C80B67F}" type="presOf" srcId="{91212D5D-B364-44BA-9771-63E526DCA0A1}" destId="{EE092F6B-38EB-47CC-973C-37F9D2288AA3}" srcOrd="1" destOrd="0" presId="urn:microsoft.com/office/officeart/2005/8/layout/lProcess2"/>
    <dgm:cxn modelId="{1D029AA6-958D-47DB-9F92-AA3342059FCC}" type="presOf" srcId="{91212D5D-B364-44BA-9771-63E526DCA0A1}" destId="{A122FDB8-4E52-4F24-924C-55B39B5EEF83}" srcOrd="0" destOrd="0" presId="urn:microsoft.com/office/officeart/2005/8/layout/lProcess2"/>
    <dgm:cxn modelId="{0485C7B9-46CA-4C0E-96B3-8FFF5F37DD6A}" srcId="{E38B8181-43EA-4C6C-8C7F-7942035F0720}" destId="{91212D5D-B364-44BA-9771-63E526DCA0A1}" srcOrd="0" destOrd="0" parTransId="{FC78DAE6-83E5-4BC1-AC49-428A15180E75}" sibTransId="{D781E287-DBE3-4186-9876-37AE3B390319}"/>
    <dgm:cxn modelId="{8FE87FC7-AC18-4165-B440-4AA7AC67A8D9}" srcId="{E38B8181-43EA-4C6C-8C7F-7942035F0720}" destId="{D947A9E2-2E97-41F2-A0A4-BF4BF3FB2559}" srcOrd="2" destOrd="0" parTransId="{F31CB54F-5BC7-406C-A91B-50C08608D24C}" sibTransId="{45F2920D-B956-4AA8-9189-A759A3BF2F00}"/>
    <dgm:cxn modelId="{AD0029D9-5E4E-4AD7-A0EC-A4368455A356}" srcId="{91212D5D-B364-44BA-9771-63E526DCA0A1}" destId="{E5137407-CC18-4373-B384-F7A66AF869B6}" srcOrd="0" destOrd="0" parTransId="{F5863376-7605-42DC-B58D-060041DC79FF}" sibTransId="{504827BD-EDE8-4FEA-B41A-5C51374DAF4F}"/>
    <dgm:cxn modelId="{201120F7-9B21-4830-87D4-34EE8C2CC62D}" srcId="{D947A9E2-2E97-41F2-A0A4-BF4BF3FB2559}" destId="{1D647303-1950-49A3-B3E3-511B5EAB22C1}" srcOrd="0" destOrd="0" parTransId="{D66D6EFC-F33F-49A7-81CA-B602591CF869}" sibTransId="{85CCCEDD-0FA1-4E6A-8302-32155D37CF8E}"/>
    <dgm:cxn modelId="{08E6926F-999E-4517-BB1A-F96A0310265E}" type="presParOf" srcId="{B8929512-66CE-4E69-82E8-652F86CC7F13}" destId="{8AD1CDE0-660F-41C6-A232-AB49A944F4B1}" srcOrd="0" destOrd="0" presId="urn:microsoft.com/office/officeart/2005/8/layout/lProcess2"/>
    <dgm:cxn modelId="{CE9A049D-E141-4083-9323-2C683065397A}" type="presParOf" srcId="{8AD1CDE0-660F-41C6-A232-AB49A944F4B1}" destId="{A122FDB8-4E52-4F24-924C-55B39B5EEF83}" srcOrd="0" destOrd="0" presId="urn:microsoft.com/office/officeart/2005/8/layout/lProcess2"/>
    <dgm:cxn modelId="{C0BB5914-70D5-4110-8C04-9D450E2EDFE8}" type="presParOf" srcId="{8AD1CDE0-660F-41C6-A232-AB49A944F4B1}" destId="{EE092F6B-38EB-47CC-973C-37F9D2288AA3}" srcOrd="1" destOrd="0" presId="urn:microsoft.com/office/officeart/2005/8/layout/lProcess2"/>
    <dgm:cxn modelId="{05DBDA82-E4F4-4AB8-A1EB-7EC172ABBE02}" type="presParOf" srcId="{8AD1CDE0-660F-41C6-A232-AB49A944F4B1}" destId="{0448C864-2F82-4625-BA73-B4FC84AC036D}" srcOrd="2" destOrd="0" presId="urn:microsoft.com/office/officeart/2005/8/layout/lProcess2"/>
    <dgm:cxn modelId="{28C03247-E7BF-4132-B9B5-AA28D4CE75CE}" type="presParOf" srcId="{0448C864-2F82-4625-BA73-B4FC84AC036D}" destId="{28883B9D-21D9-4368-977E-4B0BD2C2A37C}" srcOrd="0" destOrd="0" presId="urn:microsoft.com/office/officeart/2005/8/layout/lProcess2"/>
    <dgm:cxn modelId="{4C34A2E8-D3DD-48CD-96F1-BD14E8265A75}" type="presParOf" srcId="{28883B9D-21D9-4368-977E-4B0BD2C2A37C}" destId="{332FF867-5FFB-469C-995E-0CBE678B8048}" srcOrd="0" destOrd="0" presId="urn:microsoft.com/office/officeart/2005/8/layout/lProcess2"/>
    <dgm:cxn modelId="{250EF62A-AEFF-40E0-A39A-E8780120EB6A}" type="presParOf" srcId="{B8929512-66CE-4E69-82E8-652F86CC7F13}" destId="{A9B3C3CC-83A5-44FD-8337-23960E5C80F6}" srcOrd="1" destOrd="0" presId="urn:microsoft.com/office/officeart/2005/8/layout/lProcess2"/>
    <dgm:cxn modelId="{6C4A4D70-C1C2-4D21-8A99-B71DCD27BB33}" type="presParOf" srcId="{B8929512-66CE-4E69-82E8-652F86CC7F13}" destId="{51288686-012E-497C-AA23-CFA1CCA57442}" srcOrd="2" destOrd="0" presId="urn:microsoft.com/office/officeart/2005/8/layout/lProcess2"/>
    <dgm:cxn modelId="{E09CE3DD-1A3E-4D7A-8D02-75EDE870DD29}" type="presParOf" srcId="{51288686-012E-497C-AA23-CFA1CCA57442}" destId="{D876CD57-D8B0-4B1D-8A27-4B504FE0CFD4}" srcOrd="0" destOrd="0" presId="urn:microsoft.com/office/officeart/2005/8/layout/lProcess2"/>
    <dgm:cxn modelId="{74F7B8D7-D1E3-4561-93EF-FF9712C205DD}" type="presParOf" srcId="{51288686-012E-497C-AA23-CFA1CCA57442}" destId="{753AE736-51A9-4ACF-85CA-A535BD91B08A}" srcOrd="1" destOrd="0" presId="urn:microsoft.com/office/officeart/2005/8/layout/lProcess2"/>
    <dgm:cxn modelId="{56898C8E-CBB4-464E-A05A-A938E6EF7C6F}" type="presParOf" srcId="{51288686-012E-497C-AA23-CFA1CCA57442}" destId="{2037BDEE-75EB-46C8-AD3A-65B225526994}" srcOrd="2" destOrd="0" presId="urn:microsoft.com/office/officeart/2005/8/layout/lProcess2"/>
    <dgm:cxn modelId="{7474C88F-B077-4E52-9389-DB71FE1EE583}" type="presParOf" srcId="{2037BDEE-75EB-46C8-AD3A-65B225526994}" destId="{051F6D2A-97B8-4664-A450-ADDEC308F567}" srcOrd="0" destOrd="0" presId="urn:microsoft.com/office/officeart/2005/8/layout/lProcess2"/>
    <dgm:cxn modelId="{D51C9842-0333-42F3-B1B8-70BB34EF5298}" type="presParOf" srcId="{051F6D2A-97B8-4664-A450-ADDEC308F567}" destId="{212315B0-941C-424E-9FB8-A723AE83E221}" srcOrd="0" destOrd="0" presId="urn:microsoft.com/office/officeart/2005/8/layout/lProcess2"/>
    <dgm:cxn modelId="{D41932D7-DB46-4904-88C2-4968B0EE258B}" type="presParOf" srcId="{B8929512-66CE-4E69-82E8-652F86CC7F13}" destId="{A06D310C-D4D5-42FB-BF30-8EB821EF41B8}" srcOrd="3" destOrd="0" presId="urn:microsoft.com/office/officeart/2005/8/layout/lProcess2"/>
    <dgm:cxn modelId="{AC37D594-B731-481B-B6FC-DF8BB7CC3EEF}" type="presParOf" srcId="{B8929512-66CE-4E69-82E8-652F86CC7F13}" destId="{72FABE35-4F33-4B5B-B72B-CE129740AEE7}" srcOrd="4" destOrd="0" presId="urn:microsoft.com/office/officeart/2005/8/layout/lProcess2"/>
    <dgm:cxn modelId="{20205CCD-3134-441A-BEAF-7C5A6E3D5EC9}" type="presParOf" srcId="{72FABE35-4F33-4B5B-B72B-CE129740AEE7}" destId="{3D118472-EB36-44B0-9CAB-89E96EDD8635}" srcOrd="0" destOrd="0" presId="urn:microsoft.com/office/officeart/2005/8/layout/lProcess2"/>
    <dgm:cxn modelId="{BCB07279-88EC-40FB-BCB3-BF071DDA10B8}" type="presParOf" srcId="{72FABE35-4F33-4B5B-B72B-CE129740AEE7}" destId="{D4961126-1C1B-4F88-A93F-D46D2428CFA2}" srcOrd="1" destOrd="0" presId="urn:microsoft.com/office/officeart/2005/8/layout/lProcess2"/>
    <dgm:cxn modelId="{134B4711-562A-4E32-92F8-7638FD2C4840}" type="presParOf" srcId="{72FABE35-4F33-4B5B-B72B-CE129740AEE7}" destId="{5B693B72-B78F-4290-A233-520D95F4748A}" srcOrd="2" destOrd="0" presId="urn:microsoft.com/office/officeart/2005/8/layout/lProcess2"/>
    <dgm:cxn modelId="{5A6E1D6A-410F-44A8-8D1F-830954F79DCD}" type="presParOf" srcId="{5B693B72-B78F-4290-A233-520D95F4748A}" destId="{3DB0FDFE-0615-4995-85DF-314DBB0DEE15}" srcOrd="0" destOrd="0" presId="urn:microsoft.com/office/officeart/2005/8/layout/lProcess2"/>
    <dgm:cxn modelId="{EC0504A7-74B3-4A45-A806-56DC9387496F}" type="presParOf" srcId="{3DB0FDFE-0615-4995-85DF-314DBB0DEE15}" destId="{522A87F0-0F3E-418E-844F-50D37BC18AE4}" srcOrd="0" destOrd="0" presId="urn:microsoft.com/office/officeart/2005/8/layout/l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FD1C852-5D74-4F80-A124-F60AD28CB0FD}" type="doc">
      <dgm:prSet loTypeId="urn:microsoft.com/office/officeart/2005/8/layout/hChevron3" loCatId="process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fr-FR"/>
        </a:p>
      </dgm:t>
    </dgm:pt>
    <dgm:pt modelId="{B1946031-CC6F-4798-BB24-30EB0DDC5277}">
      <dgm:prSet phldrT="[Text]" phldr="0"/>
      <dgm:spPr/>
      <dgm:t>
        <a:bodyPr/>
        <a:lstStyle/>
        <a:p>
          <a:pPr algn="l"/>
          <a:r>
            <a:rPr lang="fr-FR" dirty="0"/>
            <a:t>Filtrage électrique interne </a:t>
          </a:r>
        </a:p>
      </dgm:t>
    </dgm:pt>
    <dgm:pt modelId="{DF9440CB-AEE4-4B4A-BAD8-C0D9B8C74E86}" type="parTrans" cxnId="{A54F9490-DB61-4C3A-A7B7-F92EB5A17874}">
      <dgm:prSet/>
      <dgm:spPr/>
      <dgm:t>
        <a:bodyPr/>
        <a:lstStyle/>
        <a:p>
          <a:pPr algn="l"/>
          <a:endParaRPr lang="fr-FR"/>
        </a:p>
      </dgm:t>
    </dgm:pt>
    <dgm:pt modelId="{6409785A-3A6B-45D0-AECD-0CF83416FC6F}" type="sibTrans" cxnId="{A54F9490-DB61-4C3A-A7B7-F92EB5A17874}">
      <dgm:prSet/>
      <dgm:spPr/>
      <dgm:t>
        <a:bodyPr/>
        <a:lstStyle/>
        <a:p>
          <a:pPr algn="l"/>
          <a:endParaRPr lang="fr-FR"/>
        </a:p>
      </dgm:t>
    </dgm:pt>
    <dgm:pt modelId="{E1F92468-EED0-446C-8F01-19EC7893BEB7}">
      <dgm:prSet phldrT="[Text]" phldr="0"/>
      <dgm:spPr/>
      <dgm:t>
        <a:bodyPr/>
        <a:lstStyle/>
        <a:p>
          <a:pPr algn="l"/>
          <a:r>
            <a:rPr lang="fr-FR" dirty="0"/>
            <a:t>Induction et </a:t>
          </a:r>
        </a:p>
        <a:p>
          <a:pPr algn="l"/>
          <a:r>
            <a:rPr lang="fr-FR" dirty="0"/>
            <a:t>filtrage spatial</a:t>
          </a:r>
        </a:p>
      </dgm:t>
    </dgm:pt>
    <dgm:pt modelId="{4C193A07-5FE8-45B1-B54F-43ACFEBFA259}" type="parTrans" cxnId="{F47725DE-476A-4FAB-9188-719AD3DBBAB7}">
      <dgm:prSet/>
      <dgm:spPr/>
      <dgm:t>
        <a:bodyPr/>
        <a:lstStyle/>
        <a:p>
          <a:pPr algn="l"/>
          <a:endParaRPr lang="fr-FR"/>
        </a:p>
      </dgm:t>
    </dgm:pt>
    <dgm:pt modelId="{24A5BA3C-A19D-47E5-9693-F13538540662}" type="sibTrans" cxnId="{F47725DE-476A-4FAB-9188-719AD3DBBAB7}">
      <dgm:prSet/>
      <dgm:spPr/>
      <dgm:t>
        <a:bodyPr/>
        <a:lstStyle/>
        <a:p>
          <a:pPr algn="l"/>
          <a:endParaRPr lang="fr-FR"/>
        </a:p>
      </dgm:t>
    </dgm:pt>
    <dgm:pt modelId="{2999190F-4751-4CC0-8C2C-D4D1BD8541A5}">
      <dgm:prSet phldrT="[Text]" phldr="0"/>
      <dgm:spPr/>
      <dgm:t>
        <a:bodyPr/>
        <a:lstStyle/>
        <a:p>
          <a:pPr algn="l"/>
          <a:r>
            <a:rPr lang="fr-FR" dirty="0"/>
            <a:t>Reduction du « Hum »</a:t>
          </a:r>
        </a:p>
      </dgm:t>
    </dgm:pt>
    <dgm:pt modelId="{B937862D-19FD-452C-9AA2-58269B000A85}" type="parTrans" cxnId="{9D335623-9A20-41EC-8986-84118AEFF14B}">
      <dgm:prSet/>
      <dgm:spPr/>
      <dgm:t>
        <a:bodyPr/>
        <a:lstStyle/>
        <a:p>
          <a:pPr algn="l"/>
          <a:endParaRPr lang="fr-FR"/>
        </a:p>
      </dgm:t>
    </dgm:pt>
    <dgm:pt modelId="{E02B0FFD-8631-41F2-A902-D43C76613677}" type="sibTrans" cxnId="{9D335623-9A20-41EC-8986-84118AEFF14B}">
      <dgm:prSet/>
      <dgm:spPr/>
      <dgm:t>
        <a:bodyPr/>
        <a:lstStyle/>
        <a:p>
          <a:pPr algn="l"/>
          <a:endParaRPr lang="fr-FR"/>
        </a:p>
      </dgm:t>
    </dgm:pt>
    <dgm:pt modelId="{3492A474-1DB8-418E-8701-8300C7EB9CDA}" type="pres">
      <dgm:prSet presAssocID="{AFD1C852-5D74-4F80-A124-F60AD28CB0FD}" presName="Name0" presStyleCnt="0">
        <dgm:presLayoutVars>
          <dgm:dir/>
          <dgm:resizeHandles val="exact"/>
        </dgm:presLayoutVars>
      </dgm:prSet>
      <dgm:spPr/>
    </dgm:pt>
    <dgm:pt modelId="{07B121FE-B513-4273-8542-483E825BE23A}" type="pres">
      <dgm:prSet presAssocID="{B1946031-CC6F-4798-BB24-30EB0DDC5277}" presName="parTxOnly" presStyleLbl="node1" presStyleIdx="0" presStyleCnt="3" custScaleX="90834" custScaleY="433715">
        <dgm:presLayoutVars>
          <dgm:bulletEnabled val="1"/>
        </dgm:presLayoutVars>
      </dgm:prSet>
      <dgm:spPr/>
    </dgm:pt>
    <dgm:pt modelId="{DB817F39-88FC-4708-9DF3-C7F5734050DC}" type="pres">
      <dgm:prSet presAssocID="{6409785A-3A6B-45D0-AECD-0CF83416FC6F}" presName="parSpace" presStyleCnt="0"/>
      <dgm:spPr/>
    </dgm:pt>
    <dgm:pt modelId="{1C5D07C3-19A8-4A2B-ADAD-760FB67323AE}" type="pres">
      <dgm:prSet presAssocID="{E1F92468-EED0-446C-8F01-19EC7893BEB7}" presName="parTxOnly" presStyleLbl="node1" presStyleIdx="1" presStyleCnt="3" custScaleX="85590" custScaleY="433715">
        <dgm:presLayoutVars>
          <dgm:bulletEnabled val="1"/>
        </dgm:presLayoutVars>
      </dgm:prSet>
      <dgm:spPr/>
    </dgm:pt>
    <dgm:pt modelId="{095CFF29-6108-477A-98A8-6875BCA81A2B}" type="pres">
      <dgm:prSet presAssocID="{24A5BA3C-A19D-47E5-9693-F13538540662}" presName="parSpace" presStyleCnt="0"/>
      <dgm:spPr/>
    </dgm:pt>
    <dgm:pt modelId="{EDB0DA63-DB1A-4CF7-9C2D-141473F1AEC3}" type="pres">
      <dgm:prSet presAssocID="{2999190F-4751-4CC0-8C2C-D4D1BD8541A5}" presName="parTxOnly" presStyleLbl="node1" presStyleIdx="2" presStyleCnt="3" custScaleX="77451" custScaleY="433715">
        <dgm:presLayoutVars>
          <dgm:bulletEnabled val="1"/>
        </dgm:presLayoutVars>
      </dgm:prSet>
      <dgm:spPr/>
    </dgm:pt>
  </dgm:ptLst>
  <dgm:cxnLst>
    <dgm:cxn modelId="{9D335623-9A20-41EC-8986-84118AEFF14B}" srcId="{AFD1C852-5D74-4F80-A124-F60AD28CB0FD}" destId="{2999190F-4751-4CC0-8C2C-D4D1BD8541A5}" srcOrd="2" destOrd="0" parTransId="{B937862D-19FD-452C-9AA2-58269B000A85}" sibTransId="{E02B0FFD-8631-41F2-A902-D43C76613677}"/>
    <dgm:cxn modelId="{5087FD27-24EB-4362-B69A-7FAAD70FE1F4}" type="presOf" srcId="{2999190F-4751-4CC0-8C2C-D4D1BD8541A5}" destId="{EDB0DA63-DB1A-4CF7-9C2D-141473F1AEC3}" srcOrd="0" destOrd="0" presId="urn:microsoft.com/office/officeart/2005/8/layout/hChevron3"/>
    <dgm:cxn modelId="{F295B632-26E4-4F8E-AE79-C863461F4647}" type="presOf" srcId="{E1F92468-EED0-446C-8F01-19EC7893BEB7}" destId="{1C5D07C3-19A8-4A2B-ADAD-760FB67323AE}" srcOrd="0" destOrd="0" presId="urn:microsoft.com/office/officeart/2005/8/layout/hChevron3"/>
    <dgm:cxn modelId="{0A6C1934-F3BE-4907-9741-F2ECA6A31CF0}" type="presOf" srcId="{AFD1C852-5D74-4F80-A124-F60AD28CB0FD}" destId="{3492A474-1DB8-418E-8701-8300C7EB9CDA}" srcOrd="0" destOrd="0" presId="urn:microsoft.com/office/officeart/2005/8/layout/hChevron3"/>
    <dgm:cxn modelId="{A54F9490-DB61-4C3A-A7B7-F92EB5A17874}" srcId="{AFD1C852-5D74-4F80-A124-F60AD28CB0FD}" destId="{B1946031-CC6F-4798-BB24-30EB0DDC5277}" srcOrd="0" destOrd="0" parTransId="{DF9440CB-AEE4-4B4A-BAD8-C0D9B8C74E86}" sibTransId="{6409785A-3A6B-45D0-AECD-0CF83416FC6F}"/>
    <dgm:cxn modelId="{A28B0F9F-7F70-4B9B-AD8E-DEBE0C3994F7}" type="presOf" srcId="{B1946031-CC6F-4798-BB24-30EB0DDC5277}" destId="{07B121FE-B513-4273-8542-483E825BE23A}" srcOrd="0" destOrd="0" presId="urn:microsoft.com/office/officeart/2005/8/layout/hChevron3"/>
    <dgm:cxn modelId="{F47725DE-476A-4FAB-9188-719AD3DBBAB7}" srcId="{AFD1C852-5D74-4F80-A124-F60AD28CB0FD}" destId="{E1F92468-EED0-446C-8F01-19EC7893BEB7}" srcOrd="1" destOrd="0" parTransId="{4C193A07-5FE8-45B1-B54F-43ACFEBFA259}" sibTransId="{24A5BA3C-A19D-47E5-9693-F13538540662}"/>
    <dgm:cxn modelId="{183DF5FB-2D9F-4A87-A6B3-1671C769EC58}" type="presParOf" srcId="{3492A474-1DB8-418E-8701-8300C7EB9CDA}" destId="{07B121FE-B513-4273-8542-483E825BE23A}" srcOrd="0" destOrd="0" presId="urn:microsoft.com/office/officeart/2005/8/layout/hChevron3"/>
    <dgm:cxn modelId="{DFE9872F-29F9-4634-B09D-A4AB7A045767}" type="presParOf" srcId="{3492A474-1DB8-418E-8701-8300C7EB9CDA}" destId="{DB817F39-88FC-4708-9DF3-C7F5734050DC}" srcOrd="1" destOrd="0" presId="urn:microsoft.com/office/officeart/2005/8/layout/hChevron3"/>
    <dgm:cxn modelId="{BE1A6A62-7316-4FD4-9DD5-327C01F70C73}" type="presParOf" srcId="{3492A474-1DB8-418E-8701-8300C7EB9CDA}" destId="{1C5D07C3-19A8-4A2B-ADAD-760FB67323AE}" srcOrd="2" destOrd="0" presId="urn:microsoft.com/office/officeart/2005/8/layout/hChevron3"/>
    <dgm:cxn modelId="{C7840BB5-EAAD-4336-89F2-604ABDBD43C8}" type="presParOf" srcId="{3492A474-1DB8-418E-8701-8300C7EB9CDA}" destId="{095CFF29-6108-477A-98A8-6875BCA81A2B}" srcOrd="3" destOrd="0" presId="urn:microsoft.com/office/officeart/2005/8/layout/hChevron3"/>
    <dgm:cxn modelId="{AAC58604-1623-4538-B840-D6B80108F5A3}" type="presParOf" srcId="{3492A474-1DB8-418E-8701-8300C7EB9CDA}" destId="{EDB0DA63-DB1A-4CF7-9C2D-141473F1AEC3}" srcOrd="4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122FDB8-4E52-4F24-924C-55B39B5EEF83}">
      <dsp:nvSpPr>
        <dsp:cNvPr id="0" name=""/>
        <dsp:cNvSpPr/>
      </dsp:nvSpPr>
      <dsp:spPr>
        <a:xfrm>
          <a:off x="964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50M</a:t>
          </a:r>
          <a:endParaRPr lang="fr-FR" sz="5400" kern="1200" dirty="0">
            <a:latin typeface="Arial Black" panose="020B0A04020102020204" pitchFamily="34" charset="0"/>
          </a:endParaRPr>
        </a:p>
      </dsp:txBody>
      <dsp:txXfrm>
        <a:off x="964" y="0"/>
        <a:ext cx="2507184" cy="940174"/>
      </dsp:txXfrm>
    </dsp:sp>
    <dsp:sp modelId="{332FF867-5FFB-469C-995E-0CBE678B8048}">
      <dsp:nvSpPr>
        <dsp:cNvPr id="0" name=""/>
        <dsp:cNvSpPr/>
      </dsp:nvSpPr>
      <dsp:spPr>
        <a:xfrm>
          <a:off x="251682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Nombre de guitare estimé dans le monde</a:t>
          </a:r>
        </a:p>
      </dsp:txBody>
      <dsp:txXfrm>
        <a:off x="293858" y="1280868"/>
        <a:ext cx="1921395" cy="1355654"/>
      </dsp:txXfrm>
    </dsp:sp>
    <dsp:sp modelId="{D876CD57-D8B0-4B1D-8A27-4B504FE0CFD4}">
      <dsp:nvSpPr>
        <dsp:cNvPr id="0" name=""/>
        <dsp:cNvSpPr/>
      </dsp:nvSpPr>
      <dsp:spPr>
        <a:xfrm>
          <a:off x="2696188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10,3B</a:t>
          </a:r>
        </a:p>
      </dsp:txBody>
      <dsp:txXfrm>
        <a:off x="2696188" y="0"/>
        <a:ext cx="2507184" cy="940174"/>
      </dsp:txXfrm>
    </dsp:sp>
    <dsp:sp modelId="{212315B0-941C-424E-9FB8-A723AE83E221}">
      <dsp:nvSpPr>
        <dsp:cNvPr id="0" name=""/>
        <dsp:cNvSpPr/>
      </dsp:nvSpPr>
      <dsp:spPr>
        <a:xfrm>
          <a:off x="2946906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Valeur du marché de la guitare en 2024</a:t>
          </a:r>
        </a:p>
      </dsp:txBody>
      <dsp:txXfrm>
        <a:off x="2989082" y="1280868"/>
        <a:ext cx="1921395" cy="1355654"/>
      </dsp:txXfrm>
    </dsp:sp>
    <dsp:sp modelId="{3D118472-EB36-44B0-9CAB-89E96EDD8635}">
      <dsp:nvSpPr>
        <dsp:cNvPr id="0" name=""/>
        <dsp:cNvSpPr/>
      </dsp:nvSpPr>
      <dsp:spPr>
        <a:xfrm>
          <a:off x="5391411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48%</a:t>
          </a:r>
        </a:p>
      </dsp:txBody>
      <dsp:txXfrm>
        <a:off x="5391411" y="0"/>
        <a:ext cx="2507184" cy="940174"/>
      </dsp:txXfrm>
    </dsp:sp>
    <dsp:sp modelId="{522A87F0-0F3E-418E-844F-50D37BC18AE4}">
      <dsp:nvSpPr>
        <dsp:cNvPr id="0" name=""/>
        <dsp:cNvSpPr/>
      </dsp:nvSpPr>
      <dsp:spPr>
        <a:xfrm>
          <a:off x="5642130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Part de marché des guitares électriques </a:t>
          </a:r>
        </a:p>
      </dsp:txBody>
      <dsp:txXfrm>
        <a:off x="5684306" y="1280868"/>
        <a:ext cx="1921395" cy="135565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7B121FE-B513-4273-8542-483E825BE23A}">
      <dsp:nvSpPr>
        <dsp:cNvPr id="0" name=""/>
        <dsp:cNvSpPr/>
      </dsp:nvSpPr>
      <dsp:spPr>
        <a:xfrm>
          <a:off x="2067" y="0"/>
          <a:ext cx="2955431" cy="472237"/>
        </a:xfrm>
        <a:prstGeom prst="homePlat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32004" rIns="16002" bIns="3200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Filtrage électrique interne </a:t>
          </a:r>
        </a:p>
      </dsp:txBody>
      <dsp:txXfrm>
        <a:off x="2067" y="0"/>
        <a:ext cx="2837372" cy="472237"/>
      </dsp:txXfrm>
    </dsp:sp>
    <dsp:sp modelId="{1C5D07C3-19A8-4A2B-ADAD-760FB67323AE}">
      <dsp:nvSpPr>
        <dsp:cNvPr id="0" name=""/>
        <dsp:cNvSpPr/>
      </dsp:nvSpPr>
      <dsp:spPr>
        <a:xfrm>
          <a:off x="2306766" y="0"/>
          <a:ext cx="2784809" cy="472237"/>
        </a:xfrm>
        <a:prstGeom prst="chevron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006" tIns="32004" rIns="16002" bIns="3200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Induction et </a:t>
          </a: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filtrage spatial</a:t>
          </a:r>
        </a:p>
      </dsp:txBody>
      <dsp:txXfrm>
        <a:off x="2542885" y="0"/>
        <a:ext cx="2312572" cy="472237"/>
      </dsp:txXfrm>
    </dsp:sp>
    <dsp:sp modelId="{EDB0DA63-DB1A-4CF7-9C2D-141473F1AEC3}">
      <dsp:nvSpPr>
        <dsp:cNvPr id="0" name=""/>
        <dsp:cNvSpPr/>
      </dsp:nvSpPr>
      <dsp:spPr>
        <a:xfrm>
          <a:off x="4440842" y="0"/>
          <a:ext cx="2519993" cy="472237"/>
        </a:xfrm>
        <a:prstGeom prst="chevron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006" tIns="32004" rIns="16002" bIns="3200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Reduction du « Hum »</a:t>
          </a:r>
        </a:p>
      </dsp:txBody>
      <dsp:txXfrm>
        <a:off x="4676961" y="0"/>
        <a:ext cx="2047756" cy="47223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Process2">
  <dgm:title val=""/>
  <dgm:desc val=""/>
  <dgm:catLst>
    <dgm:cat type="list" pri="10000"/>
    <dgm:cat type="relationship" pri="13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h"/>
      <dgm:constr type="w" for="ch" forName="aSpace" refType="w" fact="0.075"/>
      <dgm:constr type="h" for="des" forName="aSpace2" refType="h" fact="0.1"/>
      <dgm:constr type="primFontSz" for="des" forName="textNode" op="equ"/>
      <dgm:constr type="primFontSz" for="des" forName="childNode" op="equ"/>
    </dgm:constrLst>
    <dgm:ruleLst/>
    <dgm:forEach name="aNode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onstrLst>
          <dgm:constr type="w" for="ch" forName="aNode" refType="w"/>
          <dgm:constr type="h" for="ch" forName="aNode" refType="h"/>
          <dgm:constr type="w" for="ch" forName="textNode" refType="w"/>
          <dgm:constr type="h" for="ch" forName="textNode" refType="h" fact="0.3"/>
          <dgm:constr type="ctrX" for="ch" forName="textNode" refType="w" fact="0.5"/>
          <dgm:constr type="w" for="ch" forName="compChildNode" refType="w" fact="0.8"/>
          <dgm:constr type="h" for="ch" forName="compChildNode" refType="h" fact="0.65"/>
          <dgm:constr type="t" for="ch" forName="compChildNode" refType="h" fact="0.3"/>
          <dgm:constr type="ctrX" for="ch" forName="compChildNode" refType="w" fact="0.5"/>
        </dgm:constrLst>
        <dgm:ruleLst/>
        <dgm:layoutNode name="aNode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/>
          <dgm:ruleLst/>
        </dgm:layoutNode>
        <dgm:layoutNode name="textNode" styleLbl="bgShp">
          <dgm:alg type="tx"/>
          <dgm:shape xmlns:r="http://schemas.openxmlformats.org/officeDocument/2006/relationships" type="rect" r:blip="" hideGeom="1">
            <dgm:adjLst>
              <dgm:adj idx="1" val="0.1"/>
            </dgm:adjLst>
          </dgm:shape>
          <dgm:presOf axis="self"/>
          <dgm:constrLst>
            <dgm:constr type="primFontSz" val="65"/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compChildNode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des" forName="childNode" refType="w"/>
            <dgm:constr type="h" for="des" forName="childNode" refType="h"/>
          </dgm:constrLst>
          <dgm:ruleLst/>
          <dgm:layoutNode name="theInnerList">
            <dgm:alg type="lin"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childNodeForEach" axis="ch" ptType="node">
              <dgm:layoutNode name="childNode" styleLbl="node1">
                <dgm:varLst>
                  <dgm:bulletEnabled val="1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desOrSelf" ptType="node"/>
                <dgm:constrLst>
                  <dgm:constr type="primFontSz" val="65"/>
                  <dgm:constr type="tMarg" refType="primFontSz" fact="0.15"/>
                  <dgm:constr type="bMarg" refType="primFontSz" fact="0.15"/>
                  <dgm:constr type="lMarg" refType="primFontSz" fact="0.2"/>
                  <dgm:constr type="rMarg" refType="primFontSz" fact="0.2"/>
                </dgm:constrLst>
                <dgm:ruleLst>
                  <dgm:rule type="primFontSz" val="5" fact="NaN" max="NaN"/>
                </dgm:ruleLst>
              </dgm:layoutNode>
              <dgm:choose name="Name3">
                <dgm:if name="Name4" axis="self" ptType="node" func="revPos" op="equ" val="1"/>
                <dgm:else name="Name5">
                  <dgm:layoutNode name="aSpace2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else>
              </dgm:choose>
            </dgm:forEach>
          </dgm:layoutNode>
        </dgm:layoutNode>
      </dgm:layoutNode>
      <dgm:choose name="Name6">
        <dgm:if name="Name7" axis="self" ptType="node" func="revPos" op="equ" val="1"/>
        <dgm:else name="Name8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E8646E-8D3C-430C-BFA9-96BAF70313EA}" type="datetimeFigureOut">
              <a:rPr lang="fr-FR" smtClean="0"/>
              <a:t>28/02/2026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29F9D8-59C4-4910-A7AD-28D3BB517C7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15894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25472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C9924-4D85-1D24-FD57-C1C57323A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17FBF6-954E-174E-9BA2-B4BC50FE7E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18284A-A707-148D-40DD-E5BD26968F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F576E1-6CD1-CD7C-AB4C-E63A4F6CF5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51495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376C9-2125-A9B2-8374-6EE283455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6BEBB7-C6A9-F035-C798-5E939F3A41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D1DC4-D857-6ABF-3DDC-E4E7A09225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1B737E-2622-AA4F-316B-3548DE8623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726285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D5DC8-F1D2-F48F-5144-29C93AD3F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93ED31-35E2-A213-E2DC-4297676221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80960C-93AA-3EA5-8A9A-E9404EC97A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EC1EA0-8E19-54B2-AF8F-8662106079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00956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4CAD4-74B0-AD25-628B-A01AFCF67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21E0B2-521A-74D5-BB87-77F192FB9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6AAADF-DC80-862D-F7A6-6B07230518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521F43-A5FD-B912-0695-43FD6CB9CF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456303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FF5D8-B5ED-3A5C-25AA-355EA5002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BB50A7-9125-FF61-C35A-0BAAB77874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5A70C6-EF27-F3BA-F99C-2D1A0396CC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95F1CD-8CD2-A36F-E4D6-6DC1E0CE9B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511832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16DDB-317F-D464-2542-AEDEF16FD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71CD9F-57CF-03E9-A6FD-63617BD822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A48DBA-CDA0-31BF-0645-F424C7AC9C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640B3F-91D1-FE31-E864-73EC993D1F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350794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5F695-4E49-870A-29E7-C511751B6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D64BC5-1BB3-FFE7-EC85-E200E94427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5F961D-1039-9AE2-52D5-0A1669232B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210549-939F-B010-DB99-3739C13F25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969067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2019F-F1BE-DF3B-F82C-86311F357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55589B-1B2F-16CC-DC16-050AEDD56B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4C7721-ADC3-F0EE-59B5-95C24C2971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8639B4-DC19-F263-1927-B1E1323D53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207120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1A336-7D3A-EAE6-9F30-4197D11A6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056105-101D-4ABB-45A9-D39435CADC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8C566F-8BBA-5FAB-C7D8-8B782678D9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6955B-7625-293A-C6C0-9FA48F69C6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03525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1 : Equation de mouvement de la corde</a:t>
            </a:r>
          </a:p>
          <a:p>
            <a:r>
              <a:rPr lang="fr-FR" dirty="0"/>
              <a:t>2 : Idée Maquette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356196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31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4188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758952"/>
            <a:ext cx="75438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4455621"/>
            <a:ext cx="75438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9688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2248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758952"/>
            <a:ext cx="75438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4453128"/>
            <a:ext cx="75438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0018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845734"/>
            <a:ext cx="370332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845736"/>
            <a:ext cx="370332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9728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7571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3231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1095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594359"/>
            <a:ext cx="24003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0237" y="731520"/>
            <a:ext cx="5009393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926080"/>
            <a:ext cx="24003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6459786"/>
            <a:ext cx="1963883" cy="365125"/>
          </a:xfrm>
        </p:spPr>
        <p:txBody>
          <a:bodyPr/>
          <a:lstStyle>
            <a:lvl1pPr algn="l">
              <a:defRPr/>
            </a:lvl1pPr>
          </a:lstStyle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6459786"/>
            <a:ext cx="348615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4298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9141619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12" y="491507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074920"/>
            <a:ext cx="7589520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59" y="5907024"/>
            <a:ext cx="7589520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55730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13228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14779"/>
            <a:ext cx="1971675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414779"/>
            <a:ext cx="5800725" cy="5757420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5225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9144001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5"/>
            <a:ext cx="9144001" cy="65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59" y="1845734"/>
            <a:ext cx="7543801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6459786"/>
            <a:ext cx="1854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6459786"/>
            <a:ext cx="36171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6459786"/>
            <a:ext cx="984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737845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7912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svg"/><Relationship Id="rId3" Type="http://schemas.openxmlformats.org/officeDocument/2006/relationships/diagramLayout" Target="../diagrams/layout1.xml"/><Relationship Id="rId7" Type="http://schemas.openxmlformats.org/officeDocument/2006/relationships/image" Target="../media/image3.png"/><Relationship Id="rId12" Type="http://schemas.openxmlformats.org/officeDocument/2006/relationships/image" Target="../media/image8.sv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11" Type="http://schemas.openxmlformats.org/officeDocument/2006/relationships/image" Target="../media/image7.png"/><Relationship Id="rId5" Type="http://schemas.openxmlformats.org/officeDocument/2006/relationships/diagramColors" Target="../diagrams/colors1.xml"/><Relationship Id="rId10" Type="http://schemas.openxmlformats.org/officeDocument/2006/relationships/image" Target="../media/image6.sv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microsoft.com/office/2007/relationships/hdphoto" Target="../media/hdphoto1.wdp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2.xml"/><Relationship Id="rId3" Type="http://schemas.openxmlformats.org/officeDocument/2006/relationships/image" Target="../media/image15.png"/><Relationship Id="rId7" Type="http://schemas.openxmlformats.org/officeDocument/2006/relationships/diagramQuickStyle" Target="../diagrams/quickStyle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2.xml"/><Relationship Id="rId5" Type="http://schemas.openxmlformats.org/officeDocument/2006/relationships/diagramData" Target="../diagrams/data2.xml"/><Relationship Id="rId4" Type="http://schemas.openxmlformats.org/officeDocument/2006/relationships/image" Target="../media/image16.png"/><Relationship Id="rId9" Type="http://schemas.microsoft.com/office/2007/relationships/diagramDrawing" Target="../diagrams/drawing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7" Type="http://schemas.openxmlformats.org/officeDocument/2006/relationships/image" Target="../media/image25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1.png"/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microsoft.com/office/2007/relationships/hdphoto" Target="../media/hdphoto2.wdp"/><Relationship Id="rId5" Type="http://schemas.openxmlformats.org/officeDocument/2006/relationships/image" Target="../media/image28.png"/><Relationship Id="rId10" Type="http://schemas.openxmlformats.org/officeDocument/2006/relationships/image" Target="../media/image30.png"/><Relationship Id="rId4" Type="http://schemas.openxmlformats.org/officeDocument/2006/relationships/image" Target="../media/image27.png"/><Relationship Id="rId9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microsoft.com/office/2007/relationships/hdphoto" Target="../media/hdphoto3.wdp"/><Relationship Id="rId4" Type="http://schemas.openxmlformats.org/officeDocument/2006/relationships/image" Target="../media/image3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microsoft.com/office/2007/relationships/hdphoto" Target="../media/hdphoto4.wdp"/><Relationship Id="rId7" Type="http://schemas.openxmlformats.org/officeDocument/2006/relationships/image" Target="../media/image39.png"/><Relationship Id="rId12" Type="http://schemas.openxmlformats.org/officeDocument/2006/relationships/image" Target="../media/image4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11" Type="http://schemas.openxmlformats.org/officeDocument/2006/relationships/image" Target="../media/image16.png"/><Relationship Id="rId5" Type="http://schemas.openxmlformats.org/officeDocument/2006/relationships/image" Target="../media/image37.png"/><Relationship Id="rId10" Type="http://schemas.openxmlformats.org/officeDocument/2006/relationships/image" Target="../media/image15.png"/><Relationship Id="rId4" Type="http://schemas.openxmlformats.org/officeDocument/2006/relationships/image" Target="../media/image36.png"/><Relationship Id="rId9" Type="http://schemas.openxmlformats.org/officeDocument/2006/relationships/image" Target="../media/image41.png"/><Relationship Id="rId14" Type="http://schemas.openxmlformats.org/officeDocument/2006/relationships/image" Target="../media/image43.jpeg"/></Relationships>
</file>

<file path=ppt/slides/_rels/slide13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30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51.png"/><Relationship Id="rId10" Type="http://schemas.openxmlformats.org/officeDocument/2006/relationships/image" Target="../media/image53.png"/><Relationship Id="rId4" Type="http://schemas.openxmlformats.org/officeDocument/2006/relationships/image" Target="../media/image43.jpeg"/><Relationship Id="rId9" Type="http://schemas.openxmlformats.org/officeDocument/2006/relationships/image" Target="../media/image28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0.png"/><Relationship Id="rId5" Type="http://schemas.openxmlformats.org/officeDocument/2006/relationships/image" Target="../media/image220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0.png"/><Relationship Id="rId7" Type="http://schemas.openxmlformats.org/officeDocument/2006/relationships/image" Target="../media/image48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Relationship Id="rId11" Type="http://schemas.microsoft.com/office/2007/relationships/hdphoto" Target="../media/hdphoto6.wdp"/><Relationship Id="rId10" Type="http://schemas.openxmlformats.org/officeDocument/2006/relationships/image" Target="../media/image52.png"/><Relationship Id="rId4" Type="http://schemas.microsoft.com/office/2007/relationships/hdphoto" Target="../media/hdphoto5.wdp"/><Relationship Id="rId9" Type="http://schemas.openxmlformats.org/officeDocument/2006/relationships/image" Target="../media/image6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13" Type="http://schemas.openxmlformats.org/officeDocument/2006/relationships/image" Target="../media/image63.png"/><Relationship Id="rId18" Type="http://schemas.openxmlformats.org/officeDocument/2006/relationships/image" Target="../media/image43.jpeg"/><Relationship Id="rId3" Type="http://schemas.openxmlformats.org/officeDocument/2006/relationships/image" Target="../media/image54.png"/><Relationship Id="rId7" Type="http://schemas.openxmlformats.org/officeDocument/2006/relationships/image" Target="../media/image57.png"/><Relationship Id="rId12" Type="http://schemas.openxmlformats.org/officeDocument/2006/relationships/image" Target="../media/image62.svg"/><Relationship Id="rId17" Type="http://schemas.openxmlformats.org/officeDocument/2006/relationships/image" Target="../media/image65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630.png"/><Relationship Id="rId1" Type="http://schemas.openxmlformats.org/officeDocument/2006/relationships/slideLayout" Target="../slideLayouts/slideLayout1.xml"/><Relationship Id="rId11" Type="http://schemas.openxmlformats.org/officeDocument/2006/relationships/image" Target="../media/image61.png"/><Relationship Id="rId5" Type="http://schemas.openxmlformats.org/officeDocument/2006/relationships/image" Target="../media/image56.png"/><Relationship Id="rId15" Type="http://schemas.openxmlformats.org/officeDocument/2006/relationships/image" Target="../media/image620.png"/><Relationship Id="rId10" Type="http://schemas.openxmlformats.org/officeDocument/2006/relationships/image" Target="../media/image60.png"/><Relationship Id="rId4" Type="http://schemas.openxmlformats.org/officeDocument/2006/relationships/image" Target="../media/image55.png"/><Relationship Id="rId9" Type="http://schemas.openxmlformats.org/officeDocument/2006/relationships/image" Target="../media/image59.png"/><Relationship Id="rId14" Type="http://schemas.openxmlformats.org/officeDocument/2006/relationships/image" Target="../media/image64.sv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13" Type="http://schemas.openxmlformats.org/officeDocument/2006/relationships/image" Target="../media/image690.png"/><Relationship Id="rId7" Type="http://schemas.openxmlformats.org/officeDocument/2006/relationships/image" Target="../media/image22.png"/><Relationship Id="rId12" Type="http://schemas.openxmlformats.org/officeDocument/2006/relationships/image" Target="../media/image6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microsoft.com/office/2007/relationships/hdphoto" Target="../media/hdphoto7.wdp"/><Relationship Id="rId11" Type="http://schemas.openxmlformats.org/officeDocument/2006/relationships/image" Target="../media/image80.png"/><Relationship Id="rId5" Type="http://schemas.openxmlformats.org/officeDocument/2006/relationships/image" Target="../media/image68.png"/><Relationship Id="rId10" Type="http://schemas.openxmlformats.org/officeDocument/2006/relationships/image" Target="../media/image79.png"/><Relationship Id="rId4" Type="http://schemas.openxmlformats.org/officeDocument/2006/relationships/image" Target="../media/image77.png"/><Relationship Id="rId9" Type="http://schemas.microsoft.com/office/2007/relationships/hdphoto" Target="../media/hdphoto1.wdp"/><Relationship Id="rId14" Type="http://schemas.openxmlformats.org/officeDocument/2006/relationships/image" Target="../media/image43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820.png"/><Relationship Id="rId18" Type="http://schemas.openxmlformats.org/officeDocument/2006/relationships/image" Target="../media/image48.png"/><Relationship Id="rId3" Type="http://schemas.openxmlformats.org/officeDocument/2006/relationships/image" Target="../media/image71.png"/><Relationship Id="rId12" Type="http://schemas.openxmlformats.org/officeDocument/2006/relationships/image" Target="../media/image84.png"/><Relationship Id="rId17" Type="http://schemas.openxmlformats.org/officeDocument/2006/relationships/image" Target="../media/image73.png"/><Relationship Id="rId2" Type="http://schemas.openxmlformats.org/officeDocument/2006/relationships/image" Target="../media/image70.png"/><Relationship Id="rId16" Type="http://schemas.openxmlformats.org/officeDocument/2006/relationships/image" Target="../media/image53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2.png"/><Relationship Id="rId11" Type="http://schemas.openxmlformats.org/officeDocument/2006/relationships/image" Target="../media/image81.png"/><Relationship Id="rId5" Type="http://schemas.microsoft.com/office/2007/relationships/hdphoto" Target="../media/hdphoto1.wdp"/><Relationship Id="rId15" Type="http://schemas.openxmlformats.org/officeDocument/2006/relationships/image" Target="../media/image520.png"/><Relationship Id="rId10" Type="http://schemas.openxmlformats.org/officeDocument/2006/relationships/image" Target="../media/image790.png"/><Relationship Id="rId4" Type="http://schemas.openxmlformats.org/officeDocument/2006/relationships/image" Target="../media/image18.png"/><Relationship Id="rId9" Type="http://schemas.openxmlformats.org/officeDocument/2006/relationships/image" Target="../media/image780.png"/><Relationship Id="rId14" Type="http://schemas.openxmlformats.org/officeDocument/2006/relationships/image" Target="../media/image830.png"/></Relationships>
</file>

<file path=ppt/slides/_rels/slide21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6.jpeg"/><Relationship Id="rId5" Type="http://schemas.openxmlformats.org/officeDocument/2006/relationships/image" Target="../media/image750.png"/><Relationship Id="rId4" Type="http://schemas.openxmlformats.org/officeDocument/2006/relationships/image" Target="../media/image75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3" Type="http://schemas.openxmlformats.org/officeDocument/2006/relationships/image" Target="../media/image43.jpeg"/><Relationship Id="rId7" Type="http://schemas.openxmlformats.org/officeDocument/2006/relationships/image" Target="../media/image83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11" Type="http://schemas.openxmlformats.org/officeDocument/2006/relationships/image" Target="../media/image87.png"/><Relationship Id="rId5" Type="http://schemas.openxmlformats.org/officeDocument/2006/relationships/image" Target="../media/image82.png"/><Relationship Id="rId10" Type="http://schemas.openxmlformats.org/officeDocument/2006/relationships/image" Target="../media/image86.png"/><Relationship Id="rId4" Type="http://schemas.openxmlformats.org/officeDocument/2006/relationships/image" Target="../media/image78.png"/><Relationship Id="rId9" Type="http://schemas.openxmlformats.org/officeDocument/2006/relationships/image" Target="../media/image62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5.png"/><Relationship Id="rId5" Type="http://schemas.openxmlformats.org/officeDocument/2006/relationships/image" Target="../media/image85.png"/><Relationship Id="rId4" Type="http://schemas.openxmlformats.org/officeDocument/2006/relationships/image" Target="../media/image8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3.png"/><Relationship Id="rId4" Type="http://schemas.openxmlformats.org/officeDocument/2006/relationships/image" Target="../media/image88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svg"/><Relationship Id="rId3" Type="http://schemas.openxmlformats.org/officeDocument/2006/relationships/image" Target="../media/image16.png"/><Relationship Id="rId7" Type="http://schemas.openxmlformats.org/officeDocument/2006/relationships/image" Target="../media/image6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2.svg"/><Relationship Id="rId5" Type="http://schemas.openxmlformats.org/officeDocument/2006/relationships/image" Target="../media/image61.png"/><Relationship Id="rId4" Type="http://schemas.openxmlformats.org/officeDocument/2006/relationships/image" Target="../media/image15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eymourduncan.com/blog/latest-updates/seymour-w-duncans-interview-with-seth-lover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0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3.png"/><Relationship Id="rId4" Type="http://schemas.openxmlformats.org/officeDocument/2006/relationships/image" Target="../media/image92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3" Type="http://schemas.openxmlformats.org/officeDocument/2006/relationships/image" Target="../media/image930.png"/><Relationship Id="rId7" Type="http://schemas.openxmlformats.org/officeDocument/2006/relationships/image" Target="../media/image300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9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8.png"/><Relationship Id="rId4" Type="http://schemas.openxmlformats.org/officeDocument/2006/relationships/image" Target="../media/image96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5.png"/><Relationship Id="rId3" Type="http://schemas.openxmlformats.org/officeDocument/2006/relationships/image" Target="../media/image99.png"/><Relationship Id="rId7" Type="http://schemas.openxmlformats.org/officeDocument/2006/relationships/image" Target="../media/image114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3.png"/><Relationship Id="rId5" Type="http://schemas.openxmlformats.org/officeDocument/2006/relationships/image" Target="../media/image103.png"/><Relationship Id="rId10" Type="http://schemas.openxmlformats.org/officeDocument/2006/relationships/image" Target="../media/image117.png"/><Relationship Id="rId4" Type="http://schemas.openxmlformats.org/officeDocument/2006/relationships/image" Target="../media/image111.png"/><Relationship Id="rId9" Type="http://schemas.openxmlformats.org/officeDocument/2006/relationships/image" Target="../media/image11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microsoft.com/office/2007/relationships/hdphoto" Target="../media/hdphoto9.wdp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jpe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microsoft.com/office/2007/relationships/hdphoto" Target="../media/hdphoto10.wdp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8.png"/><Relationship Id="rId5" Type="http://schemas.microsoft.com/office/2007/relationships/hdphoto" Target="../media/hdphoto11.wdp"/><Relationship Id="rId4" Type="http://schemas.openxmlformats.org/officeDocument/2006/relationships/image" Target="../media/image10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8A121F9-7273-1CF4-F60D-E01BEEB3AF96}"/>
              </a:ext>
            </a:extLst>
          </p:cNvPr>
          <p:cNvSpPr/>
          <p:nvPr/>
        </p:nvSpPr>
        <p:spPr>
          <a:xfrm>
            <a:off x="628649" y="262383"/>
            <a:ext cx="7886701" cy="775252"/>
          </a:xfrm>
          <a:prstGeom prst="rect">
            <a:avLst/>
          </a:prstGeom>
          <a:ln w="381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400" dirty="0">
                <a:latin typeface="Arial Black" panose="020B0A04020102020204" pitchFamily="34" charset="0"/>
              </a:rPr>
              <a:t>Guitare électrique : Étude  de l’influence du type de bobinage dans le micro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5CA91E38-0C9E-C7FB-9A24-FA98AC9C8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z="1050" b="1" dirty="0"/>
              <a:t>2026</a:t>
            </a:r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1FCC0EF-4B1B-F41C-656B-2BE699CDE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305C624-2E1B-C39E-B3B4-807FF6A6B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</a:t>
            </a:fld>
            <a:endParaRPr lang="fr-FR" b="1" dirty="0"/>
          </a:p>
        </p:txBody>
      </p:sp>
      <p:pic>
        <p:nvPicPr>
          <p:cNvPr id="1026" name="Picture 2" descr="Guitare, La Musique, Guitare Électrique">
            <a:extLst>
              <a:ext uri="{FF2B5EF4-FFF2-40B4-BE49-F238E27FC236}">
                <a16:creationId xmlns:a16="http://schemas.microsoft.com/office/drawing/2014/main" id="{0098F414-3793-7E07-8CE1-A5A56D7C25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01" b="423"/>
          <a:stretch>
            <a:fillRect/>
          </a:stretch>
        </p:blipFill>
        <p:spPr bwMode="auto">
          <a:xfrm>
            <a:off x="628662" y="1210868"/>
            <a:ext cx="7886688" cy="4824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7878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66559-264F-60FB-1D37-320CA1D94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C1EE70EB-793F-4DE4-5CD3-06C1970A54E3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06D130B-046F-5180-5387-DB486A265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dirty="0"/>
              <a:t>2026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001B0276-EFF9-456D-E1E7-4ED3C710D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</a:t>
            </a:fld>
            <a:endParaRPr lang="fr-FR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97DB1DB-6877-AD95-7BFA-723F07652E4D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03F7BFC6-A0BB-58CB-0A26-507B2DF051F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Footer Placeholder 2">
              <a:extLst>
                <a:ext uri="{FF2B5EF4-FFF2-40B4-BE49-F238E27FC236}">
                  <a16:creationId xmlns:a16="http://schemas.microsoft.com/office/drawing/2014/main" id="{C41DAE65-9B17-4A9F-2325-941B2D69EBC1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403404F2-95E1-6C3C-2AC8-4C3EA8AF8028}"/>
              </a:ext>
            </a:extLst>
          </p:cNvPr>
          <p:cNvSpPr/>
          <p:nvPr/>
        </p:nvSpPr>
        <p:spPr>
          <a:xfrm>
            <a:off x="622219" y="50899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13" name="Diagram 12">
            <a:extLst>
              <a:ext uri="{FF2B5EF4-FFF2-40B4-BE49-F238E27FC236}">
                <a16:creationId xmlns:a16="http://schemas.microsoft.com/office/drawing/2014/main" id="{67685325-6DB0-D00D-F7AE-FBD7499B9A9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50177681"/>
              </p:ext>
            </p:extLst>
          </p:nvPr>
        </p:nvGraphicFramePr>
        <p:xfrm>
          <a:off x="622219" y="1557243"/>
          <a:ext cx="7899561" cy="31339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5" name="Graphic 14" descr="Bank with solid fill">
            <a:extLst>
              <a:ext uri="{FF2B5EF4-FFF2-40B4-BE49-F238E27FC236}">
                <a16:creationId xmlns:a16="http://schemas.microsoft.com/office/drawing/2014/main" id="{0A05600E-BBED-713B-0765-F9FC4C8B4F5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11043" y="4687846"/>
            <a:ext cx="914400" cy="914400"/>
          </a:xfrm>
          <a:prstGeom prst="rect">
            <a:avLst/>
          </a:prstGeom>
        </p:spPr>
      </p:pic>
      <p:pic>
        <p:nvPicPr>
          <p:cNvPr id="19" name="Graphic 18" descr="Earth globe: Africa and Europe with solid fill">
            <a:extLst>
              <a:ext uri="{FF2B5EF4-FFF2-40B4-BE49-F238E27FC236}">
                <a16:creationId xmlns:a16="http://schemas.microsoft.com/office/drawing/2014/main" id="{18E70CB9-42FE-B71F-A1C8-24CE93E3324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76203" y="4735221"/>
            <a:ext cx="914400" cy="914400"/>
          </a:xfrm>
          <a:prstGeom prst="rect">
            <a:avLst/>
          </a:prstGeom>
        </p:spPr>
      </p:pic>
      <p:pic>
        <p:nvPicPr>
          <p:cNvPr id="21" name="Graphic 20" descr="Music note with solid fill">
            <a:extLst>
              <a:ext uri="{FF2B5EF4-FFF2-40B4-BE49-F238E27FC236}">
                <a16:creationId xmlns:a16="http://schemas.microsoft.com/office/drawing/2014/main" id="{84DFF8B1-F884-2B2A-7E80-9BC9C2825C2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853397" y="4729977"/>
            <a:ext cx="914400" cy="9144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7C7AD5E-8D0B-A100-8BC7-8968AFC40EF4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[1]</a:t>
            </a:r>
          </a:p>
        </p:txBody>
      </p:sp>
      <p:sp>
        <p:nvSpPr>
          <p:cNvPr id="11" name="Footer Placeholder 2">
            <a:extLst>
              <a:ext uri="{FF2B5EF4-FFF2-40B4-BE49-F238E27FC236}">
                <a16:creationId xmlns:a16="http://schemas.microsoft.com/office/drawing/2014/main" id="{391B9131-EB23-2B12-2B61-FA9315644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2988565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604F0-B502-65BC-6A09-35CFB45E3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79BCC782-0D3B-CED9-60B9-795B1EBEEAEE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D6EDA89-9709-22F1-2CE0-CBAB49D28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370CCCFE-D2CF-F036-A6E9-C8D4FF0A6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3</a:t>
            </a:fld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46CF84F-B284-FFE6-89D6-BC064CAF24E5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8BD08EE-D283-DD4F-BD91-A527520D3F09}"/>
              </a:ext>
            </a:extLst>
          </p:cNvPr>
          <p:cNvGrpSpPr/>
          <p:nvPr/>
        </p:nvGrpSpPr>
        <p:grpSpPr>
          <a:xfrm>
            <a:off x="-136497" y="1186363"/>
            <a:ext cx="9223365" cy="3939301"/>
            <a:chOff x="-143123" y="1695451"/>
            <a:chExt cx="9223365" cy="389376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61AD59C-BE3D-5354-10F1-5FB60C9BA5F8}"/>
                </a:ext>
              </a:extLst>
            </p:cNvPr>
            <p:cNvGrpSpPr/>
            <p:nvPr/>
          </p:nvGrpSpPr>
          <p:grpSpPr>
            <a:xfrm>
              <a:off x="-143123" y="1695451"/>
              <a:ext cx="6901731" cy="3893765"/>
              <a:chOff x="1006751" y="1255937"/>
              <a:chExt cx="6952009" cy="3872654"/>
            </a:xfrm>
          </p:grpSpPr>
          <p:pic>
            <p:nvPicPr>
              <p:cNvPr id="16" name="Picture 15" descr="A black and white drawing of a speaker&#10;&#10;AI-generated content may be incorrect.">
                <a:extLst>
                  <a:ext uri="{FF2B5EF4-FFF2-40B4-BE49-F238E27FC236}">
                    <a16:creationId xmlns:a16="http://schemas.microsoft.com/office/drawing/2014/main" id="{8671EF1F-85A1-8978-42ED-6DC100D8EC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5915" t="5174" r="12970" b="6005"/>
              <a:stretch>
                <a:fillRect/>
              </a:stretch>
            </p:blipFill>
            <p:spPr>
              <a:xfrm>
                <a:off x="5339199" y="1663215"/>
                <a:ext cx="2619561" cy="2902226"/>
              </a:xfrm>
              <a:prstGeom prst="rect">
                <a:avLst/>
              </a:prstGeom>
            </p:spPr>
          </p:pic>
          <p:pic>
            <p:nvPicPr>
              <p:cNvPr id="1026" name="Picture 2" descr="Coloriage Guitare électrique normale - Dessin gratuit à imprimer">
                <a:extLst>
                  <a:ext uri="{FF2B5EF4-FFF2-40B4-BE49-F238E27FC236}">
                    <a16:creationId xmlns:a16="http://schemas.microsoft.com/office/drawing/2014/main" id="{CC805345-A78D-D399-DA6C-BFFD053F562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75" t="9659" r="3272" b="14511"/>
              <a:stretch>
                <a:fillRect/>
              </a:stretch>
            </p:blipFill>
            <p:spPr bwMode="auto">
              <a:xfrm rot="18368299">
                <a:off x="661136" y="1601552"/>
                <a:ext cx="3716782" cy="3025552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EE11A188-CC0E-DA89-77CB-1A851E9A6CC0}"/>
                  </a:ext>
                </a:extLst>
              </p:cNvPr>
              <p:cNvSpPr/>
              <p:nvPr/>
            </p:nvSpPr>
            <p:spPr>
              <a:xfrm>
                <a:off x="2687541" y="2252273"/>
                <a:ext cx="3045349" cy="2876318"/>
              </a:xfrm>
              <a:custGeom>
                <a:avLst/>
                <a:gdLst>
                  <a:gd name="csX0" fmla="*/ 0 w 3045349"/>
                  <a:gd name="csY0" fmla="*/ 2454899 h 2876318"/>
                  <a:gd name="csX1" fmla="*/ 31805 w 3045349"/>
                  <a:gd name="csY1" fmla="*/ 2494656 h 2876318"/>
                  <a:gd name="csX2" fmla="*/ 47708 w 3045349"/>
                  <a:gd name="csY2" fmla="*/ 2518510 h 2876318"/>
                  <a:gd name="csX3" fmla="*/ 71562 w 3045349"/>
                  <a:gd name="csY3" fmla="*/ 2526461 h 2876318"/>
                  <a:gd name="csX4" fmla="*/ 127221 w 3045349"/>
                  <a:gd name="csY4" fmla="*/ 2574169 h 2876318"/>
                  <a:gd name="csX5" fmla="*/ 206734 w 3045349"/>
                  <a:gd name="csY5" fmla="*/ 2637779 h 2876318"/>
                  <a:gd name="csX6" fmla="*/ 246490 w 3045349"/>
                  <a:gd name="csY6" fmla="*/ 2661633 h 2876318"/>
                  <a:gd name="csX7" fmla="*/ 278296 w 3045349"/>
                  <a:gd name="csY7" fmla="*/ 2677536 h 2876318"/>
                  <a:gd name="csX8" fmla="*/ 310101 w 3045349"/>
                  <a:gd name="csY8" fmla="*/ 2701390 h 2876318"/>
                  <a:gd name="csX9" fmla="*/ 373711 w 3045349"/>
                  <a:gd name="csY9" fmla="*/ 2733195 h 2876318"/>
                  <a:gd name="csX10" fmla="*/ 429370 w 3045349"/>
                  <a:gd name="csY10" fmla="*/ 2765000 h 2876318"/>
                  <a:gd name="csX11" fmla="*/ 532737 w 3045349"/>
                  <a:gd name="csY11" fmla="*/ 2804757 h 2876318"/>
                  <a:gd name="csX12" fmla="*/ 596348 w 3045349"/>
                  <a:gd name="csY12" fmla="*/ 2836562 h 2876318"/>
                  <a:gd name="csX13" fmla="*/ 659958 w 3045349"/>
                  <a:gd name="csY13" fmla="*/ 2852464 h 2876318"/>
                  <a:gd name="csX14" fmla="*/ 914400 w 3045349"/>
                  <a:gd name="csY14" fmla="*/ 2876318 h 2876318"/>
                  <a:gd name="csX15" fmla="*/ 1121134 w 3045349"/>
                  <a:gd name="csY15" fmla="*/ 2852464 h 2876318"/>
                  <a:gd name="csX16" fmla="*/ 1288111 w 3045349"/>
                  <a:gd name="csY16" fmla="*/ 2780903 h 2876318"/>
                  <a:gd name="csX17" fmla="*/ 1431235 w 3045349"/>
                  <a:gd name="csY17" fmla="*/ 2709341 h 2876318"/>
                  <a:gd name="csX18" fmla="*/ 1478942 w 3045349"/>
                  <a:gd name="csY18" fmla="*/ 2661633 h 2876318"/>
                  <a:gd name="csX19" fmla="*/ 1630017 w 3045349"/>
                  <a:gd name="csY19" fmla="*/ 2470802 h 2876318"/>
                  <a:gd name="csX20" fmla="*/ 1733384 w 3045349"/>
                  <a:gd name="csY20" fmla="*/ 2208409 h 2876318"/>
                  <a:gd name="csX21" fmla="*/ 1733384 w 3045349"/>
                  <a:gd name="csY21" fmla="*/ 1946016 h 2876318"/>
                  <a:gd name="csX22" fmla="*/ 1709530 w 3045349"/>
                  <a:gd name="csY22" fmla="*/ 1858551 h 2876318"/>
                  <a:gd name="csX23" fmla="*/ 1661822 w 3045349"/>
                  <a:gd name="csY23" fmla="*/ 1715428 h 2876318"/>
                  <a:gd name="csX24" fmla="*/ 1614115 w 3045349"/>
                  <a:gd name="csY24" fmla="*/ 1556402 h 2876318"/>
                  <a:gd name="csX25" fmla="*/ 1534602 w 3045349"/>
                  <a:gd name="csY25" fmla="*/ 1413278 h 2876318"/>
                  <a:gd name="csX26" fmla="*/ 1502796 w 3045349"/>
                  <a:gd name="csY26" fmla="*/ 1349668 h 2876318"/>
                  <a:gd name="csX27" fmla="*/ 1399429 w 3045349"/>
                  <a:gd name="csY27" fmla="*/ 1166788 h 2876318"/>
                  <a:gd name="csX28" fmla="*/ 1351722 w 3045349"/>
                  <a:gd name="csY28" fmla="*/ 1023664 h 2876318"/>
                  <a:gd name="csX29" fmla="*/ 1327868 w 3045349"/>
                  <a:gd name="csY29" fmla="*/ 952103 h 2876318"/>
                  <a:gd name="csX30" fmla="*/ 1343770 w 3045349"/>
                  <a:gd name="csY30" fmla="*/ 673807 h 2876318"/>
                  <a:gd name="csX31" fmla="*/ 1367624 w 3045349"/>
                  <a:gd name="csY31" fmla="*/ 610197 h 2876318"/>
                  <a:gd name="csX32" fmla="*/ 1478942 w 3045349"/>
                  <a:gd name="csY32" fmla="*/ 475024 h 2876318"/>
                  <a:gd name="csX33" fmla="*/ 1526650 w 3045349"/>
                  <a:gd name="csY33" fmla="*/ 403463 h 2876318"/>
                  <a:gd name="csX34" fmla="*/ 1630017 w 3045349"/>
                  <a:gd name="csY34" fmla="*/ 315998 h 2876318"/>
                  <a:gd name="csX35" fmla="*/ 1693628 w 3045349"/>
                  <a:gd name="csY35" fmla="*/ 252388 h 2876318"/>
                  <a:gd name="csX36" fmla="*/ 1836751 w 3045349"/>
                  <a:gd name="csY36" fmla="*/ 164924 h 2876318"/>
                  <a:gd name="csX37" fmla="*/ 1948069 w 3045349"/>
                  <a:gd name="csY37" fmla="*/ 93362 h 2876318"/>
                  <a:gd name="csX38" fmla="*/ 2138901 w 3045349"/>
                  <a:gd name="csY38" fmla="*/ 45654 h 2876318"/>
                  <a:gd name="csX39" fmla="*/ 2337683 w 3045349"/>
                  <a:gd name="csY39" fmla="*/ 21800 h 2876318"/>
                  <a:gd name="csX40" fmla="*/ 2488758 w 3045349"/>
                  <a:gd name="csY40" fmla="*/ 13849 h 2876318"/>
                  <a:gd name="csX41" fmla="*/ 2862469 w 3045349"/>
                  <a:gd name="csY41" fmla="*/ 13849 h 2876318"/>
                  <a:gd name="csX42" fmla="*/ 2981739 w 3045349"/>
                  <a:gd name="csY42" fmla="*/ 45654 h 2876318"/>
                  <a:gd name="csX43" fmla="*/ 3045349 w 3045349"/>
                  <a:gd name="csY43" fmla="*/ 69508 h 28763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</a:cxnLst>
                <a:rect l="l" t="t" r="r" b="b"/>
                <a:pathLst>
                  <a:path w="3045349" h="2876318">
                    <a:moveTo>
                      <a:pt x="0" y="2454899"/>
                    </a:moveTo>
                    <a:cubicBezTo>
                      <a:pt x="10602" y="2468151"/>
                      <a:pt x="21622" y="2481079"/>
                      <a:pt x="31805" y="2494656"/>
                    </a:cubicBezTo>
                    <a:cubicBezTo>
                      <a:pt x="37539" y="2502301"/>
                      <a:pt x="40246" y="2512540"/>
                      <a:pt x="47708" y="2518510"/>
                    </a:cubicBezTo>
                    <a:cubicBezTo>
                      <a:pt x="54253" y="2523746"/>
                      <a:pt x="63611" y="2523811"/>
                      <a:pt x="71562" y="2526461"/>
                    </a:cubicBezTo>
                    <a:cubicBezTo>
                      <a:pt x="160673" y="2637849"/>
                      <a:pt x="61551" y="2528705"/>
                      <a:pt x="127221" y="2574169"/>
                    </a:cubicBezTo>
                    <a:cubicBezTo>
                      <a:pt x="155128" y="2593489"/>
                      <a:pt x="177629" y="2620316"/>
                      <a:pt x="206734" y="2637779"/>
                    </a:cubicBezTo>
                    <a:cubicBezTo>
                      <a:pt x="219986" y="2645730"/>
                      <a:pt x="232980" y="2654128"/>
                      <a:pt x="246490" y="2661633"/>
                    </a:cubicBezTo>
                    <a:cubicBezTo>
                      <a:pt x="256852" y="2667390"/>
                      <a:pt x="268244" y="2671254"/>
                      <a:pt x="278296" y="2677536"/>
                    </a:cubicBezTo>
                    <a:cubicBezTo>
                      <a:pt x="289534" y="2684560"/>
                      <a:pt x="298654" y="2694713"/>
                      <a:pt x="310101" y="2701390"/>
                    </a:cubicBezTo>
                    <a:cubicBezTo>
                      <a:pt x="330578" y="2713335"/>
                      <a:pt x="352794" y="2722039"/>
                      <a:pt x="373711" y="2733195"/>
                    </a:cubicBezTo>
                    <a:cubicBezTo>
                      <a:pt x="392565" y="2743251"/>
                      <a:pt x="409884" y="2756231"/>
                      <a:pt x="429370" y="2765000"/>
                    </a:cubicBezTo>
                    <a:cubicBezTo>
                      <a:pt x="463035" y="2780149"/>
                      <a:pt x="499718" y="2788248"/>
                      <a:pt x="532737" y="2804757"/>
                    </a:cubicBezTo>
                    <a:cubicBezTo>
                      <a:pt x="553941" y="2815359"/>
                      <a:pt x="574151" y="2828238"/>
                      <a:pt x="596348" y="2836562"/>
                    </a:cubicBezTo>
                    <a:cubicBezTo>
                      <a:pt x="616812" y="2844236"/>
                      <a:pt x="638488" y="2848375"/>
                      <a:pt x="659958" y="2852464"/>
                    </a:cubicBezTo>
                    <a:cubicBezTo>
                      <a:pt x="772459" y="2873893"/>
                      <a:pt x="787397" y="2869634"/>
                      <a:pt x="914400" y="2876318"/>
                    </a:cubicBezTo>
                    <a:cubicBezTo>
                      <a:pt x="983311" y="2868367"/>
                      <a:pt x="1052975" y="2865359"/>
                      <a:pt x="1121134" y="2852464"/>
                    </a:cubicBezTo>
                    <a:cubicBezTo>
                      <a:pt x="1180843" y="2841168"/>
                      <a:pt x="1233964" y="2805269"/>
                      <a:pt x="1288111" y="2780903"/>
                    </a:cubicBezTo>
                    <a:cubicBezTo>
                      <a:pt x="1358137" y="2749391"/>
                      <a:pt x="1372061" y="2755834"/>
                      <a:pt x="1431235" y="2709341"/>
                    </a:cubicBezTo>
                    <a:cubicBezTo>
                      <a:pt x="1448919" y="2695446"/>
                      <a:pt x="1463561" y="2678040"/>
                      <a:pt x="1478942" y="2661633"/>
                    </a:cubicBezTo>
                    <a:cubicBezTo>
                      <a:pt x="1534843" y="2602004"/>
                      <a:pt x="1588815" y="2542364"/>
                      <a:pt x="1630017" y="2470802"/>
                    </a:cubicBezTo>
                    <a:cubicBezTo>
                      <a:pt x="1699402" y="2350291"/>
                      <a:pt x="1699220" y="2327984"/>
                      <a:pt x="1733384" y="2208409"/>
                    </a:cubicBezTo>
                    <a:cubicBezTo>
                      <a:pt x="1742438" y="2099766"/>
                      <a:pt x="1749009" y="2071016"/>
                      <a:pt x="1733384" y="1946016"/>
                    </a:cubicBezTo>
                    <a:cubicBezTo>
                      <a:pt x="1729636" y="1916030"/>
                      <a:pt x="1716227" y="1888019"/>
                      <a:pt x="1709530" y="1858551"/>
                    </a:cubicBezTo>
                    <a:cubicBezTo>
                      <a:pt x="1681618" y="1735734"/>
                      <a:pt x="1714235" y="1807148"/>
                      <a:pt x="1661822" y="1715428"/>
                    </a:cubicBezTo>
                    <a:cubicBezTo>
                      <a:pt x="1654666" y="1689190"/>
                      <a:pt x="1628127" y="1585505"/>
                      <a:pt x="1614115" y="1556402"/>
                    </a:cubicBezTo>
                    <a:cubicBezTo>
                      <a:pt x="1590439" y="1507229"/>
                      <a:pt x="1559010" y="1462092"/>
                      <a:pt x="1534602" y="1413278"/>
                    </a:cubicBezTo>
                    <a:cubicBezTo>
                      <a:pt x="1524000" y="1392075"/>
                      <a:pt x="1514379" y="1370352"/>
                      <a:pt x="1502796" y="1349668"/>
                    </a:cubicBezTo>
                    <a:cubicBezTo>
                      <a:pt x="1455116" y="1264526"/>
                      <a:pt x="1432768" y="1239023"/>
                      <a:pt x="1399429" y="1166788"/>
                    </a:cubicBezTo>
                    <a:cubicBezTo>
                      <a:pt x="1363215" y="1088324"/>
                      <a:pt x="1381571" y="1123160"/>
                      <a:pt x="1351722" y="1023664"/>
                    </a:cubicBezTo>
                    <a:cubicBezTo>
                      <a:pt x="1344497" y="999580"/>
                      <a:pt x="1335819" y="975957"/>
                      <a:pt x="1327868" y="952103"/>
                    </a:cubicBezTo>
                    <a:cubicBezTo>
                      <a:pt x="1312766" y="831293"/>
                      <a:pt x="1311555" y="861726"/>
                      <a:pt x="1343770" y="673807"/>
                    </a:cubicBezTo>
                    <a:cubicBezTo>
                      <a:pt x="1347596" y="651487"/>
                      <a:pt x="1356626" y="629992"/>
                      <a:pt x="1367624" y="610197"/>
                    </a:cubicBezTo>
                    <a:cubicBezTo>
                      <a:pt x="1431450" y="495311"/>
                      <a:pt x="1405986" y="564816"/>
                      <a:pt x="1478942" y="475024"/>
                    </a:cubicBezTo>
                    <a:cubicBezTo>
                      <a:pt x="1497020" y="452774"/>
                      <a:pt x="1508572" y="425713"/>
                      <a:pt x="1526650" y="403463"/>
                    </a:cubicBezTo>
                    <a:cubicBezTo>
                      <a:pt x="1601764" y="311016"/>
                      <a:pt x="1556151" y="379312"/>
                      <a:pt x="1630017" y="315998"/>
                    </a:cubicBezTo>
                    <a:cubicBezTo>
                      <a:pt x="1652784" y="296483"/>
                      <a:pt x="1670481" y="271450"/>
                      <a:pt x="1693628" y="252388"/>
                    </a:cubicBezTo>
                    <a:cubicBezTo>
                      <a:pt x="1748930" y="206845"/>
                      <a:pt x="1777215" y="202134"/>
                      <a:pt x="1836751" y="164924"/>
                    </a:cubicBezTo>
                    <a:cubicBezTo>
                      <a:pt x="1880106" y="137827"/>
                      <a:pt x="1900442" y="112973"/>
                      <a:pt x="1948069" y="93362"/>
                    </a:cubicBezTo>
                    <a:cubicBezTo>
                      <a:pt x="1991495" y="75481"/>
                      <a:pt x="2099863" y="52160"/>
                      <a:pt x="2138901" y="45654"/>
                    </a:cubicBezTo>
                    <a:cubicBezTo>
                      <a:pt x="2139259" y="45594"/>
                      <a:pt x="2308265" y="23901"/>
                      <a:pt x="2337683" y="21800"/>
                    </a:cubicBezTo>
                    <a:cubicBezTo>
                      <a:pt x="2387983" y="18207"/>
                      <a:pt x="2438400" y="16499"/>
                      <a:pt x="2488758" y="13849"/>
                    </a:cubicBezTo>
                    <a:cubicBezTo>
                      <a:pt x="2634733" y="-2372"/>
                      <a:pt x="2644304" y="-6733"/>
                      <a:pt x="2862469" y="13849"/>
                    </a:cubicBezTo>
                    <a:cubicBezTo>
                      <a:pt x="2903433" y="17714"/>
                      <a:pt x="2942705" y="32642"/>
                      <a:pt x="2981739" y="45654"/>
                    </a:cubicBezTo>
                    <a:cubicBezTo>
                      <a:pt x="3035069" y="63431"/>
                      <a:pt x="3014454" y="54060"/>
                      <a:pt x="3045349" y="69508"/>
                    </a:cubicBezTo>
                  </a:path>
                </a:pathLst>
              </a:custGeom>
              <a:ln w="101600"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pic>
          <p:nvPicPr>
            <p:cNvPr id="31" name="Picture 8" descr="Sound PNG Transparent Images">
              <a:extLst>
                <a:ext uri="{FF2B5EF4-FFF2-40B4-BE49-F238E27FC236}">
                  <a16:creationId xmlns:a16="http://schemas.microsoft.com/office/drawing/2014/main" id="{C5A23D53-5DDB-D416-A41A-F727728A50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54464" y="2449034"/>
              <a:ext cx="2325778" cy="23257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27FF2A-9CB1-1AF7-C7B2-1DA1B28400B9}"/>
              </a:ext>
            </a:extLst>
          </p:cNvPr>
          <p:cNvGrpSpPr/>
          <p:nvPr/>
        </p:nvGrpSpPr>
        <p:grpSpPr>
          <a:xfrm>
            <a:off x="385745" y="5434033"/>
            <a:ext cx="8293184" cy="739359"/>
            <a:chOff x="385745" y="5494993"/>
            <a:chExt cx="8293184" cy="739359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24A1EF4-71C5-AFEC-F51C-54253E6418D7}"/>
                </a:ext>
              </a:extLst>
            </p:cNvPr>
            <p:cNvGrpSpPr/>
            <p:nvPr/>
          </p:nvGrpSpPr>
          <p:grpSpPr>
            <a:xfrm>
              <a:off x="385745" y="5495226"/>
              <a:ext cx="8293184" cy="739126"/>
              <a:chOff x="385745" y="5495226"/>
              <a:chExt cx="8293184" cy="739126"/>
            </a:xfrm>
          </p:grpSpPr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44F9E293-216E-15DD-4F6F-A29FF3E6E519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02C0AC77-D285-65B0-D66E-4E098D9D4641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Amplificateur</a:t>
                  </a:r>
                </a:p>
              </p:txBody>
            </p:sp>
            <p:cxnSp>
              <p:nvCxnSpPr>
                <p:cNvPr id="14" name="Straight Arrow Connector 13">
                  <a:extLst>
                    <a:ext uri="{FF2B5EF4-FFF2-40B4-BE49-F238E27FC236}">
                      <a16:creationId xmlns:a16="http://schemas.microsoft.com/office/drawing/2014/main" id="{1E0D4AE5-9607-4DB4-BE36-56A5094F4DD2}"/>
                    </a:ext>
                  </a:extLst>
                </p:cNvPr>
                <p:cNvCxnSpPr>
                  <a:cxnSpLocks/>
                  <a:stCxn id="29" idx="3"/>
                  <a:endCxn id="12" idx="1"/>
                </p:cNvCxnSpPr>
                <p:nvPr/>
              </p:nvCxnSpPr>
              <p:spPr>
                <a:xfrm>
                  <a:off x="5467171" y="3428768"/>
                  <a:ext cx="572727" cy="232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9C0C996A-BF1C-90EE-8498-2E1A93560CCF}"/>
                    </a:ext>
                  </a:extLst>
                </p:cNvPr>
                <p:cNvCxnSpPr>
                  <a:cxnSpLocks/>
                  <a:endCxn id="29" idx="1"/>
                </p:cNvCxnSpPr>
                <p:nvPr/>
              </p:nvCxnSpPr>
              <p:spPr>
                <a:xfrm flipV="1">
                  <a:off x="1833334" y="3428768"/>
                  <a:ext cx="572726" cy="232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Arrow Connector 18">
                  <a:extLst>
                    <a:ext uri="{FF2B5EF4-FFF2-40B4-BE49-F238E27FC236}">
                      <a16:creationId xmlns:a16="http://schemas.microsoft.com/office/drawing/2014/main" id="{B2A0A7D1-8E1F-6D54-6F03-9C163D4121DE}"/>
                    </a:ext>
                  </a:extLst>
                </p:cNvPr>
                <p:cNvCxnSpPr>
                  <a:cxnSpLocks/>
                  <a:stCxn id="12" idx="3"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FC6CD4CD-B9B4-4035-2393-BF7AC44EE4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FC6CD4CD-B9B4-4035-2393-BF7AC44EE42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FAD95A0E-467F-A6AA-2FC7-05C2FF1D8BC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FAD95A0E-467F-A6AA-2FC7-05C2FF1D8BC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259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F1945596-F0F7-D093-5E36-0392482F540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F1945596-F0F7-D093-5E36-0392482F540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675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83574FC-33E4-37D5-8403-057A812BEBA3}"/>
                  </a:ext>
                </a:extLst>
              </p:cNvPr>
              <p:cNvSpPr txBox="1"/>
              <p:nvPr/>
            </p:nvSpPr>
            <p:spPr>
              <a:xfrm>
                <a:off x="3857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Corde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396A4DF-AA46-B362-6EF6-93AC149BD5FE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Son</a:t>
                </a:r>
              </a:p>
            </p:txBody>
          </p:sp>
        </p:grp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B3F6E7F-9ED7-799A-C6AD-763658746D8C}"/>
                </a:ext>
              </a:extLst>
            </p:cNvPr>
            <p:cNvSpPr/>
            <p:nvPr/>
          </p:nvSpPr>
          <p:spPr>
            <a:xfrm>
              <a:off x="1854515" y="5494993"/>
              <a:ext cx="3061111" cy="73912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905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solidFill>
                    <a:schemeClr val="tx1"/>
                  </a:solidFill>
                </a:rPr>
                <a:t>Micro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7E09AD39-0921-EB4A-1080-583A356887F2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[2]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A8E4CD4-00A8-3FA0-0551-6DB2B6DC9710}"/>
              </a:ext>
            </a:extLst>
          </p:cNvPr>
          <p:cNvGrpSpPr/>
          <p:nvPr/>
        </p:nvGrpSpPr>
        <p:grpSpPr>
          <a:xfrm>
            <a:off x="0" y="2871"/>
            <a:ext cx="9144000" cy="457200"/>
            <a:chOff x="0" y="-4624"/>
            <a:chExt cx="9144000" cy="4572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B469BF9-1B77-D487-E34B-BA7FE33C0073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0" name="Footer Placeholder 2">
              <a:extLst>
                <a:ext uri="{FF2B5EF4-FFF2-40B4-BE49-F238E27FC236}">
                  <a16:creationId xmlns:a16="http://schemas.microsoft.com/office/drawing/2014/main" id="{55F797F5-28D9-E72A-3828-5A4E5762DF74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C375457-0E9C-DB85-2DE0-B08ED03CF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28417795-70F9-02E7-96CE-574852CA0F0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600" b="1" dirty="0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4283144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B5C65-7A37-1B90-FBC8-8C517E9FE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5B411610-91CC-1D3E-B007-8E0F6F5EEE2B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850E460-ACA2-5F53-1BA7-DFA31DA1F0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C335420-6FBF-ADA3-65E6-29E798D83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4</a:t>
            </a:fld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8A5B9C0-C73A-6300-0522-20EE954AE8FB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2A31A0-C03C-F3ED-69F4-C6FFE6CFE4F6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[1]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F2AC397-DBC1-5503-0B8B-93145E542A30}"/>
              </a:ext>
            </a:extLst>
          </p:cNvPr>
          <p:cNvGrpSpPr/>
          <p:nvPr/>
        </p:nvGrpSpPr>
        <p:grpSpPr>
          <a:xfrm>
            <a:off x="0" y="2871"/>
            <a:ext cx="9144000" cy="457200"/>
            <a:chOff x="0" y="-4624"/>
            <a:chExt cx="9144000" cy="4572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3792449-E4D3-8512-C655-89A9C46CAF2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0" name="Footer Placeholder 2">
              <a:extLst>
                <a:ext uri="{FF2B5EF4-FFF2-40B4-BE49-F238E27FC236}">
                  <a16:creationId xmlns:a16="http://schemas.microsoft.com/office/drawing/2014/main" id="{B08D73A0-6C90-69E7-457F-60D0EE1AF3F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2E365F-73BC-124E-0AA1-05822C89C8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08FB3C2F-F634-79DF-634E-4FB985FD79C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600" b="1" dirty="0"/>
              <a:t>Introduction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DAE2E80-E912-D97C-8D4D-D8FA1169D84C}"/>
              </a:ext>
            </a:extLst>
          </p:cNvPr>
          <p:cNvGrpSpPr/>
          <p:nvPr/>
        </p:nvGrpSpPr>
        <p:grpSpPr>
          <a:xfrm>
            <a:off x="330200" y="978128"/>
            <a:ext cx="8498627" cy="4901743"/>
            <a:chOff x="330200" y="1423280"/>
            <a:chExt cx="8498627" cy="4901743"/>
          </a:xfrm>
        </p:grpSpPr>
        <p:pic>
          <p:nvPicPr>
            <p:cNvPr id="6" name="Picture 5" descr="Guitar Pickup Market By Region">
              <a:extLst>
                <a:ext uri="{FF2B5EF4-FFF2-40B4-BE49-F238E27FC236}">
                  <a16:creationId xmlns:a16="http://schemas.microsoft.com/office/drawing/2014/main" id="{6DA00D97-DD6A-62D3-2FEF-6FDA183FC47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01" t="1" r="88" b="1662"/>
            <a:stretch>
              <a:fillRect/>
            </a:stretch>
          </p:blipFill>
          <p:spPr>
            <a:xfrm>
              <a:off x="330200" y="1423280"/>
              <a:ext cx="8498627" cy="4696847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E2E4591E-213D-DD3D-F756-86FF1B6789C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94285" y="5785023"/>
              <a:ext cx="766733" cy="540000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66935B24-D3D4-E1C7-7221-E3E13E203B9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1697" y="5785023"/>
              <a:ext cx="766313" cy="540000"/>
            </a:xfrm>
            <a:prstGeom prst="rect">
              <a:avLst/>
            </a:prstGeom>
          </p:spPr>
        </p:pic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D65A42A2-4676-292B-E960-C64B3D3DE5C5}"/>
                </a:ext>
              </a:extLst>
            </p:cNvPr>
            <p:cNvSpPr/>
            <p:nvPr/>
          </p:nvSpPr>
          <p:spPr>
            <a:xfrm>
              <a:off x="1119987" y="3792511"/>
              <a:ext cx="2627554" cy="1796705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23B1C9B-ECF9-F287-89FF-67656642FDEC}"/>
                </a:ext>
              </a:extLst>
            </p:cNvPr>
            <p:cNvSpPr txBox="1"/>
            <p:nvPr/>
          </p:nvSpPr>
          <p:spPr>
            <a:xfrm>
              <a:off x="1985724" y="3452852"/>
              <a:ext cx="78593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dirty="0">
                  <a:solidFill>
                    <a:srgbClr val="C00000"/>
                  </a:solidFill>
                  <a:latin typeface="Arial Black" panose="020B0A04020102020204" pitchFamily="34" charset="0"/>
                </a:rPr>
                <a:t>60%</a:t>
              </a:r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45538530-AEDA-8079-4FC7-7FE95B066120}"/>
              </a:ext>
            </a:extLst>
          </p:cNvPr>
          <p:cNvSpPr txBox="1"/>
          <p:nvPr/>
        </p:nvSpPr>
        <p:spPr>
          <a:xfrm>
            <a:off x="1323303" y="4636845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  <a:cs typeface="Times New Roman" panose="02020603050405020304" pitchFamily="18" charset="0"/>
              </a:rPr>
              <a:t>23.9%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ED38844-6458-856C-27C9-4A869A89F20A}"/>
              </a:ext>
            </a:extLst>
          </p:cNvPr>
          <p:cNvSpPr txBox="1"/>
          <p:nvPr/>
        </p:nvSpPr>
        <p:spPr>
          <a:xfrm>
            <a:off x="4427185" y="3007700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</a:rPr>
              <a:t>18.2%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1E00042-FA40-4722-DEE9-BCC43CF6F914}"/>
              </a:ext>
            </a:extLst>
          </p:cNvPr>
          <p:cNvSpPr txBox="1"/>
          <p:nvPr/>
        </p:nvSpPr>
        <p:spPr>
          <a:xfrm>
            <a:off x="5919010" y="2526212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</a:rPr>
              <a:t>13.1%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681727A-1BF8-121E-D477-3D1C7E718221}"/>
              </a:ext>
            </a:extLst>
          </p:cNvPr>
          <p:cNvSpPr txBox="1"/>
          <p:nvPr/>
        </p:nvSpPr>
        <p:spPr>
          <a:xfrm>
            <a:off x="7475333" y="2215950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</a:rPr>
              <a:t>8.7%</a:t>
            </a:r>
          </a:p>
        </p:txBody>
      </p:sp>
    </p:spTree>
    <p:extLst>
      <p:ext uri="{BB962C8B-B14F-4D97-AF65-F5344CB8AC3E}">
        <p14:creationId xmlns:p14="http://schemas.microsoft.com/office/powerpoint/2010/main" val="31837751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ABA01-5E57-F9AD-7FB1-9B31B40EB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47ABC560-5331-C119-99E8-E7E487C7F79C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D169199-8D0C-60A6-8967-E16A78FE2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2EDCE98-18ED-99C0-05A3-B2ABDB23B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5</a:t>
            </a:fld>
            <a:endParaRPr lang="fr-FR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2658A02-6127-85C2-C96E-6360A48C80D9}"/>
              </a:ext>
            </a:extLst>
          </p:cNvPr>
          <p:cNvSpPr/>
          <p:nvPr/>
        </p:nvSpPr>
        <p:spPr>
          <a:xfrm>
            <a:off x="678973" y="1178781"/>
            <a:ext cx="418307" cy="495332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0360A34-3C0D-7ED1-37AC-A59777E64D3C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ECCBCFC-B5B7-AE0C-CD83-2301C046DD2B}"/>
              </a:ext>
            </a:extLst>
          </p:cNvPr>
          <p:cNvSpPr/>
          <p:nvPr/>
        </p:nvSpPr>
        <p:spPr>
          <a:xfrm>
            <a:off x="642999" y="576342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55C0811-70DD-0811-C4AB-C5BA5BEE7798}"/>
              </a:ext>
            </a:extLst>
          </p:cNvPr>
          <p:cNvGrpSpPr/>
          <p:nvPr/>
        </p:nvGrpSpPr>
        <p:grpSpPr>
          <a:xfrm>
            <a:off x="757357" y="1267336"/>
            <a:ext cx="2794357" cy="1456239"/>
            <a:chOff x="757357" y="3644776"/>
            <a:chExt cx="2794357" cy="1456239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34B888DA-EA85-BACA-4DA1-AC7AADA6FDED}"/>
                </a:ext>
              </a:extLst>
            </p:cNvPr>
            <p:cNvSpPr/>
            <p:nvPr/>
          </p:nvSpPr>
          <p:spPr>
            <a:xfrm>
              <a:off x="757357" y="4263279"/>
              <a:ext cx="252000" cy="25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5" name="Picture 2">
              <a:extLst>
                <a:ext uri="{FF2B5EF4-FFF2-40B4-BE49-F238E27FC236}">
                  <a16:creationId xmlns:a16="http://schemas.microsoft.com/office/drawing/2014/main" id="{E0E33EAE-DCBB-59AD-9586-0B278CCFB05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27" r="7227"/>
            <a:stretch/>
          </p:blipFill>
          <p:spPr bwMode="auto">
            <a:xfrm>
              <a:off x="1802614" y="3655444"/>
              <a:ext cx="1749100" cy="1440000"/>
            </a:xfrm>
            <a:prstGeom prst="rect">
              <a:avLst/>
            </a:prstGeom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16A955A1-3FE8-E23C-FB32-197625FCE777}"/>
                </a:ext>
              </a:extLst>
            </p:cNvPr>
            <p:cNvCxnSpPr>
              <a:cxnSpLocks/>
              <a:stCxn id="21" idx="1"/>
            </p:cNvCxnSpPr>
            <p:nvPr/>
          </p:nvCxnSpPr>
          <p:spPr>
            <a:xfrm flipV="1">
              <a:off x="794262" y="3644776"/>
              <a:ext cx="1008352" cy="65540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29FA4007-D881-298D-16E0-8B10B844EC49}"/>
                </a:ext>
              </a:extLst>
            </p:cNvPr>
            <p:cNvCxnSpPr>
              <a:cxnSpLocks/>
              <a:stCxn id="21" idx="3"/>
            </p:cNvCxnSpPr>
            <p:nvPr/>
          </p:nvCxnSpPr>
          <p:spPr>
            <a:xfrm>
              <a:off x="794262" y="4478374"/>
              <a:ext cx="1008352" cy="622641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7C89D83A-8EAF-A29A-3D99-1A5A4BA3B567}"/>
              </a:ext>
            </a:extLst>
          </p:cNvPr>
          <p:cNvSpPr txBox="1"/>
          <p:nvPr/>
        </p:nvSpPr>
        <p:spPr>
          <a:xfrm>
            <a:off x="1071094" y="1826633"/>
            <a:ext cx="7315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/>
              <a:t>1931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E1B0F9D-8566-0C35-DA3D-12B83B1D5D8F}"/>
              </a:ext>
            </a:extLst>
          </p:cNvPr>
          <p:cNvGrpSpPr/>
          <p:nvPr/>
        </p:nvGrpSpPr>
        <p:grpSpPr>
          <a:xfrm>
            <a:off x="4257048" y="1278005"/>
            <a:ext cx="4556752" cy="4679896"/>
            <a:chOff x="5128260" y="2555821"/>
            <a:chExt cx="3281103" cy="2838917"/>
          </a:xfrm>
        </p:grpSpPr>
        <p:pic>
          <p:nvPicPr>
            <p:cNvPr id="10" name="Picture 9" descr="A blue and white drawing of a square and a rectangle&#10;&#10;AI-generated content may be incorrect.">
              <a:extLst>
                <a:ext uri="{FF2B5EF4-FFF2-40B4-BE49-F238E27FC236}">
                  <a16:creationId xmlns:a16="http://schemas.microsoft.com/office/drawing/2014/main" id="{35B1D760-66A7-4EF2-06F7-CEB0F74054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7161" r="12491"/>
            <a:stretch>
              <a:fillRect/>
            </a:stretch>
          </p:blipFill>
          <p:spPr>
            <a:xfrm>
              <a:off x="5128260" y="2555821"/>
              <a:ext cx="3281103" cy="2838917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26B4602-42B8-CD9D-7B5A-B72982226E4D}"/>
                </a:ext>
              </a:extLst>
            </p:cNvPr>
            <p:cNvSpPr/>
            <p:nvPr/>
          </p:nvSpPr>
          <p:spPr>
            <a:xfrm>
              <a:off x="6606541" y="3415664"/>
              <a:ext cx="308610" cy="2698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029" name="Picture 1028">
              <a:extLst>
                <a:ext uri="{FF2B5EF4-FFF2-40B4-BE49-F238E27FC236}">
                  <a16:creationId xmlns:a16="http://schemas.microsoft.com/office/drawing/2014/main" id="{BEE47B49-AC29-0A5B-BE91-5834088C244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32494" b="70953" l="13960" r="44675"/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20" t="27687" r="51486" b="24239"/>
            <a:stretch>
              <a:fillRect/>
            </a:stretch>
          </p:blipFill>
          <p:spPr>
            <a:xfrm>
              <a:off x="5573128" y="3130807"/>
              <a:ext cx="2477717" cy="1693612"/>
            </a:xfrm>
            <a:prstGeom prst="rect">
              <a:avLst/>
            </a:prstGeom>
          </p:spPr>
        </p:pic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830357CB-6D07-11C5-8EC3-85C6EB5CB4BF}"/>
                </a:ext>
              </a:extLst>
            </p:cNvPr>
            <p:cNvSpPr/>
            <p:nvPr/>
          </p:nvSpPr>
          <p:spPr>
            <a:xfrm>
              <a:off x="6704837" y="3200415"/>
              <a:ext cx="103688" cy="8735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D369F20-F607-9F18-F30E-4FC8F48B5B99}"/>
              </a:ext>
            </a:extLst>
          </p:cNvPr>
          <p:cNvSpPr txBox="1"/>
          <p:nvPr/>
        </p:nvSpPr>
        <p:spPr>
          <a:xfrm>
            <a:off x="1951551" y="2415066"/>
            <a:ext cx="14512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dirty="0"/>
              <a:t>SingleCoil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1E53688-28E3-395D-70F6-E50EF0BE10AB}"/>
              </a:ext>
            </a:extLst>
          </p:cNvPr>
          <p:cNvSpPr txBox="1"/>
          <p:nvPr/>
        </p:nvSpPr>
        <p:spPr>
          <a:xfrm flipH="1">
            <a:off x="2037872" y="3211542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Corde</a:t>
            </a:r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F181BAC7-2F05-D532-04C6-1C065A8CDC42}"/>
              </a:ext>
            </a:extLst>
          </p:cNvPr>
          <p:cNvCxnSpPr>
            <a:cxnSpLocks/>
            <a:stCxn id="14" idx="1"/>
          </p:cNvCxnSpPr>
          <p:nvPr/>
        </p:nvCxnSpPr>
        <p:spPr>
          <a:xfrm flipV="1">
            <a:off x="3491406" y="2410534"/>
            <a:ext cx="2993270" cy="93950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9750372-0D76-1A6A-DD9B-C7FF226BC376}"/>
              </a:ext>
            </a:extLst>
          </p:cNvPr>
          <p:cNvSpPr txBox="1"/>
          <p:nvPr/>
        </p:nvSpPr>
        <p:spPr>
          <a:xfrm flipH="1">
            <a:off x="2037872" y="3973760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Bobine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CDBB6C-E453-637C-7462-FBC874B60003}"/>
              </a:ext>
            </a:extLst>
          </p:cNvPr>
          <p:cNvSpPr txBox="1"/>
          <p:nvPr/>
        </p:nvSpPr>
        <p:spPr>
          <a:xfrm flipH="1">
            <a:off x="2033051" y="4735978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Aimant permanent</a:t>
            </a:r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11FCA9BF-D568-7FEF-8F3A-CC03ABDECFCE}"/>
              </a:ext>
            </a:extLst>
          </p:cNvPr>
          <p:cNvCxnSpPr>
            <a:cxnSpLocks/>
            <a:stCxn id="20" idx="1"/>
          </p:cNvCxnSpPr>
          <p:nvPr/>
        </p:nvCxnSpPr>
        <p:spPr>
          <a:xfrm flipV="1">
            <a:off x="3491406" y="3542645"/>
            <a:ext cx="2249820" cy="56961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BD422936-A5EF-FA57-44E3-7B65B2489857}"/>
              </a:ext>
            </a:extLst>
          </p:cNvPr>
          <p:cNvCxnSpPr>
            <a:cxnSpLocks/>
            <a:stCxn id="22" idx="2"/>
          </p:cNvCxnSpPr>
          <p:nvPr/>
        </p:nvCxnSpPr>
        <p:spPr>
          <a:xfrm rot="5400000" flipH="1" flipV="1">
            <a:off x="4491508" y="2982771"/>
            <a:ext cx="298515" cy="3761897"/>
          </a:xfrm>
          <a:prstGeom prst="bentConnector4">
            <a:avLst>
              <a:gd name="adj1" fmla="val -76579"/>
              <a:gd name="adj2" fmla="val 10002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4" name="Picture 2" descr="Free femm 4.2 software download (Windows)">
            <a:extLst>
              <a:ext uri="{FF2B5EF4-FFF2-40B4-BE49-F238E27FC236}">
                <a16:creationId xmlns:a16="http://schemas.microsoft.com/office/drawing/2014/main" id="{7E23C437-0ABF-7719-0798-576ADE154B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A8368BD-720D-61CB-9C35-FD2F182B225B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[4]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93ED0EB-ADA7-D81C-5F05-2B5D2AD07D1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7F004B6D-96AC-28F8-21DD-0746899C49DD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Footer Placeholder 2">
              <a:extLst>
                <a:ext uri="{FF2B5EF4-FFF2-40B4-BE49-F238E27FC236}">
                  <a16:creationId xmlns:a16="http://schemas.microsoft.com/office/drawing/2014/main" id="{6D4BF689-D8A2-78A0-F585-E663844622D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19" name="Footer Placeholder 2">
            <a:extLst>
              <a:ext uri="{FF2B5EF4-FFF2-40B4-BE49-F238E27FC236}">
                <a16:creationId xmlns:a16="http://schemas.microsoft.com/office/drawing/2014/main" id="{0EE9C1D9-D262-11D0-9BC5-9F3CCB213F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25277612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E5CDC-E18A-6821-CC67-B07651DBB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58092A65-490B-4AC0-8393-01D12A337A0D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94324AA-72FC-C282-79A1-90C96CC99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1DEB640-326C-4C8A-4353-C88BEC4C84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6</a:t>
            </a:fld>
            <a:endParaRPr lang="fr-FR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A875690-14A5-1EF6-BD3E-E169BCC560FD}"/>
              </a:ext>
            </a:extLst>
          </p:cNvPr>
          <p:cNvSpPr/>
          <p:nvPr/>
        </p:nvSpPr>
        <p:spPr>
          <a:xfrm>
            <a:off x="678973" y="1178781"/>
            <a:ext cx="418307" cy="495332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7637ED1-A8A1-92A6-E436-7B0AE35C232B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9E39AF3-B671-1A96-D11D-9164EFD8F565}"/>
              </a:ext>
            </a:extLst>
          </p:cNvPr>
          <p:cNvSpPr/>
          <p:nvPr/>
        </p:nvSpPr>
        <p:spPr>
          <a:xfrm>
            <a:off x="642999" y="576342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E07AC0-394D-84B1-8162-3042EECBDF45}"/>
              </a:ext>
            </a:extLst>
          </p:cNvPr>
          <p:cNvSpPr/>
          <p:nvPr/>
        </p:nvSpPr>
        <p:spPr>
          <a:xfrm>
            <a:off x="622219" y="1351909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A35D5EF-60B2-6FAD-3936-D1828DDA27A4}"/>
              </a:ext>
            </a:extLst>
          </p:cNvPr>
          <p:cNvSpPr/>
          <p:nvPr/>
        </p:nvSpPr>
        <p:spPr>
          <a:xfrm>
            <a:off x="642999" y="1720375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DDAA9F8-0DCE-F3A1-2774-4F4BB52CB5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18" t="7821" r="16609" b="12129"/>
          <a:stretch>
            <a:fillRect/>
          </a:stretch>
        </p:blipFill>
        <p:spPr>
          <a:xfrm>
            <a:off x="1489540" y="1506714"/>
            <a:ext cx="7074840" cy="42974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F19AA84-9CCA-017E-FDA8-64E4C692C133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[4]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82A2EE1-E8ED-145D-23DC-A42B417BD1CE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EF5C53E-7258-89EE-AB47-C65C987E1441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1670C4DF-4D6D-CC6F-D012-E1872949C00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11" name="Footer Placeholder 2">
            <a:extLst>
              <a:ext uri="{FF2B5EF4-FFF2-40B4-BE49-F238E27FC236}">
                <a16:creationId xmlns:a16="http://schemas.microsoft.com/office/drawing/2014/main" id="{7BDCDD4D-4B66-2C58-F3EC-5C0B5C1B2A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19195274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B3F0E-84CD-C391-808C-60FB199D94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9CA72259-54E2-49A4-C520-ECE0702321F5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372C224-2B65-C621-0EC0-7327499771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9ED0F94-BE44-0B30-1195-0C653D9E4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7</a:t>
            </a:fld>
            <a:endParaRPr lang="fr-FR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E3DE5677-D04C-C907-22CF-48E34F9CEF3C}"/>
              </a:ext>
            </a:extLst>
          </p:cNvPr>
          <p:cNvSpPr/>
          <p:nvPr/>
        </p:nvSpPr>
        <p:spPr>
          <a:xfrm>
            <a:off x="322686" y="1178781"/>
            <a:ext cx="1125078" cy="4500438"/>
          </a:xfrm>
          <a:prstGeom prst="downArrow">
            <a:avLst>
              <a:gd name="adj1" fmla="val 37279"/>
              <a:gd name="adj2" fmla="val 50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F67775C-D727-1789-6DAC-ED5112DC6709}"/>
              </a:ext>
            </a:extLst>
          </p:cNvPr>
          <p:cNvSpPr/>
          <p:nvPr/>
        </p:nvSpPr>
        <p:spPr>
          <a:xfrm>
            <a:off x="640098" y="1353566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66C38B-927C-53CF-E6AB-365D740BBA91}"/>
              </a:ext>
            </a:extLst>
          </p:cNvPr>
          <p:cNvSpPr/>
          <p:nvPr/>
        </p:nvSpPr>
        <p:spPr>
          <a:xfrm>
            <a:off x="622370" y="171795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22E47D5-1C5D-136A-061D-9A1220859249}"/>
              </a:ext>
            </a:extLst>
          </p:cNvPr>
          <p:cNvGrpSpPr/>
          <p:nvPr/>
        </p:nvGrpSpPr>
        <p:grpSpPr>
          <a:xfrm>
            <a:off x="757357" y="3644776"/>
            <a:ext cx="2840277" cy="1456239"/>
            <a:chOff x="757357" y="3644776"/>
            <a:chExt cx="2840277" cy="1456239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669E515-1F8E-1A6F-32EB-A4113124209A}"/>
                </a:ext>
              </a:extLst>
            </p:cNvPr>
            <p:cNvSpPr/>
            <p:nvPr/>
          </p:nvSpPr>
          <p:spPr>
            <a:xfrm>
              <a:off x="757357" y="4263279"/>
              <a:ext cx="252000" cy="25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C077574-15D0-65B4-FDC0-91F3532B9BE6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V="1">
              <a:off x="794262" y="3644776"/>
              <a:ext cx="1008352" cy="65540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8D1783E-179B-5321-AD09-59B4859B3E63}"/>
                </a:ext>
              </a:extLst>
            </p:cNvPr>
            <p:cNvCxnSpPr>
              <a:cxnSpLocks/>
              <a:stCxn id="10" idx="3"/>
            </p:cNvCxnSpPr>
            <p:nvPr/>
          </p:nvCxnSpPr>
          <p:spPr>
            <a:xfrm>
              <a:off x="794262" y="4478374"/>
              <a:ext cx="1008352" cy="622641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17" name="Picture 2">
              <a:extLst>
                <a:ext uri="{FF2B5EF4-FFF2-40B4-BE49-F238E27FC236}">
                  <a16:creationId xmlns:a16="http://schemas.microsoft.com/office/drawing/2014/main" id="{EEB520E7-EF31-D47F-BBBC-DF62DEF6C2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123" r="6123"/>
            <a:stretch/>
          </p:blipFill>
          <p:spPr bwMode="auto">
            <a:xfrm>
              <a:off x="1804368" y="3652396"/>
              <a:ext cx="1793266" cy="1440000"/>
            </a:xfrm>
            <a:prstGeom prst="rect">
              <a:avLst/>
            </a:prstGeom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C611BF4-7805-35AB-84D0-864D256DA30B}"/>
                </a:ext>
              </a:extLst>
            </p:cNvPr>
            <p:cNvSpPr txBox="1"/>
            <p:nvPr/>
          </p:nvSpPr>
          <p:spPr>
            <a:xfrm>
              <a:off x="1071094" y="4204613"/>
              <a:ext cx="73152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200" dirty="0"/>
                <a:t>1955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CFB490B0-BCD6-A56F-0B4F-C5F684FE9AB2}"/>
              </a:ext>
            </a:extLst>
          </p:cNvPr>
          <p:cNvSpPr txBox="1"/>
          <p:nvPr/>
        </p:nvSpPr>
        <p:spPr>
          <a:xfrm>
            <a:off x="1975388" y="4810594"/>
            <a:ext cx="14512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dirty="0"/>
              <a:t>Humbucker</a:t>
            </a:r>
          </a:p>
        </p:txBody>
      </p:sp>
      <p:pic>
        <p:nvPicPr>
          <p:cNvPr id="22" name="Picture 21" descr="A drawing of a computer&#10;&#10;AI-generated content may be incorrect.">
            <a:extLst>
              <a:ext uri="{FF2B5EF4-FFF2-40B4-BE49-F238E27FC236}">
                <a16:creationId xmlns:a16="http://schemas.microsoft.com/office/drawing/2014/main" id="{D940559A-4517-B76C-7191-DBF90D7844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105567"/>
            <a:ext cx="4303537" cy="3938025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4B783AE6-51CF-96D4-FF4F-76A91E4D70CC}"/>
              </a:ext>
            </a:extLst>
          </p:cNvPr>
          <p:cNvSpPr/>
          <p:nvPr/>
        </p:nvSpPr>
        <p:spPr>
          <a:xfrm>
            <a:off x="5953149" y="2713650"/>
            <a:ext cx="428593" cy="4448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E9966DA-65A5-0089-96C5-341C4C44043D}"/>
              </a:ext>
            </a:extLst>
          </p:cNvPr>
          <p:cNvSpPr/>
          <p:nvPr/>
        </p:nvSpPr>
        <p:spPr>
          <a:xfrm>
            <a:off x="7250271" y="2713650"/>
            <a:ext cx="247651" cy="4448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52B7CE4-DCA4-58A6-9A88-29EF0568BDAF}"/>
              </a:ext>
            </a:extLst>
          </p:cNvPr>
          <p:cNvSpPr/>
          <p:nvPr/>
        </p:nvSpPr>
        <p:spPr>
          <a:xfrm>
            <a:off x="5419725" y="2891036"/>
            <a:ext cx="468895" cy="120090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4ACEF00-6939-5D0B-A13E-4FE798F62E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76" t="6786" r="5431" b="11456"/>
          <a:stretch>
            <a:fillRect/>
          </a:stretch>
        </p:blipFill>
        <p:spPr>
          <a:xfrm>
            <a:off x="5252630" y="2402996"/>
            <a:ext cx="3113821" cy="2060332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DF916CAF-70B9-62A8-15A1-E542690D7E33}"/>
              </a:ext>
            </a:extLst>
          </p:cNvPr>
          <p:cNvSpPr txBox="1"/>
          <p:nvPr/>
        </p:nvSpPr>
        <p:spPr>
          <a:xfrm flipH="1">
            <a:off x="2037872" y="1405602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Corde</a:t>
            </a:r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28500AF0-2911-5316-990D-909F60C91DD4}"/>
              </a:ext>
            </a:extLst>
          </p:cNvPr>
          <p:cNvCxnSpPr>
            <a:cxnSpLocks/>
            <a:stCxn id="27" idx="1"/>
            <a:endCxn id="33" idx="1"/>
          </p:cNvCxnSpPr>
          <p:nvPr/>
        </p:nvCxnSpPr>
        <p:spPr>
          <a:xfrm>
            <a:off x="3491406" y="1544102"/>
            <a:ext cx="1097739" cy="73301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F4B729FB-031A-BAE3-5916-1E9BCF4B4649}"/>
              </a:ext>
            </a:extLst>
          </p:cNvPr>
          <p:cNvSpPr txBox="1"/>
          <p:nvPr/>
        </p:nvSpPr>
        <p:spPr>
          <a:xfrm flipH="1">
            <a:off x="1802613" y="2167820"/>
            <a:ext cx="1683971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Aimants permanents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B93002B-9402-19C4-80AB-1BF0833056FE}"/>
              </a:ext>
            </a:extLst>
          </p:cNvPr>
          <p:cNvSpPr txBox="1"/>
          <p:nvPr/>
        </p:nvSpPr>
        <p:spPr>
          <a:xfrm flipH="1">
            <a:off x="2033051" y="2930038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Bobines</a:t>
            </a:r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A27D8FF0-B915-4B4D-DDF6-06610E686E7C}"/>
              </a:ext>
            </a:extLst>
          </p:cNvPr>
          <p:cNvCxnSpPr>
            <a:cxnSpLocks/>
            <a:stCxn id="29" idx="2"/>
          </p:cNvCxnSpPr>
          <p:nvPr/>
        </p:nvCxnSpPr>
        <p:spPr>
          <a:xfrm rot="16200000" flipH="1">
            <a:off x="4256375" y="833042"/>
            <a:ext cx="174504" cy="3398058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08CECA19-DB69-E156-5705-713CB10CF7E3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3991493" y="1975362"/>
            <a:ext cx="270852" cy="2734202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0A070375-38D7-0425-E55D-0B48FE1180FC}"/>
              </a:ext>
            </a:extLst>
          </p:cNvPr>
          <p:cNvSpPr/>
          <p:nvPr/>
        </p:nvSpPr>
        <p:spPr>
          <a:xfrm>
            <a:off x="4589145" y="2237711"/>
            <a:ext cx="4276317" cy="78814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3" name="Picture 2" descr="Free femm 4.2 software download (Windows)">
            <a:extLst>
              <a:ext uri="{FF2B5EF4-FFF2-40B4-BE49-F238E27FC236}">
                <a16:creationId xmlns:a16="http://schemas.microsoft.com/office/drawing/2014/main" id="{3FA0ADC1-9B0B-00B1-E104-3F44176109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247C867-1F90-B54D-5817-E5B6C9DDDF8B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[4]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243A01D-9EAC-A043-6930-6CDD3B7BD024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80266ADC-C1AA-F577-8E6D-3B9D08336CDD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Footer Placeholder 2">
              <a:extLst>
                <a:ext uri="{FF2B5EF4-FFF2-40B4-BE49-F238E27FC236}">
                  <a16:creationId xmlns:a16="http://schemas.microsoft.com/office/drawing/2014/main" id="{6D8CEED2-0E6C-12E7-408D-63D1C066F85B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C075A36E-F98A-813D-84C4-58FB63CAC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16808643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FAE0E-A710-B751-21D5-1465D9560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3CE604F-6BFC-79C1-4FC3-CA1EA5356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BA6762A-3000-D56B-00BC-9C877DB75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8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0A1813A-2397-9FF3-55B4-A7083DA4BF3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15" name="Rectangle 2">
            <a:extLst>
              <a:ext uri="{FF2B5EF4-FFF2-40B4-BE49-F238E27FC236}">
                <a16:creationId xmlns:a16="http://schemas.microsoft.com/office/drawing/2014/main" id="{896A7184-965A-9FF1-E334-6E90259941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9327" y="1712718"/>
            <a:ext cx="7425344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dirty="0"/>
              <a:t>Dans quelle mesure </a:t>
            </a:r>
            <a:r>
              <a:rPr lang="fr-FR" b="1" dirty="0"/>
              <a:t>l'ajout d'une seconde bobine </a:t>
            </a:r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dirty="0"/>
              <a:t>permet-il </a:t>
            </a:r>
            <a:r>
              <a:rPr lang="fr-FR" b="1" dirty="0"/>
              <a:t>d'éliminer les parasites </a:t>
            </a:r>
            <a:r>
              <a:rPr lang="fr-FR" dirty="0"/>
              <a:t>?</a:t>
            </a:r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dirty="0"/>
              <a:t>Comment cela impacte-t-il </a:t>
            </a:r>
            <a:r>
              <a:rPr lang="fr-FR" b="1" dirty="0"/>
              <a:t>la richesse du son </a:t>
            </a:r>
            <a:r>
              <a:rPr lang="fr-FR" dirty="0"/>
              <a:t>?</a:t>
            </a:r>
            <a:endParaRPr kumimoji="0" lang="fr-FR" altLang="fr-FR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4EE9D4-1D4E-E6DD-563B-928B9E769F11}"/>
              </a:ext>
            </a:extLst>
          </p:cNvPr>
          <p:cNvSpPr txBox="1"/>
          <p:nvPr/>
        </p:nvSpPr>
        <p:spPr>
          <a:xfrm>
            <a:off x="822961" y="4436823"/>
            <a:ext cx="3749039" cy="369332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SingleCoil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7F5EE0-EFED-C507-DAB9-15D261AF6049}"/>
              </a:ext>
            </a:extLst>
          </p:cNvPr>
          <p:cNvSpPr txBox="1"/>
          <p:nvPr/>
        </p:nvSpPr>
        <p:spPr>
          <a:xfrm>
            <a:off x="4572000" y="4436823"/>
            <a:ext cx="3837363" cy="369332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Humbucker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3DBB3E-CACA-593E-E545-39E8047A68D3}"/>
              </a:ext>
            </a:extLst>
          </p:cNvPr>
          <p:cNvSpPr txBox="1"/>
          <p:nvPr/>
        </p:nvSpPr>
        <p:spPr>
          <a:xfrm>
            <a:off x="2802834" y="3896190"/>
            <a:ext cx="3538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Types de micro 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B92DDB-5107-9492-084E-A032449469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2067480" y="3425036"/>
            <a:ext cx="1260000" cy="1037332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0E83BBAA-0E05-C329-303D-8623CD6193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5860681" y="3425036"/>
            <a:ext cx="1260000" cy="10117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0" name="Diagram 9">
            <a:extLst>
              <a:ext uri="{FF2B5EF4-FFF2-40B4-BE49-F238E27FC236}">
                <a16:creationId xmlns:a16="http://schemas.microsoft.com/office/drawing/2014/main" id="{4A2E5A45-09B6-6201-9655-31940D8E765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69000343"/>
              </p:ext>
            </p:extLst>
          </p:nvPr>
        </p:nvGraphicFramePr>
        <p:xfrm>
          <a:off x="1215239" y="5535351"/>
          <a:ext cx="6962904" cy="4722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grpSp>
        <p:nvGrpSpPr>
          <p:cNvPr id="9" name="Group 8">
            <a:extLst>
              <a:ext uri="{FF2B5EF4-FFF2-40B4-BE49-F238E27FC236}">
                <a16:creationId xmlns:a16="http://schemas.microsoft.com/office/drawing/2014/main" id="{D0CB6DFE-9DCE-7015-9FA8-9E678322DE7D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17B675E-C794-FA61-C6CF-1E8B427604C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Footer Placeholder 2">
              <a:extLst>
                <a:ext uri="{FF2B5EF4-FFF2-40B4-BE49-F238E27FC236}">
                  <a16:creationId xmlns:a16="http://schemas.microsoft.com/office/drawing/2014/main" id="{2DB22642-B50B-7C34-0232-2F3D1155C6DC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Problématique</a:t>
              </a:r>
            </a:p>
          </p:txBody>
        </p:sp>
      </p:grp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E15C5062-7476-D32D-8882-11E83F153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1424046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729EB-D0D7-3B68-581B-D6A05530F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614B4AA-2C2C-7D08-E999-257308E1354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EBAC6AF7-D80B-334A-E503-388FBB7F0B40}"/>
              </a:ext>
            </a:extLst>
          </p:cNvPr>
          <p:cNvGrpSpPr/>
          <p:nvPr/>
        </p:nvGrpSpPr>
        <p:grpSpPr>
          <a:xfrm>
            <a:off x="326176" y="1002105"/>
            <a:ext cx="8527603" cy="3871961"/>
            <a:chOff x="-143123" y="1695451"/>
            <a:chExt cx="8378236" cy="3827203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DB0992E5-AF2D-3639-9696-6FF62E437322}"/>
                </a:ext>
              </a:extLst>
            </p:cNvPr>
            <p:cNvGrpSpPr/>
            <p:nvPr/>
          </p:nvGrpSpPr>
          <p:grpSpPr>
            <a:xfrm>
              <a:off x="-143123" y="1695451"/>
              <a:ext cx="6901731" cy="3827203"/>
              <a:chOff x="1006751" y="1255937"/>
              <a:chExt cx="6952009" cy="3806453"/>
            </a:xfrm>
          </p:grpSpPr>
          <p:pic>
            <p:nvPicPr>
              <p:cNvPr id="68" name="Picture 67" descr="A black and white drawing of a speaker&#10;&#10;AI-generated content may be incorrect.">
                <a:extLst>
                  <a:ext uri="{FF2B5EF4-FFF2-40B4-BE49-F238E27FC236}">
                    <a16:creationId xmlns:a16="http://schemas.microsoft.com/office/drawing/2014/main" id="{8E534E1B-4F89-E291-DF2A-28FE3CE8008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5915" t="5174" r="12970" b="6005"/>
              <a:stretch>
                <a:fillRect/>
              </a:stretch>
            </p:blipFill>
            <p:spPr>
              <a:xfrm>
                <a:off x="5339199" y="1663215"/>
                <a:ext cx="2619561" cy="2902226"/>
              </a:xfrm>
              <a:prstGeom prst="rect">
                <a:avLst/>
              </a:prstGeom>
            </p:spPr>
          </p:pic>
          <p:pic>
            <p:nvPicPr>
              <p:cNvPr id="69" name="Picture 2" descr="Coloriage Guitare électrique normale - Dessin gratuit à imprimer">
                <a:extLst>
                  <a:ext uri="{FF2B5EF4-FFF2-40B4-BE49-F238E27FC236}">
                    <a16:creationId xmlns:a16="http://schemas.microsoft.com/office/drawing/2014/main" id="{F2B99565-5333-2089-C925-A7A8B6810AF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75" t="9659" r="3272" b="14511"/>
              <a:stretch>
                <a:fillRect/>
              </a:stretch>
            </p:blipFill>
            <p:spPr bwMode="auto">
              <a:xfrm rot="18368299">
                <a:off x="661136" y="1601552"/>
                <a:ext cx="3716782" cy="3025552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F8341C9F-584A-66FF-9B64-51EB3CCA08E0}"/>
                  </a:ext>
                </a:extLst>
              </p:cNvPr>
              <p:cNvSpPr/>
              <p:nvPr/>
            </p:nvSpPr>
            <p:spPr>
              <a:xfrm>
                <a:off x="2687541" y="2252273"/>
                <a:ext cx="3045349" cy="2810117"/>
              </a:xfrm>
              <a:custGeom>
                <a:avLst/>
                <a:gdLst>
                  <a:gd name="csX0" fmla="*/ 0 w 3045349"/>
                  <a:gd name="csY0" fmla="*/ 2454899 h 2876318"/>
                  <a:gd name="csX1" fmla="*/ 31805 w 3045349"/>
                  <a:gd name="csY1" fmla="*/ 2494656 h 2876318"/>
                  <a:gd name="csX2" fmla="*/ 47708 w 3045349"/>
                  <a:gd name="csY2" fmla="*/ 2518510 h 2876318"/>
                  <a:gd name="csX3" fmla="*/ 71562 w 3045349"/>
                  <a:gd name="csY3" fmla="*/ 2526461 h 2876318"/>
                  <a:gd name="csX4" fmla="*/ 127221 w 3045349"/>
                  <a:gd name="csY4" fmla="*/ 2574169 h 2876318"/>
                  <a:gd name="csX5" fmla="*/ 206734 w 3045349"/>
                  <a:gd name="csY5" fmla="*/ 2637779 h 2876318"/>
                  <a:gd name="csX6" fmla="*/ 246490 w 3045349"/>
                  <a:gd name="csY6" fmla="*/ 2661633 h 2876318"/>
                  <a:gd name="csX7" fmla="*/ 278296 w 3045349"/>
                  <a:gd name="csY7" fmla="*/ 2677536 h 2876318"/>
                  <a:gd name="csX8" fmla="*/ 310101 w 3045349"/>
                  <a:gd name="csY8" fmla="*/ 2701390 h 2876318"/>
                  <a:gd name="csX9" fmla="*/ 373711 w 3045349"/>
                  <a:gd name="csY9" fmla="*/ 2733195 h 2876318"/>
                  <a:gd name="csX10" fmla="*/ 429370 w 3045349"/>
                  <a:gd name="csY10" fmla="*/ 2765000 h 2876318"/>
                  <a:gd name="csX11" fmla="*/ 532737 w 3045349"/>
                  <a:gd name="csY11" fmla="*/ 2804757 h 2876318"/>
                  <a:gd name="csX12" fmla="*/ 596348 w 3045349"/>
                  <a:gd name="csY12" fmla="*/ 2836562 h 2876318"/>
                  <a:gd name="csX13" fmla="*/ 659958 w 3045349"/>
                  <a:gd name="csY13" fmla="*/ 2852464 h 2876318"/>
                  <a:gd name="csX14" fmla="*/ 914400 w 3045349"/>
                  <a:gd name="csY14" fmla="*/ 2876318 h 2876318"/>
                  <a:gd name="csX15" fmla="*/ 1121134 w 3045349"/>
                  <a:gd name="csY15" fmla="*/ 2852464 h 2876318"/>
                  <a:gd name="csX16" fmla="*/ 1288111 w 3045349"/>
                  <a:gd name="csY16" fmla="*/ 2780903 h 2876318"/>
                  <a:gd name="csX17" fmla="*/ 1431235 w 3045349"/>
                  <a:gd name="csY17" fmla="*/ 2709341 h 2876318"/>
                  <a:gd name="csX18" fmla="*/ 1478942 w 3045349"/>
                  <a:gd name="csY18" fmla="*/ 2661633 h 2876318"/>
                  <a:gd name="csX19" fmla="*/ 1630017 w 3045349"/>
                  <a:gd name="csY19" fmla="*/ 2470802 h 2876318"/>
                  <a:gd name="csX20" fmla="*/ 1733384 w 3045349"/>
                  <a:gd name="csY20" fmla="*/ 2208409 h 2876318"/>
                  <a:gd name="csX21" fmla="*/ 1733384 w 3045349"/>
                  <a:gd name="csY21" fmla="*/ 1946016 h 2876318"/>
                  <a:gd name="csX22" fmla="*/ 1709530 w 3045349"/>
                  <a:gd name="csY22" fmla="*/ 1858551 h 2876318"/>
                  <a:gd name="csX23" fmla="*/ 1661822 w 3045349"/>
                  <a:gd name="csY23" fmla="*/ 1715428 h 2876318"/>
                  <a:gd name="csX24" fmla="*/ 1614115 w 3045349"/>
                  <a:gd name="csY24" fmla="*/ 1556402 h 2876318"/>
                  <a:gd name="csX25" fmla="*/ 1534602 w 3045349"/>
                  <a:gd name="csY25" fmla="*/ 1413278 h 2876318"/>
                  <a:gd name="csX26" fmla="*/ 1502796 w 3045349"/>
                  <a:gd name="csY26" fmla="*/ 1349668 h 2876318"/>
                  <a:gd name="csX27" fmla="*/ 1399429 w 3045349"/>
                  <a:gd name="csY27" fmla="*/ 1166788 h 2876318"/>
                  <a:gd name="csX28" fmla="*/ 1351722 w 3045349"/>
                  <a:gd name="csY28" fmla="*/ 1023664 h 2876318"/>
                  <a:gd name="csX29" fmla="*/ 1327868 w 3045349"/>
                  <a:gd name="csY29" fmla="*/ 952103 h 2876318"/>
                  <a:gd name="csX30" fmla="*/ 1343770 w 3045349"/>
                  <a:gd name="csY30" fmla="*/ 673807 h 2876318"/>
                  <a:gd name="csX31" fmla="*/ 1367624 w 3045349"/>
                  <a:gd name="csY31" fmla="*/ 610197 h 2876318"/>
                  <a:gd name="csX32" fmla="*/ 1478942 w 3045349"/>
                  <a:gd name="csY32" fmla="*/ 475024 h 2876318"/>
                  <a:gd name="csX33" fmla="*/ 1526650 w 3045349"/>
                  <a:gd name="csY33" fmla="*/ 403463 h 2876318"/>
                  <a:gd name="csX34" fmla="*/ 1630017 w 3045349"/>
                  <a:gd name="csY34" fmla="*/ 315998 h 2876318"/>
                  <a:gd name="csX35" fmla="*/ 1693628 w 3045349"/>
                  <a:gd name="csY35" fmla="*/ 252388 h 2876318"/>
                  <a:gd name="csX36" fmla="*/ 1836751 w 3045349"/>
                  <a:gd name="csY36" fmla="*/ 164924 h 2876318"/>
                  <a:gd name="csX37" fmla="*/ 1948069 w 3045349"/>
                  <a:gd name="csY37" fmla="*/ 93362 h 2876318"/>
                  <a:gd name="csX38" fmla="*/ 2138901 w 3045349"/>
                  <a:gd name="csY38" fmla="*/ 45654 h 2876318"/>
                  <a:gd name="csX39" fmla="*/ 2337683 w 3045349"/>
                  <a:gd name="csY39" fmla="*/ 21800 h 2876318"/>
                  <a:gd name="csX40" fmla="*/ 2488758 w 3045349"/>
                  <a:gd name="csY40" fmla="*/ 13849 h 2876318"/>
                  <a:gd name="csX41" fmla="*/ 2862469 w 3045349"/>
                  <a:gd name="csY41" fmla="*/ 13849 h 2876318"/>
                  <a:gd name="csX42" fmla="*/ 2981739 w 3045349"/>
                  <a:gd name="csY42" fmla="*/ 45654 h 2876318"/>
                  <a:gd name="csX43" fmla="*/ 3045349 w 3045349"/>
                  <a:gd name="csY43" fmla="*/ 69508 h 28763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</a:cxnLst>
                <a:rect l="l" t="t" r="r" b="b"/>
                <a:pathLst>
                  <a:path w="3045349" h="2876318">
                    <a:moveTo>
                      <a:pt x="0" y="2454899"/>
                    </a:moveTo>
                    <a:cubicBezTo>
                      <a:pt x="10602" y="2468151"/>
                      <a:pt x="21622" y="2481079"/>
                      <a:pt x="31805" y="2494656"/>
                    </a:cubicBezTo>
                    <a:cubicBezTo>
                      <a:pt x="37539" y="2502301"/>
                      <a:pt x="40246" y="2512540"/>
                      <a:pt x="47708" y="2518510"/>
                    </a:cubicBezTo>
                    <a:cubicBezTo>
                      <a:pt x="54253" y="2523746"/>
                      <a:pt x="63611" y="2523811"/>
                      <a:pt x="71562" y="2526461"/>
                    </a:cubicBezTo>
                    <a:cubicBezTo>
                      <a:pt x="160673" y="2637849"/>
                      <a:pt x="61551" y="2528705"/>
                      <a:pt x="127221" y="2574169"/>
                    </a:cubicBezTo>
                    <a:cubicBezTo>
                      <a:pt x="155128" y="2593489"/>
                      <a:pt x="177629" y="2620316"/>
                      <a:pt x="206734" y="2637779"/>
                    </a:cubicBezTo>
                    <a:cubicBezTo>
                      <a:pt x="219986" y="2645730"/>
                      <a:pt x="232980" y="2654128"/>
                      <a:pt x="246490" y="2661633"/>
                    </a:cubicBezTo>
                    <a:cubicBezTo>
                      <a:pt x="256852" y="2667390"/>
                      <a:pt x="268244" y="2671254"/>
                      <a:pt x="278296" y="2677536"/>
                    </a:cubicBezTo>
                    <a:cubicBezTo>
                      <a:pt x="289534" y="2684560"/>
                      <a:pt x="298654" y="2694713"/>
                      <a:pt x="310101" y="2701390"/>
                    </a:cubicBezTo>
                    <a:cubicBezTo>
                      <a:pt x="330578" y="2713335"/>
                      <a:pt x="352794" y="2722039"/>
                      <a:pt x="373711" y="2733195"/>
                    </a:cubicBezTo>
                    <a:cubicBezTo>
                      <a:pt x="392565" y="2743251"/>
                      <a:pt x="409884" y="2756231"/>
                      <a:pt x="429370" y="2765000"/>
                    </a:cubicBezTo>
                    <a:cubicBezTo>
                      <a:pt x="463035" y="2780149"/>
                      <a:pt x="499718" y="2788248"/>
                      <a:pt x="532737" y="2804757"/>
                    </a:cubicBezTo>
                    <a:cubicBezTo>
                      <a:pt x="553941" y="2815359"/>
                      <a:pt x="574151" y="2828238"/>
                      <a:pt x="596348" y="2836562"/>
                    </a:cubicBezTo>
                    <a:cubicBezTo>
                      <a:pt x="616812" y="2844236"/>
                      <a:pt x="638488" y="2848375"/>
                      <a:pt x="659958" y="2852464"/>
                    </a:cubicBezTo>
                    <a:cubicBezTo>
                      <a:pt x="772459" y="2873893"/>
                      <a:pt x="787397" y="2869634"/>
                      <a:pt x="914400" y="2876318"/>
                    </a:cubicBezTo>
                    <a:cubicBezTo>
                      <a:pt x="983311" y="2868367"/>
                      <a:pt x="1052975" y="2865359"/>
                      <a:pt x="1121134" y="2852464"/>
                    </a:cubicBezTo>
                    <a:cubicBezTo>
                      <a:pt x="1180843" y="2841168"/>
                      <a:pt x="1233964" y="2805269"/>
                      <a:pt x="1288111" y="2780903"/>
                    </a:cubicBezTo>
                    <a:cubicBezTo>
                      <a:pt x="1358137" y="2749391"/>
                      <a:pt x="1372061" y="2755834"/>
                      <a:pt x="1431235" y="2709341"/>
                    </a:cubicBezTo>
                    <a:cubicBezTo>
                      <a:pt x="1448919" y="2695446"/>
                      <a:pt x="1463561" y="2678040"/>
                      <a:pt x="1478942" y="2661633"/>
                    </a:cubicBezTo>
                    <a:cubicBezTo>
                      <a:pt x="1534843" y="2602004"/>
                      <a:pt x="1588815" y="2542364"/>
                      <a:pt x="1630017" y="2470802"/>
                    </a:cubicBezTo>
                    <a:cubicBezTo>
                      <a:pt x="1699402" y="2350291"/>
                      <a:pt x="1699220" y="2327984"/>
                      <a:pt x="1733384" y="2208409"/>
                    </a:cubicBezTo>
                    <a:cubicBezTo>
                      <a:pt x="1742438" y="2099766"/>
                      <a:pt x="1749009" y="2071016"/>
                      <a:pt x="1733384" y="1946016"/>
                    </a:cubicBezTo>
                    <a:cubicBezTo>
                      <a:pt x="1729636" y="1916030"/>
                      <a:pt x="1716227" y="1888019"/>
                      <a:pt x="1709530" y="1858551"/>
                    </a:cubicBezTo>
                    <a:cubicBezTo>
                      <a:pt x="1681618" y="1735734"/>
                      <a:pt x="1714235" y="1807148"/>
                      <a:pt x="1661822" y="1715428"/>
                    </a:cubicBezTo>
                    <a:cubicBezTo>
                      <a:pt x="1654666" y="1689190"/>
                      <a:pt x="1628127" y="1585505"/>
                      <a:pt x="1614115" y="1556402"/>
                    </a:cubicBezTo>
                    <a:cubicBezTo>
                      <a:pt x="1590439" y="1507229"/>
                      <a:pt x="1559010" y="1462092"/>
                      <a:pt x="1534602" y="1413278"/>
                    </a:cubicBezTo>
                    <a:cubicBezTo>
                      <a:pt x="1524000" y="1392075"/>
                      <a:pt x="1514379" y="1370352"/>
                      <a:pt x="1502796" y="1349668"/>
                    </a:cubicBezTo>
                    <a:cubicBezTo>
                      <a:pt x="1455116" y="1264526"/>
                      <a:pt x="1432768" y="1239023"/>
                      <a:pt x="1399429" y="1166788"/>
                    </a:cubicBezTo>
                    <a:cubicBezTo>
                      <a:pt x="1363215" y="1088324"/>
                      <a:pt x="1381571" y="1123160"/>
                      <a:pt x="1351722" y="1023664"/>
                    </a:cubicBezTo>
                    <a:cubicBezTo>
                      <a:pt x="1344497" y="999580"/>
                      <a:pt x="1335819" y="975957"/>
                      <a:pt x="1327868" y="952103"/>
                    </a:cubicBezTo>
                    <a:cubicBezTo>
                      <a:pt x="1312766" y="831293"/>
                      <a:pt x="1311555" y="861726"/>
                      <a:pt x="1343770" y="673807"/>
                    </a:cubicBezTo>
                    <a:cubicBezTo>
                      <a:pt x="1347596" y="651487"/>
                      <a:pt x="1356626" y="629992"/>
                      <a:pt x="1367624" y="610197"/>
                    </a:cubicBezTo>
                    <a:cubicBezTo>
                      <a:pt x="1431450" y="495311"/>
                      <a:pt x="1405986" y="564816"/>
                      <a:pt x="1478942" y="475024"/>
                    </a:cubicBezTo>
                    <a:cubicBezTo>
                      <a:pt x="1497020" y="452774"/>
                      <a:pt x="1508572" y="425713"/>
                      <a:pt x="1526650" y="403463"/>
                    </a:cubicBezTo>
                    <a:cubicBezTo>
                      <a:pt x="1601764" y="311016"/>
                      <a:pt x="1556151" y="379312"/>
                      <a:pt x="1630017" y="315998"/>
                    </a:cubicBezTo>
                    <a:cubicBezTo>
                      <a:pt x="1652784" y="296483"/>
                      <a:pt x="1670481" y="271450"/>
                      <a:pt x="1693628" y="252388"/>
                    </a:cubicBezTo>
                    <a:cubicBezTo>
                      <a:pt x="1748930" y="206845"/>
                      <a:pt x="1777215" y="202134"/>
                      <a:pt x="1836751" y="164924"/>
                    </a:cubicBezTo>
                    <a:cubicBezTo>
                      <a:pt x="1880106" y="137827"/>
                      <a:pt x="1900442" y="112973"/>
                      <a:pt x="1948069" y="93362"/>
                    </a:cubicBezTo>
                    <a:cubicBezTo>
                      <a:pt x="1991495" y="75481"/>
                      <a:pt x="2099863" y="52160"/>
                      <a:pt x="2138901" y="45654"/>
                    </a:cubicBezTo>
                    <a:cubicBezTo>
                      <a:pt x="2139259" y="45594"/>
                      <a:pt x="2308265" y="23901"/>
                      <a:pt x="2337683" y="21800"/>
                    </a:cubicBezTo>
                    <a:cubicBezTo>
                      <a:pt x="2387983" y="18207"/>
                      <a:pt x="2438400" y="16499"/>
                      <a:pt x="2488758" y="13849"/>
                    </a:cubicBezTo>
                    <a:cubicBezTo>
                      <a:pt x="2634733" y="-2372"/>
                      <a:pt x="2644304" y="-6733"/>
                      <a:pt x="2862469" y="13849"/>
                    </a:cubicBezTo>
                    <a:cubicBezTo>
                      <a:pt x="2903433" y="17714"/>
                      <a:pt x="2942705" y="32642"/>
                      <a:pt x="2981739" y="45654"/>
                    </a:cubicBezTo>
                    <a:cubicBezTo>
                      <a:pt x="3035069" y="63431"/>
                      <a:pt x="3014454" y="54060"/>
                      <a:pt x="3045349" y="69508"/>
                    </a:cubicBezTo>
                  </a:path>
                </a:pathLst>
              </a:custGeom>
              <a:ln w="101600"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pic>
          <p:nvPicPr>
            <p:cNvPr id="67" name="Picture 8" descr="Sound PNG Transparent Images">
              <a:extLst>
                <a:ext uri="{FF2B5EF4-FFF2-40B4-BE49-F238E27FC236}">
                  <a16:creationId xmlns:a16="http://schemas.microsoft.com/office/drawing/2014/main" id="{0F9422B7-B165-C834-2130-92D402B2165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58608" y="2831113"/>
              <a:ext cx="1476505" cy="14765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7163994-BA1F-AA7D-2A07-3939815A7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12CB9E37-9841-478B-DE9B-5613E58FC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9</a:t>
            </a:fld>
            <a:endParaRPr lang="fr-FR" sz="1200" b="1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D7394BD4-D4CA-42B5-5EB4-DC1CC05CF34C}"/>
              </a:ext>
            </a:extLst>
          </p:cNvPr>
          <p:cNvGrpSpPr/>
          <p:nvPr/>
        </p:nvGrpSpPr>
        <p:grpSpPr>
          <a:xfrm>
            <a:off x="326177" y="4838220"/>
            <a:ext cx="8527602" cy="1210580"/>
            <a:chOff x="385745" y="5083538"/>
            <a:chExt cx="8293184" cy="121058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D24B2076-9AFE-688B-EE16-8F10860C9FED}"/>
                </a:ext>
              </a:extLst>
            </p:cNvPr>
            <p:cNvGrpSpPr/>
            <p:nvPr/>
          </p:nvGrpSpPr>
          <p:grpSpPr>
            <a:xfrm>
              <a:off x="385745" y="5083538"/>
              <a:ext cx="8293184" cy="1150814"/>
              <a:chOff x="385745" y="5083538"/>
              <a:chExt cx="8293184" cy="1150814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311CE323-5E17-50D8-3A2C-B8E10B291E42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2D4ECFE8-1897-2B65-CB50-2C10194FD700}"/>
                    </a:ext>
                  </a:extLst>
                </p:cNvPr>
                <p:cNvSpPr/>
                <p:nvPr/>
              </p:nvSpPr>
              <p:spPr>
                <a:xfrm>
                  <a:off x="4222980" y="3059437"/>
                  <a:ext cx="1244192" cy="739126"/>
                </a:xfrm>
                <a:prstGeom prst="rect">
                  <a:avLst/>
                </a:prstGeom>
                <a:solidFill>
                  <a:schemeClr val="accent2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Filtrage Interne</a:t>
                  </a:r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04352A75-E073-69EF-A7F3-406668A45F3F}"/>
                    </a:ext>
                  </a:extLst>
                </p:cNvPr>
                <p:cNvSpPr/>
                <p:nvPr/>
              </p:nvSpPr>
              <p:spPr>
                <a:xfrm>
                  <a:off x="2406061" y="3059437"/>
                  <a:ext cx="1244192" cy="739126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Induction</a:t>
                  </a:r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69AA72A6-05D9-9C6E-8AFF-9F0BEAFF5662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Amplificateur</a:t>
                  </a:r>
                </a:p>
              </p:txBody>
            </p:sp>
            <p:cxnSp>
              <p:nvCxnSpPr>
                <p:cNvPr id="57" name="Straight Arrow Connector 56">
                  <a:extLst>
                    <a:ext uri="{FF2B5EF4-FFF2-40B4-BE49-F238E27FC236}">
                      <a16:creationId xmlns:a16="http://schemas.microsoft.com/office/drawing/2014/main" id="{1FBCB9F7-25DC-0140-A000-2C3DA2824B6A}"/>
                    </a:ext>
                  </a:extLst>
                </p:cNvPr>
                <p:cNvCxnSpPr>
                  <a:cxnSpLocks/>
                  <a:stCxn id="55" idx="3"/>
                  <a:endCxn id="54" idx="1"/>
                </p:cNvCxnSpPr>
                <p:nvPr/>
              </p:nvCxnSpPr>
              <p:spPr>
                <a:xfrm>
                  <a:off x="3650253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Arrow Connector 57">
                  <a:extLst>
                    <a:ext uri="{FF2B5EF4-FFF2-40B4-BE49-F238E27FC236}">
                      <a16:creationId xmlns:a16="http://schemas.microsoft.com/office/drawing/2014/main" id="{132DFFD4-5F74-1958-26B5-5C4362EBA6F1}"/>
                    </a:ext>
                  </a:extLst>
                </p:cNvPr>
                <p:cNvCxnSpPr>
                  <a:cxnSpLocks/>
                  <a:stCxn id="54" idx="3"/>
                  <a:endCxn id="56" idx="1"/>
                </p:cNvCxnSpPr>
                <p:nvPr/>
              </p:nvCxnSpPr>
              <p:spPr>
                <a:xfrm>
                  <a:off x="5467172" y="3429000"/>
                  <a:ext cx="572726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Arrow Connector 58">
                  <a:extLst>
                    <a:ext uri="{FF2B5EF4-FFF2-40B4-BE49-F238E27FC236}">
                      <a16:creationId xmlns:a16="http://schemas.microsoft.com/office/drawing/2014/main" id="{6444AEF1-23EB-B69E-8CD3-608C85D7C2F6}"/>
                    </a:ext>
                  </a:extLst>
                </p:cNvPr>
                <p:cNvCxnSpPr>
                  <a:cxnSpLocks/>
                  <a:endCxn id="55" idx="1"/>
                </p:cNvCxnSpPr>
                <p:nvPr/>
              </p:nvCxnSpPr>
              <p:spPr>
                <a:xfrm>
                  <a:off x="1833334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Arrow Connector 59">
                  <a:extLst>
                    <a:ext uri="{FF2B5EF4-FFF2-40B4-BE49-F238E27FC236}">
                      <a16:creationId xmlns:a16="http://schemas.microsoft.com/office/drawing/2014/main" id="{41344805-0219-20D8-6BF5-5DE11A767CB9}"/>
                    </a:ext>
                  </a:extLst>
                </p:cNvPr>
                <p:cNvCxnSpPr>
                  <a:cxnSpLocks/>
                  <a:stCxn id="56" idx="3"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8EC0128F-C980-BFF5-B028-824BED7C9B0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8EC0128F-C980-BFF5-B028-824BED7C9B0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1C6AF476-6EEB-B5C8-234C-FE6F30DB818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1C6AF476-6EEB-B5C8-234C-FE6F30DB818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0FEE6261-805B-2861-9864-57E78B72CB2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0FEE6261-805B-2861-9864-57E78B72CB2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377AB9F7-D223-922E-30F2-4B5238ED606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377AB9F7-D223-922E-30F2-4B5238ED606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r="-5333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6ABAACC-CFA5-03E7-D930-3BCEFDFA9F4A}"/>
                  </a:ext>
                </a:extLst>
              </p:cNvPr>
              <p:cNvSpPr txBox="1"/>
              <p:nvPr/>
            </p:nvSpPr>
            <p:spPr>
              <a:xfrm>
                <a:off x="3857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Corde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773FED51-CB52-7E5B-F5E6-F6CBC427541B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Son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E4D2AFF-C6FC-91C7-0345-000C3DB9D86F}"/>
                  </a:ext>
                </a:extLst>
              </p:cNvPr>
              <p:cNvSpPr txBox="1"/>
              <p:nvPr/>
            </p:nvSpPr>
            <p:spPr>
              <a:xfrm>
                <a:off x="2968578" y="5083538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>
                    <a:solidFill>
                      <a:srgbClr val="C00000"/>
                    </a:solidFill>
                  </a:rPr>
                  <a:t>Micro</a:t>
                </a:r>
              </a:p>
            </p:txBody>
          </p:sp>
        </p:grp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8A99ED0-7F9A-4A1A-990B-68E0E783AC40}"/>
                </a:ext>
              </a:extLst>
            </p:cNvPr>
            <p:cNvSpPr/>
            <p:nvPr/>
          </p:nvSpPr>
          <p:spPr>
            <a:xfrm>
              <a:off x="1791455" y="5434033"/>
              <a:ext cx="3187230" cy="860085"/>
            </a:xfrm>
            <a:prstGeom prst="rect">
              <a:avLst/>
            </a:prstGeom>
            <a:noFill/>
            <a:ln w="38100">
              <a:solidFill>
                <a:srgbClr val="C0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771D1D5-65D4-6ED8-C991-CB32106BCDB7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B563003-8BF6-82A1-7DDE-D67535E7DF4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Footer Placeholder 2">
              <a:extLst>
                <a:ext uri="{FF2B5EF4-FFF2-40B4-BE49-F238E27FC236}">
                  <a16:creationId xmlns:a16="http://schemas.microsoft.com/office/drawing/2014/main" id="{F3EC3ECE-C50D-0611-3EF8-8F9F94A8443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0" name="Footer Placeholder 2">
            <a:extLst>
              <a:ext uri="{FF2B5EF4-FFF2-40B4-BE49-F238E27FC236}">
                <a16:creationId xmlns:a16="http://schemas.microsoft.com/office/drawing/2014/main" id="{AC152979-7945-49EF-C493-E02BDDCAE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4665977-0C92-8AFF-0119-0F568D315F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2360788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60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99505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C3876-19B1-E4B6-716D-FD5FA24BE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ECB0D33-C7A4-8A73-9AEE-71A2978269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986005C-A574-5528-5018-7A91E88D4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10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1E79BA3-AB92-32BA-3883-6CA7CE319C5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9205F42-26E0-2632-97A3-AB63C2B354A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A0F545D-50D5-FBF2-9B53-ED2282786BF3}"/>
                  </a:ext>
                </a:extLst>
              </p:cNvPr>
              <p:cNvSpPr txBox="1"/>
              <p:nvPr/>
            </p:nvSpPr>
            <p:spPr>
              <a:xfrm>
                <a:off x="3442144" y="5091480"/>
                <a:ext cx="5447544" cy="688073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05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fr-FR" sz="105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>
                            <m:fPr>
                              <m:ctrl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den>
                          </m:f>
                        </m:num>
                        <m:den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 + </m:t>
                          </m:r>
                          <m:f>
                            <m:fPr>
                              <m:ctrl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</m:t>
                              </m:r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+ </m:t>
                              </m:r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</m:t>
                              </m:r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</m:t>
                              </m:r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den>
                          </m:f>
                          <m:r>
                            <m:rPr>
                              <m:sty m:val="p"/>
                            </m:rP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</m:t>
                          </m:r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+ </m:t>
                          </m:r>
                          <m:f>
                            <m:fPr>
                              <m:ctrl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LC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den>
                          </m:f>
                          <m:r>
                            <m:rPr>
                              <m:sty m:val="p"/>
                            </m:rP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</m:t>
                          </m:r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  <m:r>
                        <a:rPr lang="fr-FR" sz="105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fr-FR" sz="105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A0F545D-50D5-FBF2-9B53-ED2282786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2144" y="5091480"/>
                <a:ext cx="5447544" cy="68807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2D2AAE83-25D6-5C8B-6786-A77DE700832E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Simulation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B5CF74A-3235-334E-632B-CC390B45C369}"/>
              </a:ext>
            </a:extLst>
          </p:cNvPr>
          <p:cNvSpPr/>
          <p:nvPr/>
        </p:nvSpPr>
        <p:spPr>
          <a:xfrm flipV="1">
            <a:off x="7457440" y="3112184"/>
            <a:ext cx="348832" cy="1895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DF9204D-E32E-5B95-5640-B88E7B17169B}"/>
              </a:ext>
            </a:extLst>
          </p:cNvPr>
          <p:cNvSpPr/>
          <p:nvPr/>
        </p:nvSpPr>
        <p:spPr>
          <a:xfrm flipV="1">
            <a:off x="8306560" y="3163393"/>
            <a:ext cx="399222" cy="1895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EB75D12-6B9E-4593-678A-EE6E88218F7F}"/>
              </a:ext>
            </a:extLst>
          </p:cNvPr>
          <p:cNvSpPr/>
          <p:nvPr/>
        </p:nvSpPr>
        <p:spPr>
          <a:xfrm flipV="1">
            <a:off x="6182131" y="4000962"/>
            <a:ext cx="399222" cy="1895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955C530-9B63-4FD8-E152-A4133E03F058}"/>
              </a:ext>
            </a:extLst>
          </p:cNvPr>
          <p:cNvSpPr txBox="1"/>
          <p:nvPr/>
        </p:nvSpPr>
        <p:spPr>
          <a:xfrm>
            <a:off x="4008208" y="5823997"/>
            <a:ext cx="43478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b="1" dirty="0"/>
              <a:t>Passe bas 2</a:t>
            </a:r>
            <a:r>
              <a:rPr lang="fr-FR" sz="1200" b="1" baseline="30000" dirty="0"/>
              <a:t>nd</a:t>
            </a:r>
            <a:r>
              <a:rPr lang="fr-FR" sz="1200" b="1" dirty="0"/>
              <a:t> Ordre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4C52100-2078-7084-F07D-5ED9A35E972E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[5]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B8DE0F6-F3D3-60E9-AC95-080A1CFD27A0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ADAFFA78-1391-21A7-5466-4FF63E94793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Footer Placeholder 2">
              <a:extLst>
                <a:ext uri="{FF2B5EF4-FFF2-40B4-BE49-F238E27FC236}">
                  <a16:creationId xmlns:a16="http://schemas.microsoft.com/office/drawing/2014/main" id="{681DBAC5-62E8-3152-7554-3CBF30156F3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3B7C302-CEAE-E02C-8A9F-5586C3510386}"/>
                  </a:ext>
                </a:extLst>
              </p:cNvPr>
              <p:cNvSpPr/>
              <p:nvPr/>
            </p:nvSpPr>
            <p:spPr>
              <a:xfrm>
                <a:off x="326176" y="1110401"/>
                <a:ext cx="2878491" cy="4960615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u="sng" dirty="0">
                    <a:solidFill>
                      <a:schemeClr val="tx1"/>
                    </a:solidFill>
                  </a:rPr>
                  <a:t>Modèle</a:t>
                </a:r>
              </a:p>
              <a:p>
                <a:pPr algn="ctr"/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Force électromotrice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FEM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Tension induite dans le micro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Inductance série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L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Inductance du bobinage du micro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Resistance série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Resistance interne du bobinage en CC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Condensateur parallèle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Capacité parasite entre les spires du bobinage</a:t>
                </a:r>
              </a:p>
              <a:p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Resistance parallèle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Perte par courants de Foucault</a:t>
                </a:r>
              </a:p>
              <a:p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Resistance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amp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Resistance d’entrée d’un amplificateur</a:t>
                </a:r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3B7C302-CEAE-E02C-8A9F-5586C35103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176" y="1110401"/>
                <a:ext cx="2878491" cy="496061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3C03D690-8EC1-39C0-78A9-76F7F54EC971}"/>
              </a:ext>
            </a:extLst>
          </p:cNvPr>
          <p:cNvGrpSpPr/>
          <p:nvPr/>
        </p:nvGrpSpPr>
        <p:grpSpPr>
          <a:xfrm>
            <a:off x="3442144" y="1139891"/>
            <a:ext cx="5447544" cy="3869802"/>
            <a:chOff x="1054903" y="1363393"/>
            <a:chExt cx="4626939" cy="360000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15F175ED-75BD-0594-4496-836405341042}"/>
                </a:ext>
              </a:extLst>
            </p:cNvPr>
            <p:cNvGrpSpPr/>
            <p:nvPr/>
          </p:nvGrpSpPr>
          <p:grpSpPr>
            <a:xfrm>
              <a:off x="1054903" y="1363393"/>
              <a:ext cx="4626939" cy="3600000"/>
              <a:chOff x="1054904" y="1200155"/>
              <a:chExt cx="4927617" cy="3601072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D2C8B805-5A00-DF26-9274-1372E1E8BC4E}"/>
                  </a:ext>
                </a:extLst>
              </p:cNvPr>
              <p:cNvPicPr>
                <a:picLocks/>
              </p:cNvPicPr>
              <p:nvPr/>
            </p:nvPicPr>
            <p:blipFill>
              <a:blip r:embed="rId5">
                <a:biLevel thresh="75000"/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1054904" y="1200155"/>
                <a:ext cx="4927617" cy="3601072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94FF6692-02DB-2BAD-9736-3F7A9C46E824}"/>
                  </a:ext>
                </a:extLst>
              </p:cNvPr>
              <p:cNvSpPr/>
              <p:nvPr/>
            </p:nvSpPr>
            <p:spPr>
              <a:xfrm>
                <a:off x="1486014" y="2104150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C733BCE-A9AF-5C2C-0150-DCF00D160A00}"/>
                  </a:ext>
                </a:extLst>
              </p:cNvPr>
              <p:cNvSpPr/>
              <p:nvPr/>
            </p:nvSpPr>
            <p:spPr>
              <a:xfrm>
                <a:off x="2555070" y="3033420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4DA97779-86EB-D4C5-0616-D79902CA7A03}"/>
                  </a:ext>
                </a:extLst>
              </p:cNvPr>
              <p:cNvSpPr/>
              <p:nvPr/>
            </p:nvSpPr>
            <p:spPr>
              <a:xfrm>
                <a:off x="3715970" y="3073533"/>
                <a:ext cx="703406" cy="24014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A666622-D887-C02B-48A3-3C066C5B2CED}"/>
                  </a:ext>
                </a:extLst>
              </p:cNvPr>
              <p:cNvSpPr/>
              <p:nvPr/>
            </p:nvSpPr>
            <p:spPr>
              <a:xfrm>
                <a:off x="5397029" y="3091033"/>
                <a:ext cx="527521" cy="20117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0C13F4F8-18A5-4057-201D-4D1070B2E781}"/>
                  </a:ext>
                </a:extLst>
              </p:cNvPr>
              <p:cNvSpPr/>
              <p:nvPr/>
            </p:nvSpPr>
            <p:spPr>
              <a:xfrm>
                <a:off x="1468417" y="3119201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3943E8A-1FC6-FC7C-384C-53948D2FB57F}"/>
                </a:ext>
              </a:extLst>
            </p:cNvPr>
            <p:cNvCxnSpPr/>
            <p:nvPr/>
          </p:nvCxnSpPr>
          <p:spPr>
            <a:xfrm flipV="1">
              <a:off x="1601848" y="3920464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6806677D-0818-3210-9991-80EAAFAEA943}"/>
                    </a:ext>
                  </a:extLst>
                </p:cNvPr>
                <p:cNvSpPr txBox="1"/>
                <p:nvPr/>
              </p:nvSpPr>
              <p:spPr>
                <a:xfrm>
                  <a:off x="1657934" y="4069558"/>
                  <a:ext cx="31656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6806677D-0818-3210-9991-80EAAFAEA9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7934" y="4069558"/>
                  <a:ext cx="316562" cy="184666"/>
                </a:xfrm>
                <a:prstGeom prst="rect">
                  <a:avLst/>
                </a:prstGeom>
                <a:blipFill>
                  <a:blip r:embed="rId8"/>
                  <a:stretch>
                    <a:fillRect l="-5769" t="-3333" r="-15385" b="-4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02D71FB5-B582-D158-98B2-AFA7CCD504A8}"/>
                </a:ext>
              </a:extLst>
            </p:cNvPr>
            <p:cNvCxnSpPr/>
            <p:nvPr/>
          </p:nvCxnSpPr>
          <p:spPr>
            <a:xfrm flipV="1">
              <a:off x="4752281" y="2872673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FBEA564-E231-D34A-1E71-EDA0435E746B}"/>
                    </a:ext>
                  </a:extLst>
                </p:cNvPr>
                <p:cNvSpPr txBox="1"/>
                <p:nvPr/>
              </p:nvSpPr>
              <p:spPr>
                <a:xfrm>
                  <a:off x="4413719" y="3036680"/>
                  <a:ext cx="32117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FBEA564-E231-D34A-1E71-EDA0435E74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13719" y="3036680"/>
                  <a:ext cx="321178" cy="184666"/>
                </a:xfrm>
                <a:prstGeom prst="rect">
                  <a:avLst/>
                </a:prstGeom>
                <a:blipFill>
                  <a:blip r:embed="rId9"/>
                  <a:stretch>
                    <a:fillRect l="-5660" r="-13208" b="-4333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5812AC73-6CEC-C446-2C29-D16FE96678A7}"/>
              </a:ext>
            </a:extLst>
          </p:cNvPr>
          <p:cNvSpPr txBox="1"/>
          <p:nvPr/>
        </p:nvSpPr>
        <p:spPr>
          <a:xfrm>
            <a:off x="4068272" y="4697849"/>
            <a:ext cx="4626939" cy="2616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Schéma électrique équivalent d’un micro</a:t>
            </a:r>
          </a:p>
        </p:txBody>
      </p:sp>
      <p:sp>
        <p:nvSpPr>
          <p:cNvPr id="14" name="Footer Placeholder 2">
            <a:extLst>
              <a:ext uri="{FF2B5EF4-FFF2-40B4-BE49-F238E27FC236}">
                <a16:creationId xmlns:a16="http://schemas.microsoft.com/office/drawing/2014/main" id="{B61DF536-AB20-09C4-4CD2-C37677694C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7EBF26C-5DCD-6E88-B3A2-94B398912E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6630268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60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pic>
        <p:nvPicPr>
          <p:cNvPr id="25" name="Picture 4" descr="Télécharger LTspice pour Windows, Mac, Web - Telecharger.com">
            <a:extLst>
              <a:ext uri="{FF2B5EF4-FFF2-40B4-BE49-F238E27FC236}">
                <a16:creationId xmlns:a16="http://schemas.microsoft.com/office/drawing/2014/main" id="{C70D36F4-D5FF-945D-E39A-606CC8E483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0919" y="492278"/>
            <a:ext cx="634848" cy="6348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554920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5095B-CBBF-28A8-4ECB-2036D2BA3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3C174FD-251E-6617-96DC-59EDC4D1886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AAC0E1E9-9630-1795-4D01-63EDE489C412}"/>
                  </a:ext>
                </a:extLst>
              </p:cNvPr>
              <p:cNvSpPr/>
              <p:nvPr/>
            </p:nvSpPr>
            <p:spPr>
              <a:xfrm>
                <a:off x="5321656" y="1210777"/>
                <a:ext cx="3617103" cy="4906153"/>
              </a:xfrm>
              <a:prstGeom prst="rect">
                <a:avLst/>
              </a:prstGeom>
              <a:noFill/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600" b="1" dirty="0">
                    <a:solidFill>
                      <a:schemeClr val="tx1"/>
                    </a:solidFill>
                  </a:rPr>
                  <a:t>Protocole</a:t>
                </a:r>
              </a:p>
              <a:p>
                <a:endParaRPr lang="fr-FR" sz="1600" b="1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Objectif :</a:t>
                </a: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Déterminer l’impédance du micro en fonction de la fréquence</a:t>
                </a: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Méthode 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Pont diviseur de tension : </a:t>
                </a:r>
                <a14:m>
                  <m:oMath xmlns:m="http://schemas.openxmlformats.org/officeDocument/2006/math"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f>
                      <m:f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num>
                      <m:den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+ </m:t>
                        </m:r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den>
                    </m:f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𝐺𝐵𝐹</m:t>
                        </m:r>
                      </m:sub>
                    </m:sSub>
                  </m:oMath>
                </a14:m>
                <a:endParaRPr lang="fr-FR" sz="1600" i="1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endParaRPr lang="fr-FR" sz="160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endParaRPr lang="fr-FR" sz="160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endParaRPr lang="fr-FR" sz="160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endParaRPr lang="fr-FR" sz="160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endParaRPr lang="fr-FR" sz="160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endParaRPr lang="fr-FR" sz="160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endParaRPr lang="fr-FR" sz="160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sty m:val="p"/>
                        </m:rP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| = </m:t>
                      </m:r>
                      <m:r>
                        <m:rPr>
                          <m:sty m:val="p"/>
                        </m:rP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R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GBF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p"/>
                            </m:r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U</m:t>
                          </m:r>
                        </m:den>
                      </m:f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−1)</m:t>
                      </m:r>
                    </m:oMath>
                  </m:oMathPara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b="0" i="1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 </a:t>
                </a:r>
              </a:p>
              <a:p>
                <a:endParaRPr lang="fr-FR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AAC0E1E9-9630-1795-4D01-63EDE489C41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1656" y="1210777"/>
                <a:ext cx="3617103" cy="4906153"/>
              </a:xfrm>
              <a:prstGeom prst="rect">
                <a:avLst/>
              </a:prstGeom>
              <a:blipFill>
                <a:blip r:embed="rId2"/>
                <a:stretch>
                  <a:fillRect l="-501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00ABA615-8D40-69B1-317C-00A345AF13E9}"/>
              </a:ext>
            </a:extLst>
          </p:cNvPr>
          <p:cNvGrpSpPr/>
          <p:nvPr/>
        </p:nvGrpSpPr>
        <p:grpSpPr>
          <a:xfrm>
            <a:off x="5699430" y="3429000"/>
            <a:ext cx="2861554" cy="1929984"/>
            <a:chOff x="2104420" y="1905000"/>
            <a:chExt cx="4277322" cy="336279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9B6BB29C-4C7A-C471-B9C0-8AB1B56F5D9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biLevel thresh="50000"/>
            </a:blip>
            <a:stretch>
              <a:fillRect/>
            </a:stretch>
          </p:blipFill>
          <p:spPr>
            <a:xfrm>
              <a:off x="2104420" y="1905000"/>
              <a:ext cx="4277322" cy="3362794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806F93D-7797-CC53-D4A9-199C192B191A}"/>
                </a:ext>
              </a:extLst>
            </p:cNvPr>
            <p:cNvSpPr/>
            <p:nvPr/>
          </p:nvSpPr>
          <p:spPr>
            <a:xfrm>
              <a:off x="3916553" y="4642606"/>
              <a:ext cx="849818" cy="380624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326CE66-0479-6172-EAA5-302AF3EEB546}"/>
                </a:ext>
              </a:extLst>
            </p:cNvPr>
            <p:cNvSpPr txBox="1"/>
            <p:nvPr/>
          </p:nvSpPr>
          <p:spPr>
            <a:xfrm>
              <a:off x="3756771" y="4309385"/>
              <a:ext cx="1169381" cy="4290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00" dirty="0">
                  <a:latin typeface="Arial Black" panose="020B0A04020102020204" pitchFamily="34" charset="0"/>
                </a:rPr>
                <a:t>MICRO</a:t>
              </a:r>
              <a:endParaRPr lang="fr-FR" sz="1050" dirty="0">
                <a:latin typeface="Arial Black" panose="020B0A04020102020204" pitchFamily="34" charset="0"/>
              </a:endParaRPr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52AEC967-8D24-240D-CD5A-34AE81CE6951}"/>
                </a:ext>
              </a:extLst>
            </p:cNvPr>
            <p:cNvSpPr/>
            <p:nvPr/>
          </p:nvSpPr>
          <p:spPr>
            <a:xfrm>
              <a:off x="2971013" y="2256020"/>
              <a:ext cx="374754" cy="134911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95FCE015-0DE4-4491-5078-0E8C4E18ACBD}"/>
                </a:ext>
              </a:extLst>
            </p:cNvPr>
            <p:cNvCxnSpPr>
              <a:cxnSpLocks/>
              <a:endCxn id="21" idx="3"/>
            </p:cNvCxnSpPr>
            <p:nvPr/>
          </p:nvCxnSpPr>
          <p:spPr>
            <a:xfrm flipV="1">
              <a:off x="3158390" y="2390931"/>
              <a:ext cx="0" cy="16748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C1C5097-5663-EE26-5A50-7D8420172B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B1C5B82-F24C-54E1-B2B4-47EDF43AD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11</a:t>
            </a:fld>
            <a:endParaRPr lang="fr-FR" sz="1200" b="1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3840323-D421-9975-E022-715C81AAE9FB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3A59CBEC-6A66-3C03-69BA-0B6C7EDE5543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36A16625-5967-D680-5029-0BF57049FBA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0" name="Footer Placeholder 2">
            <a:extLst>
              <a:ext uri="{FF2B5EF4-FFF2-40B4-BE49-F238E27FC236}">
                <a16:creationId xmlns:a16="http://schemas.microsoft.com/office/drawing/2014/main" id="{301DC408-888A-6405-0042-8A6DE09DE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3A675C6-213A-E88E-59F1-7172A689638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4700"/>
                    </a14:imgEffect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79" b="79"/>
          <a:stretch/>
        </p:blipFill>
        <p:spPr>
          <a:xfrm>
            <a:off x="281944" y="1210777"/>
            <a:ext cx="4913871" cy="4906153"/>
          </a:xfrm>
          <a:prstGeom prst="rect">
            <a:avLst/>
          </a:prstGeom>
          <a:effectLst>
            <a:softEdge rad="31750"/>
          </a:effectLst>
        </p:spPr>
      </p:pic>
      <p:graphicFrame>
        <p:nvGraphicFramePr>
          <p:cNvPr id="33" name="Table 32">
            <a:extLst>
              <a:ext uri="{FF2B5EF4-FFF2-40B4-BE49-F238E27FC236}">
                <a16:creationId xmlns:a16="http://schemas.microsoft.com/office/drawing/2014/main" id="{56465D4B-F265-C435-89C6-9EE669732A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1723164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60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34" name="TextBox 33">
            <a:extLst>
              <a:ext uri="{FF2B5EF4-FFF2-40B4-BE49-F238E27FC236}">
                <a16:creationId xmlns:a16="http://schemas.microsoft.com/office/drawing/2014/main" id="{CADA8AD9-A980-D884-9F53-A96F804F319D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Expérimentation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C1FCDA5-B890-01D2-182A-1078351C6549}"/>
              </a:ext>
            </a:extLst>
          </p:cNvPr>
          <p:cNvCxnSpPr>
            <a:cxnSpLocks/>
          </p:cNvCxnSpPr>
          <p:nvPr/>
        </p:nvCxnSpPr>
        <p:spPr>
          <a:xfrm>
            <a:off x="7812038" y="4178695"/>
            <a:ext cx="0" cy="460905"/>
          </a:xfrm>
          <a:prstGeom prst="straightConnector1">
            <a:avLst/>
          </a:prstGeom>
          <a:ln>
            <a:solidFill>
              <a:srgbClr val="3890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77951B3F-B71F-04C5-033D-571EB537A86C}"/>
              </a:ext>
            </a:extLst>
          </p:cNvPr>
          <p:cNvCxnSpPr>
            <a:cxnSpLocks/>
          </p:cNvCxnSpPr>
          <p:nvPr/>
        </p:nvCxnSpPr>
        <p:spPr>
          <a:xfrm>
            <a:off x="6689384" y="4178695"/>
            <a:ext cx="0" cy="497078"/>
          </a:xfrm>
          <a:prstGeom prst="straightConnector1">
            <a:avLst/>
          </a:prstGeom>
          <a:ln>
            <a:solidFill>
              <a:srgbClr val="3890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C6A192F-C9E6-3913-92C8-47D4FEEEB3D1}"/>
                  </a:ext>
                </a:extLst>
              </p:cNvPr>
              <p:cNvSpPr txBox="1"/>
              <p:nvPr/>
            </p:nvSpPr>
            <p:spPr>
              <a:xfrm>
                <a:off x="6726162" y="4296629"/>
                <a:ext cx="37119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solidFill>
                                <a:srgbClr val="38903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solidFill>
                                <a:srgbClr val="38903A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200" b="0" i="1" smtClean="0">
                              <a:solidFill>
                                <a:srgbClr val="38903A"/>
                              </a:solidFill>
                              <a:latin typeface="Cambria Math" panose="02040503050406030204" pitchFamily="18" charset="0"/>
                            </a:rPr>
                            <m:t>𝐺𝐵𝐹</m:t>
                          </m:r>
                        </m:sub>
                      </m:sSub>
                    </m:oMath>
                  </m:oMathPara>
                </a14:m>
                <a:endParaRPr lang="fr-FR" sz="1200" dirty="0">
                  <a:solidFill>
                    <a:srgbClr val="38903A"/>
                  </a:solidFill>
                </a:endParaRP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C6A192F-C9E6-3913-92C8-47D4FEEEB3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26162" y="4296629"/>
                <a:ext cx="371192" cy="184666"/>
              </a:xfrm>
              <a:prstGeom prst="rect">
                <a:avLst/>
              </a:prstGeom>
              <a:blipFill>
                <a:blip r:embed="rId6"/>
                <a:stretch>
                  <a:fillRect l="-8197" b="-1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3535FFE-8824-B77E-5FAB-A54BB03B2785}"/>
                  </a:ext>
                </a:extLst>
              </p:cNvPr>
              <p:cNvSpPr txBox="1"/>
              <p:nvPr/>
            </p:nvSpPr>
            <p:spPr>
              <a:xfrm>
                <a:off x="7599570" y="4305720"/>
                <a:ext cx="15209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fr-FR" sz="1200" dirty="0">
                  <a:solidFill>
                    <a:srgbClr val="38903A"/>
                  </a:solidFill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3535FFE-8824-B77E-5FAB-A54BB03B27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9570" y="4305720"/>
                <a:ext cx="152093" cy="184666"/>
              </a:xfrm>
              <a:prstGeom prst="rect">
                <a:avLst/>
              </a:prstGeom>
              <a:blipFill>
                <a:blip r:embed="rId7"/>
                <a:stretch>
                  <a:fillRect l="-20000" r="-20000" b="-645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6DA4ED38-3F05-55E4-ED59-58ECFFBA2298}"/>
              </a:ext>
            </a:extLst>
          </p:cNvPr>
          <p:cNvSpPr/>
          <p:nvPr/>
        </p:nvSpPr>
        <p:spPr>
          <a:xfrm>
            <a:off x="2006462" y="5800737"/>
            <a:ext cx="1224992" cy="232854"/>
          </a:xfrm>
          <a:prstGeom prst="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Humbucker //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D5C2715-4E42-FA5B-654D-9747CF5FD4F0}"/>
              </a:ext>
            </a:extLst>
          </p:cNvPr>
          <p:cNvSpPr/>
          <p:nvPr/>
        </p:nvSpPr>
        <p:spPr>
          <a:xfrm>
            <a:off x="841383" y="5804713"/>
            <a:ext cx="1105167" cy="236830"/>
          </a:xfrm>
          <a:prstGeom prst="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SingleCoil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5468A20-34D5-A069-9DC5-CF87DA8D02B4}"/>
              </a:ext>
            </a:extLst>
          </p:cNvPr>
          <p:cNvSpPr/>
          <p:nvPr/>
        </p:nvSpPr>
        <p:spPr>
          <a:xfrm>
            <a:off x="3291367" y="5800737"/>
            <a:ext cx="1224992" cy="232854"/>
          </a:xfrm>
          <a:prstGeom prst="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Humbucker --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E34C252-6974-3EF4-899D-0952F1FCADB1}"/>
              </a:ext>
            </a:extLst>
          </p:cNvPr>
          <p:cNvSpPr/>
          <p:nvPr/>
        </p:nvSpPr>
        <p:spPr>
          <a:xfrm>
            <a:off x="575968" y="2158154"/>
            <a:ext cx="530829" cy="254009"/>
          </a:xfrm>
          <a:prstGeom prst="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latin typeface="Arial Black" panose="020B0A04020102020204" pitchFamily="34" charset="0"/>
              </a:rPr>
              <a:t>GBF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4502883-4ADD-59E9-EC8D-076BAF9CDD5F}"/>
              </a:ext>
            </a:extLst>
          </p:cNvPr>
          <p:cNvSpPr/>
          <p:nvPr/>
        </p:nvSpPr>
        <p:spPr>
          <a:xfrm>
            <a:off x="4607931" y="3301006"/>
            <a:ext cx="563985" cy="224750"/>
          </a:xfrm>
          <a:prstGeom prst="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dirty="0">
                <a:latin typeface="Arial Black" panose="020B0A04020102020204" pitchFamily="34" charset="0"/>
              </a:rPr>
              <a:t>R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C797E74-7A34-2C69-3753-AF7FFB05A8D0}"/>
              </a:ext>
            </a:extLst>
          </p:cNvPr>
          <p:cNvCxnSpPr>
            <a:cxnSpLocks/>
          </p:cNvCxnSpPr>
          <p:nvPr/>
        </p:nvCxnSpPr>
        <p:spPr>
          <a:xfrm>
            <a:off x="822960" y="5179695"/>
            <a:ext cx="4328160" cy="38928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729FC77F-1088-9609-75BE-F71B0ABBF560}"/>
              </a:ext>
            </a:extLst>
          </p:cNvPr>
          <p:cNvSpPr/>
          <p:nvPr/>
        </p:nvSpPr>
        <p:spPr>
          <a:xfrm>
            <a:off x="3198993" y="1583055"/>
            <a:ext cx="1373007" cy="232506"/>
          </a:xfrm>
          <a:prstGeom prst="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latin typeface="Arial Black" panose="020B0A04020102020204" pitchFamily="34" charset="0"/>
              </a:rPr>
              <a:t>Oscilloscope</a:t>
            </a:r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6A94EEE7-A6D4-9C12-C17D-3011F3620DB2}"/>
              </a:ext>
            </a:extLst>
          </p:cNvPr>
          <p:cNvCxnSpPr>
            <a:cxnSpLocks/>
            <a:stCxn id="27" idx="1"/>
          </p:cNvCxnSpPr>
          <p:nvPr/>
        </p:nvCxnSpPr>
        <p:spPr>
          <a:xfrm rot="10800000" flipV="1">
            <a:off x="2882265" y="1699307"/>
            <a:ext cx="316728" cy="173305"/>
          </a:xfrm>
          <a:prstGeom prst="bentConnector3">
            <a:avLst>
              <a:gd name="adj1" fmla="val 101124"/>
            </a:avLst>
          </a:prstGeom>
          <a:ln w="381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A2894128-1CD2-68C3-51EA-677C374DD7BE}"/>
              </a:ext>
            </a:extLst>
          </p:cNvPr>
          <p:cNvCxnSpPr>
            <a:cxnSpLocks/>
            <a:stCxn id="18" idx="3"/>
          </p:cNvCxnSpPr>
          <p:nvPr/>
        </p:nvCxnSpPr>
        <p:spPr>
          <a:xfrm>
            <a:off x="1106797" y="2285159"/>
            <a:ext cx="287169" cy="174622"/>
          </a:xfrm>
          <a:prstGeom prst="bentConnector3">
            <a:avLst>
              <a:gd name="adj1" fmla="val 99753"/>
            </a:avLst>
          </a:prstGeom>
          <a:ln w="381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BCD795CE-C17B-8143-0B6D-604D6D299D4D}"/>
              </a:ext>
            </a:extLst>
          </p:cNvPr>
          <p:cNvCxnSpPr>
            <a:cxnSpLocks/>
            <a:stCxn id="19" idx="2"/>
          </p:cNvCxnSpPr>
          <p:nvPr/>
        </p:nvCxnSpPr>
        <p:spPr>
          <a:xfrm rot="5400000">
            <a:off x="4407269" y="3273293"/>
            <a:ext cx="230192" cy="735119"/>
          </a:xfrm>
          <a:prstGeom prst="bentConnector2">
            <a:avLst/>
          </a:prstGeom>
          <a:ln w="381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D5F1AED8-A973-35EC-9070-69EC4F8AA8D1}"/>
              </a:ext>
            </a:extLst>
          </p:cNvPr>
          <p:cNvCxnSpPr>
            <a:cxnSpLocks/>
            <a:stCxn id="17" idx="0"/>
          </p:cNvCxnSpPr>
          <p:nvPr/>
        </p:nvCxnSpPr>
        <p:spPr>
          <a:xfrm rot="16200000" flipV="1">
            <a:off x="3516262" y="5413135"/>
            <a:ext cx="379038" cy="396165"/>
          </a:xfrm>
          <a:prstGeom prst="bentConnector2">
            <a:avLst/>
          </a:prstGeom>
          <a:ln w="381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DB1771D3-1A92-AE3F-8642-44D9E34AD6E5}"/>
              </a:ext>
            </a:extLst>
          </p:cNvPr>
          <p:cNvCxnSpPr>
            <a:cxnSpLocks/>
            <a:stCxn id="12" idx="0"/>
          </p:cNvCxnSpPr>
          <p:nvPr/>
        </p:nvCxnSpPr>
        <p:spPr>
          <a:xfrm rot="5400000" flipH="1" flipV="1">
            <a:off x="1453373" y="5377465"/>
            <a:ext cx="367843" cy="486654"/>
          </a:xfrm>
          <a:prstGeom prst="bentConnector2">
            <a:avLst/>
          </a:prstGeom>
          <a:ln w="381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C431C73B-4CC1-0252-E2C1-697332D8B31E}"/>
              </a:ext>
            </a:extLst>
          </p:cNvPr>
          <p:cNvCxnSpPr>
            <a:cxnSpLocks/>
          </p:cNvCxnSpPr>
          <p:nvPr/>
        </p:nvCxnSpPr>
        <p:spPr>
          <a:xfrm flipV="1">
            <a:off x="2613213" y="5613400"/>
            <a:ext cx="0" cy="187337"/>
          </a:xfrm>
          <a:prstGeom prst="straightConnector1">
            <a:avLst/>
          </a:prstGeom>
          <a:ln w="381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89846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018B5-54AA-3079-566C-736CFE787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35CE00B-FC79-81FF-86A6-285CABA510BD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C71C571-0E5F-3D4C-EAFA-E4D0E6972F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E8E22F3-36AA-64A0-F7DA-405F92FD5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14462E3A-2F72-4E26-BAEE-59263817CA39}" type="slidenum">
              <a:rPr lang="fr-FR" sz="1200" b="1" smtClean="0"/>
              <a:t>12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9DDD954-4CB1-5C4D-D33E-CFAF6AFEA11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71496738-E437-E224-56B5-217CBA7F5329}"/>
                  </a:ext>
                </a:extLst>
              </p:cNvPr>
              <p:cNvSpPr/>
              <p:nvPr/>
            </p:nvSpPr>
            <p:spPr>
              <a:xfrm>
                <a:off x="5467122" y="1035070"/>
                <a:ext cx="3499013" cy="2283357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u="sng" dirty="0">
                    <a:solidFill>
                      <a:schemeClr val="tx1"/>
                    </a:solidFill>
                  </a:rPr>
                  <a:t>Méthode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Déterminer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Observer la résistance en CC avec un </a:t>
                </a:r>
                <a:r>
                  <a:rPr lang="fr-FR" sz="1400" u="sng" dirty="0">
                    <a:solidFill>
                      <a:schemeClr val="tx1"/>
                    </a:solidFill>
                  </a:rPr>
                  <a:t>multimètre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Determiner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L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,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Approximation numérique via un algorithme d’optimisation numérique basé sur les </a:t>
                </a:r>
                <a:r>
                  <a:rPr lang="fr-FR" sz="1400" b="1" dirty="0">
                    <a:solidFill>
                      <a:schemeClr val="tx1"/>
                    </a:solidFill>
                  </a:rPr>
                  <a:t>moindres carrés.</a:t>
                </a:r>
                <a:endParaRPr lang="fr-FR" sz="1400" u="sng" dirty="0"/>
              </a:p>
            </p:txBody>
          </p:sp>
        </mc:Choice>
        <mc:Fallback xmlns="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71496738-E437-E224-56B5-217CBA7F53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7122" y="1035070"/>
                <a:ext cx="3499013" cy="2283357"/>
              </a:xfrm>
              <a:prstGeom prst="rect">
                <a:avLst/>
              </a:prstGeom>
              <a:blipFill>
                <a:blip r:embed="rId4"/>
                <a:stretch>
                  <a:fillRect r="-345" b="-263"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AA0507F6-1CAF-6D7E-A062-151372E24A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6176" y="1035070"/>
            <a:ext cx="5009745" cy="5217108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631B521F-AFDC-D9C5-028E-C5CB3D8FDF44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794F355-A446-D356-7486-C332C08027A0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8D546518-E475-76BF-FDD7-AAAC59D808E5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83CF6CC7-C2A9-D2EB-0FC4-A98DAEFFDC33}"/>
              </a:ext>
            </a:extLst>
          </p:cNvPr>
          <p:cNvSpPr/>
          <p:nvPr/>
        </p:nvSpPr>
        <p:spPr>
          <a:xfrm>
            <a:off x="5467124" y="3437083"/>
            <a:ext cx="3499012" cy="2815095"/>
          </a:xfrm>
          <a:prstGeom prst="rect">
            <a:avLst/>
          </a:prstGeom>
          <a:ln w="38100">
            <a:solidFill>
              <a:schemeClr val="accent6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Mesures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DB194F1-0075-78A8-D900-8165D3AE9C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6111403"/>
              </p:ext>
            </p:extLst>
          </p:nvPr>
        </p:nvGraphicFramePr>
        <p:xfrm>
          <a:off x="5566510" y="3818066"/>
          <a:ext cx="3323180" cy="2335395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830795">
                  <a:extLst>
                    <a:ext uri="{9D8B030D-6E8A-4147-A177-3AD203B41FA5}">
                      <a16:colId xmlns:a16="http://schemas.microsoft.com/office/drawing/2014/main" val="887859225"/>
                    </a:ext>
                  </a:extLst>
                </a:gridCol>
                <a:gridCol w="830795">
                  <a:extLst>
                    <a:ext uri="{9D8B030D-6E8A-4147-A177-3AD203B41FA5}">
                      <a16:colId xmlns:a16="http://schemas.microsoft.com/office/drawing/2014/main" val="2798946589"/>
                    </a:ext>
                  </a:extLst>
                </a:gridCol>
                <a:gridCol w="830795">
                  <a:extLst>
                    <a:ext uri="{9D8B030D-6E8A-4147-A177-3AD203B41FA5}">
                      <a16:colId xmlns:a16="http://schemas.microsoft.com/office/drawing/2014/main" val="3812795422"/>
                    </a:ext>
                  </a:extLst>
                </a:gridCol>
                <a:gridCol w="830795">
                  <a:extLst>
                    <a:ext uri="{9D8B030D-6E8A-4147-A177-3AD203B41FA5}">
                      <a16:colId xmlns:a16="http://schemas.microsoft.com/office/drawing/2014/main" val="3496875843"/>
                    </a:ext>
                  </a:extLst>
                </a:gridCol>
              </a:tblGrid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9147041"/>
                  </a:ext>
                </a:extLst>
              </a:tr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5,26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4,52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15,10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385096"/>
                  </a:ext>
                </a:extLst>
              </a:tr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2,43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1,77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4,71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4796117"/>
                  </a:ext>
                </a:extLst>
              </a:tr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360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2633905"/>
                  </a:ext>
                </a:extLst>
              </a:tr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499,6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351,1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1069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69429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6C2966F-DA0E-A129-4604-4CAF4E34FA65}"/>
                  </a:ext>
                </a:extLst>
              </p:cNvPr>
              <p:cNvSpPr txBox="1"/>
              <p:nvPr/>
            </p:nvSpPr>
            <p:spPr>
              <a:xfrm>
                <a:off x="5583832" y="4352383"/>
                <a:ext cx="79765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s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kΩ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6C2966F-DA0E-A129-4604-4CAF4E34FA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3832" y="4352383"/>
                <a:ext cx="797654" cy="276999"/>
              </a:xfrm>
              <a:prstGeom prst="rect">
                <a:avLst/>
              </a:prstGeom>
              <a:blipFill>
                <a:blip r:embed="rId6"/>
                <a:stretch>
                  <a:fillRect l="-6107" t="-2222" r="-9924" b="-40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2F0483B-5D7F-BD8A-75FC-E3EF369CF5E4}"/>
                  </a:ext>
                </a:extLst>
              </p:cNvPr>
              <p:cNvSpPr txBox="1"/>
              <p:nvPr/>
            </p:nvSpPr>
            <p:spPr>
              <a:xfrm>
                <a:off x="5583832" y="4848950"/>
                <a:ext cx="5578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L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2F0483B-5D7F-BD8A-75FC-E3EF369CF5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3832" y="4848950"/>
                <a:ext cx="557845" cy="276999"/>
              </a:xfrm>
              <a:prstGeom prst="rect">
                <a:avLst/>
              </a:prstGeom>
              <a:blipFill>
                <a:blip r:embed="rId7"/>
                <a:stretch>
                  <a:fillRect l="-8791" r="-14286" b="-3913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756B1CA-1069-0FB7-1585-C66FE7279A00}"/>
                  </a:ext>
                </a:extLst>
              </p:cNvPr>
              <p:cNvSpPr txBox="1"/>
              <p:nvPr/>
            </p:nvSpPr>
            <p:spPr>
              <a:xfrm>
                <a:off x="5583832" y="5292326"/>
                <a:ext cx="6572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pF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756B1CA-1069-0FB7-1585-C66FE7279A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3832" y="5292326"/>
                <a:ext cx="657231" cy="276999"/>
              </a:xfrm>
              <a:prstGeom prst="rect">
                <a:avLst/>
              </a:prstGeom>
              <a:blipFill>
                <a:blip r:embed="rId8"/>
                <a:stretch>
                  <a:fillRect l="-7407" r="-11111" b="-3913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7F54E78-8366-A42C-287C-7D6E1E1C9F62}"/>
                  </a:ext>
                </a:extLst>
              </p:cNvPr>
              <p:cNvSpPr txBox="1"/>
              <p:nvPr/>
            </p:nvSpPr>
            <p:spPr>
              <a:xfrm>
                <a:off x="5583832" y="5766140"/>
                <a:ext cx="821700" cy="3016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p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kΩ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7F54E78-8366-A42C-287C-7D6E1E1C9F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3832" y="5766140"/>
                <a:ext cx="821700" cy="301686"/>
              </a:xfrm>
              <a:prstGeom prst="rect">
                <a:avLst/>
              </a:prstGeom>
              <a:blipFill>
                <a:blip r:embed="rId9"/>
                <a:stretch>
                  <a:fillRect l="-5926" t="-2041" r="-9630" b="-2857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2" name="Picture 31">
            <a:extLst>
              <a:ext uri="{FF2B5EF4-FFF2-40B4-BE49-F238E27FC236}">
                <a16:creationId xmlns:a16="http://schemas.microsoft.com/office/drawing/2014/main" id="{84EAD3AE-C225-14EF-269F-5B5AE150E4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6545223" y="3805438"/>
            <a:ext cx="568459" cy="468000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2">
            <a:extLst>
              <a:ext uri="{FF2B5EF4-FFF2-40B4-BE49-F238E27FC236}">
                <a16:creationId xmlns:a16="http://schemas.microsoft.com/office/drawing/2014/main" id="{605931B4-D82E-5BAF-958F-6B5A64B607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7375954" y="3809801"/>
            <a:ext cx="582811" cy="4680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Footer Placeholder 2">
            <a:extLst>
              <a:ext uri="{FF2B5EF4-FFF2-40B4-BE49-F238E27FC236}">
                <a16:creationId xmlns:a16="http://schemas.microsoft.com/office/drawing/2014/main" id="{96AD9D58-FAFC-CBE8-A6DF-0867908DA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53AA4B7E-24CD-8B97-FE91-5DC5ED0AA7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1458519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60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36" name="TextBox 35">
            <a:extLst>
              <a:ext uri="{FF2B5EF4-FFF2-40B4-BE49-F238E27FC236}">
                <a16:creationId xmlns:a16="http://schemas.microsoft.com/office/drawing/2014/main" id="{E2EEDFEB-AFAA-C6BE-4F6C-51B78A0870E6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94AE11E-94DD-BEBA-B1D0-26ABBE2E489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ackgroundRemoval t="7734" b="94964" l="9577" r="89978">
                        <a14:foregroundMark x1="58463" y1="9353" x2="66036" y2="7014"/>
                        <a14:foregroundMark x1="66036" y1="7014" x2="71715" y2="7734"/>
                        <a14:foregroundMark x1="71715" y1="7734" x2="62695" y2="8813"/>
                        <a14:foregroundMark x1="74833" y1="40827" x2="76503" y2="42446"/>
                        <a14:foregroundMark x1="64143" y1="47302" x2="64143" y2="47302"/>
                        <a14:foregroundMark x1="55457" y1="52698" x2="55457" y2="52698"/>
                        <a14:foregroundMark x1="45323" y1="59532" x2="45323" y2="59532"/>
                        <a14:foregroundMark x1="34187" y1="65108" x2="34187" y2="65108"/>
                        <a14:foregroundMark x1="22717" y1="70324" x2="22717" y2="70324"/>
                        <a14:foregroundMark x1="9688" y1="69604" x2="10802" y2="81475"/>
                        <a14:foregroundMark x1="10802" y1="81475" x2="13252" y2="82914"/>
                        <a14:foregroundMark x1="21604" y1="90468" x2="30178" y2="86511"/>
                        <a14:foregroundMark x1="22829" y1="94964" x2="22829" y2="94964"/>
                        <a14:foregroundMark x1="73942" y1="43165" x2="73942" y2="43165"/>
                      </a14:backgroundRemoval>
                    </a14:imgEffect>
                  </a14:imgLayer>
                </a14:imgProps>
              </a:ext>
            </a:extLst>
          </a:blip>
          <a:srcRect l="6039" t="3464" r="11427" b="863"/>
          <a:stretch>
            <a:fillRect/>
          </a:stretch>
        </p:blipFill>
        <p:spPr>
          <a:xfrm>
            <a:off x="8191781" y="3818066"/>
            <a:ext cx="601890" cy="432000"/>
          </a:xfrm>
          <a:prstGeom prst="rect">
            <a:avLst/>
          </a:prstGeom>
        </p:spPr>
      </p:pic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4BBCE65E-32DD-5E3F-FB43-54F4439767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9364" y="483864"/>
            <a:ext cx="506135" cy="50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7F60C86-39DA-BD92-068D-2698491394F2}"/>
              </a:ext>
            </a:extLst>
          </p:cNvPr>
          <p:cNvCxnSpPr>
            <a:cxnSpLocks/>
            <a:stCxn id="37" idx="2"/>
          </p:cNvCxnSpPr>
          <p:nvPr/>
        </p:nvCxnSpPr>
        <p:spPr>
          <a:xfrm>
            <a:off x="2757144" y="3230207"/>
            <a:ext cx="300849" cy="19879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716A087-B98F-A815-7BF0-B02E17D5B13B}"/>
              </a:ext>
            </a:extLst>
          </p:cNvPr>
          <p:cNvCxnSpPr>
            <a:cxnSpLocks/>
            <a:stCxn id="37" idx="2"/>
          </p:cNvCxnSpPr>
          <p:nvPr/>
        </p:nvCxnSpPr>
        <p:spPr>
          <a:xfrm flipH="1">
            <a:off x="2525843" y="3230207"/>
            <a:ext cx="231301" cy="44822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F43EB127-C47E-96F2-1830-7E9ABA8726FB}"/>
              </a:ext>
            </a:extLst>
          </p:cNvPr>
          <p:cNvSpPr txBox="1"/>
          <p:nvPr/>
        </p:nvSpPr>
        <p:spPr>
          <a:xfrm>
            <a:off x="2202695" y="2922430"/>
            <a:ext cx="1108898" cy="307777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400" b="1" dirty="0">
                <a:solidFill>
                  <a:srgbClr val="C00000"/>
                </a:solidFill>
              </a:rPr>
              <a:t>Asymétrie </a:t>
            </a:r>
          </a:p>
        </p:txBody>
      </p:sp>
    </p:spTree>
    <p:extLst>
      <p:ext uri="{BB962C8B-B14F-4D97-AF65-F5344CB8AC3E}">
        <p14:creationId xmlns:p14="http://schemas.microsoft.com/office/powerpoint/2010/main" val="3123386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E2422-0593-98CE-0BC1-D9A0BE050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Picture 4" descr="Télécharger LTspice pour Windows, Mac, Web - Telecharger.com">
            <a:extLst>
              <a:ext uri="{FF2B5EF4-FFF2-40B4-BE49-F238E27FC236}">
                <a16:creationId xmlns:a16="http://schemas.microsoft.com/office/drawing/2014/main" id="{1B7ADBC6-4B8D-7364-80A5-17CE31D607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7413" y="465112"/>
            <a:ext cx="540000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Python Logo PNG Transparent – Brands Logos">
            <a:extLst>
              <a:ext uri="{FF2B5EF4-FFF2-40B4-BE49-F238E27FC236}">
                <a16:creationId xmlns:a16="http://schemas.microsoft.com/office/drawing/2014/main" id="{AC3C3F02-BE4B-C00D-8113-255A41FE1B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9364" y="483864"/>
            <a:ext cx="506135" cy="50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5A3D31D4-FFA1-BFF2-889B-9A83090A38EA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F3249544-0A0A-C649-155C-A9E1F782D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28BACC0-48BC-CC88-7B3A-B5A7AC62F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14462E3A-2F72-4E26-BAEE-59263817CA39}" type="slidenum">
              <a:rPr lang="fr-FR" sz="1200" b="1" smtClean="0"/>
              <a:t>13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6E554F1-44BD-8B7F-91BB-367D7780CA1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7EA3527-CBE4-BB1E-8E8A-8B21A1F88B1C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5291E480-CEFE-D580-938C-FDAA725FDA6F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Footer Placeholder 2">
              <a:extLst>
                <a:ext uri="{FF2B5EF4-FFF2-40B4-BE49-F238E27FC236}">
                  <a16:creationId xmlns:a16="http://schemas.microsoft.com/office/drawing/2014/main" id="{024BCF65-762C-3EB5-9AA3-CD664A82060E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19349B35-E6B7-9E01-F26A-2A7F7B8E63D3}"/>
                  </a:ext>
                </a:extLst>
              </p:cNvPr>
              <p:cNvSpPr/>
              <p:nvPr/>
            </p:nvSpPr>
            <p:spPr>
              <a:xfrm>
                <a:off x="5583836" y="3922665"/>
                <a:ext cx="3357228" cy="2329514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u="sng" dirty="0">
                    <a:solidFill>
                      <a:schemeClr val="tx1"/>
                    </a:solidFill>
                  </a:rPr>
                  <a:t>Conclusion</a:t>
                </a: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r>
                  <a:rPr lang="fr-FR" sz="1400" b="1" dirty="0">
                    <a:solidFill>
                      <a:schemeClr val="tx1"/>
                    </a:solidFill>
                  </a:rPr>
                  <a:t>En basses fréquences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400" b="0" dirty="0">
                  <a:solidFill>
                    <a:srgbClr val="C00000"/>
                  </a:solidFill>
                </a:endParaRPr>
              </a:p>
              <a:p>
                <a:endParaRPr lang="fr-FR" sz="1400" b="0" dirty="0">
                  <a:solidFill>
                    <a:srgbClr val="C00000"/>
                  </a:solidFill>
                </a:endParaRPr>
              </a:p>
              <a:p>
                <a:r>
                  <a:rPr lang="fr-FR" sz="1400" b="1" dirty="0">
                    <a:solidFill>
                      <a:schemeClr val="tx1"/>
                    </a:solidFill>
                  </a:rPr>
                  <a:t>A la résonance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SC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&gt;</m:t>
                      </m:r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HB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endParaRPr lang="fr-FR" sz="1400" dirty="0">
                  <a:solidFill>
                    <a:schemeClr val="tx1"/>
                  </a:solidFill>
                </a:endParaRPr>
              </a:p>
              <a:p>
                <a:r>
                  <a:rPr lang="fr-FR" sz="1400" b="1" dirty="0">
                    <a:solidFill>
                      <a:schemeClr val="tx1"/>
                    </a:solidFill>
                  </a:rPr>
                  <a:t>En haute fréquence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sz="14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SC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HB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19349B35-E6B7-9E01-F26A-2A7F7B8E63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3836" y="3922665"/>
                <a:ext cx="3357228" cy="232951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Footer Placeholder 2">
            <a:extLst>
              <a:ext uri="{FF2B5EF4-FFF2-40B4-BE49-F238E27FC236}">
                <a16:creationId xmlns:a16="http://schemas.microsoft.com/office/drawing/2014/main" id="{12FCA72B-A395-406E-8C4A-C20084E75B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9E9BC71-3A20-546E-95A4-02C1584F64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3488886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60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66B5C775-C8F0-7ABF-BA08-8D829E5E17F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0186" y="1032179"/>
            <a:ext cx="5175257" cy="5220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B9F34FD-89CC-63DB-50E1-5A91FD67A29F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E6D5E734-BEFF-CD79-965F-FB5828B2E5CC}"/>
              </a:ext>
            </a:extLst>
          </p:cNvPr>
          <p:cNvGrpSpPr/>
          <p:nvPr/>
        </p:nvGrpSpPr>
        <p:grpSpPr>
          <a:xfrm>
            <a:off x="5599227" y="1032179"/>
            <a:ext cx="3326445" cy="2823180"/>
            <a:chOff x="1054903" y="1363393"/>
            <a:chExt cx="4626939" cy="3600000"/>
          </a:xfrm>
        </p:grpSpPr>
        <p:grpSp>
          <p:nvGrpSpPr>
            <p:cNvPr id="79" name="Group 78">
              <a:extLst>
                <a:ext uri="{FF2B5EF4-FFF2-40B4-BE49-F238E27FC236}">
                  <a16:creationId xmlns:a16="http://schemas.microsoft.com/office/drawing/2014/main" id="{4ED3F46F-DC18-6391-8105-AA697B7747C2}"/>
                </a:ext>
              </a:extLst>
            </p:cNvPr>
            <p:cNvGrpSpPr/>
            <p:nvPr/>
          </p:nvGrpSpPr>
          <p:grpSpPr>
            <a:xfrm>
              <a:off x="1054903" y="1363393"/>
              <a:ext cx="4626939" cy="3600000"/>
              <a:chOff x="1054904" y="1200155"/>
              <a:chExt cx="4927617" cy="3601072"/>
            </a:xfrm>
          </p:grpSpPr>
          <p:pic>
            <p:nvPicPr>
              <p:cNvPr id="84" name="Picture 83">
                <a:extLst>
                  <a:ext uri="{FF2B5EF4-FFF2-40B4-BE49-F238E27FC236}">
                    <a16:creationId xmlns:a16="http://schemas.microsoft.com/office/drawing/2014/main" id="{FABB742B-9779-0465-C259-DD2573559646}"/>
                  </a:ext>
                </a:extLst>
              </p:cNvPr>
              <p:cNvPicPr>
                <a:picLocks/>
              </p:cNvPicPr>
              <p:nvPr/>
            </p:nvPicPr>
            <p:blipFill>
              <a:blip r:embed="rId7">
                <a:biLevel thresh="75000"/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1054904" y="1200155"/>
                <a:ext cx="4927617" cy="3601072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40F03DAF-9C8C-E632-D75C-DF45F7659EE5}"/>
                  </a:ext>
                </a:extLst>
              </p:cNvPr>
              <p:cNvSpPr/>
              <p:nvPr/>
            </p:nvSpPr>
            <p:spPr>
              <a:xfrm>
                <a:off x="1486014" y="2104150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DE0F72D0-A71E-B680-123E-D91909E35BA7}"/>
                  </a:ext>
                </a:extLst>
              </p:cNvPr>
              <p:cNvSpPr/>
              <p:nvPr/>
            </p:nvSpPr>
            <p:spPr>
              <a:xfrm>
                <a:off x="2555070" y="3033420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ACB2F929-E154-3686-6854-44785E9CDCD6}"/>
                  </a:ext>
                </a:extLst>
              </p:cNvPr>
              <p:cNvSpPr/>
              <p:nvPr/>
            </p:nvSpPr>
            <p:spPr>
              <a:xfrm>
                <a:off x="3715970" y="3073533"/>
                <a:ext cx="703406" cy="24014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366C91E7-5B62-9869-0353-44F1526FF73B}"/>
                  </a:ext>
                </a:extLst>
              </p:cNvPr>
              <p:cNvSpPr/>
              <p:nvPr/>
            </p:nvSpPr>
            <p:spPr>
              <a:xfrm>
                <a:off x="5397029" y="3091033"/>
                <a:ext cx="527521" cy="20117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D560A7F0-B90A-AF7F-A883-CF1041484132}"/>
                  </a:ext>
                </a:extLst>
              </p:cNvPr>
              <p:cNvSpPr/>
              <p:nvPr/>
            </p:nvSpPr>
            <p:spPr>
              <a:xfrm>
                <a:off x="1468417" y="3119201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14ED0F49-FAA4-0AB9-0346-7032B03D4C1B}"/>
                </a:ext>
              </a:extLst>
            </p:cNvPr>
            <p:cNvCxnSpPr/>
            <p:nvPr/>
          </p:nvCxnSpPr>
          <p:spPr>
            <a:xfrm flipV="1">
              <a:off x="1601848" y="3920464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429EC13A-C0EE-64FD-58A5-021924C2CEE4}"/>
                    </a:ext>
                  </a:extLst>
                </p:cNvPr>
                <p:cNvSpPr txBox="1"/>
                <p:nvPr/>
              </p:nvSpPr>
              <p:spPr>
                <a:xfrm>
                  <a:off x="1657934" y="4069558"/>
                  <a:ext cx="31656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6806677D-0818-3210-9991-80EAAFAEA9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7934" y="4069558"/>
                  <a:ext cx="316562" cy="184666"/>
                </a:xfrm>
                <a:prstGeom prst="rect">
                  <a:avLst/>
                </a:prstGeom>
                <a:blipFill>
                  <a:blip r:embed="rId9"/>
                  <a:stretch>
                    <a:fillRect l="-5769" t="-3333" r="-15385" b="-4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9A114535-2247-6B08-8DA7-704BEBE278D9}"/>
                </a:ext>
              </a:extLst>
            </p:cNvPr>
            <p:cNvCxnSpPr/>
            <p:nvPr/>
          </p:nvCxnSpPr>
          <p:spPr>
            <a:xfrm flipV="1">
              <a:off x="4752281" y="2872673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2761A93D-AA81-8CAE-7391-1FE645F4975D}"/>
                    </a:ext>
                  </a:extLst>
                </p:cNvPr>
                <p:cNvSpPr txBox="1"/>
                <p:nvPr/>
              </p:nvSpPr>
              <p:spPr>
                <a:xfrm>
                  <a:off x="4361210" y="3036681"/>
                  <a:ext cx="32117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2761A93D-AA81-8CAE-7391-1FE645F497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61210" y="3036681"/>
                  <a:ext cx="321178" cy="184666"/>
                </a:xfrm>
                <a:prstGeom prst="rect">
                  <a:avLst/>
                </a:prstGeom>
                <a:blipFill>
                  <a:blip r:embed="rId10"/>
                  <a:stretch>
                    <a:fillRect l="-15789" t="-4348" r="-52632" b="-8260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151950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8FCD4-D77B-F1C4-55DD-38C4A934B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E96176C0-9C44-1775-37E4-AD2AFEED5530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2CB0E4D0-484C-0B4E-BDE7-3504057701ED}"/>
              </a:ext>
            </a:extLst>
          </p:cNvPr>
          <p:cNvGrpSpPr/>
          <p:nvPr/>
        </p:nvGrpSpPr>
        <p:grpSpPr>
          <a:xfrm>
            <a:off x="326176" y="1002105"/>
            <a:ext cx="8527603" cy="3871961"/>
            <a:chOff x="-143123" y="1695451"/>
            <a:chExt cx="8378236" cy="3827203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18D23FFC-B47E-B3BA-1B54-489B1B98EC82}"/>
                </a:ext>
              </a:extLst>
            </p:cNvPr>
            <p:cNvGrpSpPr/>
            <p:nvPr/>
          </p:nvGrpSpPr>
          <p:grpSpPr>
            <a:xfrm>
              <a:off x="-143123" y="1695451"/>
              <a:ext cx="6901731" cy="3827203"/>
              <a:chOff x="1006751" y="1255937"/>
              <a:chExt cx="6952009" cy="3806453"/>
            </a:xfrm>
          </p:grpSpPr>
          <p:pic>
            <p:nvPicPr>
              <p:cNvPr id="68" name="Picture 67" descr="A black and white drawing of a speaker&#10;&#10;AI-generated content may be incorrect.">
                <a:extLst>
                  <a:ext uri="{FF2B5EF4-FFF2-40B4-BE49-F238E27FC236}">
                    <a16:creationId xmlns:a16="http://schemas.microsoft.com/office/drawing/2014/main" id="{9E3ADCD7-C186-B526-3478-BB91B29595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5915" t="5174" r="12970" b="6005"/>
              <a:stretch>
                <a:fillRect/>
              </a:stretch>
            </p:blipFill>
            <p:spPr>
              <a:xfrm>
                <a:off x="5339199" y="1663215"/>
                <a:ext cx="2619561" cy="2902226"/>
              </a:xfrm>
              <a:prstGeom prst="rect">
                <a:avLst/>
              </a:prstGeom>
            </p:spPr>
          </p:pic>
          <p:pic>
            <p:nvPicPr>
              <p:cNvPr id="69" name="Picture 2" descr="Coloriage Guitare électrique normale - Dessin gratuit à imprimer">
                <a:extLst>
                  <a:ext uri="{FF2B5EF4-FFF2-40B4-BE49-F238E27FC236}">
                    <a16:creationId xmlns:a16="http://schemas.microsoft.com/office/drawing/2014/main" id="{84FFA659-5182-64DC-FE6E-6A51D79B76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75" t="9659" r="3272" b="14511"/>
              <a:stretch>
                <a:fillRect/>
              </a:stretch>
            </p:blipFill>
            <p:spPr bwMode="auto">
              <a:xfrm rot="18368299">
                <a:off x="661136" y="1601552"/>
                <a:ext cx="3716782" cy="3025552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42BC230A-33A9-0CE3-C146-6A6EFA124000}"/>
                  </a:ext>
                </a:extLst>
              </p:cNvPr>
              <p:cNvSpPr/>
              <p:nvPr/>
            </p:nvSpPr>
            <p:spPr>
              <a:xfrm>
                <a:off x="2687541" y="2252273"/>
                <a:ext cx="3045349" cy="2810117"/>
              </a:xfrm>
              <a:custGeom>
                <a:avLst/>
                <a:gdLst>
                  <a:gd name="csX0" fmla="*/ 0 w 3045349"/>
                  <a:gd name="csY0" fmla="*/ 2454899 h 2876318"/>
                  <a:gd name="csX1" fmla="*/ 31805 w 3045349"/>
                  <a:gd name="csY1" fmla="*/ 2494656 h 2876318"/>
                  <a:gd name="csX2" fmla="*/ 47708 w 3045349"/>
                  <a:gd name="csY2" fmla="*/ 2518510 h 2876318"/>
                  <a:gd name="csX3" fmla="*/ 71562 w 3045349"/>
                  <a:gd name="csY3" fmla="*/ 2526461 h 2876318"/>
                  <a:gd name="csX4" fmla="*/ 127221 w 3045349"/>
                  <a:gd name="csY4" fmla="*/ 2574169 h 2876318"/>
                  <a:gd name="csX5" fmla="*/ 206734 w 3045349"/>
                  <a:gd name="csY5" fmla="*/ 2637779 h 2876318"/>
                  <a:gd name="csX6" fmla="*/ 246490 w 3045349"/>
                  <a:gd name="csY6" fmla="*/ 2661633 h 2876318"/>
                  <a:gd name="csX7" fmla="*/ 278296 w 3045349"/>
                  <a:gd name="csY7" fmla="*/ 2677536 h 2876318"/>
                  <a:gd name="csX8" fmla="*/ 310101 w 3045349"/>
                  <a:gd name="csY8" fmla="*/ 2701390 h 2876318"/>
                  <a:gd name="csX9" fmla="*/ 373711 w 3045349"/>
                  <a:gd name="csY9" fmla="*/ 2733195 h 2876318"/>
                  <a:gd name="csX10" fmla="*/ 429370 w 3045349"/>
                  <a:gd name="csY10" fmla="*/ 2765000 h 2876318"/>
                  <a:gd name="csX11" fmla="*/ 532737 w 3045349"/>
                  <a:gd name="csY11" fmla="*/ 2804757 h 2876318"/>
                  <a:gd name="csX12" fmla="*/ 596348 w 3045349"/>
                  <a:gd name="csY12" fmla="*/ 2836562 h 2876318"/>
                  <a:gd name="csX13" fmla="*/ 659958 w 3045349"/>
                  <a:gd name="csY13" fmla="*/ 2852464 h 2876318"/>
                  <a:gd name="csX14" fmla="*/ 914400 w 3045349"/>
                  <a:gd name="csY14" fmla="*/ 2876318 h 2876318"/>
                  <a:gd name="csX15" fmla="*/ 1121134 w 3045349"/>
                  <a:gd name="csY15" fmla="*/ 2852464 h 2876318"/>
                  <a:gd name="csX16" fmla="*/ 1288111 w 3045349"/>
                  <a:gd name="csY16" fmla="*/ 2780903 h 2876318"/>
                  <a:gd name="csX17" fmla="*/ 1431235 w 3045349"/>
                  <a:gd name="csY17" fmla="*/ 2709341 h 2876318"/>
                  <a:gd name="csX18" fmla="*/ 1478942 w 3045349"/>
                  <a:gd name="csY18" fmla="*/ 2661633 h 2876318"/>
                  <a:gd name="csX19" fmla="*/ 1630017 w 3045349"/>
                  <a:gd name="csY19" fmla="*/ 2470802 h 2876318"/>
                  <a:gd name="csX20" fmla="*/ 1733384 w 3045349"/>
                  <a:gd name="csY20" fmla="*/ 2208409 h 2876318"/>
                  <a:gd name="csX21" fmla="*/ 1733384 w 3045349"/>
                  <a:gd name="csY21" fmla="*/ 1946016 h 2876318"/>
                  <a:gd name="csX22" fmla="*/ 1709530 w 3045349"/>
                  <a:gd name="csY22" fmla="*/ 1858551 h 2876318"/>
                  <a:gd name="csX23" fmla="*/ 1661822 w 3045349"/>
                  <a:gd name="csY23" fmla="*/ 1715428 h 2876318"/>
                  <a:gd name="csX24" fmla="*/ 1614115 w 3045349"/>
                  <a:gd name="csY24" fmla="*/ 1556402 h 2876318"/>
                  <a:gd name="csX25" fmla="*/ 1534602 w 3045349"/>
                  <a:gd name="csY25" fmla="*/ 1413278 h 2876318"/>
                  <a:gd name="csX26" fmla="*/ 1502796 w 3045349"/>
                  <a:gd name="csY26" fmla="*/ 1349668 h 2876318"/>
                  <a:gd name="csX27" fmla="*/ 1399429 w 3045349"/>
                  <a:gd name="csY27" fmla="*/ 1166788 h 2876318"/>
                  <a:gd name="csX28" fmla="*/ 1351722 w 3045349"/>
                  <a:gd name="csY28" fmla="*/ 1023664 h 2876318"/>
                  <a:gd name="csX29" fmla="*/ 1327868 w 3045349"/>
                  <a:gd name="csY29" fmla="*/ 952103 h 2876318"/>
                  <a:gd name="csX30" fmla="*/ 1343770 w 3045349"/>
                  <a:gd name="csY30" fmla="*/ 673807 h 2876318"/>
                  <a:gd name="csX31" fmla="*/ 1367624 w 3045349"/>
                  <a:gd name="csY31" fmla="*/ 610197 h 2876318"/>
                  <a:gd name="csX32" fmla="*/ 1478942 w 3045349"/>
                  <a:gd name="csY32" fmla="*/ 475024 h 2876318"/>
                  <a:gd name="csX33" fmla="*/ 1526650 w 3045349"/>
                  <a:gd name="csY33" fmla="*/ 403463 h 2876318"/>
                  <a:gd name="csX34" fmla="*/ 1630017 w 3045349"/>
                  <a:gd name="csY34" fmla="*/ 315998 h 2876318"/>
                  <a:gd name="csX35" fmla="*/ 1693628 w 3045349"/>
                  <a:gd name="csY35" fmla="*/ 252388 h 2876318"/>
                  <a:gd name="csX36" fmla="*/ 1836751 w 3045349"/>
                  <a:gd name="csY36" fmla="*/ 164924 h 2876318"/>
                  <a:gd name="csX37" fmla="*/ 1948069 w 3045349"/>
                  <a:gd name="csY37" fmla="*/ 93362 h 2876318"/>
                  <a:gd name="csX38" fmla="*/ 2138901 w 3045349"/>
                  <a:gd name="csY38" fmla="*/ 45654 h 2876318"/>
                  <a:gd name="csX39" fmla="*/ 2337683 w 3045349"/>
                  <a:gd name="csY39" fmla="*/ 21800 h 2876318"/>
                  <a:gd name="csX40" fmla="*/ 2488758 w 3045349"/>
                  <a:gd name="csY40" fmla="*/ 13849 h 2876318"/>
                  <a:gd name="csX41" fmla="*/ 2862469 w 3045349"/>
                  <a:gd name="csY41" fmla="*/ 13849 h 2876318"/>
                  <a:gd name="csX42" fmla="*/ 2981739 w 3045349"/>
                  <a:gd name="csY42" fmla="*/ 45654 h 2876318"/>
                  <a:gd name="csX43" fmla="*/ 3045349 w 3045349"/>
                  <a:gd name="csY43" fmla="*/ 69508 h 28763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</a:cxnLst>
                <a:rect l="l" t="t" r="r" b="b"/>
                <a:pathLst>
                  <a:path w="3045349" h="2876318">
                    <a:moveTo>
                      <a:pt x="0" y="2454899"/>
                    </a:moveTo>
                    <a:cubicBezTo>
                      <a:pt x="10602" y="2468151"/>
                      <a:pt x="21622" y="2481079"/>
                      <a:pt x="31805" y="2494656"/>
                    </a:cubicBezTo>
                    <a:cubicBezTo>
                      <a:pt x="37539" y="2502301"/>
                      <a:pt x="40246" y="2512540"/>
                      <a:pt x="47708" y="2518510"/>
                    </a:cubicBezTo>
                    <a:cubicBezTo>
                      <a:pt x="54253" y="2523746"/>
                      <a:pt x="63611" y="2523811"/>
                      <a:pt x="71562" y="2526461"/>
                    </a:cubicBezTo>
                    <a:cubicBezTo>
                      <a:pt x="160673" y="2637849"/>
                      <a:pt x="61551" y="2528705"/>
                      <a:pt x="127221" y="2574169"/>
                    </a:cubicBezTo>
                    <a:cubicBezTo>
                      <a:pt x="155128" y="2593489"/>
                      <a:pt x="177629" y="2620316"/>
                      <a:pt x="206734" y="2637779"/>
                    </a:cubicBezTo>
                    <a:cubicBezTo>
                      <a:pt x="219986" y="2645730"/>
                      <a:pt x="232980" y="2654128"/>
                      <a:pt x="246490" y="2661633"/>
                    </a:cubicBezTo>
                    <a:cubicBezTo>
                      <a:pt x="256852" y="2667390"/>
                      <a:pt x="268244" y="2671254"/>
                      <a:pt x="278296" y="2677536"/>
                    </a:cubicBezTo>
                    <a:cubicBezTo>
                      <a:pt x="289534" y="2684560"/>
                      <a:pt x="298654" y="2694713"/>
                      <a:pt x="310101" y="2701390"/>
                    </a:cubicBezTo>
                    <a:cubicBezTo>
                      <a:pt x="330578" y="2713335"/>
                      <a:pt x="352794" y="2722039"/>
                      <a:pt x="373711" y="2733195"/>
                    </a:cubicBezTo>
                    <a:cubicBezTo>
                      <a:pt x="392565" y="2743251"/>
                      <a:pt x="409884" y="2756231"/>
                      <a:pt x="429370" y="2765000"/>
                    </a:cubicBezTo>
                    <a:cubicBezTo>
                      <a:pt x="463035" y="2780149"/>
                      <a:pt x="499718" y="2788248"/>
                      <a:pt x="532737" y="2804757"/>
                    </a:cubicBezTo>
                    <a:cubicBezTo>
                      <a:pt x="553941" y="2815359"/>
                      <a:pt x="574151" y="2828238"/>
                      <a:pt x="596348" y="2836562"/>
                    </a:cubicBezTo>
                    <a:cubicBezTo>
                      <a:pt x="616812" y="2844236"/>
                      <a:pt x="638488" y="2848375"/>
                      <a:pt x="659958" y="2852464"/>
                    </a:cubicBezTo>
                    <a:cubicBezTo>
                      <a:pt x="772459" y="2873893"/>
                      <a:pt x="787397" y="2869634"/>
                      <a:pt x="914400" y="2876318"/>
                    </a:cubicBezTo>
                    <a:cubicBezTo>
                      <a:pt x="983311" y="2868367"/>
                      <a:pt x="1052975" y="2865359"/>
                      <a:pt x="1121134" y="2852464"/>
                    </a:cubicBezTo>
                    <a:cubicBezTo>
                      <a:pt x="1180843" y="2841168"/>
                      <a:pt x="1233964" y="2805269"/>
                      <a:pt x="1288111" y="2780903"/>
                    </a:cubicBezTo>
                    <a:cubicBezTo>
                      <a:pt x="1358137" y="2749391"/>
                      <a:pt x="1372061" y="2755834"/>
                      <a:pt x="1431235" y="2709341"/>
                    </a:cubicBezTo>
                    <a:cubicBezTo>
                      <a:pt x="1448919" y="2695446"/>
                      <a:pt x="1463561" y="2678040"/>
                      <a:pt x="1478942" y="2661633"/>
                    </a:cubicBezTo>
                    <a:cubicBezTo>
                      <a:pt x="1534843" y="2602004"/>
                      <a:pt x="1588815" y="2542364"/>
                      <a:pt x="1630017" y="2470802"/>
                    </a:cubicBezTo>
                    <a:cubicBezTo>
                      <a:pt x="1699402" y="2350291"/>
                      <a:pt x="1699220" y="2327984"/>
                      <a:pt x="1733384" y="2208409"/>
                    </a:cubicBezTo>
                    <a:cubicBezTo>
                      <a:pt x="1742438" y="2099766"/>
                      <a:pt x="1749009" y="2071016"/>
                      <a:pt x="1733384" y="1946016"/>
                    </a:cubicBezTo>
                    <a:cubicBezTo>
                      <a:pt x="1729636" y="1916030"/>
                      <a:pt x="1716227" y="1888019"/>
                      <a:pt x="1709530" y="1858551"/>
                    </a:cubicBezTo>
                    <a:cubicBezTo>
                      <a:pt x="1681618" y="1735734"/>
                      <a:pt x="1714235" y="1807148"/>
                      <a:pt x="1661822" y="1715428"/>
                    </a:cubicBezTo>
                    <a:cubicBezTo>
                      <a:pt x="1654666" y="1689190"/>
                      <a:pt x="1628127" y="1585505"/>
                      <a:pt x="1614115" y="1556402"/>
                    </a:cubicBezTo>
                    <a:cubicBezTo>
                      <a:pt x="1590439" y="1507229"/>
                      <a:pt x="1559010" y="1462092"/>
                      <a:pt x="1534602" y="1413278"/>
                    </a:cubicBezTo>
                    <a:cubicBezTo>
                      <a:pt x="1524000" y="1392075"/>
                      <a:pt x="1514379" y="1370352"/>
                      <a:pt x="1502796" y="1349668"/>
                    </a:cubicBezTo>
                    <a:cubicBezTo>
                      <a:pt x="1455116" y="1264526"/>
                      <a:pt x="1432768" y="1239023"/>
                      <a:pt x="1399429" y="1166788"/>
                    </a:cubicBezTo>
                    <a:cubicBezTo>
                      <a:pt x="1363215" y="1088324"/>
                      <a:pt x="1381571" y="1123160"/>
                      <a:pt x="1351722" y="1023664"/>
                    </a:cubicBezTo>
                    <a:cubicBezTo>
                      <a:pt x="1344497" y="999580"/>
                      <a:pt x="1335819" y="975957"/>
                      <a:pt x="1327868" y="952103"/>
                    </a:cubicBezTo>
                    <a:cubicBezTo>
                      <a:pt x="1312766" y="831293"/>
                      <a:pt x="1311555" y="861726"/>
                      <a:pt x="1343770" y="673807"/>
                    </a:cubicBezTo>
                    <a:cubicBezTo>
                      <a:pt x="1347596" y="651487"/>
                      <a:pt x="1356626" y="629992"/>
                      <a:pt x="1367624" y="610197"/>
                    </a:cubicBezTo>
                    <a:cubicBezTo>
                      <a:pt x="1431450" y="495311"/>
                      <a:pt x="1405986" y="564816"/>
                      <a:pt x="1478942" y="475024"/>
                    </a:cubicBezTo>
                    <a:cubicBezTo>
                      <a:pt x="1497020" y="452774"/>
                      <a:pt x="1508572" y="425713"/>
                      <a:pt x="1526650" y="403463"/>
                    </a:cubicBezTo>
                    <a:cubicBezTo>
                      <a:pt x="1601764" y="311016"/>
                      <a:pt x="1556151" y="379312"/>
                      <a:pt x="1630017" y="315998"/>
                    </a:cubicBezTo>
                    <a:cubicBezTo>
                      <a:pt x="1652784" y="296483"/>
                      <a:pt x="1670481" y="271450"/>
                      <a:pt x="1693628" y="252388"/>
                    </a:cubicBezTo>
                    <a:cubicBezTo>
                      <a:pt x="1748930" y="206845"/>
                      <a:pt x="1777215" y="202134"/>
                      <a:pt x="1836751" y="164924"/>
                    </a:cubicBezTo>
                    <a:cubicBezTo>
                      <a:pt x="1880106" y="137827"/>
                      <a:pt x="1900442" y="112973"/>
                      <a:pt x="1948069" y="93362"/>
                    </a:cubicBezTo>
                    <a:cubicBezTo>
                      <a:pt x="1991495" y="75481"/>
                      <a:pt x="2099863" y="52160"/>
                      <a:pt x="2138901" y="45654"/>
                    </a:cubicBezTo>
                    <a:cubicBezTo>
                      <a:pt x="2139259" y="45594"/>
                      <a:pt x="2308265" y="23901"/>
                      <a:pt x="2337683" y="21800"/>
                    </a:cubicBezTo>
                    <a:cubicBezTo>
                      <a:pt x="2387983" y="18207"/>
                      <a:pt x="2438400" y="16499"/>
                      <a:pt x="2488758" y="13849"/>
                    </a:cubicBezTo>
                    <a:cubicBezTo>
                      <a:pt x="2634733" y="-2372"/>
                      <a:pt x="2644304" y="-6733"/>
                      <a:pt x="2862469" y="13849"/>
                    </a:cubicBezTo>
                    <a:cubicBezTo>
                      <a:pt x="2903433" y="17714"/>
                      <a:pt x="2942705" y="32642"/>
                      <a:pt x="2981739" y="45654"/>
                    </a:cubicBezTo>
                    <a:cubicBezTo>
                      <a:pt x="3035069" y="63431"/>
                      <a:pt x="3014454" y="54060"/>
                      <a:pt x="3045349" y="69508"/>
                    </a:cubicBezTo>
                  </a:path>
                </a:pathLst>
              </a:custGeom>
              <a:ln w="101600"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pic>
          <p:nvPicPr>
            <p:cNvPr id="67" name="Picture 8" descr="Sound PNG Transparent Images">
              <a:extLst>
                <a:ext uri="{FF2B5EF4-FFF2-40B4-BE49-F238E27FC236}">
                  <a16:creationId xmlns:a16="http://schemas.microsoft.com/office/drawing/2014/main" id="{D32D96BA-E861-4A25-8537-B34D005C12D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58608" y="2831113"/>
              <a:ext cx="1476505" cy="14765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6C5A857-3856-ABEB-0586-58660E5AF6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3353FF4-31AA-5E70-D72A-ECD173730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14</a:t>
            </a:fld>
            <a:endParaRPr lang="fr-FR" sz="1200" b="1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AF150A1-C0FD-2A31-918E-93B83058E113}"/>
              </a:ext>
            </a:extLst>
          </p:cNvPr>
          <p:cNvGrpSpPr/>
          <p:nvPr/>
        </p:nvGrpSpPr>
        <p:grpSpPr>
          <a:xfrm>
            <a:off x="326177" y="4838220"/>
            <a:ext cx="8527602" cy="1210580"/>
            <a:chOff x="385745" y="5083538"/>
            <a:chExt cx="8293184" cy="121058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3351E8A2-562F-2391-DE82-01FB673AEF5C}"/>
                </a:ext>
              </a:extLst>
            </p:cNvPr>
            <p:cNvGrpSpPr/>
            <p:nvPr/>
          </p:nvGrpSpPr>
          <p:grpSpPr>
            <a:xfrm>
              <a:off x="385745" y="5083538"/>
              <a:ext cx="8293184" cy="1150814"/>
              <a:chOff x="385745" y="5083538"/>
              <a:chExt cx="8293184" cy="1150814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CCC22706-E154-E480-834B-0A0914D263CE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68D96272-AB69-A3F2-22CA-7CB0AF5B7115}"/>
                    </a:ext>
                  </a:extLst>
                </p:cNvPr>
                <p:cNvSpPr/>
                <p:nvPr/>
              </p:nvSpPr>
              <p:spPr>
                <a:xfrm>
                  <a:off x="4222980" y="3059437"/>
                  <a:ext cx="1244192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Filtrage Interne</a:t>
                  </a:r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22482C0E-9587-3BAE-6CD8-E6F6F1AC4195}"/>
                    </a:ext>
                  </a:extLst>
                </p:cNvPr>
                <p:cNvSpPr/>
                <p:nvPr/>
              </p:nvSpPr>
              <p:spPr>
                <a:xfrm>
                  <a:off x="2406061" y="3059437"/>
                  <a:ext cx="1244192" cy="739126"/>
                </a:xfrm>
                <a:prstGeom prst="rect">
                  <a:avLst/>
                </a:prstGeom>
                <a:solidFill>
                  <a:srgbClr val="559AD7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Induction</a:t>
                  </a:r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A04BD342-1123-F804-2806-2DFDD4AC9A26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Amplificateur</a:t>
                  </a:r>
                </a:p>
              </p:txBody>
            </p:sp>
            <p:cxnSp>
              <p:nvCxnSpPr>
                <p:cNvPr id="57" name="Straight Arrow Connector 56">
                  <a:extLst>
                    <a:ext uri="{FF2B5EF4-FFF2-40B4-BE49-F238E27FC236}">
                      <a16:creationId xmlns:a16="http://schemas.microsoft.com/office/drawing/2014/main" id="{DF1803B1-9D88-36E3-0A95-86E105BC2365}"/>
                    </a:ext>
                  </a:extLst>
                </p:cNvPr>
                <p:cNvCxnSpPr>
                  <a:cxnSpLocks/>
                  <a:stCxn id="55" idx="3"/>
                  <a:endCxn id="54" idx="1"/>
                </p:cNvCxnSpPr>
                <p:nvPr/>
              </p:nvCxnSpPr>
              <p:spPr>
                <a:xfrm>
                  <a:off x="3650253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Arrow Connector 57">
                  <a:extLst>
                    <a:ext uri="{FF2B5EF4-FFF2-40B4-BE49-F238E27FC236}">
                      <a16:creationId xmlns:a16="http://schemas.microsoft.com/office/drawing/2014/main" id="{8E4A1CAC-CFDD-3534-8AA1-4979F7B51B35}"/>
                    </a:ext>
                  </a:extLst>
                </p:cNvPr>
                <p:cNvCxnSpPr>
                  <a:cxnSpLocks/>
                  <a:stCxn id="54" idx="3"/>
                  <a:endCxn id="56" idx="1"/>
                </p:cNvCxnSpPr>
                <p:nvPr/>
              </p:nvCxnSpPr>
              <p:spPr>
                <a:xfrm>
                  <a:off x="5467172" y="3429000"/>
                  <a:ext cx="572726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Arrow Connector 58">
                  <a:extLst>
                    <a:ext uri="{FF2B5EF4-FFF2-40B4-BE49-F238E27FC236}">
                      <a16:creationId xmlns:a16="http://schemas.microsoft.com/office/drawing/2014/main" id="{AE6E9B31-F506-D994-C412-03730C5F49D8}"/>
                    </a:ext>
                  </a:extLst>
                </p:cNvPr>
                <p:cNvCxnSpPr>
                  <a:cxnSpLocks/>
                  <a:endCxn id="55" idx="1"/>
                </p:cNvCxnSpPr>
                <p:nvPr/>
              </p:nvCxnSpPr>
              <p:spPr>
                <a:xfrm>
                  <a:off x="1833334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Arrow Connector 59">
                  <a:extLst>
                    <a:ext uri="{FF2B5EF4-FFF2-40B4-BE49-F238E27FC236}">
                      <a16:creationId xmlns:a16="http://schemas.microsoft.com/office/drawing/2014/main" id="{85B4BC89-9F96-94D7-6A77-412D6FACFCE0}"/>
                    </a:ext>
                  </a:extLst>
                </p:cNvPr>
                <p:cNvCxnSpPr>
                  <a:cxnSpLocks/>
                  <a:stCxn id="56" idx="3"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335B79A7-CE76-21F2-4764-BFF291CE560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335B79A7-CE76-21F2-4764-BFF291CE560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30E53824-5154-9021-5E92-F61E789FEE1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30E53824-5154-9021-5E92-F61E789FEE1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B07A5120-CACE-7227-3E1A-512C8B3FEF9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B07A5120-CACE-7227-3E1A-512C8B3FEF9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8219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8E7C32FB-5DCC-5278-06CE-1337AEF841C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8E7C32FB-5DCC-5278-06CE-1337AEF841C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1285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D6A8F45-F97F-1579-0616-154D45687B1D}"/>
                  </a:ext>
                </a:extLst>
              </p:cNvPr>
              <p:cNvSpPr txBox="1"/>
              <p:nvPr/>
            </p:nvSpPr>
            <p:spPr>
              <a:xfrm>
                <a:off x="3857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Corde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908772BC-B767-5069-5611-84F2D865EA5D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Son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28CC04AB-3F10-7818-1627-D458DD445E99}"/>
                  </a:ext>
                </a:extLst>
              </p:cNvPr>
              <p:cNvSpPr txBox="1"/>
              <p:nvPr/>
            </p:nvSpPr>
            <p:spPr>
              <a:xfrm>
                <a:off x="2968578" y="5083538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>
                    <a:solidFill>
                      <a:srgbClr val="C00000"/>
                    </a:solidFill>
                  </a:rPr>
                  <a:t>Micro</a:t>
                </a:r>
              </a:p>
            </p:txBody>
          </p:sp>
        </p:grp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CA3BDDDA-3141-7E4A-0F8B-25F068259B22}"/>
                </a:ext>
              </a:extLst>
            </p:cNvPr>
            <p:cNvSpPr/>
            <p:nvPr/>
          </p:nvSpPr>
          <p:spPr>
            <a:xfrm>
              <a:off x="1791455" y="5434033"/>
              <a:ext cx="3187230" cy="860085"/>
            </a:xfrm>
            <a:prstGeom prst="rect">
              <a:avLst/>
            </a:prstGeom>
            <a:noFill/>
            <a:ln w="38100">
              <a:solidFill>
                <a:srgbClr val="C0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B4ADB00-D268-0454-EE6E-4FC9D2A05712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83B424D-5FFE-4A76-56AC-BBA4DFB3F601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Footer Placeholder 2">
              <a:extLst>
                <a:ext uri="{FF2B5EF4-FFF2-40B4-BE49-F238E27FC236}">
                  <a16:creationId xmlns:a16="http://schemas.microsoft.com/office/drawing/2014/main" id="{0042A8E5-0D8C-FE6B-92B0-F65BDE2E3BC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0" name="Footer Placeholder 2">
            <a:extLst>
              <a:ext uri="{FF2B5EF4-FFF2-40B4-BE49-F238E27FC236}">
                <a16:creationId xmlns:a16="http://schemas.microsoft.com/office/drawing/2014/main" id="{EE3A26E4-93FB-9F10-6EB6-2D1E5A8A75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4E62838-026A-5E99-536A-5C7F4F892C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614588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15988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241A89-AE2B-E041-5B38-418F61804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F954A7EF-E819-7403-B518-89541C0929FA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8AFA9E9-9719-679C-6FBE-1201DA0B61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D01C7BF-D0F9-5DDA-0EB7-BA6419612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15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61B1DFE7-8FA8-677E-D0C4-9ECAB1E04C00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301F8A49-A641-A223-BC2B-565D3A9EA4F1}"/>
                  </a:ext>
                </a:extLst>
              </p:cNvPr>
              <p:cNvSpPr/>
              <p:nvPr/>
            </p:nvSpPr>
            <p:spPr>
              <a:xfrm>
                <a:off x="326176" y="1124075"/>
                <a:ext cx="4070565" cy="1170919"/>
              </a:xfrm>
              <a:prstGeom prst="rect">
                <a:avLst/>
              </a:prstGeom>
              <a:ln w="38100"/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600" b="1" dirty="0"/>
                  <a:t>Hypothèses 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Onde stationnaire dans le plan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1600" b="0" i="1" smtClean="0">
                        <a:latin typeface="Cambria Math" panose="02040503050406030204" pitchFamily="18" charset="0"/>
                      </a:rPr>
                      <m:t>O</m:t>
                    </m:r>
                    <m:acc>
                      <m:accPr>
                        <m:chr m:val="⃗"/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600" b="0" i="1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acc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Micros ponctuels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Induction mutuelle négligée</a:t>
                </a:r>
              </a:p>
            </p:txBody>
          </p:sp>
        </mc:Choice>
        <mc:Fallback xmlns="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301F8A49-A641-A223-BC2B-565D3A9EA4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176" y="1124075"/>
                <a:ext cx="4070565" cy="1170919"/>
              </a:xfrm>
              <a:prstGeom prst="rect">
                <a:avLst/>
              </a:prstGeom>
              <a:blipFill>
                <a:blip r:embed="rId2"/>
                <a:stretch>
                  <a:fillRect l="-446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75243A0-1FE9-8074-A10B-6683AE34908D}"/>
                  </a:ext>
                </a:extLst>
              </p:cNvPr>
              <p:cNvSpPr/>
              <p:nvPr/>
            </p:nvSpPr>
            <p:spPr>
              <a:xfrm>
                <a:off x="4572000" y="1124075"/>
                <a:ext cx="4367789" cy="4946941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400" dirty="0"/>
                  <a:t>L’équation d’onde de la corde est régie par :</a:t>
                </a:r>
                <a:endParaRPr lang="fr-FR" sz="16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𝑧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𝑛𝐹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600" i="1" dirty="0"/>
              </a:p>
              <a:p>
                <a:endParaRPr lang="fr-FR" sz="1600" dirty="0"/>
              </a:p>
              <a:p>
                <a:r>
                  <a:rPr lang="fr-FR" sz="1400" dirty="0"/>
                  <a:t>Or la corde est plongée dans le champ de l’aimant, elle crée donc un </a:t>
                </a:r>
                <a:r>
                  <a:rPr lang="fr-FR" sz="1400" b="1" dirty="0"/>
                  <a:t>champ induit </a:t>
                </a:r>
                <a:r>
                  <a:rPr lang="fr-FR" sz="14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))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fr-FR" sz="2000" i="1" dirty="0"/>
              </a:p>
              <a:p>
                <a:endParaRPr lang="fr-FR" sz="1400" i="1" dirty="0">
                  <a:latin typeface="+mj-lt"/>
                  <a:ea typeface="Cambria Math" panose="02040503050406030204" pitchFamily="18" charset="0"/>
                </a:endParaRPr>
              </a:p>
              <a:p>
                <a:r>
                  <a:rPr lang="fr-FR" sz="1400" dirty="0"/>
                  <a:t>Ainsi le flux à travers le micro est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𝛷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𝑁𝑆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𝑉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fr-FR" sz="2000" i="1" dirty="0"/>
              </a:p>
              <a:p>
                <a:endParaRPr lang="fr-FR" sz="1400" dirty="0"/>
              </a:p>
              <a:p>
                <a:r>
                  <a:rPr lang="fr-FR" sz="1400" dirty="0"/>
                  <a:t>Avec la </a:t>
                </a:r>
                <a:r>
                  <a:rPr lang="fr-FR" sz="1400" b="1" dirty="0"/>
                  <a:t>Loi d’induction de Faraday </a:t>
                </a:r>
                <a:r>
                  <a:rPr lang="fr-FR" sz="14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ⅇ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l-GR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𝛷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𝛷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:endParaRPr lang="fr-FR" sz="16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𝑁𝑆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FR" sz="120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d>
                                <m:d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p>
                              </m:sSup>
                            </m:den>
                          </m:f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p>
                              </m:sSup>
                            </m:den>
                          </m:f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den>
                          </m:f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𝑛𝐹𝑡</m:t>
                                  </m:r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fr-FR" sz="1200" i="1" dirty="0">
                  <a:solidFill>
                    <a:schemeClr val="tx1"/>
                  </a:solidFill>
                </a:endParaRPr>
              </a:p>
              <a:p>
                <a:endParaRPr lang="fr-FR" sz="1200" dirty="0">
                  <a:solidFill>
                    <a:schemeClr val="tx1"/>
                  </a:solidFill>
                </a:endParaRPr>
              </a:p>
              <a:p>
                <a:r>
                  <a:rPr lang="fr-FR" sz="1200" dirty="0">
                    <a:solidFill>
                      <a:schemeClr val="tx1"/>
                    </a:solidFill>
                  </a:rPr>
                  <a:t>Avec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1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100" b="0" i="1" smtClean="0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100" b="0" i="1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</m:sub>
                      </m:sSub>
                      <m:r>
                        <a:rPr lang="fr-FR" sz="11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1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1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r>
                            <a:rPr lang="fr-FR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𝑛𝐹</m:t>
                          </m:r>
                          <m:r>
                            <m:rPr>
                              <m:sty m:val="p"/>
                            </m:rPr>
                            <a:rPr lang="fr-FR" sz="11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1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  <m:r>
                        <m:rPr>
                          <m:nor/>
                        </m:rPr>
                        <a:rPr lang="fr-FR" sz="1100" b="0" i="0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m:rPr>
                          <m:nor/>
                        </m:rPr>
                        <a:rPr lang="fr-FR" sz="1100" b="0" i="0" smtClean="0">
                          <a:latin typeface="Cambria Math" panose="02040503050406030204" pitchFamily="18" charset="0"/>
                        </a:rPr>
                        <m:t>et</m:t>
                      </m:r>
                      <m:r>
                        <a:rPr lang="fr-FR" sz="1100" b="0" i="1" smtClean="0">
                          <a:latin typeface="Cambria Math" panose="02040503050406030204" pitchFamily="18" charset="0"/>
                        </a:rPr>
                        <m:t>   </m:t>
                      </m:r>
                      <m:sSub>
                        <m:sSubPr>
                          <m:ctrlPr>
                            <a:rPr lang="fr-FR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10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1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</m:sSub>
                      <m:r>
                        <a:rPr lang="fr-FR" sz="11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1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1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1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1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1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1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1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1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10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75243A0-1FE9-8074-A10B-6683AE3490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1124075"/>
                <a:ext cx="4367789" cy="4946941"/>
              </a:xfrm>
              <a:prstGeom prst="rect">
                <a:avLst/>
              </a:prstGeom>
              <a:blipFill>
                <a:blip r:embed="rId3"/>
                <a:stretch>
                  <a:fillRect t="-7946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34542817-0D26-16DE-05F1-42109423F7B5}"/>
              </a:ext>
            </a:extLst>
          </p:cNvPr>
          <p:cNvGrpSpPr/>
          <p:nvPr/>
        </p:nvGrpSpPr>
        <p:grpSpPr>
          <a:xfrm>
            <a:off x="326176" y="2443917"/>
            <a:ext cx="4070565" cy="3627100"/>
            <a:chOff x="1131100" y="2976855"/>
            <a:chExt cx="3842591" cy="321820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C2987E6F-BA8C-5202-2C1C-6F726B798189}"/>
                    </a:ext>
                  </a:extLst>
                </p:cNvPr>
                <p:cNvSpPr/>
                <p:nvPr/>
              </p:nvSpPr>
              <p:spPr>
                <a:xfrm>
                  <a:off x="1131100" y="2976855"/>
                  <a:ext cx="3842591" cy="3218206"/>
                </a:xfrm>
                <a:prstGeom prst="rect">
                  <a:avLst/>
                </a:prstGeom>
                <a:ln w="38100"/>
              </p:spPr>
              <p:style>
                <a:lnRef idx="2">
                  <a:schemeClr val="accent4"/>
                </a:lnRef>
                <a:fillRef idx="1">
                  <a:schemeClr val="lt1"/>
                </a:fillRef>
                <a:effectRef idx="0">
                  <a:schemeClr val="accent4"/>
                </a:effectRef>
                <a:fontRef idx="minor">
                  <a:schemeClr val="dk1"/>
                </a:fontRef>
              </p:style>
              <p:txBody>
                <a:bodyPr numCol="1" rtlCol="0" anchor="t"/>
                <a:lstStyle/>
                <a:p>
                  <a:r>
                    <a:rPr lang="fr-FR" sz="1600" b="1" dirty="0"/>
                    <a:t>Notations :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𝑒</m:t>
                      </m:r>
                    </m:oMath>
                  </a14:m>
                  <a:r>
                    <a:rPr lang="fr-FR" sz="1400" dirty="0"/>
                    <a:t> : F.E.M. dans le micro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Fréquence fondamentale de la corde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χ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Susceptibilité magnétique de la code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Volume de la corde ‘’magnétisé’’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a14:m>
                  <a:r>
                    <a:rPr lang="fr-FR" sz="1400" dirty="0"/>
                    <a:t>: Champ magnétique du micro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Nombre de spire du micro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Surface active du micro</a:t>
                  </a:r>
                </a:p>
                <a:p>
                  <a:endParaRPr lang="fr-FR" sz="1400" dirty="0"/>
                </a:p>
                <a:p>
                  <a:endParaRPr lang="fr-FR" sz="1400" dirty="0"/>
                </a:p>
                <a:p>
                  <a:endParaRPr lang="fr-FR" sz="1400" dirty="0"/>
                </a:p>
                <a:p>
                  <a:endParaRPr lang="fr-FR" sz="1400" dirty="0"/>
                </a:p>
                <a:p>
                  <a:endParaRPr lang="fr-FR" sz="1400" dirty="0"/>
                </a:p>
                <a:p>
                  <a:endParaRPr lang="fr-FR" sz="1400" dirty="0"/>
                </a:p>
                <a:p>
                  <a:endParaRPr lang="fr-FR" sz="1400" dirty="0"/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1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1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5/2</m:t>
                              </m:r>
                            </m:sup>
                          </m:sSup>
                          <m:rad>
                            <m:radPr>
                              <m:degHide m:val="on"/>
                              <m:ctrlP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fr-FR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1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1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1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1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1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fr-FR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a14:m>
                  <a:r>
                    <a:rPr lang="fr-FR" sz="1100" dirty="0"/>
                    <a:t> : Amplitude le l’harmonique </a:t>
                  </a:r>
                  <a14:m>
                    <m:oMath xmlns:m="http://schemas.openxmlformats.org/officeDocument/2006/math">
                      <m:r>
                        <a:rPr lang="fr-FR" sz="1100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a14:m>
                  <a:endParaRPr lang="fr-FR" sz="1100" dirty="0"/>
                </a:p>
              </p:txBody>
            </p:sp>
          </mc:Choice>
          <mc:Fallback xmlns="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C2987E6F-BA8C-5202-2C1C-6F726B7981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1100" y="2976855"/>
                  <a:ext cx="3842591" cy="3218206"/>
                </a:xfrm>
                <a:prstGeom prst="rect">
                  <a:avLst/>
                </a:prstGeom>
                <a:blipFill>
                  <a:blip r:embed="rId5"/>
                  <a:stretch>
                    <a:fillRect l="-446" b="-166"/>
                  </a:stretch>
                </a:blipFill>
                <a:ln w="38100"/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AE99069D-051E-87CC-1880-C585FCEACC4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47942" y="4216498"/>
              <a:ext cx="3680460" cy="1524849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6407A35-DBAA-281B-6DDA-73426A4020F8}"/>
              </a:ext>
            </a:extLst>
          </p:cNvPr>
          <p:cNvSpPr txBox="1"/>
          <p:nvPr/>
        </p:nvSpPr>
        <p:spPr>
          <a:xfrm>
            <a:off x="8303977" y="6071016"/>
            <a:ext cx="8994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[3], [6]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BC69331-5718-E0EA-991B-6D586EE81AA9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35852F1-EC13-BF09-0DFA-BE103B31840A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8E2E46A3-2221-A2D5-54B9-A262D8F6744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432302FE-C087-438E-ED4E-ACC60AFC9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FFA5F0B-6893-1941-CFB9-608BD2497F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9154475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D0102D8F-E925-7221-961F-2FEFF9EDBB3E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Théorie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CC3E80D-6DBC-3158-72E1-362EA71CF75B}"/>
                  </a:ext>
                </a:extLst>
              </p:cNvPr>
              <p:cNvSpPr txBox="1"/>
              <p:nvPr/>
            </p:nvSpPr>
            <p:spPr>
              <a:xfrm>
                <a:off x="4163754" y="3837217"/>
                <a:ext cx="139333" cy="21544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CC3E80D-6DBC-3158-72E1-362EA71CF7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3754" y="3837217"/>
                <a:ext cx="139333" cy="215444"/>
              </a:xfrm>
              <a:prstGeom prst="rect">
                <a:avLst/>
              </a:prstGeom>
              <a:blipFill>
                <a:blip r:embed="rId7"/>
                <a:stretch>
                  <a:fillRect l="-26087" t="-33333" r="-100000" b="-55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93394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5DC96-7D6B-022A-BC8C-33392430B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9359E262-01D9-BF02-4695-E9718D933A6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2D5DECE-2A60-2317-83E1-58347A3F21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35306DF-F81B-2F74-5E66-B9A57BEB3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16</a:t>
            </a:fld>
            <a:endParaRPr lang="fr-FR" sz="1200" b="1"/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6652D22F-CABB-77B2-FA12-0A1F4414A2BF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3338D3F1-E023-E957-7E93-0E852832BB7E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3" name="Footer Placeholder 2">
              <a:extLst>
                <a:ext uri="{FF2B5EF4-FFF2-40B4-BE49-F238E27FC236}">
                  <a16:creationId xmlns:a16="http://schemas.microsoft.com/office/drawing/2014/main" id="{6CEAFEBB-B7D7-A979-765E-DCADAB67C2C2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8DF5559-6C9D-3A8E-C3E0-F4F5AC89DB3C}"/>
              </a:ext>
            </a:extLst>
          </p:cNvPr>
          <p:cNvGrpSpPr/>
          <p:nvPr/>
        </p:nvGrpSpPr>
        <p:grpSpPr>
          <a:xfrm>
            <a:off x="5362238" y="1143139"/>
            <a:ext cx="3452207" cy="4920381"/>
            <a:chOff x="6429026" y="1318510"/>
            <a:chExt cx="2513036" cy="377980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9" name="Rectangle 138">
                  <a:extLst>
                    <a:ext uri="{FF2B5EF4-FFF2-40B4-BE49-F238E27FC236}">
                      <a16:creationId xmlns:a16="http://schemas.microsoft.com/office/drawing/2014/main" id="{D1CDCC24-52FC-A6FC-AF35-DBBA86C51873}"/>
                    </a:ext>
                  </a:extLst>
                </p:cNvPr>
                <p:cNvSpPr/>
                <p:nvPr/>
              </p:nvSpPr>
              <p:spPr>
                <a:xfrm>
                  <a:off x="6457016" y="1318510"/>
                  <a:ext cx="2485046" cy="3779800"/>
                </a:xfrm>
                <a:prstGeom prst="rect">
                  <a:avLst/>
                </a:prstGeom>
                <a:ln w="38100">
                  <a:solidFill>
                    <a:schemeClr val="accent6"/>
                  </a:solidFill>
                </a:ln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t"/>
                <a:lstStyle/>
                <a:p>
                  <a:pPr algn="ctr"/>
                  <a:r>
                    <a:rPr lang="fr-FR" sz="1600" b="1" dirty="0">
                      <a:solidFill>
                        <a:schemeClr val="tx1"/>
                      </a:solidFill>
                    </a:rPr>
                    <a:t>Protocole</a:t>
                  </a: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fr-FR" sz="1600" dirty="0">
                      <a:solidFill>
                        <a:schemeClr val="tx1"/>
                      </a:solidFill>
                    </a:rPr>
                    <a:t>Excitation de la corde ‘’à la main’’ à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fr-FR" sz="1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𝟑𝟎</m:t>
                      </m:r>
                    </m:oMath>
                  </a14:m>
                  <a:r>
                    <a:rPr lang="fr-FR" sz="1600" b="1" dirty="0">
                      <a:solidFill>
                        <a:schemeClr val="tx1"/>
                      </a:solidFill>
                    </a:rPr>
                    <a:t> cm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fr-FR" sz="1600" dirty="0">
                      <a:solidFill>
                        <a:schemeClr val="tx1"/>
                      </a:solidFill>
                    </a:rPr>
                    <a:t>Relevé de la tension aux bornes la résistance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𝑎𝑚𝑝</m:t>
                          </m:r>
                        </m:sub>
                      </m:sSub>
                    </m:oMath>
                  </a14:m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fr-FR" sz="1600" dirty="0">
                      <a:solidFill>
                        <a:schemeClr val="tx1"/>
                      </a:solidFill>
                    </a:rPr>
                    <a:t>Fréquence fondamentale: </a:t>
                  </a:r>
                  <a14:m>
                    <m:oMath xmlns:m="http://schemas.openxmlformats.org/officeDocument/2006/math"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𝟖𝟎</m:t>
                      </m:r>
                    </m:oMath>
                  </a14:m>
                  <a:r>
                    <a:rPr lang="fr-FR" sz="1600" b="1" dirty="0">
                      <a:solidFill>
                        <a:schemeClr val="tx1"/>
                      </a:solidFill>
                    </a:rPr>
                    <a:t> Hz </a:t>
                  </a:r>
                  <a:r>
                    <a:rPr lang="fr-FR" sz="1600" dirty="0">
                      <a:solidFill>
                        <a:schemeClr val="tx1"/>
                      </a:solidFill>
                      <a:sym typeface="Wingdings" panose="05000000000000000000" pitchFamily="2" charset="2"/>
                    </a:rPr>
                    <a:t> </a:t>
                  </a:r>
                  <a14:m>
                    <m:oMath xmlns:m="http://schemas.openxmlformats.org/officeDocument/2006/math"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𝑢</m:t>
                      </m:r>
                      <m:d>
                        <m:d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dPr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𝑡</m:t>
                          </m:r>
                        </m:e>
                      </m:d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=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𝑒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(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𝑡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)</m:t>
                      </m:r>
                    </m:oMath>
                  </a14:m>
                  <a:endParaRPr lang="fr-FR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39" name="Rectangle 138">
                  <a:extLst>
                    <a:ext uri="{FF2B5EF4-FFF2-40B4-BE49-F238E27FC236}">
                      <a16:creationId xmlns:a16="http://schemas.microsoft.com/office/drawing/2014/main" id="{D1CDCC24-52FC-A6FC-AF35-DBBA86C5187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57016" y="1318510"/>
                  <a:ext cx="2485046" cy="3779800"/>
                </a:xfrm>
                <a:prstGeom prst="rect">
                  <a:avLst/>
                </a:prstGeom>
                <a:blipFill>
                  <a:blip r:embed="rId2"/>
                  <a:stretch>
                    <a:fillRect l="-177" r="-1237"/>
                  </a:stretch>
                </a:blipFill>
                <a:ln w="38100">
                  <a:solidFill>
                    <a:schemeClr val="accent6"/>
                  </a:solidFill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A23E68A-A65C-A12E-753D-45B38F124E8F}"/>
                </a:ext>
              </a:extLst>
            </p:cNvPr>
            <p:cNvSpPr/>
            <p:nvPr/>
          </p:nvSpPr>
          <p:spPr>
            <a:xfrm rot="16200000">
              <a:off x="6269362" y="4195744"/>
              <a:ext cx="1312065" cy="4571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77392EF7-E69A-FBBE-FF61-674BDCF2226A}"/>
                </a:ext>
              </a:extLst>
            </p:cNvPr>
            <p:cNvGrpSpPr/>
            <p:nvPr/>
          </p:nvGrpSpPr>
          <p:grpSpPr>
            <a:xfrm>
              <a:off x="7114959" y="3562570"/>
              <a:ext cx="1800921" cy="1110504"/>
              <a:chOff x="7133777" y="3809995"/>
              <a:chExt cx="1683780" cy="761469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CAD72CAD-7612-3CF0-D4E3-C46A4DFF08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7989763" y="3876498"/>
                <a:ext cx="827794" cy="690115"/>
              </a:xfrm>
              <a:prstGeom prst="rect">
                <a:avLst/>
              </a:prstGeom>
            </p:spPr>
          </p:pic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652AD20C-FA20-6811-A6D9-40C43C57256C}"/>
                  </a:ext>
                </a:extLst>
              </p:cNvPr>
              <p:cNvSpPr/>
              <p:nvPr/>
            </p:nvSpPr>
            <p:spPr>
              <a:xfrm>
                <a:off x="7133777" y="3881349"/>
                <a:ext cx="179882" cy="690115"/>
              </a:xfrm>
              <a:prstGeom prst="rect">
                <a:avLst/>
              </a:prstGeom>
              <a:ln>
                <a:noFill/>
              </a:ln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14" name="Connector: Elbow 13">
                <a:extLst>
                  <a:ext uri="{FF2B5EF4-FFF2-40B4-BE49-F238E27FC236}">
                    <a16:creationId xmlns:a16="http://schemas.microsoft.com/office/drawing/2014/main" id="{BA47D6C8-36D4-44AD-CA04-1DB90FF0D34A}"/>
                  </a:ext>
                </a:extLst>
              </p:cNvPr>
              <p:cNvCxnSpPr>
                <a:cxnSpLocks/>
                <a:endCxn id="10" idx="2"/>
              </p:cNvCxnSpPr>
              <p:nvPr/>
            </p:nvCxnSpPr>
            <p:spPr>
              <a:xfrm rot="10800000" flipV="1">
                <a:off x="7223719" y="4453242"/>
                <a:ext cx="935397" cy="118221"/>
              </a:xfrm>
              <a:prstGeom prst="bentConnector4">
                <a:avLst>
                  <a:gd name="adj1" fmla="val 388"/>
                  <a:gd name="adj2" fmla="val 293367"/>
                </a:avLst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Connector: Elbow 19">
                <a:extLst>
                  <a:ext uri="{FF2B5EF4-FFF2-40B4-BE49-F238E27FC236}">
                    <a16:creationId xmlns:a16="http://schemas.microsoft.com/office/drawing/2014/main" id="{7D855CD3-8716-F3D8-180F-1F7F063076E1}"/>
                  </a:ext>
                </a:extLst>
              </p:cNvPr>
              <p:cNvCxnSpPr>
                <a:cxnSpLocks/>
                <a:endCxn id="10" idx="0"/>
              </p:cNvCxnSpPr>
              <p:nvPr/>
            </p:nvCxnSpPr>
            <p:spPr>
              <a:xfrm rot="10800000" flipV="1">
                <a:off x="7223718" y="3809995"/>
                <a:ext cx="925872" cy="71353"/>
              </a:xfrm>
              <a:prstGeom prst="bentConnector2">
                <a:avLst/>
              </a:prstGeom>
              <a:ln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800744D9-C28C-C8A8-7738-98A2945790F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149590" y="3810000"/>
                <a:ext cx="0" cy="185575"/>
              </a:xfrm>
              <a:prstGeom prst="line">
                <a:avLst/>
              </a:prstGeom>
              <a:ln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6ECB0DE-2F92-E777-710D-46FE392347D3}"/>
                  </a:ext>
                </a:extLst>
              </p:cNvPr>
              <p:cNvSpPr txBox="1"/>
              <p:nvPr/>
            </p:nvSpPr>
            <p:spPr>
              <a:xfrm>
                <a:off x="7215489" y="3860089"/>
                <a:ext cx="607436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100" b="1" dirty="0"/>
                  <a:t>Micro</a:t>
                </a:r>
                <a:endParaRPr lang="fr-FR" b="1" dirty="0"/>
              </a:p>
            </p:txBody>
          </p:sp>
        </p:grp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9AF6A25-32DF-F6FA-62E8-D619AC7C340C}"/>
                </a:ext>
              </a:extLst>
            </p:cNvPr>
            <p:cNvSpPr txBox="1"/>
            <p:nvPr/>
          </p:nvSpPr>
          <p:spPr>
            <a:xfrm>
              <a:off x="6429026" y="3345405"/>
              <a:ext cx="607436" cy="2364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400" b="1" dirty="0">
                  <a:latin typeface="Arial Black" panose="020B0A04020102020204" pitchFamily="34" charset="0"/>
                </a:rPr>
                <a:t>Corde</a:t>
              </a:r>
              <a:endParaRPr lang="fr-FR" sz="2400" b="1" dirty="0">
                <a:latin typeface="Arial Black" panose="020B0A04020102020204" pitchFamily="34" charset="0"/>
              </a:endParaRP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447045F-3CC6-9ECE-B003-4ABC5359256F}"/>
                </a:ext>
              </a:extLst>
            </p:cNvPr>
            <p:cNvCxnSpPr/>
            <p:nvPr/>
          </p:nvCxnSpPr>
          <p:spPr>
            <a:xfrm flipV="1">
              <a:off x="7388051" y="3926343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1FAE08B2-6F4F-B387-66ED-7ABA96619EA9}"/>
                    </a:ext>
                  </a:extLst>
                </p:cNvPr>
                <p:cNvSpPr txBox="1"/>
                <p:nvPr/>
              </p:nvSpPr>
              <p:spPr>
                <a:xfrm>
                  <a:off x="7392712" y="4017150"/>
                  <a:ext cx="31656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1FAE08B2-6F4F-B387-66ED-7ABA96619E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2712" y="4017150"/>
                  <a:ext cx="316562" cy="184666"/>
                </a:xfrm>
                <a:prstGeom prst="rect">
                  <a:avLst/>
                </a:prstGeom>
                <a:blipFill>
                  <a:blip r:embed="rId8"/>
                  <a:stretch>
                    <a:fillRect t="-3125" r="-4839" b="-3125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A05B622C-2AE6-B718-55A0-799064579779}"/>
                </a:ext>
              </a:extLst>
            </p:cNvPr>
            <p:cNvCxnSpPr/>
            <p:nvPr/>
          </p:nvCxnSpPr>
          <p:spPr>
            <a:xfrm flipV="1">
              <a:off x="8030496" y="3899852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879757A-F1CA-727B-3EAE-68CAA7284482}"/>
                    </a:ext>
                  </a:extLst>
                </p:cNvPr>
                <p:cNvSpPr txBox="1"/>
                <p:nvPr/>
              </p:nvSpPr>
              <p:spPr>
                <a:xfrm>
                  <a:off x="7727026" y="4220013"/>
                  <a:ext cx="31656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879757A-F1CA-727B-3EAE-68CAA72844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27026" y="4220013"/>
                  <a:ext cx="316562" cy="184666"/>
                </a:xfrm>
                <a:prstGeom prst="rect">
                  <a:avLst/>
                </a:prstGeom>
                <a:blipFill>
                  <a:blip r:embed="rId9"/>
                  <a:stretch>
                    <a:fillRect r="-6452" b="-3030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9" name="Footer Placeholder 2">
            <a:extLst>
              <a:ext uri="{FF2B5EF4-FFF2-40B4-BE49-F238E27FC236}">
                <a16:creationId xmlns:a16="http://schemas.microsoft.com/office/drawing/2014/main" id="{686A051F-9DAE-A8C6-000C-F8E486C07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72D21AB-CEBC-E2AC-7001-EB1450AFE9C3}"/>
              </a:ext>
            </a:extLst>
          </p:cNvPr>
          <p:cNvGraphicFramePr>
            <a:graphicFrameLocks noGrp="1"/>
          </p:cNvGraphicFramePr>
          <p:nvPr/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5607F5F5-C920-E8BE-F59C-FEDACBD8F753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Expérimentation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5340835-A145-5373-DEB1-EFF2B2EE052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colorTemperature colorTemp="4700"/>
                    </a14:imgEffect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581" b="3828"/>
          <a:stretch>
            <a:fillRect/>
          </a:stretch>
        </p:blipFill>
        <p:spPr>
          <a:xfrm>
            <a:off x="281944" y="1128398"/>
            <a:ext cx="4913871" cy="4935123"/>
          </a:xfrm>
          <a:prstGeom prst="rect">
            <a:avLst/>
          </a:prstGeom>
          <a:effectLst>
            <a:softEdge rad="31750"/>
          </a:effec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C4625F1-930A-19C2-391C-C0CFF4AB4944}"/>
              </a:ext>
            </a:extLst>
          </p:cNvPr>
          <p:cNvSpPr/>
          <p:nvPr/>
        </p:nvSpPr>
        <p:spPr>
          <a:xfrm>
            <a:off x="1894037" y="5988112"/>
            <a:ext cx="1224992" cy="232854"/>
          </a:xfrm>
          <a:prstGeom prst="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Humbucker //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FAD9445-BE9C-973C-C972-8AFE4B8EAE0E}"/>
              </a:ext>
            </a:extLst>
          </p:cNvPr>
          <p:cNvSpPr/>
          <p:nvPr/>
        </p:nvSpPr>
        <p:spPr>
          <a:xfrm>
            <a:off x="728958" y="5992088"/>
            <a:ext cx="1105167" cy="236830"/>
          </a:xfrm>
          <a:prstGeom prst="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SingleCoil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AC70B2-4DA2-8485-1575-BEAEC25927E8}"/>
              </a:ext>
            </a:extLst>
          </p:cNvPr>
          <p:cNvSpPr/>
          <p:nvPr/>
        </p:nvSpPr>
        <p:spPr>
          <a:xfrm>
            <a:off x="3178942" y="5988112"/>
            <a:ext cx="1224992" cy="232854"/>
          </a:xfrm>
          <a:prstGeom prst="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Humbucker --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9EA8B41-DBF9-4BAE-EC12-9787ED3EBFD4}"/>
              </a:ext>
            </a:extLst>
          </p:cNvPr>
          <p:cNvSpPr/>
          <p:nvPr/>
        </p:nvSpPr>
        <p:spPr>
          <a:xfrm>
            <a:off x="1099811" y="2332703"/>
            <a:ext cx="332845" cy="236830"/>
          </a:xfrm>
          <a:prstGeom prst="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A8C5315-833A-1227-2102-F393794B1434}"/>
              </a:ext>
            </a:extLst>
          </p:cNvPr>
          <p:cNvSpPr/>
          <p:nvPr/>
        </p:nvSpPr>
        <p:spPr>
          <a:xfrm>
            <a:off x="881348" y="1255662"/>
            <a:ext cx="1132831" cy="294614"/>
          </a:xfrm>
          <a:prstGeom prst="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Oscilloscope</a:t>
            </a:r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8A10E743-00B2-81C7-931B-E99DB5826837}"/>
              </a:ext>
            </a:extLst>
          </p:cNvPr>
          <p:cNvCxnSpPr>
            <a:cxnSpLocks/>
          </p:cNvCxnSpPr>
          <p:nvPr/>
        </p:nvCxnSpPr>
        <p:spPr>
          <a:xfrm flipV="1">
            <a:off x="1447763" y="5732146"/>
            <a:ext cx="566415" cy="255966"/>
          </a:xfrm>
          <a:prstGeom prst="bentConnector3">
            <a:avLst>
              <a:gd name="adj1" fmla="val 3251"/>
            </a:avLst>
          </a:prstGeom>
          <a:ln w="381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5D0FAE8A-3688-F2A8-6B0A-E9E30236C8B8}"/>
              </a:ext>
            </a:extLst>
          </p:cNvPr>
          <p:cNvCxnSpPr>
            <a:cxnSpLocks/>
          </p:cNvCxnSpPr>
          <p:nvPr/>
        </p:nvCxnSpPr>
        <p:spPr>
          <a:xfrm rot="10800000">
            <a:off x="3178942" y="5775962"/>
            <a:ext cx="429129" cy="212151"/>
          </a:xfrm>
          <a:prstGeom prst="bentConnector3">
            <a:avLst>
              <a:gd name="adj1" fmla="val 4276"/>
            </a:avLst>
          </a:prstGeom>
          <a:ln w="381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32DA095-581E-E30B-B879-F49B0A2527DD}"/>
              </a:ext>
            </a:extLst>
          </p:cNvPr>
          <p:cNvCxnSpPr>
            <a:cxnSpLocks/>
          </p:cNvCxnSpPr>
          <p:nvPr/>
        </p:nvCxnSpPr>
        <p:spPr>
          <a:xfrm flipV="1">
            <a:off x="2506533" y="5892165"/>
            <a:ext cx="0" cy="90232"/>
          </a:xfrm>
          <a:prstGeom prst="straightConnector1">
            <a:avLst/>
          </a:prstGeom>
          <a:ln w="381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2BAC65E0-95E4-0252-3042-A8AE9170EA26}"/>
              </a:ext>
            </a:extLst>
          </p:cNvPr>
          <p:cNvCxnSpPr>
            <a:cxnSpLocks/>
            <a:stCxn id="12" idx="2"/>
          </p:cNvCxnSpPr>
          <p:nvPr/>
        </p:nvCxnSpPr>
        <p:spPr>
          <a:xfrm rot="16200000" flipH="1">
            <a:off x="1245336" y="2590430"/>
            <a:ext cx="425295" cy="383499"/>
          </a:xfrm>
          <a:prstGeom prst="bentConnector3">
            <a:avLst>
              <a:gd name="adj1" fmla="val 99720"/>
            </a:avLst>
          </a:prstGeom>
          <a:ln w="381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ACA56CDB-24E7-CD5E-78EB-1C02851331F6}"/>
              </a:ext>
            </a:extLst>
          </p:cNvPr>
          <p:cNvCxnSpPr>
            <a:cxnSpLocks/>
            <a:stCxn id="15" idx="2"/>
          </p:cNvCxnSpPr>
          <p:nvPr/>
        </p:nvCxnSpPr>
        <p:spPr>
          <a:xfrm rot="16200000" flipH="1">
            <a:off x="1676612" y="1321427"/>
            <a:ext cx="238820" cy="696517"/>
          </a:xfrm>
          <a:prstGeom prst="bentConnector2">
            <a:avLst/>
          </a:prstGeom>
          <a:ln w="381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68350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B55E99-2CF9-7E0D-79CA-BABAA19AB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3DB6B27-AA82-27CA-4C59-BED8BD503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FA63362-A7FE-D456-4DFE-76AF9C9F5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17</a:t>
            </a:fld>
            <a:endParaRPr lang="fr-FR" sz="1200" b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08B2583-C897-D79E-5A55-FE07F68B995B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98BA7D4-4F47-C07A-D458-039535C30ED5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79199" y="2427394"/>
            <a:ext cx="2699997" cy="224999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2BCCF08D-70B3-E157-EEA1-72C05F75B77B}"/>
              </a:ext>
            </a:extLst>
          </p:cNvPr>
          <p:cNvSpPr txBox="1"/>
          <p:nvPr/>
        </p:nvSpPr>
        <p:spPr>
          <a:xfrm>
            <a:off x="440839" y="4867365"/>
            <a:ext cx="27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3EC79C7-8A93-8CDB-03E0-AF1F6EBA0AAC}"/>
              </a:ext>
            </a:extLst>
          </p:cNvPr>
          <p:cNvSpPr txBox="1"/>
          <p:nvPr/>
        </p:nvSpPr>
        <p:spPr>
          <a:xfrm>
            <a:off x="6117557" y="4863787"/>
            <a:ext cx="27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 série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A02FDA5-7836-89A4-513F-D23A79CB7D5B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0841" y="2427394"/>
            <a:ext cx="2699997" cy="2249997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54022765-3984-7359-05D4-7CAE0CFC9EB1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1BB2AA81-E672-0837-BD68-1B03A7BDB0DD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Footer Placeholder 2">
              <a:extLst>
                <a:ext uri="{FF2B5EF4-FFF2-40B4-BE49-F238E27FC236}">
                  <a16:creationId xmlns:a16="http://schemas.microsoft.com/office/drawing/2014/main" id="{CA1F761A-9FE7-4661-E1FD-548CB5B7DBC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4A34250-3A97-0AAF-6B6F-C673400FD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2233B56-FF7D-388A-ECE2-AF982CD8927A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596A93A-1114-8144-2C24-C6B160717F37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17558" y="2427394"/>
            <a:ext cx="2699998" cy="224999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5A94647-80D0-4EB0-FC94-6216C87463A1}"/>
              </a:ext>
            </a:extLst>
          </p:cNvPr>
          <p:cNvSpPr txBox="1"/>
          <p:nvPr/>
        </p:nvSpPr>
        <p:spPr>
          <a:xfrm>
            <a:off x="3279198" y="4867365"/>
            <a:ext cx="27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 parallèle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544452B-910B-68CB-0A4F-F4E4DEDBF9F7}"/>
                  </a:ext>
                </a:extLst>
              </p:cNvPr>
              <p:cNvSpPr/>
              <p:nvPr/>
            </p:nvSpPr>
            <p:spPr>
              <a:xfrm>
                <a:off x="440839" y="1096755"/>
                <a:ext cx="5538359" cy="107612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400" b="1" u="sng" dirty="0"/>
                  <a:t>Rappel théorie :</a:t>
                </a:r>
              </a:p>
              <a:p>
                <a:pPr algn="ctr"/>
                <a:endParaRPr lang="fr-FR" sz="120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𝑁𝑆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FR" sz="120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d>
                                <m:d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p>
                              </m:sSup>
                            </m:den>
                          </m:f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p>
                              </m:sSup>
                            </m:den>
                          </m:f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den>
                          </m:f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𝑛𝐹𝑡</m:t>
                                  </m:r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544452B-910B-68CB-0A4F-F4E4DEDBF9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839" y="1096755"/>
                <a:ext cx="5538359" cy="1076129"/>
              </a:xfrm>
              <a:prstGeom prst="rect">
                <a:avLst/>
              </a:prstGeom>
              <a:blipFill>
                <a:blip r:embed="rId7"/>
                <a:stretch>
                  <a:fillRect t="-18132" b="-67033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B2D8FFD-1E35-537E-6054-486D3ADEFA71}"/>
                  </a:ext>
                </a:extLst>
              </p:cNvPr>
              <p:cNvSpPr txBox="1"/>
              <p:nvPr/>
            </p:nvSpPr>
            <p:spPr>
              <a:xfrm>
                <a:off x="6137339" y="1416095"/>
                <a:ext cx="2752349" cy="378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B2D8FFD-1E35-537E-6054-486D3ADEFA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7339" y="1416095"/>
                <a:ext cx="2752349" cy="37811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F4E5089-6E9B-6F7E-BA33-3EFF1F8B5DC5}"/>
                  </a:ext>
                </a:extLst>
              </p:cNvPr>
              <p:cNvSpPr txBox="1"/>
              <p:nvPr/>
            </p:nvSpPr>
            <p:spPr>
              <a:xfrm>
                <a:off x="6137339" y="1794212"/>
                <a:ext cx="2752349" cy="378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0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05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F4E5089-6E9B-6F7E-BA33-3EFF1F8B5D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7339" y="1794212"/>
                <a:ext cx="2752349" cy="37811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14B174E5-2B22-6FCB-F5C2-DFA333A3C499}"/>
              </a:ext>
            </a:extLst>
          </p:cNvPr>
          <p:cNvSpPr txBox="1"/>
          <p:nvPr/>
        </p:nvSpPr>
        <p:spPr>
          <a:xfrm>
            <a:off x="6137339" y="1097861"/>
            <a:ext cx="8394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/>
              <a:t>Avec :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8804168-F12A-5B6F-67AF-D3BDF429A8D6}"/>
              </a:ext>
            </a:extLst>
          </p:cNvPr>
          <p:cNvGrpSpPr/>
          <p:nvPr/>
        </p:nvGrpSpPr>
        <p:grpSpPr>
          <a:xfrm>
            <a:off x="445038" y="5206305"/>
            <a:ext cx="8372519" cy="923330"/>
            <a:chOff x="349675" y="2989072"/>
            <a:chExt cx="8444650" cy="92333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D64564F4-4B1E-F872-BAD5-FD19257966FD}"/>
                    </a:ext>
                  </a:extLst>
                </p:cNvPr>
                <p:cNvSpPr txBox="1"/>
                <p:nvPr/>
              </p:nvSpPr>
              <p:spPr>
                <a:xfrm>
                  <a:off x="349675" y="2989072"/>
                  <a:ext cx="8444650" cy="92333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b="1" u="sng" dirty="0"/>
                    <a:t>Interprétation</a:t>
                  </a:r>
                </a:p>
                <a:p>
                  <a:pPr marL="285750" indent="-285750">
                    <a:buFont typeface="Wingdings" panose="05000000000000000000" pitchFamily="2" charset="2"/>
                    <a:buChar char="q"/>
                  </a:pPr>
                  <a:r>
                    <a:rPr lang="fr-FR" dirty="0"/>
                    <a:t>Forme générale du spectre similaire quelque soit le type de micro</a:t>
                  </a:r>
                </a:p>
                <a:p>
                  <a:pPr marL="285750" indent="-285750">
                    <a:buFont typeface="Wingdings" panose="05000000000000000000" pitchFamily="2" charset="2"/>
                    <a:buChar char="q"/>
                  </a:pPr>
                  <a:r>
                    <a:rPr lang="fr-FR" dirty="0"/>
                    <a:t>Humbucker : Atténuation du 4</a:t>
                  </a:r>
                  <a:r>
                    <a:rPr lang="fr-FR" baseline="30000" dirty="0"/>
                    <a:t>e</a:t>
                  </a:r>
                  <a:r>
                    <a:rPr lang="fr-FR" dirty="0"/>
                    <a:t> mode à </a:t>
                  </a:r>
                  <a14:m>
                    <m:oMath xmlns:m="http://schemas.openxmlformats.org/officeDocument/2006/math">
                      <m:r>
                        <a:rPr lang="fr-FR" i="1" dirty="0" smtClean="0">
                          <a:latin typeface="Cambria Math" panose="02040503050406030204" pitchFamily="18" charset="0"/>
                        </a:rPr>
                        <m:t>320</m:t>
                      </m:r>
                      <m:r>
                        <a:rPr lang="fr-FR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i="1" dirty="0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fr-FR" i="1" dirty="0">
                          <a:latin typeface="Cambria Math" panose="02040503050406030204" pitchFamily="18" charset="0"/>
                        </a:rPr>
                        <m:t>𝑧</m:t>
                      </m:r>
                    </m:oMath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D64564F4-4B1E-F872-BAD5-FD19257966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9675" y="2989072"/>
                  <a:ext cx="8444650" cy="923330"/>
                </a:xfrm>
                <a:prstGeom prst="rect">
                  <a:avLst/>
                </a:prstGeom>
                <a:blipFill>
                  <a:blip r:embed="rId10"/>
                  <a:stretch>
                    <a:fillRect l="-583" t="-3289" b="-9211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1" name="Graphic 30" descr="Checkmark with solid fill">
              <a:extLst>
                <a:ext uri="{FF2B5EF4-FFF2-40B4-BE49-F238E27FC236}">
                  <a16:creationId xmlns:a16="http://schemas.microsoft.com/office/drawing/2014/main" id="{4E67BDF8-C69B-9258-DEBB-8095785E887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430920" y="3279082"/>
              <a:ext cx="252000" cy="252000"/>
            </a:xfrm>
            <a:prstGeom prst="rect">
              <a:avLst/>
            </a:prstGeom>
          </p:spPr>
        </p:pic>
        <p:pic>
          <p:nvPicPr>
            <p:cNvPr id="33" name="Graphic 32" descr="Close with solid fill">
              <a:extLst>
                <a:ext uri="{FF2B5EF4-FFF2-40B4-BE49-F238E27FC236}">
                  <a16:creationId xmlns:a16="http://schemas.microsoft.com/office/drawing/2014/main" id="{8D13A339-C2F6-EBA9-6F9A-5D7CA29D0526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408237" y="3592410"/>
              <a:ext cx="252000" cy="252000"/>
            </a:xfrm>
            <a:prstGeom prst="rect">
              <a:avLst/>
            </a:prstGeom>
          </p:spPr>
        </p:pic>
      </p:grp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52DEAF3-B9BA-FC61-92AE-05C68AA66DF6}"/>
              </a:ext>
            </a:extLst>
          </p:cNvPr>
          <p:cNvGraphicFramePr>
            <a:graphicFrameLocks noGrp="1"/>
          </p:cNvGraphicFramePr>
          <p:nvPr/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19715F5-8301-543E-7775-1F4BD835DA2C}"/>
                  </a:ext>
                </a:extLst>
              </p:cNvPr>
              <p:cNvSpPr txBox="1"/>
              <p:nvPr/>
            </p:nvSpPr>
            <p:spPr>
              <a:xfrm>
                <a:off x="2087879" y="2951955"/>
                <a:ext cx="868681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± 0,0172 %</m:t>
                      </m:r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19715F5-8301-543E-7775-1F4BD835DA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7879" y="2951955"/>
                <a:ext cx="868681" cy="276999"/>
              </a:xfrm>
              <a:prstGeom prst="rect">
                <a:avLst/>
              </a:prstGeom>
              <a:blipFill>
                <a:blip r:embed="rId15"/>
                <a:stretch>
                  <a:fillRect r="-5517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3978A13-F6C2-3149-2FF1-5A0165748808}"/>
                  </a:ext>
                </a:extLst>
              </p:cNvPr>
              <p:cNvSpPr txBox="1"/>
              <p:nvPr/>
            </p:nvSpPr>
            <p:spPr>
              <a:xfrm>
                <a:off x="4945379" y="2974815"/>
                <a:ext cx="868681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± 0,0096 %</m:t>
                      </m:r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3978A13-F6C2-3149-2FF1-5A01657488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5379" y="2974815"/>
                <a:ext cx="868681" cy="276999"/>
              </a:xfrm>
              <a:prstGeom prst="rect">
                <a:avLst/>
              </a:prstGeom>
              <a:blipFill>
                <a:blip r:embed="rId16"/>
                <a:stretch>
                  <a:fillRect r="-5517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21AEDCA-FBF8-2148-C756-6331384B3076}"/>
                  </a:ext>
                </a:extLst>
              </p:cNvPr>
              <p:cNvSpPr txBox="1"/>
              <p:nvPr/>
            </p:nvSpPr>
            <p:spPr>
              <a:xfrm>
                <a:off x="7773725" y="2959575"/>
                <a:ext cx="868681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± 0,0197 %</m:t>
                      </m:r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21AEDCA-FBF8-2148-C756-6331384B3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3725" y="2959575"/>
                <a:ext cx="868681" cy="276999"/>
              </a:xfrm>
              <a:prstGeom prst="rect">
                <a:avLst/>
              </a:prstGeom>
              <a:blipFill>
                <a:blip r:embed="rId17"/>
                <a:stretch>
                  <a:fillRect r="-5517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2" descr="Python Logo PNG Transparent – Brands Logos">
            <a:extLst>
              <a:ext uri="{FF2B5EF4-FFF2-40B4-BE49-F238E27FC236}">
                <a16:creationId xmlns:a16="http://schemas.microsoft.com/office/drawing/2014/main" id="{A4C3DAF1-5532-B6F1-D01E-C035E8932D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9364" y="483864"/>
            <a:ext cx="506135" cy="50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08798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3BAE8-7762-46B2-E907-AD7099361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7EB2398-EFF8-C9A2-49F0-95D4E4A8CC35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D8542C0-197A-96FC-F849-6D84EC76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6F0E06E-2288-33E6-28E3-CCE75F991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18</a:t>
            </a:fld>
            <a:endParaRPr lang="fr-FR" sz="1200" b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AA1C499-08B3-9C15-9DE4-81770D2A2D95}"/>
                  </a:ext>
                </a:extLst>
              </p:cNvPr>
              <p:cNvSpPr/>
              <p:nvPr/>
            </p:nvSpPr>
            <p:spPr>
              <a:xfrm>
                <a:off x="5681666" y="1128398"/>
                <a:ext cx="3208021" cy="915896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Calcul du gain d’atténuation relatif :</a:t>
                </a:r>
              </a:p>
              <a:p>
                <a:endParaRPr lang="fr-FR" sz="1400" b="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 /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AA1C499-08B3-9C15-9DE4-81770D2A2D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666" y="1128398"/>
                <a:ext cx="3208021" cy="91589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35B40429-E66D-936A-8895-1DC0AF6D287B}"/>
              </a:ext>
            </a:extLst>
          </p:cNvPr>
          <p:cNvGrpSpPr/>
          <p:nvPr/>
        </p:nvGrpSpPr>
        <p:grpSpPr>
          <a:xfrm>
            <a:off x="5681666" y="2163818"/>
            <a:ext cx="3269985" cy="3993142"/>
            <a:chOff x="6114891" y="2389099"/>
            <a:chExt cx="2721663" cy="357316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AE1FC82B-F70C-8D5D-E171-A36BE02D4021}"/>
                </a:ext>
              </a:extLst>
            </p:cNvPr>
            <p:cNvGrpSpPr/>
            <p:nvPr/>
          </p:nvGrpSpPr>
          <p:grpSpPr>
            <a:xfrm>
              <a:off x="6114891" y="2389099"/>
              <a:ext cx="2721663" cy="3573164"/>
              <a:chOff x="5958063" y="2389099"/>
              <a:chExt cx="2878491" cy="3573164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CA3093A-8816-005B-D928-3B44B655C8E2}"/>
                  </a:ext>
                </a:extLst>
              </p:cNvPr>
              <p:cNvSpPr/>
              <p:nvPr/>
            </p:nvSpPr>
            <p:spPr>
              <a:xfrm>
                <a:off x="5958063" y="2389099"/>
                <a:ext cx="2878491" cy="3573164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Nœuds de vibration :</a:t>
                </a: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Filtrage en peigne spatial :</a:t>
                </a: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A3C3E0C0-FBAB-DC78-5B15-476675A966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3726" t="8959" r="3236" b="4515"/>
              <a:stretch>
                <a:fillRect/>
              </a:stretch>
            </p:blipFill>
            <p:spPr>
              <a:xfrm>
                <a:off x="6477938" y="4604155"/>
                <a:ext cx="1798321" cy="377538"/>
              </a:xfrm>
              <a:prstGeom prst="rect">
                <a:avLst/>
              </a:prstGeom>
            </p:spPr>
          </p:pic>
          <p:pic>
            <p:nvPicPr>
              <p:cNvPr id="25" name="Picture 24">
                <a:extLst>
                  <a:ext uri="{FF2B5EF4-FFF2-40B4-BE49-F238E27FC236}">
                    <a16:creationId xmlns:a16="http://schemas.microsoft.com/office/drawing/2014/main" id="{C40B446E-9BC2-8E92-5207-9220276E30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276" t="6786" r="5431" b="11456"/>
              <a:stretch>
                <a:fillRect/>
              </a:stretch>
            </p:blipFill>
            <p:spPr>
              <a:xfrm>
                <a:off x="6988242" y="5064642"/>
                <a:ext cx="793915" cy="525312"/>
              </a:xfrm>
              <a:prstGeom prst="rect">
                <a:avLst/>
              </a:prstGeom>
            </p:spPr>
          </p:pic>
          <p:grpSp>
            <p:nvGrpSpPr>
              <p:cNvPr id="53" name="Group 52">
                <a:extLst>
                  <a:ext uri="{FF2B5EF4-FFF2-40B4-BE49-F238E27FC236}">
                    <a16:creationId xmlns:a16="http://schemas.microsoft.com/office/drawing/2014/main" id="{021575B3-C3E7-D035-FD8D-5A909416EA0A}"/>
                  </a:ext>
                </a:extLst>
              </p:cNvPr>
              <p:cNvGrpSpPr/>
              <p:nvPr/>
            </p:nvGrpSpPr>
            <p:grpSpPr>
              <a:xfrm>
                <a:off x="6100686" y="2976560"/>
                <a:ext cx="2593244" cy="1059640"/>
                <a:chOff x="6082122" y="3612551"/>
                <a:chExt cx="2593242" cy="1010417"/>
              </a:xfrm>
            </p:grpSpPr>
            <p:pic>
              <p:nvPicPr>
                <p:cNvPr id="15" name="Picture 14">
                  <a:extLst>
                    <a:ext uri="{FF2B5EF4-FFF2-40B4-BE49-F238E27FC236}">
                      <a16:creationId xmlns:a16="http://schemas.microsoft.com/office/drawing/2014/main" id="{BB147258-36F6-4862-BCFA-8C34DAA43AD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rightnessContrast bright="40000" contrast="40000"/>
                          </a14:imgEffect>
                        </a14:imgLayer>
                      </a14:imgProps>
                    </a:ext>
                  </a:extLst>
                </a:blip>
                <a:srcRect l="3726" t="8959" r="3236" b="4515"/>
                <a:stretch>
                  <a:fillRect/>
                </a:stretch>
              </p:blipFill>
              <p:spPr>
                <a:xfrm>
                  <a:off x="6467476" y="3612551"/>
                  <a:ext cx="1798320" cy="360000"/>
                </a:xfrm>
                <a:prstGeom prst="rect">
                  <a:avLst/>
                </a:prstGeom>
              </p:spPr>
            </p:pic>
            <p:pic>
              <p:nvPicPr>
                <p:cNvPr id="49" name="Picture 48">
                  <a:extLst>
                    <a:ext uri="{FF2B5EF4-FFF2-40B4-BE49-F238E27FC236}">
                      <a16:creationId xmlns:a16="http://schemas.microsoft.com/office/drawing/2014/main" id="{6A19C6E1-1347-2947-0051-4E4B5CAD305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>
                  <a:extLst>
                    <a:ext uri="{BEBA8EAE-BF5A-486C-A8C5-ECC9F3942E4B}">
                      <a14:imgProps xmlns:a14="http://schemas.microsoft.com/office/drawing/2010/main">
                        <a14:imgLayer r:embed="rId9">
                          <a14:imgEffect>
                            <a14:backgroundRemoval t="32494" b="70953" l="13960" r="44675"/>
                          </a14:imgEffect>
                          <a14:imgEffect>
                            <a14:brightnessContrast bright="40000" contrast="-4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0120" t="27687" r="51486" b="24239"/>
                <a:stretch>
                  <a:fillRect/>
                </a:stretch>
              </p:blipFill>
              <p:spPr>
                <a:xfrm>
                  <a:off x="6920250" y="3866659"/>
                  <a:ext cx="932157" cy="756309"/>
                </a:xfrm>
                <a:prstGeom prst="rect">
                  <a:avLst/>
                </a:prstGeom>
              </p:spPr>
            </p:pic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BD459B7B-7876-DECC-7C5D-6EF7F711F3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370935" y="3612551"/>
                  <a:ext cx="0" cy="863841"/>
                </a:xfrm>
                <a:prstGeom prst="line">
                  <a:avLst/>
                </a:prstGeom>
                <a:ln w="9525" cap="flat" cmpd="sng" algn="ctr">
                  <a:solidFill>
                    <a:srgbClr val="C00000"/>
                  </a:solidFill>
                  <a:prstDash val="sys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pic>
              <p:nvPicPr>
                <p:cNvPr id="51" name="Picture 50">
                  <a:extLst>
                    <a:ext uri="{FF2B5EF4-FFF2-40B4-BE49-F238E27FC236}">
                      <a16:creationId xmlns:a16="http://schemas.microsoft.com/office/drawing/2014/main" id="{69C823F4-FBD6-6BF7-DDFC-373F3F49B1D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rightnessContrast bright="40000" contrast="40000"/>
                          </a14:imgEffect>
                        </a14:imgLayer>
                      </a14:imgProps>
                    </a:ext>
                  </a:extLst>
                </a:blip>
                <a:srcRect l="76827" t="8959" r="3236" b="4515"/>
                <a:stretch>
                  <a:fillRect/>
                </a:stretch>
              </p:blipFill>
              <p:spPr>
                <a:xfrm>
                  <a:off x="6082122" y="3612551"/>
                  <a:ext cx="385354" cy="360000"/>
                </a:xfrm>
                <a:prstGeom prst="rect">
                  <a:avLst/>
                </a:prstGeom>
              </p:spPr>
            </p:pic>
            <p:pic>
              <p:nvPicPr>
                <p:cNvPr id="52" name="Picture 51">
                  <a:extLst>
                    <a:ext uri="{FF2B5EF4-FFF2-40B4-BE49-F238E27FC236}">
                      <a16:creationId xmlns:a16="http://schemas.microsoft.com/office/drawing/2014/main" id="{849EE9B9-324D-BB3C-541F-721FD32B50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rightnessContrast bright="40000" contrast="40000"/>
                          </a14:imgEffect>
                        </a14:imgLayer>
                      </a14:imgProps>
                    </a:ext>
                  </a:extLst>
                </a:blip>
                <a:srcRect l="3726" t="8959" r="75085" b="4515"/>
                <a:stretch>
                  <a:fillRect/>
                </a:stretch>
              </p:blipFill>
              <p:spPr>
                <a:xfrm>
                  <a:off x="8265796" y="3612551"/>
                  <a:ext cx="409568" cy="360000"/>
                </a:xfrm>
                <a:prstGeom prst="rect">
                  <a:avLst/>
                </a:prstGeom>
              </p:spPr>
            </p:pic>
          </p:grpSp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65BA09B4-C52E-B87A-CF04-8232C165DF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242582" y="4874895"/>
                <a:ext cx="0" cy="696047"/>
              </a:xfrm>
              <a:prstGeom prst="line">
                <a:avLst/>
              </a:prstGeom>
              <a:ln w="9525" cap="flat" cmpd="sng" algn="ctr">
                <a:solidFill>
                  <a:srgbClr val="C00000"/>
                </a:solidFill>
                <a:prstDash val="sys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EB93E4C2-FBE4-4065-9278-90914A6ECE3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521982" y="4703445"/>
                <a:ext cx="0" cy="867498"/>
              </a:xfrm>
              <a:prstGeom prst="line">
                <a:avLst/>
              </a:prstGeom>
              <a:ln w="9525" cap="flat" cmpd="sng" algn="ctr">
                <a:solidFill>
                  <a:srgbClr val="C00000"/>
                </a:solidFill>
                <a:prstDash val="sys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E06407F-AE7F-3BBE-2F75-7730253F21E7}"/>
                    </a:ext>
                  </a:extLst>
                </p:cNvPr>
                <p:cNvSpPr txBox="1"/>
                <p:nvPr/>
              </p:nvSpPr>
              <p:spPr>
                <a:xfrm>
                  <a:off x="6591942" y="3940434"/>
                  <a:ext cx="1748389" cy="3781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0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05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sSub>
                              <m:sSubPr>
                                <m:ctrlPr>
                                  <a:rPr lang="fr-FR" sz="105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fr-FR" sz="1050" b="0" i="1" smtClean="0"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1050" b="0" i="1" smtClean="0">
                                    <a:latin typeface="Cambria Math" panose="02040503050406030204" pitchFamily="18" charset="0"/>
                                  </a:rPr>
                                  <m:t>S</m:t>
                                </m:r>
                              </m:sub>
                            </m:sSub>
                          </m:sub>
                        </m:sSub>
                        <m:r>
                          <a:rPr lang="fr-FR" sz="1050" i="1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fr-FR" sz="105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a:rPr lang="fr-FR" sz="105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el-GR" sz="105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  <m:sSub>
                              <m:sSubPr>
                                <m:ctrlPr>
                                  <a:rPr lang="fr-FR" sz="105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05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fr-FR" sz="105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fr-FR" sz="105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fr-FR" sz="105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num>
                                  <m:den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den>
                                </m:f>
                                <m:sSub>
                                  <m:sSubPr>
                                    <m:ctrlP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fr-FR" sz="105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func>
                      </m:oMath>
                    </m:oMathPara>
                  </a14:m>
                  <a:endParaRPr lang="fr-FR" sz="105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E06407F-AE7F-3BBE-2F75-7730253F21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1942" y="3940434"/>
                  <a:ext cx="1748389" cy="3781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E1CAC20F-EC26-B5B1-7233-C097D272BB96}"/>
                    </a:ext>
                  </a:extLst>
                </p:cNvPr>
                <p:cNvSpPr txBox="1"/>
                <p:nvPr/>
              </p:nvSpPr>
              <p:spPr>
                <a:xfrm>
                  <a:off x="6240422" y="5556492"/>
                  <a:ext cx="2470599" cy="3781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0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05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sSub>
                              <m:sSubPr>
                                <m:ctrlPr>
                                  <a:rPr lang="fr-FR" sz="105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fr-FR" sz="1050" b="0" i="1" smtClean="0"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105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</m:sSub>
                        <m:r>
                          <a:rPr lang="fr-FR" sz="1050" i="1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fr-FR" sz="105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a:rPr lang="fr-FR" sz="105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el-GR" sz="105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  <m:sSub>
                              <m:sSubPr>
                                <m:ctrlPr>
                                  <a:rPr lang="fr-FR" sz="105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05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fr-FR" sz="105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fr-FR" sz="105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m:rPr>
                                <m:sty m:val="p"/>
                              </m:rPr>
                              <a:rPr lang="fr-FR" sz="105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fr-FR" sz="105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num>
                                  <m:den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den>
                                </m:f>
                                <m:sSub>
                                  <m:sSubPr>
                                    <m:ctrlP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fr-FR" sz="105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func>
                              <m:funcPr>
                                <m:ctrlPr>
                                  <a:rPr lang="fr-FR" sz="1050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 sz="1050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sz="105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>
                                  <m:fPr>
                                    <m:ctrlP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num>
                                  <m:den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den>
                                </m:f>
                                <m:sSub>
                                  <m:sSubPr>
                                    <m:ctrlP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fr-FR" sz="1050" i="1">
                                    <a:latin typeface="Cambria Math" panose="02040503050406030204" pitchFamily="18" charset="0"/>
                                  </a:rPr>
                                  <m:t>))</m:t>
                                </m:r>
                              </m:e>
                            </m:func>
                            <m:r>
                              <a:rPr lang="fr-FR" sz="105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func>
                      </m:oMath>
                    </m:oMathPara>
                  </a14:m>
                  <a:endParaRPr lang="fr-FR" sz="105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E1CAC20F-EC26-B5B1-7233-C097D272BB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40422" y="5556492"/>
                  <a:ext cx="2470599" cy="3781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C7C8EA8-F319-D7E0-8067-9D1EAC76E64F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5DA953AF-25C3-1D39-4B06-09ED975BB1A5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Footer Placeholder 2">
              <a:extLst>
                <a:ext uri="{FF2B5EF4-FFF2-40B4-BE49-F238E27FC236}">
                  <a16:creationId xmlns:a16="http://schemas.microsoft.com/office/drawing/2014/main" id="{4BCE2257-F05E-832B-4E41-697261064FAC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AA77982B-C36B-8EDB-5099-18085A7BE8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CC05A3D-32B8-82F3-42AF-E20F9F7CEB70}"/>
              </a:ext>
            </a:extLst>
          </p:cNvPr>
          <p:cNvGraphicFramePr>
            <a:graphicFrameLocks noGrp="1"/>
          </p:cNvGraphicFramePr>
          <p:nvPr/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A56DC6A4-DDE0-128B-1A21-EBE107893AF8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76EC09A-1CE2-C57C-EA75-CE25A5404F61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0186" y="1128398"/>
            <a:ext cx="5175257" cy="4997658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A31065C-A20A-A288-0085-D396B6CE6BAB}"/>
              </a:ext>
            </a:extLst>
          </p:cNvPr>
          <p:cNvCxnSpPr>
            <a:cxnSpLocks/>
          </p:cNvCxnSpPr>
          <p:nvPr/>
        </p:nvCxnSpPr>
        <p:spPr>
          <a:xfrm>
            <a:off x="3063584" y="3377565"/>
            <a:ext cx="0" cy="1449268"/>
          </a:xfrm>
          <a:prstGeom prst="line">
            <a:avLst/>
          </a:prstGeom>
          <a:ln w="28575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2AC77C0-992D-6FEB-50E1-07C49D290036}"/>
                  </a:ext>
                </a:extLst>
              </p:cNvPr>
              <p:cNvSpPr txBox="1"/>
              <p:nvPr/>
            </p:nvSpPr>
            <p:spPr>
              <a:xfrm>
                <a:off x="3078704" y="4611570"/>
                <a:ext cx="495328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fr-FR" sz="12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𝟑𝟐𝟎</m:t>
                    </m:r>
                    <m:r>
                      <a:rPr lang="fr-FR" sz="12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b="1" dirty="0">
                    <a:solidFill>
                      <a:srgbClr val="C00000"/>
                    </a:solidFill>
                  </a:rPr>
                  <a:t>Hz</a:t>
                </a: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2AC77C0-992D-6FEB-50E1-07C49D2900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8704" y="4611570"/>
                <a:ext cx="495328" cy="184666"/>
              </a:xfrm>
              <a:prstGeom prst="rect">
                <a:avLst/>
              </a:prstGeom>
              <a:blipFill>
                <a:blip r:embed="rId13"/>
                <a:stretch>
                  <a:fillRect l="-11111" t="-29032" r="-19753" b="-4516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2" descr="Python Logo PNG Transparent – Brands Logos">
            <a:extLst>
              <a:ext uri="{FF2B5EF4-FFF2-40B4-BE49-F238E27FC236}">
                <a16:creationId xmlns:a16="http://schemas.microsoft.com/office/drawing/2014/main" id="{FAF7CBEB-0067-C932-A2A5-C8DC59CC89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9364" y="483864"/>
            <a:ext cx="506135" cy="50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48409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7443C-1132-470C-D64F-59D770C6D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37ADF0A-BC65-2B59-DB0A-5AC2D897D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46AB8D3-DEB4-0AE6-6FE3-850FB50B2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19</a:t>
            </a:fld>
            <a:endParaRPr lang="fr-FR" sz="1200" b="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28FC845-40D7-1D84-2831-0F5EB2B9A9BD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52D14195-002C-3AC6-91BA-38D5950E6A8F}"/>
              </a:ext>
            </a:extLst>
          </p:cNvPr>
          <p:cNvGrpSpPr/>
          <p:nvPr/>
        </p:nvGrpSpPr>
        <p:grpSpPr>
          <a:xfrm>
            <a:off x="449951" y="4838220"/>
            <a:ext cx="8491114" cy="1210580"/>
            <a:chOff x="194470" y="5083538"/>
            <a:chExt cx="8484459" cy="121058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B8A93C6F-6963-CF1D-4030-848C335D32BA}"/>
                </a:ext>
              </a:extLst>
            </p:cNvPr>
            <p:cNvGrpSpPr/>
            <p:nvPr/>
          </p:nvGrpSpPr>
          <p:grpSpPr>
            <a:xfrm>
              <a:off x="194470" y="5083538"/>
              <a:ext cx="8484459" cy="1150814"/>
              <a:chOff x="194470" y="5083538"/>
              <a:chExt cx="8484459" cy="1150814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4EC0EFE0-5A7E-434A-48B5-6D0BDA324E79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B24626F8-3405-7B94-857D-F1F2A8E46808}"/>
                    </a:ext>
                  </a:extLst>
                </p:cNvPr>
                <p:cNvSpPr/>
                <p:nvPr/>
              </p:nvSpPr>
              <p:spPr>
                <a:xfrm>
                  <a:off x="4222980" y="3059437"/>
                  <a:ext cx="1244192" cy="739126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Filtrage Interne</a:t>
                  </a:r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E65B8228-B903-2034-466C-E1CF7CE3C58B}"/>
                    </a:ext>
                  </a:extLst>
                </p:cNvPr>
                <p:cNvSpPr/>
                <p:nvPr/>
              </p:nvSpPr>
              <p:spPr>
                <a:xfrm>
                  <a:off x="2406061" y="3059437"/>
                  <a:ext cx="1244192" cy="739126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Induction</a:t>
                  </a:r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67C62744-6624-30B8-4516-B89653B12216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Amplificateur</a:t>
                  </a:r>
                </a:p>
              </p:txBody>
            </p:sp>
            <p:cxnSp>
              <p:nvCxnSpPr>
                <p:cNvPr id="57" name="Straight Arrow Connector 56">
                  <a:extLst>
                    <a:ext uri="{FF2B5EF4-FFF2-40B4-BE49-F238E27FC236}">
                      <a16:creationId xmlns:a16="http://schemas.microsoft.com/office/drawing/2014/main" id="{BE861EC0-ADFA-BFD5-9A59-357BF9F8DA0C}"/>
                    </a:ext>
                  </a:extLst>
                </p:cNvPr>
                <p:cNvCxnSpPr>
                  <a:cxnSpLocks/>
                  <a:stCxn id="55" idx="3"/>
                  <a:endCxn id="54" idx="1"/>
                </p:cNvCxnSpPr>
                <p:nvPr/>
              </p:nvCxnSpPr>
              <p:spPr>
                <a:xfrm>
                  <a:off x="3650253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Arrow Connector 57">
                  <a:extLst>
                    <a:ext uri="{FF2B5EF4-FFF2-40B4-BE49-F238E27FC236}">
                      <a16:creationId xmlns:a16="http://schemas.microsoft.com/office/drawing/2014/main" id="{CBAA01B1-07B4-0E8E-EA74-4165A97C907C}"/>
                    </a:ext>
                  </a:extLst>
                </p:cNvPr>
                <p:cNvCxnSpPr>
                  <a:cxnSpLocks/>
                  <a:stCxn id="54" idx="3"/>
                  <a:endCxn id="56" idx="1"/>
                </p:cNvCxnSpPr>
                <p:nvPr/>
              </p:nvCxnSpPr>
              <p:spPr>
                <a:xfrm>
                  <a:off x="5467172" y="3429000"/>
                  <a:ext cx="572726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Arrow Connector 58">
                  <a:extLst>
                    <a:ext uri="{FF2B5EF4-FFF2-40B4-BE49-F238E27FC236}">
                      <a16:creationId xmlns:a16="http://schemas.microsoft.com/office/drawing/2014/main" id="{2351D297-C352-0650-1F96-4B946D7E8EDF}"/>
                    </a:ext>
                  </a:extLst>
                </p:cNvPr>
                <p:cNvCxnSpPr>
                  <a:cxnSpLocks/>
                  <a:endCxn id="55" idx="1"/>
                </p:cNvCxnSpPr>
                <p:nvPr/>
              </p:nvCxnSpPr>
              <p:spPr>
                <a:xfrm>
                  <a:off x="1833334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Arrow Connector 59">
                  <a:extLst>
                    <a:ext uri="{FF2B5EF4-FFF2-40B4-BE49-F238E27FC236}">
                      <a16:creationId xmlns:a16="http://schemas.microsoft.com/office/drawing/2014/main" id="{2C793BFD-06C9-831C-9B6A-6D0B4AB1F2FB}"/>
                    </a:ext>
                  </a:extLst>
                </p:cNvPr>
                <p:cNvCxnSpPr>
                  <a:cxnSpLocks/>
                  <a:stCxn id="56" idx="3"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BC89B3A1-9684-D240-5467-3E824101697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BC89B3A1-9684-D240-5467-3E824101697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0A65CBD3-56E2-8142-5CE2-5D9B819463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0A65CBD3-56E2-8142-5CE2-5D9B8194632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74510184-3A41-CDD1-88B7-90ACF554C78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74510184-3A41-CDD1-88B7-90ACF554C78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r="-8219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8AEFA58-920D-CA4B-0F07-1505906941E3}"/>
                  </a:ext>
                </a:extLst>
              </p:cNvPr>
              <p:cNvSpPr txBox="1"/>
              <p:nvPr/>
            </p:nvSpPr>
            <p:spPr>
              <a:xfrm>
                <a:off x="194470" y="5571687"/>
                <a:ext cx="1313526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Champ Magnétique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AE9D5FC-7311-9DE7-224D-265153585FFE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Son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62E58AEB-3C8B-BEE6-23D3-28ACF6A082A1}"/>
                  </a:ext>
                </a:extLst>
              </p:cNvPr>
              <p:cNvSpPr txBox="1"/>
              <p:nvPr/>
            </p:nvSpPr>
            <p:spPr>
              <a:xfrm>
                <a:off x="2968578" y="5083538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>
                    <a:solidFill>
                      <a:srgbClr val="C00000"/>
                    </a:solidFill>
                  </a:rPr>
                  <a:t>Micro</a:t>
                </a:r>
              </a:p>
            </p:txBody>
          </p:sp>
        </p:grp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39D5AB90-5B5D-299C-905F-5A23D8466EEA}"/>
                </a:ext>
              </a:extLst>
            </p:cNvPr>
            <p:cNvSpPr/>
            <p:nvPr/>
          </p:nvSpPr>
          <p:spPr>
            <a:xfrm>
              <a:off x="1791455" y="5434033"/>
              <a:ext cx="3187230" cy="860085"/>
            </a:xfrm>
            <a:prstGeom prst="rect">
              <a:avLst/>
            </a:prstGeom>
            <a:noFill/>
            <a:ln w="38100">
              <a:solidFill>
                <a:srgbClr val="C0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7E631FB0-AF2B-52D9-ABF9-A8C72A563A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18" t="7821" r="16609" b="12129"/>
          <a:stretch>
            <a:fillRect/>
          </a:stretch>
        </p:blipFill>
        <p:spPr>
          <a:xfrm>
            <a:off x="1307807" y="901333"/>
            <a:ext cx="6528386" cy="396552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6F19366-E464-2982-AC55-682B5038ECC4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Footer Placeholder 2">
            <a:extLst>
              <a:ext uri="{FF2B5EF4-FFF2-40B4-BE49-F238E27FC236}">
                <a16:creationId xmlns:a16="http://schemas.microsoft.com/office/drawing/2014/main" id="{7F9072DF-6B10-F3FF-2E80-2B8708D4A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89F772F-663F-5F54-5B8F-B00F8569BB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5562531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487995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1C3C5-724E-6B47-34F2-CF92308B7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723932D-DB1E-0F79-2630-BD139B43CBE1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9FDBC51-B7C5-D612-8598-965C48AC72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ADAE1A4-DBF7-136C-C7FB-905349CD6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20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DB6957C-FA40-780F-7F7C-92FF0723E95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9F7A028-A084-247B-14D0-F31ACD171867}"/>
                  </a:ext>
                </a:extLst>
              </p:cNvPr>
              <p:cNvSpPr/>
              <p:nvPr/>
            </p:nvSpPr>
            <p:spPr>
              <a:xfrm>
                <a:off x="4747261" y="1124075"/>
                <a:ext cx="4203181" cy="5146248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dirty="0">
                    <a:solidFill>
                      <a:schemeClr val="tx1"/>
                    </a:solidFill>
                  </a:rPr>
                  <a:t>On considère un champ parasite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′)</m:t>
                      </m:r>
                      <m:func>
                        <m:func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pPr algn="ctr"/>
                <a:endParaRPr lang="fr-FR" sz="1600" dirty="0"/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Pour un micro SingleCoil :</a:t>
                </a: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On place le micro tel que </a:t>
                </a:r>
                <a14:m>
                  <m:oMath xmlns:m="http://schemas.openxmlformats.org/officeDocument/2006/math"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′=0</m:t>
                    </m:r>
                  </m:oMath>
                </a14:m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u="sng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(0, 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  <a:p>
                <a:pPr algn="ctr"/>
                <a:endParaRPr lang="fr-FR" sz="1600" dirty="0"/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Pour un micro Humbucker :</a:t>
                </a:r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u="sng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sz="1400" b="0" dirty="0"/>
                  <a:t>Montage série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ⅇ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𝐻𝑠</m:t>
                        </m:r>
                      </m:sub>
                    </m:sSub>
                    <m:d>
                      <m:dPr>
                        <m:ctrlPr>
                          <a:rPr lang="fr-FR" sz="14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sz="1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sz="1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fr-FR" sz="1400" i="1" dirty="0"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sz="1400" dirty="0"/>
                  <a:t>Montage parallèle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𝐻𝑝</m:t>
                        </m:r>
                      </m:sub>
                    </m:sSub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fr-FR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fr-FR" sz="1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fr-F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fr-FR" sz="1400" dirty="0"/>
              </a:p>
              <a:p>
                <a:r>
                  <a:rPr lang="fr-FR" sz="1600" dirty="0"/>
                  <a:t>D’où :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𝐻𝑠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𝐻𝑠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m:rPr>
                          <m:sty m:val="p"/>
                        </m:rPr>
                        <a:rPr lang="fr-FR" sz="14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func>
                        <m:func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  <a:ea typeface="Cambria Math" panose="02040503050406030204" pitchFamily="18" charset="0"/>
                </a:endParaRPr>
              </a:p>
              <a:p>
                <a:pPr algn="ctr"/>
                <a:endParaRPr lang="fr-FR" sz="1400" dirty="0">
                  <a:solidFill>
                    <a:srgbClr val="C00000"/>
                  </a:solidFill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4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𝐻𝑝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m:rPr>
                          <m:sty m:val="p"/>
                        </m:rPr>
                        <a:rPr lang="fr-FR" sz="140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func>
                        <m:func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9F7A028-A084-247B-14D0-F31ACD17186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7261" y="1124075"/>
                <a:ext cx="4203181" cy="5146248"/>
              </a:xfrm>
              <a:prstGeom prst="rect">
                <a:avLst/>
              </a:prstGeom>
              <a:blipFill>
                <a:blip r:embed="rId2"/>
                <a:stretch>
                  <a:fillRect l="-432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3" name="Group 42">
            <a:extLst>
              <a:ext uri="{FF2B5EF4-FFF2-40B4-BE49-F238E27FC236}">
                <a16:creationId xmlns:a16="http://schemas.microsoft.com/office/drawing/2014/main" id="{64CC775C-DC4C-63E7-FC61-EA5A3939172B}"/>
              </a:ext>
            </a:extLst>
          </p:cNvPr>
          <p:cNvGrpSpPr/>
          <p:nvPr/>
        </p:nvGrpSpPr>
        <p:grpSpPr>
          <a:xfrm>
            <a:off x="326176" y="2696874"/>
            <a:ext cx="4070564" cy="3573449"/>
            <a:chOff x="1211000" y="2537460"/>
            <a:chExt cx="3842591" cy="365760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Rectangle 64">
                  <a:extLst>
                    <a:ext uri="{FF2B5EF4-FFF2-40B4-BE49-F238E27FC236}">
                      <a16:creationId xmlns:a16="http://schemas.microsoft.com/office/drawing/2014/main" id="{A165BD7B-D6B6-F854-07A0-F8064B514725}"/>
                    </a:ext>
                  </a:extLst>
                </p:cNvPr>
                <p:cNvSpPr/>
                <p:nvPr/>
              </p:nvSpPr>
              <p:spPr>
                <a:xfrm>
                  <a:off x="1211000" y="2537460"/>
                  <a:ext cx="3842591" cy="3657600"/>
                </a:xfrm>
                <a:prstGeom prst="rect">
                  <a:avLst/>
                </a:prstGeom>
                <a:ln w="38100"/>
              </p:spPr>
              <p:style>
                <a:lnRef idx="2">
                  <a:schemeClr val="accent4"/>
                </a:lnRef>
                <a:fillRef idx="1">
                  <a:schemeClr val="lt1"/>
                </a:fillRef>
                <a:effectRef idx="0">
                  <a:schemeClr val="accent4"/>
                </a:effectRef>
                <a:fontRef idx="minor">
                  <a:schemeClr val="dk1"/>
                </a:fontRef>
              </p:style>
              <p:txBody>
                <a:bodyPr numCol="1" rtlCol="0" anchor="t"/>
                <a:lstStyle/>
                <a:p>
                  <a:r>
                    <a:rPr lang="fr-FR" sz="1600" b="1" dirty="0"/>
                    <a:t>Notations :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500" i="1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sz="15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500" dirty="0"/>
                    <a:t>: F.E.M. dans le micro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500" i="1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5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500" dirty="0"/>
                    <a:t>: Nombre d’un bobinage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5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5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500" dirty="0"/>
                    <a:t>: Surface du micro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500" b="0" i="1" smtClean="0">
                          <a:latin typeface="Cambria Math" panose="02040503050406030204" pitchFamily="18" charset="0"/>
                        </a:rPr>
                        <m:t>𝛼</m:t>
                      </m:r>
                    </m:oMath>
                  </a14:m>
                  <a:r>
                    <a:rPr lang="fr-FR" sz="1500" dirty="0"/>
                    <a:t>: Gradient du champ parasite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5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fr-FR" sz="15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5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500" dirty="0"/>
                    <a:t>: Fréquence du champ parasite</a:t>
                  </a:r>
                </a:p>
              </p:txBody>
            </p:sp>
          </mc:Choice>
          <mc:Fallback xmlns="">
            <p:sp>
              <p:nvSpPr>
                <p:cNvPr id="65" name="Rectangle 64">
                  <a:extLst>
                    <a:ext uri="{FF2B5EF4-FFF2-40B4-BE49-F238E27FC236}">
                      <a16:creationId xmlns:a16="http://schemas.microsoft.com/office/drawing/2014/main" id="{A165BD7B-D6B6-F854-07A0-F8064B51472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11000" y="2537460"/>
                  <a:ext cx="3842591" cy="3657600"/>
                </a:xfrm>
                <a:prstGeom prst="rect">
                  <a:avLst/>
                </a:prstGeom>
                <a:blipFill>
                  <a:blip r:embed="rId3"/>
                  <a:stretch>
                    <a:fillRect l="-446"/>
                  </a:stretch>
                </a:blipFill>
                <a:ln w="38100"/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AutoShape 2" descr="Image de ">
              <a:extLst>
                <a:ext uri="{FF2B5EF4-FFF2-40B4-BE49-F238E27FC236}">
                  <a16:creationId xmlns:a16="http://schemas.microsoft.com/office/drawing/2014/main" id="{191D9128-D82D-813C-F887-06FAE524B6D6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4419600" y="3276600"/>
              <a:ext cx="304800" cy="304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F73D4D17-B068-BC08-FD30-C054806AF9D6}"/>
                </a:ext>
              </a:extLst>
            </p:cNvPr>
            <p:cNvPicPr>
              <a:picLocks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32494" b="70953" l="13960" r="44675"/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462" t="33994" r="56355" b="28677"/>
            <a:stretch>
              <a:fillRect/>
            </a:stretch>
          </p:blipFill>
          <p:spPr>
            <a:xfrm rot="16200000">
              <a:off x="3789600" y="4075725"/>
              <a:ext cx="540000" cy="720000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FC37DEA7-2203-42F7-6199-1F53CB0FEEA9}"/>
                </a:ext>
              </a:extLst>
            </p:cNvPr>
            <p:cNvPicPr>
              <a:picLocks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1165" t="31109" r="16927" b="29421"/>
            <a:stretch>
              <a:fillRect/>
            </a:stretch>
          </p:blipFill>
          <p:spPr>
            <a:xfrm rot="16200000">
              <a:off x="3519600" y="5043882"/>
              <a:ext cx="1080000" cy="720000"/>
            </a:xfrm>
            <a:prstGeom prst="rect">
              <a:avLst/>
            </a:prstGeom>
          </p:spPr>
        </p:pic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BE12A478-9168-E9A7-08C1-904DA5C9D11F}"/>
                </a:ext>
              </a:extLst>
            </p:cNvPr>
            <p:cNvGrpSpPr/>
            <p:nvPr/>
          </p:nvGrpSpPr>
          <p:grpSpPr>
            <a:xfrm>
              <a:off x="3464259" y="4302651"/>
              <a:ext cx="1152426" cy="1803753"/>
              <a:chOff x="1435741" y="3154410"/>
              <a:chExt cx="1152426" cy="1803753"/>
            </a:xfrm>
          </p:grpSpPr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A3BE3CFB-79EF-46B3-B885-C590E1FFCCB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585090" y="4255046"/>
                <a:ext cx="487716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13CEC012-6C4D-4FA6-13FD-D7443D6FED09}"/>
                      </a:ext>
                    </a:extLst>
                  </p:cNvPr>
                  <p:cNvSpPr txBox="1"/>
                  <p:nvPr/>
                </p:nvSpPr>
                <p:spPr>
                  <a:xfrm>
                    <a:off x="1435741" y="4143861"/>
                    <a:ext cx="169918" cy="22236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13CEC012-6C4D-4FA6-13FD-D7443D6FED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35741" y="4143861"/>
                    <a:ext cx="169918" cy="222369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28571" r="-32143" b="-29730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20A816B5-53E3-F589-38D2-8FB5899DC4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72806" y="4255046"/>
                <a:ext cx="0" cy="416567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TextBox 35">
                    <a:extLst>
                      <a:ext uri="{FF2B5EF4-FFF2-40B4-BE49-F238E27FC236}">
                        <a16:creationId xmlns:a16="http://schemas.microsoft.com/office/drawing/2014/main" id="{DDD4A81F-E446-8C5B-C4B6-971AC4B98CD1}"/>
                      </a:ext>
                    </a:extLst>
                  </p:cNvPr>
                  <p:cNvSpPr txBox="1"/>
                  <p:nvPr/>
                </p:nvSpPr>
                <p:spPr>
                  <a:xfrm>
                    <a:off x="1990251" y="4735794"/>
                    <a:ext cx="165110" cy="22236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36" name="TextBox 35">
                    <a:extLst>
                      <a:ext uri="{FF2B5EF4-FFF2-40B4-BE49-F238E27FC236}">
                        <a16:creationId xmlns:a16="http://schemas.microsoft.com/office/drawing/2014/main" id="{DDD4A81F-E446-8C5B-C4B6-971AC4B98CD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0251" y="4735794"/>
                    <a:ext cx="165110" cy="22236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22222" r="-22222" b="-8108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9" name="TextBox 48">
                    <a:extLst>
                      <a:ext uri="{FF2B5EF4-FFF2-40B4-BE49-F238E27FC236}">
                        <a16:creationId xmlns:a16="http://schemas.microsoft.com/office/drawing/2014/main" id="{CC432440-AFBD-FE2E-238F-FB732EA55D33}"/>
                      </a:ext>
                    </a:extLst>
                  </p:cNvPr>
                  <p:cNvSpPr txBox="1"/>
                  <p:nvPr/>
                </p:nvSpPr>
                <p:spPr>
                  <a:xfrm>
                    <a:off x="2440608" y="4290781"/>
                    <a:ext cx="127111" cy="35381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49" name="TextBox 48">
                    <a:extLst>
                      <a:ext uri="{FF2B5EF4-FFF2-40B4-BE49-F238E27FC236}">
                        <a16:creationId xmlns:a16="http://schemas.microsoft.com/office/drawing/2014/main" id="{CC432440-AFBD-FE2E-238F-FB732EA55D3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40608" y="4290781"/>
                    <a:ext cx="127111" cy="353812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22727" t="-1754" r="-27273" b="-14035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0" name="TextBox 49">
                    <a:extLst>
                      <a:ext uri="{FF2B5EF4-FFF2-40B4-BE49-F238E27FC236}">
                        <a16:creationId xmlns:a16="http://schemas.microsoft.com/office/drawing/2014/main" id="{4066B23E-CB7A-24DB-69DB-5E458707C247}"/>
                      </a:ext>
                    </a:extLst>
                  </p:cNvPr>
                  <p:cNvSpPr txBox="1"/>
                  <p:nvPr/>
                </p:nvSpPr>
                <p:spPr>
                  <a:xfrm>
                    <a:off x="2388421" y="3837625"/>
                    <a:ext cx="199746" cy="35381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</m:num>
                            <m:den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50" name="TextBox 49">
                    <a:extLst>
                      <a:ext uri="{FF2B5EF4-FFF2-40B4-BE49-F238E27FC236}">
                        <a16:creationId xmlns:a16="http://schemas.microsoft.com/office/drawing/2014/main" id="{4066B23E-CB7A-24DB-69DB-5E458707C24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88421" y="3837625"/>
                    <a:ext cx="199746" cy="353812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t="-3509" r="-17647" b="-14035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0329C849-FD05-E48F-7B3A-455288FE67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585090" y="3279270"/>
                <a:ext cx="487716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291721E5-D838-9684-957E-F4B2D764E8F9}"/>
                      </a:ext>
                    </a:extLst>
                  </p:cNvPr>
                  <p:cNvSpPr txBox="1"/>
                  <p:nvPr/>
                </p:nvSpPr>
                <p:spPr>
                  <a:xfrm>
                    <a:off x="1435741" y="3154410"/>
                    <a:ext cx="169918" cy="22236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291721E5-D838-9684-957E-F4B2D764E8F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35741" y="3154410"/>
                    <a:ext cx="169918" cy="22236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28571" r="-32143" b="-30556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4CCB477B-68D4-66E8-9099-532A344293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72806" y="3279270"/>
                <a:ext cx="0" cy="1660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A9B3E65F-92A4-D8EE-10ED-0F9447D71CBD}"/>
                      </a:ext>
                    </a:extLst>
                  </p:cNvPr>
                  <p:cNvSpPr txBox="1"/>
                  <p:nvPr/>
                </p:nvSpPr>
                <p:spPr>
                  <a:xfrm>
                    <a:off x="1990251" y="3430485"/>
                    <a:ext cx="165110" cy="22236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A9B3E65F-92A4-D8EE-10ED-0F9447D71CB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0251" y="3430485"/>
                    <a:ext cx="165110" cy="22236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22222" r="-22222" b="-8108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D125323C-5C14-F193-F991-30FAE1066184}"/>
                </a:ext>
              </a:extLst>
            </p:cNvPr>
            <p:cNvGrpSpPr/>
            <p:nvPr/>
          </p:nvGrpSpPr>
          <p:grpSpPr>
            <a:xfrm>
              <a:off x="1699654" y="4952326"/>
              <a:ext cx="1544379" cy="901924"/>
              <a:chOff x="1699654" y="4952326"/>
              <a:chExt cx="1544379" cy="901924"/>
            </a:xfrm>
          </p:grpSpPr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9E8E7F2C-74F6-4532-DDC7-7644551959A7}"/>
                  </a:ext>
                </a:extLst>
              </p:cNvPr>
              <p:cNvCxnSpPr/>
              <p:nvPr/>
            </p:nvCxnSpPr>
            <p:spPr>
              <a:xfrm>
                <a:off x="1700920" y="5403881"/>
                <a:ext cx="1508760" cy="0"/>
              </a:xfrm>
              <a:prstGeom prst="straightConnector1">
                <a:avLst/>
              </a:prstGeom>
              <a:ln w="38100">
                <a:solidFill>
                  <a:srgbClr val="38903A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B48B2373-3BE8-8DA8-0C01-F9A3AD3ED065}"/>
                      </a:ext>
                    </a:extLst>
                  </p:cNvPr>
                  <p:cNvSpPr txBox="1"/>
                  <p:nvPr/>
                </p:nvSpPr>
                <p:spPr>
                  <a:xfrm>
                    <a:off x="2283738" y="5006421"/>
                    <a:ext cx="347211" cy="34515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2000" i="1" smtClean="0">
                                  <a:solidFill>
                                    <a:srgbClr val="38903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2000" b="0" i="1" smtClean="0">
                                      <a:solidFill>
                                        <a:srgbClr val="38903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2000" b="0" i="1" smtClean="0">
                                      <a:solidFill>
                                        <a:srgbClr val="38903A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2000" b="0" i="1" smtClean="0">
                                      <a:solidFill>
                                        <a:srgbClr val="38903A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2000" dirty="0">
                      <a:solidFill>
                        <a:srgbClr val="38903A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B48B2373-3BE8-8DA8-0C01-F9A3AD3ED06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83738" y="5006421"/>
                    <a:ext cx="347211" cy="345159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15789" r="-3509" b="-15789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4" name="Arc 43">
                <a:extLst>
                  <a:ext uri="{FF2B5EF4-FFF2-40B4-BE49-F238E27FC236}">
                    <a16:creationId xmlns:a16="http://schemas.microsoft.com/office/drawing/2014/main" id="{85D0D423-6440-EDF0-0B59-8D2843A8BF31}"/>
                  </a:ext>
                </a:extLst>
              </p:cNvPr>
              <p:cNvSpPr/>
              <p:nvPr/>
            </p:nvSpPr>
            <p:spPr>
              <a:xfrm>
                <a:off x="1700920" y="5403288"/>
                <a:ext cx="1508760" cy="450962"/>
              </a:xfrm>
              <a:prstGeom prst="arc">
                <a:avLst>
                  <a:gd name="adj1" fmla="val 16200000"/>
                  <a:gd name="adj2" fmla="val 21318415"/>
                </a:avLst>
              </a:prstGeom>
              <a:ln w="28575">
                <a:solidFill>
                  <a:srgbClr val="38903A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5" name="Arc 44">
                <a:extLst>
                  <a:ext uri="{FF2B5EF4-FFF2-40B4-BE49-F238E27FC236}">
                    <a16:creationId xmlns:a16="http://schemas.microsoft.com/office/drawing/2014/main" id="{FE8E84BD-8DB9-8C32-A2D5-836E000D5D67}"/>
                  </a:ext>
                </a:extLst>
              </p:cNvPr>
              <p:cNvSpPr/>
              <p:nvPr/>
            </p:nvSpPr>
            <p:spPr>
              <a:xfrm flipV="1">
                <a:off x="1699654" y="4952326"/>
                <a:ext cx="1508760" cy="450962"/>
              </a:xfrm>
              <a:prstGeom prst="arc">
                <a:avLst>
                  <a:gd name="adj1" fmla="val 16200000"/>
                  <a:gd name="adj2" fmla="val 21318415"/>
                </a:avLst>
              </a:prstGeom>
              <a:ln w="28575">
                <a:solidFill>
                  <a:srgbClr val="38903A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6" name="Isosceles Triangle 45">
                <a:extLst>
                  <a:ext uri="{FF2B5EF4-FFF2-40B4-BE49-F238E27FC236}">
                    <a16:creationId xmlns:a16="http://schemas.microsoft.com/office/drawing/2014/main" id="{E8F1C0D4-E7BF-A56A-66B8-2EF66503523C}"/>
                  </a:ext>
                </a:extLst>
              </p:cNvPr>
              <p:cNvSpPr/>
              <p:nvPr/>
            </p:nvSpPr>
            <p:spPr>
              <a:xfrm rot="2778153">
                <a:off x="3174565" y="5186224"/>
                <a:ext cx="67698" cy="71238"/>
              </a:xfrm>
              <a:prstGeom prst="triangle">
                <a:avLst/>
              </a:prstGeom>
              <a:solidFill>
                <a:srgbClr val="38903A"/>
              </a:solidFill>
              <a:ln>
                <a:solidFill>
                  <a:srgbClr val="38903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7" name="Isosceles Triangle 46">
                <a:extLst>
                  <a:ext uri="{FF2B5EF4-FFF2-40B4-BE49-F238E27FC236}">
                    <a16:creationId xmlns:a16="http://schemas.microsoft.com/office/drawing/2014/main" id="{FF99D8DF-EB3C-7D2B-91C5-6DA397B1020C}"/>
                  </a:ext>
                </a:extLst>
              </p:cNvPr>
              <p:cNvSpPr/>
              <p:nvPr/>
            </p:nvSpPr>
            <p:spPr>
              <a:xfrm rot="8004520">
                <a:off x="3164379" y="5548707"/>
                <a:ext cx="67698" cy="71238"/>
              </a:xfrm>
              <a:prstGeom prst="triangle">
                <a:avLst/>
              </a:prstGeom>
              <a:solidFill>
                <a:srgbClr val="38903A"/>
              </a:solidFill>
              <a:ln>
                <a:solidFill>
                  <a:srgbClr val="38903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6D80C00-81CF-0ACA-2B22-AD88491FC8A1}"/>
                </a:ext>
              </a:extLst>
            </p:cNvPr>
            <p:cNvCxnSpPr/>
            <p:nvPr/>
          </p:nvCxnSpPr>
          <p:spPr>
            <a:xfrm flipH="1">
              <a:off x="1447764" y="4792980"/>
              <a:ext cx="3276636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198DBCAD-8DE2-B26A-F28F-DE975A13CF1C}"/>
                </a:ext>
              </a:extLst>
            </p:cNvPr>
            <p:cNvGrpSpPr/>
            <p:nvPr/>
          </p:nvGrpSpPr>
          <p:grpSpPr>
            <a:xfrm>
              <a:off x="1713173" y="3988565"/>
              <a:ext cx="1544379" cy="901924"/>
              <a:chOff x="1699654" y="4952326"/>
              <a:chExt cx="1544379" cy="901924"/>
            </a:xfrm>
          </p:grpSpPr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F3F9B1D8-9D10-F88F-4092-C5BE6B1D1EAA}"/>
                  </a:ext>
                </a:extLst>
              </p:cNvPr>
              <p:cNvCxnSpPr/>
              <p:nvPr/>
            </p:nvCxnSpPr>
            <p:spPr>
              <a:xfrm>
                <a:off x="1700920" y="5403881"/>
                <a:ext cx="1508760" cy="0"/>
              </a:xfrm>
              <a:prstGeom prst="straightConnector1">
                <a:avLst/>
              </a:prstGeom>
              <a:ln w="38100">
                <a:solidFill>
                  <a:srgbClr val="38903A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0DB244FD-9C5A-2D4B-196B-CA6F26C94AEF}"/>
                      </a:ext>
                    </a:extLst>
                  </p:cNvPr>
                  <p:cNvSpPr txBox="1"/>
                  <p:nvPr/>
                </p:nvSpPr>
                <p:spPr>
                  <a:xfrm>
                    <a:off x="2283738" y="5006421"/>
                    <a:ext cx="347211" cy="34515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2000" i="1" smtClean="0">
                                  <a:solidFill>
                                    <a:srgbClr val="38903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2000" b="0" i="1" smtClean="0">
                                      <a:solidFill>
                                        <a:srgbClr val="38903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2000" b="0" i="1" smtClean="0">
                                      <a:solidFill>
                                        <a:srgbClr val="38903A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2000" b="0" i="1" smtClean="0">
                                      <a:solidFill>
                                        <a:srgbClr val="38903A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2000" dirty="0">
                      <a:solidFill>
                        <a:srgbClr val="38903A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0DB244FD-9C5A-2D4B-196B-CA6F26C94AE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83738" y="5006421"/>
                    <a:ext cx="347211" cy="345159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15789" r="-3509" b="-15789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7" name="Arc 36">
                <a:extLst>
                  <a:ext uri="{FF2B5EF4-FFF2-40B4-BE49-F238E27FC236}">
                    <a16:creationId xmlns:a16="http://schemas.microsoft.com/office/drawing/2014/main" id="{3E97DF05-5490-31B1-A805-F06F41AA3A12}"/>
                  </a:ext>
                </a:extLst>
              </p:cNvPr>
              <p:cNvSpPr/>
              <p:nvPr/>
            </p:nvSpPr>
            <p:spPr>
              <a:xfrm>
                <a:off x="1700920" y="5403288"/>
                <a:ext cx="1508760" cy="450962"/>
              </a:xfrm>
              <a:prstGeom prst="arc">
                <a:avLst>
                  <a:gd name="adj1" fmla="val 16200000"/>
                  <a:gd name="adj2" fmla="val 21318415"/>
                </a:avLst>
              </a:prstGeom>
              <a:ln w="28575">
                <a:solidFill>
                  <a:srgbClr val="38903A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8" name="Arc 37">
                <a:extLst>
                  <a:ext uri="{FF2B5EF4-FFF2-40B4-BE49-F238E27FC236}">
                    <a16:creationId xmlns:a16="http://schemas.microsoft.com/office/drawing/2014/main" id="{B2354A2E-C08C-81D8-2AFE-6DC06DC0D8B4}"/>
                  </a:ext>
                </a:extLst>
              </p:cNvPr>
              <p:cNvSpPr/>
              <p:nvPr/>
            </p:nvSpPr>
            <p:spPr>
              <a:xfrm flipV="1">
                <a:off x="1699654" y="4952326"/>
                <a:ext cx="1508760" cy="450962"/>
              </a:xfrm>
              <a:prstGeom prst="arc">
                <a:avLst>
                  <a:gd name="adj1" fmla="val 16200000"/>
                  <a:gd name="adj2" fmla="val 21318415"/>
                </a:avLst>
              </a:prstGeom>
              <a:ln w="28575">
                <a:solidFill>
                  <a:srgbClr val="38903A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9" name="Isosceles Triangle 38">
                <a:extLst>
                  <a:ext uri="{FF2B5EF4-FFF2-40B4-BE49-F238E27FC236}">
                    <a16:creationId xmlns:a16="http://schemas.microsoft.com/office/drawing/2014/main" id="{96F9CB74-D7AB-3B25-38FB-F4F08ECD4546}"/>
                  </a:ext>
                </a:extLst>
              </p:cNvPr>
              <p:cNvSpPr/>
              <p:nvPr/>
            </p:nvSpPr>
            <p:spPr>
              <a:xfrm rot="2778153">
                <a:off x="3174565" y="5186224"/>
                <a:ext cx="67698" cy="71238"/>
              </a:xfrm>
              <a:prstGeom prst="triangle">
                <a:avLst/>
              </a:prstGeom>
              <a:solidFill>
                <a:srgbClr val="38903A"/>
              </a:solidFill>
              <a:ln>
                <a:solidFill>
                  <a:srgbClr val="38903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0" name="Isosceles Triangle 39">
                <a:extLst>
                  <a:ext uri="{FF2B5EF4-FFF2-40B4-BE49-F238E27FC236}">
                    <a16:creationId xmlns:a16="http://schemas.microsoft.com/office/drawing/2014/main" id="{83616F32-5E18-8F61-D331-A3D22F87DE3F}"/>
                  </a:ext>
                </a:extLst>
              </p:cNvPr>
              <p:cNvSpPr/>
              <p:nvPr/>
            </p:nvSpPr>
            <p:spPr>
              <a:xfrm rot="8004520">
                <a:off x="3164379" y="5548707"/>
                <a:ext cx="67698" cy="71238"/>
              </a:xfrm>
              <a:prstGeom prst="triangle">
                <a:avLst/>
              </a:prstGeom>
              <a:solidFill>
                <a:srgbClr val="38903A"/>
              </a:solidFill>
              <a:ln>
                <a:solidFill>
                  <a:srgbClr val="38903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06E3F63-18A3-9498-5073-A5EF88801CCB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CD188FC-F06E-EA7C-476B-D42BE57B1E8F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" name="Footer Placeholder 2">
              <a:extLst>
                <a:ext uri="{FF2B5EF4-FFF2-40B4-BE49-F238E27FC236}">
                  <a16:creationId xmlns:a16="http://schemas.microsoft.com/office/drawing/2014/main" id="{8E4F5BB7-84F5-256D-1766-FF80BA3A6684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0702EA55-3B7D-8E0A-598A-0BCE3646F1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03E3BAB-D466-9F44-61A6-DD7BAEFADA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115552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51915C8-D355-0228-41D3-02B545BB2493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Théorie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C6CBC8C4-39F6-4601-41C5-54ED85F9A541}"/>
                  </a:ext>
                </a:extLst>
              </p:cNvPr>
              <p:cNvSpPr/>
              <p:nvPr/>
            </p:nvSpPr>
            <p:spPr>
              <a:xfrm>
                <a:off x="326176" y="1124075"/>
                <a:ext cx="4070565" cy="1423878"/>
              </a:xfrm>
              <a:prstGeom prst="rect">
                <a:avLst/>
              </a:prstGeom>
              <a:ln w="38100"/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600" b="1" dirty="0"/>
                  <a:t>Hypothèses 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Gradient magnétique </a:t>
                </a:r>
                <a14:m>
                  <m:oMath xmlns:m="http://schemas.openxmlformats.org/officeDocument/2006/math">
                    <m:r>
                      <a:rPr lang="fr-FR" sz="16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600" dirty="0"/>
                  <a:t> 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Micros ponctuels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Induction mutuelle négligée</a:t>
                </a:r>
              </a:p>
            </p:txBody>
          </p:sp>
        </mc:Choice>
        <mc:Fallback xmlns=""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C6CBC8C4-39F6-4601-41C5-54ED85F9A5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176" y="1124075"/>
                <a:ext cx="4070565" cy="1423878"/>
              </a:xfrm>
              <a:prstGeom prst="rect">
                <a:avLst/>
              </a:prstGeom>
              <a:blipFill>
                <a:blip r:embed="rId17"/>
                <a:stretch>
                  <a:fillRect l="-446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B4FDF9A-D925-BEE4-0528-54523CEC29A1}"/>
                  </a:ext>
                </a:extLst>
              </p:cNvPr>
              <p:cNvSpPr txBox="1"/>
              <p:nvPr/>
            </p:nvSpPr>
            <p:spPr>
              <a:xfrm>
                <a:off x="2725273" y="4421555"/>
                <a:ext cx="139333" cy="21544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B4FDF9A-D925-BEE4-0528-54523CEC29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5273" y="4421555"/>
                <a:ext cx="139333" cy="215444"/>
              </a:xfrm>
              <a:prstGeom prst="rect">
                <a:avLst/>
              </a:prstGeom>
              <a:blipFill>
                <a:blip r:embed="rId18"/>
                <a:stretch>
                  <a:fillRect l="-26087" t="-33333" r="-100000" b="-55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493FE3-1016-C2F7-F503-1AAAEF5676B5}"/>
                  </a:ext>
                </a:extLst>
              </p:cNvPr>
              <p:cNvSpPr txBox="1"/>
              <p:nvPr/>
            </p:nvSpPr>
            <p:spPr>
              <a:xfrm>
                <a:off x="2725273" y="5408242"/>
                <a:ext cx="139333" cy="21544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493FE3-1016-C2F7-F503-1AAAEF5676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5273" y="5408242"/>
                <a:ext cx="139333" cy="215444"/>
              </a:xfrm>
              <a:prstGeom prst="rect">
                <a:avLst/>
              </a:prstGeom>
              <a:blipFill>
                <a:blip r:embed="rId18"/>
                <a:stretch>
                  <a:fillRect l="-26087" t="-33333" r="-100000" b="-55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884591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317EF-1FA9-4C71-24AC-92C2CCEDF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7A830A7-B734-AAE1-B623-C2C7A0333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02644A6-17D6-7DD7-E116-6CC650453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21</a:t>
            </a:fld>
            <a:endParaRPr lang="fr-FR" sz="1200" b="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D17026C-30AC-055B-0F5E-C7C1D3422A7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BE267BF-F8C8-7B9F-086E-2829E24D70E2}"/>
              </a:ext>
            </a:extLst>
          </p:cNvPr>
          <p:cNvGrpSpPr/>
          <p:nvPr/>
        </p:nvGrpSpPr>
        <p:grpSpPr>
          <a:xfrm>
            <a:off x="376131" y="1128398"/>
            <a:ext cx="7320105" cy="5123781"/>
            <a:chOff x="1088521" y="1146180"/>
            <a:chExt cx="6758213" cy="4934910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C325D940-13FD-EE6E-C1BF-2EAC1C5E3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colorTemperature colorTemp="4700"/>
                      </a14:imgEffect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227" b="5227"/>
            <a:stretch/>
          </p:blipFill>
          <p:spPr>
            <a:xfrm rot="16200000">
              <a:off x="2190128" y="306547"/>
              <a:ext cx="2942282" cy="4621547"/>
            </a:xfrm>
            <a:prstGeom prst="rect">
              <a:avLst/>
            </a:prstGeom>
            <a:ln w="28575">
              <a:noFill/>
            </a:ln>
            <a:effectLst>
              <a:softEdge rad="31750"/>
            </a:effectLst>
          </p:spPr>
        </p:pic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C1537CB8-8F77-3361-FCF5-324906ABEE21}"/>
                </a:ext>
              </a:extLst>
            </p:cNvPr>
            <p:cNvGrpSpPr/>
            <p:nvPr/>
          </p:nvGrpSpPr>
          <p:grpSpPr>
            <a:xfrm flipH="1">
              <a:off x="1433732" y="4360802"/>
              <a:ext cx="6413002" cy="1720288"/>
              <a:chOff x="1440953" y="2466429"/>
              <a:chExt cx="6262094" cy="1720288"/>
            </a:xfrm>
          </p:grpSpPr>
          <p:pic>
            <p:nvPicPr>
              <p:cNvPr id="134" name="Picture 133">
                <a:extLst>
                  <a:ext uri="{FF2B5EF4-FFF2-40B4-BE49-F238E27FC236}">
                    <a16:creationId xmlns:a16="http://schemas.microsoft.com/office/drawing/2014/main" id="{485931D7-3E78-6020-17E4-F6EE0BB401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 rot="16140000">
                <a:off x="4210262" y="693933"/>
                <a:ext cx="723475" cy="6262094"/>
              </a:xfrm>
              <a:prstGeom prst="rect">
                <a:avLst/>
              </a:prstGeom>
            </p:spPr>
          </p:pic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749D53FD-1AA2-3F26-4A50-75DD1D2E5A33}"/>
                  </a:ext>
                </a:extLst>
              </p:cNvPr>
              <p:cNvSpPr txBox="1"/>
              <p:nvPr/>
            </p:nvSpPr>
            <p:spPr>
              <a:xfrm>
                <a:off x="4052454" y="2466429"/>
                <a:ext cx="633157" cy="27699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fr-FR" sz="1200" dirty="0"/>
                  <a:t>Corde</a:t>
                </a:r>
              </a:p>
            </p:txBody>
          </p:sp>
        </p:grpSp>
        <p:cxnSp>
          <p:nvCxnSpPr>
            <p:cNvPr id="21" name="Connector: Elbow 20">
              <a:extLst>
                <a:ext uri="{FF2B5EF4-FFF2-40B4-BE49-F238E27FC236}">
                  <a16:creationId xmlns:a16="http://schemas.microsoft.com/office/drawing/2014/main" id="{3EE8BFC5-F2AA-D1A3-380C-6809D26261A6}"/>
                </a:ext>
              </a:extLst>
            </p:cNvPr>
            <p:cNvCxnSpPr>
              <a:cxnSpLocks/>
              <a:stCxn id="23" idx="0"/>
            </p:cNvCxnSpPr>
            <p:nvPr/>
          </p:nvCxnSpPr>
          <p:spPr>
            <a:xfrm rot="5400000" flipH="1" flipV="1">
              <a:off x="1274767" y="3531748"/>
              <a:ext cx="1167611" cy="256417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1729105-5D1B-BD47-7B86-BF65201E2C22}"/>
                </a:ext>
              </a:extLst>
            </p:cNvPr>
            <p:cNvSpPr txBox="1"/>
            <p:nvPr/>
          </p:nvSpPr>
          <p:spPr>
            <a:xfrm flipH="1">
              <a:off x="2525532" y="4255954"/>
              <a:ext cx="1387055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Micro Humbucker</a:t>
              </a:r>
            </a:p>
          </p:txBody>
        </p:sp>
        <p:cxnSp>
          <p:nvCxnSpPr>
            <p:cNvPr id="51" name="Connector: Elbow 50">
              <a:extLst>
                <a:ext uri="{FF2B5EF4-FFF2-40B4-BE49-F238E27FC236}">
                  <a16:creationId xmlns:a16="http://schemas.microsoft.com/office/drawing/2014/main" id="{3736A5C1-091B-7125-5BE6-37A8B606888F}"/>
                </a:ext>
              </a:extLst>
            </p:cNvPr>
            <p:cNvCxnSpPr>
              <a:cxnSpLocks/>
              <a:stCxn id="23" idx="2"/>
            </p:cNvCxnSpPr>
            <p:nvPr/>
          </p:nvCxnSpPr>
          <p:spPr>
            <a:xfrm rot="16200000" flipH="1">
              <a:off x="1724074" y="4527051"/>
              <a:ext cx="1036591" cy="1024010"/>
            </a:xfrm>
            <a:prstGeom prst="bentConnector3">
              <a:avLst>
                <a:gd name="adj1" fmla="val 19616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nector: Elbow 57">
              <a:extLst>
                <a:ext uri="{FF2B5EF4-FFF2-40B4-BE49-F238E27FC236}">
                  <a16:creationId xmlns:a16="http://schemas.microsoft.com/office/drawing/2014/main" id="{9A269F26-F8FB-BD35-8D1C-147049D4D4C3}"/>
                </a:ext>
              </a:extLst>
            </p:cNvPr>
            <p:cNvCxnSpPr>
              <a:cxnSpLocks/>
              <a:stCxn id="24" idx="2"/>
            </p:cNvCxnSpPr>
            <p:nvPr/>
          </p:nvCxnSpPr>
          <p:spPr>
            <a:xfrm rot="5400000">
              <a:off x="2678638" y="4956566"/>
              <a:ext cx="964034" cy="116808"/>
            </a:xfrm>
            <a:prstGeom prst="bentConnector3">
              <a:avLst>
                <a:gd name="adj1" fmla="val 20491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or: Elbow 60">
              <a:extLst>
                <a:ext uri="{FF2B5EF4-FFF2-40B4-BE49-F238E27FC236}">
                  <a16:creationId xmlns:a16="http://schemas.microsoft.com/office/drawing/2014/main" id="{CD4B400A-45D8-1178-C9C6-D74658FD0F29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 rot="16200000" flipV="1">
              <a:off x="2166435" y="3203329"/>
              <a:ext cx="1167611" cy="937638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Connector: Elbow 140">
              <a:extLst>
                <a:ext uri="{FF2B5EF4-FFF2-40B4-BE49-F238E27FC236}">
                  <a16:creationId xmlns:a16="http://schemas.microsoft.com/office/drawing/2014/main" id="{2B74BC81-0396-58E2-4F5F-25A19BB7D6D7}"/>
                </a:ext>
              </a:extLst>
            </p:cNvPr>
            <p:cNvCxnSpPr>
              <a:cxnSpLocks/>
              <a:stCxn id="161" idx="2"/>
            </p:cNvCxnSpPr>
            <p:nvPr/>
          </p:nvCxnSpPr>
          <p:spPr>
            <a:xfrm rot="5400000">
              <a:off x="3978664" y="4933548"/>
              <a:ext cx="1165175" cy="573681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Connector: Elbow 145">
              <a:extLst>
                <a:ext uri="{FF2B5EF4-FFF2-40B4-BE49-F238E27FC236}">
                  <a16:creationId xmlns:a16="http://schemas.microsoft.com/office/drawing/2014/main" id="{4427088E-AEAA-CC36-74E4-446F94028ABB}"/>
                </a:ext>
              </a:extLst>
            </p:cNvPr>
            <p:cNvCxnSpPr>
              <a:cxnSpLocks/>
              <a:stCxn id="161" idx="0"/>
            </p:cNvCxnSpPr>
            <p:nvPr/>
          </p:nvCxnSpPr>
          <p:spPr>
            <a:xfrm rot="16200000" flipV="1">
              <a:off x="3888275" y="3400986"/>
              <a:ext cx="1295657" cy="623976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2AC37F92-0300-2194-BBFA-28D6CCCBFC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04620" y="3077337"/>
              <a:ext cx="4509001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E98F84A-A707-90F0-135B-B3D6DB6478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51685" y="5819775"/>
              <a:ext cx="5373659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B7AF251-442D-D41A-2407-64D8B6581262}"/>
                </a:ext>
              </a:extLst>
            </p:cNvPr>
            <p:cNvSpPr txBox="1"/>
            <p:nvPr/>
          </p:nvSpPr>
          <p:spPr>
            <a:xfrm flipH="1">
              <a:off x="1088521" y="4243762"/>
              <a:ext cx="1283687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Micro SingleCoil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1EF4D00-8389-C68B-63A5-8B73E75ADB55}"/>
              </a:ext>
            </a:extLst>
          </p:cNvPr>
          <p:cNvGrpSpPr/>
          <p:nvPr/>
        </p:nvGrpSpPr>
        <p:grpSpPr>
          <a:xfrm>
            <a:off x="5836466" y="1122202"/>
            <a:ext cx="3053221" cy="4234657"/>
            <a:chOff x="6451777" y="1536488"/>
            <a:chExt cx="2485046" cy="391970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DAA78053-9B3F-8A75-512E-06D3655B0586}"/>
                    </a:ext>
                  </a:extLst>
                </p:cNvPr>
                <p:cNvSpPr/>
                <p:nvPr/>
              </p:nvSpPr>
              <p:spPr>
                <a:xfrm>
                  <a:off x="6451777" y="1536488"/>
                  <a:ext cx="2485046" cy="3919700"/>
                </a:xfrm>
                <a:prstGeom prst="rect">
                  <a:avLst/>
                </a:prstGeom>
                <a:ln w="38100">
                  <a:solidFill>
                    <a:schemeClr val="accent6"/>
                  </a:solidFill>
                </a:ln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t"/>
                <a:lstStyle/>
                <a:p>
                  <a:pPr algn="ctr"/>
                  <a:r>
                    <a:rPr lang="fr-FR" sz="1600" b="1" dirty="0">
                      <a:solidFill>
                        <a:schemeClr val="tx1"/>
                      </a:solidFill>
                    </a:rPr>
                    <a:t>Protocole</a:t>
                  </a:r>
                </a:p>
                <a:p>
                  <a:endParaRPr lang="fr-FR" sz="1600" b="1" dirty="0">
                    <a:solidFill>
                      <a:schemeClr val="tx1"/>
                    </a:solidFill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fr-FR" sz="1600" dirty="0">
                      <a:solidFill>
                        <a:schemeClr val="tx1"/>
                      </a:solidFill>
                    </a:rPr>
                    <a:t>Utilisation de Bobine Helmholtz pour contrôler le champ parasite :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200" dirty="0">
                    <a:solidFill>
                      <a:srgbClr val="C00000"/>
                    </a:solidFill>
                    <a:latin typeface="Cambria Math" panose="02040503050406030204" pitchFamily="18" charset="0"/>
                  </a:endParaRPr>
                </a:p>
                <a:p>
                  <a:endParaRPr lang="fr-FR" sz="1200" dirty="0">
                    <a:solidFill>
                      <a:srgbClr val="C00000"/>
                    </a:solidFill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14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  <m:d>
                          <m:dPr>
                            <m:ctrlP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fr-FR" sz="1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sz="14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sz="14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num>
                                  <m:den>
                                    <m:r>
                                      <a:rPr lang="fr-FR" sz="14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f>
                              <m:fPr>
                                <m:ctrlP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num>
                              <m:den>
                                <m: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sup>
                        </m:sSup>
                        <m:f>
                          <m:fPr>
                            <m:ctrlP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fr-FR" sz="1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den>
                        </m:f>
                        <m:r>
                          <a:rPr lang="fr-FR" sz="1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fr-FR" sz="1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400" dirty="0">
                    <a:solidFill>
                      <a:srgbClr val="C00000"/>
                    </a:solidFill>
                  </a:endParaRPr>
                </a:p>
                <a:p>
                  <a:endParaRPr lang="fr-FR" sz="1600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DAA78053-9B3F-8A75-512E-06D3655B058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51777" y="1536488"/>
                  <a:ext cx="2485046" cy="3919700"/>
                </a:xfrm>
                <a:prstGeom prst="rect">
                  <a:avLst/>
                </a:prstGeom>
                <a:blipFill>
                  <a:blip r:embed="rId5"/>
                  <a:stretch>
                    <a:fillRect l="-197"/>
                  </a:stretch>
                </a:blipFill>
                <a:ln w="38100">
                  <a:solidFill>
                    <a:schemeClr val="accent6"/>
                  </a:solidFill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2" name="Picture 2" descr="Bobine de Helmholtz sur socle : PAM067370">
              <a:extLst>
                <a:ext uri="{FF2B5EF4-FFF2-40B4-BE49-F238E27FC236}">
                  <a16:creationId xmlns:a16="http://schemas.microsoft.com/office/drawing/2014/main" id="{97F9CA38-454F-5EAF-74D4-E7E8E328C68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87409" y="2918502"/>
              <a:ext cx="2227030" cy="14742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F4D060AE-4742-D8B5-61B6-553566A7F6A2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1A61D3E-6CDD-7313-43C9-D2F0E63324C1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Footer Placeholder 2">
              <a:extLst>
                <a:ext uri="{FF2B5EF4-FFF2-40B4-BE49-F238E27FC236}">
                  <a16:creationId xmlns:a16="http://schemas.microsoft.com/office/drawing/2014/main" id="{391E767F-0360-B146-2D34-43323635A9B6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0" name="Footer Placeholder 2">
            <a:extLst>
              <a:ext uri="{FF2B5EF4-FFF2-40B4-BE49-F238E27FC236}">
                <a16:creationId xmlns:a16="http://schemas.microsoft.com/office/drawing/2014/main" id="{8480ED95-278F-2E07-99E5-455FF7B878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55ABC91-EC81-CF51-B80D-BF081ACF70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9897809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ECEBE25E-EC36-DF12-19EF-138C3E8BD4F5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Expérimentation</a:t>
            </a:r>
          </a:p>
        </p:txBody>
      </p:sp>
    </p:spTree>
    <p:extLst>
      <p:ext uri="{BB962C8B-B14F-4D97-AF65-F5344CB8AC3E}">
        <p14:creationId xmlns:p14="http://schemas.microsoft.com/office/powerpoint/2010/main" val="26624458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1547C-CC5A-E31E-1F9D-26F86D424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" descr="Python Logo PNG Transparent – Brands Logos">
            <a:extLst>
              <a:ext uri="{FF2B5EF4-FFF2-40B4-BE49-F238E27FC236}">
                <a16:creationId xmlns:a16="http://schemas.microsoft.com/office/drawing/2014/main" id="{BCCA6F7E-15C3-01BE-D43E-05264890EA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9363" y="468874"/>
            <a:ext cx="542288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BD147E4-97B9-BAC6-E2D8-36DF7ABD29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190D456A-82CE-3473-7A14-696763560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22</a:t>
            </a:fld>
            <a:endParaRPr lang="fr-FR" sz="1200" b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CE55A32-62CF-1F65-DEE4-FAD3D88ADDA0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53EBB9E-6CEF-8902-7344-85A1FC617026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79199" y="2427394"/>
            <a:ext cx="2699997" cy="224999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D4EF85BB-C332-8E1A-6E21-11747112003E}"/>
              </a:ext>
            </a:extLst>
          </p:cNvPr>
          <p:cNvSpPr txBox="1"/>
          <p:nvPr/>
        </p:nvSpPr>
        <p:spPr>
          <a:xfrm>
            <a:off x="440839" y="4867365"/>
            <a:ext cx="27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098CB01-C488-FE93-4C79-5496BC2794D9}"/>
              </a:ext>
            </a:extLst>
          </p:cNvPr>
          <p:cNvSpPr txBox="1"/>
          <p:nvPr/>
        </p:nvSpPr>
        <p:spPr>
          <a:xfrm>
            <a:off x="6117557" y="4863787"/>
            <a:ext cx="27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 série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F404684-1751-7280-02F9-3C18FC8CD18F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0840" y="2429543"/>
            <a:ext cx="2699997" cy="2249997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2CF2CACA-6E21-A096-6360-EC29170DE8D2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6C9BE48-2388-1286-3D6D-BC479E0FDBB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Footer Placeholder 2">
              <a:extLst>
                <a:ext uri="{FF2B5EF4-FFF2-40B4-BE49-F238E27FC236}">
                  <a16:creationId xmlns:a16="http://schemas.microsoft.com/office/drawing/2014/main" id="{22C8462A-21BD-D374-1544-98E3DBB3A45F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64838E5-B9D2-C7AA-9C7F-F2F307F607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B6A3F6-9232-8782-F45D-A7BAE812B29D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09F5C338-911C-0D09-E8CC-CB6C04FFECE4}"/>
              </a:ext>
            </a:extLst>
          </p:cNvPr>
          <p:cNvGraphicFramePr>
            <a:graphicFrameLocks noGrp="1"/>
          </p:cNvGraphicFramePr>
          <p:nvPr/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E5FF2EA-3256-F71C-D1C8-3F1D5E73E9F1}"/>
              </a:ext>
            </a:extLst>
          </p:cNvPr>
          <p:cNvSpPr txBox="1"/>
          <p:nvPr/>
        </p:nvSpPr>
        <p:spPr>
          <a:xfrm>
            <a:off x="3279198" y="4867365"/>
            <a:ext cx="27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 parallèle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C3ADAD-9B72-5DC0-B7EB-9142F8E2DDCA}"/>
                  </a:ext>
                </a:extLst>
              </p:cNvPr>
              <p:cNvSpPr/>
              <p:nvPr/>
            </p:nvSpPr>
            <p:spPr>
              <a:xfrm>
                <a:off x="440839" y="1104250"/>
                <a:ext cx="5538357" cy="1221937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400" b="1" u="sng" dirty="0"/>
                  <a:t>Rappel théorie :</a:t>
                </a:r>
                <a:endParaRPr lang="fr-FR" sz="120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d>
                      <m:dPr>
                        <m:ctrlP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sz="16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6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6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fr-FR" sz="16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sSub>
                      <m:sSubPr>
                        <m:ctrlP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6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  <m:r>
                      <a:rPr lang="fr-FR" sz="16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sSub>
                      <m:sSubPr>
                        <m:ctrlP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sub>
                    </m:sSub>
                    <m:func>
                      <m:funcPr>
                        <m:ctrlP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16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(2</m:t>
                        </m:r>
                        <m: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fr-FR" sz="16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fr-FR" sz="16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  <m: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fr-FR" sz="1600" i="1" dirty="0">
                  <a:solidFill>
                    <a:srgbClr val="C00000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𝐻𝑝</m:t>
                        </m:r>
                      </m:sub>
                    </m:sSub>
                    <m:d>
                      <m:dPr>
                        <m:ctrlP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sz="16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𝐻𝑝</m:t>
                        </m:r>
                      </m:sub>
                    </m:sSub>
                    <m:r>
                      <a:rPr lang="fr-FR" sz="16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sSub>
                      <m:sSubPr>
                        <m:ctrlP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6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fr-FR" sz="16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sSub>
                      <m:sSubPr>
                        <m:ctrlPr>
                          <a:rPr lang="fr-FR" sz="16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sz="16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6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m:rPr>
                        <m:sty m:val="p"/>
                      </m:rPr>
                      <a:rPr lang="fr-FR" sz="160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func>
                      <m:funcPr>
                        <m:ctrlP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16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(2</m:t>
                        </m:r>
                        <m: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fr-FR" sz="16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fr-FR" sz="16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  <m: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fr-FR" sz="1600" i="1" dirty="0">
                  <a:solidFill>
                    <a:srgbClr val="C00000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𝐻𝑠</m:t>
                        </m:r>
                      </m:sub>
                    </m:sSub>
                    <m:d>
                      <m:dPr>
                        <m:ctrlP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sz="16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𝐻𝑠</m:t>
                        </m:r>
                      </m:sub>
                    </m:sSub>
                    <m:r>
                      <a:rPr lang="fr-FR" sz="16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sSub>
                      <m:sSubPr>
                        <m:ctrlP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6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fr-FR" sz="16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sSub>
                      <m:sSubPr>
                        <m:ctrlP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6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m:rPr>
                        <m:sty m:val="p"/>
                      </m:rPr>
                      <a:rPr lang="fr-FR" sz="160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func>
                      <m:funcPr>
                        <m:ctrlP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16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(2</m:t>
                        </m:r>
                        <m: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fr-FR" sz="16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fr-FR" sz="16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  <m: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fr-FR" sz="1600" dirty="0">
                  <a:solidFill>
                    <a:srgbClr val="C00000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C3ADAD-9B72-5DC0-B7EB-9142F8E2DD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839" y="1104250"/>
                <a:ext cx="5538357" cy="1221937"/>
              </a:xfrm>
              <a:prstGeom prst="rect">
                <a:avLst/>
              </a:prstGeom>
              <a:blipFill>
                <a:blip r:embed="rId7"/>
                <a:stretch>
                  <a:fillRect l="-109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3" name="Group 22">
            <a:extLst>
              <a:ext uri="{FF2B5EF4-FFF2-40B4-BE49-F238E27FC236}">
                <a16:creationId xmlns:a16="http://schemas.microsoft.com/office/drawing/2014/main" id="{5B12C4D7-3A31-8432-1F26-A75D635B9D3C}"/>
              </a:ext>
            </a:extLst>
          </p:cNvPr>
          <p:cNvGrpSpPr/>
          <p:nvPr/>
        </p:nvGrpSpPr>
        <p:grpSpPr>
          <a:xfrm>
            <a:off x="445038" y="5206305"/>
            <a:ext cx="8372519" cy="923330"/>
            <a:chOff x="349675" y="2989072"/>
            <a:chExt cx="8444650" cy="923330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5EA3780-EC96-1D00-BF87-8544C2CBBC07}"/>
                </a:ext>
              </a:extLst>
            </p:cNvPr>
            <p:cNvSpPr txBox="1"/>
            <p:nvPr/>
          </p:nvSpPr>
          <p:spPr>
            <a:xfrm>
              <a:off x="349675" y="2989072"/>
              <a:ext cx="8444650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u="sng" dirty="0"/>
                <a:t>Analyse</a:t>
              </a:r>
            </a:p>
            <a:p>
              <a:pPr marL="285750" indent="-285750">
                <a:buFont typeface="Wingdings" panose="05000000000000000000" pitchFamily="2" charset="2"/>
                <a:buChar char="q"/>
              </a:pPr>
              <a:r>
                <a:rPr lang="fr-FR" dirty="0"/>
                <a:t>Proportionnalité</a:t>
              </a:r>
            </a:p>
            <a:p>
              <a:pPr marL="285750" indent="-285750">
                <a:buFont typeface="Wingdings" panose="05000000000000000000" pitchFamily="2" charset="2"/>
                <a:buChar char="q"/>
              </a:pPr>
              <a:r>
                <a:rPr lang="fr-FR" dirty="0"/>
                <a:t>Linéarité</a:t>
              </a:r>
            </a:p>
          </p:txBody>
        </p:sp>
        <p:pic>
          <p:nvPicPr>
            <p:cNvPr id="31" name="Graphic 30" descr="Checkmark with solid fill">
              <a:extLst>
                <a:ext uri="{FF2B5EF4-FFF2-40B4-BE49-F238E27FC236}">
                  <a16:creationId xmlns:a16="http://schemas.microsoft.com/office/drawing/2014/main" id="{64F006DB-E3E1-21D1-21A7-2FDF36244DD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30920" y="3551700"/>
              <a:ext cx="252000" cy="252000"/>
            </a:xfrm>
            <a:prstGeom prst="rect">
              <a:avLst/>
            </a:prstGeom>
          </p:spPr>
        </p:pic>
        <p:pic>
          <p:nvPicPr>
            <p:cNvPr id="6" name="Graphic 5" descr="Checkmark with solid fill">
              <a:extLst>
                <a:ext uri="{FF2B5EF4-FFF2-40B4-BE49-F238E27FC236}">
                  <a16:creationId xmlns:a16="http://schemas.microsoft.com/office/drawing/2014/main" id="{35AB09C4-3415-F98D-CA88-2CCE74A538A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30920" y="3259246"/>
              <a:ext cx="252000" cy="252000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ECE52BE-B647-9EC2-0C21-CE8D2D66A349}"/>
                  </a:ext>
                </a:extLst>
              </p:cNvPr>
              <p:cNvSpPr txBox="1"/>
              <p:nvPr/>
            </p:nvSpPr>
            <p:spPr>
              <a:xfrm>
                <a:off x="6137339" y="1416095"/>
                <a:ext cx="27523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1,8 </m:t>
                    </m:r>
                  </m:oMath>
                </a14:m>
                <a:r>
                  <a:rPr lang="fr-FR" sz="1400" dirty="0"/>
                  <a:t>cm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ECE52BE-B647-9EC2-0C21-CE8D2D66A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7339" y="1416095"/>
                <a:ext cx="2752349" cy="307777"/>
              </a:xfrm>
              <a:prstGeom prst="rect">
                <a:avLst/>
              </a:prstGeom>
              <a:blipFill>
                <a:blip r:embed="rId10"/>
                <a:stretch>
                  <a:fillRect t="-1961" b="-1960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B470D18-BCAF-973B-2F46-DCCB59EF06A1}"/>
                  </a:ext>
                </a:extLst>
              </p:cNvPr>
              <p:cNvSpPr txBox="1"/>
              <p:nvPr/>
            </p:nvSpPr>
            <p:spPr>
              <a:xfrm>
                <a:off x="6137339" y="1794212"/>
                <a:ext cx="27523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=50</m:t>
                    </m:r>
                  </m:oMath>
                </a14:m>
                <a:r>
                  <a:rPr lang="fr-FR" sz="1400" dirty="0"/>
                  <a:t> Hz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B470D18-BCAF-973B-2F46-DCCB59EF06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7339" y="1794212"/>
                <a:ext cx="2752349" cy="307777"/>
              </a:xfrm>
              <a:prstGeom prst="rect">
                <a:avLst/>
              </a:prstGeom>
              <a:blipFill>
                <a:blip r:embed="rId11"/>
                <a:stretch>
                  <a:fillRect t="-1961" b="-1960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A32CB69A-487A-A02D-DAAD-D6D0B7CA3D21}"/>
              </a:ext>
            </a:extLst>
          </p:cNvPr>
          <p:cNvSpPr txBox="1"/>
          <p:nvPr/>
        </p:nvSpPr>
        <p:spPr>
          <a:xfrm>
            <a:off x="6137339" y="1097861"/>
            <a:ext cx="8394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/>
              <a:t>Avec :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6674963-DBA6-B884-41B6-CEB4DB1DA9E5}"/>
              </a:ext>
            </a:extLst>
          </p:cNvPr>
          <p:cNvSpPr/>
          <p:nvPr/>
        </p:nvSpPr>
        <p:spPr>
          <a:xfrm>
            <a:off x="6117556" y="2427393"/>
            <a:ext cx="2699997" cy="224999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783549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1FDCA-BB39-EE18-BB35-2E0E1E4D0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" descr="Python Logo PNG Transparent – Brands Logos">
            <a:extLst>
              <a:ext uri="{FF2B5EF4-FFF2-40B4-BE49-F238E27FC236}">
                <a16:creationId xmlns:a16="http://schemas.microsoft.com/office/drawing/2014/main" id="{58D75C07-2267-97C9-DF3E-D3ABD94902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9363" y="468874"/>
            <a:ext cx="542288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639CD3E-4169-1389-4E27-DA0661374473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0D0C938-4ECB-1DA1-67BD-D63764B87A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7BCF8FF-ACF9-FB8B-E151-7B5C4BAF6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23</a:t>
            </a:fld>
            <a:endParaRPr lang="fr-FR" sz="1200" b="1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7E0D461-FC05-B3F5-62F5-6B6EE8EE068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ABC8908D-38C7-4B78-A6DE-6A8D885E563D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Footer Placeholder 2">
              <a:extLst>
                <a:ext uri="{FF2B5EF4-FFF2-40B4-BE49-F238E27FC236}">
                  <a16:creationId xmlns:a16="http://schemas.microsoft.com/office/drawing/2014/main" id="{E9D709F9-B44E-10BF-9ED9-CFCC31C7C88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E33BF853-DFE6-1FC4-3C9D-A35C8A3527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759499-4633-7F7C-612F-2C1B14CA0C63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A2A4C42-E8E3-0A32-60A1-2B34526A12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0186" y="1128398"/>
            <a:ext cx="5175257" cy="5028562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3034487-F93D-3D84-24EC-21435744B9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1178006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6F6E40A-A2E8-4225-2918-CE1F7288954B}"/>
                  </a:ext>
                </a:extLst>
              </p:cNvPr>
              <p:cNvSpPr/>
              <p:nvPr/>
            </p:nvSpPr>
            <p:spPr>
              <a:xfrm>
                <a:off x="5681666" y="2163818"/>
                <a:ext cx="3208020" cy="3993142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dirty="0">
                    <a:solidFill>
                      <a:schemeClr val="tx1"/>
                    </a:solidFill>
                  </a:rPr>
                  <a:t>Mesures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Théoriquement :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4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6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l-G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b="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𝐻𝑝</m:t>
                        </m:r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0,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02 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l-G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μ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fr-FR" sz="14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𝐻𝑝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=37 </m:t>
                      </m:r>
                      <m:r>
                        <m:rPr>
                          <m:nor/>
                        </m:rPr>
                        <a:rPr lang="fr-FR" sz="14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endParaRPr lang="fr-FR" sz="1400" dirty="0">
                  <a:solidFill>
                    <a:srgbClr val="C00000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Expérimentalement :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1,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48 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l-G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𝐻𝑝</m:t>
                        </m:r>
                      </m:sub>
                    </m:sSub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0,62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l-G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μ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fr-FR" sz="14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𝑀𝑅</m:t>
                      </m:r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𝐻𝑝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4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fr-FR" sz="14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𝑒𝑥𝑝</m:t>
                                      </m:r>
                                    </m:sub>
                                  </m:sSub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𝑒𝑥𝑝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7,6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fr-FR" sz="140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6F6E40A-A2E8-4225-2918-CE1F728895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666" y="2163818"/>
                <a:ext cx="3208020" cy="399314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AFFEE1F-3D02-090A-479D-90A16735DDAF}"/>
                  </a:ext>
                </a:extLst>
              </p:cNvPr>
              <p:cNvSpPr/>
              <p:nvPr/>
            </p:nvSpPr>
            <p:spPr>
              <a:xfrm>
                <a:off x="5681666" y="1128398"/>
                <a:ext cx="3208021" cy="915896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Calcul de la sensibilité aux champs extérieurs :</a:t>
                </a:r>
                <a:endParaRPr lang="fr-FR" sz="1400" b="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e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| =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|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AFFEE1F-3D02-090A-479D-90A16735DDA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666" y="1128398"/>
                <a:ext cx="3208021" cy="91589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57701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48DDE-8058-D513-454A-425B15CD4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" descr="Python Logo PNG Transparent – Brands Logos">
            <a:extLst>
              <a:ext uri="{FF2B5EF4-FFF2-40B4-BE49-F238E27FC236}">
                <a16:creationId xmlns:a16="http://schemas.microsoft.com/office/drawing/2014/main" id="{F5895879-FA73-2DAB-B3BB-0EA8ABC2DD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9363" y="468874"/>
            <a:ext cx="542288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716C992-E13E-0C7C-33FA-13E5294689C1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82288D99-DD40-2C00-82EB-9E0C534FE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A46788A-3B58-E29A-0DB6-BBBFF6C7E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24</a:t>
            </a:fld>
            <a:endParaRPr lang="fr-FR" sz="1200" b="1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AE00CE6-D5A0-044B-9664-AA74EA5B7C60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1490711A-EE66-D3C4-F373-ECF24AFCC730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Footer Placeholder 2">
              <a:extLst>
                <a:ext uri="{FF2B5EF4-FFF2-40B4-BE49-F238E27FC236}">
                  <a16:creationId xmlns:a16="http://schemas.microsoft.com/office/drawing/2014/main" id="{B9BA49DA-B097-C954-0946-5985D29DEEF4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971F3444-3E92-D593-44DB-E9F2FEBD7D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6C04D7-566D-248D-E11E-E3B91020283C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52BEA36-52BA-9B9A-D07A-F7BCCA94D443}"/>
              </a:ext>
            </a:extLst>
          </p:cNvPr>
          <p:cNvGraphicFramePr>
            <a:graphicFrameLocks noGrp="1"/>
          </p:cNvGraphicFramePr>
          <p:nvPr/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0800DBD7-FF42-C7F4-AA50-92867DF0AFE9}"/>
                  </a:ext>
                </a:extLst>
              </p:cNvPr>
              <p:cNvSpPr/>
              <p:nvPr/>
            </p:nvSpPr>
            <p:spPr>
              <a:xfrm>
                <a:off x="5681666" y="1112100"/>
                <a:ext cx="3208019" cy="5044860"/>
              </a:xfrm>
              <a:prstGeom prst="rect">
                <a:avLst/>
              </a:prstGeom>
              <a:ln w="38100">
                <a:solidFill>
                  <a:srgbClr val="C00000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endParaRPr lang="fr-FR" sz="1400" b="1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fr-FR" sz="1400" b="1" dirty="0">
                    <a:solidFill>
                      <a:schemeClr val="tx1"/>
                    </a:solidFill>
                  </a:rPr>
                  <a:t>Ecarts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Mesures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𝐻𝑝</m:t>
                          </m:r>
                        </m:sub>
                      </m:sSub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37</m:t>
                      </m:r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fr-FR" sz="1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  <m:r>
                            <a:rPr lang="fr-F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</m:t>
                      </m:r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=7</m:t>
                      </m:r>
                      <m:r>
                        <a:rPr lang="fr-FR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,6</m:t>
                      </m:r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fr-FR" sz="1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endParaRPr lang="fr-FR" sz="1400" dirty="0">
                  <a:solidFill>
                    <a:srgbClr val="C00000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Ecarts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=7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9,4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fr-FR" b="1" u="sng" dirty="0">
                  <a:solidFill>
                    <a:schemeClr val="tx1"/>
                  </a:solidFill>
                </a:endParaRPr>
              </a:p>
              <a:p>
                <a:endParaRPr lang="fr-FR" sz="1400" dirty="0">
                  <a:solidFill>
                    <a:schemeClr val="tx1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Causes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dirty="0">
                    <a:solidFill>
                      <a:schemeClr val="tx1"/>
                    </a:solidFill>
                  </a:rPr>
                  <a:t>Asymétrie de bobinage</a:t>
                </a: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0800DBD7-FF42-C7F4-AA50-92867DF0AF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666" y="1112100"/>
                <a:ext cx="3208019" cy="504486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60833AB3-A5DC-8A4B-64B9-5413B046299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0186" y="1128398"/>
            <a:ext cx="5175257" cy="502856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683641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19A9E-1C8C-7508-4A99-E9E72DA06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D500E49-9BB6-266A-A15B-45A7A7E94780}"/>
              </a:ext>
            </a:extLst>
          </p:cNvPr>
          <p:cNvSpPr/>
          <p:nvPr/>
        </p:nvSpPr>
        <p:spPr>
          <a:xfrm>
            <a:off x="326443" y="419481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329CF280-6AA1-02B9-5766-0A88FFF47C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9328" y="1181389"/>
            <a:ext cx="7425344" cy="8617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1600" dirty="0"/>
              <a:t>Dans quelle mesure </a:t>
            </a:r>
            <a:r>
              <a:rPr lang="fr-FR" sz="1600" b="1" dirty="0"/>
              <a:t>l'ajout d'une seconde bobine </a:t>
            </a:r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1600" dirty="0"/>
              <a:t>permet-il </a:t>
            </a:r>
            <a:r>
              <a:rPr lang="fr-FR" sz="1600" b="1" dirty="0"/>
              <a:t>d'éliminer les parasites </a:t>
            </a:r>
            <a:r>
              <a:rPr lang="fr-FR" sz="1600" dirty="0"/>
              <a:t>?</a:t>
            </a:r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1600" dirty="0"/>
              <a:t>Comment cela impacte-t-il </a:t>
            </a:r>
            <a:r>
              <a:rPr lang="fr-FR" sz="1600" b="1" dirty="0"/>
              <a:t>la richesse du son </a:t>
            </a:r>
            <a:r>
              <a:rPr lang="fr-FR" sz="1600" dirty="0"/>
              <a:t>?</a:t>
            </a:r>
            <a:endParaRPr kumimoji="0" lang="fr-FR" altLang="fr-FR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C41BDD6-0B7E-DB68-BFEB-ED6C52B4A4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B83BD53-0BEB-220C-AC97-3EEC3B150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25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5DCA8F8-D862-BC8C-AF76-12EA5860996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A9A0B97-C62F-658B-F983-80B2EEFBB947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5559317-5E18-475F-41AB-2D45B40A5ABC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Footer Placeholder 2">
              <a:extLst>
                <a:ext uri="{FF2B5EF4-FFF2-40B4-BE49-F238E27FC236}">
                  <a16:creationId xmlns:a16="http://schemas.microsoft.com/office/drawing/2014/main" id="{57C2ED85-A2C2-A521-06FA-698ECFF15631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800" b="1" dirty="0"/>
                <a:t>Conclusion</a:t>
              </a:r>
            </a:p>
          </p:txBody>
        </p:sp>
      </p:grp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FB4953A3-EECA-18B3-CF42-FBC3F9802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F79A5BE-F8B6-F182-EAE5-5A74F73561AD}"/>
              </a:ext>
            </a:extLst>
          </p:cNvPr>
          <p:cNvSpPr txBox="1"/>
          <p:nvPr/>
        </p:nvSpPr>
        <p:spPr>
          <a:xfrm>
            <a:off x="720826" y="772958"/>
            <a:ext cx="77023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dirty="0">
                <a:latin typeface="Arial Black" panose="020B0A04020102020204" pitchFamily="34" charset="0"/>
              </a:rPr>
              <a:t>Problématique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153EAE-61C2-F213-92AF-9F717B075800}"/>
              </a:ext>
            </a:extLst>
          </p:cNvPr>
          <p:cNvSpPr txBox="1"/>
          <p:nvPr/>
        </p:nvSpPr>
        <p:spPr>
          <a:xfrm>
            <a:off x="720825" y="2388402"/>
            <a:ext cx="77023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dirty="0">
                <a:latin typeface="Arial Black" panose="020B0A04020102020204" pitchFamily="34" charset="0"/>
              </a:rPr>
              <a:t>Conclusion 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6297959-A9E0-C237-3E10-5F1C61755A38}"/>
              </a:ext>
            </a:extLst>
          </p:cNvPr>
          <p:cNvGrpSpPr/>
          <p:nvPr/>
        </p:nvGrpSpPr>
        <p:grpSpPr>
          <a:xfrm>
            <a:off x="349675" y="2838894"/>
            <a:ext cx="8444650" cy="3012500"/>
            <a:chOff x="349675" y="2838894"/>
            <a:chExt cx="8444650" cy="301250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066C661-B607-061A-A9F8-3C818C718700}"/>
                </a:ext>
              </a:extLst>
            </p:cNvPr>
            <p:cNvSpPr txBox="1"/>
            <p:nvPr/>
          </p:nvSpPr>
          <p:spPr>
            <a:xfrm>
              <a:off x="349675" y="2989072"/>
              <a:ext cx="8444650" cy="28623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u="sng" dirty="0"/>
                <a:t>Micro Singlecoil :</a:t>
              </a:r>
            </a:p>
            <a:p>
              <a:pPr marL="285750" indent="-285750">
                <a:buFont typeface="Wingdings" panose="05000000000000000000" pitchFamily="2" charset="2"/>
                <a:buChar char="q"/>
              </a:pPr>
              <a:r>
                <a:rPr lang="fr-FR" dirty="0"/>
                <a:t>Sensible aux champs extérieurs</a:t>
              </a:r>
            </a:p>
            <a:p>
              <a:pPr marL="285750" indent="-285750">
                <a:buFont typeface="Wingdings" panose="05000000000000000000" pitchFamily="2" charset="2"/>
                <a:buChar char="q"/>
              </a:pPr>
              <a:r>
                <a:rPr lang="fr-FR" dirty="0"/>
                <a:t>Spectre riche dans les hautes fréquences</a:t>
              </a:r>
            </a:p>
            <a:p>
              <a:pPr marL="285750" indent="-285750">
                <a:buFont typeface="Wingdings" panose="05000000000000000000" pitchFamily="2" charset="2"/>
                <a:buChar char="q"/>
              </a:pPr>
              <a:endParaRPr lang="fr-FR" dirty="0"/>
            </a:p>
            <a:p>
              <a:r>
                <a:rPr lang="fr-FR" b="1" u="sng" dirty="0"/>
                <a:t>Micro Humbucker :</a:t>
              </a:r>
            </a:p>
            <a:p>
              <a:pPr marL="285750" indent="-285750">
                <a:buFont typeface="Wingdings" panose="05000000000000000000" pitchFamily="2" charset="2"/>
                <a:buChar char="q"/>
              </a:pPr>
              <a:r>
                <a:rPr lang="fr-FR" dirty="0"/>
                <a:t>Reduction efficace du bourdonnement</a:t>
              </a:r>
            </a:p>
            <a:p>
              <a:pPr marL="285750" indent="-285750">
                <a:buFont typeface="Wingdings" panose="05000000000000000000" pitchFamily="2" charset="2"/>
                <a:buChar char="q"/>
              </a:pPr>
              <a:r>
                <a:rPr lang="fr-FR" dirty="0"/>
                <a:t>Filtrage spatial accru qui atténue certaines harmoniques</a:t>
              </a:r>
            </a:p>
            <a:p>
              <a:pPr marL="285750" indent="-285750">
                <a:buFont typeface="Wingdings" panose="05000000000000000000" pitchFamily="2" charset="2"/>
                <a:buChar char="q"/>
              </a:pPr>
              <a:endParaRPr lang="fr-FR" dirty="0"/>
            </a:p>
            <a:p>
              <a:r>
                <a:rPr lang="fr-FR" b="1" u="sng" dirty="0"/>
                <a:t>Donc :</a:t>
              </a:r>
            </a:p>
            <a:p>
              <a:r>
                <a:rPr lang="fr-FR" dirty="0"/>
                <a:t>Nécessité de faire des </a:t>
              </a:r>
              <a:r>
                <a:rPr lang="fr-FR" u="sng" dirty="0">
                  <a:solidFill>
                    <a:srgbClr val="C00000"/>
                  </a:solidFill>
                </a:rPr>
                <a:t>compromis</a:t>
              </a:r>
            </a:p>
          </p:txBody>
        </p:sp>
        <p:pic>
          <p:nvPicPr>
            <p:cNvPr id="28" name="Picture 2">
              <a:extLst>
                <a:ext uri="{FF2B5EF4-FFF2-40B4-BE49-F238E27FC236}">
                  <a16:creationId xmlns:a16="http://schemas.microsoft.com/office/drawing/2014/main" id="{7B024F95-B138-985B-1165-9E030667595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123" r="6123"/>
            <a:stretch/>
          </p:blipFill>
          <p:spPr bwMode="auto">
            <a:xfrm>
              <a:off x="2658019" y="3900085"/>
              <a:ext cx="672476" cy="540000"/>
            </a:xfrm>
            <a:prstGeom prst="rect">
              <a:avLst/>
            </a:prstGeom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71E4BF96-13FC-AAE7-FE03-F72E37775BE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27" r="7227"/>
            <a:stretch/>
          </p:blipFill>
          <p:spPr bwMode="auto">
            <a:xfrm>
              <a:off x="2436682" y="2838894"/>
              <a:ext cx="655914" cy="540000"/>
            </a:xfrm>
            <a:prstGeom prst="rect">
              <a:avLst/>
            </a:prstGeom>
            <a:effectLst>
              <a:softEdge rad="12700"/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Graphic 16" descr="Checkmark with solid fill">
              <a:extLst>
                <a:ext uri="{FF2B5EF4-FFF2-40B4-BE49-F238E27FC236}">
                  <a16:creationId xmlns:a16="http://schemas.microsoft.com/office/drawing/2014/main" id="{5012B3B3-5B7E-B87A-8C7E-CE9EC85084C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30920" y="3551700"/>
              <a:ext cx="252000" cy="252000"/>
            </a:xfrm>
            <a:prstGeom prst="rect">
              <a:avLst/>
            </a:prstGeom>
          </p:spPr>
        </p:pic>
        <p:pic>
          <p:nvPicPr>
            <p:cNvPr id="19" name="Graphic 18" descr="Checkmark with solid fill">
              <a:extLst>
                <a:ext uri="{FF2B5EF4-FFF2-40B4-BE49-F238E27FC236}">
                  <a16:creationId xmlns:a16="http://schemas.microsoft.com/office/drawing/2014/main" id="{2F3153A6-DA11-EE61-3CA2-F2B46B137E3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30920" y="4377858"/>
              <a:ext cx="252000" cy="252000"/>
            </a:xfrm>
            <a:prstGeom prst="rect">
              <a:avLst/>
            </a:prstGeom>
          </p:spPr>
        </p:pic>
        <p:pic>
          <p:nvPicPr>
            <p:cNvPr id="21" name="Graphic 20" descr="Close with solid fill">
              <a:extLst>
                <a:ext uri="{FF2B5EF4-FFF2-40B4-BE49-F238E27FC236}">
                  <a16:creationId xmlns:a16="http://schemas.microsoft.com/office/drawing/2014/main" id="{24AE6B43-99B1-097D-E732-FBC3A25B7F5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413775" y="3317129"/>
              <a:ext cx="252000" cy="252000"/>
            </a:xfrm>
            <a:prstGeom prst="rect">
              <a:avLst/>
            </a:prstGeom>
          </p:spPr>
        </p:pic>
        <p:pic>
          <p:nvPicPr>
            <p:cNvPr id="23" name="Graphic 22" descr="Close with solid fill">
              <a:extLst>
                <a:ext uri="{FF2B5EF4-FFF2-40B4-BE49-F238E27FC236}">
                  <a16:creationId xmlns:a16="http://schemas.microsoft.com/office/drawing/2014/main" id="{4E04D3B4-BD96-EA47-260F-84C021B0D37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413775" y="4690634"/>
              <a:ext cx="252000" cy="252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6818753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267F8-102B-ED7B-0DE1-585BD24C6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574C88C-C846-3D06-3760-839BCCE4D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67D19BA-9241-DDAC-50D0-86F96248A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26</a:t>
            </a:fld>
            <a:endParaRPr lang="fr-FR" sz="1200" b="1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96DEC9D-D575-DBBD-0410-59D2ED433045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BDCCB68E-E8C2-CC4C-3A75-B5BA7F6D35AA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Footer Placeholder 2">
              <a:extLst>
                <a:ext uri="{FF2B5EF4-FFF2-40B4-BE49-F238E27FC236}">
                  <a16:creationId xmlns:a16="http://schemas.microsoft.com/office/drawing/2014/main" id="{CF93ABBD-287B-55E3-11A3-68FE11A27659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5BCBD774-13EC-37E7-5421-E3BB7AFFF9C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Annexes : Sommaire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6C8F2F-1A54-CCBE-AAF5-AE4AD230532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2AA300-0088-5FE7-E14B-005D0418C5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1F750C-911D-65AC-5250-EA8EDE55DF5D}"/>
              </a:ext>
            </a:extLst>
          </p:cNvPr>
          <p:cNvSpPr txBox="1"/>
          <p:nvPr/>
        </p:nvSpPr>
        <p:spPr>
          <a:xfrm>
            <a:off x="326443" y="1384451"/>
            <a:ext cx="849111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Annexe 1 :</a:t>
            </a:r>
            <a:r>
              <a:rPr lang="fr-FR" dirty="0"/>
              <a:t> Références bibliographiques et sources. </a:t>
            </a:r>
          </a:p>
          <a:p>
            <a:r>
              <a:rPr lang="fr-FR" b="1" dirty="0"/>
              <a:t>Annexe 2 :</a:t>
            </a:r>
            <a:r>
              <a:rPr lang="fr-FR" dirty="0"/>
              <a:t> Remerciements. </a:t>
            </a:r>
          </a:p>
          <a:p>
            <a:r>
              <a:rPr lang="fr-FR" b="1" dirty="0"/>
              <a:t>Annexe 3 :</a:t>
            </a:r>
            <a:r>
              <a:rPr lang="fr-FR" dirty="0"/>
              <a:t> Notations et valeur numérique. </a:t>
            </a:r>
          </a:p>
          <a:p>
            <a:r>
              <a:rPr lang="fr-FR" b="1" dirty="0"/>
              <a:t>Annexe 4 :</a:t>
            </a:r>
            <a:r>
              <a:rPr lang="fr-FR" dirty="0"/>
              <a:t> Modélisation de l'induction par la corde. </a:t>
            </a:r>
          </a:p>
          <a:p>
            <a:r>
              <a:rPr lang="fr-FR" b="1" dirty="0"/>
              <a:t>Annexe 5 :</a:t>
            </a:r>
            <a:r>
              <a:rPr lang="fr-FR" dirty="0"/>
              <a:t> Théorie de la réjection du champ parasite. </a:t>
            </a:r>
          </a:p>
          <a:p>
            <a:r>
              <a:rPr lang="fr-FR" b="1" dirty="0"/>
              <a:t>Annexe 6 :</a:t>
            </a:r>
            <a:r>
              <a:rPr lang="fr-FR" dirty="0"/>
              <a:t> Méthodes de traitement numérique et filtrage. </a:t>
            </a:r>
          </a:p>
          <a:p>
            <a:r>
              <a:rPr lang="fr-FR" b="1" dirty="0"/>
              <a:t>Annexe 7 :</a:t>
            </a:r>
            <a:r>
              <a:rPr lang="fr-FR" dirty="0"/>
              <a:t> Algorithme de Levenberg-Marquardt. </a:t>
            </a:r>
          </a:p>
          <a:p>
            <a:r>
              <a:rPr lang="fr-FR" b="1" dirty="0"/>
              <a:t>Annexe 8 :</a:t>
            </a:r>
            <a:r>
              <a:rPr lang="fr-FR" dirty="0"/>
              <a:t> Analyse des échecs et difficultés rencontrées.</a:t>
            </a:r>
          </a:p>
        </p:txBody>
      </p:sp>
    </p:spTree>
    <p:extLst>
      <p:ext uri="{BB962C8B-B14F-4D97-AF65-F5344CB8AC3E}">
        <p14:creationId xmlns:p14="http://schemas.microsoft.com/office/powerpoint/2010/main" val="40866970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6FC30-AAA2-E5BB-32E0-683CC058E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C011195-2549-BCE2-65E7-95D97701B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DCD4202-BEB8-74F4-5148-FD85D148C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27</a:t>
            </a:fld>
            <a:endParaRPr lang="fr-FR" sz="1200" b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27CD10-7EEF-021B-45BD-839A366C0544}"/>
              </a:ext>
            </a:extLst>
          </p:cNvPr>
          <p:cNvSpPr txBox="1"/>
          <p:nvPr/>
        </p:nvSpPr>
        <p:spPr>
          <a:xfrm>
            <a:off x="345440" y="721360"/>
            <a:ext cx="8393826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1:</a:t>
            </a:r>
            <a:r>
              <a:rPr lang="fr-FR" sz="2000" dirty="0">
                <a:latin typeface="Arial Black" panose="020B0A04020102020204" pitchFamily="34" charset="0"/>
              </a:rPr>
              <a:t> Références bibliographiques et sources.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B2768E8-3415-4446-BB84-549A102258D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FE077D-2C94-B4B1-D675-115CAB645DBB}"/>
              </a:ext>
            </a:extLst>
          </p:cNvPr>
          <p:cNvSpPr txBox="1"/>
          <p:nvPr/>
        </p:nvSpPr>
        <p:spPr>
          <a:xfrm>
            <a:off x="326443" y="1372472"/>
            <a:ext cx="8491113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[1] </a:t>
            </a:r>
            <a:r>
              <a:rPr lang="en-GB" sz="1600" dirty="0" err="1"/>
              <a:t>WiseGuy</a:t>
            </a:r>
            <a:r>
              <a:rPr lang="en-GB" sz="1600" dirty="0"/>
              <a:t> Research Consultants, "Global Electric Guitar Pickup Market Research Report 2024," Pune, India, 2024.</a:t>
            </a:r>
          </a:p>
          <a:p>
            <a:endParaRPr lang="en-GB" sz="1600" dirty="0"/>
          </a:p>
          <a:p>
            <a:r>
              <a:rPr lang="en-GB" sz="1600" b="1" dirty="0"/>
              <a:t>[2] </a:t>
            </a:r>
            <a:r>
              <a:rPr lang="en-GB" sz="1600" dirty="0"/>
              <a:t>Matthew W. Hill, "The hidden history of the electric guitar", in Quand la </a:t>
            </a:r>
            <a:r>
              <a:rPr lang="en-GB" sz="1600" dirty="0" err="1"/>
              <a:t>guitare</a:t>
            </a:r>
            <a:r>
              <a:rPr lang="en-GB" sz="1600" dirty="0"/>
              <a:t> [s']</a:t>
            </a:r>
            <a:r>
              <a:rPr lang="en-GB" sz="1600" dirty="0" err="1"/>
              <a:t>électrise</a:t>
            </a:r>
            <a:r>
              <a:rPr lang="en-GB" sz="1600" dirty="0"/>
              <a:t> !, Benoît Navarret et al. (dir.), Sorbonne Université Presses, pp. 33-61, 2022.</a:t>
            </a:r>
          </a:p>
          <a:p>
            <a:endParaRPr lang="en-GB" sz="1600" dirty="0"/>
          </a:p>
          <a:p>
            <a:r>
              <a:rPr lang="en-GB" sz="1600" b="1" dirty="0"/>
              <a:t>[3] </a:t>
            </a:r>
            <a:r>
              <a:rPr lang="en-GB" sz="1600" dirty="0"/>
              <a:t>N. G. Horton &amp; T. R. Moore : </a:t>
            </a:r>
            <a:r>
              <a:rPr lang="en-GB" sz="1600" dirty="0" err="1"/>
              <a:t>Modeling</a:t>
            </a:r>
            <a:r>
              <a:rPr lang="en-GB" sz="1600" dirty="0"/>
              <a:t> the magnetic pickup of an electric guitar :</a:t>
            </a:r>
          </a:p>
          <a:p>
            <a:r>
              <a:rPr lang="en-GB" sz="1600" dirty="0"/>
              <a:t>American Journal of Physics, vol. 77, no. 2, pp. 144–150, 2009, </a:t>
            </a:r>
            <a:r>
              <a:rPr lang="en-GB" sz="1600" dirty="0" err="1"/>
              <a:t>doi</a:t>
            </a:r>
            <a:r>
              <a:rPr lang="en-GB" sz="1600" dirty="0"/>
              <a:t>: 10.1119/1.2990663</a:t>
            </a:r>
          </a:p>
          <a:p>
            <a:endParaRPr lang="en-GB" sz="1600" dirty="0"/>
          </a:p>
          <a:p>
            <a:r>
              <a:rPr lang="en-GB" sz="1600" b="1" dirty="0"/>
              <a:t>[4] </a:t>
            </a:r>
            <a:r>
              <a:rPr lang="en-GB" sz="1600" dirty="0"/>
              <a:t>S. W. Duncan, "Interview With Seth Lover", Seymour Duncan.  [En </a:t>
            </a:r>
            <a:r>
              <a:rPr lang="en-GB" sz="1600" dirty="0" err="1"/>
              <a:t>ligne</a:t>
            </a:r>
            <a:r>
              <a:rPr lang="en-GB" sz="1600" dirty="0"/>
              <a:t>]. Disponible sur: </a:t>
            </a:r>
            <a:r>
              <a:rPr lang="en-GB" sz="1600" dirty="0">
                <a:hlinkClick r:id="rId3"/>
              </a:rPr>
              <a:t>https://www.seymourduncan.com/blog/latest-updates/seymour-w-duncans-interview-with-seth-lover</a:t>
            </a:r>
            <a:endParaRPr lang="en-GB" sz="1600" dirty="0"/>
          </a:p>
          <a:p>
            <a:endParaRPr lang="en-GB" sz="1600" dirty="0"/>
          </a:p>
          <a:p>
            <a:r>
              <a:rPr lang="en-GB" sz="1600" b="1" dirty="0"/>
              <a:t>[5] </a:t>
            </a:r>
            <a:r>
              <a:rPr lang="en-GB" sz="1600" dirty="0"/>
              <a:t>Dan Carson, "Investigation of the Electromagnetic Properties of Electric Guitar Pickups", University of Illinois at Urbana-Champaign, Physics Senior Thesis, 2009.</a:t>
            </a:r>
          </a:p>
          <a:p>
            <a:endParaRPr lang="en-GB" sz="1600" dirty="0"/>
          </a:p>
          <a:p>
            <a:r>
              <a:rPr lang="en-GB" sz="1600" b="1" dirty="0"/>
              <a:t>[6] </a:t>
            </a:r>
            <a:r>
              <a:rPr lang="en-GB" sz="1600" dirty="0"/>
              <a:t>B. </a:t>
            </a:r>
            <a:r>
              <a:rPr lang="en-GB" sz="1600" dirty="0" err="1"/>
              <a:t>d’Andréa</a:t>
            </a:r>
            <a:r>
              <a:rPr lang="en-GB" sz="1600" dirty="0"/>
              <a:t>-Novel, B. Fabre, et P. Jouvelot, </a:t>
            </a:r>
            <a:r>
              <a:rPr lang="en-GB" sz="1600" dirty="0" err="1"/>
              <a:t>Acoustique</a:t>
            </a:r>
            <a:r>
              <a:rPr lang="en-GB" sz="1600" dirty="0"/>
              <a:t> Informatique </a:t>
            </a:r>
            <a:r>
              <a:rPr lang="en-GB" sz="1600" dirty="0" err="1"/>
              <a:t>MusiquE</a:t>
            </a:r>
            <a:r>
              <a:rPr lang="en-GB" sz="1600" dirty="0"/>
              <a:t> : </a:t>
            </a:r>
            <a:r>
              <a:rPr lang="en-GB" sz="1600" dirty="0" err="1"/>
              <a:t>Outils</a:t>
            </a:r>
            <a:r>
              <a:rPr lang="en-GB" sz="1600" dirty="0"/>
              <a:t> </a:t>
            </a:r>
            <a:r>
              <a:rPr lang="en-GB" sz="1600" dirty="0" err="1"/>
              <a:t>scientifiques</a:t>
            </a:r>
            <a:r>
              <a:rPr lang="en-GB" sz="1600" dirty="0"/>
              <a:t> pour la musique. Paris, France : Presses des Mines, 2010, </a:t>
            </a:r>
            <a:r>
              <a:rPr lang="en-GB" sz="1600" dirty="0" err="1"/>
              <a:t>ch.</a:t>
            </a:r>
            <a:r>
              <a:rPr lang="en-GB" sz="1600" dirty="0"/>
              <a:t> 4</a:t>
            </a:r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991F70DF-5274-3947-B274-A2EAF490DE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9D43332-F8BD-6E2C-04A6-7CBD2C448375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4935E0A-86AC-9436-7A04-23BB4DCFB95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Footer Placeholder 2">
              <a:extLst>
                <a:ext uri="{FF2B5EF4-FFF2-40B4-BE49-F238E27FC236}">
                  <a16:creationId xmlns:a16="http://schemas.microsoft.com/office/drawing/2014/main" id="{A2E238EA-0333-80E5-6A4E-C1DD63F93CF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309016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3E6D5-1701-3BEE-B0A5-E256A3A64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9093611-3561-6AFC-8B29-235BE2B59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1EE7CF6-6544-6E25-5056-82E210227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28</a:t>
            </a:fld>
            <a:endParaRPr lang="fr-FR" sz="1200" b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FE578E-E842-899B-459C-15B4BA0F22E9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2 :</a:t>
            </a:r>
            <a:r>
              <a:rPr lang="fr-FR" sz="2000" dirty="0">
                <a:latin typeface="Arial Black" panose="020B0A04020102020204" pitchFamily="34" charset="0"/>
              </a:rPr>
              <a:t> Remerciements.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599E44F-1F36-18D2-50B8-92E3C5465C7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AD91B2-998A-B850-BFB6-9B10EF3C3C36}"/>
              </a:ext>
            </a:extLst>
          </p:cNvPr>
          <p:cNvSpPr txBox="1"/>
          <p:nvPr/>
        </p:nvSpPr>
        <p:spPr>
          <a:xfrm>
            <a:off x="1744980" y="1390254"/>
            <a:ext cx="707257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fr-FR" sz="16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b="1" dirty="0"/>
              <a:t>Art Music Store</a:t>
            </a:r>
            <a:r>
              <a:rPr lang="fr-FR" sz="1600" dirty="0"/>
              <a:t>,</a:t>
            </a:r>
            <a:r>
              <a:rPr lang="fr-FR" sz="1600" b="1" dirty="0"/>
              <a:t> </a:t>
            </a:r>
            <a:r>
              <a:rPr lang="fr-FR" sz="1600" dirty="0"/>
              <a:t>3800, Grenoble, Place Victor Hugo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b="1" dirty="0"/>
              <a:t>Menuiserie Paradis</a:t>
            </a:r>
            <a:r>
              <a:rPr lang="fr-FR" sz="1600" dirty="0"/>
              <a:t>, 38590, Brézins, Rue des Caillères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</p:txBody>
      </p:sp>
      <p:pic>
        <p:nvPicPr>
          <p:cNvPr id="2050" name="Picture 2" descr="Les Boutiques | Art Rock Music Store, Magasin de Musique à Crolles et à ...">
            <a:extLst>
              <a:ext uri="{FF2B5EF4-FFF2-40B4-BE49-F238E27FC236}">
                <a16:creationId xmlns:a16="http://schemas.microsoft.com/office/drawing/2014/main" id="{6B5FA1A0-A21F-2704-4B07-98DC048FDC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440" y="1344216"/>
            <a:ext cx="1239000" cy="12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4" descr="Menuiserie Jérôme Paradis | Brézins">
            <a:extLst>
              <a:ext uri="{FF2B5EF4-FFF2-40B4-BE49-F238E27FC236}">
                <a16:creationId xmlns:a16="http://schemas.microsoft.com/office/drawing/2014/main" id="{60E6E8E9-ADE0-B962-617A-584376023BE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5C5BC96-6601-01EF-A1A8-0CDE5F1285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263" y="2750010"/>
            <a:ext cx="1346717" cy="1260000"/>
          </a:xfrm>
          <a:prstGeom prst="rect">
            <a:avLst/>
          </a:prstGeom>
        </p:spPr>
      </p:pic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FD5FC0E5-64EB-8361-1BFF-E07DE31793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4D4207A-2DE2-DDB4-499E-645E1E9A06B0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B5F7D3D-AE97-12D7-592B-541818FBB0F0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Footer Placeholder 2">
              <a:extLst>
                <a:ext uri="{FF2B5EF4-FFF2-40B4-BE49-F238E27FC236}">
                  <a16:creationId xmlns:a16="http://schemas.microsoft.com/office/drawing/2014/main" id="{AC5D0688-E328-E5A7-E5DA-893DDDB0F237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9024037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2C47B-CF41-2900-27D1-46C22C904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2B99003-69ED-29F2-2154-EF399E28E4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630691B-0CB2-5EB8-C15E-7B7CC27FB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29</a:t>
            </a:fld>
            <a:endParaRPr lang="fr-FR" sz="12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D09EDA-BBC9-C23C-F784-E5E302DC689C}"/>
              </a:ext>
            </a:extLst>
          </p:cNvPr>
          <p:cNvSpPr txBox="1"/>
          <p:nvPr/>
        </p:nvSpPr>
        <p:spPr>
          <a:xfrm>
            <a:off x="345439" y="721360"/>
            <a:ext cx="806392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3 :</a:t>
            </a:r>
            <a:r>
              <a:rPr lang="fr-FR" sz="2000" dirty="0">
                <a:latin typeface="Arial Black" panose="020B0A04020102020204" pitchFamily="34" charset="0"/>
              </a:rPr>
              <a:t> Notations et valeur numérique.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488B616-4201-AC96-BA95-677E016CA99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1D22C1-5163-DFF3-B750-9677CA9F4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05887BE-C0C6-26B1-F07D-A7C065B7F1EA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A33D505-1E0C-2999-0AA5-428C61C7DBB8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D87F4FDF-66F9-8742-498D-DAA32629EAA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D1144795-AC8B-21B2-6726-CE3D16CE573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92731092"/>
                  </p:ext>
                </p:extLst>
              </p:nvPr>
            </p:nvGraphicFramePr>
            <p:xfrm>
              <a:off x="345437" y="4827261"/>
              <a:ext cx="4217064" cy="1440000"/>
            </p:xfrm>
            <a:graphic>
              <a:graphicData uri="http://schemas.openxmlformats.org/drawingml/2006/table">
                <a:tbl>
                  <a:tblPr/>
                  <a:tblGrid>
                    <a:gridCol w="685916">
                      <a:extLst>
                        <a:ext uri="{9D8B030D-6E8A-4147-A177-3AD203B41FA5}">
                          <a16:colId xmlns:a16="http://schemas.microsoft.com/office/drawing/2014/main" val="1593414590"/>
                        </a:ext>
                      </a:extLst>
                    </a:gridCol>
                    <a:gridCol w="790997">
                      <a:extLst>
                        <a:ext uri="{9D8B030D-6E8A-4147-A177-3AD203B41FA5}">
                          <a16:colId xmlns:a16="http://schemas.microsoft.com/office/drawing/2014/main" val="2720004451"/>
                        </a:ext>
                      </a:extLst>
                    </a:gridCol>
                    <a:gridCol w="425921">
                      <a:extLst>
                        <a:ext uri="{9D8B030D-6E8A-4147-A177-3AD203B41FA5}">
                          <a16:colId xmlns:a16="http://schemas.microsoft.com/office/drawing/2014/main" val="161282379"/>
                        </a:ext>
                      </a:extLst>
                    </a:gridCol>
                    <a:gridCol w="2314230">
                      <a:extLst>
                        <a:ext uri="{9D8B030D-6E8A-4147-A177-3AD203B41FA5}">
                          <a16:colId xmlns:a16="http://schemas.microsoft.com/office/drawing/2014/main" val="1526808663"/>
                        </a:ext>
                      </a:extLst>
                    </a:gridCol>
                  </a:tblGrid>
                  <a:tr h="36000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Notation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Valeur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Unité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Description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36538467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3,5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-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Perméabilité relative de l'Alnico 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35289684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𝜒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100 (ODG)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-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Susceptibilité magnétique de la corde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03249128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fr-FR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000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fr-FR" sz="1000" b="0" i="1" smtClean="0">
                                      <a:latin typeface="Cambria Math" panose="02040503050406030204" pitchFamily="18" charset="0"/>
                                    </a:rPr>
                                    <m:t>−8</m:t>
                                  </m:r>
                                </m:sup>
                              </m:sSup>
                            </m:oMath>
                          </a14:m>
                          <a:r>
                            <a:rPr lang="fr-FR" sz="1000" dirty="0"/>
                            <a:t> (ODG)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p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Volume de la portion de la corde active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252264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D1144795-AC8B-21B2-6726-CE3D16CE573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92731092"/>
                  </p:ext>
                </p:extLst>
              </p:nvPr>
            </p:nvGraphicFramePr>
            <p:xfrm>
              <a:off x="345437" y="4827261"/>
              <a:ext cx="4217064" cy="1440000"/>
            </p:xfrm>
            <a:graphic>
              <a:graphicData uri="http://schemas.openxmlformats.org/drawingml/2006/table">
                <a:tbl>
                  <a:tblPr/>
                  <a:tblGrid>
                    <a:gridCol w="685916">
                      <a:extLst>
                        <a:ext uri="{9D8B030D-6E8A-4147-A177-3AD203B41FA5}">
                          <a16:colId xmlns:a16="http://schemas.microsoft.com/office/drawing/2014/main" val="1593414590"/>
                        </a:ext>
                      </a:extLst>
                    </a:gridCol>
                    <a:gridCol w="790997">
                      <a:extLst>
                        <a:ext uri="{9D8B030D-6E8A-4147-A177-3AD203B41FA5}">
                          <a16:colId xmlns:a16="http://schemas.microsoft.com/office/drawing/2014/main" val="2720004451"/>
                        </a:ext>
                      </a:extLst>
                    </a:gridCol>
                    <a:gridCol w="425921">
                      <a:extLst>
                        <a:ext uri="{9D8B030D-6E8A-4147-A177-3AD203B41FA5}">
                          <a16:colId xmlns:a16="http://schemas.microsoft.com/office/drawing/2014/main" val="161282379"/>
                        </a:ext>
                      </a:extLst>
                    </a:gridCol>
                    <a:gridCol w="2314230">
                      <a:extLst>
                        <a:ext uri="{9D8B030D-6E8A-4147-A177-3AD203B41FA5}">
                          <a16:colId xmlns:a16="http://schemas.microsoft.com/office/drawing/2014/main" val="1526808663"/>
                        </a:ext>
                      </a:extLst>
                    </a:gridCol>
                  </a:tblGrid>
                  <a:tr h="36000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Notation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Valeur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Unité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Description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36538467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blipFill>
                          <a:blip r:embed="rId2"/>
                          <a:stretch>
                            <a:fillRect t="-103390" r="-514159" b="-2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3,5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-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Perméabilité relative de l'Alnico 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35289684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2"/>
                          <a:stretch>
                            <a:fillRect t="-200000" r="-51415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100 (ODG)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-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Susceptibilité magnétique de la corde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03249128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305085" r="-514159" b="-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86923" t="-305085" r="-346923" b="-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47143" t="-305085" r="-544286" b="-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Volume de la portion de la corde active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252264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" name="Table 16">
                <a:extLst>
                  <a:ext uri="{FF2B5EF4-FFF2-40B4-BE49-F238E27FC236}">
                    <a16:creationId xmlns:a16="http://schemas.microsoft.com/office/drawing/2014/main" id="{3B381818-6C77-AF12-22D8-30F5A4EA623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80229"/>
                  </p:ext>
                </p:extLst>
              </p:nvPr>
            </p:nvGraphicFramePr>
            <p:xfrm>
              <a:off x="345439" y="1507861"/>
              <a:ext cx="4217062" cy="2880000"/>
            </p:xfrm>
            <a:graphic>
              <a:graphicData uri="http://schemas.openxmlformats.org/drawingml/2006/table">
                <a:tbl>
                  <a:tblPr/>
                  <a:tblGrid>
                    <a:gridCol w="685916">
                      <a:extLst>
                        <a:ext uri="{9D8B030D-6E8A-4147-A177-3AD203B41FA5}">
                          <a16:colId xmlns:a16="http://schemas.microsoft.com/office/drawing/2014/main" val="1593414590"/>
                        </a:ext>
                      </a:extLst>
                    </a:gridCol>
                    <a:gridCol w="790996">
                      <a:extLst>
                        <a:ext uri="{9D8B030D-6E8A-4147-A177-3AD203B41FA5}">
                          <a16:colId xmlns:a16="http://schemas.microsoft.com/office/drawing/2014/main" val="2720004451"/>
                        </a:ext>
                      </a:extLst>
                    </a:gridCol>
                    <a:gridCol w="425920">
                      <a:extLst>
                        <a:ext uri="{9D8B030D-6E8A-4147-A177-3AD203B41FA5}">
                          <a16:colId xmlns:a16="http://schemas.microsoft.com/office/drawing/2014/main" val="161282379"/>
                        </a:ext>
                      </a:extLst>
                    </a:gridCol>
                    <a:gridCol w="2314230">
                      <a:extLst>
                        <a:ext uri="{9D8B030D-6E8A-4147-A177-3AD203B41FA5}">
                          <a16:colId xmlns:a16="http://schemas.microsoft.com/office/drawing/2014/main" val="1526808663"/>
                        </a:ext>
                      </a:extLst>
                    </a:gridCol>
                  </a:tblGrid>
                  <a:tr h="36000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Notation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Valeur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Unité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Description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36538467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0,105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Position du micro (SingleCoil)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03249128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𝐻𝑃</m:t>
                                    </m:r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</m:oMath>
                            </m:oMathPara>
                          </a14:m>
                          <a:endParaRPr lang="fr-FR" sz="1000" b="0" i="1" dirty="0">
                            <a:latin typeface="Cambria Math" panose="02040503050406030204" pitchFamily="18" charset="0"/>
                          </a:endParaRPr>
                        </a:p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𝐻𝑃</m:t>
                                    </m:r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0,147, 0,165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oMath>
                            </m:oMathPara>
                          </a14:m>
                          <a:endParaRPr lang="fr-FR" sz="1000" b="0" i="1" dirty="0">
                            <a:latin typeface="Cambria Math" panose="02040503050406030204" pitchFamily="18" charset="0"/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oMath>
                            </m:oMathPara>
                          </a14:m>
                          <a:endParaRPr lang="fr-FR" sz="1000" b="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Position du micro (Humbucker parallèle)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25226435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𝐻𝑆</m:t>
                                    </m:r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</m:oMath>
                            </m:oMathPara>
                          </a14:m>
                          <a:endParaRPr lang="fr-FR" sz="1000" b="0" i="1" dirty="0">
                            <a:latin typeface="Cambria Math" panose="02040503050406030204" pitchFamily="18" charset="0"/>
                          </a:endParaRPr>
                        </a:p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𝐻𝑆</m:t>
                                    </m:r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0,202, 0,220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oMath>
                            </m:oMathPara>
                          </a14:m>
                          <a:endParaRPr lang="fr-FR" sz="1000" b="0" i="1" dirty="0">
                            <a:latin typeface="Cambria Math" panose="02040503050406030204" pitchFamily="18" charset="0"/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Position du micro (Humbucker série)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85710569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0,85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Longueur vibrante de la corde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83586442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0,300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Position de l'origine de la perturbation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35740474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0,105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𝑚𝑚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Amplitude initiale de la perturbation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478196520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80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𝐻𝑧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Fréquence fondamentale de vibration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7509288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" name="Table 16">
                <a:extLst>
                  <a:ext uri="{FF2B5EF4-FFF2-40B4-BE49-F238E27FC236}">
                    <a16:creationId xmlns:a16="http://schemas.microsoft.com/office/drawing/2014/main" id="{3B381818-6C77-AF12-22D8-30F5A4EA623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80229"/>
                  </p:ext>
                </p:extLst>
              </p:nvPr>
            </p:nvGraphicFramePr>
            <p:xfrm>
              <a:off x="345439" y="1507861"/>
              <a:ext cx="4217062" cy="2880000"/>
            </p:xfrm>
            <a:graphic>
              <a:graphicData uri="http://schemas.openxmlformats.org/drawingml/2006/table">
                <a:tbl>
                  <a:tblPr/>
                  <a:tblGrid>
                    <a:gridCol w="685916">
                      <a:extLst>
                        <a:ext uri="{9D8B030D-6E8A-4147-A177-3AD203B41FA5}">
                          <a16:colId xmlns:a16="http://schemas.microsoft.com/office/drawing/2014/main" val="1593414590"/>
                        </a:ext>
                      </a:extLst>
                    </a:gridCol>
                    <a:gridCol w="790996">
                      <a:extLst>
                        <a:ext uri="{9D8B030D-6E8A-4147-A177-3AD203B41FA5}">
                          <a16:colId xmlns:a16="http://schemas.microsoft.com/office/drawing/2014/main" val="2720004451"/>
                        </a:ext>
                      </a:extLst>
                    </a:gridCol>
                    <a:gridCol w="425920">
                      <a:extLst>
                        <a:ext uri="{9D8B030D-6E8A-4147-A177-3AD203B41FA5}">
                          <a16:colId xmlns:a16="http://schemas.microsoft.com/office/drawing/2014/main" val="161282379"/>
                        </a:ext>
                      </a:extLst>
                    </a:gridCol>
                    <a:gridCol w="2314230">
                      <a:extLst>
                        <a:ext uri="{9D8B030D-6E8A-4147-A177-3AD203B41FA5}">
                          <a16:colId xmlns:a16="http://schemas.microsoft.com/office/drawing/2014/main" val="1526808663"/>
                        </a:ext>
                      </a:extLst>
                    </a:gridCol>
                  </a:tblGrid>
                  <a:tr h="36000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Notation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Valeur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Unité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Description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36538467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t="-101695" r="-514159" b="-6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0,105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l="-347143" t="-101695" r="-544286" b="-6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Position du micro (SingleCoil)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03249128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t="-201695" r="-514159" b="-5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0,147, 0,165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l="-347143" t="-201695" r="-544286" b="-5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Position du micro (Humbucker parallèle)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25226435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t="-296667" r="-514159" b="-39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0,202, 0,220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l="-347143" t="-296667" r="-544286" b="-39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Position du micro (Humbucker série)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85710569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t="-403390" r="-514159" b="-30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0,85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l="-347143" t="-403390" r="-544286" b="-30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Longueur vibrante de la corde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83586442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t="-503390" r="-514159" b="-20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0,300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l="-347143" t="-503390" r="-544286" b="-20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Position de l'origine de la perturbation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35740474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t="-603390" r="-514159" b="-10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0,105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l="-347143" t="-603390" r="-544286" b="-10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Amplitude initiale de la perturbation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478196520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t="-703390" r="-514159" b="-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80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47143" t="-703390" r="-544286" b="-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Fréquence fondamentale de vibration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7509288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9" name="Table 18">
                <a:extLst>
                  <a:ext uri="{FF2B5EF4-FFF2-40B4-BE49-F238E27FC236}">
                    <a16:creationId xmlns:a16="http://schemas.microsoft.com/office/drawing/2014/main" id="{CF42D4E8-367B-CD6E-4006-68B064BCF4A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39652139"/>
                  </p:ext>
                </p:extLst>
              </p:nvPr>
            </p:nvGraphicFramePr>
            <p:xfrm>
              <a:off x="4671437" y="1507861"/>
              <a:ext cx="4324145" cy="1089627"/>
            </p:xfrm>
            <a:graphic>
              <a:graphicData uri="http://schemas.openxmlformats.org/drawingml/2006/table">
                <a:tbl>
                  <a:tblPr/>
                  <a:tblGrid>
                    <a:gridCol w="703333">
                      <a:extLst>
                        <a:ext uri="{9D8B030D-6E8A-4147-A177-3AD203B41FA5}">
                          <a16:colId xmlns:a16="http://schemas.microsoft.com/office/drawing/2014/main" val="1593414590"/>
                        </a:ext>
                      </a:extLst>
                    </a:gridCol>
                    <a:gridCol w="811082">
                      <a:extLst>
                        <a:ext uri="{9D8B030D-6E8A-4147-A177-3AD203B41FA5}">
                          <a16:colId xmlns:a16="http://schemas.microsoft.com/office/drawing/2014/main" val="2720004451"/>
                        </a:ext>
                      </a:extLst>
                    </a:gridCol>
                    <a:gridCol w="436736">
                      <a:extLst>
                        <a:ext uri="{9D8B030D-6E8A-4147-A177-3AD203B41FA5}">
                          <a16:colId xmlns:a16="http://schemas.microsoft.com/office/drawing/2014/main" val="161282379"/>
                        </a:ext>
                      </a:extLst>
                    </a:gridCol>
                    <a:gridCol w="2372994">
                      <a:extLst>
                        <a:ext uri="{9D8B030D-6E8A-4147-A177-3AD203B41FA5}">
                          <a16:colId xmlns:a16="http://schemas.microsoft.com/office/drawing/2014/main" val="1526808663"/>
                        </a:ext>
                      </a:extLst>
                    </a:gridCol>
                  </a:tblGrid>
                  <a:tr h="363209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Notation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Valeur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Unité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Description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36538467"/>
                      </a:ext>
                    </a:extLst>
                  </a:tr>
                  <a:tr h="363209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b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95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000" dirty="0"/>
                            <a:t>-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Nombre de spire d’une bobine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03249128"/>
                      </a:ext>
                    </a:extLst>
                  </a:tr>
                  <a:tr h="363209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000" dirty="0"/>
                            <a:t>0,06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Rayon des bobines de Helmholtz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252264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9" name="Table 18">
                <a:extLst>
                  <a:ext uri="{FF2B5EF4-FFF2-40B4-BE49-F238E27FC236}">
                    <a16:creationId xmlns:a16="http://schemas.microsoft.com/office/drawing/2014/main" id="{CF42D4E8-367B-CD6E-4006-68B064BCF4A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39652139"/>
                  </p:ext>
                </p:extLst>
              </p:nvPr>
            </p:nvGraphicFramePr>
            <p:xfrm>
              <a:off x="4671437" y="1507861"/>
              <a:ext cx="4324145" cy="1089627"/>
            </p:xfrm>
            <a:graphic>
              <a:graphicData uri="http://schemas.openxmlformats.org/drawingml/2006/table">
                <a:tbl>
                  <a:tblPr/>
                  <a:tblGrid>
                    <a:gridCol w="703333">
                      <a:extLst>
                        <a:ext uri="{9D8B030D-6E8A-4147-A177-3AD203B41FA5}">
                          <a16:colId xmlns:a16="http://schemas.microsoft.com/office/drawing/2014/main" val="1593414590"/>
                        </a:ext>
                      </a:extLst>
                    </a:gridCol>
                    <a:gridCol w="811082">
                      <a:extLst>
                        <a:ext uri="{9D8B030D-6E8A-4147-A177-3AD203B41FA5}">
                          <a16:colId xmlns:a16="http://schemas.microsoft.com/office/drawing/2014/main" val="2720004451"/>
                        </a:ext>
                      </a:extLst>
                    </a:gridCol>
                    <a:gridCol w="436736">
                      <a:extLst>
                        <a:ext uri="{9D8B030D-6E8A-4147-A177-3AD203B41FA5}">
                          <a16:colId xmlns:a16="http://schemas.microsoft.com/office/drawing/2014/main" val="161282379"/>
                        </a:ext>
                      </a:extLst>
                    </a:gridCol>
                    <a:gridCol w="2372994">
                      <a:extLst>
                        <a:ext uri="{9D8B030D-6E8A-4147-A177-3AD203B41FA5}">
                          <a16:colId xmlns:a16="http://schemas.microsoft.com/office/drawing/2014/main" val="1526808663"/>
                        </a:ext>
                      </a:extLst>
                    </a:gridCol>
                  </a:tblGrid>
                  <a:tr h="363209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Notation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Valeur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Unité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Description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36538467"/>
                      </a:ext>
                    </a:extLst>
                  </a:tr>
                  <a:tr h="363209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blipFill>
                          <a:blip r:embed="rId4"/>
                          <a:stretch>
                            <a:fillRect t="-101667" r="-518261" b="-10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95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000" dirty="0"/>
                            <a:t>-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Nombre de spire d’une bobine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03249128"/>
                      </a:ext>
                    </a:extLst>
                  </a:tr>
                  <a:tr h="363209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t="-201667" r="-518261" b="-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000" dirty="0"/>
                            <a:t>0,06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50704" t="-201667" r="-550704" b="-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Rayon des bobines de Helmholtz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2522643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0" name="Rectangle 19">
            <a:extLst>
              <a:ext uri="{FF2B5EF4-FFF2-40B4-BE49-F238E27FC236}">
                <a16:creationId xmlns:a16="http://schemas.microsoft.com/office/drawing/2014/main" id="{4A0FDFD4-ACE1-C723-796E-51848408BDB8}"/>
              </a:ext>
            </a:extLst>
          </p:cNvPr>
          <p:cNvSpPr/>
          <p:nvPr/>
        </p:nvSpPr>
        <p:spPr>
          <a:xfrm>
            <a:off x="345439" y="1174612"/>
            <a:ext cx="4031962" cy="280107"/>
          </a:xfrm>
          <a:prstGeom prst="rect">
            <a:avLst/>
          </a:prstGeom>
          <a:ln w="38100">
            <a:noFill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numCol="2" rtlCol="0" anchor="t"/>
          <a:lstStyle/>
          <a:p>
            <a:endParaRPr lang="fr-FR" sz="1400" b="1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B5CD883-82BD-74FC-0CCA-5B43225FB89A}"/>
              </a:ext>
            </a:extLst>
          </p:cNvPr>
          <p:cNvSpPr txBox="1"/>
          <p:nvPr/>
        </p:nvSpPr>
        <p:spPr>
          <a:xfrm>
            <a:off x="326443" y="1142736"/>
            <a:ext cx="43621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accent3">
                    <a:lumMod val="50000"/>
                  </a:schemeClr>
                </a:solidFill>
              </a:rPr>
              <a:t>Paramètres mécanique (induction)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D94D2AE-FBCD-6DCC-33D2-D0CB6D758659}"/>
              </a:ext>
            </a:extLst>
          </p:cNvPr>
          <p:cNvSpPr txBox="1"/>
          <p:nvPr/>
        </p:nvSpPr>
        <p:spPr>
          <a:xfrm>
            <a:off x="326442" y="4460763"/>
            <a:ext cx="43621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accent3">
                    <a:lumMod val="50000"/>
                  </a:schemeClr>
                </a:solidFill>
              </a:rPr>
              <a:t>Paramètres magnétique (induction)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E8A2E43-0000-4799-8C98-5CF5D3C0AA82}"/>
              </a:ext>
            </a:extLst>
          </p:cNvPr>
          <p:cNvSpPr txBox="1"/>
          <p:nvPr/>
        </p:nvSpPr>
        <p:spPr>
          <a:xfrm>
            <a:off x="4671437" y="1122601"/>
            <a:ext cx="43621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accent3">
                    <a:lumMod val="50000"/>
                  </a:schemeClr>
                </a:solidFill>
              </a:rPr>
              <a:t>Paramètres mécanique (parasite)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4" name="Table 23">
                <a:extLst>
                  <a:ext uri="{FF2B5EF4-FFF2-40B4-BE49-F238E27FC236}">
                    <a16:creationId xmlns:a16="http://schemas.microsoft.com/office/drawing/2014/main" id="{CB49C052-18CA-D0C9-14A7-3BDB164A18B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77019935"/>
                  </p:ext>
                </p:extLst>
              </p:nvPr>
            </p:nvGraphicFramePr>
            <p:xfrm>
              <a:off x="4778519" y="3118385"/>
              <a:ext cx="4217064" cy="1089627"/>
            </p:xfrm>
            <a:graphic>
              <a:graphicData uri="http://schemas.openxmlformats.org/drawingml/2006/table">
                <a:tbl>
                  <a:tblPr/>
                  <a:tblGrid>
                    <a:gridCol w="685916">
                      <a:extLst>
                        <a:ext uri="{9D8B030D-6E8A-4147-A177-3AD203B41FA5}">
                          <a16:colId xmlns:a16="http://schemas.microsoft.com/office/drawing/2014/main" val="1593414590"/>
                        </a:ext>
                      </a:extLst>
                    </a:gridCol>
                    <a:gridCol w="790997">
                      <a:extLst>
                        <a:ext uri="{9D8B030D-6E8A-4147-A177-3AD203B41FA5}">
                          <a16:colId xmlns:a16="http://schemas.microsoft.com/office/drawing/2014/main" val="2720004451"/>
                        </a:ext>
                      </a:extLst>
                    </a:gridCol>
                    <a:gridCol w="425921">
                      <a:extLst>
                        <a:ext uri="{9D8B030D-6E8A-4147-A177-3AD203B41FA5}">
                          <a16:colId xmlns:a16="http://schemas.microsoft.com/office/drawing/2014/main" val="161282379"/>
                        </a:ext>
                      </a:extLst>
                    </a:gridCol>
                    <a:gridCol w="2314230">
                      <a:extLst>
                        <a:ext uri="{9D8B030D-6E8A-4147-A177-3AD203B41FA5}">
                          <a16:colId xmlns:a16="http://schemas.microsoft.com/office/drawing/2014/main" val="1526808663"/>
                        </a:ext>
                      </a:extLst>
                    </a:gridCol>
                  </a:tblGrid>
                  <a:tr h="363209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Notation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Valeur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Unité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Description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36538467"/>
                      </a:ext>
                    </a:extLst>
                  </a:tr>
                  <a:tr h="363209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1 (ODG)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p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Gradient du champ magnétique parasite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03249128"/>
                      </a:ext>
                    </a:extLst>
                  </a:tr>
                  <a:tr h="363209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𝐹</m:t>
                                    </m:r>
                                  </m:e>
                                  <m:sub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000" dirty="0"/>
                            <a:t>50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𝐻𝑧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Fréquence du champ magnétique parasite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252264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4" name="Table 23">
                <a:extLst>
                  <a:ext uri="{FF2B5EF4-FFF2-40B4-BE49-F238E27FC236}">
                    <a16:creationId xmlns:a16="http://schemas.microsoft.com/office/drawing/2014/main" id="{CB49C052-18CA-D0C9-14A7-3BDB164A18B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77019935"/>
                  </p:ext>
                </p:extLst>
              </p:nvPr>
            </p:nvGraphicFramePr>
            <p:xfrm>
              <a:off x="4778519" y="3118385"/>
              <a:ext cx="4217064" cy="1089627"/>
            </p:xfrm>
            <a:graphic>
              <a:graphicData uri="http://schemas.openxmlformats.org/drawingml/2006/table">
                <a:tbl>
                  <a:tblPr/>
                  <a:tblGrid>
                    <a:gridCol w="685916">
                      <a:extLst>
                        <a:ext uri="{9D8B030D-6E8A-4147-A177-3AD203B41FA5}">
                          <a16:colId xmlns:a16="http://schemas.microsoft.com/office/drawing/2014/main" val="1593414590"/>
                        </a:ext>
                      </a:extLst>
                    </a:gridCol>
                    <a:gridCol w="790997">
                      <a:extLst>
                        <a:ext uri="{9D8B030D-6E8A-4147-A177-3AD203B41FA5}">
                          <a16:colId xmlns:a16="http://schemas.microsoft.com/office/drawing/2014/main" val="2720004451"/>
                        </a:ext>
                      </a:extLst>
                    </a:gridCol>
                    <a:gridCol w="425921">
                      <a:extLst>
                        <a:ext uri="{9D8B030D-6E8A-4147-A177-3AD203B41FA5}">
                          <a16:colId xmlns:a16="http://schemas.microsoft.com/office/drawing/2014/main" val="161282379"/>
                        </a:ext>
                      </a:extLst>
                    </a:gridCol>
                    <a:gridCol w="2314230">
                      <a:extLst>
                        <a:ext uri="{9D8B030D-6E8A-4147-A177-3AD203B41FA5}">
                          <a16:colId xmlns:a16="http://schemas.microsoft.com/office/drawing/2014/main" val="1526808663"/>
                        </a:ext>
                      </a:extLst>
                    </a:gridCol>
                  </a:tblGrid>
                  <a:tr h="363209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Notation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Valeur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Unité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Description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36538467"/>
                      </a:ext>
                    </a:extLst>
                  </a:tr>
                  <a:tr h="363209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blipFill>
                          <a:blip r:embed="rId5"/>
                          <a:stretch>
                            <a:fillRect t="-101667" r="-514159" b="-11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1 (ODG)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blipFill>
                          <a:blip r:embed="rId5"/>
                          <a:stretch>
                            <a:fillRect l="-347143" t="-101667" r="-544286" b="-11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Gradient du champ magnétique parasite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03249128"/>
                      </a:ext>
                    </a:extLst>
                  </a:tr>
                  <a:tr h="363209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t="-201667" r="-514159" b="-1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000" dirty="0"/>
                            <a:t>50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347143" t="-201667" r="-544286" b="-1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Fréquence du champ magnétique parasite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2522643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C245918D-E210-1F1E-4EC5-A7B43F3E7B84}"/>
              </a:ext>
            </a:extLst>
          </p:cNvPr>
          <p:cNvSpPr txBox="1"/>
          <p:nvPr/>
        </p:nvSpPr>
        <p:spPr>
          <a:xfrm>
            <a:off x="4778519" y="2733125"/>
            <a:ext cx="43621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accent3">
                    <a:lumMod val="50000"/>
                  </a:schemeClr>
                </a:solidFill>
              </a:rPr>
              <a:t>Paramètres magnétiques (parasite)</a:t>
            </a:r>
          </a:p>
        </p:txBody>
      </p:sp>
    </p:spTree>
    <p:extLst>
      <p:ext uri="{BB962C8B-B14F-4D97-AF65-F5344CB8AC3E}">
        <p14:creationId xmlns:p14="http://schemas.microsoft.com/office/powerpoint/2010/main" val="383703650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5F2D0-380E-9F8B-EAB7-F239559D3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10E9A24-B484-295A-C630-F6DE6A33E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A39197A-E1E0-DE57-ABEA-CF1EC7363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30</a:t>
            </a:fld>
            <a:endParaRPr lang="fr-FR" sz="1200" b="1" dirty="0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22B8513-685B-5D00-3E76-767B4A734F7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BE10D5-B238-9259-C2A5-819981B66C65}"/>
              </a:ext>
            </a:extLst>
          </p:cNvPr>
          <p:cNvSpPr txBox="1"/>
          <p:nvPr/>
        </p:nvSpPr>
        <p:spPr>
          <a:xfrm>
            <a:off x="345439" y="721360"/>
            <a:ext cx="806392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4 :</a:t>
            </a:r>
            <a:r>
              <a:rPr lang="fr-FR" sz="2000" dirty="0">
                <a:latin typeface="Arial Black" panose="020B0A04020102020204" pitchFamily="34" charset="0"/>
              </a:rPr>
              <a:t> Modélisation de l'induction par la corde.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71D93A8-3068-FD13-67A6-BED55AE652C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b="1" u="sng" dirty="0"/>
                  <a:t>Vibration de la corde :</a:t>
                </a:r>
                <a:endParaRPr lang="fr-FR" sz="1200" dirty="0"/>
              </a:p>
              <a:p>
                <a:r>
                  <a:rPr lang="fr-FR" sz="1200" dirty="0"/>
                  <a:t>L’étude de la corde est basée sur l’équation d’Alembert,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avec une force de pincement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blipFill>
                <a:blip r:embed="rId2"/>
                <a:stretch>
                  <a:fillRect t="-120" b="-19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00431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5/2</m:t>
                              </m:r>
                            </m:sup>
                          </m:sSup>
                          <m:rad>
                            <m:radPr>
                              <m:degHide m:val="on"/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r>
                  <a:rPr lang="fr-FR" sz="1200" b="1" u="sng" dirty="0"/>
                  <a:t>Induction :</a:t>
                </a:r>
                <a:endParaRPr lang="fr-FR" sz="1200" dirty="0"/>
              </a:p>
              <a:p>
                <a:r>
                  <a:rPr lang="fr-FR" sz="1200" dirty="0"/>
                  <a:t>De plus, une portion de la corde de volume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fr-FR" sz="1200" dirty="0"/>
                  <a:t> et de susceptibilité magnétique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𝜒</m:t>
                    </m:r>
                  </m:oMath>
                </a14:m>
                <a:r>
                  <a:rPr lang="fr-FR" sz="1200" dirty="0"/>
                  <a:t> est plongé dans le champ du micro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acc>
                  </m:oMath>
                </a14:m>
                <a:r>
                  <a:rPr lang="fr-FR" sz="1200" dirty="0"/>
                  <a:t>. Donc elle acquiert un moment magnétique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1200" dirty="0"/>
              </a:p>
              <a:p>
                <a:r>
                  <a:rPr lang="fr-FR" sz="1200" dirty="0"/>
                  <a:t>La corde créée donc un champ magnétique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sSup>
                            <m:sSup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))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 le flux traversant le bobinage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spires est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2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nary>
                        <m:naryPr>
                          <m:chr m:val="∯"/>
                          <m:limLoc m:val="undOvr"/>
                          <m:subHide m:val="on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𝑑𝑆</m:t>
                              </m:r>
                            </m:e>
                          </m:acc>
                        </m:e>
                      </m:nary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𝑁𝑆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d>
                            <m:d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sSup>
                            <m:sSup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  <m:sup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Φ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Φ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den>
                      </m:f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1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𝑁𝑆</m:t>
                          </m:r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num>
                        <m:den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d>
                        <m:dPr>
                          <m:ctrlP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sSub>
                                <m:sSubPr>
                                  <m:ctrlP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  <m:d>
                                    <m:dPr>
                                      <m:ctrlPr>
                                        <a:rPr lang="fr-FR" sz="11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fr-FR" sz="11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d>
                            </m:num>
                            <m:den>
                              <m:sSup>
                                <m:sSupPr>
                                  <m:ctrlP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p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p>
                              </m:sSup>
                            </m:den>
                          </m:f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p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p>
                              </m:sSup>
                            </m:den>
                          </m:f>
                          <m:f>
                            <m:fPr>
                              <m:ctrlP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func>
                        <m:funcPr>
                          <m:ctrlP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1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𝑛𝐹𝑡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=2</m:t>
                    </m:r>
                    <m:r>
                      <a:rPr lang="fr-FR" sz="1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fr-FR" sz="1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𝑛𝐹</m:t>
                    </m:r>
                    <m:func>
                      <m:func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f>
                          <m:f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num>
                          <m:den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</m:den>
                        </m:f>
                      </m:e>
                    </m:func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004319"/>
              </a:xfrm>
              <a:prstGeom prst="rect">
                <a:avLst/>
              </a:prstGeom>
              <a:blipFill>
                <a:blip r:embed="rId3"/>
                <a:stretch>
                  <a:fillRect t="-24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FA777B76-EF7C-8876-1D5D-D609496C95D8}"/>
              </a:ext>
            </a:extLst>
          </p:cNvPr>
          <p:cNvGrpSpPr/>
          <p:nvPr/>
        </p:nvGrpSpPr>
        <p:grpSpPr>
          <a:xfrm>
            <a:off x="3035508" y="2887635"/>
            <a:ext cx="1623736" cy="676275"/>
            <a:chOff x="3501390" y="2752725"/>
            <a:chExt cx="1157854" cy="676275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1A38606B-02D3-FB4F-4E84-A06CC752B21A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E7E64599-1C52-9F19-E75C-1C83054A94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98173CE4-32B0-FCB4-0133-B7F7F801D647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A230515D-0CF5-C54C-6696-F26CC43280DD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3241828B-5116-7216-6B5A-F400AF0BB812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1FB3372-8A72-8A3C-4185-141A249DDF65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10714" r="-3571" b="-2272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C6C170-7191-7DC0-F875-65C4BD15D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51B331E-825D-7998-84BB-C2CEA27EFC7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AA243EF-8D9A-619D-753B-253FFACAA14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Footer Placeholder 2">
              <a:extLst>
                <a:ext uri="{FF2B5EF4-FFF2-40B4-BE49-F238E27FC236}">
                  <a16:creationId xmlns:a16="http://schemas.microsoft.com/office/drawing/2014/main" id="{E96EF237-2867-B9B6-4D1E-4353B4EF70F7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EE24388-EC68-4AFB-B105-72F9AF9744DB}"/>
              </a:ext>
            </a:extLst>
          </p:cNvPr>
          <p:cNvSpPr txBox="1"/>
          <p:nvPr/>
        </p:nvSpPr>
        <p:spPr>
          <a:xfrm>
            <a:off x="8303977" y="6071016"/>
            <a:ext cx="8994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[3], [6]</a:t>
            </a:r>
          </a:p>
        </p:txBody>
      </p:sp>
    </p:spTree>
    <p:extLst>
      <p:ext uri="{BB962C8B-B14F-4D97-AF65-F5344CB8AC3E}">
        <p14:creationId xmlns:p14="http://schemas.microsoft.com/office/powerpoint/2010/main" val="181669049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1B5F2-B144-CF76-1F8C-26C914CAC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BB62E9F-C416-8E56-1CDE-C3F6958ED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DC783EB-893F-C311-8294-9AEF8605C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31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406A6A33-5483-E45A-C886-DB9DB0F3FCE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670956-3195-813A-9090-176A89DD32F0}"/>
              </a:ext>
            </a:extLst>
          </p:cNvPr>
          <p:cNvSpPr txBox="1"/>
          <p:nvPr/>
        </p:nvSpPr>
        <p:spPr>
          <a:xfrm>
            <a:off x="345439" y="721360"/>
            <a:ext cx="8297628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5 :</a:t>
            </a:r>
            <a:r>
              <a:rPr lang="fr-FR" sz="2000" dirty="0">
                <a:latin typeface="Arial Black" panose="020B0A04020102020204" pitchFamily="34" charset="0"/>
              </a:rPr>
              <a:t> Théorie de la réjection du champ parasite.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AB61CD-D09F-44E9-C03D-924382A1A1A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4296946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b="1" u="sng" dirty="0"/>
                  <a:t>Définition :</a:t>
                </a:r>
                <a:endParaRPr lang="fr-FR" sz="1200" dirty="0"/>
              </a:p>
              <a:p>
                <a:r>
                  <a:rPr lang="fr-FR" sz="1200" dirty="0"/>
                  <a:t>On appellera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fr-FR" sz="1200" dirty="0"/>
                  <a:t> le signal utile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fr-FR" sz="1200" dirty="0"/>
                  <a:t> le signal parasite. ON définit le </a:t>
                </a:r>
                <a:r>
                  <a:rPr lang="fr-FR" sz="1200" u="sng" dirty="0"/>
                  <a:t>Taux de Rejection de Mode Commun</a:t>
                </a:r>
                <a:endParaRPr lang="fr-FR" sz="1200" b="1" u="sng" dirty="0"/>
              </a:p>
              <a:p>
                <a:endParaRPr lang="fr-FR" sz="1200" b="1" u="sng" dirty="0"/>
              </a:p>
              <a:p>
                <a:r>
                  <a:rPr lang="fr-FR" sz="1200" b="1" u="sng" dirty="0"/>
                  <a:t>Modèle du champ parasite :</a:t>
                </a:r>
                <a:endParaRPr lang="fr-FR" sz="1200" dirty="0"/>
              </a:p>
              <a:p>
                <a:r>
                  <a:rPr lang="fr-FR" sz="1200" dirty="0"/>
                  <a:t>On étudie un champ parasite d’amplitude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, de fréquence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fr-FR" sz="1200" dirty="0"/>
                  <a:t> et de gradient </a:t>
                </a:r>
                <a14:m>
                  <m:oMath xmlns:m="http://schemas.openxmlformats.org/officeDocument/2006/math">
                    <m:r>
                      <a:rPr lang="fr-FR" sz="1200" b="0" i="1" dirty="0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200" dirty="0"/>
                  <a:t> régie par l’équation:</a:t>
                </a:r>
              </a:p>
              <a:p>
                <a:pPr algn="ctr"/>
                <a:endParaRPr lang="fr-FR" sz="12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′,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′)</m:t>
                      </m:r>
                      <m:func>
                        <m:func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Ainsi on a le flux à travers une surface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fr-FR" sz="1200" dirty="0"/>
                  <a:t> est: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200" b="0" i="0" smtClean="0">
                          <a:latin typeface="Cambria Math" panose="02040503050406030204" pitchFamily="18" charset="0"/>
                        </a:rPr>
                        <m:t>Φ</m:t>
                      </m:r>
                      <m:r>
                        <a:rPr lang="fr-FR" sz="1200" b="0" i="0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p>
                          <m: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fr-FR" sz="1200" b="0" i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fr-FR" sz="1200" b="0" i="0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fr-FR" sz="1200" b="0" i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∯"/>
                          <m:limLoc m:val="undOvr"/>
                          <m:subHide m:val="on"/>
                          <m:supHide m:val="on"/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𝑑𝑆</m:t>
                              </m:r>
                            </m:e>
                          </m:acc>
                        </m:e>
                      </m:nary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sSup>
                        <m:sSup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  <m:func>
                        <m:func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une bobine composée de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Φ</m:t>
                          </m:r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b="1" u="sng" dirty="0"/>
                  <a:t>Pour un micro SingleCoil :</a:t>
                </a:r>
              </a:p>
              <a:p>
                <a:r>
                  <a:rPr lang="fr-FR" sz="1200" dirty="0"/>
                  <a:t>On place le micro à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fr-FR" sz="1200" dirty="0"/>
                  <a:t>, 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4296946"/>
              </a:xfrm>
              <a:prstGeom prst="rect">
                <a:avLst/>
              </a:prstGeom>
              <a:blipFill>
                <a:blip r:embed="rId3"/>
                <a:stretch>
                  <a:fillRect t="-14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44314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b="1" u="sng" dirty="0"/>
                  <a:t>Pour un micro Humbucker série :</a:t>
                </a:r>
              </a:p>
              <a:p>
                <a:r>
                  <a:rPr lang="fr-FR" sz="1200" dirty="0"/>
                  <a:t>On génère une FEM par bobinage: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𝐻𝑠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Le micro est composé de deux bobine espacées de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200" b="0" i="0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fr-FR" sz="1200" dirty="0"/>
                  <a:t> à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spire câblée en opposition de phase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𝐻𝑠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fr-FR" sz="1200">
                              <a:latin typeface="Cambria Math" panose="02040503050406030204" pitchFamily="18" charset="0"/>
                            </a:rPr>
                            <m:t>Φ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)+(−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Φ</m:t>
                              </m:r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 −</m:t>
                          </m:r>
                          <m:f>
                            <m:f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</m:num>
                            <m:den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r>
                  <a:rPr lang="fr-FR" sz="12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𝐻𝑠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𝐻𝑠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m:rPr>
                          <m:sty m:val="p"/>
                        </m:rPr>
                        <a:rPr lang="fr-FR" sz="14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Ainsi :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𝐶𝑀𝑅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𝐻𝑠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=20</m:t>
                    </m:r>
                    <m:func>
                      <m:func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1200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  <m:t>𝐻𝑠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</m:func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sz="1200" dirty="0"/>
                  <a:t> </a:t>
                </a:r>
                <a14:m>
                  <m:oMath xmlns:m="http://schemas.openxmlformats.org/officeDocument/2006/math">
                    <m:r>
                      <a:rPr lang="fr-FR" sz="120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20</m:t>
                    </m:r>
                    <m:func>
                      <m:func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1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b="1" u="sng" dirty="0"/>
                  <a:t>Pour un micro Humbucker parallèle :</a:t>
                </a:r>
              </a:p>
              <a:p>
                <a:r>
                  <a:rPr lang="fr-FR" sz="1200" dirty="0"/>
                  <a:t>On génère une FEM par bobinage: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𝐻𝑝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De même, sous les mêmes notations,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4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m:rPr>
                          <m:sty m:val="p"/>
                        </m:rPr>
                        <a:rPr lang="fr-FR" sz="140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func>
                        <m:func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/>
              </a:p>
              <a:p>
                <a:r>
                  <a:rPr lang="fr-FR" sz="1200" dirty="0"/>
                  <a:t>Ainsi :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𝐶𝑀𝑅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=20</m:t>
                    </m:r>
                    <m:func>
                      <m:func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120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  <m: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</m:func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sz="1200" dirty="0"/>
                  <a:t> </a:t>
                </a:r>
                <a14:m>
                  <m:oMath xmlns:m="http://schemas.openxmlformats.org/officeDocument/2006/math"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20</m:t>
                    </m:r>
                    <m:func>
                      <m:func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1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4431470"/>
              </a:xfrm>
              <a:prstGeom prst="rect">
                <a:avLst/>
              </a:prstGeom>
              <a:blipFill>
                <a:blip r:embed="rId4"/>
                <a:stretch>
                  <a:fillRect t="-27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97B6E3-8EE4-F64E-7E5A-C4237D3CD3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C135CFF-9836-7C54-0BFE-C55DA8EA6DF2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B27E62F-509A-33EE-39F7-CF12A8D18683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Footer Placeholder 2">
              <a:extLst>
                <a:ext uri="{FF2B5EF4-FFF2-40B4-BE49-F238E27FC236}">
                  <a16:creationId xmlns:a16="http://schemas.microsoft.com/office/drawing/2014/main" id="{9F154D45-8B11-2E2C-A9CF-70E8DE66B2B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E597473-163C-2448-B7A8-744EB33FD861}"/>
                  </a:ext>
                </a:extLst>
              </p:cNvPr>
              <p:cNvSpPr txBox="1"/>
              <p:nvPr/>
            </p:nvSpPr>
            <p:spPr>
              <a:xfrm>
                <a:off x="563660" y="5664788"/>
                <a:ext cx="8191168" cy="523220"/>
              </a:xfrm>
              <a:prstGeom prst="rect">
                <a:avLst/>
              </a:prstGeom>
              <a:ln w="28575"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sz="1400" dirty="0"/>
                  <a:t>On a une annulation totale du bruit si et seulement si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i="0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fr-FR" sz="1400" dirty="0"/>
                  <a:t> est petit. En pratique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=0.018 </m:t>
                    </m:r>
                  </m:oMath>
                </a14:m>
                <a:r>
                  <a:rPr lang="fr-FR" sz="1400" dirty="0"/>
                  <a:t>mètre.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sz="1400" dirty="0"/>
                  <a:t>Si les deux Humbucker sont identiques, peu importe le montage, le CMRR est identique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E597473-163C-2448-B7A8-744EB33FD8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660" y="5664788"/>
                <a:ext cx="8191168" cy="523220"/>
              </a:xfrm>
              <a:prstGeom prst="rect">
                <a:avLst/>
              </a:prstGeom>
              <a:blipFill>
                <a:blip r:embed="rId5"/>
                <a:stretch>
                  <a:fillRect b="-7692"/>
                </a:stretch>
              </a:blipFill>
              <a:ln w="28575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95206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7108C-A3BE-9F30-5F6D-AE6C160ED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3AE4AA4-C3C7-2E15-4FE6-655BAA3E9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EF6E153-E804-1E6D-AC1A-DA165A1241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32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E06A84A3-244C-E4E5-16D2-E0D81E52023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9AD8E1-E315-A065-149E-7D95BAB5C66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98F16D-9EEC-BD13-9BA6-4441C8EDBF7E}"/>
              </a:ext>
            </a:extLst>
          </p:cNvPr>
          <p:cNvSpPr txBox="1"/>
          <p:nvPr/>
        </p:nvSpPr>
        <p:spPr>
          <a:xfrm>
            <a:off x="345439" y="721360"/>
            <a:ext cx="849111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6 :</a:t>
            </a:r>
            <a:r>
              <a:rPr lang="fr-FR" sz="2000" dirty="0">
                <a:latin typeface="Arial Black" panose="020B0A04020102020204" pitchFamily="34" charset="0"/>
              </a:rPr>
              <a:t> Méthodes de traitement numérique et filtrage. 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FEFF123-A369-3024-2D63-5BC511850FC0}"/>
              </a:ext>
            </a:extLst>
          </p:cNvPr>
          <p:cNvSpPr txBox="1"/>
          <p:nvPr/>
        </p:nvSpPr>
        <p:spPr>
          <a:xfrm>
            <a:off x="345440" y="1121470"/>
            <a:ext cx="8950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passer de données bruitées non exploitables a des données exploitables?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160F269-E440-1BF8-F93A-BDF8772DA1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440" y="1564631"/>
            <a:ext cx="5486411" cy="457200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BB76C7F-A157-584F-297C-3D944A36C729}"/>
                  </a:ext>
                </a:extLst>
              </p:cNvPr>
              <p:cNvSpPr txBox="1"/>
              <p:nvPr/>
            </p:nvSpPr>
            <p:spPr>
              <a:xfrm>
                <a:off x="5951220" y="1564631"/>
                <a:ext cx="2885334" cy="39804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400" b="1" u="sng" dirty="0">
                    <a:sym typeface="Wingdings" panose="05000000000000000000" pitchFamily="2" charset="2"/>
                  </a:rPr>
                  <a:t>Filtrage par Moyenne Mobile </a:t>
                </a:r>
                <a:r>
                  <a:rPr lang="fr-FR" sz="1400" dirty="0">
                    <a:sym typeface="Wingdings" panose="05000000000000000000" pitchFamily="2" charset="2"/>
                  </a:rPr>
                  <a:t>Chaque point est la moyenne des 50 précédents et 50 suivants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❌ Risque de ‘’raboter’’ les pics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✅ Aucun déphasage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b="1" u="sng" dirty="0">
                    <a:sym typeface="Wingdings" panose="05000000000000000000" pitchFamily="2" charset="2"/>
                  </a:rPr>
                  <a:t>Filtrage numérique passe-bas</a:t>
                </a:r>
              </a:p>
              <a:p>
                <a:r>
                  <a:rPr lang="fr-FR" sz="1400" b="0" dirty="0">
                    <a:sym typeface="Wingdings" panose="05000000000000000000" pitchFamily="2" charset="2"/>
                  </a:rPr>
                  <a:t>Méthode d’Euler avec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H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(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p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) = </m:t>
                      </m:r>
                      <m:f>
                        <m:f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1</m:t>
                          </m:r>
                        </m:num>
                        <m:den>
                          <m: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1 + </m:t>
                          </m:r>
                          <m:r>
                            <m:rPr>
                              <m:sty m:val="p"/>
                            </m:rP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τp</m:t>
                          </m:r>
                        </m:den>
                      </m:f>
                    </m:oMath>
                  </m:oMathPara>
                </a14:m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✅ Preserve l’allure globale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❌ Introduit un déphasage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BB76C7F-A157-584F-297C-3D944A36C7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1220" y="1564631"/>
                <a:ext cx="2885334" cy="3980449"/>
              </a:xfrm>
              <a:prstGeom prst="rect">
                <a:avLst/>
              </a:prstGeom>
              <a:blipFill>
                <a:blip r:embed="rId3"/>
                <a:stretch>
                  <a:fillRect l="-633" t="-30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B9AED8-D051-72A1-0FAB-7881F8ACE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EA012CD-4A4F-5077-ED00-68E3057666A1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79DF584-9CF7-B861-2268-C9DD0FDE375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9E59D5D1-9929-41AC-1C69-EDEF90D47D4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0029440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D22C5B-8D73-CCE6-C1F4-7842FE0B84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AF5A9F0-2A4C-02C4-E2F8-B040A3F3EE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C534992-DB8E-40A8-C706-E82CEB302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33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17D9F10B-2163-F771-FC03-D7518738EB0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79F3FB8-1FB5-8F1E-C164-C844ECA3D08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9B39E1-B87E-8759-1895-1DEFEB3BB07E}"/>
              </a:ext>
            </a:extLst>
          </p:cNvPr>
          <p:cNvSpPr txBox="1"/>
          <p:nvPr/>
        </p:nvSpPr>
        <p:spPr>
          <a:xfrm>
            <a:off x="345439" y="721360"/>
            <a:ext cx="849111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7 :</a:t>
            </a:r>
            <a:r>
              <a:rPr lang="fr-FR" sz="2000" dirty="0">
                <a:latin typeface="Arial Black" panose="020B0A04020102020204" pitchFamily="34" charset="0"/>
              </a:rPr>
              <a:t> Algorithme de Levenberg-Marquardt.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BC72904-EEDC-1E60-1DCE-9D51B9D703C6}"/>
                  </a:ext>
                </a:extLst>
              </p:cNvPr>
              <p:cNvSpPr txBox="1"/>
              <p:nvPr/>
            </p:nvSpPr>
            <p:spPr>
              <a:xfrm>
                <a:off x="4584727" y="1127661"/>
                <a:ext cx="4264554" cy="513679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sz="1600" u="sng" dirty="0"/>
                  <a:t>Comment déterminer les valeurs des caractéristiques électriques des micros ?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b="1" u="sng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b="1" u="sng" dirty="0"/>
                  <a:t>Principe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Variante de l’algorithme des moindres carrés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b="1" u="sng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b="1" u="sng" dirty="0"/>
                  <a:t>Combine 2 méthodes :</a:t>
                </a:r>
                <a:endParaRPr lang="fr-FR" altLang="fr-FR" sz="1400" dirty="0"/>
              </a:p>
              <a:p>
                <a:pPr marL="285750" lvl="0" indent="-28575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fr-FR" altLang="fr-FR" sz="1400" b="1" dirty="0"/>
                  <a:t>Descente de gradient</a:t>
                </a:r>
                <a:r>
                  <a:rPr lang="fr-FR" altLang="fr-FR" sz="1400" dirty="0"/>
                  <a:t> : Utilisée loin du minimum </a:t>
                </a:r>
                <a:r>
                  <a:rPr lang="fr-FR" altLang="fr-FR" sz="1400" dirty="0">
                    <a:sym typeface="Wingdings" panose="05000000000000000000" pitchFamily="2" charset="2"/>
                  </a:rPr>
                  <a:t> Stabilité</a:t>
                </a:r>
                <a:endParaRPr lang="fr-FR" altLang="fr-FR" sz="1400" dirty="0"/>
              </a:p>
              <a:p>
                <a:pPr marL="285750" lvl="0" indent="-28575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fr-FR" altLang="fr-FR" sz="1400" b="1" dirty="0"/>
                  <a:t>Méthode de Gauss-Newton</a:t>
                </a:r>
                <a:r>
                  <a:rPr lang="fr-FR" altLang="fr-FR" sz="1400" dirty="0"/>
                  <a:t> : Utilisée proche du minimum </a:t>
                </a:r>
                <a:r>
                  <a:rPr lang="fr-FR" altLang="fr-FR" sz="1400" dirty="0">
                    <a:sym typeface="Wingdings" panose="05000000000000000000" pitchFamily="2" charset="2"/>
                  </a:rPr>
                  <a:t> rapidité</a:t>
                </a:r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b="1" u="sng" dirty="0"/>
                  <a:t>Fonctionnement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L'incrément des paramètres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0" i="1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fr-FR" altLang="fr-FR" sz="1400" dirty="0"/>
                  <a:t> est calculé par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fr-FR" altLang="fr-FR" sz="1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  <m: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m:rPr>
                                  <m:sty m:val="p"/>
                                </m:rP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α</m:t>
                          </m:r>
                          <m: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fr-FR" altLang="fr-FR" sz="1400" b="0" i="1" dirty="0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fr-FR" altLang="fr-FR" sz="1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J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fr-FR" altLang="fr-FR" sz="1400" b="0" i="1" dirty="0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fr-FR" altLang="fr-FR" sz="1400" b="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1" i="1" smtClean="0">
                        <a:latin typeface="Cambria Math" panose="02040503050406030204" pitchFamily="18" charset="0"/>
                      </a:rPr>
                      <m:t>J</m:t>
                    </m:r>
                  </m:oMath>
                </a14:m>
                <a:r>
                  <a:rPr lang="fr-FR" altLang="fr-FR" sz="1400" dirty="0"/>
                  <a:t> : Matrice Jacobienne </a:t>
                </a:r>
              </a:p>
              <a:p>
                <a:pPr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0" i="1" smtClean="0">
                        <a:latin typeface="Cambria Math" panose="02040503050406030204" pitchFamily="18" charset="0"/>
                      </a:rPr>
                      <m:t>r</m:t>
                    </m:r>
                  </m:oMath>
                </a14:m>
                <a:r>
                  <a:rPr lang="fr-FR" altLang="fr-FR" sz="1400" dirty="0"/>
                  <a:t> : Vecteur résidus : image de l’erreur</a:t>
                </a:r>
              </a:p>
              <a:p>
                <a:pPr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0" i="1" smtClean="0">
                        <a:latin typeface="Cambria Math" panose="02040503050406030204" pitchFamily="18" charset="0"/>
                      </a:rPr>
                      <m:t>α</m:t>
                    </m:r>
                  </m:oMath>
                </a14:m>
                <a:r>
                  <a:rPr lang="fr-FR" altLang="fr-FR" sz="1400" dirty="0"/>
                  <a:t> : Taux d’apprentissage variable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dirty="0">
                    <a:sym typeface="Wingdings" panose="05000000000000000000" pitchFamily="2" charset="2"/>
                  </a:rPr>
                  <a:t>Si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ϵ</m:t>
                    </m:r>
                    <m:r>
                      <a:rPr lang="fr-FR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↘</m:t>
                    </m:r>
                  </m:oMath>
                </a14:m>
                <a:r>
                  <a:rPr lang="fr-FR" sz="1400" dirty="0">
                    <a:sym typeface="Wingdings" panose="05000000000000000000" pitchFamily="2" charset="2"/>
                  </a:rPr>
                  <a:t> : Gauss Newton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dirty="0">
                    <a:sym typeface="Wingdings" panose="05000000000000000000" pitchFamily="2" charset="2"/>
                  </a:rPr>
                  <a:t>Si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ϵ</m:t>
                    </m:r>
                    <m:r>
                      <a:rPr lang="fr-FR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↗</m:t>
                    </m:r>
                  </m:oMath>
                </a14:m>
                <a:r>
                  <a:rPr lang="fr-FR" sz="1400" dirty="0">
                    <a:sym typeface="Wingdings" panose="05000000000000000000" pitchFamily="2" charset="2"/>
                  </a:rPr>
                  <a:t> : Descente de Gradient 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BC72904-EEDC-1E60-1DCE-9D51B9D703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4727" y="1127661"/>
                <a:ext cx="4264554" cy="5136791"/>
              </a:xfrm>
              <a:prstGeom prst="rect">
                <a:avLst/>
              </a:prstGeom>
              <a:blipFill>
                <a:blip r:embed="rId2"/>
                <a:stretch>
                  <a:fillRect l="-714" t="-3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489229-D649-26C3-F99E-5A1F94B1F6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A0C246C-3384-6CE8-D081-A3B270E39908}"/>
              </a:ext>
            </a:extLst>
          </p:cNvPr>
          <p:cNvGrpSpPr/>
          <p:nvPr/>
        </p:nvGrpSpPr>
        <p:grpSpPr>
          <a:xfrm>
            <a:off x="345440" y="1121469"/>
            <a:ext cx="4144114" cy="5136791"/>
            <a:chOff x="345440" y="1587720"/>
            <a:chExt cx="3617103" cy="4428906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4C7B3D5-E778-E53F-4C95-9EB24A7DBC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5440" y="1587720"/>
              <a:ext cx="3617103" cy="442890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9CF46D6-4EF4-F232-FD91-E6FB90382318}"/>
                    </a:ext>
                  </a:extLst>
                </p:cNvPr>
                <p:cNvSpPr txBox="1"/>
                <p:nvPr/>
              </p:nvSpPr>
              <p:spPr>
                <a:xfrm>
                  <a:off x="1643131" y="2224466"/>
                  <a:ext cx="1021719" cy="19454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fr-FR" sz="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fr-FR" sz="400" b="0" i="1" smtClean="0"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400" b="0" i="1" smtClean="0">
                                    <a:latin typeface="Cambria Math" panose="02040503050406030204" pitchFamily="18" charset="0"/>
                                  </a:rPr>
                                  <m:t>p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fr-FR" sz="400" b="0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 0.01</m:t>
                        </m:r>
                      </m:oMath>
                    </m:oMathPara>
                  </a14:m>
                  <a:endParaRPr lang="fr-FR" sz="400" b="0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ϵ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 </m:t>
                        </m:r>
                        <m:sSup>
                          <m:sSupPr>
                            <m:ctrlP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−7</m:t>
                            </m:r>
                          </m:sup>
                        </m:sSup>
                      </m:oMath>
                    </m:oMathPara>
                  </a14:m>
                  <a:endParaRPr lang="fr-FR" sz="4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9CF46D6-4EF4-F232-FD91-E6FB903823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43131" y="2224466"/>
                  <a:ext cx="1021719" cy="194540"/>
                </a:xfrm>
                <a:prstGeom prst="rect">
                  <a:avLst/>
                </a:prstGeom>
                <a:blipFill>
                  <a:blip r:embed="rId4"/>
                  <a:stretch>
                    <a:fillRect b="-3125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14E73D5-40E1-FA40-17C0-BCA99FA1C91C}"/>
                    </a:ext>
                  </a:extLst>
                </p:cNvPr>
                <p:cNvSpPr txBox="1"/>
                <p:nvPr/>
              </p:nvSpPr>
              <p:spPr>
                <a:xfrm>
                  <a:off x="1655444" y="3282458"/>
                  <a:ext cx="1021719" cy="166018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:r>
                    <a:rPr lang="fr-FR" sz="400" dirty="0"/>
                    <a:t>Calcul de la descente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400" b="0" i="1" smtClean="0">
                          <a:latin typeface="Cambria Math" panose="02040503050406030204" pitchFamily="18" charset="0"/>
                        </a:rPr>
                        <m:t>δ</m:t>
                      </m:r>
                    </m:oMath>
                  </a14:m>
                  <a:r>
                    <a:rPr lang="fr-FR" sz="400" dirty="0"/>
                    <a:t> avec :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fr-FR" altLang="fr-FR" sz="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fr-FR" altLang="fr-FR" sz="400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fr-FR" altLang="fr-FR" sz="400" i="1" dirty="0"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  <m:r>
                                  <a:rPr lang="fr-FR" altLang="fr-FR" sz="400" i="1" dirty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m:rPr>
                                    <m:sty m:val="p"/>
                                  </m:rPr>
                                  <a:rPr lang="fr-FR" altLang="fr-FR" sz="400" i="1" dirty="0"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fr-FR" altLang="fr-FR" sz="400" i="1" dirty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p>
                            <m:r>
                              <a:rPr lang="fr-FR" altLang="fr-FR" sz="400" i="1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fr-FR" altLang="fr-FR" sz="400" i="1" dirty="0">
                                <a:latin typeface="Cambria Math" panose="02040503050406030204" pitchFamily="18" charset="0"/>
                              </a:rPr>
                              <m:t>α</m:t>
                            </m:r>
                            <m:r>
                              <a:rPr lang="fr-FR" altLang="fr-FR" sz="400" i="1" dirty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d>
                        <m:r>
                          <a:rPr lang="fr-FR" altLang="fr-FR" sz="400" i="1" dirty="0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fr-FR" altLang="fr-FR" sz="400" i="1" dirty="0"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fr-FR" altLang="fr-FR" sz="4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altLang="fr-FR" sz="400" i="1" dirty="0">
                                <a:latin typeface="Cambria Math" panose="02040503050406030204" pitchFamily="18" charset="0"/>
                              </a:rPr>
                              <m:t>J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fr-FR" altLang="fr-FR" sz="400" i="1" dirty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p>
                        <m:r>
                          <a:rPr lang="fr-FR" altLang="fr-FR" sz="400" i="1" dirty="0">
                            <a:latin typeface="Cambria Math" panose="02040503050406030204" pitchFamily="18" charset="0"/>
                          </a:rPr>
                          <m:t>𝑟</m:t>
                        </m:r>
                      </m:oMath>
                    </m:oMathPara>
                  </a14:m>
                  <a:endParaRPr lang="fr-FR" altLang="fr-FR" sz="400" dirty="0"/>
                </a:p>
                <a:p>
                  <a:pPr algn="ctr"/>
                  <a:endParaRPr lang="fr-FR" sz="4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14E73D5-40E1-FA40-17C0-BCA99FA1C9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5444" y="3282458"/>
                  <a:ext cx="1021719" cy="166018"/>
                </a:xfrm>
                <a:prstGeom prst="rect">
                  <a:avLst/>
                </a:prstGeom>
                <a:blipFill>
                  <a:blip r:embed="rId5"/>
                  <a:stretch>
                    <a:fillRect t="-9375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1B9F17A-A7C1-8129-26C5-CCE20D05D2F8}"/>
                    </a:ext>
                  </a:extLst>
                </p:cNvPr>
                <p:cNvSpPr txBox="1"/>
                <p:nvPr/>
              </p:nvSpPr>
              <p:spPr>
                <a:xfrm>
                  <a:off x="1655445" y="3793974"/>
                  <a:ext cx="1021719" cy="12311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4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new</m:t>
                            </m:r>
                          </m:sub>
                        </m:sSub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 + 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  <a:p>
                  <a:pPr algn="ctr"/>
                  <a:r>
                    <a:rPr lang="fr-FR" sz="400" dirty="0"/>
                    <a:t>Calcul du nouveau coût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sz="400" b="0" i="1" dirty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sz="400" b="0" i="1" dirty="0" smtClean="0">
                              <a:latin typeface="Cambria Math" panose="02040503050406030204" pitchFamily="18" charset="0"/>
                            </a:rPr>
                            <m:t>new</m:t>
                          </m:r>
                        </m:sub>
                      </m:sSub>
                    </m:oMath>
                  </a14:m>
                  <a:endParaRPr lang="fr-FR" sz="4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1B9F17A-A7C1-8129-26C5-CCE20D05D2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5445" y="3793974"/>
                  <a:ext cx="1021719" cy="123111"/>
                </a:xfrm>
                <a:prstGeom prst="rect">
                  <a:avLst/>
                </a:prstGeom>
                <a:blipFill>
                  <a:blip r:embed="rId6"/>
                  <a:stretch>
                    <a:fillRect b="-2381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1EB7C6A-82BF-6C18-30B1-C4455754628B}"/>
                    </a:ext>
                  </a:extLst>
                </p:cNvPr>
                <p:cNvSpPr txBox="1"/>
                <p:nvPr/>
              </p:nvSpPr>
              <p:spPr>
                <a:xfrm>
                  <a:off x="1770064" y="4267912"/>
                  <a:ext cx="792480" cy="615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4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new</m:t>
                            </m:r>
                          </m:sub>
                        </m:sSub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&lt; </m:t>
                        </m:r>
                        <m:r>
                          <m:rPr>
                            <m:sty m:val="p"/>
                          </m:rP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S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1EB7C6A-82BF-6C18-30B1-C445575462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70064" y="4267912"/>
                  <a:ext cx="792480" cy="61555"/>
                </a:xfrm>
                <a:prstGeom prst="rect">
                  <a:avLst/>
                </a:prstGeom>
                <a:blipFill>
                  <a:blip r:embed="rId7"/>
                  <a:stretch>
                    <a:fillRect b="-3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6B82192-B64C-FB73-EDE5-4E4226E3663C}"/>
                    </a:ext>
                  </a:extLst>
                </p:cNvPr>
                <p:cNvSpPr txBox="1"/>
                <p:nvPr/>
              </p:nvSpPr>
              <p:spPr>
                <a:xfrm>
                  <a:off x="822961" y="4818364"/>
                  <a:ext cx="792480" cy="12311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40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 = </m:t>
                        </m:r>
                        <m:sSub>
                          <m:sSubPr>
                            <m:ctrl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new</m:t>
                            </m:r>
                          </m:sub>
                        </m:sSub>
                      </m:oMath>
                    </m:oMathPara>
                  </a14:m>
                  <a:endParaRPr lang="fr-FR" sz="400" i="1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α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α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/ </m:t>
                        </m:r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6B82192-B64C-FB73-EDE5-4E4226E366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2961" y="4818364"/>
                  <a:ext cx="792480" cy="123111"/>
                </a:xfrm>
                <a:prstGeom prst="rect">
                  <a:avLst/>
                </a:prstGeom>
                <a:blipFill>
                  <a:blip r:embed="rId8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A35FB794-C1DA-068F-4A78-56EE092FA55F}"/>
                    </a:ext>
                  </a:extLst>
                </p:cNvPr>
                <p:cNvSpPr txBox="1"/>
                <p:nvPr/>
              </p:nvSpPr>
              <p:spPr>
                <a:xfrm>
                  <a:off x="2716531" y="4852144"/>
                  <a:ext cx="792480" cy="615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α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α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A35FB794-C1DA-068F-4A78-56EE092FA5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16531" y="4852144"/>
                  <a:ext cx="792480" cy="6155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5D85D38D-5906-CE92-16D5-20B4131E9EAF}"/>
                    </a:ext>
                  </a:extLst>
                </p:cNvPr>
                <p:cNvSpPr txBox="1"/>
                <p:nvPr/>
              </p:nvSpPr>
              <p:spPr>
                <a:xfrm>
                  <a:off x="822961" y="5301827"/>
                  <a:ext cx="792480" cy="615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400" i="1" dirty="0" smtClean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&lt; </m:t>
                        </m:r>
                        <m:r>
                          <m:rPr>
                            <m:sty m:val="p"/>
                          </m:rP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ϵ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5D85D38D-5906-CE92-16D5-20B4131E9E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2961" y="5301827"/>
                  <a:ext cx="792480" cy="61555"/>
                </a:xfrm>
                <a:prstGeom prst="rect">
                  <a:avLst/>
                </a:prstGeom>
                <a:blipFill>
                  <a:blip r:embed="rId10"/>
                  <a:stretch>
                    <a:fillRect b="-2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A1E15DCC-C532-6C84-21FE-198EF6A3869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D293FA2D-845E-3E47-013D-1745D6C5C34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Footer Placeholder 2">
              <a:extLst>
                <a:ext uri="{FF2B5EF4-FFF2-40B4-BE49-F238E27FC236}">
                  <a16:creationId xmlns:a16="http://schemas.microsoft.com/office/drawing/2014/main" id="{F8F13FDA-57A2-A33C-17C0-BF32E05AA341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32533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3032B-5CBA-D58B-6BE3-2ED288DB3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F8EB8047-B6FD-C262-D749-BA2812726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73D2A4C-27D1-DFAF-6C8D-8C59AA46A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34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D7F8ED1-3EF2-8A6F-4CB4-0CF972E8B4D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C3105C7-994D-34E1-D1CE-ED0E36ED91C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09C9AA1-328D-AAD8-510E-EFF1E2B2A387}"/>
              </a:ext>
            </a:extLst>
          </p:cNvPr>
          <p:cNvSpPr txBox="1"/>
          <p:nvPr/>
        </p:nvSpPr>
        <p:spPr>
          <a:xfrm>
            <a:off x="345440" y="1121470"/>
            <a:ext cx="8950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déterminer les valeurs des caractéristiques électriques des micros ?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80023245-9CE3-A4CE-BCE1-4AF643DD4C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5440" y="1564631"/>
            <a:ext cx="5486411" cy="457200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5537C42-FFED-9697-1F46-86E067148514}"/>
                  </a:ext>
                </a:extLst>
              </p:cNvPr>
              <p:cNvSpPr txBox="1"/>
              <p:nvPr/>
            </p:nvSpPr>
            <p:spPr>
              <a:xfrm>
                <a:off x="5951220" y="1564631"/>
                <a:ext cx="2885334" cy="45220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Le calcul des résidus se fait par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400" i="1">
                          <a:latin typeface="Cambria Math" panose="02040503050406030204" pitchFamily="18" charset="0"/>
                        </a:rPr>
                        <m:t>r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ist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w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1, </m:t>
                              </m:r>
                              <m:acc>
                                <m:accPr>
                                  <m:chr m:val="̃"/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w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acc>
                              <m:r>
                                <m:rPr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ist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w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2, </m:t>
                              </m:r>
                              <m:acc>
                                <m:accPr>
                                  <m:chr m:val="̃"/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w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acc>
                              <m:r>
                                <m:rPr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...</m:t>
                              </m:r>
                            </m:e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ist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wn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acc>
                                <m:accPr>
                                  <m:chr m:val="̃"/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wn</m:t>
                                  </m:r>
                                </m:e>
                              </m:acc>
                              <m:r>
                                <m:rPr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Le calcul du coût se fait par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altLang="fr-FR" sz="1400" b="0" i="1" smtClean="0"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fr-FR" altLang="fr-FR" sz="1400" b="0" i="1" smtClean="0">
                          <a:latin typeface="Cambria Math" panose="02040503050406030204" pitchFamily="18" charset="0"/>
                        </a:rPr>
                        <m:t> = 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fr-FR" altLang="fr-FR" sz="1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5"/>
                            </m:rPr>
                            <a:rPr lang="fr-FR" altLang="fr-FR" sz="14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fr-FR" altLang="fr-FR" sz="1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fr-FR" altLang="fr-FR" sz="1400" b="0" i="1" smtClean="0">
                              <a:latin typeface="Cambria Math" panose="02040503050406030204" pitchFamily="18" charset="0"/>
                            </a:rPr>
                            <m:t>n</m:t>
                          </m:r>
                        </m:sup>
                        <m:e>
                          <m:sSubSup>
                            <m:sSubSupPr>
                              <m:ctrlPr>
                                <a:rPr lang="fr-FR" alt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fr-FR" altLang="fr-FR" sz="1400" b="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altLang="fr-FR" sz="1400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  <m:sup>
                              <m:r>
                                <a:rPr lang="fr-FR" altLang="fr-FR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L'incrément des paramètres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i="1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fr-FR" altLang="fr-FR" sz="1400" dirty="0"/>
                  <a:t> est calculé par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fr-FR" altLang="fr-FR" sz="1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FR" altLang="fr-FR" sz="1400" i="1" dirty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  <m:r>
                                <a:rPr lang="fr-FR" altLang="fr-FR" sz="1400" i="1" dirty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m:rPr>
                                  <m:sty m:val="p"/>
                                </m:rPr>
                                <a:rPr lang="fr-FR" altLang="fr-FR" sz="1400" i="1" dirty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fr-FR" altLang="fr-FR" sz="1400" i="1" dirty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fr-FR" altLang="fr-FR" sz="1400" i="1" dirty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fr-FR" altLang="fr-FR" sz="1400" i="1" dirty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  <m:t>J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fr-FR" altLang="fr-FR" sz="1400" i="1" dirty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Avec :</a:t>
                </a:r>
              </a:p>
              <a:p>
                <a:pPr algn="ctr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i="1">
                        <a:latin typeface="Cambria Math" panose="02040503050406030204" pitchFamily="18" charset="0"/>
                      </a:rPr>
                      <m:t>J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fr-FR" sz="1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1)</m:t>
                                  </m:r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L</m:t>
                                  </m:r>
                                </m:den>
                              </m:f>
                            </m:e>
                            <m:e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1)</m:t>
                                  </m:r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C</m:t>
                                  </m:r>
                                </m:den>
                              </m:f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     </m:t>
                              </m:r>
                            </m:e>
                          </m:mr>
                          <m:mr>
                            <m:e>
                              <m:eqArr>
                                <m:eqArr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2)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...</m:t>
                                  </m:r>
                                </m:e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ωn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</m:eqArr>
                            </m:e>
                            <m:e>
                              <m:eqArr>
                                <m:eqArr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2)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...</m:t>
                                  </m:r>
                                </m:e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ωn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</m:eqArr>
                            </m:e>
                          </m:mr>
                        </m:m>
                        <m:eqArr>
                          <m:eqArrPr>
                            <m:ctrlPr>
                              <a:rPr lang="fr-FR" sz="1400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f>
                              <m:fPr>
                                <m:ctrl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ω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1)</m:t>
                                </m:r>
                              </m:num>
                              <m:den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R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sub>
                                </m:sSub>
                              </m:den>
                            </m:f>
                          </m:e>
                          <m:e>
                            <m:f>
                              <m:fPr>
                                <m:ctrl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ω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2)</m:t>
                                </m:r>
                              </m:num>
                              <m:den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R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sub>
                                </m:sSub>
                              </m:den>
                            </m:f>
                          </m:e>
                          <m:e>
                            <m:r>
                              <a:rPr lang="fr-FR" sz="1400" i="1">
                                <a:latin typeface="Cambria Math" panose="02040503050406030204" pitchFamily="18" charset="0"/>
                              </a:rPr>
                              <m:t>...</m:t>
                            </m:r>
                          </m:e>
                          <m:e>
                            <m:f>
                              <m:fPr>
                                <m:ctrl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ωn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num>
                              <m:den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R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sub>
                                </m:sSub>
                              </m:den>
                            </m:f>
                          </m:e>
                        </m:eqArr>
                      </m:e>
                    </m:d>
                  </m:oMath>
                </a14:m>
                <a:endParaRPr lang="fr-FR" altLang="fr-FR" sz="1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5537C42-FFED-9697-1F46-86E0671485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1220" y="1564631"/>
                <a:ext cx="2885334" cy="4522072"/>
              </a:xfrm>
              <a:prstGeom prst="rect">
                <a:avLst/>
              </a:prstGeom>
              <a:blipFill>
                <a:blip r:embed="rId3"/>
                <a:stretch>
                  <a:fillRect l="-633" t="-270" r="-2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FE58A68-4175-1FE0-DFCA-73363B0F3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5A23E38-AFFC-1314-34D8-5F474D741D97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194ED3C-0189-70F2-3340-35139884ACBA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AD4961CD-E048-EDA5-4913-3A2CD9E86F6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8A788DD-EA1A-EA9F-38E6-52FFF6B6EB98}"/>
              </a:ext>
            </a:extLst>
          </p:cNvPr>
          <p:cNvSpPr txBox="1"/>
          <p:nvPr/>
        </p:nvSpPr>
        <p:spPr>
          <a:xfrm>
            <a:off x="345439" y="721360"/>
            <a:ext cx="849111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7 :</a:t>
            </a:r>
            <a:r>
              <a:rPr lang="fr-FR" sz="2000" dirty="0">
                <a:latin typeface="Arial Black" panose="020B0A04020102020204" pitchFamily="34" charset="0"/>
              </a:rPr>
              <a:t> Algorithme de Levenberg-Marquardt. </a:t>
            </a:r>
          </a:p>
        </p:txBody>
      </p:sp>
    </p:spTree>
    <p:extLst>
      <p:ext uri="{BB962C8B-B14F-4D97-AF65-F5344CB8AC3E}">
        <p14:creationId xmlns:p14="http://schemas.microsoft.com/office/powerpoint/2010/main" val="355817200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C1AB9-AA17-A289-4177-5B57B838A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8461287-D707-9296-0912-13EC57D94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1BD5E36-8BC4-63CE-35F9-3C9F06D3B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35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0EEE6E3-6825-09CC-8862-418DD007C63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05990FB-38EB-5B30-B3B4-746837CB7A8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1DE8E9-33F3-561B-57C9-2E08CDBD205D}"/>
              </a:ext>
            </a:extLst>
          </p:cNvPr>
          <p:cNvSpPr txBox="1"/>
          <p:nvPr/>
        </p:nvSpPr>
        <p:spPr>
          <a:xfrm>
            <a:off x="345440" y="721360"/>
            <a:ext cx="8626172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8 :</a:t>
            </a:r>
            <a:r>
              <a:rPr lang="fr-FR" sz="2000" dirty="0">
                <a:latin typeface="Arial Black" panose="020B0A04020102020204" pitchFamily="34" charset="0"/>
              </a:rPr>
              <a:t> Analyse des échecs et difficultés rencontrées.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2EF09A-3743-0F99-88E7-941B18BE98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EAE53AF-2DFC-2830-AB17-39F8A9CFCD3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3" t="21864" r="1" b="35960"/>
          <a:stretch>
            <a:fillRect/>
          </a:stretch>
        </p:blipFill>
        <p:spPr>
          <a:xfrm>
            <a:off x="345440" y="1220122"/>
            <a:ext cx="8626173" cy="4852222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7CF1BFFB-993D-B165-6DEA-A362856BAE78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C24DCD0-D770-6EEC-A98D-F0CAB5B4CAB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5180DDD7-F016-DA17-C609-C7473F9858D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4458006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6F1A6-7284-DDB9-89E2-31D242A16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1A8F8BC-5457-F637-253E-501D5B3F22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056C9157-C10C-5A98-91D7-0B32B3935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36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3AD740C7-6183-2A85-C9EE-E8A2AE58902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A0915BC-9847-71E7-29FD-55679B3E5BA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93A4084-0161-71FA-C96F-CB2E64B2C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259B488-EBE7-4249-E492-60486C906D2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500" b="12500"/>
          <a:stretch>
            <a:fillRect/>
          </a:stretch>
        </p:blipFill>
        <p:spPr>
          <a:xfrm>
            <a:off x="345439" y="1390254"/>
            <a:ext cx="8472117" cy="4765566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2882774D-4E1C-DAB6-0335-8D40E09BBD17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5AA2265-51F0-27F3-BB79-D4CFB818BDD8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Footer Placeholder 2">
              <a:extLst>
                <a:ext uri="{FF2B5EF4-FFF2-40B4-BE49-F238E27FC236}">
                  <a16:creationId xmlns:a16="http://schemas.microsoft.com/office/drawing/2014/main" id="{9363F4C3-D089-5724-B3D9-349343B259F6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770782AE-74D3-0F0B-3667-FBE7C228BE64}"/>
              </a:ext>
            </a:extLst>
          </p:cNvPr>
          <p:cNvSpPr txBox="1"/>
          <p:nvPr/>
        </p:nvSpPr>
        <p:spPr>
          <a:xfrm>
            <a:off x="345440" y="721360"/>
            <a:ext cx="8626172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8 :</a:t>
            </a:r>
            <a:r>
              <a:rPr lang="fr-FR" sz="2000" dirty="0">
                <a:latin typeface="Arial Black" panose="020B0A04020102020204" pitchFamily="34" charset="0"/>
              </a:rPr>
              <a:t> Analyse des échecs et difficultés rencontrées.</a:t>
            </a:r>
          </a:p>
        </p:txBody>
      </p:sp>
    </p:spTree>
    <p:extLst>
      <p:ext uri="{BB962C8B-B14F-4D97-AF65-F5344CB8AC3E}">
        <p14:creationId xmlns:p14="http://schemas.microsoft.com/office/powerpoint/2010/main" val="341068345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C127E-D68A-C4C9-C086-9738F9D58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680B2C9C-674F-90F5-E1CC-34D98FA50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9335C5F-9B07-5AC8-00F0-9F64763A0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37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3FFEE79-B6D9-7DF1-77AC-A2F39E7FB47B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33E4F10-BA31-FD17-A59D-7CAA4E90498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E5FFF7-404B-CF36-11FC-4931F08AE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D5C8C20-B7ED-6551-4D0E-60F6CE1EF6AF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217269F-89D7-F4AD-528B-4C77B6A952CC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Footer Placeholder 2">
              <a:extLst>
                <a:ext uri="{FF2B5EF4-FFF2-40B4-BE49-F238E27FC236}">
                  <a16:creationId xmlns:a16="http://schemas.microsoft.com/office/drawing/2014/main" id="{D4433DFC-2955-CE03-9169-35729454E671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E4D36202-B3E5-243C-14C2-48434A7DE7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66000"/>
                    </a14:imgEffect>
                  </a14:imgLayer>
                </a14:imgProps>
              </a:ext>
            </a:extLst>
          </a:blip>
          <a:srcRect l="19282" r="1566" b="8689"/>
          <a:stretch>
            <a:fillRect/>
          </a:stretch>
        </p:blipFill>
        <p:spPr>
          <a:xfrm rot="16200000">
            <a:off x="2548484" y="118160"/>
            <a:ext cx="4047032" cy="659122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4A7F794-6E33-A78A-72E0-E2362439015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200000"/>
                    </a14:imgEffect>
                    <a14:imgEffect>
                      <a14:brightnessContrast contrast="20000"/>
                    </a14:imgEffect>
                  </a14:imgLayer>
                </a14:imgProps>
              </a:ext>
            </a:extLst>
          </a:blip>
          <a:srcRect l="14914" t="11121" r="5635" b="30934"/>
          <a:stretch>
            <a:fillRect/>
          </a:stretch>
        </p:blipFill>
        <p:spPr>
          <a:xfrm>
            <a:off x="5973557" y="4628840"/>
            <a:ext cx="2844000" cy="155693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42B486F-873B-1C92-486F-11C77678697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3810" t="15900" r="12423" b="27097"/>
          <a:stretch>
            <a:fillRect/>
          </a:stretch>
        </p:blipFill>
        <p:spPr>
          <a:xfrm>
            <a:off x="514606" y="4628840"/>
            <a:ext cx="2880000" cy="153300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7EF5D67B-65B9-DD8F-74B1-81A310AE71D3}"/>
              </a:ext>
            </a:extLst>
          </p:cNvPr>
          <p:cNvSpPr/>
          <p:nvPr/>
        </p:nvSpPr>
        <p:spPr>
          <a:xfrm>
            <a:off x="1379095" y="1466054"/>
            <a:ext cx="1499017" cy="1345451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8D180F4-F1E8-39AD-1FE1-134753F82E8C}"/>
              </a:ext>
            </a:extLst>
          </p:cNvPr>
          <p:cNvSpPr txBox="1"/>
          <p:nvPr/>
        </p:nvSpPr>
        <p:spPr>
          <a:xfrm>
            <a:off x="345440" y="721360"/>
            <a:ext cx="8626172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8 :</a:t>
            </a:r>
            <a:r>
              <a:rPr lang="fr-FR" sz="2000" dirty="0">
                <a:latin typeface="Arial Black" panose="020B0A04020102020204" pitchFamily="34" charset="0"/>
              </a:rPr>
              <a:t> Analyse des échecs et difficultés rencontrées.</a:t>
            </a:r>
          </a:p>
        </p:txBody>
      </p:sp>
    </p:spTree>
    <p:extLst>
      <p:ext uri="{BB962C8B-B14F-4D97-AF65-F5344CB8AC3E}">
        <p14:creationId xmlns:p14="http://schemas.microsoft.com/office/powerpoint/2010/main" val="1029642075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3235</Words>
  <Application>Microsoft Office PowerPoint</Application>
  <PresentationFormat>On-screen Show (4:3)</PresentationFormat>
  <Paragraphs>822</Paragraphs>
  <Slides>37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3" baseType="lpstr">
      <vt:lpstr>Arial</vt:lpstr>
      <vt:lpstr>Arial Black</vt:lpstr>
      <vt:lpstr>Calibri</vt:lpstr>
      <vt:lpstr>Cambria Math</vt:lpstr>
      <vt:lpstr>Wingdings</vt:lpstr>
      <vt:lpstr>Retrospect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 MOREL</dc:creator>
  <cp:lastModifiedBy>Christophe MOREL</cp:lastModifiedBy>
  <cp:revision>734</cp:revision>
  <dcterms:created xsi:type="dcterms:W3CDTF">2025-06-09T15:35:56Z</dcterms:created>
  <dcterms:modified xsi:type="dcterms:W3CDTF">2026-02-28T16:44:05Z</dcterms:modified>
</cp:coreProperties>
</file>