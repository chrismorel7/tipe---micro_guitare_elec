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7" r:id="rId1"/>
  </p:sldMasterIdLst>
  <p:notesMasterIdLst>
    <p:notesMasterId r:id="rId36"/>
  </p:notesMasterIdLst>
  <p:sldIdLst>
    <p:sldId id="387" r:id="rId2"/>
    <p:sldId id="340" r:id="rId3"/>
    <p:sldId id="338" r:id="rId4"/>
    <p:sldId id="380" r:id="rId5"/>
    <p:sldId id="335" r:id="rId6"/>
    <p:sldId id="337" r:id="rId7"/>
    <p:sldId id="336" r:id="rId8"/>
    <p:sldId id="265" r:id="rId9"/>
    <p:sldId id="386" r:id="rId10"/>
    <p:sldId id="389" r:id="rId11"/>
    <p:sldId id="356" r:id="rId12"/>
    <p:sldId id="345" r:id="rId13"/>
    <p:sldId id="346" r:id="rId14"/>
    <p:sldId id="390" r:id="rId15"/>
    <p:sldId id="329" r:id="rId16"/>
    <p:sldId id="393" r:id="rId17"/>
    <p:sldId id="394" r:id="rId18"/>
    <p:sldId id="333" r:id="rId19"/>
    <p:sldId id="391" r:id="rId20"/>
    <p:sldId id="313" r:id="rId21"/>
    <p:sldId id="397" r:id="rId22"/>
    <p:sldId id="378" r:id="rId23"/>
    <p:sldId id="398" r:id="rId24"/>
    <p:sldId id="303" r:id="rId25"/>
    <p:sldId id="271" r:id="rId26"/>
    <p:sldId id="348" r:id="rId27"/>
    <p:sldId id="277" r:id="rId28"/>
    <p:sldId id="305" r:id="rId29"/>
    <p:sldId id="365" r:id="rId30"/>
    <p:sldId id="370" r:id="rId31"/>
    <p:sldId id="368" r:id="rId32"/>
    <p:sldId id="372" r:id="rId33"/>
    <p:sldId id="373" r:id="rId34"/>
    <p:sldId id="384" r:id="rId3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A66AC"/>
    <a:srgbClr val="38903A"/>
    <a:srgbClr val="014095"/>
    <a:srgbClr val="629DD1"/>
    <a:srgbClr val="559AD7"/>
    <a:srgbClr val="CC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076" autoAdjust="0"/>
    <p:restoredTop sz="95975" autoAdjust="0"/>
  </p:normalViewPr>
  <p:slideViewPr>
    <p:cSldViewPr snapToGrid="0">
      <p:cViewPr>
        <p:scale>
          <a:sx n="100" d="100"/>
          <a:sy n="100" d="100"/>
        </p:scale>
        <p:origin x="1695" y="48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38B8181-43EA-4C6C-8C7F-7942035F0720}" type="doc">
      <dgm:prSet loTypeId="urn:microsoft.com/office/officeart/2005/8/layout/lProcess2" loCatId="list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fr-FR"/>
        </a:p>
      </dgm:t>
    </dgm:pt>
    <dgm:pt modelId="{91212D5D-B364-44BA-9771-63E526DCA0A1}">
      <dgm:prSet phldrT="[Text]" phldr="0" custT="1"/>
      <dgm:spPr/>
      <dgm:t>
        <a:bodyPr/>
        <a:lstStyle/>
        <a:p>
          <a:r>
            <a:rPr lang="fr-FR" sz="4800" dirty="0">
              <a:latin typeface="Arial Black" panose="020B0A04020102020204" pitchFamily="34" charset="0"/>
            </a:rPr>
            <a:t>50M</a:t>
          </a:r>
          <a:endParaRPr lang="fr-FR" sz="5400" dirty="0">
            <a:latin typeface="Arial Black" panose="020B0A04020102020204" pitchFamily="34" charset="0"/>
          </a:endParaRPr>
        </a:p>
      </dgm:t>
    </dgm:pt>
    <dgm:pt modelId="{FC78DAE6-83E5-4BC1-AC49-428A15180E75}" type="parTrans" cxnId="{0485C7B9-46CA-4C0E-96B3-8FFF5F37DD6A}">
      <dgm:prSet/>
      <dgm:spPr/>
      <dgm:t>
        <a:bodyPr/>
        <a:lstStyle/>
        <a:p>
          <a:endParaRPr lang="fr-FR"/>
        </a:p>
      </dgm:t>
    </dgm:pt>
    <dgm:pt modelId="{D781E287-DBE3-4186-9876-37AE3B390319}" type="sibTrans" cxnId="{0485C7B9-46CA-4C0E-96B3-8FFF5F37DD6A}">
      <dgm:prSet/>
      <dgm:spPr/>
      <dgm:t>
        <a:bodyPr/>
        <a:lstStyle/>
        <a:p>
          <a:endParaRPr lang="fr-FR"/>
        </a:p>
      </dgm:t>
    </dgm:pt>
    <dgm:pt modelId="{E5137407-CC18-4373-B384-F7A66AF869B6}">
      <dgm:prSet phldrT="[Text]" phldr="0" custT="1"/>
      <dgm:spPr/>
      <dgm:t>
        <a:bodyPr/>
        <a:lstStyle/>
        <a:p>
          <a:r>
            <a:rPr lang="fr-FR" sz="1800" dirty="0"/>
            <a:t>Nombre de guitare estimé dans le monde</a:t>
          </a:r>
        </a:p>
      </dgm:t>
    </dgm:pt>
    <dgm:pt modelId="{F5863376-7605-42DC-B58D-060041DC79FF}" type="parTrans" cxnId="{AD0029D9-5E4E-4AD7-A0EC-A4368455A356}">
      <dgm:prSet/>
      <dgm:spPr/>
      <dgm:t>
        <a:bodyPr/>
        <a:lstStyle/>
        <a:p>
          <a:endParaRPr lang="fr-FR"/>
        </a:p>
      </dgm:t>
    </dgm:pt>
    <dgm:pt modelId="{504827BD-EDE8-4FEA-B41A-5C51374DAF4F}" type="sibTrans" cxnId="{AD0029D9-5E4E-4AD7-A0EC-A4368455A356}">
      <dgm:prSet/>
      <dgm:spPr/>
      <dgm:t>
        <a:bodyPr/>
        <a:lstStyle/>
        <a:p>
          <a:endParaRPr lang="fr-FR"/>
        </a:p>
      </dgm:t>
    </dgm:pt>
    <dgm:pt modelId="{AB389A4B-81CD-47F4-AC53-77C6CCDA77CA}">
      <dgm:prSet phldrT="[Text]" phldr="0" custT="1"/>
      <dgm:spPr/>
      <dgm:t>
        <a:bodyPr/>
        <a:lstStyle/>
        <a:p>
          <a:r>
            <a:rPr lang="fr-FR" sz="4800" dirty="0">
              <a:latin typeface="Arial Black" panose="020B0A04020102020204" pitchFamily="34" charset="0"/>
            </a:rPr>
            <a:t>10,3B</a:t>
          </a:r>
        </a:p>
      </dgm:t>
    </dgm:pt>
    <dgm:pt modelId="{1957A227-B175-4033-8F1D-F1C3A49DEBE5}" type="parTrans" cxnId="{C1AEFF4B-406F-4617-A89D-BA61E379F596}">
      <dgm:prSet/>
      <dgm:spPr/>
      <dgm:t>
        <a:bodyPr/>
        <a:lstStyle/>
        <a:p>
          <a:endParaRPr lang="fr-FR"/>
        </a:p>
      </dgm:t>
    </dgm:pt>
    <dgm:pt modelId="{BFD4BD52-26B4-4D78-A8D4-0D5AE83B8561}" type="sibTrans" cxnId="{C1AEFF4B-406F-4617-A89D-BA61E379F596}">
      <dgm:prSet/>
      <dgm:spPr/>
      <dgm:t>
        <a:bodyPr/>
        <a:lstStyle/>
        <a:p>
          <a:endParaRPr lang="fr-FR"/>
        </a:p>
      </dgm:t>
    </dgm:pt>
    <dgm:pt modelId="{5DFF8D2C-FF16-4189-959A-DA8AF237818F}">
      <dgm:prSet phldrT="[Text]" phldr="0" custT="1"/>
      <dgm:spPr/>
      <dgm:t>
        <a:bodyPr/>
        <a:lstStyle/>
        <a:p>
          <a:r>
            <a:rPr lang="fr-FR" sz="1800" dirty="0"/>
            <a:t>Valeur du marché de la guitare en 2024</a:t>
          </a:r>
        </a:p>
      </dgm:t>
    </dgm:pt>
    <dgm:pt modelId="{E4367BA8-3CA9-4C87-B29D-AC36939C7927}" type="parTrans" cxnId="{5523898E-814B-4613-82CF-8AC3888E263E}">
      <dgm:prSet/>
      <dgm:spPr/>
      <dgm:t>
        <a:bodyPr/>
        <a:lstStyle/>
        <a:p>
          <a:endParaRPr lang="fr-FR"/>
        </a:p>
      </dgm:t>
    </dgm:pt>
    <dgm:pt modelId="{B5808FB2-8ED5-48B7-94C9-85E33B53CEFA}" type="sibTrans" cxnId="{5523898E-814B-4613-82CF-8AC3888E263E}">
      <dgm:prSet/>
      <dgm:spPr/>
      <dgm:t>
        <a:bodyPr/>
        <a:lstStyle/>
        <a:p>
          <a:endParaRPr lang="fr-FR"/>
        </a:p>
      </dgm:t>
    </dgm:pt>
    <dgm:pt modelId="{D947A9E2-2E97-41F2-A0A4-BF4BF3FB2559}">
      <dgm:prSet phldrT="[Text]" phldr="0" custT="1"/>
      <dgm:spPr/>
      <dgm:t>
        <a:bodyPr/>
        <a:lstStyle/>
        <a:p>
          <a:r>
            <a:rPr lang="fr-FR" sz="4800" dirty="0">
              <a:latin typeface="Arial Black" panose="020B0A04020102020204" pitchFamily="34" charset="0"/>
            </a:rPr>
            <a:t>48%</a:t>
          </a:r>
        </a:p>
      </dgm:t>
    </dgm:pt>
    <dgm:pt modelId="{F31CB54F-5BC7-406C-A91B-50C08608D24C}" type="parTrans" cxnId="{8FE87FC7-AC18-4165-B440-4AA7AC67A8D9}">
      <dgm:prSet/>
      <dgm:spPr/>
      <dgm:t>
        <a:bodyPr/>
        <a:lstStyle/>
        <a:p>
          <a:endParaRPr lang="fr-FR"/>
        </a:p>
      </dgm:t>
    </dgm:pt>
    <dgm:pt modelId="{45F2920D-B956-4AA8-9189-A759A3BF2F00}" type="sibTrans" cxnId="{8FE87FC7-AC18-4165-B440-4AA7AC67A8D9}">
      <dgm:prSet/>
      <dgm:spPr/>
      <dgm:t>
        <a:bodyPr/>
        <a:lstStyle/>
        <a:p>
          <a:endParaRPr lang="fr-FR"/>
        </a:p>
      </dgm:t>
    </dgm:pt>
    <dgm:pt modelId="{1D647303-1950-49A3-B3E3-511B5EAB22C1}">
      <dgm:prSet phldrT="[Text]" custT="1"/>
      <dgm:spPr/>
      <dgm:t>
        <a:bodyPr/>
        <a:lstStyle/>
        <a:p>
          <a:r>
            <a:rPr lang="fr-FR" sz="1800" dirty="0"/>
            <a:t>Part de marché des guitares électriques </a:t>
          </a:r>
        </a:p>
      </dgm:t>
    </dgm:pt>
    <dgm:pt modelId="{D66D6EFC-F33F-49A7-81CA-B602591CF869}" type="parTrans" cxnId="{201120F7-9B21-4830-87D4-34EE8C2CC62D}">
      <dgm:prSet/>
      <dgm:spPr/>
      <dgm:t>
        <a:bodyPr/>
        <a:lstStyle/>
        <a:p>
          <a:endParaRPr lang="fr-FR"/>
        </a:p>
      </dgm:t>
    </dgm:pt>
    <dgm:pt modelId="{85CCCEDD-0FA1-4E6A-8302-32155D37CF8E}" type="sibTrans" cxnId="{201120F7-9B21-4830-87D4-34EE8C2CC62D}">
      <dgm:prSet/>
      <dgm:spPr/>
      <dgm:t>
        <a:bodyPr/>
        <a:lstStyle/>
        <a:p>
          <a:endParaRPr lang="fr-FR"/>
        </a:p>
      </dgm:t>
    </dgm:pt>
    <dgm:pt modelId="{B8929512-66CE-4E69-82E8-652F86CC7F13}" type="pres">
      <dgm:prSet presAssocID="{E38B8181-43EA-4C6C-8C7F-7942035F0720}" presName="theList" presStyleCnt="0">
        <dgm:presLayoutVars>
          <dgm:dir/>
          <dgm:animLvl val="lvl"/>
          <dgm:resizeHandles val="exact"/>
        </dgm:presLayoutVars>
      </dgm:prSet>
      <dgm:spPr/>
    </dgm:pt>
    <dgm:pt modelId="{8AD1CDE0-660F-41C6-A232-AB49A944F4B1}" type="pres">
      <dgm:prSet presAssocID="{91212D5D-B364-44BA-9771-63E526DCA0A1}" presName="compNode" presStyleCnt="0"/>
      <dgm:spPr/>
    </dgm:pt>
    <dgm:pt modelId="{A122FDB8-4E52-4F24-924C-55B39B5EEF83}" type="pres">
      <dgm:prSet presAssocID="{91212D5D-B364-44BA-9771-63E526DCA0A1}" presName="aNode" presStyleLbl="bgShp" presStyleIdx="0" presStyleCnt="3"/>
      <dgm:spPr/>
    </dgm:pt>
    <dgm:pt modelId="{EE092F6B-38EB-47CC-973C-37F9D2288AA3}" type="pres">
      <dgm:prSet presAssocID="{91212D5D-B364-44BA-9771-63E526DCA0A1}" presName="textNode" presStyleLbl="bgShp" presStyleIdx="0" presStyleCnt="3"/>
      <dgm:spPr/>
    </dgm:pt>
    <dgm:pt modelId="{0448C864-2F82-4625-BA73-B4FC84AC036D}" type="pres">
      <dgm:prSet presAssocID="{91212D5D-B364-44BA-9771-63E526DCA0A1}" presName="compChildNode" presStyleCnt="0"/>
      <dgm:spPr/>
    </dgm:pt>
    <dgm:pt modelId="{28883B9D-21D9-4368-977E-4B0BD2C2A37C}" type="pres">
      <dgm:prSet presAssocID="{91212D5D-B364-44BA-9771-63E526DCA0A1}" presName="theInnerList" presStyleCnt="0"/>
      <dgm:spPr/>
    </dgm:pt>
    <dgm:pt modelId="{332FF867-5FFB-469C-995E-0CBE678B8048}" type="pres">
      <dgm:prSet presAssocID="{E5137407-CC18-4373-B384-F7A66AF869B6}" presName="childNode" presStyleLbl="node1" presStyleIdx="0" presStyleCnt="3" custScaleY="70691">
        <dgm:presLayoutVars>
          <dgm:bulletEnabled val="1"/>
        </dgm:presLayoutVars>
      </dgm:prSet>
      <dgm:spPr/>
    </dgm:pt>
    <dgm:pt modelId="{A9B3C3CC-83A5-44FD-8337-23960E5C80F6}" type="pres">
      <dgm:prSet presAssocID="{91212D5D-B364-44BA-9771-63E526DCA0A1}" presName="aSpace" presStyleCnt="0"/>
      <dgm:spPr/>
    </dgm:pt>
    <dgm:pt modelId="{51288686-012E-497C-AA23-CFA1CCA57442}" type="pres">
      <dgm:prSet presAssocID="{AB389A4B-81CD-47F4-AC53-77C6CCDA77CA}" presName="compNode" presStyleCnt="0"/>
      <dgm:spPr/>
    </dgm:pt>
    <dgm:pt modelId="{D876CD57-D8B0-4B1D-8A27-4B504FE0CFD4}" type="pres">
      <dgm:prSet presAssocID="{AB389A4B-81CD-47F4-AC53-77C6CCDA77CA}" presName="aNode" presStyleLbl="bgShp" presStyleIdx="1" presStyleCnt="3"/>
      <dgm:spPr/>
    </dgm:pt>
    <dgm:pt modelId="{753AE736-51A9-4ACF-85CA-A535BD91B08A}" type="pres">
      <dgm:prSet presAssocID="{AB389A4B-81CD-47F4-AC53-77C6CCDA77CA}" presName="textNode" presStyleLbl="bgShp" presStyleIdx="1" presStyleCnt="3"/>
      <dgm:spPr/>
    </dgm:pt>
    <dgm:pt modelId="{2037BDEE-75EB-46C8-AD3A-65B225526994}" type="pres">
      <dgm:prSet presAssocID="{AB389A4B-81CD-47F4-AC53-77C6CCDA77CA}" presName="compChildNode" presStyleCnt="0"/>
      <dgm:spPr/>
    </dgm:pt>
    <dgm:pt modelId="{051F6D2A-97B8-4664-A450-ADDEC308F567}" type="pres">
      <dgm:prSet presAssocID="{AB389A4B-81CD-47F4-AC53-77C6CCDA77CA}" presName="theInnerList" presStyleCnt="0"/>
      <dgm:spPr/>
    </dgm:pt>
    <dgm:pt modelId="{212315B0-941C-424E-9FB8-A723AE83E221}" type="pres">
      <dgm:prSet presAssocID="{5DFF8D2C-FF16-4189-959A-DA8AF237818F}" presName="childNode" presStyleLbl="node1" presStyleIdx="1" presStyleCnt="3" custScaleY="70691">
        <dgm:presLayoutVars>
          <dgm:bulletEnabled val="1"/>
        </dgm:presLayoutVars>
      </dgm:prSet>
      <dgm:spPr/>
    </dgm:pt>
    <dgm:pt modelId="{A06D310C-D4D5-42FB-BF30-8EB821EF41B8}" type="pres">
      <dgm:prSet presAssocID="{AB389A4B-81CD-47F4-AC53-77C6CCDA77CA}" presName="aSpace" presStyleCnt="0"/>
      <dgm:spPr/>
    </dgm:pt>
    <dgm:pt modelId="{72FABE35-4F33-4B5B-B72B-CE129740AEE7}" type="pres">
      <dgm:prSet presAssocID="{D947A9E2-2E97-41F2-A0A4-BF4BF3FB2559}" presName="compNode" presStyleCnt="0"/>
      <dgm:spPr/>
    </dgm:pt>
    <dgm:pt modelId="{3D118472-EB36-44B0-9CAB-89E96EDD8635}" type="pres">
      <dgm:prSet presAssocID="{D947A9E2-2E97-41F2-A0A4-BF4BF3FB2559}" presName="aNode" presStyleLbl="bgShp" presStyleIdx="2" presStyleCnt="3"/>
      <dgm:spPr/>
    </dgm:pt>
    <dgm:pt modelId="{D4961126-1C1B-4F88-A93F-D46D2428CFA2}" type="pres">
      <dgm:prSet presAssocID="{D947A9E2-2E97-41F2-A0A4-BF4BF3FB2559}" presName="textNode" presStyleLbl="bgShp" presStyleIdx="2" presStyleCnt="3"/>
      <dgm:spPr/>
    </dgm:pt>
    <dgm:pt modelId="{5B693B72-B78F-4290-A233-520D95F4748A}" type="pres">
      <dgm:prSet presAssocID="{D947A9E2-2E97-41F2-A0A4-BF4BF3FB2559}" presName="compChildNode" presStyleCnt="0"/>
      <dgm:spPr/>
    </dgm:pt>
    <dgm:pt modelId="{3DB0FDFE-0615-4995-85DF-314DBB0DEE15}" type="pres">
      <dgm:prSet presAssocID="{D947A9E2-2E97-41F2-A0A4-BF4BF3FB2559}" presName="theInnerList" presStyleCnt="0"/>
      <dgm:spPr/>
    </dgm:pt>
    <dgm:pt modelId="{522A87F0-0F3E-418E-844F-50D37BC18AE4}" type="pres">
      <dgm:prSet presAssocID="{1D647303-1950-49A3-B3E3-511B5EAB22C1}" presName="childNode" presStyleLbl="node1" presStyleIdx="2" presStyleCnt="3" custScaleY="70691">
        <dgm:presLayoutVars>
          <dgm:bulletEnabled val="1"/>
        </dgm:presLayoutVars>
      </dgm:prSet>
      <dgm:spPr/>
    </dgm:pt>
  </dgm:ptLst>
  <dgm:cxnLst>
    <dgm:cxn modelId="{94D40702-587D-4465-BCBA-552514180BBE}" type="presOf" srcId="{E38B8181-43EA-4C6C-8C7F-7942035F0720}" destId="{B8929512-66CE-4E69-82E8-652F86CC7F13}" srcOrd="0" destOrd="0" presId="urn:microsoft.com/office/officeart/2005/8/layout/lProcess2"/>
    <dgm:cxn modelId="{8F245E04-8DF9-4548-92D1-3655024527CF}" type="presOf" srcId="{D947A9E2-2E97-41F2-A0A4-BF4BF3FB2559}" destId="{D4961126-1C1B-4F88-A93F-D46D2428CFA2}" srcOrd="1" destOrd="0" presId="urn:microsoft.com/office/officeart/2005/8/layout/lProcess2"/>
    <dgm:cxn modelId="{7A5F6A19-7DAC-460E-BBA6-B384A077D6FF}" type="presOf" srcId="{1D647303-1950-49A3-B3E3-511B5EAB22C1}" destId="{522A87F0-0F3E-418E-844F-50D37BC18AE4}" srcOrd="0" destOrd="0" presId="urn:microsoft.com/office/officeart/2005/8/layout/lProcess2"/>
    <dgm:cxn modelId="{299ABB28-1B39-4096-812E-C6AA0CDDD8DA}" type="presOf" srcId="{AB389A4B-81CD-47F4-AC53-77C6CCDA77CA}" destId="{D876CD57-D8B0-4B1D-8A27-4B504FE0CFD4}" srcOrd="0" destOrd="0" presId="urn:microsoft.com/office/officeart/2005/8/layout/lProcess2"/>
    <dgm:cxn modelId="{C1AEFF4B-406F-4617-A89D-BA61E379F596}" srcId="{E38B8181-43EA-4C6C-8C7F-7942035F0720}" destId="{AB389A4B-81CD-47F4-AC53-77C6CCDA77CA}" srcOrd="1" destOrd="0" parTransId="{1957A227-B175-4033-8F1D-F1C3A49DEBE5}" sibTransId="{BFD4BD52-26B4-4D78-A8D4-0D5AE83B8561}"/>
    <dgm:cxn modelId="{A32FD154-FA1F-42EC-A904-99D643BC5003}" type="presOf" srcId="{E5137407-CC18-4373-B384-F7A66AF869B6}" destId="{332FF867-5FFB-469C-995E-0CBE678B8048}" srcOrd="0" destOrd="0" presId="urn:microsoft.com/office/officeart/2005/8/layout/lProcess2"/>
    <dgm:cxn modelId="{5191207E-417E-46C7-B34A-8DDB7C623194}" type="presOf" srcId="{5DFF8D2C-FF16-4189-959A-DA8AF237818F}" destId="{212315B0-941C-424E-9FB8-A723AE83E221}" srcOrd="0" destOrd="0" presId="urn:microsoft.com/office/officeart/2005/8/layout/lProcess2"/>
    <dgm:cxn modelId="{46AA8580-CB6C-47DD-A72E-6CB4DBC796AE}" type="presOf" srcId="{D947A9E2-2E97-41F2-A0A4-BF4BF3FB2559}" destId="{3D118472-EB36-44B0-9CAB-89E96EDD8635}" srcOrd="0" destOrd="0" presId="urn:microsoft.com/office/officeart/2005/8/layout/lProcess2"/>
    <dgm:cxn modelId="{5523898E-814B-4613-82CF-8AC3888E263E}" srcId="{AB389A4B-81CD-47F4-AC53-77C6CCDA77CA}" destId="{5DFF8D2C-FF16-4189-959A-DA8AF237818F}" srcOrd="0" destOrd="0" parTransId="{E4367BA8-3CA9-4C87-B29D-AC36939C7927}" sibTransId="{B5808FB2-8ED5-48B7-94C9-85E33B53CEFA}"/>
    <dgm:cxn modelId="{A75A9195-F7D7-468F-9696-A77A26B18F76}" type="presOf" srcId="{AB389A4B-81CD-47F4-AC53-77C6CCDA77CA}" destId="{753AE736-51A9-4ACF-85CA-A535BD91B08A}" srcOrd="1" destOrd="0" presId="urn:microsoft.com/office/officeart/2005/8/layout/lProcess2"/>
    <dgm:cxn modelId="{209C9C9E-C3F8-4D27-8697-A6FB0C80B67F}" type="presOf" srcId="{91212D5D-B364-44BA-9771-63E526DCA0A1}" destId="{EE092F6B-38EB-47CC-973C-37F9D2288AA3}" srcOrd="1" destOrd="0" presId="urn:microsoft.com/office/officeart/2005/8/layout/lProcess2"/>
    <dgm:cxn modelId="{1D029AA6-958D-47DB-9F92-AA3342059FCC}" type="presOf" srcId="{91212D5D-B364-44BA-9771-63E526DCA0A1}" destId="{A122FDB8-4E52-4F24-924C-55B39B5EEF83}" srcOrd="0" destOrd="0" presId="urn:microsoft.com/office/officeart/2005/8/layout/lProcess2"/>
    <dgm:cxn modelId="{0485C7B9-46CA-4C0E-96B3-8FFF5F37DD6A}" srcId="{E38B8181-43EA-4C6C-8C7F-7942035F0720}" destId="{91212D5D-B364-44BA-9771-63E526DCA0A1}" srcOrd="0" destOrd="0" parTransId="{FC78DAE6-83E5-4BC1-AC49-428A15180E75}" sibTransId="{D781E287-DBE3-4186-9876-37AE3B390319}"/>
    <dgm:cxn modelId="{8FE87FC7-AC18-4165-B440-4AA7AC67A8D9}" srcId="{E38B8181-43EA-4C6C-8C7F-7942035F0720}" destId="{D947A9E2-2E97-41F2-A0A4-BF4BF3FB2559}" srcOrd="2" destOrd="0" parTransId="{F31CB54F-5BC7-406C-A91B-50C08608D24C}" sibTransId="{45F2920D-B956-4AA8-9189-A759A3BF2F00}"/>
    <dgm:cxn modelId="{AD0029D9-5E4E-4AD7-A0EC-A4368455A356}" srcId="{91212D5D-B364-44BA-9771-63E526DCA0A1}" destId="{E5137407-CC18-4373-B384-F7A66AF869B6}" srcOrd="0" destOrd="0" parTransId="{F5863376-7605-42DC-B58D-060041DC79FF}" sibTransId="{504827BD-EDE8-4FEA-B41A-5C51374DAF4F}"/>
    <dgm:cxn modelId="{201120F7-9B21-4830-87D4-34EE8C2CC62D}" srcId="{D947A9E2-2E97-41F2-A0A4-BF4BF3FB2559}" destId="{1D647303-1950-49A3-B3E3-511B5EAB22C1}" srcOrd="0" destOrd="0" parTransId="{D66D6EFC-F33F-49A7-81CA-B602591CF869}" sibTransId="{85CCCEDD-0FA1-4E6A-8302-32155D37CF8E}"/>
    <dgm:cxn modelId="{08E6926F-999E-4517-BB1A-F96A0310265E}" type="presParOf" srcId="{B8929512-66CE-4E69-82E8-652F86CC7F13}" destId="{8AD1CDE0-660F-41C6-A232-AB49A944F4B1}" srcOrd="0" destOrd="0" presId="urn:microsoft.com/office/officeart/2005/8/layout/lProcess2"/>
    <dgm:cxn modelId="{CE9A049D-E141-4083-9323-2C683065397A}" type="presParOf" srcId="{8AD1CDE0-660F-41C6-A232-AB49A944F4B1}" destId="{A122FDB8-4E52-4F24-924C-55B39B5EEF83}" srcOrd="0" destOrd="0" presId="urn:microsoft.com/office/officeart/2005/8/layout/lProcess2"/>
    <dgm:cxn modelId="{C0BB5914-70D5-4110-8C04-9D450E2EDFE8}" type="presParOf" srcId="{8AD1CDE0-660F-41C6-A232-AB49A944F4B1}" destId="{EE092F6B-38EB-47CC-973C-37F9D2288AA3}" srcOrd="1" destOrd="0" presId="urn:microsoft.com/office/officeart/2005/8/layout/lProcess2"/>
    <dgm:cxn modelId="{05DBDA82-E4F4-4AB8-A1EB-7EC172ABBE02}" type="presParOf" srcId="{8AD1CDE0-660F-41C6-A232-AB49A944F4B1}" destId="{0448C864-2F82-4625-BA73-B4FC84AC036D}" srcOrd="2" destOrd="0" presId="urn:microsoft.com/office/officeart/2005/8/layout/lProcess2"/>
    <dgm:cxn modelId="{28C03247-E7BF-4132-B9B5-AA28D4CE75CE}" type="presParOf" srcId="{0448C864-2F82-4625-BA73-B4FC84AC036D}" destId="{28883B9D-21D9-4368-977E-4B0BD2C2A37C}" srcOrd="0" destOrd="0" presId="urn:microsoft.com/office/officeart/2005/8/layout/lProcess2"/>
    <dgm:cxn modelId="{4C34A2E8-D3DD-48CD-96F1-BD14E8265A75}" type="presParOf" srcId="{28883B9D-21D9-4368-977E-4B0BD2C2A37C}" destId="{332FF867-5FFB-469C-995E-0CBE678B8048}" srcOrd="0" destOrd="0" presId="urn:microsoft.com/office/officeart/2005/8/layout/lProcess2"/>
    <dgm:cxn modelId="{250EF62A-AEFF-40E0-A39A-E8780120EB6A}" type="presParOf" srcId="{B8929512-66CE-4E69-82E8-652F86CC7F13}" destId="{A9B3C3CC-83A5-44FD-8337-23960E5C80F6}" srcOrd="1" destOrd="0" presId="urn:microsoft.com/office/officeart/2005/8/layout/lProcess2"/>
    <dgm:cxn modelId="{6C4A4D70-C1C2-4D21-8A99-B71DCD27BB33}" type="presParOf" srcId="{B8929512-66CE-4E69-82E8-652F86CC7F13}" destId="{51288686-012E-497C-AA23-CFA1CCA57442}" srcOrd="2" destOrd="0" presId="urn:microsoft.com/office/officeart/2005/8/layout/lProcess2"/>
    <dgm:cxn modelId="{E09CE3DD-1A3E-4D7A-8D02-75EDE870DD29}" type="presParOf" srcId="{51288686-012E-497C-AA23-CFA1CCA57442}" destId="{D876CD57-D8B0-4B1D-8A27-4B504FE0CFD4}" srcOrd="0" destOrd="0" presId="urn:microsoft.com/office/officeart/2005/8/layout/lProcess2"/>
    <dgm:cxn modelId="{74F7B8D7-D1E3-4561-93EF-FF9712C205DD}" type="presParOf" srcId="{51288686-012E-497C-AA23-CFA1CCA57442}" destId="{753AE736-51A9-4ACF-85CA-A535BD91B08A}" srcOrd="1" destOrd="0" presId="urn:microsoft.com/office/officeart/2005/8/layout/lProcess2"/>
    <dgm:cxn modelId="{56898C8E-CBB4-464E-A05A-A938E6EF7C6F}" type="presParOf" srcId="{51288686-012E-497C-AA23-CFA1CCA57442}" destId="{2037BDEE-75EB-46C8-AD3A-65B225526994}" srcOrd="2" destOrd="0" presId="urn:microsoft.com/office/officeart/2005/8/layout/lProcess2"/>
    <dgm:cxn modelId="{7474C88F-B077-4E52-9389-DB71FE1EE583}" type="presParOf" srcId="{2037BDEE-75EB-46C8-AD3A-65B225526994}" destId="{051F6D2A-97B8-4664-A450-ADDEC308F567}" srcOrd="0" destOrd="0" presId="urn:microsoft.com/office/officeart/2005/8/layout/lProcess2"/>
    <dgm:cxn modelId="{D51C9842-0333-42F3-B1B8-70BB34EF5298}" type="presParOf" srcId="{051F6D2A-97B8-4664-A450-ADDEC308F567}" destId="{212315B0-941C-424E-9FB8-A723AE83E221}" srcOrd="0" destOrd="0" presId="urn:microsoft.com/office/officeart/2005/8/layout/lProcess2"/>
    <dgm:cxn modelId="{D41932D7-DB46-4904-88C2-4968B0EE258B}" type="presParOf" srcId="{B8929512-66CE-4E69-82E8-652F86CC7F13}" destId="{A06D310C-D4D5-42FB-BF30-8EB821EF41B8}" srcOrd="3" destOrd="0" presId="urn:microsoft.com/office/officeart/2005/8/layout/lProcess2"/>
    <dgm:cxn modelId="{AC37D594-B731-481B-B6FC-DF8BB7CC3EEF}" type="presParOf" srcId="{B8929512-66CE-4E69-82E8-652F86CC7F13}" destId="{72FABE35-4F33-4B5B-B72B-CE129740AEE7}" srcOrd="4" destOrd="0" presId="urn:microsoft.com/office/officeart/2005/8/layout/lProcess2"/>
    <dgm:cxn modelId="{20205CCD-3134-441A-BEAF-7C5A6E3D5EC9}" type="presParOf" srcId="{72FABE35-4F33-4B5B-B72B-CE129740AEE7}" destId="{3D118472-EB36-44B0-9CAB-89E96EDD8635}" srcOrd="0" destOrd="0" presId="urn:microsoft.com/office/officeart/2005/8/layout/lProcess2"/>
    <dgm:cxn modelId="{BCB07279-88EC-40FB-BCB3-BF071DDA10B8}" type="presParOf" srcId="{72FABE35-4F33-4B5B-B72B-CE129740AEE7}" destId="{D4961126-1C1B-4F88-A93F-D46D2428CFA2}" srcOrd="1" destOrd="0" presId="urn:microsoft.com/office/officeart/2005/8/layout/lProcess2"/>
    <dgm:cxn modelId="{134B4711-562A-4E32-92F8-7638FD2C4840}" type="presParOf" srcId="{72FABE35-4F33-4B5B-B72B-CE129740AEE7}" destId="{5B693B72-B78F-4290-A233-520D95F4748A}" srcOrd="2" destOrd="0" presId="urn:microsoft.com/office/officeart/2005/8/layout/lProcess2"/>
    <dgm:cxn modelId="{5A6E1D6A-410F-44A8-8D1F-830954F79DCD}" type="presParOf" srcId="{5B693B72-B78F-4290-A233-520D95F4748A}" destId="{3DB0FDFE-0615-4995-85DF-314DBB0DEE15}" srcOrd="0" destOrd="0" presId="urn:microsoft.com/office/officeart/2005/8/layout/lProcess2"/>
    <dgm:cxn modelId="{EC0504A7-74B3-4A45-A806-56DC9387496F}" type="presParOf" srcId="{3DB0FDFE-0615-4995-85DF-314DBB0DEE15}" destId="{522A87F0-0F3E-418E-844F-50D37BC18AE4}" srcOrd="0" destOrd="0" presId="urn:microsoft.com/office/officeart/2005/8/layout/lProcess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122FDB8-4E52-4F24-924C-55B39B5EEF83}">
      <dsp:nvSpPr>
        <dsp:cNvPr id="0" name=""/>
        <dsp:cNvSpPr/>
      </dsp:nvSpPr>
      <dsp:spPr>
        <a:xfrm>
          <a:off x="964" y="0"/>
          <a:ext cx="2507184" cy="3133914"/>
        </a:xfrm>
        <a:prstGeom prst="roundRect">
          <a:avLst>
            <a:gd name="adj" fmla="val 10000"/>
          </a:avLst>
        </a:prstGeom>
        <a:solidFill>
          <a:schemeClr val="dk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800" kern="1200" dirty="0">
              <a:latin typeface="Arial Black" panose="020B0A04020102020204" pitchFamily="34" charset="0"/>
            </a:rPr>
            <a:t>50M</a:t>
          </a:r>
          <a:endParaRPr lang="fr-FR" sz="5400" kern="1200" dirty="0">
            <a:latin typeface="Arial Black" panose="020B0A04020102020204" pitchFamily="34" charset="0"/>
          </a:endParaRPr>
        </a:p>
      </dsp:txBody>
      <dsp:txXfrm>
        <a:off x="964" y="0"/>
        <a:ext cx="2507184" cy="940174"/>
      </dsp:txXfrm>
    </dsp:sp>
    <dsp:sp modelId="{332FF867-5FFB-469C-995E-0CBE678B8048}">
      <dsp:nvSpPr>
        <dsp:cNvPr id="0" name=""/>
        <dsp:cNvSpPr/>
      </dsp:nvSpPr>
      <dsp:spPr>
        <a:xfrm>
          <a:off x="251682" y="1238692"/>
          <a:ext cx="2005747" cy="1440006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4290" rIns="4572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Nombre de guitare estimé dans le monde</a:t>
          </a:r>
        </a:p>
      </dsp:txBody>
      <dsp:txXfrm>
        <a:off x="293858" y="1280868"/>
        <a:ext cx="1921395" cy="1355654"/>
      </dsp:txXfrm>
    </dsp:sp>
    <dsp:sp modelId="{D876CD57-D8B0-4B1D-8A27-4B504FE0CFD4}">
      <dsp:nvSpPr>
        <dsp:cNvPr id="0" name=""/>
        <dsp:cNvSpPr/>
      </dsp:nvSpPr>
      <dsp:spPr>
        <a:xfrm>
          <a:off x="2696188" y="0"/>
          <a:ext cx="2507184" cy="3133914"/>
        </a:xfrm>
        <a:prstGeom prst="roundRect">
          <a:avLst>
            <a:gd name="adj" fmla="val 10000"/>
          </a:avLst>
        </a:prstGeom>
        <a:solidFill>
          <a:schemeClr val="dk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800" kern="1200" dirty="0">
              <a:latin typeface="Arial Black" panose="020B0A04020102020204" pitchFamily="34" charset="0"/>
            </a:rPr>
            <a:t>10,3B</a:t>
          </a:r>
        </a:p>
      </dsp:txBody>
      <dsp:txXfrm>
        <a:off x="2696188" y="0"/>
        <a:ext cx="2507184" cy="940174"/>
      </dsp:txXfrm>
    </dsp:sp>
    <dsp:sp modelId="{212315B0-941C-424E-9FB8-A723AE83E221}">
      <dsp:nvSpPr>
        <dsp:cNvPr id="0" name=""/>
        <dsp:cNvSpPr/>
      </dsp:nvSpPr>
      <dsp:spPr>
        <a:xfrm>
          <a:off x="2946906" y="1238692"/>
          <a:ext cx="2005747" cy="1440006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4290" rIns="4572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Valeur du marché de la guitare en 2024</a:t>
          </a:r>
        </a:p>
      </dsp:txBody>
      <dsp:txXfrm>
        <a:off x="2989082" y="1280868"/>
        <a:ext cx="1921395" cy="1355654"/>
      </dsp:txXfrm>
    </dsp:sp>
    <dsp:sp modelId="{3D118472-EB36-44B0-9CAB-89E96EDD8635}">
      <dsp:nvSpPr>
        <dsp:cNvPr id="0" name=""/>
        <dsp:cNvSpPr/>
      </dsp:nvSpPr>
      <dsp:spPr>
        <a:xfrm>
          <a:off x="5391411" y="0"/>
          <a:ext cx="2507184" cy="3133914"/>
        </a:xfrm>
        <a:prstGeom prst="roundRect">
          <a:avLst>
            <a:gd name="adj" fmla="val 10000"/>
          </a:avLst>
        </a:prstGeom>
        <a:solidFill>
          <a:schemeClr val="dk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800" kern="1200" dirty="0">
              <a:latin typeface="Arial Black" panose="020B0A04020102020204" pitchFamily="34" charset="0"/>
            </a:rPr>
            <a:t>48%</a:t>
          </a:r>
        </a:p>
      </dsp:txBody>
      <dsp:txXfrm>
        <a:off x="5391411" y="0"/>
        <a:ext cx="2507184" cy="940174"/>
      </dsp:txXfrm>
    </dsp:sp>
    <dsp:sp modelId="{522A87F0-0F3E-418E-844F-50D37BC18AE4}">
      <dsp:nvSpPr>
        <dsp:cNvPr id="0" name=""/>
        <dsp:cNvSpPr/>
      </dsp:nvSpPr>
      <dsp:spPr>
        <a:xfrm>
          <a:off x="5642130" y="1238692"/>
          <a:ext cx="2005747" cy="1440006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4290" rIns="4572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Part de marché des guitares électriques </a:t>
          </a:r>
        </a:p>
      </dsp:txBody>
      <dsp:txXfrm>
        <a:off x="5684306" y="1280868"/>
        <a:ext cx="1921395" cy="135565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Process2">
  <dgm:title val=""/>
  <dgm:desc val=""/>
  <dgm:catLst>
    <dgm:cat type="list" pri="10000"/>
    <dgm:cat type="relationship" pri="13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h"/>
      <dgm:constr type="w" for="ch" forName="aSpace" refType="w" fact="0.075"/>
      <dgm:constr type="h" for="des" forName="aSpace2" refType="h" fact="0.1"/>
      <dgm:constr type="primFontSz" for="des" forName="textNode" op="equ"/>
      <dgm:constr type="primFontSz" for="des" forName="childNode" op="equ"/>
    </dgm:constrLst>
    <dgm:ruleLst/>
    <dgm:forEach name="aNodeForEach" axis="ch" ptType="node">
      <dgm:layoutNode name="compNode">
        <dgm:alg type="composite"/>
        <dgm:shape xmlns:r="http://schemas.openxmlformats.org/officeDocument/2006/relationships" r:blip="">
          <dgm:adjLst/>
        </dgm:shape>
        <dgm:presOf/>
        <dgm:constrLst>
          <dgm:constr type="w" for="ch" forName="aNode" refType="w"/>
          <dgm:constr type="h" for="ch" forName="aNode" refType="h"/>
          <dgm:constr type="w" for="ch" forName="textNode" refType="w"/>
          <dgm:constr type="h" for="ch" forName="textNode" refType="h" fact="0.3"/>
          <dgm:constr type="ctrX" for="ch" forName="textNode" refType="w" fact="0.5"/>
          <dgm:constr type="w" for="ch" forName="compChildNode" refType="w" fact="0.8"/>
          <dgm:constr type="h" for="ch" forName="compChildNode" refType="h" fact="0.65"/>
          <dgm:constr type="t" for="ch" forName="compChildNode" refType="h" fact="0.3"/>
          <dgm:constr type="ctrX" for="ch" forName="compChildNode" refType="w" fact="0.5"/>
        </dgm:constrLst>
        <dgm:ruleLst/>
        <dgm:layoutNode name="aNode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/>
          <dgm:ruleLst/>
        </dgm:layoutNode>
        <dgm:layoutNode name="textNode" styleLbl="bgShp">
          <dgm:alg type="tx"/>
          <dgm:shape xmlns:r="http://schemas.openxmlformats.org/officeDocument/2006/relationships" type="rect" r:blip="" hideGeom="1">
            <dgm:adjLst>
              <dgm:adj idx="1" val="0.1"/>
            </dgm:adjLst>
          </dgm:shape>
          <dgm:presOf axis="self"/>
          <dgm:constrLst>
            <dgm:constr type="primFontSz" val="65"/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compChildNode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w" for="des" forName="childNode" refType="w"/>
            <dgm:constr type="h" for="des" forName="childNode" refType="h"/>
          </dgm:constrLst>
          <dgm:ruleLst/>
          <dgm:layoutNode name="theInnerList">
            <dgm:alg type="lin"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childNodeForEach" axis="ch" ptType="node">
              <dgm:layoutNode name="childNode" styleLbl="node1">
                <dgm:varLst>
                  <dgm:bulletEnabled val="1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desOrSelf" ptType="node"/>
                <dgm:constrLst>
                  <dgm:constr type="primFontSz" val="65"/>
                  <dgm:constr type="tMarg" refType="primFontSz" fact="0.15"/>
                  <dgm:constr type="bMarg" refType="primFontSz" fact="0.15"/>
                  <dgm:constr type="lMarg" refType="primFontSz" fact="0.2"/>
                  <dgm:constr type="rMarg" refType="primFontSz" fact="0.2"/>
                </dgm:constrLst>
                <dgm:ruleLst>
                  <dgm:rule type="primFontSz" val="5" fact="NaN" max="NaN"/>
                </dgm:ruleLst>
              </dgm:layoutNode>
              <dgm:choose name="Name3">
                <dgm:if name="Name4" axis="self" ptType="node" func="revPos" op="equ" val="1"/>
                <dgm:else name="Name5">
                  <dgm:layoutNode name="aSpace2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else>
              </dgm:choose>
            </dgm:forEach>
          </dgm:layoutNode>
        </dgm:layoutNode>
      </dgm:layoutNode>
      <dgm:choose name="Name6">
        <dgm:if name="Name7" axis="self" ptType="node" func="revPos" op="equ" val="1"/>
        <dgm:else name="Name8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E8646E-8D3C-430C-BFA9-96BAF70313EA}" type="datetimeFigureOut">
              <a:rPr lang="fr-FR" smtClean="0"/>
              <a:t>09/03/2026</a:t>
            </a:fld>
            <a:endParaRPr lang="fr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29F9D8-59C4-4910-A7AD-28D3BB517C72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158940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125472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E376C9-2125-A9B2-8374-6EE283455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6BEBB7-C6A9-F035-C798-5E939F3A41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AD1DC4-D857-6ABF-3DDC-E4E7A09225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Micro assimilé filtre coupe bande </a:t>
            </a:r>
            <a:r>
              <a:rPr lang="fr-FR" dirty="0" err="1"/>
              <a:t>fc</a:t>
            </a:r>
            <a:r>
              <a:rPr lang="fr-FR" dirty="0"/>
              <a:t> environ 4800Hz. MAIS plus la résistance de l’ampli </a:t>
            </a:r>
            <a:r>
              <a:rPr lang="fr-FR" dirty="0" err="1"/>
              <a:t>Ramp</a:t>
            </a:r>
            <a:r>
              <a:rPr lang="fr-FR" dirty="0"/>
              <a:t> est grande, plus la perte est négligeable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1B737E-2622-AA4F-316B-3548DE8623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726285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D5DC8-F1D2-F48F-5144-29C93AD3FE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93ED31-35E2-A213-E2DC-4297676221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80960C-93AA-3EA5-8A9A-E9404EC97A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Micro assimilé filtre coupe bande </a:t>
            </a:r>
            <a:r>
              <a:rPr lang="fr-FR" dirty="0" err="1"/>
              <a:t>fc</a:t>
            </a:r>
            <a:r>
              <a:rPr lang="fr-FR" dirty="0"/>
              <a:t> environ 4800Hz. MAIS plus la résistance de l’ampli </a:t>
            </a:r>
            <a:r>
              <a:rPr lang="fr-FR" dirty="0" err="1"/>
              <a:t>Ramp</a:t>
            </a:r>
            <a:r>
              <a:rPr lang="fr-FR" dirty="0"/>
              <a:t> est grande, plus la perte est négligeable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EC1EA0-8E19-54B2-AF8F-8662106079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800956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8FF5D8-B5ED-3A5C-25AA-355EA5002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BB50A7-9125-FF61-C35A-0BAAB77874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5A70C6-EF27-F3BA-F99C-2D1A0396CC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95F1CD-8CD2-A36F-E4D6-6DC1E0CE9B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511832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65F695-4E49-870A-29E7-C511751B66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D64BC5-1BB3-FFE7-EC85-E200E94427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5F961D-1039-9AE2-52D5-0A1669232B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210549-939F-B010-DB99-3739C13F25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196906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B9C0FC-4B23-C77D-909C-EB608CE56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D2F030-0C12-3582-3DB2-9E259F5301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7B7B4B-AE32-9530-A187-40C0045B6D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30C1BB-4E2B-DE55-18E9-70B9A677F0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313867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1 : Equation de mouvement de la corde</a:t>
            </a:r>
          </a:p>
          <a:p>
            <a:r>
              <a:rPr lang="fr-FR" dirty="0"/>
              <a:t>2 : Idée Maquette</a:t>
            </a:r>
          </a:p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3356196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94188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2960" y="758952"/>
            <a:ext cx="75438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5038" y="4455621"/>
            <a:ext cx="75438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96889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522484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758952"/>
            <a:ext cx="75438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4453128"/>
            <a:ext cx="75438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00188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2960" y="1845734"/>
            <a:ext cx="370332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63440" y="1845736"/>
            <a:ext cx="3703320" cy="40233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697287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296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6344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6344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57571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33231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6" name="Rectangle 5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fr-FR"/>
              <a:t>TIPE 39662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910952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3" y="0"/>
            <a:ext cx="3038093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3030053" y="0"/>
            <a:ext cx="4800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594359"/>
            <a:ext cx="24003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60237" y="731520"/>
            <a:ext cx="5009393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2926080"/>
            <a:ext cx="24003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49134" y="6459786"/>
            <a:ext cx="1963883" cy="365125"/>
          </a:xfrm>
        </p:spPr>
        <p:txBody>
          <a:bodyPr/>
          <a:lstStyle>
            <a:lvl1pPr algn="l">
              <a:defRPr/>
            </a:lvl1pPr>
          </a:lstStyle>
          <a:p>
            <a:r>
              <a:rPr lang="fr-FR"/>
              <a:t>2026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600450" y="6459786"/>
            <a:ext cx="348615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r>
              <a:rPr lang="fr-FR"/>
              <a:t>TIPE 39662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42983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9141619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12" y="491507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074920"/>
            <a:ext cx="7589520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" y="0"/>
            <a:ext cx="9143989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2959" y="5907024"/>
            <a:ext cx="7589520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155730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213228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414779"/>
            <a:ext cx="1971675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414779"/>
            <a:ext cx="5800725" cy="5757420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652258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6400800"/>
            <a:ext cx="9144001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0" y="6334315"/>
            <a:ext cx="9144001" cy="659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59" y="1845734"/>
            <a:ext cx="7543801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2961" y="6459786"/>
            <a:ext cx="18542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64639" y="6459786"/>
            <a:ext cx="36171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r>
              <a:rPr lang="fr-FR"/>
              <a:t>TIPE 39662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425344" y="6459786"/>
            <a:ext cx="9840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10" name="Straight Connector 9"/>
          <p:cNvCxnSpPr/>
          <p:nvPr/>
        </p:nvCxnSpPr>
        <p:spPr>
          <a:xfrm>
            <a:off x="895149" y="1737845"/>
            <a:ext cx="74752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7912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3" r:id="rId6"/>
    <p:sldLayoutId id="2147483714" r:id="rId7"/>
    <p:sldLayoutId id="2147483715" r:id="rId8"/>
    <p:sldLayoutId id="2147483716" r:id="rId9"/>
    <p:sldLayoutId id="2147483717" r:id="rId10"/>
    <p:sldLayoutId id="2147483718" r:id="rId11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svg"/><Relationship Id="rId3" Type="http://schemas.openxmlformats.org/officeDocument/2006/relationships/diagramLayout" Target="../diagrams/layout1.xml"/><Relationship Id="rId7" Type="http://schemas.openxmlformats.org/officeDocument/2006/relationships/image" Target="../media/image3.png"/><Relationship Id="rId12" Type="http://schemas.openxmlformats.org/officeDocument/2006/relationships/image" Target="../media/image8.sv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11" Type="http://schemas.openxmlformats.org/officeDocument/2006/relationships/image" Target="../media/image7.png"/><Relationship Id="rId5" Type="http://schemas.openxmlformats.org/officeDocument/2006/relationships/diagramColors" Target="../diagrams/colors1.xml"/><Relationship Id="rId10" Type="http://schemas.openxmlformats.org/officeDocument/2006/relationships/image" Target="../media/image6.sv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9.png"/><Relationship Id="rId4" Type="http://schemas.microsoft.com/office/2007/relationships/hdphoto" Target="../media/hdphoto1.wdp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1.png"/><Relationship Id="rId3" Type="http://schemas.microsoft.com/office/2007/relationships/hdphoto" Target="../media/hdphoto2.wdp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Relationship Id="rId11" Type="http://schemas.openxmlformats.org/officeDocument/2006/relationships/image" Target="../media/image25.png"/><Relationship Id="rId10" Type="http://schemas.openxmlformats.org/officeDocument/2006/relationships/image" Target="../media/image24.png"/><Relationship Id="rId9" Type="http://schemas.openxmlformats.org/officeDocument/2006/relationships/image" Target="../media/image29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8.png"/><Relationship Id="rId4" Type="http://schemas.microsoft.com/office/2007/relationships/hdphoto" Target="../media/hdphoto3.wdp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13" Type="http://schemas.microsoft.com/office/2007/relationships/hdphoto" Target="../media/hdphoto4.wdp"/><Relationship Id="rId3" Type="http://schemas.openxmlformats.org/officeDocument/2006/relationships/image" Target="../media/image282.png"/><Relationship Id="rId7" Type="http://schemas.openxmlformats.org/officeDocument/2006/relationships/image" Target="../media/image39.png"/><Relationship Id="rId12" Type="http://schemas.openxmlformats.org/officeDocument/2006/relationships/image" Target="../media/image3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11" Type="http://schemas.openxmlformats.org/officeDocument/2006/relationships/image" Target="../media/image16.png"/><Relationship Id="rId10" Type="http://schemas.openxmlformats.org/officeDocument/2006/relationships/image" Target="../media/image15.png"/><Relationship Id="rId4" Type="http://schemas.openxmlformats.org/officeDocument/2006/relationships/image" Target="../media/image33.png"/><Relationship Id="rId9" Type="http://schemas.openxmlformats.org/officeDocument/2006/relationships/image" Target="../media/image41.png"/><Relationship Id="rId14" Type="http://schemas.openxmlformats.org/officeDocument/2006/relationships/image" Target="../media/image35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5.jpeg"/><Relationship Id="rId4" Type="http://schemas.openxmlformats.org/officeDocument/2006/relationships/image" Target="../media/image37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440.png"/><Relationship Id="rId7" Type="http://schemas.openxmlformats.org/officeDocument/2006/relationships/image" Target="../media/image48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47.png"/><Relationship Id="rId5" Type="http://schemas.openxmlformats.org/officeDocument/2006/relationships/image" Target="../media/image460.png"/><Relationship Id="rId4" Type="http://schemas.openxmlformats.org/officeDocument/2006/relationships/image" Target="../media/image450.png"/></Relationships>
</file>

<file path=ppt/slides/_rels/slide15.xml.rels><?xml version="1.0" encoding="UTF-8" standalone="yes"?>
<Relationships xmlns="http://schemas.openxmlformats.org/package/2006/relationships"><Relationship Id="rId3" Type="http://schemas.microsoft.com/office/2007/relationships/hdphoto" Target="../media/hdphoto5.wdp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44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0.png"/><Relationship Id="rId3" Type="http://schemas.openxmlformats.org/officeDocument/2006/relationships/image" Target="../media/image49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Relationship Id="rId10" Type="http://schemas.openxmlformats.org/officeDocument/2006/relationships/image" Target="../media/image35.jpeg"/><Relationship Id="rId9" Type="http://schemas.openxmlformats.org/officeDocument/2006/relationships/image" Target="../media/image5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jpeg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18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60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5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microsoft.com/office/2007/relationships/hdphoto" Target="../media/hdphoto6.wdp"/><Relationship Id="rId15" Type="http://schemas.openxmlformats.org/officeDocument/2006/relationships/image" Target="../media/image35.jpeg"/><Relationship Id="rId10" Type="http://schemas.openxmlformats.org/officeDocument/2006/relationships/image" Target="../media/image63.png"/><Relationship Id="rId4" Type="http://schemas.openxmlformats.org/officeDocument/2006/relationships/image" Target="../media/image57.png"/><Relationship Id="rId9" Type="http://schemas.openxmlformats.org/officeDocument/2006/relationships/image" Target="../media/image58.png"/><Relationship Id="rId14" Type="http://schemas.openxmlformats.org/officeDocument/2006/relationships/image" Target="../media/image63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7" Type="http://schemas.openxmlformats.org/officeDocument/2006/relationships/image" Target="../media/image71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70.png"/><Relationship Id="rId5" Type="http://schemas.openxmlformats.org/officeDocument/2006/relationships/image" Target="../media/image620.png"/><Relationship Id="rId4" Type="http://schemas.openxmlformats.org/officeDocument/2006/relationships/image" Target="../media/image61.png"/></Relationships>
</file>

<file path=ppt/slides/_rels/slide20.xml.rels><?xml version="1.0" encoding="UTF-8" standalone="yes"?>
<Relationships xmlns="http://schemas.openxmlformats.org/package/2006/relationships"><Relationship Id="rId3" Type="http://schemas.microsoft.com/office/2007/relationships/hdphoto" Target="../media/hdphoto7.wdp"/><Relationship Id="rId7" Type="http://schemas.openxmlformats.org/officeDocument/2006/relationships/image" Target="../media/image66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5.jpeg"/><Relationship Id="rId5" Type="http://schemas.openxmlformats.org/officeDocument/2006/relationships/image" Target="../media/image74.png"/><Relationship Id="rId4" Type="http://schemas.openxmlformats.org/officeDocument/2006/relationships/image" Target="../media/image6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5.jpe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.png"/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jpeg"/><Relationship Id="rId5" Type="http://schemas.openxmlformats.org/officeDocument/2006/relationships/image" Target="../media/image75.png"/><Relationship Id="rId4" Type="http://schemas.openxmlformats.org/officeDocument/2006/relationships/image" Target="../media/image73.png"/><Relationship Id="rId9" Type="http://schemas.openxmlformats.org/officeDocument/2006/relationships/image" Target="../media/image82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2.png"/><Relationship Id="rId3" Type="http://schemas.openxmlformats.org/officeDocument/2006/relationships/image" Target="../media/image77.png"/><Relationship Id="rId7" Type="http://schemas.openxmlformats.org/officeDocument/2006/relationships/image" Target="../media/image5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6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eymourduncan.com/blog/latest-updates/seymour-w-duncans-interview-with-seth-lover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900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3.png"/><Relationship Id="rId4" Type="http://schemas.openxmlformats.org/officeDocument/2006/relationships/image" Target="../media/image92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.png"/><Relationship Id="rId3" Type="http://schemas.openxmlformats.org/officeDocument/2006/relationships/image" Target="../media/image96.png"/><Relationship Id="rId7" Type="http://schemas.openxmlformats.org/officeDocument/2006/relationships/image" Target="../media/image300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0.png"/><Relationship Id="rId5" Type="http://schemas.openxmlformats.org/officeDocument/2006/relationships/image" Target="../media/image280.png"/><Relationship Id="rId4" Type="http://schemas.openxmlformats.org/officeDocument/2006/relationships/image" Target="../media/image78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9.png"/><Relationship Id="rId4" Type="http://schemas.openxmlformats.org/officeDocument/2006/relationships/image" Target="../media/image99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0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5.png"/><Relationship Id="rId3" Type="http://schemas.openxmlformats.org/officeDocument/2006/relationships/image" Target="../media/image83.png"/><Relationship Id="rId7" Type="http://schemas.openxmlformats.org/officeDocument/2006/relationships/image" Target="../media/image114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3.png"/><Relationship Id="rId5" Type="http://schemas.openxmlformats.org/officeDocument/2006/relationships/image" Target="../media/image103.png"/><Relationship Id="rId10" Type="http://schemas.openxmlformats.org/officeDocument/2006/relationships/image" Target="../media/image117.png"/><Relationship Id="rId4" Type="http://schemas.openxmlformats.org/officeDocument/2006/relationships/image" Target="../media/image111.png"/><Relationship Id="rId9" Type="http://schemas.openxmlformats.org/officeDocument/2006/relationships/image" Target="../media/image116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9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microsoft.com/office/2007/relationships/hdphoto" Target="../media/hdphoto8.wdp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jpe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microsoft.com/office/2007/relationships/hdphoto" Target="../media/hdphoto9.wdp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9.png"/><Relationship Id="rId5" Type="http://schemas.microsoft.com/office/2007/relationships/hdphoto" Target="../media/hdphoto10.wdp"/><Relationship Id="rId4" Type="http://schemas.openxmlformats.org/officeDocument/2006/relationships/image" Target="../media/image8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D5AC26-A7A2-65B6-7B29-11EC07A68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latin typeface="Arial Black" panose="020B0A04020102020204" pitchFamily="34" charset="0"/>
              </a:rPr>
              <a:t>Guitare électrique</a:t>
            </a:r>
            <a:endParaRPr lang="fr-FR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140984-6D77-4428-740A-A1707BD7F50D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fr-FR" dirty="0"/>
              <a:t>Etude de l’influence du type de bobinage dans le micro</a:t>
            </a:r>
          </a:p>
        </p:txBody>
      </p:sp>
      <p:pic>
        <p:nvPicPr>
          <p:cNvPr id="8" name="Picture 2" descr="Guitare, La Musique, Guitare Électrique">
            <a:extLst>
              <a:ext uri="{FF2B5EF4-FFF2-40B4-BE49-F238E27FC236}">
                <a16:creationId xmlns:a16="http://schemas.microsoft.com/office/drawing/2014/main" id="{89657AC2-F3D9-A8C8-AAAD-B6D3F242C614}"/>
              </a:ext>
            </a:extLst>
          </p:cNvPr>
          <p:cNvPicPr>
            <a:picLocks noGrp="1" noChangeAspect="1" noChangeArrowheads="1"/>
          </p:cNvPicPr>
          <p:nvPr>
            <p:ph type="pic"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672" b="9672"/>
          <a:stretch>
            <a:fillRect/>
          </a:stretch>
        </p:blipFill>
        <p:spPr bwMode="auto">
          <a:xfrm>
            <a:off x="0" y="0"/>
            <a:ext cx="9144000" cy="4914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963663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66559-264F-60FB-1D37-320CA1D94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C1EE70EB-793F-4DE4-5CD3-06C1970A54E3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03404F2-95E1-6C3C-2AC8-4C3EA8AF8028}"/>
              </a:ext>
            </a:extLst>
          </p:cNvPr>
          <p:cNvSpPr/>
          <p:nvPr/>
        </p:nvSpPr>
        <p:spPr>
          <a:xfrm>
            <a:off x="622219" y="50899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>
        <p:nvGraphicFramePr>
          <p:cNvPr id="13" name="Diagram 12">
            <a:extLst>
              <a:ext uri="{FF2B5EF4-FFF2-40B4-BE49-F238E27FC236}">
                <a16:creationId xmlns:a16="http://schemas.microsoft.com/office/drawing/2014/main" id="{67685325-6DB0-D00D-F7AE-FBD7499B9A9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50177681"/>
              </p:ext>
            </p:extLst>
          </p:nvPr>
        </p:nvGraphicFramePr>
        <p:xfrm>
          <a:off x="622219" y="1557243"/>
          <a:ext cx="7899561" cy="31339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5" name="Graphic 14" descr="Bank with solid fill">
            <a:extLst>
              <a:ext uri="{FF2B5EF4-FFF2-40B4-BE49-F238E27FC236}">
                <a16:creationId xmlns:a16="http://schemas.microsoft.com/office/drawing/2014/main" id="{0A05600E-BBED-713B-0765-F9FC4C8B4F5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111043" y="4687846"/>
            <a:ext cx="914400" cy="914400"/>
          </a:xfrm>
          <a:prstGeom prst="rect">
            <a:avLst/>
          </a:prstGeom>
        </p:spPr>
      </p:pic>
      <p:pic>
        <p:nvPicPr>
          <p:cNvPr id="19" name="Graphic 18" descr="Earth globe: Africa and Europe with solid fill">
            <a:extLst>
              <a:ext uri="{FF2B5EF4-FFF2-40B4-BE49-F238E27FC236}">
                <a16:creationId xmlns:a16="http://schemas.microsoft.com/office/drawing/2014/main" id="{18E70CB9-42FE-B71F-A1C8-24CE93E3324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376203" y="4735221"/>
            <a:ext cx="914400" cy="914400"/>
          </a:xfrm>
          <a:prstGeom prst="rect">
            <a:avLst/>
          </a:prstGeom>
        </p:spPr>
      </p:pic>
      <p:pic>
        <p:nvPicPr>
          <p:cNvPr id="21" name="Graphic 20" descr="Music note with solid fill">
            <a:extLst>
              <a:ext uri="{FF2B5EF4-FFF2-40B4-BE49-F238E27FC236}">
                <a16:creationId xmlns:a16="http://schemas.microsoft.com/office/drawing/2014/main" id="{84DFF8B1-F884-2B2A-7E80-9BC9C2825C2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853397" y="4729977"/>
            <a:ext cx="914400" cy="9144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7C7AD5E-8D0B-A100-8BC7-8968AFC40EF4}"/>
              </a:ext>
            </a:extLst>
          </p:cNvPr>
          <p:cNvSpPr txBox="1"/>
          <p:nvPr/>
        </p:nvSpPr>
        <p:spPr>
          <a:xfrm>
            <a:off x="5921829" y="6071016"/>
            <a:ext cx="32815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/>
              <a:t>[1] </a:t>
            </a:r>
            <a:r>
              <a:rPr lang="en-GB" sz="1100" dirty="0" err="1"/>
              <a:t>WiseGuy</a:t>
            </a:r>
            <a:r>
              <a:rPr lang="en-GB" sz="1100" dirty="0"/>
              <a:t> Research Consultants</a:t>
            </a:r>
            <a:endParaRPr lang="fr-FR" sz="110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E21CB03-8FB3-DCCC-1E6A-468CBF66A0C4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2DEB56B-5E6F-7F53-5602-DC58EDC16465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0" name="Footer Placeholder 2">
              <a:extLst>
                <a:ext uri="{FF2B5EF4-FFF2-40B4-BE49-F238E27FC236}">
                  <a16:creationId xmlns:a16="http://schemas.microsoft.com/office/drawing/2014/main" id="{5B19474D-95C6-FB1A-CC9F-918E0FC5501A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Introduction</a:t>
              </a:r>
            </a:p>
          </p:txBody>
        </p: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312551F-BBF9-4810-F2AF-2838FCD617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01EA654-5847-FC21-5C05-227A415BD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z="1400" b="1" smtClean="0"/>
              <a:t>2</a:t>
            </a:fld>
            <a:endParaRPr lang="fr-FR" sz="1400" b="1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E13F58-63AC-F0D3-5446-33ECFA46D0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</p:spTree>
    <p:extLst>
      <p:ext uri="{BB962C8B-B14F-4D97-AF65-F5344CB8AC3E}">
        <p14:creationId xmlns:p14="http://schemas.microsoft.com/office/powerpoint/2010/main" val="29885658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A604F0-B502-65BC-6A09-35CFB45E3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79BCC782-0D3B-CED9-60B9-795B1EBEEAEE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46CF84F-B284-FFE6-89D6-BC064CAF24E5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8BD08EE-D283-DD4F-BD91-A527520D3F09}"/>
              </a:ext>
            </a:extLst>
          </p:cNvPr>
          <p:cNvGrpSpPr/>
          <p:nvPr/>
        </p:nvGrpSpPr>
        <p:grpSpPr>
          <a:xfrm>
            <a:off x="-43440" y="924437"/>
            <a:ext cx="9223365" cy="3939301"/>
            <a:chOff x="-143123" y="1695451"/>
            <a:chExt cx="9223365" cy="3893765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561AD59C-BE3D-5354-10F1-5FB60C9BA5F8}"/>
                </a:ext>
              </a:extLst>
            </p:cNvPr>
            <p:cNvGrpSpPr/>
            <p:nvPr/>
          </p:nvGrpSpPr>
          <p:grpSpPr>
            <a:xfrm>
              <a:off x="-143123" y="1695451"/>
              <a:ext cx="6901731" cy="3893765"/>
              <a:chOff x="1006751" y="1255937"/>
              <a:chExt cx="6952009" cy="3872654"/>
            </a:xfrm>
          </p:grpSpPr>
          <p:pic>
            <p:nvPicPr>
              <p:cNvPr id="16" name="Picture 15" descr="A black and white drawing of a speaker&#10;&#10;AI-generated content may be incorrect.">
                <a:extLst>
                  <a:ext uri="{FF2B5EF4-FFF2-40B4-BE49-F238E27FC236}">
                    <a16:creationId xmlns:a16="http://schemas.microsoft.com/office/drawing/2014/main" id="{8671EF1F-85A1-8978-42ED-6DC100D8EC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5915" t="5174" r="12970" b="6005"/>
              <a:stretch>
                <a:fillRect/>
              </a:stretch>
            </p:blipFill>
            <p:spPr>
              <a:xfrm>
                <a:off x="5339199" y="1663215"/>
                <a:ext cx="2619561" cy="2902226"/>
              </a:xfrm>
              <a:prstGeom prst="rect">
                <a:avLst/>
              </a:prstGeom>
            </p:spPr>
          </p:pic>
          <p:pic>
            <p:nvPicPr>
              <p:cNvPr id="1026" name="Picture 2" descr="Coloriage Guitare électrique normale - Dessin gratuit à imprimer">
                <a:extLst>
                  <a:ext uri="{FF2B5EF4-FFF2-40B4-BE49-F238E27FC236}">
                    <a16:creationId xmlns:a16="http://schemas.microsoft.com/office/drawing/2014/main" id="{CC805345-A78D-D399-DA6C-BFFD053F562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575" t="9659" r="3272" b="14511"/>
              <a:stretch>
                <a:fillRect/>
              </a:stretch>
            </p:blipFill>
            <p:spPr bwMode="auto">
              <a:xfrm rot="18368299">
                <a:off x="661136" y="1601552"/>
                <a:ext cx="3716782" cy="3025552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EE11A188-CC0E-DA89-77CB-1A851E9A6CC0}"/>
                  </a:ext>
                </a:extLst>
              </p:cNvPr>
              <p:cNvSpPr/>
              <p:nvPr/>
            </p:nvSpPr>
            <p:spPr>
              <a:xfrm>
                <a:off x="2687541" y="2252273"/>
                <a:ext cx="3045349" cy="2876318"/>
              </a:xfrm>
              <a:custGeom>
                <a:avLst/>
                <a:gdLst>
                  <a:gd name="csX0" fmla="*/ 0 w 3045349"/>
                  <a:gd name="csY0" fmla="*/ 2454899 h 2876318"/>
                  <a:gd name="csX1" fmla="*/ 31805 w 3045349"/>
                  <a:gd name="csY1" fmla="*/ 2494656 h 2876318"/>
                  <a:gd name="csX2" fmla="*/ 47708 w 3045349"/>
                  <a:gd name="csY2" fmla="*/ 2518510 h 2876318"/>
                  <a:gd name="csX3" fmla="*/ 71562 w 3045349"/>
                  <a:gd name="csY3" fmla="*/ 2526461 h 2876318"/>
                  <a:gd name="csX4" fmla="*/ 127221 w 3045349"/>
                  <a:gd name="csY4" fmla="*/ 2574169 h 2876318"/>
                  <a:gd name="csX5" fmla="*/ 206734 w 3045349"/>
                  <a:gd name="csY5" fmla="*/ 2637779 h 2876318"/>
                  <a:gd name="csX6" fmla="*/ 246490 w 3045349"/>
                  <a:gd name="csY6" fmla="*/ 2661633 h 2876318"/>
                  <a:gd name="csX7" fmla="*/ 278296 w 3045349"/>
                  <a:gd name="csY7" fmla="*/ 2677536 h 2876318"/>
                  <a:gd name="csX8" fmla="*/ 310101 w 3045349"/>
                  <a:gd name="csY8" fmla="*/ 2701390 h 2876318"/>
                  <a:gd name="csX9" fmla="*/ 373711 w 3045349"/>
                  <a:gd name="csY9" fmla="*/ 2733195 h 2876318"/>
                  <a:gd name="csX10" fmla="*/ 429370 w 3045349"/>
                  <a:gd name="csY10" fmla="*/ 2765000 h 2876318"/>
                  <a:gd name="csX11" fmla="*/ 532737 w 3045349"/>
                  <a:gd name="csY11" fmla="*/ 2804757 h 2876318"/>
                  <a:gd name="csX12" fmla="*/ 596348 w 3045349"/>
                  <a:gd name="csY12" fmla="*/ 2836562 h 2876318"/>
                  <a:gd name="csX13" fmla="*/ 659958 w 3045349"/>
                  <a:gd name="csY13" fmla="*/ 2852464 h 2876318"/>
                  <a:gd name="csX14" fmla="*/ 914400 w 3045349"/>
                  <a:gd name="csY14" fmla="*/ 2876318 h 2876318"/>
                  <a:gd name="csX15" fmla="*/ 1121134 w 3045349"/>
                  <a:gd name="csY15" fmla="*/ 2852464 h 2876318"/>
                  <a:gd name="csX16" fmla="*/ 1288111 w 3045349"/>
                  <a:gd name="csY16" fmla="*/ 2780903 h 2876318"/>
                  <a:gd name="csX17" fmla="*/ 1431235 w 3045349"/>
                  <a:gd name="csY17" fmla="*/ 2709341 h 2876318"/>
                  <a:gd name="csX18" fmla="*/ 1478942 w 3045349"/>
                  <a:gd name="csY18" fmla="*/ 2661633 h 2876318"/>
                  <a:gd name="csX19" fmla="*/ 1630017 w 3045349"/>
                  <a:gd name="csY19" fmla="*/ 2470802 h 2876318"/>
                  <a:gd name="csX20" fmla="*/ 1733384 w 3045349"/>
                  <a:gd name="csY20" fmla="*/ 2208409 h 2876318"/>
                  <a:gd name="csX21" fmla="*/ 1733384 w 3045349"/>
                  <a:gd name="csY21" fmla="*/ 1946016 h 2876318"/>
                  <a:gd name="csX22" fmla="*/ 1709530 w 3045349"/>
                  <a:gd name="csY22" fmla="*/ 1858551 h 2876318"/>
                  <a:gd name="csX23" fmla="*/ 1661822 w 3045349"/>
                  <a:gd name="csY23" fmla="*/ 1715428 h 2876318"/>
                  <a:gd name="csX24" fmla="*/ 1614115 w 3045349"/>
                  <a:gd name="csY24" fmla="*/ 1556402 h 2876318"/>
                  <a:gd name="csX25" fmla="*/ 1534602 w 3045349"/>
                  <a:gd name="csY25" fmla="*/ 1413278 h 2876318"/>
                  <a:gd name="csX26" fmla="*/ 1502796 w 3045349"/>
                  <a:gd name="csY26" fmla="*/ 1349668 h 2876318"/>
                  <a:gd name="csX27" fmla="*/ 1399429 w 3045349"/>
                  <a:gd name="csY27" fmla="*/ 1166788 h 2876318"/>
                  <a:gd name="csX28" fmla="*/ 1351722 w 3045349"/>
                  <a:gd name="csY28" fmla="*/ 1023664 h 2876318"/>
                  <a:gd name="csX29" fmla="*/ 1327868 w 3045349"/>
                  <a:gd name="csY29" fmla="*/ 952103 h 2876318"/>
                  <a:gd name="csX30" fmla="*/ 1343770 w 3045349"/>
                  <a:gd name="csY30" fmla="*/ 673807 h 2876318"/>
                  <a:gd name="csX31" fmla="*/ 1367624 w 3045349"/>
                  <a:gd name="csY31" fmla="*/ 610197 h 2876318"/>
                  <a:gd name="csX32" fmla="*/ 1478942 w 3045349"/>
                  <a:gd name="csY32" fmla="*/ 475024 h 2876318"/>
                  <a:gd name="csX33" fmla="*/ 1526650 w 3045349"/>
                  <a:gd name="csY33" fmla="*/ 403463 h 2876318"/>
                  <a:gd name="csX34" fmla="*/ 1630017 w 3045349"/>
                  <a:gd name="csY34" fmla="*/ 315998 h 2876318"/>
                  <a:gd name="csX35" fmla="*/ 1693628 w 3045349"/>
                  <a:gd name="csY35" fmla="*/ 252388 h 2876318"/>
                  <a:gd name="csX36" fmla="*/ 1836751 w 3045349"/>
                  <a:gd name="csY36" fmla="*/ 164924 h 2876318"/>
                  <a:gd name="csX37" fmla="*/ 1948069 w 3045349"/>
                  <a:gd name="csY37" fmla="*/ 93362 h 2876318"/>
                  <a:gd name="csX38" fmla="*/ 2138901 w 3045349"/>
                  <a:gd name="csY38" fmla="*/ 45654 h 2876318"/>
                  <a:gd name="csX39" fmla="*/ 2337683 w 3045349"/>
                  <a:gd name="csY39" fmla="*/ 21800 h 2876318"/>
                  <a:gd name="csX40" fmla="*/ 2488758 w 3045349"/>
                  <a:gd name="csY40" fmla="*/ 13849 h 2876318"/>
                  <a:gd name="csX41" fmla="*/ 2862469 w 3045349"/>
                  <a:gd name="csY41" fmla="*/ 13849 h 2876318"/>
                  <a:gd name="csX42" fmla="*/ 2981739 w 3045349"/>
                  <a:gd name="csY42" fmla="*/ 45654 h 2876318"/>
                  <a:gd name="csX43" fmla="*/ 3045349 w 3045349"/>
                  <a:gd name="csY43" fmla="*/ 69508 h 287631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</a:cxnLst>
                <a:rect l="l" t="t" r="r" b="b"/>
                <a:pathLst>
                  <a:path w="3045349" h="2876318">
                    <a:moveTo>
                      <a:pt x="0" y="2454899"/>
                    </a:moveTo>
                    <a:cubicBezTo>
                      <a:pt x="10602" y="2468151"/>
                      <a:pt x="21622" y="2481079"/>
                      <a:pt x="31805" y="2494656"/>
                    </a:cubicBezTo>
                    <a:cubicBezTo>
                      <a:pt x="37539" y="2502301"/>
                      <a:pt x="40246" y="2512540"/>
                      <a:pt x="47708" y="2518510"/>
                    </a:cubicBezTo>
                    <a:cubicBezTo>
                      <a:pt x="54253" y="2523746"/>
                      <a:pt x="63611" y="2523811"/>
                      <a:pt x="71562" y="2526461"/>
                    </a:cubicBezTo>
                    <a:cubicBezTo>
                      <a:pt x="160673" y="2637849"/>
                      <a:pt x="61551" y="2528705"/>
                      <a:pt x="127221" y="2574169"/>
                    </a:cubicBezTo>
                    <a:cubicBezTo>
                      <a:pt x="155128" y="2593489"/>
                      <a:pt x="177629" y="2620316"/>
                      <a:pt x="206734" y="2637779"/>
                    </a:cubicBezTo>
                    <a:cubicBezTo>
                      <a:pt x="219986" y="2645730"/>
                      <a:pt x="232980" y="2654128"/>
                      <a:pt x="246490" y="2661633"/>
                    </a:cubicBezTo>
                    <a:cubicBezTo>
                      <a:pt x="256852" y="2667390"/>
                      <a:pt x="268244" y="2671254"/>
                      <a:pt x="278296" y="2677536"/>
                    </a:cubicBezTo>
                    <a:cubicBezTo>
                      <a:pt x="289534" y="2684560"/>
                      <a:pt x="298654" y="2694713"/>
                      <a:pt x="310101" y="2701390"/>
                    </a:cubicBezTo>
                    <a:cubicBezTo>
                      <a:pt x="330578" y="2713335"/>
                      <a:pt x="352794" y="2722039"/>
                      <a:pt x="373711" y="2733195"/>
                    </a:cubicBezTo>
                    <a:cubicBezTo>
                      <a:pt x="392565" y="2743251"/>
                      <a:pt x="409884" y="2756231"/>
                      <a:pt x="429370" y="2765000"/>
                    </a:cubicBezTo>
                    <a:cubicBezTo>
                      <a:pt x="463035" y="2780149"/>
                      <a:pt x="499718" y="2788248"/>
                      <a:pt x="532737" y="2804757"/>
                    </a:cubicBezTo>
                    <a:cubicBezTo>
                      <a:pt x="553941" y="2815359"/>
                      <a:pt x="574151" y="2828238"/>
                      <a:pt x="596348" y="2836562"/>
                    </a:cubicBezTo>
                    <a:cubicBezTo>
                      <a:pt x="616812" y="2844236"/>
                      <a:pt x="638488" y="2848375"/>
                      <a:pt x="659958" y="2852464"/>
                    </a:cubicBezTo>
                    <a:cubicBezTo>
                      <a:pt x="772459" y="2873893"/>
                      <a:pt x="787397" y="2869634"/>
                      <a:pt x="914400" y="2876318"/>
                    </a:cubicBezTo>
                    <a:cubicBezTo>
                      <a:pt x="983311" y="2868367"/>
                      <a:pt x="1052975" y="2865359"/>
                      <a:pt x="1121134" y="2852464"/>
                    </a:cubicBezTo>
                    <a:cubicBezTo>
                      <a:pt x="1180843" y="2841168"/>
                      <a:pt x="1233964" y="2805269"/>
                      <a:pt x="1288111" y="2780903"/>
                    </a:cubicBezTo>
                    <a:cubicBezTo>
                      <a:pt x="1358137" y="2749391"/>
                      <a:pt x="1372061" y="2755834"/>
                      <a:pt x="1431235" y="2709341"/>
                    </a:cubicBezTo>
                    <a:cubicBezTo>
                      <a:pt x="1448919" y="2695446"/>
                      <a:pt x="1463561" y="2678040"/>
                      <a:pt x="1478942" y="2661633"/>
                    </a:cubicBezTo>
                    <a:cubicBezTo>
                      <a:pt x="1534843" y="2602004"/>
                      <a:pt x="1588815" y="2542364"/>
                      <a:pt x="1630017" y="2470802"/>
                    </a:cubicBezTo>
                    <a:cubicBezTo>
                      <a:pt x="1699402" y="2350291"/>
                      <a:pt x="1699220" y="2327984"/>
                      <a:pt x="1733384" y="2208409"/>
                    </a:cubicBezTo>
                    <a:cubicBezTo>
                      <a:pt x="1742438" y="2099766"/>
                      <a:pt x="1749009" y="2071016"/>
                      <a:pt x="1733384" y="1946016"/>
                    </a:cubicBezTo>
                    <a:cubicBezTo>
                      <a:pt x="1729636" y="1916030"/>
                      <a:pt x="1716227" y="1888019"/>
                      <a:pt x="1709530" y="1858551"/>
                    </a:cubicBezTo>
                    <a:cubicBezTo>
                      <a:pt x="1681618" y="1735734"/>
                      <a:pt x="1714235" y="1807148"/>
                      <a:pt x="1661822" y="1715428"/>
                    </a:cubicBezTo>
                    <a:cubicBezTo>
                      <a:pt x="1654666" y="1689190"/>
                      <a:pt x="1628127" y="1585505"/>
                      <a:pt x="1614115" y="1556402"/>
                    </a:cubicBezTo>
                    <a:cubicBezTo>
                      <a:pt x="1590439" y="1507229"/>
                      <a:pt x="1559010" y="1462092"/>
                      <a:pt x="1534602" y="1413278"/>
                    </a:cubicBezTo>
                    <a:cubicBezTo>
                      <a:pt x="1524000" y="1392075"/>
                      <a:pt x="1514379" y="1370352"/>
                      <a:pt x="1502796" y="1349668"/>
                    </a:cubicBezTo>
                    <a:cubicBezTo>
                      <a:pt x="1455116" y="1264526"/>
                      <a:pt x="1432768" y="1239023"/>
                      <a:pt x="1399429" y="1166788"/>
                    </a:cubicBezTo>
                    <a:cubicBezTo>
                      <a:pt x="1363215" y="1088324"/>
                      <a:pt x="1381571" y="1123160"/>
                      <a:pt x="1351722" y="1023664"/>
                    </a:cubicBezTo>
                    <a:cubicBezTo>
                      <a:pt x="1344497" y="999580"/>
                      <a:pt x="1335819" y="975957"/>
                      <a:pt x="1327868" y="952103"/>
                    </a:cubicBezTo>
                    <a:cubicBezTo>
                      <a:pt x="1312766" y="831293"/>
                      <a:pt x="1311555" y="861726"/>
                      <a:pt x="1343770" y="673807"/>
                    </a:cubicBezTo>
                    <a:cubicBezTo>
                      <a:pt x="1347596" y="651487"/>
                      <a:pt x="1356626" y="629992"/>
                      <a:pt x="1367624" y="610197"/>
                    </a:cubicBezTo>
                    <a:cubicBezTo>
                      <a:pt x="1431450" y="495311"/>
                      <a:pt x="1405986" y="564816"/>
                      <a:pt x="1478942" y="475024"/>
                    </a:cubicBezTo>
                    <a:cubicBezTo>
                      <a:pt x="1497020" y="452774"/>
                      <a:pt x="1508572" y="425713"/>
                      <a:pt x="1526650" y="403463"/>
                    </a:cubicBezTo>
                    <a:cubicBezTo>
                      <a:pt x="1601764" y="311016"/>
                      <a:pt x="1556151" y="379312"/>
                      <a:pt x="1630017" y="315998"/>
                    </a:cubicBezTo>
                    <a:cubicBezTo>
                      <a:pt x="1652784" y="296483"/>
                      <a:pt x="1670481" y="271450"/>
                      <a:pt x="1693628" y="252388"/>
                    </a:cubicBezTo>
                    <a:cubicBezTo>
                      <a:pt x="1748930" y="206845"/>
                      <a:pt x="1777215" y="202134"/>
                      <a:pt x="1836751" y="164924"/>
                    </a:cubicBezTo>
                    <a:cubicBezTo>
                      <a:pt x="1880106" y="137827"/>
                      <a:pt x="1900442" y="112973"/>
                      <a:pt x="1948069" y="93362"/>
                    </a:cubicBezTo>
                    <a:cubicBezTo>
                      <a:pt x="1991495" y="75481"/>
                      <a:pt x="2099863" y="52160"/>
                      <a:pt x="2138901" y="45654"/>
                    </a:cubicBezTo>
                    <a:cubicBezTo>
                      <a:pt x="2139259" y="45594"/>
                      <a:pt x="2308265" y="23901"/>
                      <a:pt x="2337683" y="21800"/>
                    </a:cubicBezTo>
                    <a:cubicBezTo>
                      <a:pt x="2387983" y="18207"/>
                      <a:pt x="2438400" y="16499"/>
                      <a:pt x="2488758" y="13849"/>
                    </a:cubicBezTo>
                    <a:cubicBezTo>
                      <a:pt x="2634733" y="-2372"/>
                      <a:pt x="2644304" y="-6733"/>
                      <a:pt x="2862469" y="13849"/>
                    </a:cubicBezTo>
                    <a:cubicBezTo>
                      <a:pt x="2903433" y="17714"/>
                      <a:pt x="2942705" y="32642"/>
                      <a:pt x="2981739" y="45654"/>
                    </a:cubicBezTo>
                    <a:cubicBezTo>
                      <a:pt x="3035069" y="63431"/>
                      <a:pt x="3014454" y="54060"/>
                      <a:pt x="3045349" y="69508"/>
                    </a:cubicBezTo>
                  </a:path>
                </a:pathLst>
              </a:custGeom>
              <a:ln w="101600"/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pic>
          <p:nvPicPr>
            <p:cNvPr id="31" name="Picture 8" descr="Sound PNG Transparent Images">
              <a:extLst>
                <a:ext uri="{FF2B5EF4-FFF2-40B4-BE49-F238E27FC236}">
                  <a16:creationId xmlns:a16="http://schemas.microsoft.com/office/drawing/2014/main" id="{C5A23D53-5DDB-D416-A41A-F727728A500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54464" y="2449034"/>
              <a:ext cx="2325778" cy="23257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627FF2A-9CB1-1AF7-C7B2-1DA1B28400B9}"/>
              </a:ext>
            </a:extLst>
          </p:cNvPr>
          <p:cNvGrpSpPr/>
          <p:nvPr/>
        </p:nvGrpSpPr>
        <p:grpSpPr>
          <a:xfrm>
            <a:off x="421651" y="5064229"/>
            <a:ext cx="8293184" cy="739359"/>
            <a:chOff x="385745" y="5494993"/>
            <a:chExt cx="8293184" cy="739359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24A1EF4-71C5-AFEC-F51C-54253E6418D7}"/>
                </a:ext>
              </a:extLst>
            </p:cNvPr>
            <p:cNvGrpSpPr/>
            <p:nvPr/>
          </p:nvGrpSpPr>
          <p:grpSpPr>
            <a:xfrm>
              <a:off x="385745" y="5495226"/>
              <a:ext cx="8293184" cy="739126"/>
              <a:chOff x="385745" y="5495226"/>
              <a:chExt cx="8293184" cy="739126"/>
            </a:xfrm>
          </p:grpSpPr>
          <p:grpSp>
            <p:nvGrpSpPr>
              <p:cNvPr id="2" name="Group 1">
                <a:extLst>
                  <a:ext uri="{FF2B5EF4-FFF2-40B4-BE49-F238E27FC236}">
                    <a16:creationId xmlns:a16="http://schemas.microsoft.com/office/drawing/2014/main" id="{44F9E293-216E-15DD-4F6F-A29FF3E6E519}"/>
                  </a:ext>
                </a:extLst>
              </p:cNvPr>
              <p:cNvGrpSpPr/>
              <p:nvPr/>
            </p:nvGrpSpPr>
            <p:grpSpPr>
              <a:xfrm>
                <a:off x="1281789" y="5495226"/>
                <a:ext cx="6572907" cy="739126"/>
                <a:chOff x="1833334" y="3059437"/>
                <a:chExt cx="6572907" cy="739126"/>
              </a:xfrm>
            </p:grpSpPr>
            <p:sp>
              <p:nvSpPr>
                <p:cNvPr id="12" name="Rectangle 11">
                  <a:extLst>
                    <a:ext uri="{FF2B5EF4-FFF2-40B4-BE49-F238E27FC236}">
                      <a16:creationId xmlns:a16="http://schemas.microsoft.com/office/drawing/2014/main" id="{02C0AC77-D285-65B0-D66E-4E098D9D4641}"/>
                    </a:ext>
                  </a:extLst>
                </p:cNvPr>
                <p:cNvSpPr/>
                <p:nvPr/>
              </p:nvSpPr>
              <p:spPr>
                <a:xfrm>
                  <a:off x="6039898" y="3059437"/>
                  <a:ext cx="1790344" cy="739126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Amplificateur</a:t>
                  </a:r>
                </a:p>
              </p:txBody>
            </p:sp>
            <p:cxnSp>
              <p:nvCxnSpPr>
                <p:cNvPr id="14" name="Straight Arrow Connector 13">
                  <a:extLst>
                    <a:ext uri="{FF2B5EF4-FFF2-40B4-BE49-F238E27FC236}">
                      <a16:creationId xmlns:a16="http://schemas.microsoft.com/office/drawing/2014/main" id="{1E0D4AE5-9607-4DB4-BE36-56A5094F4DD2}"/>
                    </a:ext>
                  </a:extLst>
                </p:cNvPr>
                <p:cNvCxnSpPr>
                  <a:cxnSpLocks/>
                  <a:stCxn id="29" idx="3"/>
                  <a:endCxn id="12" idx="1"/>
                </p:cNvCxnSpPr>
                <p:nvPr/>
              </p:nvCxnSpPr>
              <p:spPr>
                <a:xfrm>
                  <a:off x="5467171" y="3428768"/>
                  <a:ext cx="572727" cy="232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Arrow Connector 14">
                  <a:extLst>
                    <a:ext uri="{FF2B5EF4-FFF2-40B4-BE49-F238E27FC236}">
                      <a16:creationId xmlns:a16="http://schemas.microsoft.com/office/drawing/2014/main" id="{9C0C996A-BF1C-90EE-8498-2E1A93560CCF}"/>
                    </a:ext>
                  </a:extLst>
                </p:cNvPr>
                <p:cNvCxnSpPr>
                  <a:cxnSpLocks/>
                  <a:endCxn id="29" idx="1"/>
                </p:cNvCxnSpPr>
                <p:nvPr/>
              </p:nvCxnSpPr>
              <p:spPr>
                <a:xfrm flipV="1">
                  <a:off x="1833334" y="3428768"/>
                  <a:ext cx="572726" cy="232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Arrow Connector 18">
                  <a:extLst>
                    <a:ext uri="{FF2B5EF4-FFF2-40B4-BE49-F238E27FC236}">
                      <a16:creationId xmlns:a16="http://schemas.microsoft.com/office/drawing/2014/main" id="{B2A0A7D1-8E1F-6D54-6F03-9C163D4121DE}"/>
                    </a:ext>
                  </a:extLst>
                </p:cNvPr>
                <p:cNvCxnSpPr>
                  <a:cxnSpLocks/>
                  <a:stCxn id="12" idx="3"/>
                </p:cNvCxnSpPr>
                <p:nvPr/>
              </p:nvCxnSpPr>
              <p:spPr>
                <a:xfrm>
                  <a:off x="7830241" y="3429000"/>
                  <a:ext cx="576000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" name="TextBox 20">
                      <a:extLst>
                        <a:ext uri="{FF2B5EF4-FFF2-40B4-BE49-F238E27FC236}">
                          <a16:creationId xmlns:a16="http://schemas.microsoft.com/office/drawing/2014/main" id="{FC6CD4CD-B9B4-4035-2393-BF7AC44EE42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21" name="TextBox 20">
                      <a:extLst>
                        <a:ext uri="{FF2B5EF4-FFF2-40B4-BE49-F238E27FC236}">
                          <a16:creationId xmlns:a16="http://schemas.microsoft.com/office/drawing/2014/main" id="{FC6CD4CD-B9B4-4035-2393-BF7AC44EE42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" name="TextBox 21">
                      <a:extLst>
                        <a:ext uri="{FF2B5EF4-FFF2-40B4-BE49-F238E27FC236}">
                          <a16:creationId xmlns:a16="http://schemas.microsoft.com/office/drawing/2014/main" id="{FAD95A0E-467F-A6AA-2FC7-05C2FF1D8BC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22" name="TextBox 21">
                      <a:extLst>
                        <a:ext uri="{FF2B5EF4-FFF2-40B4-BE49-F238E27FC236}">
                          <a16:creationId xmlns:a16="http://schemas.microsoft.com/office/drawing/2014/main" id="{FAD95A0E-467F-A6AA-2FC7-05C2FF1D8BC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r="-2597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F1945596-F0F7-D093-5E36-0392482F540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F1945596-F0F7-D093-5E36-0392482F540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r="-6757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C83574FC-33E4-37D5-8403-057A812BEBA3}"/>
                  </a:ext>
                </a:extLst>
              </p:cNvPr>
              <p:cNvSpPr txBox="1"/>
              <p:nvPr/>
            </p:nvSpPr>
            <p:spPr>
              <a:xfrm>
                <a:off x="3857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Corde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0396A4DF-AA46-B362-6EF6-93AC149BD5FE}"/>
                  </a:ext>
                </a:extLst>
              </p:cNvPr>
              <p:cNvSpPr txBox="1"/>
              <p:nvPr/>
            </p:nvSpPr>
            <p:spPr>
              <a:xfrm>
                <a:off x="78459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Son</a:t>
                </a:r>
              </a:p>
            </p:txBody>
          </p:sp>
        </p:grp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4B3F6E7F-9ED7-799A-C6AD-763658746D8C}"/>
                </a:ext>
              </a:extLst>
            </p:cNvPr>
            <p:cNvSpPr/>
            <p:nvPr/>
          </p:nvSpPr>
          <p:spPr>
            <a:xfrm>
              <a:off x="1854515" y="5494993"/>
              <a:ext cx="3061111" cy="73912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 w="19050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>
                  <a:solidFill>
                    <a:schemeClr val="tx1"/>
                  </a:solidFill>
                </a:rPr>
                <a:t>Micro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7E09AD39-0921-EB4A-1080-583A356887F2}"/>
              </a:ext>
            </a:extLst>
          </p:cNvPr>
          <p:cNvSpPr txBox="1"/>
          <p:nvPr/>
        </p:nvSpPr>
        <p:spPr>
          <a:xfrm>
            <a:off x="4915627" y="6071016"/>
            <a:ext cx="428779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/>
              <a:t>[2] </a:t>
            </a:r>
            <a:r>
              <a:rPr lang="en-GB" sz="1100" dirty="0"/>
              <a:t>Matthew W. Hill, Sorbonne Université Presse</a:t>
            </a:r>
            <a:endParaRPr lang="fr-FR" sz="1100" dirty="0"/>
          </a:p>
        </p:txBody>
      </p:sp>
      <p:sp>
        <p:nvSpPr>
          <p:cNvPr id="4" name="Footer Placeholder 2">
            <a:extLst>
              <a:ext uri="{FF2B5EF4-FFF2-40B4-BE49-F238E27FC236}">
                <a16:creationId xmlns:a16="http://schemas.microsoft.com/office/drawing/2014/main" id="{28417795-70F9-02E7-96CE-574852CA0F0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600" b="1" dirty="0"/>
              <a:t>Introduction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097FF5D9-EF18-24AF-8AB4-7DAB59DDE237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354CFB6A-7BE4-336E-497B-88F584AC08BE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34" name="Footer Placeholder 2">
              <a:extLst>
                <a:ext uri="{FF2B5EF4-FFF2-40B4-BE49-F238E27FC236}">
                  <a16:creationId xmlns:a16="http://schemas.microsoft.com/office/drawing/2014/main" id="{81FB907C-1F88-1B14-226E-07CDAD186F14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Introduction</a:t>
              </a:r>
            </a:p>
          </p:txBody>
        </p:sp>
      </p:grp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B61853-FCE9-DA8F-F77F-DBFD494B4C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25FF95-1FEB-A5EE-FCFC-F7BB71FD9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7" name="Slide Number Placeholder 2">
            <a:extLst>
              <a:ext uri="{FF2B5EF4-FFF2-40B4-BE49-F238E27FC236}">
                <a16:creationId xmlns:a16="http://schemas.microsoft.com/office/drawing/2014/main" id="{B7EDE2C3-3CCE-BE30-6104-A13D47AA6E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3</a:t>
            </a:fld>
            <a:endParaRPr lang="fr-FR" sz="1400" b="1" dirty="0"/>
          </a:p>
        </p:txBody>
      </p:sp>
    </p:spTree>
    <p:extLst>
      <p:ext uri="{BB962C8B-B14F-4D97-AF65-F5344CB8AC3E}">
        <p14:creationId xmlns:p14="http://schemas.microsoft.com/office/powerpoint/2010/main" val="42831447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B5C65-7A37-1B90-FBC8-8C517E9FE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5B411610-91CC-1D3E-B007-8E0F6F5EEE2B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8A5B9C0-C73A-6300-0522-20EE954AE8FB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Footer Placeholder 2">
            <a:extLst>
              <a:ext uri="{FF2B5EF4-FFF2-40B4-BE49-F238E27FC236}">
                <a16:creationId xmlns:a16="http://schemas.microsoft.com/office/drawing/2014/main" id="{08FB3C2F-F634-79DF-634E-4FB985FD79C3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600" b="1" dirty="0"/>
              <a:t>Introduction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3DAE2E80-E912-D97C-8D4D-D8FA1169D84C}"/>
              </a:ext>
            </a:extLst>
          </p:cNvPr>
          <p:cNvGrpSpPr/>
          <p:nvPr/>
        </p:nvGrpSpPr>
        <p:grpSpPr>
          <a:xfrm>
            <a:off x="330200" y="978128"/>
            <a:ext cx="8498627" cy="4901743"/>
            <a:chOff x="330200" y="1423280"/>
            <a:chExt cx="8498627" cy="4901743"/>
          </a:xfrm>
        </p:grpSpPr>
        <p:pic>
          <p:nvPicPr>
            <p:cNvPr id="6" name="Picture 5" descr="Guitar Pickup Market By Region">
              <a:extLst>
                <a:ext uri="{FF2B5EF4-FFF2-40B4-BE49-F238E27FC236}">
                  <a16:creationId xmlns:a16="http://schemas.microsoft.com/office/drawing/2014/main" id="{6DA00D97-DD6A-62D3-2FEF-6FDA183FC47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701" t="1" r="88" b="1662"/>
            <a:stretch>
              <a:fillRect/>
            </a:stretch>
          </p:blipFill>
          <p:spPr>
            <a:xfrm>
              <a:off x="330200" y="1423280"/>
              <a:ext cx="8498627" cy="4696847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E2E4591E-213D-DD3D-F756-86FF1B6789C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94285" y="5785023"/>
              <a:ext cx="766733" cy="540000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66935B24-D3D4-E1C7-7221-E3E13E203B9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1697" y="5785023"/>
              <a:ext cx="766313" cy="540000"/>
            </a:xfrm>
            <a:prstGeom prst="rect">
              <a:avLst/>
            </a:prstGeom>
          </p:spPr>
        </p:pic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D65A42A2-4676-292B-E960-C64B3D3DE5C5}"/>
                </a:ext>
              </a:extLst>
            </p:cNvPr>
            <p:cNvSpPr/>
            <p:nvPr/>
          </p:nvSpPr>
          <p:spPr>
            <a:xfrm>
              <a:off x="1119987" y="3792511"/>
              <a:ext cx="2627554" cy="1796705"/>
            </a:xfrm>
            <a:prstGeom prst="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723B1C9B-ECF9-F287-89FF-67656642FDEC}"/>
                </a:ext>
              </a:extLst>
            </p:cNvPr>
            <p:cNvSpPr txBox="1"/>
            <p:nvPr/>
          </p:nvSpPr>
          <p:spPr>
            <a:xfrm>
              <a:off x="1985724" y="3452852"/>
              <a:ext cx="78593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dirty="0">
                  <a:solidFill>
                    <a:srgbClr val="C00000"/>
                  </a:solidFill>
                  <a:latin typeface="Arial Black" panose="020B0A04020102020204" pitchFamily="34" charset="0"/>
                </a:rPr>
                <a:t>60%</a:t>
              </a:r>
            </a:p>
          </p:txBody>
        </p: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45538530-AEDA-8079-4FC7-7FE95B066120}"/>
              </a:ext>
            </a:extLst>
          </p:cNvPr>
          <p:cNvSpPr txBox="1"/>
          <p:nvPr/>
        </p:nvSpPr>
        <p:spPr>
          <a:xfrm>
            <a:off x="1323303" y="4636845"/>
            <a:ext cx="708696" cy="246221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solidFill>
                  <a:schemeClr val="bg1"/>
                </a:solidFill>
                <a:latin typeface="Arial Black" panose="020B0A04020102020204" pitchFamily="34" charset="0"/>
                <a:cs typeface="Times New Roman" panose="02020603050405020304" pitchFamily="18" charset="0"/>
              </a:rPr>
              <a:t>23.9%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ED38844-6458-856C-27C9-4A869A89F20A}"/>
              </a:ext>
            </a:extLst>
          </p:cNvPr>
          <p:cNvSpPr txBox="1"/>
          <p:nvPr/>
        </p:nvSpPr>
        <p:spPr>
          <a:xfrm>
            <a:off x="4427185" y="3007700"/>
            <a:ext cx="708696" cy="246221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solidFill>
                  <a:schemeClr val="bg1"/>
                </a:solidFill>
                <a:latin typeface="Arial Black" panose="020B0A04020102020204" pitchFamily="34" charset="0"/>
              </a:rPr>
              <a:t>18.2%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1E00042-FA40-4722-DEE9-BCC43CF6F914}"/>
              </a:ext>
            </a:extLst>
          </p:cNvPr>
          <p:cNvSpPr txBox="1"/>
          <p:nvPr/>
        </p:nvSpPr>
        <p:spPr>
          <a:xfrm>
            <a:off x="5919010" y="2526212"/>
            <a:ext cx="708696" cy="246221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solidFill>
                  <a:schemeClr val="bg1"/>
                </a:solidFill>
                <a:latin typeface="Arial Black" panose="020B0A04020102020204" pitchFamily="34" charset="0"/>
              </a:rPr>
              <a:t>13.1%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681727A-1BF8-121E-D477-3D1C7E718221}"/>
              </a:ext>
            </a:extLst>
          </p:cNvPr>
          <p:cNvSpPr txBox="1"/>
          <p:nvPr/>
        </p:nvSpPr>
        <p:spPr>
          <a:xfrm>
            <a:off x="7475333" y="2215950"/>
            <a:ext cx="708696" cy="246221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solidFill>
                  <a:schemeClr val="bg1"/>
                </a:solidFill>
                <a:latin typeface="Arial Black" panose="020B0A04020102020204" pitchFamily="34" charset="0"/>
              </a:rPr>
              <a:t>8.7%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E582498-A12E-C1F5-F376-6C09D43F7F49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6FE9E1E-C8F4-E203-5640-8217B20F502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8" name="Footer Placeholder 2">
              <a:extLst>
                <a:ext uri="{FF2B5EF4-FFF2-40B4-BE49-F238E27FC236}">
                  <a16:creationId xmlns:a16="http://schemas.microsoft.com/office/drawing/2014/main" id="{4468C78C-C5D3-2CC7-D96D-98F1E6CC8C4D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Introduction</a:t>
              </a:r>
            </a:p>
          </p:txBody>
        </p: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124C715-1FC7-1020-3096-E8C89B6EA2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E2C755-F442-740C-3610-5B4E39BBF131}"/>
              </a:ext>
            </a:extLst>
          </p:cNvPr>
          <p:cNvSpPr txBox="1"/>
          <p:nvPr/>
        </p:nvSpPr>
        <p:spPr>
          <a:xfrm>
            <a:off x="5921829" y="6071016"/>
            <a:ext cx="32815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/>
              <a:t>[1] </a:t>
            </a:r>
            <a:r>
              <a:rPr lang="en-GB" sz="1100" dirty="0" err="1"/>
              <a:t>WiseGuy</a:t>
            </a:r>
            <a:r>
              <a:rPr lang="en-GB" sz="1100" dirty="0"/>
              <a:t> Research Consultants</a:t>
            </a:r>
            <a:endParaRPr lang="fr-FR" sz="1100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4749FD6-7341-29D8-2EFF-027559DD14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8" name="Slide Number Placeholder 2">
            <a:extLst>
              <a:ext uri="{FF2B5EF4-FFF2-40B4-BE49-F238E27FC236}">
                <a16:creationId xmlns:a16="http://schemas.microsoft.com/office/drawing/2014/main" id="{46EC049F-B723-0C3E-A041-0F11D0EA4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4</a:t>
            </a:fld>
            <a:endParaRPr lang="fr-FR" sz="1400" b="1" dirty="0"/>
          </a:p>
        </p:txBody>
      </p:sp>
    </p:spTree>
    <p:extLst>
      <p:ext uri="{BB962C8B-B14F-4D97-AF65-F5344CB8AC3E}">
        <p14:creationId xmlns:p14="http://schemas.microsoft.com/office/powerpoint/2010/main" val="31837751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ABA01-5E57-F9AD-7FB1-9B31B40EB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47ABC560-5331-C119-99E8-E7E487C7F79C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0360A34-3C0D-7ED1-37AC-A59777E64D3C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ECCBCFC-B5B7-AE0C-CD83-2301C046DD2B}"/>
              </a:ext>
            </a:extLst>
          </p:cNvPr>
          <p:cNvSpPr/>
          <p:nvPr/>
        </p:nvSpPr>
        <p:spPr>
          <a:xfrm>
            <a:off x="642999" y="5763423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27756C83-7AA3-F936-101B-DF3BB74A0CF5}"/>
              </a:ext>
            </a:extLst>
          </p:cNvPr>
          <p:cNvGrpSpPr/>
          <p:nvPr/>
        </p:nvGrpSpPr>
        <p:grpSpPr>
          <a:xfrm>
            <a:off x="642999" y="1268784"/>
            <a:ext cx="7940613" cy="4679896"/>
            <a:chOff x="2391413" y="1278005"/>
            <a:chExt cx="7940613" cy="4679896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CE1B0F9D-8566-0C35-DA3D-12B83B1D5D8F}"/>
                </a:ext>
              </a:extLst>
            </p:cNvPr>
            <p:cNvGrpSpPr/>
            <p:nvPr/>
          </p:nvGrpSpPr>
          <p:grpSpPr>
            <a:xfrm>
              <a:off x="4257048" y="1278005"/>
              <a:ext cx="4556752" cy="4679896"/>
              <a:chOff x="5128260" y="2555821"/>
              <a:chExt cx="3281103" cy="2838917"/>
            </a:xfrm>
          </p:grpSpPr>
          <p:pic>
            <p:nvPicPr>
              <p:cNvPr id="10" name="Picture 9" descr="A blue and white drawing of a square and a rectangle&#10;&#10;AI-generated content may be incorrect.">
                <a:extLst>
                  <a:ext uri="{FF2B5EF4-FFF2-40B4-BE49-F238E27FC236}">
                    <a16:creationId xmlns:a16="http://schemas.microsoft.com/office/drawing/2014/main" id="{35B1D760-66A7-4EF2-06F7-CEB0F740545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17161" r="12491"/>
              <a:stretch>
                <a:fillRect/>
              </a:stretch>
            </p:blipFill>
            <p:spPr>
              <a:xfrm>
                <a:off x="5128260" y="2555821"/>
                <a:ext cx="3281103" cy="2838917"/>
              </a:xfrm>
              <a:prstGeom prst="rect">
                <a:avLst/>
              </a:prstGeom>
            </p:spPr>
          </p:pic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F26B4602-42B8-CD9D-7B5A-B72982226E4D}"/>
                  </a:ext>
                </a:extLst>
              </p:cNvPr>
              <p:cNvSpPr/>
              <p:nvPr/>
            </p:nvSpPr>
            <p:spPr>
              <a:xfrm>
                <a:off x="6606541" y="3415664"/>
                <a:ext cx="308610" cy="26987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1029" name="Picture 1028">
                <a:extLst>
                  <a:ext uri="{FF2B5EF4-FFF2-40B4-BE49-F238E27FC236}">
                    <a16:creationId xmlns:a16="http://schemas.microsoft.com/office/drawing/2014/main" id="{BEE47B49-AC29-0A5B-BE91-5834088C24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backgroundRemoval t="32494" b="70953" l="13960" r="44675"/>
                        </a14:imgEffect>
                        <a14:imgEffect>
                          <a14:brightnessContrast bright="40000" contrast="-4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120" t="27687" r="51486" b="24239"/>
              <a:stretch>
                <a:fillRect/>
              </a:stretch>
            </p:blipFill>
            <p:spPr>
              <a:xfrm>
                <a:off x="5513338" y="3130807"/>
                <a:ext cx="2568446" cy="1693612"/>
              </a:xfrm>
              <a:prstGeom prst="rect">
                <a:avLst/>
              </a:prstGeom>
            </p:spPr>
          </p:pic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830357CB-6D07-11C5-8EC3-85C6EB5CB4BF}"/>
                  </a:ext>
                </a:extLst>
              </p:cNvPr>
              <p:cNvSpPr/>
              <p:nvPr/>
            </p:nvSpPr>
            <p:spPr>
              <a:xfrm>
                <a:off x="6704837" y="3200415"/>
                <a:ext cx="103688" cy="87353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1E53688-28E3-395D-70F6-E50EF0BE10AB}"/>
                </a:ext>
              </a:extLst>
            </p:cNvPr>
            <p:cNvSpPr txBox="1"/>
            <p:nvPr/>
          </p:nvSpPr>
          <p:spPr>
            <a:xfrm flipH="1">
              <a:off x="2391413" y="2759586"/>
              <a:ext cx="1453534" cy="276999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Corde</a:t>
              </a:r>
            </a:p>
          </p:txBody>
        </p:sp>
        <p:cxnSp>
          <p:nvCxnSpPr>
            <p:cNvPr id="15" name="Connector: Elbow 14">
              <a:extLst>
                <a:ext uri="{FF2B5EF4-FFF2-40B4-BE49-F238E27FC236}">
                  <a16:creationId xmlns:a16="http://schemas.microsoft.com/office/drawing/2014/main" id="{F181BAC7-2F05-D532-04C6-1C065A8CDC42}"/>
                </a:ext>
              </a:extLst>
            </p:cNvPr>
            <p:cNvCxnSpPr>
              <a:cxnSpLocks/>
              <a:stCxn id="14" idx="0"/>
              <a:endCxn id="12" idx="2"/>
            </p:cNvCxnSpPr>
            <p:nvPr/>
          </p:nvCxnSpPr>
          <p:spPr>
            <a:xfrm rot="5400000" flipH="1" flipV="1">
              <a:off x="4608888" y="921898"/>
              <a:ext cx="346981" cy="3328397"/>
            </a:xfrm>
            <a:prstGeom prst="bentConnector2">
              <a:avLst/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89750372-0D76-1A6A-DD9B-C7FF226BC376}"/>
                </a:ext>
              </a:extLst>
            </p:cNvPr>
            <p:cNvSpPr txBox="1"/>
            <p:nvPr/>
          </p:nvSpPr>
          <p:spPr>
            <a:xfrm flipH="1">
              <a:off x="8878492" y="3017369"/>
              <a:ext cx="1453534" cy="276999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Bobine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55CDBB6C-E453-637C-7462-FBC874B60003}"/>
                </a:ext>
              </a:extLst>
            </p:cNvPr>
            <p:cNvSpPr txBox="1"/>
            <p:nvPr/>
          </p:nvSpPr>
          <p:spPr>
            <a:xfrm flipH="1">
              <a:off x="2391413" y="4386908"/>
              <a:ext cx="1453534" cy="276999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Aimant permanent</a:t>
              </a:r>
            </a:p>
          </p:txBody>
        </p:sp>
        <p:cxnSp>
          <p:nvCxnSpPr>
            <p:cNvPr id="28" name="Connector: Elbow 27">
              <a:extLst>
                <a:ext uri="{FF2B5EF4-FFF2-40B4-BE49-F238E27FC236}">
                  <a16:creationId xmlns:a16="http://schemas.microsoft.com/office/drawing/2014/main" id="{11FCA9BF-D568-7FEF-8F3A-CC03ABDECFCE}"/>
                </a:ext>
              </a:extLst>
            </p:cNvPr>
            <p:cNvCxnSpPr>
              <a:cxnSpLocks/>
              <a:stCxn id="20" idx="2"/>
            </p:cNvCxnSpPr>
            <p:nvPr/>
          </p:nvCxnSpPr>
          <p:spPr>
            <a:xfrm rot="5400000">
              <a:off x="8071816" y="2588985"/>
              <a:ext cx="828060" cy="2238827"/>
            </a:xfrm>
            <a:prstGeom prst="bentConnector2">
              <a:avLst/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ctor: Elbow 31">
              <a:extLst>
                <a:ext uri="{FF2B5EF4-FFF2-40B4-BE49-F238E27FC236}">
                  <a16:creationId xmlns:a16="http://schemas.microsoft.com/office/drawing/2014/main" id="{BD422936-A5EF-FA57-44E3-7B65B2489857}"/>
                </a:ext>
              </a:extLst>
            </p:cNvPr>
            <p:cNvCxnSpPr>
              <a:cxnSpLocks/>
              <a:stCxn id="22" idx="0"/>
            </p:cNvCxnSpPr>
            <p:nvPr/>
          </p:nvCxnSpPr>
          <p:spPr>
            <a:xfrm rot="5400000" flipH="1" flipV="1">
              <a:off x="4369573" y="2309905"/>
              <a:ext cx="825611" cy="3328397"/>
            </a:xfrm>
            <a:prstGeom prst="bentConnector2">
              <a:avLst/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4" name="Picture 2" descr="Free femm 4.2 software download (Windows)">
            <a:extLst>
              <a:ext uri="{FF2B5EF4-FFF2-40B4-BE49-F238E27FC236}">
                <a16:creationId xmlns:a16="http://schemas.microsoft.com/office/drawing/2014/main" id="{7E23C437-0ABF-7719-0798-576ADE154B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9363" y="721360"/>
            <a:ext cx="900000" cy="9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A8368BD-720D-61CB-9C35-FD2F182B225B}"/>
              </a:ext>
            </a:extLst>
          </p:cNvPr>
          <p:cNvSpPr txBox="1"/>
          <p:nvPr/>
        </p:nvSpPr>
        <p:spPr>
          <a:xfrm>
            <a:off x="5500915" y="6071016"/>
            <a:ext cx="37025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/>
              <a:t>[4] </a:t>
            </a:r>
            <a:r>
              <a:rPr lang="en-GB" sz="1100" dirty="0"/>
              <a:t>S. W. Duncan, "Interview With Seth Lover"</a:t>
            </a:r>
            <a:endParaRPr lang="fr-FR" sz="11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8EFCE6-1325-4661-AA72-4FFBB63CEFF5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Micro SingleCoil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94AF7F45-52A3-9483-9C58-D4A5D32B0F49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93EF40E8-F99F-B462-8250-77A4C4061D83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48" name="Footer Placeholder 2">
              <a:extLst>
                <a:ext uri="{FF2B5EF4-FFF2-40B4-BE49-F238E27FC236}">
                  <a16:creationId xmlns:a16="http://schemas.microsoft.com/office/drawing/2014/main" id="{19F03FE6-1C4E-947B-FA91-0A23A23336D8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Introduction</a:t>
              </a:r>
            </a:p>
          </p:txBody>
        </p: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AB4D5B1-9014-DA13-332D-861F4AAD1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210DB0-A6E5-9C62-A429-F39200613F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57FD8EB-97F7-35B8-C300-7336CE17CC36}"/>
              </a:ext>
            </a:extLst>
          </p:cNvPr>
          <p:cNvSpPr txBox="1"/>
          <p:nvPr/>
        </p:nvSpPr>
        <p:spPr>
          <a:xfrm>
            <a:off x="4570127" y="2991386"/>
            <a:ext cx="392079" cy="369332"/>
          </a:xfrm>
          <a:prstGeom prst="rect">
            <a:avLst/>
          </a:prstGeom>
          <a:solidFill>
            <a:srgbClr val="C00000"/>
          </a:solidFill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bg1"/>
                </a:solidFill>
                <a:latin typeface="Arial Black" panose="020B0A04020102020204" pitchFamily="34" charset="0"/>
              </a:rPr>
              <a:t>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16C5D8-B656-F7A3-CC83-FC76F4C1E262}"/>
              </a:ext>
            </a:extLst>
          </p:cNvPr>
          <p:cNvSpPr txBox="1"/>
          <p:nvPr/>
        </p:nvSpPr>
        <p:spPr>
          <a:xfrm>
            <a:off x="4570127" y="4222612"/>
            <a:ext cx="392079" cy="369332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bg1"/>
                </a:solidFill>
                <a:latin typeface="Arial Black" panose="020B0A04020102020204" pitchFamily="34" charset="0"/>
              </a:rPr>
              <a:t>S</a:t>
            </a:r>
          </a:p>
        </p:txBody>
      </p:sp>
      <p:sp>
        <p:nvSpPr>
          <p:cNvPr id="16" name="Slide Number Placeholder 2">
            <a:extLst>
              <a:ext uri="{FF2B5EF4-FFF2-40B4-BE49-F238E27FC236}">
                <a16:creationId xmlns:a16="http://schemas.microsoft.com/office/drawing/2014/main" id="{F05E82A5-EBC8-504A-BD59-F5FAB4888D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5</a:t>
            </a:fld>
            <a:endParaRPr lang="fr-FR" sz="1400" b="1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F154492E-813C-5706-A577-F0D7E77B93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27" r="7227"/>
          <a:stretch/>
        </p:blipFill>
        <p:spPr bwMode="auto">
          <a:xfrm>
            <a:off x="556920" y="517553"/>
            <a:ext cx="1260000" cy="1037332"/>
          </a:xfrm>
          <a:prstGeom prst="rect">
            <a:avLst/>
          </a:prstGeom>
          <a:effectLst>
            <a:softEdge rad="127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277612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E5CDC-E18A-6821-CC67-B07651DBB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58092A65-490B-4AC0-8393-01D12A337A0D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7637ED1-A8A1-92A6-E436-7B0AE35C232B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9E39AF3-B671-1A96-D11D-9164EFD8F565}"/>
              </a:ext>
            </a:extLst>
          </p:cNvPr>
          <p:cNvSpPr/>
          <p:nvPr/>
        </p:nvSpPr>
        <p:spPr>
          <a:xfrm>
            <a:off x="642999" y="5763423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0E07AC0-394D-84B1-8162-3042EECBDF45}"/>
              </a:ext>
            </a:extLst>
          </p:cNvPr>
          <p:cNvSpPr/>
          <p:nvPr/>
        </p:nvSpPr>
        <p:spPr>
          <a:xfrm>
            <a:off x="622219" y="1351909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A35D5EF-60B2-6FAD-3936-D1828DDA27A4}"/>
              </a:ext>
            </a:extLst>
          </p:cNvPr>
          <p:cNvSpPr/>
          <p:nvPr/>
        </p:nvSpPr>
        <p:spPr>
          <a:xfrm>
            <a:off x="642999" y="1720375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DDAA9F8-0DCE-F3A1-2774-4F4BB52CB5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18" t="7821" r="16609" b="12129"/>
          <a:stretch>
            <a:fillRect/>
          </a:stretch>
        </p:blipFill>
        <p:spPr>
          <a:xfrm>
            <a:off x="622219" y="954461"/>
            <a:ext cx="7984008" cy="4849713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786814AB-8380-0640-C9A3-B61B1F954501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CCC6DF1-F332-A203-EE77-C772AC9C18BD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3" name="Footer Placeholder 2">
              <a:extLst>
                <a:ext uri="{FF2B5EF4-FFF2-40B4-BE49-F238E27FC236}">
                  <a16:creationId xmlns:a16="http://schemas.microsoft.com/office/drawing/2014/main" id="{97DD3AD4-78A0-831B-7B26-AF4449B0D39C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Introduction</a:t>
              </a:r>
            </a:p>
          </p:txBody>
        </p: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9DA0D0A-9CE4-B35F-DED9-B8F9D2909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0170900-36E2-535F-E2A2-C1BB77EB8900}"/>
              </a:ext>
            </a:extLst>
          </p:cNvPr>
          <p:cNvSpPr txBox="1"/>
          <p:nvPr/>
        </p:nvSpPr>
        <p:spPr>
          <a:xfrm>
            <a:off x="5500915" y="6071016"/>
            <a:ext cx="37025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/>
              <a:t>[4] </a:t>
            </a:r>
            <a:r>
              <a:rPr lang="en-GB" sz="1100" dirty="0"/>
              <a:t>S. W. Duncan, "Interview With Seth Lover"</a:t>
            </a:r>
            <a:endParaRPr lang="fr-FR" sz="1100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0BCE46BE-99A1-C396-1439-D5023E5B29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8" name="Slide Number Placeholder 2">
            <a:extLst>
              <a:ext uri="{FF2B5EF4-FFF2-40B4-BE49-F238E27FC236}">
                <a16:creationId xmlns:a16="http://schemas.microsoft.com/office/drawing/2014/main" id="{E414B8C1-87A9-3C45-48CB-A14FD9ABD3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6</a:t>
            </a:fld>
            <a:endParaRPr lang="fr-FR" sz="1400" b="1" dirty="0"/>
          </a:p>
        </p:txBody>
      </p:sp>
    </p:spTree>
    <p:extLst>
      <p:ext uri="{BB962C8B-B14F-4D97-AF65-F5344CB8AC3E}">
        <p14:creationId xmlns:p14="http://schemas.microsoft.com/office/powerpoint/2010/main" val="19195274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B3F0E-84CD-C391-808C-60FB199D94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9CA72259-54E2-49A4-C520-ECE0702321F5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B783AE6-51CF-96D4-FF4F-76A91E4D70CC}"/>
              </a:ext>
            </a:extLst>
          </p:cNvPr>
          <p:cNvSpPr/>
          <p:nvPr/>
        </p:nvSpPr>
        <p:spPr>
          <a:xfrm>
            <a:off x="5953149" y="2713650"/>
            <a:ext cx="428593" cy="44488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E9966DA-65A5-0089-96C5-341C4C44043D}"/>
              </a:ext>
            </a:extLst>
          </p:cNvPr>
          <p:cNvSpPr/>
          <p:nvPr/>
        </p:nvSpPr>
        <p:spPr>
          <a:xfrm>
            <a:off x="7250271" y="2713650"/>
            <a:ext cx="247651" cy="44488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52B7CE4-DCA4-58A6-9A88-29EF0568BDAF}"/>
              </a:ext>
            </a:extLst>
          </p:cNvPr>
          <p:cNvSpPr/>
          <p:nvPr/>
        </p:nvSpPr>
        <p:spPr>
          <a:xfrm>
            <a:off x="5419725" y="2891036"/>
            <a:ext cx="468895" cy="120090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9C2055B-F368-6E9D-0494-ABBA449BB687}"/>
              </a:ext>
            </a:extLst>
          </p:cNvPr>
          <p:cNvGrpSpPr>
            <a:grpSpLocks noChangeAspect="1"/>
          </p:cNvGrpSpPr>
          <p:nvPr/>
        </p:nvGrpSpPr>
        <p:grpSpPr>
          <a:xfrm>
            <a:off x="1592129" y="498613"/>
            <a:ext cx="5952228" cy="5446688"/>
            <a:chOff x="4572000" y="1105567"/>
            <a:chExt cx="4303537" cy="3938025"/>
          </a:xfrm>
        </p:grpSpPr>
        <p:pic>
          <p:nvPicPr>
            <p:cNvPr id="22" name="Picture 21" descr="A drawing of a computer&#10;&#10;AI-generated content may be incorrect.">
              <a:extLst>
                <a:ext uri="{FF2B5EF4-FFF2-40B4-BE49-F238E27FC236}">
                  <a16:creationId xmlns:a16="http://schemas.microsoft.com/office/drawing/2014/main" id="{D940559A-4517-B76C-7191-DBF90D78447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572000" y="1105567"/>
              <a:ext cx="4303537" cy="3938025"/>
            </a:xfrm>
            <a:prstGeom prst="rect">
              <a:avLst/>
            </a:prstGeom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84ACEF00-6939-5D0B-A13E-4FE798F62ED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276" t="6786" r="5431" b="11456"/>
            <a:stretch>
              <a:fillRect/>
            </a:stretch>
          </p:blipFill>
          <p:spPr>
            <a:xfrm>
              <a:off x="5043879" y="2370603"/>
              <a:ext cx="3400522" cy="2092725"/>
            </a:xfrm>
            <a:prstGeom prst="rect">
              <a:avLst/>
            </a:prstGeom>
          </p:spPr>
        </p:pic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0A070375-38D7-0425-E55D-0B48FE1180FC}"/>
                </a:ext>
              </a:extLst>
            </p:cNvPr>
            <p:cNvSpPr/>
            <p:nvPr/>
          </p:nvSpPr>
          <p:spPr>
            <a:xfrm>
              <a:off x="4589145" y="2237711"/>
              <a:ext cx="4276317" cy="788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pic>
        <p:nvPicPr>
          <p:cNvPr id="13" name="Picture 2" descr="Free femm 4.2 software download (Windows)">
            <a:extLst>
              <a:ext uri="{FF2B5EF4-FFF2-40B4-BE49-F238E27FC236}">
                <a16:creationId xmlns:a16="http://schemas.microsoft.com/office/drawing/2014/main" id="{3FA0ADC1-9B0B-00B1-E104-3F44176109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9363" y="721360"/>
            <a:ext cx="900000" cy="9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92B4F244-6F4C-3EAA-965E-76F8DAA7B14C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Micro Humbucker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E593F41-6F39-361E-0A62-C3B67BE71D93}"/>
              </a:ext>
            </a:extLst>
          </p:cNvPr>
          <p:cNvSpPr txBox="1"/>
          <p:nvPr/>
        </p:nvSpPr>
        <p:spPr>
          <a:xfrm flipH="1">
            <a:off x="720997" y="1477266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Corde</a:t>
            </a:r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FF77FEB0-F50B-87D1-B05A-F03C82BDF92D}"/>
              </a:ext>
            </a:extLst>
          </p:cNvPr>
          <p:cNvCxnSpPr>
            <a:cxnSpLocks/>
            <a:stCxn id="37" idx="2"/>
            <a:endCxn id="33" idx="1"/>
          </p:cNvCxnSpPr>
          <p:nvPr/>
        </p:nvCxnSpPr>
        <p:spPr>
          <a:xfrm rot="16200000" flipH="1">
            <a:off x="1349442" y="1852587"/>
            <a:ext cx="364722" cy="168078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6ABADA61-5B9D-A516-A70E-04D7AA645191}"/>
              </a:ext>
            </a:extLst>
          </p:cNvPr>
          <p:cNvSpPr txBox="1"/>
          <p:nvPr/>
        </p:nvSpPr>
        <p:spPr>
          <a:xfrm flipH="1">
            <a:off x="471055" y="4387077"/>
            <a:ext cx="1622577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Aimants permanents</a:t>
            </a:r>
          </a:p>
        </p:txBody>
      </p: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01CFDA93-F6CC-0567-B5D1-51470F715D93}"/>
              </a:ext>
            </a:extLst>
          </p:cNvPr>
          <p:cNvCxnSpPr>
            <a:cxnSpLocks/>
            <a:stCxn id="40" idx="0"/>
          </p:cNvCxnSpPr>
          <p:nvPr/>
        </p:nvCxnSpPr>
        <p:spPr>
          <a:xfrm rot="5400000" flipH="1" flipV="1">
            <a:off x="1539750" y="2271048"/>
            <a:ext cx="1858622" cy="2373436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BAF1B7B9-1C45-C088-4CB0-28717C74BDF2}"/>
              </a:ext>
            </a:extLst>
          </p:cNvPr>
          <p:cNvCxnSpPr>
            <a:cxnSpLocks/>
            <a:stCxn id="40" idx="0"/>
          </p:cNvCxnSpPr>
          <p:nvPr/>
        </p:nvCxnSpPr>
        <p:spPr>
          <a:xfrm rot="5400000" flipH="1" flipV="1">
            <a:off x="2497878" y="1498116"/>
            <a:ext cx="1673426" cy="4104496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F467D2B5-392A-FE74-4310-84CCCF4527BB}"/>
              </a:ext>
            </a:extLst>
          </p:cNvPr>
          <p:cNvSpPr txBox="1"/>
          <p:nvPr/>
        </p:nvSpPr>
        <p:spPr>
          <a:xfrm flipH="1">
            <a:off x="7150275" y="3373392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Bobine</a:t>
            </a:r>
          </a:p>
        </p:txBody>
      </p: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279DD24F-CDD7-E624-5F20-C27C82B2FBB1}"/>
              </a:ext>
            </a:extLst>
          </p:cNvPr>
          <p:cNvCxnSpPr>
            <a:cxnSpLocks/>
            <a:stCxn id="50" idx="2"/>
          </p:cNvCxnSpPr>
          <p:nvPr/>
        </p:nvCxnSpPr>
        <p:spPr>
          <a:xfrm rot="5400000">
            <a:off x="6916081" y="2926612"/>
            <a:ext cx="237183" cy="1684741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B78FAB7A-9FB1-C9C0-4840-E3A7DD272F73}"/>
              </a:ext>
            </a:extLst>
          </p:cNvPr>
          <p:cNvCxnSpPr>
            <a:cxnSpLocks/>
            <a:stCxn id="50" idx="2"/>
          </p:cNvCxnSpPr>
          <p:nvPr/>
        </p:nvCxnSpPr>
        <p:spPr>
          <a:xfrm rot="5400000">
            <a:off x="5821500" y="2189183"/>
            <a:ext cx="594335" cy="3516750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grpSp>
        <p:nvGrpSpPr>
          <p:cNvPr id="58" name="Group 57">
            <a:extLst>
              <a:ext uri="{FF2B5EF4-FFF2-40B4-BE49-F238E27FC236}">
                <a16:creationId xmlns:a16="http://schemas.microsoft.com/office/drawing/2014/main" id="{45A6B271-E2D8-B11C-AC3A-41C087E067C3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116B81DE-CE67-4B5A-3895-DD224A2F4D30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60" name="Footer Placeholder 2">
              <a:extLst>
                <a:ext uri="{FF2B5EF4-FFF2-40B4-BE49-F238E27FC236}">
                  <a16:creationId xmlns:a16="http://schemas.microsoft.com/office/drawing/2014/main" id="{ED27BAC7-A23D-18ED-EB0C-C289ED77629D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Introduction</a:t>
              </a:r>
            </a:p>
          </p:txBody>
        </p: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65FFD95-280A-DA7B-3174-834A58BBF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A031E5-F817-247E-643D-F0D1019CEEBD}"/>
              </a:ext>
            </a:extLst>
          </p:cNvPr>
          <p:cNvSpPr txBox="1"/>
          <p:nvPr/>
        </p:nvSpPr>
        <p:spPr>
          <a:xfrm>
            <a:off x="5500915" y="6071016"/>
            <a:ext cx="37025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/>
              <a:t>[4] </a:t>
            </a:r>
            <a:r>
              <a:rPr lang="en-GB" sz="1100" dirty="0"/>
              <a:t>S. W. Duncan, "Interview With Seth Lover"</a:t>
            </a:r>
            <a:endParaRPr lang="fr-FR" sz="1100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190AA6-1EE8-EF08-E227-88553644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A4CCC4F-5C65-DD91-8A61-17E888BB2326}"/>
              </a:ext>
            </a:extLst>
          </p:cNvPr>
          <p:cNvSpPr txBox="1"/>
          <p:nvPr/>
        </p:nvSpPr>
        <p:spPr>
          <a:xfrm>
            <a:off x="3545069" y="2778610"/>
            <a:ext cx="392079" cy="369332"/>
          </a:xfrm>
          <a:prstGeom prst="rect">
            <a:avLst/>
          </a:prstGeom>
          <a:solidFill>
            <a:srgbClr val="C00000"/>
          </a:solidFill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bg1"/>
                </a:solidFill>
                <a:latin typeface="Arial Black" panose="020B0A04020102020204" pitchFamily="34" charset="0"/>
              </a:rPr>
              <a:t>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1E1A32-81FA-D10B-F3D8-BD7081109444}"/>
              </a:ext>
            </a:extLst>
          </p:cNvPr>
          <p:cNvSpPr txBox="1"/>
          <p:nvPr/>
        </p:nvSpPr>
        <p:spPr>
          <a:xfrm>
            <a:off x="5195699" y="2782495"/>
            <a:ext cx="392079" cy="369332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bg1"/>
                </a:solidFill>
                <a:latin typeface="Arial Black" panose="020B0A04020102020204" pitchFamily="34" charset="0"/>
              </a:rPr>
              <a:t>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0D83196-DCA2-B166-452A-75A892D29BD8}"/>
              </a:ext>
            </a:extLst>
          </p:cNvPr>
          <p:cNvSpPr txBox="1"/>
          <p:nvPr/>
        </p:nvSpPr>
        <p:spPr>
          <a:xfrm>
            <a:off x="5195698" y="4320785"/>
            <a:ext cx="392079" cy="369332"/>
          </a:xfrm>
          <a:prstGeom prst="rect">
            <a:avLst/>
          </a:prstGeom>
          <a:solidFill>
            <a:srgbClr val="C00000"/>
          </a:solidFill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bg1"/>
                </a:solidFill>
                <a:latin typeface="Arial Black" panose="020B0A04020102020204" pitchFamily="34" charset="0"/>
              </a:rPr>
              <a:t>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031F120-E518-5CCD-6BEA-2B95E2C97550}"/>
              </a:ext>
            </a:extLst>
          </p:cNvPr>
          <p:cNvSpPr txBox="1"/>
          <p:nvPr/>
        </p:nvSpPr>
        <p:spPr>
          <a:xfrm>
            <a:off x="3545069" y="4317910"/>
            <a:ext cx="392079" cy="369332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bg1"/>
                </a:solidFill>
                <a:latin typeface="Arial Black" panose="020B0A04020102020204" pitchFamily="34" charset="0"/>
              </a:rPr>
              <a:t>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2F1BF78-7771-183F-5E10-7EAB30E10F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7</a:t>
            </a:fld>
            <a:endParaRPr lang="fr-FR" sz="1400" b="1" dirty="0"/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F361DA7D-3E77-57F3-D00B-30AF85B8CB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3" r="6123"/>
          <a:stretch/>
        </p:blipFill>
        <p:spPr bwMode="auto">
          <a:xfrm>
            <a:off x="556920" y="527318"/>
            <a:ext cx="1260000" cy="10117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808643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FAE0E-A710-B751-21D5-1465D9560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0A1813A-2397-9FF3-55B4-A7083DA4BF3A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15" name="Rectangle 2">
            <a:extLst>
              <a:ext uri="{FF2B5EF4-FFF2-40B4-BE49-F238E27FC236}">
                <a16:creationId xmlns:a16="http://schemas.microsoft.com/office/drawing/2014/main" id="{896A7184-965A-9FF1-E334-6E90259941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9327" y="1666552"/>
            <a:ext cx="7425344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sz="2000" dirty="0"/>
              <a:t>Dans quelle mesure </a:t>
            </a:r>
            <a:r>
              <a:rPr lang="fr-FR" sz="2000" b="1" dirty="0"/>
              <a:t>l'ajout d'une seconde bobine </a:t>
            </a:r>
          </a:p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sz="2000" dirty="0"/>
              <a:t>permet-il </a:t>
            </a:r>
            <a:r>
              <a:rPr lang="fr-FR" sz="2000" b="1" dirty="0"/>
              <a:t>d'éliminer les parasites </a:t>
            </a:r>
            <a:r>
              <a:rPr lang="fr-FR" sz="2000" dirty="0"/>
              <a:t>?</a:t>
            </a:r>
          </a:p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sz="2000" dirty="0"/>
              <a:t>Comment cela impacte-t-il </a:t>
            </a:r>
            <a:r>
              <a:rPr lang="fr-FR" sz="2000" b="1" dirty="0"/>
              <a:t>la richesse du son </a:t>
            </a:r>
            <a:r>
              <a:rPr lang="fr-FR" sz="2000" dirty="0"/>
              <a:t>?</a:t>
            </a:r>
            <a:endParaRPr kumimoji="0" lang="fr-FR" altLang="fr-FR" sz="2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4EE9D4-1D4E-E6DD-563B-928B9E769F11}"/>
              </a:ext>
            </a:extLst>
          </p:cNvPr>
          <p:cNvSpPr txBox="1"/>
          <p:nvPr/>
        </p:nvSpPr>
        <p:spPr>
          <a:xfrm>
            <a:off x="822961" y="4436823"/>
            <a:ext cx="3749039" cy="400110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fr-FR" sz="2000" dirty="0"/>
              <a:t>SingleCoil</a:t>
            </a:r>
            <a:endParaRPr lang="fr-FR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97F5EE0-EFED-C507-DAB9-15D261AF6049}"/>
              </a:ext>
            </a:extLst>
          </p:cNvPr>
          <p:cNvSpPr txBox="1"/>
          <p:nvPr/>
        </p:nvSpPr>
        <p:spPr>
          <a:xfrm>
            <a:off x="4572000" y="4436823"/>
            <a:ext cx="3837363" cy="400110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fr-FR" sz="2000" dirty="0"/>
              <a:t>Humbucker</a:t>
            </a:r>
            <a:endParaRPr lang="fr-FR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13DBB3E-CACA-593E-E545-39E8047A68D3}"/>
              </a:ext>
            </a:extLst>
          </p:cNvPr>
          <p:cNvSpPr txBox="1"/>
          <p:nvPr/>
        </p:nvSpPr>
        <p:spPr>
          <a:xfrm>
            <a:off x="2802834" y="3896190"/>
            <a:ext cx="3538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/>
              <a:t>Architecture des micros :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8B92DDB-5107-9492-084E-A032449469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27" r="7227"/>
          <a:stretch/>
        </p:blipFill>
        <p:spPr bwMode="auto">
          <a:xfrm>
            <a:off x="1894305" y="3425036"/>
            <a:ext cx="1260000" cy="1037332"/>
          </a:xfrm>
          <a:prstGeom prst="rect">
            <a:avLst/>
          </a:prstGeom>
          <a:effectLst>
            <a:softEdge rad="127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>
            <a:extLst>
              <a:ext uri="{FF2B5EF4-FFF2-40B4-BE49-F238E27FC236}">
                <a16:creationId xmlns:a16="http://schemas.microsoft.com/office/drawing/2014/main" id="{0E83BBAA-0E05-C329-303D-8623CD6193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3" r="6123"/>
          <a:stretch/>
        </p:blipFill>
        <p:spPr bwMode="auto">
          <a:xfrm>
            <a:off x="6033856" y="3425036"/>
            <a:ext cx="1260000" cy="10117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DA54D667-7FF4-5DE5-D4F2-5DD4D34EB195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DCE21C3-ED50-B7AE-90AC-B6FCFAE27E9D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4" name="Footer Placeholder 2">
              <a:extLst>
                <a:ext uri="{FF2B5EF4-FFF2-40B4-BE49-F238E27FC236}">
                  <a16:creationId xmlns:a16="http://schemas.microsoft.com/office/drawing/2014/main" id="{6E8EBF37-F330-4467-BC2C-030BB6539C50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Introduction</a:t>
              </a:r>
            </a:p>
          </p:txBody>
        </p: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17C153F-C755-6198-D31A-B9D25FF85F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A93CD084-34B4-D32A-A321-EF55172C9F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9" name="Slide Number Placeholder 2">
            <a:extLst>
              <a:ext uri="{FF2B5EF4-FFF2-40B4-BE49-F238E27FC236}">
                <a16:creationId xmlns:a16="http://schemas.microsoft.com/office/drawing/2014/main" id="{B4A5D9C7-9BA9-B381-FFAC-9B1028B199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8</a:t>
            </a:fld>
            <a:endParaRPr lang="fr-FR" sz="1400" b="1" dirty="0"/>
          </a:p>
        </p:txBody>
      </p:sp>
    </p:spTree>
    <p:extLst>
      <p:ext uri="{BB962C8B-B14F-4D97-AF65-F5344CB8AC3E}">
        <p14:creationId xmlns:p14="http://schemas.microsoft.com/office/powerpoint/2010/main" val="14240463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D390230-A66D-FF4E-9E42-551EEE657AEA}"/>
              </a:ext>
            </a:extLst>
          </p:cNvPr>
          <p:cNvGrpSpPr/>
          <p:nvPr/>
        </p:nvGrpSpPr>
        <p:grpSpPr>
          <a:xfrm>
            <a:off x="0" y="6395093"/>
            <a:ext cx="9144000" cy="479397"/>
            <a:chOff x="0" y="-4624"/>
            <a:chExt cx="9144000" cy="457200"/>
          </a:xfrm>
          <a:solidFill>
            <a:srgbClr val="629DD1"/>
          </a:solidFill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15BB4F3-3902-D98E-74DA-57C1499BEC6F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9" name="Footer Placeholder 2">
              <a:extLst>
                <a:ext uri="{FF2B5EF4-FFF2-40B4-BE49-F238E27FC236}">
                  <a16:creationId xmlns:a16="http://schemas.microsoft.com/office/drawing/2014/main" id="{9A28375B-D627-740F-A1A9-88BD72733650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10" name="Footer Placeholder 2">
            <a:extLst>
              <a:ext uri="{FF2B5EF4-FFF2-40B4-BE49-F238E27FC236}">
                <a16:creationId xmlns:a16="http://schemas.microsoft.com/office/drawing/2014/main" id="{89143811-CC85-6876-FEDB-53C2F3122FDE}"/>
              </a:ext>
            </a:extLst>
          </p:cNvPr>
          <p:cNvSpPr txBox="1">
            <a:spLocks/>
          </p:cNvSpPr>
          <p:nvPr/>
        </p:nvSpPr>
        <p:spPr>
          <a:xfrm>
            <a:off x="15096" y="6335178"/>
            <a:ext cx="9144000" cy="63096"/>
          </a:xfrm>
          <a:prstGeom prst="rect">
            <a:avLst/>
          </a:prstGeom>
          <a:solidFill>
            <a:srgbClr val="4A66AC"/>
          </a:solidFill>
          <a:ln>
            <a:noFill/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978086C-4327-4CCE-3575-B965AEB075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sz="2800" dirty="0">
                <a:latin typeface="Arial Black" panose="020B0A04020102020204" pitchFamily="34" charset="0"/>
              </a:rPr>
              <a:t>SOMMAIRE</a:t>
            </a:r>
            <a:endParaRPr lang="fr-FR" sz="2400" dirty="0">
              <a:latin typeface="Arial Black" panose="020B0A040201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906377-3E17-25EE-9ED4-4AD5B2ACCC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fr-FR" dirty="0">
                <a:solidFill>
                  <a:schemeClr val="tx1"/>
                </a:solidFill>
                <a:latin typeface="Arial Black" panose="020B0A04020102020204" pitchFamily="34" charset="0"/>
              </a:rPr>
              <a:t>I. Filtrage électrique interne</a:t>
            </a:r>
          </a:p>
          <a:p>
            <a:pPr marL="4572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fr-FR" dirty="0">
                <a:solidFill>
                  <a:schemeClr val="tx1"/>
                </a:solidFill>
              </a:rPr>
              <a:t>A. Théorie</a:t>
            </a:r>
          </a:p>
          <a:p>
            <a:pPr marL="4572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fr-FR" dirty="0">
                <a:solidFill>
                  <a:schemeClr val="tx1"/>
                </a:solidFill>
              </a:rPr>
              <a:t>B. Expérimentation</a:t>
            </a:r>
          </a:p>
          <a:p>
            <a:pPr marL="4572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fr-FR" dirty="0">
                <a:solidFill>
                  <a:schemeClr val="tx1"/>
                </a:solidFill>
              </a:rPr>
              <a:t>C. Résultats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endParaRPr lang="fr-FR" dirty="0">
              <a:solidFill>
                <a:schemeClr val="tx1"/>
              </a:solidFill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fr-FR" dirty="0">
                <a:solidFill>
                  <a:schemeClr val="tx1"/>
                </a:solidFill>
                <a:latin typeface="Arial Black" panose="020B0A04020102020204" pitchFamily="34" charset="0"/>
              </a:rPr>
              <a:t>II. Induction et filtrage spatial</a:t>
            </a:r>
          </a:p>
          <a:p>
            <a:pPr marL="4572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fr-FR" dirty="0">
                <a:solidFill>
                  <a:schemeClr val="tx1"/>
                </a:solidFill>
              </a:rPr>
              <a:t>A. Théorie</a:t>
            </a:r>
          </a:p>
          <a:p>
            <a:pPr marL="4572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fr-FR" dirty="0">
                <a:solidFill>
                  <a:schemeClr val="tx1"/>
                </a:solidFill>
              </a:rPr>
              <a:t>B. Expérimentation</a:t>
            </a:r>
          </a:p>
          <a:p>
            <a:pPr marL="4572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fr-FR" dirty="0">
                <a:solidFill>
                  <a:schemeClr val="tx1"/>
                </a:solidFill>
              </a:rPr>
              <a:t>C. Résultats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endParaRPr lang="fr-FR" dirty="0">
              <a:solidFill>
                <a:schemeClr val="tx1"/>
              </a:solidFill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fr-FR" dirty="0">
                <a:solidFill>
                  <a:schemeClr val="tx1"/>
                </a:solidFill>
                <a:latin typeface="Arial Black" panose="020B0A04020102020204" pitchFamily="34" charset="0"/>
              </a:rPr>
              <a:t>III. Réduction du bourdonnement</a:t>
            </a:r>
          </a:p>
          <a:p>
            <a:pPr marL="4572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fr-FR" dirty="0">
                <a:solidFill>
                  <a:schemeClr val="tx1"/>
                </a:solidFill>
              </a:rPr>
              <a:t>A. Théorie</a:t>
            </a:r>
          </a:p>
          <a:p>
            <a:pPr marL="4572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fr-FR" dirty="0">
                <a:solidFill>
                  <a:schemeClr val="tx1"/>
                </a:solidFill>
              </a:rPr>
              <a:t>B. Expérimentation</a:t>
            </a:r>
          </a:p>
          <a:p>
            <a:pPr marL="4572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fr-FR" dirty="0">
                <a:solidFill>
                  <a:schemeClr val="tx1"/>
                </a:solidFill>
              </a:rPr>
              <a:t>C. Résultats</a:t>
            </a:r>
          </a:p>
          <a:p>
            <a:endParaRPr lang="fr-FR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3DB849-6BE7-4318-417B-F68D54419C3E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r>
              <a:rPr lang="fr-FR" sz="1600" dirty="0">
                <a:solidFill>
                  <a:schemeClr val="tx1"/>
                </a:solidFill>
              </a:rPr>
              <a:t>Comparaison des différents montages :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sz="1600" dirty="0">
                <a:solidFill>
                  <a:schemeClr val="tx1"/>
                </a:solidFill>
              </a:rPr>
              <a:t>SingleCoil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sz="1600" dirty="0">
                <a:solidFill>
                  <a:schemeClr val="tx1"/>
                </a:solidFill>
              </a:rPr>
              <a:t>Humbucker série (--)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sz="1600" dirty="0">
                <a:solidFill>
                  <a:schemeClr val="tx1"/>
                </a:solidFill>
              </a:rPr>
              <a:t>Humbucker parallèle (//)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EA2F07-0D60-CE99-61C5-8E3DEFE30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11B6D2B-D51B-778B-D85B-5262F118BA22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E7DA164-4E2F-3F43-7D4B-04F38B9080CA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3" name="Footer Placeholder 2">
              <a:extLst>
                <a:ext uri="{FF2B5EF4-FFF2-40B4-BE49-F238E27FC236}">
                  <a16:creationId xmlns:a16="http://schemas.microsoft.com/office/drawing/2014/main" id="{6483E35D-B97E-442E-7EAA-361348BD5A8D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Introduction</a:t>
              </a:r>
            </a:p>
          </p:txBody>
        </p:sp>
      </p:grp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4BA831D4-708C-E15C-792A-6B3F67FF80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>
                <a:solidFill>
                  <a:schemeClr val="bg1"/>
                </a:solidFill>
              </a:rPr>
              <a:t>TIPE 39662</a:t>
            </a:r>
          </a:p>
        </p:txBody>
      </p:sp>
      <p:sp>
        <p:nvSpPr>
          <p:cNvPr id="15" name="Slide Number Placeholder 2">
            <a:extLst>
              <a:ext uri="{FF2B5EF4-FFF2-40B4-BE49-F238E27FC236}">
                <a16:creationId xmlns:a16="http://schemas.microsoft.com/office/drawing/2014/main" id="{12EB2ECF-9E51-3809-56D3-C6C81FA47E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>
                <a:solidFill>
                  <a:schemeClr val="bg1"/>
                </a:solidFill>
              </a:rPr>
              <a:t>9</a:t>
            </a:fld>
            <a:endParaRPr lang="fr-FR" sz="14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58079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0A67A1-DA61-144F-362B-2D83140EA2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sz="2800" dirty="0">
                <a:latin typeface="Arial Black" panose="020B0A04020102020204" pitchFamily="34" charset="0"/>
              </a:rPr>
              <a:t>THEORIE</a:t>
            </a:r>
            <a:endParaRPr lang="fr-FR" sz="2800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18490F7B-B856-2072-2D20-4EF3D42D68CB}"/>
              </a:ext>
            </a:extLst>
          </p:cNvPr>
          <p:cNvGrpSpPr/>
          <p:nvPr/>
        </p:nvGrpSpPr>
        <p:grpSpPr>
          <a:xfrm>
            <a:off x="3353556" y="999394"/>
            <a:ext cx="5447544" cy="3869802"/>
            <a:chOff x="1054903" y="1363393"/>
            <a:chExt cx="4626939" cy="3600000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2821C979-ECD0-3B5D-D02D-3E8F869F4181}"/>
                </a:ext>
              </a:extLst>
            </p:cNvPr>
            <p:cNvGrpSpPr/>
            <p:nvPr/>
          </p:nvGrpSpPr>
          <p:grpSpPr>
            <a:xfrm>
              <a:off x="1054903" y="1363393"/>
              <a:ext cx="4626939" cy="3600000"/>
              <a:chOff x="1054904" y="1200155"/>
              <a:chExt cx="4927617" cy="3601072"/>
            </a:xfrm>
          </p:grpSpPr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D2E38B82-AC76-3902-9777-E5D3B147BDAB}"/>
                  </a:ext>
                </a:extLst>
              </p:cNvPr>
              <p:cNvPicPr>
                <a:picLocks/>
              </p:cNvPicPr>
              <p:nvPr/>
            </p:nvPicPr>
            <p:blipFill>
              <a:blip r:embed="rId2">
                <a:biLevel thresh="75000"/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1054904" y="1200155"/>
                <a:ext cx="4927617" cy="3601072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</p:pic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6CF4F3A-C925-7A21-2466-B1435898CB49}"/>
                  </a:ext>
                </a:extLst>
              </p:cNvPr>
              <p:cNvSpPr/>
              <p:nvPr/>
            </p:nvSpPr>
            <p:spPr>
              <a:xfrm>
                <a:off x="1486014" y="2104150"/>
                <a:ext cx="569627" cy="19447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3E4F847F-324E-3AF9-DD8B-2A3D7ED31C67}"/>
                  </a:ext>
                </a:extLst>
              </p:cNvPr>
              <p:cNvSpPr/>
              <p:nvPr/>
            </p:nvSpPr>
            <p:spPr>
              <a:xfrm>
                <a:off x="2555070" y="3033420"/>
                <a:ext cx="569627" cy="19447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247A821B-7C32-C11F-4EC7-61104E0F3F8C}"/>
                  </a:ext>
                </a:extLst>
              </p:cNvPr>
              <p:cNvSpPr/>
              <p:nvPr/>
            </p:nvSpPr>
            <p:spPr>
              <a:xfrm>
                <a:off x="3715970" y="3073533"/>
                <a:ext cx="703406" cy="24014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B7F0EF69-3F70-4282-5858-C1DC1CF8BB0F}"/>
                  </a:ext>
                </a:extLst>
              </p:cNvPr>
              <p:cNvSpPr/>
              <p:nvPr/>
            </p:nvSpPr>
            <p:spPr>
              <a:xfrm>
                <a:off x="5397029" y="3091033"/>
                <a:ext cx="527521" cy="20117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F270AF5-99F9-928C-BD3A-A92043EA0E41}"/>
                  </a:ext>
                </a:extLst>
              </p:cNvPr>
              <p:cNvSpPr/>
              <p:nvPr/>
            </p:nvSpPr>
            <p:spPr>
              <a:xfrm>
                <a:off x="1468417" y="3119201"/>
                <a:ext cx="569627" cy="19447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58844546-C4A9-7120-AC2B-8F99517EE9EC}"/>
                </a:ext>
              </a:extLst>
            </p:cNvPr>
            <p:cNvCxnSpPr/>
            <p:nvPr/>
          </p:nvCxnSpPr>
          <p:spPr>
            <a:xfrm flipV="1">
              <a:off x="1601848" y="3920464"/>
              <a:ext cx="0" cy="540000"/>
            </a:xfrm>
            <a:prstGeom prst="straightConnector1">
              <a:avLst/>
            </a:prstGeom>
            <a:ln>
              <a:solidFill>
                <a:srgbClr val="3890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B787BD7A-8E88-7B68-9FD7-163E690E3BB8}"/>
                    </a:ext>
                  </a:extLst>
                </p:cNvPr>
                <p:cNvSpPr txBox="1"/>
                <p:nvPr/>
              </p:nvSpPr>
              <p:spPr>
                <a:xfrm>
                  <a:off x="1657934" y="4069558"/>
                  <a:ext cx="316562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sz="1200" dirty="0">
                    <a:solidFill>
                      <a:srgbClr val="38903A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6806677D-0818-3210-9991-80EAAFAEA9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57934" y="4069558"/>
                  <a:ext cx="316562" cy="184666"/>
                </a:xfrm>
                <a:prstGeom prst="rect">
                  <a:avLst/>
                </a:prstGeom>
                <a:blipFill>
                  <a:blip r:embed="rId8"/>
                  <a:stretch>
                    <a:fillRect l="-5769" t="-3333" r="-15385" b="-40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293186A7-E3C8-3A1D-64E4-8B61491CF22A}"/>
                </a:ext>
              </a:extLst>
            </p:cNvPr>
            <p:cNvCxnSpPr/>
            <p:nvPr/>
          </p:nvCxnSpPr>
          <p:spPr>
            <a:xfrm flipV="1">
              <a:off x="4752281" y="2872673"/>
              <a:ext cx="0" cy="540000"/>
            </a:xfrm>
            <a:prstGeom prst="straightConnector1">
              <a:avLst/>
            </a:prstGeom>
            <a:ln>
              <a:solidFill>
                <a:srgbClr val="3890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4B4FB649-0208-E2CF-1D98-78328F1FBE1A}"/>
                    </a:ext>
                  </a:extLst>
                </p:cNvPr>
                <p:cNvSpPr txBox="1"/>
                <p:nvPr/>
              </p:nvSpPr>
              <p:spPr>
                <a:xfrm>
                  <a:off x="4413719" y="3036680"/>
                  <a:ext cx="321178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sz="1200" dirty="0">
                    <a:solidFill>
                      <a:srgbClr val="38903A"/>
                    </a:solidFill>
                  </a:endParaRPr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FBEA564-E231-D34A-1E71-EDA0435E74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13719" y="3036680"/>
                  <a:ext cx="321178" cy="184666"/>
                </a:xfrm>
                <a:prstGeom prst="rect">
                  <a:avLst/>
                </a:prstGeom>
                <a:blipFill>
                  <a:blip r:embed="rId9"/>
                  <a:stretch>
                    <a:fillRect l="-5660" r="-13208" b="-43333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90F3B32-0968-D622-89B1-D5CDEEBE7A7F}"/>
                  </a:ext>
                </a:extLst>
              </p:cNvPr>
              <p:cNvSpPr txBox="1"/>
              <p:nvPr/>
            </p:nvSpPr>
            <p:spPr>
              <a:xfrm>
                <a:off x="3353556" y="4961363"/>
                <a:ext cx="5447544" cy="770596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</m:den>
                          </m:f>
                        </m:num>
                        <m:den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 + </m:t>
                          </m:r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+ </m:t>
                              </m:r>
                              <m:r>
                                <m:rPr>
                                  <m:sty m:val="p"/>
                                </m:r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</m:den>
                          </m:f>
                          <m:r>
                            <m:rPr>
                              <m:sty m:val="p"/>
                            </m:r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p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+ </m:t>
                          </m:r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LC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</m:den>
                          </m:f>
                          <m:r>
                            <m:rPr>
                              <m:sty m:val="p"/>
                            </m:r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p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90F3B32-0968-D622-89B1-D5CDEEBE7A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53556" y="4961363"/>
                <a:ext cx="5447544" cy="770596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543558B9-6EAE-48A6-1620-C265526DFD24}"/>
              </a:ext>
            </a:extLst>
          </p:cNvPr>
          <p:cNvSpPr txBox="1"/>
          <p:nvPr/>
        </p:nvSpPr>
        <p:spPr>
          <a:xfrm>
            <a:off x="3353556" y="5761933"/>
            <a:ext cx="49063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u="sng" dirty="0"/>
              <a:t>Interprétation :</a:t>
            </a:r>
            <a:r>
              <a:rPr lang="fr-FR" sz="1600" b="1" dirty="0"/>
              <a:t> </a:t>
            </a:r>
            <a:r>
              <a:rPr lang="fr-FR" sz="1600" dirty="0"/>
              <a:t>Filtrage passe-bas du 2</a:t>
            </a:r>
            <a:r>
              <a:rPr lang="fr-FR" sz="1600" baseline="30000" dirty="0"/>
              <a:t>nd</a:t>
            </a:r>
            <a:r>
              <a:rPr lang="fr-FR" sz="1600" dirty="0"/>
              <a:t> Ordre</a:t>
            </a:r>
          </a:p>
        </p:txBody>
      </p:sp>
      <p:pic>
        <p:nvPicPr>
          <p:cNvPr id="26" name="Picture 4" descr="Télécharger LTspice pour Windows, Mac, Web - Telecharger.com">
            <a:extLst>
              <a:ext uri="{FF2B5EF4-FFF2-40B4-BE49-F238E27FC236}">
                <a16:creationId xmlns:a16="http://schemas.microsoft.com/office/drawing/2014/main" id="{0297559E-EA70-1DE4-7979-69EF1A6DEC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85100" y="509985"/>
            <a:ext cx="432000" cy="43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F733C6F4-992F-BB99-62FF-4D4162E5BD31}"/>
              </a:ext>
            </a:extLst>
          </p:cNvPr>
          <p:cNvSpPr txBox="1"/>
          <p:nvPr/>
        </p:nvSpPr>
        <p:spPr>
          <a:xfrm>
            <a:off x="6241143" y="6071016"/>
            <a:ext cx="296227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/>
              <a:t>[5] </a:t>
            </a:r>
            <a:r>
              <a:rPr lang="en-GB" sz="1100" dirty="0"/>
              <a:t>Dan Carson, University of Illinois</a:t>
            </a:r>
            <a:endParaRPr lang="fr-FR" sz="1100" dirty="0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ACEFF3E8-2258-46FE-09B5-C11C3E7F4730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AE1865FE-B460-15DA-A157-F58E3236E708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33" name="Footer Placeholder 2">
              <a:extLst>
                <a:ext uri="{FF2B5EF4-FFF2-40B4-BE49-F238E27FC236}">
                  <a16:creationId xmlns:a16="http://schemas.microsoft.com/office/drawing/2014/main" id="{3E606650-1E4A-F03E-0DD6-D8BD67A4E91E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graphicFrame>
        <p:nvGraphicFramePr>
          <p:cNvPr id="34" name="Table 33">
            <a:extLst>
              <a:ext uri="{FF2B5EF4-FFF2-40B4-BE49-F238E27FC236}">
                <a16:creationId xmlns:a16="http://schemas.microsoft.com/office/drawing/2014/main" id="{16DF2492-FBFF-25AC-E08E-48DF96784C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1024890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70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grpSp>
        <p:nvGrpSpPr>
          <p:cNvPr id="35" name="Group 34">
            <a:extLst>
              <a:ext uri="{FF2B5EF4-FFF2-40B4-BE49-F238E27FC236}">
                <a16:creationId xmlns:a16="http://schemas.microsoft.com/office/drawing/2014/main" id="{AC6D9136-2E81-692E-7DBD-8FB26ED19DAB}"/>
              </a:ext>
            </a:extLst>
          </p:cNvPr>
          <p:cNvGrpSpPr/>
          <p:nvPr/>
        </p:nvGrpSpPr>
        <p:grpSpPr>
          <a:xfrm>
            <a:off x="0" y="6395093"/>
            <a:ext cx="9144000" cy="479397"/>
            <a:chOff x="0" y="-4624"/>
            <a:chExt cx="9144000" cy="457200"/>
          </a:xfrm>
          <a:solidFill>
            <a:srgbClr val="629DD1"/>
          </a:solidFill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0B9AE222-747A-973A-ECFE-AC3724C4AAF2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37" name="Footer Placeholder 2">
              <a:extLst>
                <a:ext uri="{FF2B5EF4-FFF2-40B4-BE49-F238E27FC236}">
                  <a16:creationId xmlns:a16="http://schemas.microsoft.com/office/drawing/2014/main" id="{41C0BE7A-FF24-20AD-5591-BCADFC32DC9A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C4BAEF-33D1-6188-9AE8-8A55429880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41" name="Footer Placeholder 2">
            <a:extLst>
              <a:ext uri="{FF2B5EF4-FFF2-40B4-BE49-F238E27FC236}">
                <a16:creationId xmlns:a16="http://schemas.microsoft.com/office/drawing/2014/main" id="{01A560DB-8ED3-218F-79C6-A6A579F5103A}"/>
              </a:ext>
            </a:extLst>
          </p:cNvPr>
          <p:cNvSpPr txBox="1">
            <a:spLocks/>
          </p:cNvSpPr>
          <p:nvPr/>
        </p:nvSpPr>
        <p:spPr>
          <a:xfrm>
            <a:off x="15096" y="6335178"/>
            <a:ext cx="9144000" cy="63096"/>
          </a:xfrm>
          <a:prstGeom prst="rect">
            <a:avLst/>
          </a:prstGeom>
          <a:solidFill>
            <a:srgbClr val="4A66AC"/>
          </a:solidFill>
          <a:ln>
            <a:noFill/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457B1FA-16C6-9796-D924-6382EF215E5F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r>
              <a:rPr lang="fr-FR" sz="1600" b="1" u="sng" dirty="0">
                <a:solidFill>
                  <a:schemeClr val="tx1"/>
                </a:solidFill>
              </a:rPr>
              <a:t>Hypothèses :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sz="1600" dirty="0">
                <a:solidFill>
                  <a:schemeClr val="tx1"/>
                </a:solidFill>
              </a:rPr>
              <a:t>Symétrie parfaite des bobinages</a:t>
            </a:r>
          </a:p>
          <a:p>
            <a:r>
              <a:rPr lang="fr-FR" sz="1600" b="1" u="sng" dirty="0">
                <a:solidFill>
                  <a:schemeClr val="tx1"/>
                </a:solidFill>
              </a:rPr>
              <a:t>Conséquences :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sz="1600" dirty="0">
                <a:solidFill>
                  <a:schemeClr val="tx1"/>
                </a:solidFill>
              </a:rPr>
              <a:t>Schéma équivalent identique peu importe le montage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97D1A44-CCE9-562E-F295-243ACA2090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>
                <a:solidFill>
                  <a:schemeClr val="bg1"/>
                </a:solidFill>
              </a:rPr>
              <a:t>TIPE 39662</a:t>
            </a:r>
          </a:p>
        </p:txBody>
      </p:sp>
      <p:sp>
        <p:nvSpPr>
          <p:cNvPr id="4" name="Slide Number Placeholder 2">
            <a:extLst>
              <a:ext uri="{FF2B5EF4-FFF2-40B4-BE49-F238E27FC236}">
                <a16:creationId xmlns:a16="http://schemas.microsoft.com/office/drawing/2014/main" id="{6DFBE72C-A090-2527-9851-1C14313D21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>
                <a:solidFill>
                  <a:schemeClr val="bg1"/>
                </a:solidFill>
              </a:rPr>
              <a:t>10</a:t>
            </a:fld>
            <a:endParaRPr lang="fr-FR" sz="14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19944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5095B-CBBF-28A8-4ECB-2036D2BA3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1C319EB6-D050-8DBB-4112-2E3F1B093E10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92BC0D67-2425-4D0E-3776-899C928CB415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23" name="Footer Placeholder 2">
              <a:extLst>
                <a:ext uri="{FF2B5EF4-FFF2-40B4-BE49-F238E27FC236}">
                  <a16:creationId xmlns:a16="http://schemas.microsoft.com/office/drawing/2014/main" id="{5C8F3993-2355-171A-9FBE-F8EA50A5C356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A3C174FD-251E-6617-96DC-59EDC4D1886E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AAC0E1E9-9630-1795-4D01-63EDE489C412}"/>
                  </a:ext>
                </a:extLst>
              </p:cNvPr>
              <p:cNvSpPr/>
              <p:nvPr/>
            </p:nvSpPr>
            <p:spPr>
              <a:xfrm>
                <a:off x="322077" y="1187775"/>
                <a:ext cx="3533931" cy="1915026"/>
              </a:xfrm>
              <a:prstGeom prst="rect">
                <a:avLst/>
              </a:prstGeom>
              <a:noFill/>
              <a:ln w="38100">
                <a:solidFill>
                  <a:srgbClr val="4A66AC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r>
                  <a:rPr lang="fr-FR" sz="1600" b="1" dirty="0">
                    <a:solidFill>
                      <a:schemeClr val="tx1"/>
                    </a:solidFill>
                  </a:rPr>
                  <a:t>Protocole</a:t>
                </a: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Objectif :</a:t>
                </a:r>
              </a:p>
              <a:p>
                <a:r>
                  <a:rPr lang="fr-FR" sz="1600" dirty="0">
                    <a:solidFill>
                      <a:schemeClr val="tx1"/>
                    </a:solidFill>
                  </a:rPr>
                  <a:t>Déterminer l’impédance du micro en fonction de la fréquence</a:t>
                </a:r>
              </a:p>
              <a:p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Méthode :</a:t>
                </a:r>
              </a:p>
              <a:p>
                <a:r>
                  <a:rPr lang="fr-FR" sz="1600" dirty="0">
                    <a:solidFill>
                      <a:schemeClr val="tx1"/>
                    </a:solidFill>
                  </a:rPr>
                  <a:t>Pont diviseur de tension : </a:t>
                </a:r>
                <a14:m>
                  <m:oMath xmlns:m="http://schemas.openxmlformats.org/officeDocument/2006/math">
                    <m:r>
                      <a:rPr lang="fr-FR" sz="1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𝑈</m:t>
                    </m:r>
                    <m:r>
                      <a:rPr lang="fr-FR" sz="1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= </m:t>
                    </m:r>
                    <m:f>
                      <m:fPr>
                        <m:ctrlP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num>
                      <m:den>
                        <m: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+ </m:t>
                        </m:r>
                        <m: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𝑍</m:t>
                        </m:r>
                      </m:den>
                    </m:f>
                    <m:sSub>
                      <m:sSubPr>
                        <m:ctrlP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𝐺𝐵𝐹</m:t>
                        </m:r>
                      </m:sub>
                    </m:sSub>
                  </m:oMath>
                </a14:m>
                <a:endParaRPr lang="fr-FR" sz="1600" i="1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AAC0E1E9-9630-1795-4D01-63EDE489C41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2077" y="1187775"/>
                <a:ext cx="3533931" cy="1915026"/>
              </a:xfrm>
              <a:prstGeom prst="rect">
                <a:avLst/>
              </a:prstGeom>
              <a:blipFill>
                <a:blip r:embed="rId2"/>
                <a:stretch>
                  <a:fillRect l="-512"/>
                </a:stretch>
              </a:blipFill>
              <a:ln w="38100">
                <a:solidFill>
                  <a:srgbClr val="4A66AC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>
            <a:extLst>
              <a:ext uri="{FF2B5EF4-FFF2-40B4-BE49-F238E27FC236}">
                <a16:creationId xmlns:a16="http://schemas.microsoft.com/office/drawing/2014/main" id="{A3A675C6-213A-E88E-59F1-7172A68963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brightnessContrast brigh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79" b="79"/>
          <a:stretch/>
        </p:blipFill>
        <p:spPr>
          <a:xfrm>
            <a:off x="3975817" y="1187775"/>
            <a:ext cx="4913871" cy="4906153"/>
          </a:xfrm>
          <a:prstGeom prst="rect">
            <a:avLst/>
          </a:prstGeom>
          <a:effectLst>
            <a:softEdge rad="31750"/>
          </a:effec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CADA8AD9-A980-D884-9F53-A96F804F319D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Expérimentation</a:t>
            </a:r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BCD795CE-C17B-8143-0B6D-604D6D299D4D}"/>
              </a:ext>
            </a:extLst>
          </p:cNvPr>
          <p:cNvCxnSpPr>
            <a:cxnSpLocks/>
          </p:cNvCxnSpPr>
          <p:nvPr/>
        </p:nvCxnSpPr>
        <p:spPr>
          <a:xfrm rot="5400000">
            <a:off x="4407269" y="3273293"/>
            <a:ext cx="230192" cy="735119"/>
          </a:xfrm>
          <a:prstGeom prst="bentConnector2">
            <a:avLst/>
          </a:prstGeom>
          <a:ln w="3810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A0A638B-D00C-84A5-7F3F-9DEF548B38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F4FF317D-0E3D-2149-FF14-7FB5BF57AC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0BDDF23-3866-2F86-609B-138319DE390C}"/>
                  </a:ext>
                </a:extLst>
              </p:cNvPr>
              <p:cNvSpPr txBox="1"/>
              <p:nvPr/>
            </p:nvSpPr>
            <p:spPr>
              <a:xfrm>
                <a:off x="824130" y="5629960"/>
                <a:ext cx="2459887" cy="461024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m:rPr>
                          <m:sty m:val="p"/>
                        </m:rP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| = </m:t>
                      </m:r>
                      <m:r>
                        <m:rPr>
                          <m:sty m:val="p"/>
                        </m:rP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R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GBF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sty m:val="p"/>
                            </m:r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U</m:t>
                          </m:r>
                        </m:den>
                      </m:f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−1)</m:t>
                      </m:r>
                    </m:oMath>
                  </m:oMathPara>
                </a14:m>
                <a:endParaRPr lang="fr-FR" sz="16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0BDDF23-3866-2F86-609B-138319DE39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4130" y="5629960"/>
                <a:ext cx="2459887" cy="46102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4468B502-C852-DA7A-06E1-C9E1DD295A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3863694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70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14" name="Slide Number Placeholder 2">
            <a:extLst>
              <a:ext uri="{FF2B5EF4-FFF2-40B4-BE49-F238E27FC236}">
                <a16:creationId xmlns:a16="http://schemas.microsoft.com/office/drawing/2014/main" id="{3AB365AE-8582-AF86-8AE4-7690CDAE43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11</a:t>
            </a:fld>
            <a:endParaRPr lang="fr-FR" sz="1400" b="1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51405C3-75BE-A1BA-EC66-0918DDE320F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3134" y="3525756"/>
            <a:ext cx="2441876" cy="1919429"/>
          </a:xfrm>
          <a:prstGeom prst="rect">
            <a:avLst/>
          </a:prstGeom>
        </p:spPr>
      </p:pic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3FC39BB1-4983-50EB-E742-9333FE3E145E}"/>
              </a:ext>
            </a:extLst>
          </p:cNvPr>
          <p:cNvCxnSpPr>
            <a:cxnSpLocks/>
            <a:stCxn id="64" idx="1"/>
          </p:cNvCxnSpPr>
          <p:nvPr/>
        </p:nvCxnSpPr>
        <p:spPr>
          <a:xfrm rot="10800000" flipV="1">
            <a:off x="1287493" y="3355192"/>
            <a:ext cx="369713" cy="199273"/>
          </a:xfrm>
          <a:prstGeom prst="bentConnector3">
            <a:avLst>
              <a:gd name="adj1" fmla="val 100749"/>
            </a:avLst>
          </a:prstGeom>
          <a:ln w="38100">
            <a:solidFill>
              <a:srgbClr val="4A66A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D75EFD0F-C466-424A-D172-8B5B238D89C9}"/>
              </a:ext>
            </a:extLst>
          </p:cNvPr>
          <p:cNvSpPr/>
          <p:nvPr/>
        </p:nvSpPr>
        <p:spPr>
          <a:xfrm>
            <a:off x="3588389" y="4793092"/>
            <a:ext cx="1132831" cy="294614"/>
          </a:xfrm>
          <a:prstGeom prst="rect">
            <a:avLst/>
          </a:prstGeom>
          <a:ln w="38100">
            <a:solidFill>
              <a:srgbClr val="4A66AC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200" b="1" dirty="0"/>
              <a:t>Micro</a:t>
            </a:r>
          </a:p>
        </p:txBody>
      </p: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430E7CFD-6FE0-F360-DBF0-266E893A6C78}"/>
              </a:ext>
            </a:extLst>
          </p:cNvPr>
          <p:cNvCxnSpPr>
            <a:cxnSpLocks/>
            <a:stCxn id="38" idx="2"/>
          </p:cNvCxnSpPr>
          <p:nvPr/>
        </p:nvCxnSpPr>
        <p:spPr>
          <a:xfrm rot="16200000" flipH="1">
            <a:off x="4726201" y="4516310"/>
            <a:ext cx="344079" cy="1486870"/>
          </a:xfrm>
          <a:prstGeom prst="bentConnector2">
            <a:avLst/>
          </a:prstGeom>
          <a:ln w="38100">
            <a:solidFill>
              <a:srgbClr val="4A66A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4A582BD5-71BA-7ADA-53CB-59030ED3CC33}"/>
              </a:ext>
            </a:extLst>
          </p:cNvPr>
          <p:cNvCxnSpPr>
            <a:cxnSpLocks/>
            <a:stCxn id="38" idx="1"/>
          </p:cNvCxnSpPr>
          <p:nvPr/>
        </p:nvCxnSpPr>
        <p:spPr>
          <a:xfrm flipH="1">
            <a:off x="2398143" y="4940399"/>
            <a:ext cx="1190246" cy="0"/>
          </a:xfrm>
          <a:prstGeom prst="straightConnector1">
            <a:avLst/>
          </a:prstGeom>
          <a:ln w="38100">
            <a:solidFill>
              <a:srgbClr val="4A66A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Rectangle 51">
            <a:extLst>
              <a:ext uri="{FF2B5EF4-FFF2-40B4-BE49-F238E27FC236}">
                <a16:creationId xmlns:a16="http://schemas.microsoft.com/office/drawing/2014/main" id="{01B70164-69F2-4F49-9052-D3B25D39B34E}"/>
              </a:ext>
            </a:extLst>
          </p:cNvPr>
          <p:cNvSpPr/>
          <p:nvPr/>
        </p:nvSpPr>
        <p:spPr>
          <a:xfrm>
            <a:off x="3509887" y="3973765"/>
            <a:ext cx="1132831" cy="236830"/>
          </a:xfrm>
          <a:prstGeom prst="rect">
            <a:avLst/>
          </a:prstGeom>
          <a:ln w="38100">
            <a:solidFill>
              <a:srgbClr val="4A66AC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200" b="1" dirty="0"/>
              <a:t>Resistance</a:t>
            </a:r>
          </a:p>
        </p:txBody>
      </p: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568FF021-9013-84D8-10DC-2B5362CB434F}"/>
              </a:ext>
            </a:extLst>
          </p:cNvPr>
          <p:cNvCxnSpPr>
            <a:cxnSpLocks/>
            <a:stCxn id="52" idx="1"/>
          </p:cNvCxnSpPr>
          <p:nvPr/>
        </p:nvCxnSpPr>
        <p:spPr>
          <a:xfrm rot="10800000">
            <a:off x="2840967" y="3916392"/>
            <a:ext cx="668921" cy="175788"/>
          </a:xfrm>
          <a:prstGeom prst="bentConnector3">
            <a:avLst>
              <a:gd name="adj1" fmla="val 99865"/>
            </a:avLst>
          </a:prstGeom>
          <a:ln w="38100">
            <a:solidFill>
              <a:srgbClr val="4A66A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3E02DBE5-6DB0-1AAF-91F1-849CDD773B81}"/>
              </a:ext>
            </a:extLst>
          </p:cNvPr>
          <p:cNvCxnSpPr>
            <a:cxnSpLocks/>
            <a:stCxn id="52" idx="3"/>
          </p:cNvCxnSpPr>
          <p:nvPr/>
        </p:nvCxnSpPr>
        <p:spPr>
          <a:xfrm flipV="1">
            <a:off x="4642718" y="3737466"/>
            <a:ext cx="3151248" cy="354714"/>
          </a:xfrm>
          <a:prstGeom prst="bentConnector3">
            <a:avLst>
              <a:gd name="adj1" fmla="val 99890"/>
            </a:avLst>
          </a:prstGeom>
          <a:ln w="38100">
            <a:solidFill>
              <a:srgbClr val="4A66A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ctangle 63">
            <a:extLst>
              <a:ext uri="{FF2B5EF4-FFF2-40B4-BE49-F238E27FC236}">
                <a16:creationId xmlns:a16="http://schemas.microsoft.com/office/drawing/2014/main" id="{C07EE90A-1444-22A7-BD0C-31C3A8B00B4D}"/>
              </a:ext>
            </a:extLst>
          </p:cNvPr>
          <p:cNvSpPr/>
          <p:nvPr/>
        </p:nvSpPr>
        <p:spPr>
          <a:xfrm>
            <a:off x="1657205" y="3236778"/>
            <a:ext cx="1132831" cy="236830"/>
          </a:xfrm>
          <a:prstGeom prst="rect">
            <a:avLst/>
          </a:prstGeom>
          <a:ln w="38100">
            <a:solidFill>
              <a:srgbClr val="4A66AC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200" b="1" dirty="0"/>
              <a:t>GBF</a:t>
            </a:r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AF1EB253-8BFC-E7A4-ABAE-1F09FADB0319}"/>
              </a:ext>
            </a:extLst>
          </p:cNvPr>
          <p:cNvCxnSpPr>
            <a:cxnSpLocks/>
            <a:stCxn id="64" idx="3"/>
          </p:cNvCxnSpPr>
          <p:nvPr/>
        </p:nvCxnSpPr>
        <p:spPr>
          <a:xfrm flipV="1">
            <a:off x="2790036" y="3340981"/>
            <a:ext cx="1420658" cy="14212"/>
          </a:xfrm>
          <a:prstGeom prst="straightConnector1">
            <a:avLst/>
          </a:prstGeom>
          <a:ln w="38100">
            <a:solidFill>
              <a:srgbClr val="4A66A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75E7C659-0248-766A-80EB-17EC0DB5AF9E}"/>
                  </a:ext>
                </a:extLst>
              </p:cNvPr>
              <p:cNvSpPr txBox="1"/>
              <p:nvPr/>
            </p:nvSpPr>
            <p:spPr>
              <a:xfrm>
                <a:off x="1091926" y="4169132"/>
                <a:ext cx="391133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𝑼</m:t>
                          </m:r>
                        </m:e>
                        <m:sub>
                          <m:r>
                            <a:rPr lang="fr-FR" sz="1200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𝑮𝑩𝑭</m:t>
                          </m:r>
                        </m:sub>
                      </m:sSub>
                    </m:oMath>
                  </m:oMathPara>
                </a14:m>
                <a:endParaRPr lang="fr-FR" sz="1200" b="1" dirty="0">
                  <a:solidFill>
                    <a:srgbClr val="00B050"/>
                  </a:solidFill>
                </a:endParaRPr>
              </a:p>
            </p:txBody>
          </p:sp>
        </mc:Choice>
        <mc:Fallback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75E7C659-0248-766A-80EB-17EC0DB5AF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1926" y="4169132"/>
                <a:ext cx="391133" cy="184666"/>
              </a:xfrm>
              <a:prstGeom prst="rect">
                <a:avLst/>
              </a:prstGeom>
              <a:blipFill>
                <a:blip r:embed="rId7"/>
                <a:stretch>
                  <a:fillRect l="-7813" r="-3125" b="-1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8C424C57-146B-8664-4A50-014EE2CF87C5}"/>
              </a:ext>
            </a:extLst>
          </p:cNvPr>
          <p:cNvCxnSpPr>
            <a:cxnSpLocks/>
          </p:cNvCxnSpPr>
          <p:nvPr/>
        </p:nvCxnSpPr>
        <p:spPr>
          <a:xfrm>
            <a:off x="2654607" y="3688813"/>
            <a:ext cx="415595" cy="0"/>
          </a:xfrm>
          <a:prstGeom prst="straightConnector1">
            <a:avLst/>
          </a:prstGeom>
          <a:ln w="285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8E150705-5AAA-D6E6-C05E-6FCD56C8C1FA}"/>
                  </a:ext>
                </a:extLst>
              </p:cNvPr>
              <p:cNvSpPr txBox="1"/>
              <p:nvPr/>
            </p:nvSpPr>
            <p:spPr>
              <a:xfrm>
                <a:off x="2763220" y="3500762"/>
                <a:ext cx="155491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𝑼</m:t>
                      </m:r>
                    </m:oMath>
                  </m:oMathPara>
                </a14:m>
                <a:endParaRPr lang="fr-FR" sz="1200" b="1" dirty="0">
                  <a:solidFill>
                    <a:srgbClr val="00B050"/>
                  </a:solidFill>
                </a:endParaRPr>
              </a:p>
            </p:txBody>
          </p:sp>
        </mc:Choice>
        <mc:Fallback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8E150705-5AAA-D6E6-C05E-6FCD56C8C1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3220" y="3500762"/>
                <a:ext cx="155491" cy="184666"/>
              </a:xfrm>
              <a:prstGeom prst="rect">
                <a:avLst/>
              </a:prstGeom>
              <a:blipFill>
                <a:blip r:embed="rId8"/>
                <a:stretch>
                  <a:fillRect l="-19231" r="-19231" b="-645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C690AFC0-9B79-8810-D929-90938E6F84D9}"/>
              </a:ext>
            </a:extLst>
          </p:cNvPr>
          <p:cNvCxnSpPr>
            <a:cxnSpLocks/>
          </p:cNvCxnSpPr>
          <p:nvPr/>
        </p:nvCxnSpPr>
        <p:spPr>
          <a:xfrm flipH="1">
            <a:off x="1064080" y="4151754"/>
            <a:ext cx="408269" cy="0"/>
          </a:xfrm>
          <a:prstGeom prst="straightConnector1">
            <a:avLst/>
          </a:prstGeom>
          <a:ln w="285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089846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018B5-54AA-3079-566C-736CFE787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A35CE00B-FC79-81FF-86A6-285CABA510BD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9DDD954-4CB1-5C4D-D33E-CFAF6AFEA11C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71496738-E437-E224-56B5-217CBA7F5329}"/>
                  </a:ext>
                </a:extLst>
              </p:cNvPr>
              <p:cNvSpPr/>
              <p:nvPr/>
            </p:nvSpPr>
            <p:spPr>
              <a:xfrm>
                <a:off x="5467122" y="1035070"/>
                <a:ext cx="3499013" cy="2283357"/>
              </a:xfrm>
              <a:prstGeom prst="rect">
                <a:avLst/>
              </a:prstGeom>
              <a:ln w="38100">
                <a:solidFill>
                  <a:srgbClr val="4A66AC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r>
                  <a:rPr lang="fr-FR" sz="1400" b="1" u="sng" dirty="0">
                    <a:solidFill>
                      <a:schemeClr val="tx1"/>
                    </a:solidFill>
                  </a:rPr>
                  <a:t>Méthode</a:t>
                </a: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u="sng" dirty="0">
                    <a:solidFill>
                      <a:schemeClr val="tx1"/>
                    </a:solidFill>
                  </a:rPr>
                  <a:t>Déterminer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1" i="1" u="sng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sz="1400" b="1" i="1" u="sng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sz="1400" b="1" i="1" u="sng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sub>
                    </m:sSub>
                  </m:oMath>
                </a14:m>
                <a:r>
                  <a:rPr lang="fr-FR" sz="1400" b="1" u="sng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Observer la résistance en CC avec un Ohmmètre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u="sng" dirty="0">
                    <a:solidFill>
                      <a:schemeClr val="tx1"/>
                    </a:solidFill>
                  </a:rPr>
                  <a:t>Determiner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1" i="1" u="sng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L</m:t>
                    </m:r>
                  </m:oMath>
                </a14:m>
                <a:r>
                  <a:rPr lang="fr-FR" sz="1400" b="1" u="sng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1" i="1" u="sng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r>
                  <a:rPr lang="fr-FR" sz="1400" b="1" u="sng" dirty="0">
                    <a:solidFill>
                      <a:schemeClr val="tx1"/>
                    </a:solidFill>
                  </a:rPr>
                  <a:t>,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1" i="1" u="sng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sz="1400" b="1" i="1" u="sng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sz="1400" b="1" i="1" u="sng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sub>
                    </m:sSub>
                  </m:oMath>
                </a14:m>
                <a:r>
                  <a:rPr lang="fr-FR" sz="1400" b="1" u="sng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Approximation numérique via un algorithme d’optimisation numérique basé sur les </a:t>
                </a:r>
                <a:r>
                  <a:rPr lang="fr-FR" sz="1400" b="1" dirty="0">
                    <a:solidFill>
                      <a:schemeClr val="tx1"/>
                    </a:solidFill>
                  </a:rPr>
                  <a:t>moindres carrés.</a:t>
                </a:r>
                <a:endParaRPr lang="fr-FR" sz="1400" u="sng" dirty="0"/>
              </a:p>
            </p:txBody>
          </p:sp>
        </mc:Choice>
        <mc:Fallback xmlns=""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71496738-E437-E224-56B5-217CBA7F532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7122" y="1035070"/>
                <a:ext cx="3499013" cy="2283357"/>
              </a:xfrm>
              <a:prstGeom prst="rect">
                <a:avLst/>
              </a:prstGeom>
              <a:blipFill>
                <a:blip r:embed="rId3"/>
                <a:stretch>
                  <a:fillRect r="-345" b="-263"/>
                </a:stretch>
              </a:blipFill>
              <a:ln w="38100">
                <a:solidFill>
                  <a:srgbClr val="4A66AC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>
            <a:extLst>
              <a:ext uri="{FF2B5EF4-FFF2-40B4-BE49-F238E27FC236}">
                <a16:creationId xmlns:a16="http://schemas.microsoft.com/office/drawing/2014/main" id="{AA0507F6-1CAF-6D7E-A062-151372E24A2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6176" y="1035070"/>
            <a:ext cx="4907929" cy="4090879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631B521F-AFDC-D9C5-028E-C5CB3D8FDF44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794F355-A446-D356-7486-C332C08027A0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Footer Placeholder 2">
              <a:extLst>
                <a:ext uri="{FF2B5EF4-FFF2-40B4-BE49-F238E27FC236}">
                  <a16:creationId xmlns:a16="http://schemas.microsoft.com/office/drawing/2014/main" id="{8D546518-E475-76BF-FDD7-AAAC59D808E5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83CF6CC7-C2A9-D2EB-0FC4-A98DAEFFDC33}"/>
              </a:ext>
            </a:extLst>
          </p:cNvPr>
          <p:cNvSpPr/>
          <p:nvPr/>
        </p:nvSpPr>
        <p:spPr>
          <a:xfrm>
            <a:off x="5467124" y="3437083"/>
            <a:ext cx="3499012" cy="2815095"/>
          </a:xfrm>
          <a:prstGeom prst="rect">
            <a:avLst/>
          </a:prstGeom>
          <a:ln w="38100">
            <a:noFill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Mesures</a:t>
            </a:r>
            <a:endParaRPr lang="fr-FR" sz="1400" b="1" dirty="0">
              <a:solidFill>
                <a:schemeClr val="tx1"/>
              </a:solidFill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DB194F1-0075-78A8-D900-8165D3AE9C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5324961"/>
              </p:ext>
            </p:extLst>
          </p:nvPr>
        </p:nvGraphicFramePr>
        <p:xfrm>
          <a:off x="5566510" y="3818066"/>
          <a:ext cx="3323180" cy="2335395"/>
        </p:xfrm>
        <a:graphic>
          <a:graphicData uri="http://schemas.openxmlformats.org/drawingml/2006/table">
            <a:tbl>
              <a:tblPr firstRow="1" bandRow="1">
                <a:tableStyleId>{EB9631B5-78F2-41C9-869B-9F39066F8104}</a:tableStyleId>
              </a:tblPr>
              <a:tblGrid>
                <a:gridCol w="830795">
                  <a:extLst>
                    <a:ext uri="{9D8B030D-6E8A-4147-A177-3AD203B41FA5}">
                      <a16:colId xmlns:a16="http://schemas.microsoft.com/office/drawing/2014/main" val="887859225"/>
                    </a:ext>
                  </a:extLst>
                </a:gridCol>
                <a:gridCol w="830795">
                  <a:extLst>
                    <a:ext uri="{9D8B030D-6E8A-4147-A177-3AD203B41FA5}">
                      <a16:colId xmlns:a16="http://schemas.microsoft.com/office/drawing/2014/main" val="2798946589"/>
                    </a:ext>
                  </a:extLst>
                </a:gridCol>
                <a:gridCol w="830795">
                  <a:extLst>
                    <a:ext uri="{9D8B030D-6E8A-4147-A177-3AD203B41FA5}">
                      <a16:colId xmlns:a16="http://schemas.microsoft.com/office/drawing/2014/main" val="3812795422"/>
                    </a:ext>
                  </a:extLst>
                </a:gridCol>
                <a:gridCol w="830795">
                  <a:extLst>
                    <a:ext uri="{9D8B030D-6E8A-4147-A177-3AD203B41FA5}">
                      <a16:colId xmlns:a16="http://schemas.microsoft.com/office/drawing/2014/main" val="3496875843"/>
                    </a:ext>
                  </a:extLst>
                </a:gridCol>
              </a:tblGrid>
              <a:tr h="467079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9147041"/>
                  </a:ext>
                </a:extLst>
              </a:tr>
              <a:tr h="467079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5,26</a:t>
                      </a:r>
                      <a:endParaRPr lang="fr-FR" i="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4,52</a:t>
                      </a:r>
                      <a:endParaRPr lang="fr-FR" i="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15,10</a:t>
                      </a:r>
                      <a:endParaRPr lang="fr-FR" i="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385096"/>
                  </a:ext>
                </a:extLst>
              </a:tr>
              <a:tr h="467079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2,43</a:t>
                      </a:r>
                      <a:endParaRPr lang="fr-FR" i="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1,77</a:t>
                      </a:r>
                      <a:endParaRPr lang="fr-FR" i="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4,71</a:t>
                      </a:r>
                      <a:endParaRPr lang="fr-FR" i="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44796117"/>
                  </a:ext>
                </a:extLst>
              </a:tr>
              <a:tr h="467079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360</a:t>
                      </a:r>
                      <a:endParaRPr lang="fr-FR" i="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50</a:t>
                      </a:r>
                      <a:endParaRPr lang="fr-FR" i="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110</a:t>
                      </a:r>
                      <a:endParaRPr lang="fr-FR" i="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2633905"/>
                  </a:ext>
                </a:extLst>
              </a:tr>
              <a:tr h="467079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499,6</a:t>
                      </a:r>
                      <a:endParaRPr lang="fr-FR" i="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351,1</a:t>
                      </a:r>
                      <a:endParaRPr lang="fr-FR" i="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1069</a:t>
                      </a:r>
                      <a:endParaRPr lang="fr-FR" i="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694290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6C2966F-DA0E-A129-4604-4CAF4E34FA65}"/>
                  </a:ext>
                </a:extLst>
              </p:cNvPr>
              <p:cNvSpPr txBox="1"/>
              <p:nvPr/>
            </p:nvSpPr>
            <p:spPr>
              <a:xfrm>
                <a:off x="5583832" y="4352383"/>
                <a:ext cx="79765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s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kΩ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6C2966F-DA0E-A129-4604-4CAF4E34FA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3832" y="4352383"/>
                <a:ext cx="797654" cy="276999"/>
              </a:xfrm>
              <a:prstGeom prst="rect">
                <a:avLst/>
              </a:prstGeom>
              <a:blipFill>
                <a:blip r:embed="rId6"/>
                <a:stretch>
                  <a:fillRect l="-6107" t="-2222" r="-9924" b="-40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2F0483B-5D7F-BD8A-75FC-E3EF369CF5E4}"/>
                  </a:ext>
                </a:extLst>
              </p:cNvPr>
              <p:cNvSpPr txBox="1"/>
              <p:nvPr/>
            </p:nvSpPr>
            <p:spPr>
              <a:xfrm>
                <a:off x="5583832" y="4848950"/>
                <a:ext cx="55784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L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2F0483B-5D7F-BD8A-75FC-E3EF369CF5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3832" y="4848950"/>
                <a:ext cx="557845" cy="276999"/>
              </a:xfrm>
              <a:prstGeom prst="rect">
                <a:avLst/>
              </a:prstGeom>
              <a:blipFill>
                <a:blip r:embed="rId7"/>
                <a:stretch>
                  <a:fillRect l="-8791" r="-14286" b="-3913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756B1CA-1069-0FB7-1585-C66FE7279A00}"/>
                  </a:ext>
                </a:extLst>
              </p:cNvPr>
              <p:cNvSpPr txBox="1"/>
              <p:nvPr/>
            </p:nvSpPr>
            <p:spPr>
              <a:xfrm>
                <a:off x="5583832" y="5292326"/>
                <a:ext cx="6572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pF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756B1CA-1069-0FB7-1585-C66FE7279A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3832" y="5292326"/>
                <a:ext cx="657231" cy="276999"/>
              </a:xfrm>
              <a:prstGeom prst="rect">
                <a:avLst/>
              </a:prstGeom>
              <a:blipFill>
                <a:blip r:embed="rId8"/>
                <a:stretch>
                  <a:fillRect l="-7407" r="-11111" b="-3913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7F54E78-8366-A42C-287C-7D6E1E1C9F62}"/>
                  </a:ext>
                </a:extLst>
              </p:cNvPr>
              <p:cNvSpPr txBox="1"/>
              <p:nvPr/>
            </p:nvSpPr>
            <p:spPr>
              <a:xfrm>
                <a:off x="5583832" y="5766140"/>
                <a:ext cx="821700" cy="3016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p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kΩ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7F54E78-8366-A42C-287C-7D6E1E1C9F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3832" y="5766140"/>
                <a:ext cx="821700" cy="301686"/>
              </a:xfrm>
              <a:prstGeom prst="rect">
                <a:avLst/>
              </a:prstGeom>
              <a:blipFill>
                <a:blip r:embed="rId9"/>
                <a:stretch>
                  <a:fillRect l="-5926" t="-2041" r="-9630" b="-2857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2" name="Picture 31">
            <a:extLst>
              <a:ext uri="{FF2B5EF4-FFF2-40B4-BE49-F238E27FC236}">
                <a16:creationId xmlns:a16="http://schemas.microsoft.com/office/drawing/2014/main" id="{84EAD3AE-C225-14EF-269F-5B5AE150E4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27" r="7227"/>
          <a:stretch/>
        </p:blipFill>
        <p:spPr bwMode="auto">
          <a:xfrm>
            <a:off x="6545223" y="3805438"/>
            <a:ext cx="568459" cy="468000"/>
          </a:xfrm>
          <a:prstGeom prst="rect">
            <a:avLst/>
          </a:prstGeom>
          <a:effectLst>
            <a:softEdge rad="127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2">
            <a:extLst>
              <a:ext uri="{FF2B5EF4-FFF2-40B4-BE49-F238E27FC236}">
                <a16:creationId xmlns:a16="http://schemas.microsoft.com/office/drawing/2014/main" id="{605931B4-D82E-5BAF-958F-6B5A64B607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3" r="6123"/>
          <a:stretch/>
        </p:blipFill>
        <p:spPr bwMode="auto">
          <a:xfrm>
            <a:off x="7375954" y="3809801"/>
            <a:ext cx="582811" cy="46800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E2EEDFEB-AFAA-C6BE-4F6C-51B78A0870E6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94AE11E-94DD-BEBA-B1D0-26ABBE2E4899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backgroundRemoval t="7734" b="94964" l="9577" r="89978">
                        <a14:foregroundMark x1="58463" y1="9353" x2="66036" y2="7014"/>
                        <a14:foregroundMark x1="66036" y1="7014" x2="71715" y2="7734"/>
                        <a14:foregroundMark x1="71715" y1="7734" x2="62695" y2="8813"/>
                        <a14:foregroundMark x1="74833" y1="40827" x2="76503" y2="42446"/>
                        <a14:foregroundMark x1="64143" y1="47302" x2="64143" y2="47302"/>
                        <a14:foregroundMark x1="55457" y1="52698" x2="55457" y2="52698"/>
                        <a14:foregroundMark x1="45323" y1="59532" x2="45323" y2="59532"/>
                        <a14:foregroundMark x1="34187" y1="65108" x2="34187" y2="65108"/>
                        <a14:foregroundMark x1="22717" y1="70324" x2="22717" y2="70324"/>
                        <a14:foregroundMark x1="9688" y1="69604" x2="10802" y2="81475"/>
                        <a14:foregroundMark x1="10802" y1="81475" x2="13252" y2="82914"/>
                        <a14:foregroundMark x1="21604" y1="90468" x2="30178" y2="86511"/>
                        <a14:foregroundMark x1="22829" y1="94964" x2="22829" y2="94964"/>
                        <a14:foregroundMark x1="73942" y1="43165" x2="73942" y2="43165"/>
                      </a14:backgroundRemoval>
                    </a14:imgEffect>
                  </a14:imgLayer>
                </a14:imgProps>
              </a:ext>
            </a:extLst>
          </a:blip>
          <a:srcRect l="6039" t="3464" r="11427" b="863"/>
          <a:stretch>
            <a:fillRect/>
          </a:stretch>
        </p:blipFill>
        <p:spPr>
          <a:xfrm>
            <a:off x="8191781" y="3818066"/>
            <a:ext cx="601890" cy="432000"/>
          </a:xfrm>
          <a:prstGeom prst="rect">
            <a:avLst/>
          </a:prstGeom>
        </p:spPr>
      </p:pic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4BBCE65E-32DD-5E3F-FB43-54F4439767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59105" y="527823"/>
            <a:ext cx="433830" cy="43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2F54AAF-1F00-4A5D-972C-B8793ABDB31E}"/>
              </a:ext>
            </a:extLst>
          </p:cNvPr>
          <p:cNvSpPr txBox="1"/>
          <p:nvPr/>
        </p:nvSpPr>
        <p:spPr>
          <a:xfrm>
            <a:off x="326176" y="5185866"/>
            <a:ext cx="500974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 dirty="0"/>
              <a:t>Interprétation</a:t>
            </a:r>
          </a:p>
          <a:p>
            <a:r>
              <a:rPr lang="fr-FR" dirty="0">
                <a:sym typeface="Wingdings" panose="05000000000000000000" pitchFamily="2" charset="2"/>
              </a:rPr>
              <a:t>✅ </a:t>
            </a:r>
            <a:r>
              <a:rPr lang="fr-FR" dirty="0"/>
              <a:t>2 bobinages </a:t>
            </a:r>
            <a:r>
              <a:rPr lang="fr-FR" dirty="0">
                <a:sym typeface="Wingdings" panose="05000000000000000000" pitchFamily="2" charset="2"/>
              </a:rPr>
              <a:t> Impédance plus élevée</a:t>
            </a:r>
            <a:endParaRPr lang="fr-FR" dirty="0"/>
          </a:p>
          <a:p>
            <a:r>
              <a:rPr lang="fr-FR" dirty="0">
                <a:sym typeface="Wingdings" panose="05000000000000000000" pitchFamily="2" charset="2"/>
              </a:rPr>
              <a:t>❌ </a:t>
            </a:r>
            <a:r>
              <a:rPr lang="fr-FR" dirty="0"/>
              <a:t>Asymétrie de bobinage</a:t>
            </a:r>
          </a:p>
        </p:txBody>
      </p:sp>
      <p:sp>
        <p:nvSpPr>
          <p:cNvPr id="18" name="Date Placeholder 17">
            <a:extLst>
              <a:ext uri="{FF2B5EF4-FFF2-40B4-BE49-F238E27FC236}">
                <a16:creationId xmlns:a16="http://schemas.microsoft.com/office/drawing/2014/main" id="{D0EFF090-BF0A-0471-2711-EC67DE0CE8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25" name="Footer Placeholder 24">
            <a:extLst>
              <a:ext uri="{FF2B5EF4-FFF2-40B4-BE49-F238E27FC236}">
                <a16:creationId xmlns:a16="http://schemas.microsoft.com/office/drawing/2014/main" id="{A2C3CE1E-2176-A2FA-66DD-2825EA6028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D4E8BA1-2670-8152-1740-E703D32C7D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3863694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70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12" name="Oval 11">
            <a:extLst>
              <a:ext uri="{FF2B5EF4-FFF2-40B4-BE49-F238E27FC236}">
                <a16:creationId xmlns:a16="http://schemas.microsoft.com/office/drawing/2014/main" id="{E15E85E2-3972-C82C-AA31-3DF274E7E3F8}"/>
              </a:ext>
            </a:extLst>
          </p:cNvPr>
          <p:cNvSpPr/>
          <p:nvPr/>
        </p:nvSpPr>
        <p:spPr>
          <a:xfrm>
            <a:off x="2192999" y="2962704"/>
            <a:ext cx="540000" cy="540000"/>
          </a:xfrm>
          <a:prstGeom prst="ellipse">
            <a:avLst/>
          </a:pr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136E53F-6C18-D61D-21EC-086093EE1878}"/>
              </a:ext>
            </a:extLst>
          </p:cNvPr>
          <p:cNvSpPr/>
          <p:nvPr/>
        </p:nvSpPr>
        <p:spPr>
          <a:xfrm>
            <a:off x="3005319" y="2610954"/>
            <a:ext cx="540000" cy="540000"/>
          </a:xfrm>
          <a:prstGeom prst="ellipse">
            <a:avLst/>
          </a:pr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Slide Number Placeholder 2">
            <a:extLst>
              <a:ext uri="{FF2B5EF4-FFF2-40B4-BE49-F238E27FC236}">
                <a16:creationId xmlns:a16="http://schemas.microsoft.com/office/drawing/2014/main" id="{8D7582FE-4322-E4D9-50B3-0F9F7BFBB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12</a:t>
            </a:fld>
            <a:endParaRPr lang="fr-FR" sz="1400" b="1" dirty="0"/>
          </a:p>
        </p:txBody>
      </p:sp>
    </p:spTree>
    <p:extLst>
      <p:ext uri="{BB962C8B-B14F-4D97-AF65-F5344CB8AC3E}">
        <p14:creationId xmlns:p14="http://schemas.microsoft.com/office/powerpoint/2010/main" val="3123386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E2422-0593-98CE-0BC1-D9A0BE050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5A3D31D4-FFA1-BFF2-889B-9A83090A38EA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DF49161-7DA7-CBAD-DA69-F6204EDAFF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27" t="6076" r="7814" b="1154"/>
          <a:stretch>
            <a:fillRect/>
          </a:stretch>
        </p:blipFill>
        <p:spPr>
          <a:xfrm>
            <a:off x="1782354" y="975153"/>
            <a:ext cx="5579292" cy="4320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0F15115-6003-EC7E-DAC7-C2810368AF60}"/>
              </a:ext>
            </a:extLst>
          </p:cNvPr>
          <p:cNvSpPr txBox="1"/>
          <p:nvPr/>
        </p:nvSpPr>
        <p:spPr>
          <a:xfrm>
            <a:off x="326176" y="4977665"/>
            <a:ext cx="813292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 dirty="0"/>
              <a:t>Interprétation</a:t>
            </a:r>
          </a:p>
          <a:p>
            <a:r>
              <a:rPr lang="fr-FR" dirty="0">
                <a:sym typeface="Wingdings" panose="05000000000000000000" pitchFamily="2" charset="2"/>
              </a:rPr>
              <a:t>✅ </a:t>
            </a:r>
            <a:r>
              <a:rPr lang="fr-FR" dirty="0"/>
              <a:t>Humbucker </a:t>
            </a:r>
            <a:r>
              <a:rPr lang="fr-FR" dirty="0">
                <a:sym typeface="Wingdings" panose="05000000000000000000" pitchFamily="2" charset="2"/>
              </a:rPr>
              <a:t> Gain plat  Son ‘’brut’’</a:t>
            </a:r>
          </a:p>
          <a:p>
            <a:r>
              <a:rPr lang="fr-FR" dirty="0">
                <a:sym typeface="Wingdings" panose="05000000000000000000" pitchFamily="2" charset="2"/>
              </a:rPr>
              <a:t>✅ SingleCoil  Amplification des harmoniques  Son ‘’brillant’’</a:t>
            </a:r>
            <a:endParaRPr lang="fr-FR" dirty="0"/>
          </a:p>
          <a:p>
            <a:r>
              <a:rPr lang="fr-FR" dirty="0">
                <a:sym typeface="Wingdings" panose="05000000000000000000" pitchFamily="2" charset="2"/>
              </a:rPr>
              <a:t>✅ </a:t>
            </a:r>
            <a:r>
              <a:rPr lang="fr-FR" dirty="0"/>
              <a:t>En basse fréquence : </a:t>
            </a:r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6E554F1-44BD-8B7F-91BB-367D7780CA17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7EA3527-CBE4-BB1E-8E8A-8B21A1F88B1C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5291E480-CEFE-D580-938C-FDAA725FDA6F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5" name="Footer Placeholder 2">
              <a:extLst>
                <a:ext uri="{FF2B5EF4-FFF2-40B4-BE49-F238E27FC236}">
                  <a16:creationId xmlns:a16="http://schemas.microsoft.com/office/drawing/2014/main" id="{024BCF65-762C-3EB5-9AA3-CD664A82060E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BB9F34FD-89CC-63DB-50E1-5A91FD67A29F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2999D8F-5B32-DA14-93D6-5EBB9D1420D7}"/>
                  </a:ext>
                </a:extLst>
              </p:cNvPr>
              <p:cNvSpPr txBox="1"/>
              <p:nvPr/>
            </p:nvSpPr>
            <p:spPr>
              <a:xfrm>
                <a:off x="3018758" y="5865798"/>
                <a:ext cx="1288892" cy="276999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2999D8F-5B32-DA14-93D6-5EBB9D1420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8758" y="5865798"/>
                <a:ext cx="1288892" cy="276999"/>
              </a:xfrm>
              <a:prstGeom prst="rect">
                <a:avLst/>
              </a:prstGeom>
              <a:blipFill>
                <a:blip r:embed="rId4"/>
                <a:stretch>
                  <a:fillRect r="-930" b="-28571"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737137A-2DF8-0791-F8A8-F30EA22E3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B78B1C69-CA78-8148-C0E7-1AAEB429E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D99404B-C1DA-0DFF-BFA6-4B629B35C9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3863694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70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pic>
        <p:nvPicPr>
          <p:cNvPr id="15" name="Picture 14" descr="Python Logo PNG Transparent – Brands Logos">
            <a:extLst>
              <a:ext uri="{FF2B5EF4-FFF2-40B4-BE49-F238E27FC236}">
                <a16:creationId xmlns:a16="http://schemas.microsoft.com/office/drawing/2014/main" id="{39801DB7-87F1-E2FA-E3AB-1FF4FDB114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59105" y="527823"/>
            <a:ext cx="433830" cy="43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Slide Number Placeholder 2">
            <a:extLst>
              <a:ext uri="{FF2B5EF4-FFF2-40B4-BE49-F238E27FC236}">
                <a16:creationId xmlns:a16="http://schemas.microsoft.com/office/drawing/2014/main" id="{6A117BC8-A91E-D34D-A263-E9D4907BD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13</a:t>
            </a:fld>
            <a:endParaRPr lang="fr-FR" sz="1400" b="1" dirty="0"/>
          </a:p>
        </p:txBody>
      </p:sp>
    </p:spTree>
    <p:extLst>
      <p:ext uri="{BB962C8B-B14F-4D97-AF65-F5344CB8AC3E}">
        <p14:creationId xmlns:p14="http://schemas.microsoft.com/office/powerpoint/2010/main" val="24151950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30CE5C55-9AB2-04E9-BBA6-03FF3272A551}"/>
              </a:ext>
            </a:extLst>
          </p:cNvPr>
          <p:cNvGrpSpPr/>
          <p:nvPr/>
        </p:nvGrpSpPr>
        <p:grpSpPr>
          <a:xfrm>
            <a:off x="0" y="6395093"/>
            <a:ext cx="9144000" cy="479397"/>
            <a:chOff x="0" y="-4624"/>
            <a:chExt cx="9144000" cy="457200"/>
          </a:xfrm>
          <a:solidFill>
            <a:srgbClr val="629DD1"/>
          </a:solidFill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FD27D75C-5344-E3EC-39F3-8D58FBA9B7EE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21" name="Footer Placeholder 2">
              <a:extLst>
                <a:ext uri="{FF2B5EF4-FFF2-40B4-BE49-F238E27FC236}">
                  <a16:creationId xmlns:a16="http://schemas.microsoft.com/office/drawing/2014/main" id="{16041891-CE0D-3879-5B8D-27146EDFEF3C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22" name="Footer Placeholder 2">
            <a:extLst>
              <a:ext uri="{FF2B5EF4-FFF2-40B4-BE49-F238E27FC236}">
                <a16:creationId xmlns:a16="http://schemas.microsoft.com/office/drawing/2014/main" id="{76A4ECD2-33B5-D1E7-5EF4-C6DA96EA2F4F}"/>
              </a:ext>
            </a:extLst>
          </p:cNvPr>
          <p:cNvSpPr txBox="1">
            <a:spLocks/>
          </p:cNvSpPr>
          <p:nvPr/>
        </p:nvSpPr>
        <p:spPr>
          <a:xfrm>
            <a:off x="15096" y="6335178"/>
            <a:ext cx="9144000" cy="63096"/>
          </a:xfrm>
          <a:prstGeom prst="rect">
            <a:avLst/>
          </a:prstGeom>
          <a:solidFill>
            <a:srgbClr val="4A66AC"/>
          </a:solidFill>
          <a:ln>
            <a:noFill/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E2B4A86-A818-1533-4DB1-351711E7DA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sz="2400" dirty="0">
                <a:latin typeface="Arial Black" panose="020B0A04020102020204" pitchFamily="34" charset="0"/>
              </a:rPr>
              <a:t>THEORIE</a:t>
            </a:r>
            <a:endParaRPr lang="fr-FR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B5975782-C655-C957-C569-F74F73371E27}"/>
                  </a:ext>
                </a:extLst>
              </p:cNvPr>
              <p:cNvSpPr>
                <a:spLocks noGrp="1"/>
              </p:cNvSpPr>
              <p:nvPr>
                <p:ph type="body" sz="half" idx="2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Hypothèses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>
                    <a:solidFill>
                      <a:schemeClr val="tx1"/>
                    </a:solidFill>
                  </a:rPr>
                  <a:t>Onde stationnaire dans le plan </a:t>
                </a:r>
                <a14:m>
                  <m:oMath xmlns:m="http://schemas.openxmlformats.org/officeDocument/2006/math"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O</m:t>
                    </m:r>
                    <m:acc>
                      <m:accPr>
                        <m:chr m:val="⃗"/>
                        <m:ctrl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acc>
                    <m:acc>
                      <m:accPr>
                        <m:chr m:val="⃗"/>
                        <m:ctrl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acc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sz="16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>
                    <a:solidFill>
                      <a:schemeClr val="tx1"/>
                    </a:solidFill>
                  </a:rPr>
                  <a:t>Micros ponctuels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>
                    <a:solidFill>
                      <a:schemeClr val="tx1"/>
                    </a:solidFill>
                  </a:rPr>
                  <a:t>Induction mutuelle négligée</a:t>
                </a:r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B5975782-C655-C957-C569-F74F73371E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blipFill>
                <a:blip r:embed="rId2"/>
                <a:stretch>
                  <a:fillRect l="-1269" t="-126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DC8B4A-0584-4F8B-DFD9-05C2433FFE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135E5EA-5257-8009-CB80-E87EAA0C9BFE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FD91D72-8DB8-2258-3BE8-FE34292F162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9" name="Footer Placeholder 2">
              <a:extLst>
                <a:ext uri="{FF2B5EF4-FFF2-40B4-BE49-F238E27FC236}">
                  <a16:creationId xmlns:a16="http://schemas.microsoft.com/office/drawing/2014/main" id="{E0E53B9E-73CA-B9B1-6344-1D59FDAF1178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EF650D1-F3C1-F23F-294B-A4FA3D5759A8}"/>
                  </a:ext>
                </a:extLst>
              </p:cNvPr>
              <p:cNvSpPr txBox="1"/>
              <p:nvPr/>
            </p:nvSpPr>
            <p:spPr>
              <a:xfrm>
                <a:off x="3303791" y="2186203"/>
                <a:ext cx="5585897" cy="320998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600" dirty="0"/>
                  <a:t>L’équation d’onde de la corde est régie par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𝑧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𝑠𝑖𝑛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𝑐𝑜𝑠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𝑛𝐹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600" dirty="0"/>
              </a:p>
              <a:p>
                <a:r>
                  <a:rPr lang="fr-FR" sz="1600" dirty="0"/>
                  <a:t>Or la corde est plongée dans le champ de l’aimant, elle crée donc un </a:t>
                </a:r>
                <a:r>
                  <a:rPr lang="fr-FR" sz="1600" b="1" dirty="0"/>
                  <a:t>champ induit </a:t>
                </a:r>
                <a:r>
                  <a:rPr lang="fr-FR" sz="1600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</m:e>
                      </m:acc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𝜒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ac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))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p>
                            <m:sSup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fr-FR" sz="1600" i="1" dirty="0">
                  <a:latin typeface="+mj-lt"/>
                  <a:ea typeface="Cambria Math" panose="02040503050406030204" pitchFamily="18" charset="0"/>
                </a:endParaRPr>
              </a:p>
              <a:p>
                <a:endParaRPr lang="fr-FR" sz="600" i="1" dirty="0">
                  <a:latin typeface="+mj-lt"/>
                  <a:ea typeface="Cambria Math" panose="02040503050406030204" pitchFamily="18" charset="0"/>
                </a:endParaRPr>
              </a:p>
              <a:p>
                <a:r>
                  <a:rPr lang="fr-FR" sz="1600" dirty="0"/>
                  <a:t>Ainsi le flux à travers le micro est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𝛷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𝑁𝑆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𝜒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𝑉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sSup>
                            <m:sSup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fr-FR" sz="1600" dirty="0"/>
              </a:p>
              <a:p>
                <a:endParaRPr lang="fr-FR" sz="600" dirty="0"/>
              </a:p>
              <a:p>
                <a:r>
                  <a:rPr lang="fr-FR" sz="1600" dirty="0"/>
                  <a:t>Avec la </a:t>
                </a:r>
                <a:r>
                  <a:rPr lang="fr-FR" sz="1600" b="1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el-GR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𝛷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𝛷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2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EF650D1-F3C1-F23F-294B-A4FA3D5759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3791" y="2186203"/>
                <a:ext cx="5585897" cy="3209981"/>
              </a:xfrm>
              <a:prstGeom prst="rect">
                <a:avLst/>
              </a:prstGeom>
              <a:blipFill>
                <a:blip r:embed="rId3"/>
                <a:stretch>
                  <a:fillRect l="-655" t="-1197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2C11811-C13B-27C8-6B7E-F74894C60B61}"/>
                  </a:ext>
                </a:extLst>
              </p:cNvPr>
              <p:cNvSpPr txBox="1"/>
              <p:nvPr/>
            </p:nvSpPr>
            <p:spPr>
              <a:xfrm>
                <a:off x="3348084" y="5411562"/>
                <a:ext cx="5497310" cy="628698"/>
              </a:xfrm>
              <a:prstGeom prst="rect">
                <a:avLst/>
              </a:prstGeom>
              <a:noFill/>
              <a:ln w="12700"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b="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𝑁𝑆</m:t>
                          </m:r>
                          <m:r>
                            <a:rPr lang="fr-FR" sz="1400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𝜒</m:t>
                          </m:r>
                          <m:r>
                            <a:rPr lang="fr-FR" sz="1400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num>
                        <m:den>
                          <m:r>
                            <a:rPr lang="fr-FR" sz="1400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400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fr-FR" sz="140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sSub>
                                <m:sSubPr>
                                  <m:ctrlPr>
                                    <a:rPr lang="fr-FR" sz="140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d>
                                <m:dPr>
                                  <m:ctrlPr>
                                    <a:rPr lang="fr-FR" sz="140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fr-FR" sz="140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p>
                              </m:sSup>
                            </m:den>
                          </m:f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fr-FR" sz="140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fr-FR" sz="140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p>
                              </m:sSup>
                            </m:den>
                          </m:f>
                          <m:f>
                            <m:fPr>
                              <m:ctrlPr>
                                <a:rPr lang="fr-FR" sz="140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fr-FR" sz="140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den>
                          </m:f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nary>
                        <m:naryPr>
                          <m:chr m:val="∑"/>
                          <m:supHide m:val="on"/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fr-FR" sz="1400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400" b="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400" b="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fr-FR" sz="1400" b="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𝑠𝑖𝑛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400" b="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fr-FR" sz="1400" b="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400" b="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𝑛𝐹𝑡</m:t>
                                  </m:r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lang="fr-FR" sz="1400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2C11811-C13B-27C8-6B7E-F74894C60B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8084" y="5411562"/>
                <a:ext cx="5497310" cy="62869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1270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38251A6-C3EA-2C6F-4787-81CA4A4D8980}"/>
                  </a:ext>
                </a:extLst>
              </p:cNvPr>
              <p:cNvSpPr txBox="1"/>
              <p:nvPr/>
            </p:nvSpPr>
            <p:spPr>
              <a:xfrm>
                <a:off x="450772" y="5484254"/>
                <a:ext cx="1624559" cy="277127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1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sSub>
                            <m:sSubPr>
                              <m:ctrlPr>
                                <a:rPr lang="fr-FR" sz="11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100" b="0" i="1" smtClean="0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100" b="0" i="1" smtClean="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sub>
                          </m:sSub>
                        </m:sub>
                      </m:sSub>
                      <m:r>
                        <a:rPr lang="fr-FR" sz="11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1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10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1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r>
                            <a:rPr lang="fr-FR" sz="1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𝑛𝐹</m:t>
                          </m:r>
                          <m:r>
                            <m:rPr>
                              <m:sty m:val="p"/>
                            </m:rPr>
                            <a:rPr lang="fr-FR" sz="11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1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1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1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10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  <m:r>
                        <m:rPr>
                          <m:nor/>
                        </m:rPr>
                        <a:rPr lang="fr-FR" sz="1100" b="0" i="0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fr-FR" sz="11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38251A6-C3EA-2C6F-4787-81CA4A4D89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0772" y="5484254"/>
                <a:ext cx="1624559" cy="27712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8885D3A-AB9C-FDDE-C382-4D0F62B07516}"/>
                  </a:ext>
                </a:extLst>
              </p:cNvPr>
              <p:cNvSpPr txBox="1"/>
              <p:nvPr/>
            </p:nvSpPr>
            <p:spPr>
              <a:xfrm>
                <a:off x="449826" y="5830854"/>
                <a:ext cx="2466556" cy="276101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1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sSub>
                            <m:sSubPr>
                              <m:ctrlPr>
                                <a:rPr lang="fr-FR" sz="11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100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1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sub>
                      </m:sSub>
                      <m:r>
                        <a:rPr lang="fr-FR" sz="11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1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10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1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r>
                            <a:rPr lang="fr-FR" sz="1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𝑛𝐹</m:t>
                          </m:r>
                          <m:r>
                            <a:rPr lang="fr-FR" sz="11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1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1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1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1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100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1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1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1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fr-FR" sz="11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1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100" i="1"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10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1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8885D3A-AB9C-FDDE-C382-4D0F62B075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826" y="5830854"/>
                <a:ext cx="2466556" cy="27610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FC0F3C1-7512-A531-7F2E-7C4620C32A04}"/>
                  </a:ext>
                </a:extLst>
              </p:cNvPr>
              <p:cNvSpPr txBox="1"/>
              <p:nvPr/>
            </p:nvSpPr>
            <p:spPr>
              <a:xfrm>
                <a:off x="450772" y="4937643"/>
                <a:ext cx="1993984" cy="479042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i="1"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1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1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1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1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1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p>
                            <m:sSupPr>
                              <m:ctrlPr>
                                <a:rPr lang="fr-FR" sz="11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1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fr-FR" sz="1100" i="1">
                                  <a:latin typeface="Cambria Math" panose="02040503050406030204" pitchFamily="18" charset="0"/>
                                </a:rPr>
                                <m:t>5/2</m:t>
                              </m:r>
                            </m:sup>
                          </m:sSup>
                          <m:rad>
                            <m:radPr>
                              <m:degHide m:val="on"/>
                              <m:ctrlPr>
                                <a:rPr lang="fr-FR" sz="11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1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num>
                        <m:den>
                          <m:sSup>
                            <m:sSupPr>
                              <m:ctrlPr>
                                <a:rPr lang="fr-FR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b>
                            <m:sSubPr>
                              <m:ctrlPr>
                                <a:rPr lang="fr-FR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1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1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1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1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f>
                        <m:fPr>
                          <m:ctrlPr>
                            <a:rPr lang="fr-FR" sz="11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fr-FR" sz="11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1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1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fr-FR" sz="11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1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r>
                            <a:rPr lang="fr-FR" sz="11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1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1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FC0F3C1-7512-A531-7F2E-7C4620C32A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0772" y="4937643"/>
                <a:ext cx="1993984" cy="47904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Box 17">
            <a:extLst>
              <a:ext uri="{FF2B5EF4-FFF2-40B4-BE49-F238E27FC236}">
                <a16:creationId xmlns:a16="http://schemas.microsoft.com/office/drawing/2014/main" id="{0FB02EB5-601B-5D4F-F670-F963712B9DCC}"/>
              </a:ext>
            </a:extLst>
          </p:cNvPr>
          <p:cNvSpPr txBox="1"/>
          <p:nvPr/>
        </p:nvSpPr>
        <p:spPr>
          <a:xfrm>
            <a:off x="5747657" y="6071016"/>
            <a:ext cx="345575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/>
              <a:t>[6] </a:t>
            </a:r>
            <a:r>
              <a:rPr lang="en-GB" sz="1100" dirty="0"/>
              <a:t>B. D'Andrea-Novel, Presse des Mines</a:t>
            </a:r>
            <a:endParaRPr lang="fr-FR" sz="1100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00C720B-33DC-E8F2-3DE4-BF11DF6687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>
                <a:solidFill>
                  <a:schemeClr val="bg1"/>
                </a:solidFill>
              </a:rPr>
              <a:t>TIPE 39662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8D83A222-ED91-0839-F882-B79AEBDE65E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7" r="137"/>
          <a:stretch/>
        </p:blipFill>
        <p:spPr>
          <a:xfrm>
            <a:off x="3348084" y="530794"/>
            <a:ext cx="5541604" cy="1652857"/>
          </a:xfrm>
          <a:prstGeom prst="rect">
            <a:avLst/>
          </a:prstGeom>
        </p:spPr>
      </p:pic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482CF58E-92C9-C369-0139-D8097E4682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709678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b="1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10" name="Slide Number Placeholder 2">
            <a:extLst>
              <a:ext uri="{FF2B5EF4-FFF2-40B4-BE49-F238E27FC236}">
                <a16:creationId xmlns:a16="http://schemas.microsoft.com/office/drawing/2014/main" id="{B6CE7088-3557-BC2B-F2A8-00ABC08B3A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>
                <a:solidFill>
                  <a:schemeClr val="bg1"/>
                </a:solidFill>
              </a:rPr>
              <a:t>14</a:t>
            </a:fld>
            <a:endParaRPr lang="fr-FR" sz="14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422950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E5DC96-7D6B-022A-BC8C-33392430B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98BD061B-D33F-5C6C-7159-62D2EA49DA0A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2E49283F-B7C2-323C-E9F5-655766F58916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7" name="Footer Placeholder 2">
              <a:extLst>
                <a:ext uri="{FF2B5EF4-FFF2-40B4-BE49-F238E27FC236}">
                  <a16:creationId xmlns:a16="http://schemas.microsoft.com/office/drawing/2014/main" id="{9B218E2D-41F2-8DB6-FF3F-307297FEA32F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9359E262-01D9-BF02-4695-E9718D933A61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3" name="Footer Placeholder 2">
            <a:extLst>
              <a:ext uri="{FF2B5EF4-FFF2-40B4-BE49-F238E27FC236}">
                <a16:creationId xmlns:a16="http://schemas.microsoft.com/office/drawing/2014/main" id="{6CEAFEBB-B7D7-A979-765E-DCADAB67C2C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607F5F5-C920-E8BE-F59C-FEDACBD8F753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Expérimentation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5340835-A145-5373-DEB1-EFF2B2EE05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  <a14:imgEffect>
                      <a14:brightnessContrast brigh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581" b="3828"/>
          <a:stretch>
            <a:fillRect/>
          </a:stretch>
        </p:blipFill>
        <p:spPr>
          <a:xfrm>
            <a:off x="3975817" y="1128398"/>
            <a:ext cx="4913871" cy="4935123"/>
          </a:xfrm>
          <a:prstGeom prst="rect">
            <a:avLst/>
          </a:prstGeom>
          <a:effectLst>
            <a:softEdge rad="31750"/>
          </a:effectLst>
        </p:spPr>
      </p:pic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332DA095-581E-E30B-B879-F49B0A2527DD}"/>
              </a:ext>
            </a:extLst>
          </p:cNvPr>
          <p:cNvCxnSpPr>
            <a:cxnSpLocks/>
            <a:stCxn id="3" idx="3"/>
          </p:cNvCxnSpPr>
          <p:nvPr/>
        </p:nvCxnSpPr>
        <p:spPr>
          <a:xfrm>
            <a:off x="3919140" y="5732146"/>
            <a:ext cx="2134447" cy="10796"/>
          </a:xfrm>
          <a:prstGeom prst="straightConnector1">
            <a:avLst/>
          </a:prstGeom>
          <a:ln w="38100">
            <a:solidFill>
              <a:srgbClr val="4A66A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2BAC65E0-95E4-0252-3042-A8AE9170EA26}"/>
              </a:ext>
            </a:extLst>
          </p:cNvPr>
          <p:cNvCxnSpPr>
            <a:cxnSpLocks/>
            <a:stCxn id="12" idx="3"/>
          </p:cNvCxnSpPr>
          <p:nvPr/>
        </p:nvCxnSpPr>
        <p:spPr>
          <a:xfrm flipV="1">
            <a:off x="4483262" y="3019456"/>
            <a:ext cx="960006" cy="544327"/>
          </a:xfrm>
          <a:prstGeom prst="bentConnector3">
            <a:avLst>
              <a:gd name="adj1" fmla="val 99871"/>
            </a:avLst>
          </a:prstGeom>
          <a:ln w="38100">
            <a:solidFill>
              <a:srgbClr val="4A66A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ACA56CDB-24E7-CD5E-78EB-1C02851331F6}"/>
              </a:ext>
            </a:extLst>
          </p:cNvPr>
          <p:cNvCxnSpPr>
            <a:cxnSpLocks/>
            <a:stCxn id="15" idx="0"/>
          </p:cNvCxnSpPr>
          <p:nvPr/>
        </p:nvCxnSpPr>
        <p:spPr>
          <a:xfrm rot="5400000" flipH="1" flipV="1">
            <a:off x="4428103" y="1179249"/>
            <a:ext cx="881092" cy="1903604"/>
          </a:xfrm>
          <a:prstGeom prst="bentConnector2">
            <a:avLst/>
          </a:prstGeom>
          <a:ln w="38100">
            <a:solidFill>
              <a:srgbClr val="4A66A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Date Placeholder 17">
            <a:extLst>
              <a:ext uri="{FF2B5EF4-FFF2-40B4-BE49-F238E27FC236}">
                <a16:creationId xmlns:a16="http://schemas.microsoft.com/office/drawing/2014/main" id="{8F56B911-BB28-4CBE-3881-6EC2093BF7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22" name="Footer Placeholder 21">
            <a:extLst>
              <a:ext uri="{FF2B5EF4-FFF2-40B4-BE49-F238E27FC236}">
                <a16:creationId xmlns:a16="http://schemas.microsoft.com/office/drawing/2014/main" id="{982A5C74-26D9-E102-B27C-C61F193ECC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0FEB00C1-4A21-7BA9-DCEE-A1EF3054B8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058531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b="1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5081C8B4-641B-F61E-5A65-035612AE2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15</a:t>
            </a:fld>
            <a:endParaRPr lang="fr-FR" sz="1400" b="1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500FD17C-9700-17F1-F443-EECB186994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812" y="2204973"/>
            <a:ext cx="3373612" cy="392072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6FE821B7-B9C3-D9DA-FD12-940F056E57F9}"/>
                  </a:ext>
                </a:extLst>
              </p:cNvPr>
              <p:cNvSpPr txBox="1"/>
              <p:nvPr/>
            </p:nvSpPr>
            <p:spPr>
              <a:xfrm>
                <a:off x="326176" y="1128398"/>
                <a:ext cx="3435680" cy="923330"/>
              </a:xfrm>
              <a:prstGeom prst="rect">
                <a:avLst/>
              </a:prstGeom>
              <a:noFill/>
              <a:ln w="38100">
                <a:solidFill>
                  <a:srgbClr val="4A66AC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fr-FR" dirty="0"/>
                  <a:t>Excitation manuelle de la corde 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=30</m:t>
                    </m:r>
                  </m:oMath>
                </a14:m>
                <a:r>
                  <a:rPr lang="fr-FR" dirty="0"/>
                  <a:t>cm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=80</m:t>
                    </m:r>
                  </m:oMath>
                </a14:m>
                <a:r>
                  <a:rPr lang="fr-FR" dirty="0"/>
                  <a:t>Hz </a:t>
                </a:r>
                <a:r>
                  <a:rPr lang="fr-FR" dirty="0">
                    <a:sym typeface="Wingdings" panose="05000000000000000000" pitchFamily="2" charset="2"/>
                  </a:rPr>
                  <a:t> </a:t>
                </a:r>
                <a:endParaRPr lang="fr-FR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6FE821B7-B9C3-D9DA-FD12-940F056E57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176" y="1128398"/>
                <a:ext cx="3435680" cy="923330"/>
              </a:xfrm>
              <a:prstGeom prst="rect">
                <a:avLst/>
              </a:prstGeom>
              <a:blipFill>
                <a:blip r:embed="rId5"/>
                <a:stretch>
                  <a:fillRect l="-1054" t="-1266" r="-527" b="-6962"/>
                </a:stretch>
              </a:blipFill>
              <a:ln w="38100">
                <a:solidFill>
                  <a:srgbClr val="4A66AC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Rectangle 14">
            <a:extLst>
              <a:ext uri="{FF2B5EF4-FFF2-40B4-BE49-F238E27FC236}">
                <a16:creationId xmlns:a16="http://schemas.microsoft.com/office/drawing/2014/main" id="{7A8C5315-833A-1227-2102-F393794B1434}"/>
              </a:ext>
            </a:extLst>
          </p:cNvPr>
          <p:cNvSpPr/>
          <p:nvPr/>
        </p:nvSpPr>
        <p:spPr>
          <a:xfrm>
            <a:off x="3350431" y="2571597"/>
            <a:ext cx="1132831" cy="294614"/>
          </a:xfrm>
          <a:prstGeom prst="rect">
            <a:avLst/>
          </a:prstGeom>
          <a:ln w="38100">
            <a:solidFill>
              <a:srgbClr val="4A66AC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200" b="1" dirty="0"/>
              <a:t>Oscilloscope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9EA8B41-DBF9-4BAE-EC12-9787ED3EBFD4}"/>
              </a:ext>
            </a:extLst>
          </p:cNvPr>
          <p:cNvSpPr/>
          <p:nvPr/>
        </p:nvSpPr>
        <p:spPr>
          <a:xfrm>
            <a:off x="3350431" y="3445368"/>
            <a:ext cx="1132831" cy="236830"/>
          </a:xfrm>
          <a:prstGeom prst="rect">
            <a:avLst/>
          </a:prstGeom>
          <a:ln w="38100">
            <a:solidFill>
              <a:srgbClr val="4A66AC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200" b="1" dirty="0"/>
              <a:t>Resistance</a:t>
            </a:r>
          </a:p>
        </p:txBody>
      </p: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A40D472F-BC32-2262-CA3A-FD082EB0DFC9}"/>
              </a:ext>
            </a:extLst>
          </p:cNvPr>
          <p:cNvCxnSpPr>
            <a:cxnSpLocks/>
            <a:stCxn id="12" idx="1"/>
          </p:cNvCxnSpPr>
          <p:nvPr/>
        </p:nvCxnSpPr>
        <p:spPr>
          <a:xfrm rot="10800000">
            <a:off x="2605183" y="3357841"/>
            <a:ext cx="745248" cy="205943"/>
          </a:xfrm>
          <a:prstGeom prst="bentConnector3">
            <a:avLst>
              <a:gd name="adj1" fmla="val 100063"/>
            </a:avLst>
          </a:prstGeom>
          <a:ln w="38100">
            <a:solidFill>
              <a:srgbClr val="4A66A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8F91A0F7-0A8A-6942-5619-89D8D96F223A}"/>
              </a:ext>
            </a:extLst>
          </p:cNvPr>
          <p:cNvCxnSpPr>
            <a:cxnSpLocks/>
          </p:cNvCxnSpPr>
          <p:nvPr/>
        </p:nvCxnSpPr>
        <p:spPr>
          <a:xfrm>
            <a:off x="5007840" y="5505955"/>
            <a:ext cx="3840705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4" name="TextBox 133">
                <a:extLst>
                  <a:ext uri="{FF2B5EF4-FFF2-40B4-BE49-F238E27FC236}">
                    <a16:creationId xmlns:a16="http://schemas.microsoft.com/office/drawing/2014/main" id="{15719646-612D-60C7-5515-4C1C2A069C80}"/>
                  </a:ext>
                </a:extLst>
              </p:cNvPr>
              <p:cNvSpPr txBox="1"/>
              <p:nvPr/>
            </p:nvSpPr>
            <p:spPr>
              <a:xfrm>
                <a:off x="2032718" y="1717328"/>
                <a:ext cx="1288892" cy="276999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34" name="TextBox 133">
                <a:extLst>
                  <a:ext uri="{FF2B5EF4-FFF2-40B4-BE49-F238E27FC236}">
                    <a16:creationId xmlns:a16="http://schemas.microsoft.com/office/drawing/2014/main" id="{15719646-612D-60C7-5515-4C1C2A069C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32718" y="1717328"/>
                <a:ext cx="1288892" cy="276999"/>
              </a:xfrm>
              <a:prstGeom prst="rect">
                <a:avLst/>
              </a:prstGeom>
              <a:blipFill>
                <a:blip r:embed="rId6"/>
                <a:stretch>
                  <a:fillRect r="-930" b="-31250"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2">
            <a:extLst>
              <a:ext uri="{FF2B5EF4-FFF2-40B4-BE49-F238E27FC236}">
                <a16:creationId xmlns:a16="http://schemas.microsoft.com/office/drawing/2014/main" id="{EC4625F1-930A-19C2-391C-C0CFF4AB4944}"/>
              </a:ext>
            </a:extLst>
          </p:cNvPr>
          <p:cNvSpPr/>
          <p:nvPr/>
        </p:nvSpPr>
        <p:spPr>
          <a:xfrm>
            <a:off x="2694148" y="5615719"/>
            <a:ext cx="1224992" cy="232854"/>
          </a:xfrm>
          <a:prstGeom prst="rect">
            <a:avLst/>
          </a:prstGeom>
          <a:ln w="38100">
            <a:solidFill>
              <a:srgbClr val="4A66AC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200" b="1" dirty="0"/>
              <a:t>Humbucker //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FAD9445-BE9C-973C-C972-8AFE4B8EAE0E}"/>
              </a:ext>
            </a:extLst>
          </p:cNvPr>
          <p:cNvSpPr/>
          <p:nvPr/>
        </p:nvSpPr>
        <p:spPr>
          <a:xfrm>
            <a:off x="2731002" y="5916459"/>
            <a:ext cx="1105167" cy="236830"/>
          </a:xfrm>
          <a:prstGeom prst="rect">
            <a:avLst/>
          </a:prstGeom>
          <a:ln w="38100">
            <a:solidFill>
              <a:srgbClr val="4A66AC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200" b="1" dirty="0"/>
              <a:t>SingleCoil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AC70B2-4DA2-8485-1575-BEAEC25927E8}"/>
              </a:ext>
            </a:extLst>
          </p:cNvPr>
          <p:cNvSpPr/>
          <p:nvPr/>
        </p:nvSpPr>
        <p:spPr>
          <a:xfrm>
            <a:off x="2694148" y="5309222"/>
            <a:ext cx="1224992" cy="232854"/>
          </a:xfrm>
          <a:prstGeom prst="rect">
            <a:avLst/>
          </a:prstGeom>
          <a:ln w="38100">
            <a:solidFill>
              <a:srgbClr val="4A66AC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200" b="1" dirty="0"/>
              <a:t>Humbucker --</a:t>
            </a:r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8A10E743-00B2-81C7-931B-E99DB5826837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3836169" y="5846902"/>
            <a:ext cx="1945686" cy="187972"/>
          </a:xfrm>
          <a:prstGeom prst="bentConnector3">
            <a:avLst>
              <a:gd name="adj1" fmla="val 99656"/>
            </a:avLst>
          </a:prstGeom>
          <a:ln w="38100">
            <a:solidFill>
              <a:srgbClr val="4A66A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5D0FAE8A-3688-F2A8-6B0A-E9E30236C8B8}"/>
              </a:ext>
            </a:extLst>
          </p:cNvPr>
          <p:cNvCxnSpPr>
            <a:cxnSpLocks/>
            <a:stCxn id="11" idx="0"/>
          </p:cNvCxnSpPr>
          <p:nvPr/>
        </p:nvCxnSpPr>
        <p:spPr>
          <a:xfrm rot="16200000" flipV="1">
            <a:off x="2557860" y="4560437"/>
            <a:ext cx="457076" cy="1040493"/>
          </a:xfrm>
          <a:prstGeom prst="bentConnector2">
            <a:avLst/>
          </a:prstGeom>
          <a:ln w="38100">
            <a:solidFill>
              <a:srgbClr val="4A66A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Straight Arrow Connector 151">
            <a:extLst>
              <a:ext uri="{FF2B5EF4-FFF2-40B4-BE49-F238E27FC236}">
                <a16:creationId xmlns:a16="http://schemas.microsoft.com/office/drawing/2014/main" id="{24E87CDB-17A6-24C1-90D1-1ED1137DA57A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3919140" y="5412994"/>
            <a:ext cx="2585177" cy="12655"/>
          </a:xfrm>
          <a:prstGeom prst="straightConnector1">
            <a:avLst/>
          </a:prstGeom>
          <a:ln w="38100">
            <a:solidFill>
              <a:srgbClr val="4A66A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: Elbow 158">
            <a:extLst>
              <a:ext uri="{FF2B5EF4-FFF2-40B4-BE49-F238E27FC236}">
                <a16:creationId xmlns:a16="http://schemas.microsoft.com/office/drawing/2014/main" id="{26183F1B-78FD-09F6-1604-BCD222630B2F}"/>
              </a:ext>
            </a:extLst>
          </p:cNvPr>
          <p:cNvCxnSpPr>
            <a:cxnSpLocks/>
            <a:stCxn id="9" idx="1"/>
          </p:cNvCxnSpPr>
          <p:nvPr/>
        </p:nvCxnSpPr>
        <p:spPr>
          <a:xfrm rot="10800000">
            <a:off x="2150134" y="5695322"/>
            <a:ext cx="580868" cy="339553"/>
          </a:xfrm>
          <a:prstGeom prst="bentConnector3">
            <a:avLst>
              <a:gd name="adj1" fmla="val 100493"/>
            </a:avLst>
          </a:prstGeom>
          <a:ln w="38100">
            <a:solidFill>
              <a:srgbClr val="4A66A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: Elbow 164">
            <a:extLst>
              <a:ext uri="{FF2B5EF4-FFF2-40B4-BE49-F238E27FC236}">
                <a16:creationId xmlns:a16="http://schemas.microsoft.com/office/drawing/2014/main" id="{A3859F76-CB05-368E-06E0-93ECDDFC03E7}"/>
              </a:ext>
            </a:extLst>
          </p:cNvPr>
          <p:cNvCxnSpPr>
            <a:cxnSpLocks/>
            <a:stCxn id="3" idx="1"/>
          </p:cNvCxnSpPr>
          <p:nvPr/>
        </p:nvCxnSpPr>
        <p:spPr>
          <a:xfrm rot="10800000">
            <a:off x="2266152" y="5342248"/>
            <a:ext cx="427996" cy="389898"/>
          </a:xfrm>
          <a:prstGeom prst="bentConnector3">
            <a:avLst>
              <a:gd name="adj1" fmla="val 50000"/>
            </a:avLst>
          </a:prstGeom>
          <a:ln w="38100">
            <a:solidFill>
              <a:srgbClr val="4A66A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68350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6035FA2-0849-EE37-8E55-ACA53FD9EE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CCB08A6-75F3-C217-089B-94DA3EE536FB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77A11090-9E47-E883-0F29-75609AC1E275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1" name="Footer Placeholder 2">
              <a:extLst>
                <a:ext uri="{FF2B5EF4-FFF2-40B4-BE49-F238E27FC236}">
                  <a16:creationId xmlns:a16="http://schemas.microsoft.com/office/drawing/2014/main" id="{5A8CAB53-01B8-7DD4-BABD-161C3B42FE77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8917C206-7D8F-F87C-A464-C28158F269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55762" y="1243154"/>
            <a:ext cx="3600000" cy="3000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971E75F-9259-7FAA-45E5-54846152DA8A}"/>
              </a:ext>
            </a:extLst>
          </p:cNvPr>
          <p:cNvSpPr txBox="1"/>
          <p:nvPr/>
        </p:nvSpPr>
        <p:spPr>
          <a:xfrm>
            <a:off x="655762" y="4381644"/>
            <a:ext cx="360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 (Théorie)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14D5F30-39B8-D7CA-2411-76B79449E82F}"/>
              </a:ext>
            </a:extLst>
          </p:cNvPr>
          <p:cNvSpPr txBox="1"/>
          <p:nvPr/>
        </p:nvSpPr>
        <p:spPr>
          <a:xfrm>
            <a:off x="721782" y="61197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CAD8DFC-CCA3-143E-1C3A-755E2E49D659}"/>
              </a:ext>
            </a:extLst>
          </p:cNvPr>
          <p:cNvSpPr txBox="1"/>
          <p:nvPr/>
        </p:nvSpPr>
        <p:spPr>
          <a:xfrm>
            <a:off x="4824129" y="4381644"/>
            <a:ext cx="360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 (Expérience)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BABFBD4-0070-EF04-AA46-1FCDEC8DDE48}"/>
                  </a:ext>
                </a:extLst>
              </p:cNvPr>
              <p:cNvSpPr txBox="1"/>
              <p:nvPr/>
            </p:nvSpPr>
            <p:spPr>
              <a:xfrm>
                <a:off x="517169" y="4798890"/>
                <a:ext cx="8372519" cy="10389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b="1" u="sng" dirty="0"/>
                  <a:t>Interprétation</a:t>
                </a:r>
              </a:p>
              <a:p>
                <a:r>
                  <a:rPr lang="fr-FR" dirty="0">
                    <a:sym typeface="Wingdings" panose="05000000000000000000" pitchFamily="2" charset="2"/>
                  </a:rPr>
                  <a:t>✅ </a:t>
                </a:r>
                <a:r>
                  <a:rPr lang="fr-FR" dirty="0"/>
                  <a:t>Décroissance en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</m:oMath>
                </a14:m>
                <a:endParaRPr lang="fr-FR" dirty="0"/>
              </a:p>
              <a:p>
                <a:r>
                  <a:rPr lang="fr-FR" dirty="0">
                    <a:sym typeface="Wingdings" panose="05000000000000000000" pitchFamily="2" charset="2"/>
                  </a:rPr>
                  <a:t>❌ </a:t>
                </a:r>
                <a:r>
                  <a:rPr lang="fr-FR" dirty="0"/>
                  <a:t>Modes 2, 4, 5 et 6 amplifiés</a:t>
                </a:r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BABFBD4-0070-EF04-AA46-1FCDEC8DDE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169" y="4798890"/>
                <a:ext cx="8372519" cy="1038939"/>
              </a:xfrm>
              <a:prstGeom prst="rect">
                <a:avLst/>
              </a:prstGeom>
              <a:blipFill>
                <a:blip r:embed="rId3"/>
                <a:stretch>
                  <a:fillRect l="-655" t="-2924" b="-818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8A624D57-F4C1-F5D8-3CC9-E0209DB59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E74625C-1157-F956-CC44-D38484D63704}"/>
                  </a:ext>
                </a:extLst>
              </p:cNvPr>
              <p:cNvSpPr txBox="1"/>
              <p:nvPr/>
            </p:nvSpPr>
            <p:spPr>
              <a:xfrm>
                <a:off x="5400461" y="5270136"/>
                <a:ext cx="2504185" cy="405496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fr-FR" b="0" dirty="0">
                    <a:solidFill>
                      <a:srgbClr val="C00000"/>
                    </a:solidFill>
                    <a:ea typeface="Cambria Math" panose="02040503050406030204" pitchFamily="18" charset="0"/>
                  </a:rPr>
                  <a:t>Amplitude </a:t>
                </a:r>
                <a14:m>
                  <m:oMath xmlns:m="http://schemas.openxmlformats.org/officeDocument/2006/math">
                    <m:r>
                      <a:rPr lang="fr-FR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∝ </m:t>
                    </m:r>
                    <m:f>
                      <m:fPr>
                        <m:ctrlP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fr-FR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b="0" i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fr-FR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fr-FR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fr-FR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fr-FR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  <m:r>
                              <a:rPr lang="fr-FR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</m:num>
                      <m:den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den>
                    </m:f>
                  </m:oMath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E74625C-1157-F956-CC44-D38484D637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0461" y="5270136"/>
                <a:ext cx="2504185" cy="405496"/>
              </a:xfrm>
              <a:prstGeom prst="rect">
                <a:avLst/>
              </a:prstGeom>
              <a:blipFill>
                <a:blip r:embed="rId8"/>
                <a:stretch>
                  <a:fillRect t="-1449" b="-15942"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39C4E2F6-656E-8266-5DE2-F8CA51BB84A7}"/>
              </a:ext>
            </a:extLst>
          </p:cNvPr>
          <p:cNvSpPr txBox="1"/>
          <p:nvPr/>
        </p:nvSpPr>
        <p:spPr>
          <a:xfrm>
            <a:off x="4852555" y="4805451"/>
            <a:ext cx="46135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u="sng" dirty="0"/>
              <a:t>Explication</a:t>
            </a:r>
            <a:endParaRPr lang="fr-FR" dirty="0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3FF3B87D-F3B2-17A1-9B13-5DACB3E7A7A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27758" y="1249201"/>
            <a:ext cx="3592741" cy="2993950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28" name="Table 27">
            <a:extLst>
              <a:ext uri="{FF2B5EF4-FFF2-40B4-BE49-F238E27FC236}">
                <a16:creationId xmlns:a16="http://schemas.microsoft.com/office/drawing/2014/main" id="{F926BDE1-7057-6CAA-D208-1327F028FD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058531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b="1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pic>
        <p:nvPicPr>
          <p:cNvPr id="29" name="Picture 28" descr="Python Logo PNG Transparent – Brands Logos">
            <a:extLst>
              <a:ext uri="{FF2B5EF4-FFF2-40B4-BE49-F238E27FC236}">
                <a16:creationId xmlns:a16="http://schemas.microsoft.com/office/drawing/2014/main" id="{90270A4D-19B9-ADC9-8698-3824832580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59105" y="527823"/>
            <a:ext cx="433830" cy="43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E845832-E47B-15C0-52AF-DE2EDF18C6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16</a:t>
            </a:fld>
            <a:endParaRPr lang="fr-FR" sz="1400" b="1" dirty="0"/>
          </a:p>
        </p:txBody>
      </p:sp>
    </p:spTree>
    <p:extLst>
      <p:ext uri="{BB962C8B-B14F-4D97-AF65-F5344CB8AC3E}">
        <p14:creationId xmlns:p14="http://schemas.microsoft.com/office/powerpoint/2010/main" val="35672008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3B0776-6070-B8A2-6D9F-E5C0B68D53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FB68D66-9E95-3048-2E0B-343D3B2583D0}"/>
                  </a:ext>
                </a:extLst>
              </p:cNvPr>
              <p:cNvSpPr txBox="1"/>
              <p:nvPr/>
            </p:nvSpPr>
            <p:spPr>
              <a:xfrm>
                <a:off x="517169" y="4798890"/>
                <a:ext cx="8372519" cy="131593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b="1" u="sng" dirty="0"/>
                  <a:t>Interprétation</a:t>
                </a:r>
              </a:p>
              <a:p>
                <a:r>
                  <a:rPr lang="fr-FR" dirty="0">
                    <a:sym typeface="Wingdings" panose="05000000000000000000" pitchFamily="2" charset="2"/>
                  </a:rPr>
                  <a:t>✅ </a:t>
                </a:r>
                <a:r>
                  <a:rPr lang="fr-FR" dirty="0"/>
                  <a:t>Décroissance en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</m:oMath>
                </a14:m>
                <a:endParaRPr lang="fr-FR" dirty="0"/>
              </a:p>
              <a:p>
                <a:r>
                  <a:rPr lang="fr-FR" dirty="0">
                    <a:sym typeface="Wingdings" panose="05000000000000000000" pitchFamily="2" charset="2"/>
                  </a:rPr>
                  <a:t>❌ </a:t>
                </a:r>
                <a:r>
                  <a:rPr lang="fr-FR" dirty="0"/>
                  <a:t>Modes 2 et 4 amplifiés</a:t>
                </a:r>
              </a:p>
              <a:p>
                <a:r>
                  <a:rPr lang="fr-FR" dirty="0">
                    <a:sym typeface="Wingdings" panose="05000000000000000000" pitchFamily="2" charset="2"/>
                  </a:rPr>
                  <a:t>❌ </a:t>
                </a:r>
                <a:r>
                  <a:rPr lang="fr-FR" dirty="0"/>
                  <a:t>Ecart au mode 4 (320 Hz)</a:t>
                </a:r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FB68D66-9E95-3048-2E0B-343D3B2583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169" y="4798890"/>
                <a:ext cx="8372519" cy="1315938"/>
              </a:xfrm>
              <a:prstGeom prst="rect">
                <a:avLst/>
              </a:prstGeom>
              <a:blipFill>
                <a:blip r:embed="rId2"/>
                <a:stretch>
                  <a:fillRect l="-655" t="-2315" b="-648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080AC9B-8262-9B48-47CD-FC997E4B83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D3B99880-11E0-A7BA-ED53-2BF29D230E73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CBDBE29-3737-3A36-9F03-6A308E780641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1" name="Footer Placeholder 2">
              <a:extLst>
                <a:ext uri="{FF2B5EF4-FFF2-40B4-BE49-F238E27FC236}">
                  <a16:creationId xmlns:a16="http://schemas.microsoft.com/office/drawing/2014/main" id="{168428B4-D9A1-DA21-A141-7F89B05F1DB9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9E6CA2-8879-E8E8-EC0B-E3AF58AA1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68C4C82-CCDC-6D92-7005-1CC53B69C0C7}"/>
              </a:ext>
            </a:extLst>
          </p:cNvPr>
          <p:cNvSpPr txBox="1"/>
          <p:nvPr/>
        </p:nvSpPr>
        <p:spPr>
          <a:xfrm>
            <a:off x="721782" y="61197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48A97981-7912-272E-7ACF-6108A251F5DE}"/>
                  </a:ext>
                </a:extLst>
              </p:cNvPr>
              <p:cNvSpPr txBox="1"/>
              <p:nvPr/>
            </p:nvSpPr>
            <p:spPr>
              <a:xfrm>
                <a:off x="4960189" y="5266577"/>
                <a:ext cx="3218413" cy="520463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fr-FR" b="0" dirty="0">
                    <a:solidFill>
                      <a:srgbClr val="C00000"/>
                    </a:solidFill>
                    <a:ea typeface="Cambria Math" panose="02040503050406030204" pitchFamily="18" charset="0"/>
                  </a:rPr>
                  <a:t>Amplitude </a:t>
                </a:r>
                <a14:m>
                  <m:oMath xmlns:m="http://schemas.openxmlformats.org/officeDocument/2006/math">
                    <m:r>
                      <a:rPr lang="fr-FR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∝ </m:t>
                    </m:r>
                    <m:f>
                      <m:fPr>
                        <m:ctrlP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fr-FR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b="0" i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fr-FR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f>
                              <m:fPr>
                                <m:ctrlPr>
                                  <a:rPr lang="fr-FR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fr-FR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fr-FR" b="0" i="0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Δ</m:t>
                                </m:r>
                              </m:num>
                              <m:den>
                                <m:r>
                                  <a:rPr lang="fr-FR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  <m:r>
                              <a:rPr lang="fr-FR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  <m:func>
                          <m:funcPr>
                            <m:ctrlPr>
                              <a:rPr lang="fr-FR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b="0" i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fr-FR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fr-FR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fr-FR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fr-FR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  <m:r>
                              <a:rPr lang="fr-FR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</m:num>
                      <m:den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den>
                    </m:f>
                  </m:oMath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48A97981-7912-272E-7ACF-6108A251F5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0189" y="5266577"/>
                <a:ext cx="3218413" cy="520463"/>
              </a:xfrm>
              <a:prstGeom prst="rect">
                <a:avLst/>
              </a:prstGeom>
              <a:blipFill>
                <a:blip r:embed="rId3"/>
                <a:stretch>
                  <a:fillRect b="-11364"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TextBox 26">
            <a:extLst>
              <a:ext uri="{FF2B5EF4-FFF2-40B4-BE49-F238E27FC236}">
                <a16:creationId xmlns:a16="http://schemas.microsoft.com/office/drawing/2014/main" id="{62E9BE76-3E1C-DD1F-D8A7-D7C6D9593C6B}"/>
              </a:ext>
            </a:extLst>
          </p:cNvPr>
          <p:cNvSpPr txBox="1"/>
          <p:nvPr/>
        </p:nvSpPr>
        <p:spPr>
          <a:xfrm>
            <a:off x="4852555" y="4805451"/>
            <a:ext cx="46135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u="sng" dirty="0"/>
              <a:t>Explication</a:t>
            </a:r>
            <a:endParaRPr lang="fr-FR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A01F9E83-A6F3-6D91-CA14-B7F3AFCB93B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63020" y="1249202"/>
            <a:ext cx="3592741" cy="299395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1F46B1B-B27C-9E89-F12F-18307D5A3C9D}"/>
              </a:ext>
            </a:extLst>
          </p:cNvPr>
          <p:cNvSpPr txBox="1"/>
          <p:nvPr/>
        </p:nvSpPr>
        <p:spPr>
          <a:xfrm>
            <a:off x="655762" y="4381644"/>
            <a:ext cx="360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 série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375591C-80F6-8773-08A7-D9275CC0220F}"/>
              </a:ext>
            </a:extLst>
          </p:cNvPr>
          <p:cNvSpPr txBox="1"/>
          <p:nvPr/>
        </p:nvSpPr>
        <p:spPr>
          <a:xfrm>
            <a:off x="4824129" y="4381644"/>
            <a:ext cx="360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 parallèle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E30C8D0D-93B5-CCBA-2B39-9C042195F7C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27758" y="1249201"/>
            <a:ext cx="3592740" cy="2993950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33" name="Table 32">
            <a:extLst>
              <a:ext uri="{FF2B5EF4-FFF2-40B4-BE49-F238E27FC236}">
                <a16:creationId xmlns:a16="http://schemas.microsoft.com/office/drawing/2014/main" id="{AA0DE2CE-31CB-5804-5054-16DE572DF3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058531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b="1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pic>
        <p:nvPicPr>
          <p:cNvPr id="34" name="Picture 33" descr="Python Logo PNG Transparent – Brands Logos">
            <a:extLst>
              <a:ext uri="{FF2B5EF4-FFF2-40B4-BE49-F238E27FC236}">
                <a16:creationId xmlns:a16="http://schemas.microsoft.com/office/drawing/2014/main" id="{D03D47F7-7ACE-3539-D126-594A312E6A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59105" y="527823"/>
            <a:ext cx="433830" cy="43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Slide Number Placeholder 2">
            <a:extLst>
              <a:ext uri="{FF2B5EF4-FFF2-40B4-BE49-F238E27FC236}">
                <a16:creationId xmlns:a16="http://schemas.microsoft.com/office/drawing/2014/main" id="{B00F24D5-E92A-9FA3-3B43-11FAB4F9C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17</a:t>
            </a:fld>
            <a:endParaRPr lang="fr-FR" sz="1400" b="1" dirty="0"/>
          </a:p>
        </p:txBody>
      </p:sp>
    </p:spTree>
    <p:extLst>
      <p:ext uri="{BB962C8B-B14F-4D97-AF65-F5344CB8AC3E}">
        <p14:creationId xmlns:p14="http://schemas.microsoft.com/office/powerpoint/2010/main" val="23899856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E3BAE8-7762-46B2-E907-AD7099361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61E5EDFB-C840-65AB-C6E3-90FB7CB6E4AA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B845F26-B0CA-A491-4DA1-1F594CFBD876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2" name="Footer Placeholder 2">
              <a:extLst>
                <a:ext uri="{FF2B5EF4-FFF2-40B4-BE49-F238E27FC236}">
                  <a16:creationId xmlns:a16="http://schemas.microsoft.com/office/drawing/2014/main" id="{82433090-BC1B-2216-FF85-994BBF3E9F74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97EB2398-EFF8-C9A2-49F0-95D4E4A8CC35}"/>
              </a:ext>
            </a:extLst>
          </p:cNvPr>
          <p:cNvSpPr/>
          <p:nvPr/>
        </p:nvSpPr>
        <p:spPr>
          <a:xfrm>
            <a:off x="34544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EAA1C499-08B3-9C15-9DE4-81770D2A2D95}"/>
                  </a:ext>
                </a:extLst>
              </p:cNvPr>
              <p:cNvSpPr/>
              <p:nvPr/>
            </p:nvSpPr>
            <p:spPr>
              <a:xfrm>
                <a:off x="5681666" y="1128398"/>
                <a:ext cx="3208021" cy="915896"/>
              </a:xfrm>
              <a:prstGeom prst="rect">
                <a:avLst/>
              </a:prstGeom>
              <a:ln w="38100">
                <a:solidFill>
                  <a:srgbClr val="4A66AC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Calcul du gain d’atténuation relatif :</a:t>
                </a:r>
              </a:p>
              <a:p>
                <a:endParaRPr lang="fr-FR" sz="1400" b="0" i="1" dirty="0">
                  <a:solidFill>
                    <a:srgbClr val="C00000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=20</m:t>
                      </m:r>
                      <m:func>
                        <m:func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n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 /</m:t>
                          </m:r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n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EAA1C499-08B3-9C15-9DE4-81770D2A2D9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1666" y="1128398"/>
                <a:ext cx="3208021" cy="91589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4A66AC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0" name="Group 29">
            <a:extLst>
              <a:ext uri="{FF2B5EF4-FFF2-40B4-BE49-F238E27FC236}">
                <a16:creationId xmlns:a16="http://schemas.microsoft.com/office/drawing/2014/main" id="{AE1FC82B-F70C-8D5D-E171-A36BE02D4021}"/>
              </a:ext>
            </a:extLst>
          </p:cNvPr>
          <p:cNvGrpSpPr/>
          <p:nvPr/>
        </p:nvGrpSpPr>
        <p:grpSpPr>
          <a:xfrm>
            <a:off x="5714016" y="2163818"/>
            <a:ext cx="3269985" cy="3993142"/>
            <a:chOff x="5958063" y="2389099"/>
            <a:chExt cx="2878491" cy="357316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CA3093A-8816-005B-D928-3B44B655C8E2}"/>
                </a:ext>
              </a:extLst>
            </p:cNvPr>
            <p:cNvSpPr/>
            <p:nvPr/>
          </p:nvSpPr>
          <p:spPr>
            <a:xfrm>
              <a:off x="5958063" y="2389099"/>
              <a:ext cx="2878491" cy="3573164"/>
            </a:xfrm>
            <a:prstGeom prst="rect">
              <a:avLst/>
            </a:prstGeom>
            <a:ln w="38100">
              <a:noFill/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r>
                <a:rPr lang="fr-FR" sz="1400" b="1" u="sng" dirty="0">
                  <a:solidFill>
                    <a:schemeClr val="tx1"/>
                  </a:solidFill>
                </a:rPr>
                <a:t>Nœuds de vibration :</a:t>
              </a: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u="sng" dirty="0">
                <a:solidFill>
                  <a:schemeClr val="tx1"/>
                </a:solidFill>
              </a:endParaRPr>
            </a:p>
            <a:p>
              <a:endParaRPr lang="fr-FR" sz="1400" b="1" u="sng" dirty="0">
                <a:solidFill>
                  <a:schemeClr val="tx1"/>
                </a:solidFill>
              </a:endParaRPr>
            </a:p>
            <a:p>
              <a:r>
                <a:rPr lang="fr-FR" sz="1400" b="1" u="sng" dirty="0">
                  <a:solidFill>
                    <a:schemeClr val="tx1"/>
                  </a:solidFill>
                </a:rPr>
                <a:t>Filtrage en peigne spatial :</a:t>
              </a: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A3C3E0C0-FBAB-DC78-5B15-476675A966D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bright="40000" contrast="40000"/>
                      </a14:imgEffect>
                    </a14:imgLayer>
                  </a14:imgProps>
                </a:ext>
              </a:extLst>
            </a:blip>
            <a:srcRect l="3726" t="8959" r="3236" b="4515"/>
            <a:stretch>
              <a:fillRect/>
            </a:stretch>
          </p:blipFill>
          <p:spPr>
            <a:xfrm>
              <a:off x="6477938" y="4604155"/>
              <a:ext cx="1798321" cy="377538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C40B446E-9BC2-8E92-5207-9220276E30C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276" t="6786" r="5431" b="11456"/>
            <a:stretch>
              <a:fillRect/>
            </a:stretch>
          </p:blipFill>
          <p:spPr>
            <a:xfrm>
              <a:off x="6988242" y="5064642"/>
              <a:ext cx="793915" cy="525312"/>
            </a:xfrm>
            <a:prstGeom prst="rect">
              <a:avLst/>
            </a:prstGeom>
          </p:spPr>
        </p:pic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021575B3-C3E7-D035-FD8D-5A909416EA0A}"/>
                </a:ext>
              </a:extLst>
            </p:cNvPr>
            <p:cNvGrpSpPr/>
            <p:nvPr/>
          </p:nvGrpSpPr>
          <p:grpSpPr>
            <a:xfrm>
              <a:off x="6092582" y="2976561"/>
              <a:ext cx="2601348" cy="2005132"/>
              <a:chOff x="6074018" y="3612551"/>
              <a:chExt cx="2601346" cy="1911988"/>
            </a:xfrm>
          </p:grpSpPr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BB147258-36F6-4862-BCFA-8C34DAA43A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</a:extLst>
              </a:blip>
              <a:srcRect l="3726" t="8959" r="3236" b="4515"/>
              <a:stretch>
                <a:fillRect/>
              </a:stretch>
            </p:blipFill>
            <p:spPr>
              <a:xfrm>
                <a:off x="6467476" y="3612551"/>
                <a:ext cx="1798320" cy="360000"/>
              </a:xfrm>
              <a:prstGeom prst="rect">
                <a:avLst/>
              </a:prstGeom>
            </p:spPr>
          </p:pic>
          <p:pic>
            <p:nvPicPr>
              <p:cNvPr id="49" name="Picture 48">
                <a:extLst>
                  <a:ext uri="{FF2B5EF4-FFF2-40B4-BE49-F238E27FC236}">
                    <a16:creationId xmlns:a16="http://schemas.microsoft.com/office/drawing/2014/main" id="{6A19C6E1-1347-2947-0051-4E4B5CAD305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ackgroundRemoval t="32494" b="70953" l="13960" r="44675"/>
                        </a14:imgEffect>
                        <a14:imgEffect>
                          <a14:brightnessContrast bright="40000" contrast="-4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120" t="27687" r="51486" b="24239"/>
              <a:stretch>
                <a:fillRect/>
              </a:stretch>
            </p:blipFill>
            <p:spPr>
              <a:xfrm>
                <a:off x="6920250" y="3866659"/>
                <a:ext cx="932157" cy="756309"/>
              </a:xfrm>
              <a:prstGeom prst="rect">
                <a:avLst/>
              </a:prstGeom>
            </p:spPr>
          </p:pic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BD459B7B-7876-DECC-7C5D-6EF7F711F39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70935" y="3612551"/>
                <a:ext cx="0" cy="863841"/>
              </a:xfrm>
              <a:prstGeom prst="line">
                <a:avLst/>
              </a:prstGeom>
              <a:ln w="12700" cap="flat" cmpd="sng" algn="ctr">
                <a:solidFill>
                  <a:srgbClr val="C00000"/>
                </a:solidFill>
                <a:prstDash val="sys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pic>
            <p:nvPicPr>
              <p:cNvPr id="51" name="Picture 50">
                <a:extLst>
                  <a:ext uri="{FF2B5EF4-FFF2-40B4-BE49-F238E27FC236}">
                    <a16:creationId xmlns:a16="http://schemas.microsoft.com/office/drawing/2014/main" id="{69C823F4-FBD6-6BF7-DDFC-373F3F49B1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</a:extLst>
              </a:blip>
              <a:srcRect l="76827" t="8959" r="3236" b="4515"/>
              <a:stretch>
                <a:fillRect/>
              </a:stretch>
            </p:blipFill>
            <p:spPr>
              <a:xfrm>
                <a:off x="6082122" y="3612551"/>
                <a:ext cx="385354" cy="360000"/>
              </a:xfrm>
              <a:prstGeom prst="rect">
                <a:avLst/>
              </a:prstGeom>
            </p:spPr>
          </p:pic>
          <p:pic>
            <p:nvPicPr>
              <p:cNvPr id="52" name="Picture 51">
                <a:extLst>
                  <a:ext uri="{FF2B5EF4-FFF2-40B4-BE49-F238E27FC236}">
                    <a16:creationId xmlns:a16="http://schemas.microsoft.com/office/drawing/2014/main" id="{849EE9B9-324D-BB3C-541F-721FD32B50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</a:extLst>
              </a:blip>
              <a:srcRect l="3726" t="8959" r="75085" b="4515"/>
              <a:stretch>
                <a:fillRect/>
              </a:stretch>
            </p:blipFill>
            <p:spPr>
              <a:xfrm>
                <a:off x="8265796" y="3612551"/>
                <a:ext cx="409568" cy="360000"/>
              </a:xfrm>
              <a:prstGeom prst="rect">
                <a:avLst/>
              </a:prstGeom>
            </p:spPr>
          </p:pic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F73F8ABF-37B1-C042-48E3-54079A812E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</a:extLst>
              </a:blip>
              <a:srcRect l="76827" t="8959" r="3236" b="4515"/>
              <a:stretch>
                <a:fillRect/>
              </a:stretch>
            </p:blipFill>
            <p:spPr>
              <a:xfrm>
                <a:off x="6074018" y="5164377"/>
                <a:ext cx="385354" cy="360000"/>
              </a:xfrm>
              <a:prstGeom prst="rect">
                <a:avLst/>
              </a:prstGeom>
            </p:spPr>
          </p:pic>
          <p:pic>
            <p:nvPicPr>
              <p:cNvPr id="20" name="Picture 19">
                <a:extLst>
                  <a:ext uri="{FF2B5EF4-FFF2-40B4-BE49-F238E27FC236}">
                    <a16:creationId xmlns:a16="http://schemas.microsoft.com/office/drawing/2014/main" id="{755D2A8C-C203-0783-181A-D6DC107E7E5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</a:extLst>
              </a:blip>
              <a:srcRect l="3726" t="8959" r="75085" b="4515"/>
              <a:stretch>
                <a:fillRect/>
              </a:stretch>
            </p:blipFill>
            <p:spPr>
              <a:xfrm>
                <a:off x="8257693" y="5164539"/>
                <a:ext cx="409568" cy="360000"/>
              </a:xfrm>
              <a:prstGeom prst="rect">
                <a:avLst/>
              </a:prstGeom>
            </p:spPr>
          </p:pic>
        </p:grp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65BA09B4-C52E-B87A-CF04-8232C165DF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42582" y="4874895"/>
              <a:ext cx="0" cy="696047"/>
            </a:xfrm>
            <a:prstGeom prst="line">
              <a:avLst/>
            </a:prstGeom>
            <a:ln w="12700" cap="flat" cmpd="sng" algn="ctr">
              <a:solidFill>
                <a:srgbClr val="C00000"/>
              </a:solidFill>
              <a:prstDash val="sys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EB93E4C2-FBE4-4065-9278-90914A6ECE3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1982" y="4703445"/>
              <a:ext cx="0" cy="867498"/>
            </a:xfrm>
            <a:prstGeom prst="line">
              <a:avLst/>
            </a:prstGeom>
            <a:ln w="12700" cap="flat" cmpd="sng" algn="ctr">
              <a:solidFill>
                <a:srgbClr val="C00000"/>
              </a:solidFill>
              <a:prstDash val="sys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sp>
        <p:nvSpPr>
          <p:cNvPr id="23" name="Footer Placeholder 2">
            <a:extLst>
              <a:ext uri="{FF2B5EF4-FFF2-40B4-BE49-F238E27FC236}">
                <a16:creationId xmlns:a16="http://schemas.microsoft.com/office/drawing/2014/main" id="{4BCE2257-F05E-832B-4E41-697261064FAC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76EC09A-1CE2-C57C-EA75-CE25A5404F6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0186" y="1128397"/>
            <a:ext cx="5175257" cy="5105961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A31065C-A20A-A288-0085-D396B6CE6BAB}"/>
              </a:ext>
            </a:extLst>
          </p:cNvPr>
          <p:cNvCxnSpPr>
            <a:cxnSpLocks/>
          </p:cNvCxnSpPr>
          <p:nvPr/>
        </p:nvCxnSpPr>
        <p:spPr>
          <a:xfrm>
            <a:off x="2545383" y="3592786"/>
            <a:ext cx="0" cy="1307018"/>
          </a:xfrm>
          <a:prstGeom prst="line">
            <a:avLst/>
          </a:prstGeom>
          <a:ln w="28575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2AC77C0-992D-6FEB-50E1-07C49D290036}"/>
                  </a:ext>
                </a:extLst>
              </p:cNvPr>
              <p:cNvSpPr txBox="1"/>
              <p:nvPr/>
            </p:nvSpPr>
            <p:spPr>
              <a:xfrm>
                <a:off x="2610806" y="4649765"/>
                <a:ext cx="495328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fr-FR" sz="1200" b="1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𝟑𝟐𝟎</m:t>
                    </m:r>
                    <m:r>
                      <a:rPr lang="fr-FR" sz="1200" b="1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b="1" dirty="0">
                    <a:solidFill>
                      <a:srgbClr val="C00000"/>
                    </a:solidFill>
                  </a:rPr>
                  <a:t>Hz</a:t>
                </a: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2AC77C0-992D-6FEB-50E1-07C49D2900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0806" y="4649765"/>
                <a:ext cx="495328" cy="184666"/>
              </a:xfrm>
              <a:prstGeom prst="rect">
                <a:avLst/>
              </a:prstGeom>
              <a:blipFill>
                <a:blip r:embed="rId10"/>
                <a:stretch>
                  <a:fillRect l="-10976" t="-30000" r="-18293" b="-4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Date Placeholder 15">
            <a:extLst>
              <a:ext uri="{FF2B5EF4-FFF2-40B4-BE49-F238E27FC236}">
                <a16:creationId xmlns:a16="http://schemas.microsoft.com/office/drawing/2014/main" id="{AE1A2621-99DB-BABC-D8E3-49A97B682B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27" name="Footer Placeholder 26">
            <a:extLst>
              <a:ext uri="{FF2B5EF4-FFF2-40B4-BE49-F238E27FC236}">
                <a16:creationId xmlns:a16="http://schemas.microsoft.com/office/drawing/2014/main" id="{CC0FE738-C281-1177-AD0D-5BE611618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3C52325-88C1-A427-ED20-29C118D8B26E}"/>
                  </a:ext>
                </a:extLst>
              </p:cNvPr>
              <p:cNvSpPr txBox="1"/>
              <p:nvPr/>
            </p:nvSpPr>
            <p:spPr>
              <a:xfrm>
                <a:off x="6261555" y="3945584"/>
                <a:ext cx="2042905" cy="315407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fr-FR" sz="1400" b="0" dirty="0">
                    <a:solidFill>
                      <a:srgbClr val="C00000"/>
                    </a:solidFill>
                    <a:ea typeface="Cambria Math" panose="02040503050406030204" pitchFamily="18" charset="0"/>
                  </a:rPr>
                  <a:t>Amplitude </a:t>
                </a:r>
                <a14:m>
                  <m:oMath xmlns:m="http://schemas.openxmlformats.org/officeDocument/2006/math">
                    <m:r>
                      <a:rPr lang="fr-FR" sz="14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∝ </m:t>
                    </m:r>
                    <m:f>
                      <m:fPr>
                        <m:ctrlPr>
                          <a:rPr lang="fr-FR" sz="1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fr-FR" sz="14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400" b="0" i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fr-FR" sz="14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fr-FR" sz="14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4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fr-FR" sz="14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fr-FR" sz="14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4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4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  <m:r>
                              <a:rPr lang="fr-FR" sz="14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</m:num>
                      <m:den>
                        <m:r>
                          <a:rPr lang="fr-FR" sz="1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den>
                    </m:f>
                  </m:oMath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3C52325-88C1-A427-ED20-29C118D8B2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1555" y="3945584"/>
                <a:ext cx="2042905" cy="315407"/>
              </a:xfrm>
              <a:prstGeom prst="rect">
                <a:avLst/>
              </a:prstGeom>
              <a:blipFill>
                <a:blip r:embed="rId14"/>
                <a:stretch>
                  <a:fillRect b="-12727"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2" name="Table 31">
            <a:extLst>
              <a:ext uri="{FF2B5EF4-FFF2-40B4-BE49-F238E27FC236}">
                <a16:creationId xmlns:a16="http://schemas.microsoft.com/office/drawing/2014/main" id="{07D52926-2903-DDB1-463C-CF6DDA0BA5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058531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b="1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pic>
        <p:nvPicPr>
          <p:cNvPr id="33" name="Picture 32" descr="Python Logo PNG Transparent – Brands Logos">
            <a:extLst>
              <a:ext uri="{FF2B5EF4-FFF2-40B4-BE49-F238E27FC236}">
                <a16:creationId xmlns:a16="http://schemas.microsoft.com/office/drawing/2014/main" id="{0B55D3CE-AC79-473D-FF58-01B706B2EB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59105" y="527823"/>
            <a:ext cx="433830" cy="43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Slide Number Placeholder 2">
            <a:extLst>
              <a:ext uri="{FF2B5EF4-FFF2-40B4-BE49-F238E27FC236}">
                <a16:creationId xmlns:a16="http://schemas.microsoft.com/office/drawing/2014/main" id="{289B7671-856C-99CF-B704-3812E7BC99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18</a:t>
            </a:fld>
            <a:endParaRPr lang="fr-FR" sz="1400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AB49B21-A9DD-184A-7858-37E1D03C3D6B}"/>
                  </a:ext>
                </a:extLst>
              </p:cNvPr>
              <p:cNvSpPr txBox="1"/>
              <p:nvPr/>
            </p:nvSpPr>
            <p:spPr>
              <a:xfrm>
                <a:off x="6008919" y="5829440"/>
                <a:ext cx="2569562" cy="404919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fr-FR" sz="1400" b="0" dirty="0">
                    <a:solidFill>
                      <a:srgbClr val="C00000"/>
                    </a:solidFill>
                    <a:ea typeface="Cambria Math" panose="02040503050406030204" pitchFamily="18" charset="0"/>
                  </a:rPr>
                  <a:t>Amplitude </a:t>
                </a:r>
                <a14:m>
                  <m:oMath xmlns:m="http://schemas.openxmlformats.org/officeDocument/2006/math">
                    <m:r>
                      <a:rPr lang="fr-FR" sz="14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∝ </m:t>
                    </m:r>
                    <m:f>
                      <m:fPr>
                        <m:ctrlPr>
                          <a:rPr lang="fr-FR" sz="1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fr-FR" sz="14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400" b="0" i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fr-FR" sz="14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f>
                              <m:fPr>
                                <m:ctrlPr>
                                  <a:rPr lang="fr-FR" sz="14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fr-FR" sz="14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4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  <m:sub>
                                    <m:r>
                                      <a:rPr lang="fr-FR" sz="14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fr-FR" sz="1400" b="0" i="0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Δ</m:t>
                                </m:r>
                              </m:num>
                              <m:den>
                                <m:r>
                                  <a:rPr lang="fr-FR" sz="14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  <m:r>
                              <a:rPr lang="fr-FR" sz="14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  <m:func>
                          <m:funcPr>
                            <m:ctrlPr>
                              <a:rPr lang="fr-FR" sz="14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400" b="0" i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fr-FR" sz="14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fr-FR" sz="14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4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fr-FR" sz="14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fr-FR" sz="14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4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4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  <m:r>
                              <a:rPr lang="fr-FR" sz="14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</m:num>
                      <m:den>
                        <m:r>
                          <a:rPr lang="fr-FR" sz="1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den>
                    </m:f>
                  </m:oMath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AB49B21-A9DD-184A-7858-37E1D03C3D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8919" y="5829440"/>
                <a:ext cx="2569562" cy="404919"/>
              </a:xfrm>
              <a:prstGeom prst="rect">
                <a:avLst/>
              </a:prstGeom>
              <a:blipFill>
                <a:blip r:embed="rId16"/>
                <a:stretch>
                  <a:fillRect b="-10000"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Box 21">
            <a:extLst>
              <a:ext uri="{FF2B5EF4-FFF2-40B4-BE49-F238E27FC236}">
                <a16:creationId xmlns:a16="http://schemas.microsoft.com/office/drawing/2014/main" id="{DAEE9D9D-3B5E-BD6F-CC19-9E045698CA7A}"/>
              </a:ext>
            </a:extLst>
          </p:cNvPr>
          <p:cNvSpPr txBox="1"/>
          <p:nvPr/>
        </p:nvSpPr>
        <p:spPr>
          <a:xfrm>
            <a:off x="721782" y="61197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</p:spTree>
    <p:extLst>
      <p:ext uri="{BB962C8B-B14F-4D97-AF65-F5344CB8AC3E}">
        <p14:creationId xmlns:p14="http://schemas.microsoft.com/office/powerpoint/2010/main" val="5848409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1951BE-DC89-1531-EC6E-EF373AD65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EFA5A69-4ADE-0A85-B85F-F117819EFF54}"/>
                  </a:ext>
                </a:extLst>
              </p:cNvPr>
              <p:cNvSpPr txBox="1"/>
              <p:nvPr/>
            </p:nvSpPr>
            <p:spPr>
              <a:xfrm>
                <a:off x="3303791" y="1850111"/>
                <a:ext cx="5585897" cy="37651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600" dirty="0"/>
                  <a:t>On considère un champ parasite sinusoïdale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′)</m:t>
                      </m:r>
                      <m:func>
                        <m:func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600" dirty="0"/>
              </a:p>
              <a:p>
                <a:r>
                  <a:rPr lang="fr-FR" sz="1600" b="1" u="sng" dirty="0"/>
                  <a:t>Pour un micro SingleCoil :</a:t>
                </a:r>
              </a:p>
              <a:p>
                <a:r>
                  <a:rPr lang="fr-FR" sz="1600" dirty="0"/>
                  <a:t>On place le micro tel que </a:t>
                </a:r>
                <a14:m>
                  <m:oMath xmlns:m="http://schemas.openxmlformats.org/officeDocument/2006/math">
                    <m:r>
                      <a:rPr lang="fr-FR" sz="16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FR" sz="1600" i="1">
                        <a:latin typeface="Cambria Math" panose="02040503050406030204" pitchFamily="18" charset="0"/>
                      </a:rPr>
                      <m:t>′=0</m:t>
                    </m:r>
                  </m:oMath>
                </a14:m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u="sng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(0, 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600" dirty="0"/>
              </a:p>
              <a:p>
                <a:pPr algn="ctr"/>
                <a:endParaRPr lang="fr-FR" sz="1600" dirty="0"/>
              </a:p>
              <a:p>
                <a:pPr algn="ctr"/>
                <a:endParaRPr lang="fr-FR" sz="1600" dirty="0"/>
              </a:p>
              <a:p>
                <a:r>
                  <a:rPr lang="fr-FR" sz="1600" b="1" u="sng" dirty="0"/>
                  <a:t>Pour un micro Humbucker :</a:t>
                </a:r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u="sng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fr-FR" sz="1600" dirty="0"/>
                  <a:t>Montage série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ⅇ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𝐻𝑠</m:t>
                        </m:r>
                      </m:sub>
                    </m:sSub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sz="12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fr-FR" sz="1600" i="1" dirty="0">
                  <a:latin typeface="Cambria Math" panose="02040503050406030204" pitchFamily="18" charset="0"/>
                </a:endParaRPr>
              </a:p>
              <a:p>
                <a:endParaRPr lang="fr-FR" i="1" dirty="0">
                  <a:latin typeface="Cambria Math" panose="02040503050406030204" pitchFamily="18" charset="0"/>
                </a:endParaRPr>
              </a:p>
              <a:p>
                <a:endParaRPr lang="fr-FR" i="1" dirty="0">
                  <a:latin typeface="Cambria Math" panose="02040503050406030204" pitchFamily="18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fr-FR" sz="1600" dirty="0"/>
                  <a:t>Montage parallèle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𝐻𝑝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fr-FR" sz="16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EFA5A69-4ADE-0A85-B85F-F117819EFF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3791" y="1850111"/>
                <a:ext cx="5585897" cy="3765198"/>
              </a:xfrm>
              <a:prstGeom prst="rect">
                <a:avLst/>
              </a:prstGeom>
              <a:blipFill>
                <a:blip r:embed="rId2"/>
                <a:stretch>
                  <a:fillRect l="-655" t="-485" b="-32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Group 18">
            <a:extLst>
              <a:ext uri="{FF2B5EF4-FFF2-40B4-BE49-F238E27FC236}">
                <a16:creationId xmlns:a16="http://schemas.microsoft.com/office/drawing/2014/main" id="{626D5441-F7C5-80F8-00AB-D1887F85EB3D}"/>
              </a:ext>
            </a:extLst>
          </p:cNvPr>
          <p:cNvGrpSpPr/>
          <p:nvPr/>
        </p:nvGrpSpPr>
        <p:grpSpPr>
          <a:xfrm>
            <a:off x="0" y="6395093"/>
            <a:ext cx="9144000" cy="479397"/>
            <a:chOff x="0" y="-4624"/>
            <a:chExt cx="9144000" cy="457200"/>
          </a:xfrm>
          <a:solidFill>
            <a:srgbClr val="629DD1"/>
          </a:solidFill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609E84C9-68CB-907E-5467-644C750197FE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21" name="Footer Placeholder 2">
              <a:extLst>
                <a:ext uri="{FF2B5EF4-FFF2-40B4-BE49-F238E27FC236}">
                  <a16:creationId xmlns:a16="http://schemas.microsoft.com/office/drawing/2014/main" id="{9BB2E0DE-AE44-2645-298B-0071500DA0EB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22" name="Footer Placeholder 2">
            <a:extLst>
              <a:ext uri="{FF2B5EF4-FFF2-40B4-BE49-F238E27FC236}">
                <a16:creationId xmlns:a16="http://schemas.microsoft.com/office/drawing/2014/main" id="{D256A7E3-90FC-3D29-1355-E4360E2C6F11}"/>
              </a:ext>
            </a:extLst>
          </p:cNvPr>
          <p:cNvSpPr txBox="1">
            <a:spLocks/>
          </p:cNvSpPr>
          <p:nvPr/>
        </p:nvSpPr>
        <p:spPr>
          <a:xfrm>
            <a:off x="15096" y="6335178"/>
            <a:ext cx="9144000" cy="63096"/>
          </a:xfrm>
          <a:prstGeom prst="rect">
            <a:avLst/>
          </a:prstGeom>
          <a:solidFill>
            <a:srgbClr val="4A66AC"/>
          </a:solidFill>
          <a:ln>
            <a:noFill/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B9DAE30-FDE1-9D08-1084-73C2A26E72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sz="2400" dirty="0">
                <a:latin typeface="Arial Black" panose="020B0A04020102020204" pitchFamily="34" charset="0"/>
              </a:rPr>
              <a:t>THEORIE</a:t>
            </a:r>
            <a:endParaRPr lang="fr-FR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0EB732A1-8498-ED1B-638B-26F88547B04B}"/>
                  </a:ext>
                </a:extLst>
              </p:cNvPr>
              <p:cNvSpPr>
                <a:spLocks noGrp="1"/>
              </p:cNvSpPr>
              <p:nvPr>
                <p:ph type="body" sz="half" idx="2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Hypothèses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>
                    <a:solidFill>
                      <a:schemeClr val="tx1"/>
                    </a:solidFill>
                  </a:rPr>
                  <a:t>Gradient magnétique </a:t>
                </a:r>
                <a14:m>
                  <m:oMath xmlns:m="http://schemas.openxmlformats.org/officeDocument/2006/math">
                    <m:r>
                      <a:rPr lang="fr-FR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600" dirty="0">
                    <a:solidFill>
                      <a:schemeClr val="tx1"/>
                    </a:solidFill>
                  </a:rPr>
                  <a:t> constant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>
                    <a:solidFill>
                      <a:schemeClr val="tx1"/>
                    </a:solidFill>
                  </a:rPr>
                  <a:t>Micros ponctuels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>
                    <a:solidFill>
                      <a:schemeClr val="tx1"/>
                    </a:solidFill>
                  </a:rPr>
                  <a:t>Induction mutuelle négligée</a:t>
                </a: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0EB732A1-8498-ED1B-638B-26F88547B04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blipFill>
                <a:blip r:embed="rId3"/>
                <a:stretch>
                  <a:fillRect l="-1269" t="-1264" r="-253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31A4AA-683C-9A93-32AB-1428769131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7F8E63B-9F83-A7E2-0305-24C1966AE6E6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AC9D2DC-732A-8320-0119-9CCE9BC10F05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9" name="Footer Placeholder 2">
              <a:extLst>
                <a:ext uri="{FF2B5EF4-FFF2-40B4-BE49-F238E27FC236}">
                  <a16:creationId xmlns:a16="http://schemas.microsoft.com/office/drawing/2014/main" id="{42EDB493-EBE2-C0CA-4AD5-4C47038D9F84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A93BDE62-4EC4-A8F9-E579-E1D63E9C355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8129" b="64958"/>
          <a:stretch>
            <a:fillRect/>
          </a:stretch>
        </p:blipFill>
        <p:spPr>
          <a:xfrm>
            <a:off x="3303790" y="593134"/>
            <a:ext cx="2944610" cy="1084703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83840F5A-AD85-41F7-50A5-0FA8682BF4C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6365" t="37722" r="-1" b="737"/>
          <a:stretch>
            <a:fillRect/>
          </a:stretch>
        </p:blipFill>
        <p:spPr>
          <a:xfrm>
            <a:off x="6088742" y="566334"/>
            <a:ext cx="2800945" cy="128050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2B637A96-B54C-26FC-7E3A-8C4ECCAE0C9B}"/>
                  </a:ext>
                </a:extLst>
              </p:cNvPr>
              <p:cNvSpPr txBox="1"/>
              <p:nvPr/>
            </p:nvSpPr>
            <p:spPr>
              <a:xfrm>
                <a:off x="4826757" y="3534744"/>
                <a:ext cx="2523969" cy="338554"/>
              </a:xfrm>
              <a:prstGeom prst="rect">
                <a:avLst/>
              </a:prstGeom>
              <a:noFill/>
              <a:ln w="12700"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fr-FR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sSub>
                        <m:sSubPr>
                          <m:ctrlP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6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fr-FR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2B637A96-B54C-26FC-7E3A-8C4ECCAE0C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6757" y="3534744"/>
                <a:ext cx="2523969" cy="338554"/>
              </a:xfrm>
              <a:prstGeom prst="rect">
                <a:avLst/>
              </a:prstGeom>
              <a:blipFill>
                <a:blip r:embed="rId5"/>
                <a:stretch>
                  <a:fillRect b="-10526"/>
                </a:stretch>
              </a:blipFill>
              <a:ln w="1270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DD6A62A6-84FB-CCE4-E39A-3CF3D437F6D3}"/>
                  </a:ext>
                </a:extLst>
              </p:cNvPr>
              <p:cNvSpPr txBox="1"/>
              <p:nvPr/>
            </p:nvSpPr>
            <p:spPr>
              <a:xfrm>
                <a:off x="4735326" y="4808935"/>
                <a:ext cx="3026139" cy="338554"/>
              </a:xfrm>
              <a:prstGeom prst="rect">
                <a:avLst/>
              </a:prstGeom>
              <a:noFill/>
              <a:ln w="12700"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𝐻𝑠</m:t>
                          </m:r>
                        </m:sub>
                      </m:sSub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fr-FR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m:rPr>
                              <m:sty m:val="p"/>
                            </m:rPr>
                            <a:rPr lang="fr-FR" sz="16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𝐻𝑠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sSub>
                        <m:sSubPr>
                          <m:ctrlP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6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fr-FR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DD6A62A6-84FB-CCE4-E39A-3CF3D437F6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5326" y="4808935"/>
                <a:ext cx="3026139" cy="338554"/>
              </a:xfrm>
              <a:prstGeom prst="rect">
                <a:avLst/>
              </a:prstGeom>
              <a:blipFill>
                <a:blip r:embed="rId6"/>
                <a:stretch>
                  <a:fillRect b="-10526"/>
                </a:stretch>
              </a:blipFill>
              <a:ln w="1270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B89713C-EC85-403E-732E-2955D28B31CC}"/>
                  </a:ext>
                </a:extLst>
              </p:cNvPr>
              <p:cNvSpPr txBox="1"/>
              <p:nvPr/>
            </p:nvSpPr>
            <p:spPr>
              <a:xfrm>
                <a:off x="4672103" y="5598406"/>
                <a:ext cx="3152587" cy="553357"/>
              </a:xfrm>
              <a:prstGeom prst="rect">
                <a:avLst/>
              </a:prstGeom>
              <a:noFill/>
              <a:ln w="12700"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f>
                                <m:fPr>
                                  <m:ctrlPr>
                                    <a:rPr lang="fr-FR" sz="160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6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fr-FR" sz="16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m:rPr>
                              <m:sty m:val="p"/>
                            </m:rPr>
                            <a:rPr lang="fr-FR" sz="16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6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B89713C-EC85-403E-732E-2955D28B31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72103" y="5598406"/>
                <a:ext cx="3152587" cy="55335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1270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75CC5112-6FAA-596D-0A9E-E7F71586AA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>
                <a:solidFill>
                  <a:schemeClr val="bg1"/>
                </a:solidFill>
              </a:rPr>
              <a:t>TIPE 39662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0190DEA1-70DA-099B-C165-B160C8AAD8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2758204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50" b="1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3B68D51-2935-DE19-8B7A-A7EE16A01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>
                <a:solidFill>
                  <a:schemeClr val="bg1"/>
                </a:solidFill>
              </a:rPr>
              <a:t>19</a:t>
            </a:fld>
            <a:endParaRPr lang="fr-FR" sz="14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15948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317EF-1FA9-4C71-24AC-92C2CCEDF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EF325D95-66BD-B16D-478C-A16E375CA2BC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FD4633CA-79B5-8626-5F5C-961A97B305C7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7" name="Footer Placeholder 2">
              <a:extLst>
                <a:ext uri="{FF2B5EF4-FFF2-40B4-BE49-F238E27FC236}">
                  <a16:creationId xmlns:a16="http://schemas.microsoft.com/office/drawing/2014/main" id="{4D548465-9274-10EF-DF9E-7E195D565F11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DD17026C-30AC-055B-0F5E-C7C1D3422A71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BE267BF-F8C8-7B9F-086E-2829E24D70E2}"/>
              </a:ext>
            </a:extLst>
          </p:cNvPr>
          <p:cNvGrpSpPr/>
          <p:nvPr/>
        </p:nvGrpSpPr>
        <p:grpSpPr>
          <a:xfrm>
            <a:off x="376131" y="1128398"/>
            <a:ext cx="7320105" cy="5123781"/>
            <a:chOff x="1088521" y="1146180"/>
            <a:chExt cx="6758213" cy="4934910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C325D940-13FD-EE6E-C1BF-2EAC1C5E36F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colorTemperature colorTemp="4700"/>
                      </a14:imgEffect>
                      <a14:imgEffect>
                        <a14:brightnessContrast brigh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227" b="5227"/>
            <a:stretch/>
          </p:blipFill>
          <p:spPr>
            <a:xfrm rot="16200000">
              <a:off x="2190128" y="306547"/>
              <a:ext cx="2942282" cy="4621547"/>
            </a:xfrm>
            <a:prstGeom prst="rect">
              <a:avLst/>
            </a:prstGeom>
            <a:ln w="28575">
              <a:noFill/>
            </a:ln>
            <a:effectLst>
              <a:softEdge rad="31750"/>
            </a:effectLst>
          </p:spPr>
        </p:pic>
        <p:grpSp>
          <p:nvGrpSpPr>
            <p:cNvPr id="130" name="Group 129">
              <a:extLst>
                <a:ext uri="{FF2B5EF4-FFF2-40B4-BE49-F238E27FC236}">
                  <a16:creationId xmlns:a16="http://schemas.microsoft.com/office/drawing/2014/main" id="{C1537CB8-8F77-3361-FCF5-324906ABEE21}"/>
                </a:ext>
              </a:extLst>
            </p:cNvPr>
            <p:cNvGrpSpPr/>
            <p:nvPr/>
          </p:nvGrpSpPr>
          <p:grpSpPr>
            <a:xfrm flipH="1">
              <a:off x="1433732" y="4360802"/>
              <a:ext cx="6413002" cy="1720288"/>
              <a:chOff x="1440953" y="2466429"/>
              <a:chExt cx="6262094" cy="1720288"/>
            </a:xfrm>
          </p:grpSpPr>
          <p:pic>
            <p:nvPicPr>
              <p:cNvPr id="134" name="Picture 133">
                <a:extLst>
                  <a:ext uri="{FF2B5EF4-FFF2-40B4-BE49-F238E27FC236}">
                    <a16:creationId xmlns:a16="http://schemas.microsoft.com/office/drawing/2014/main" id="{485931D7-3E78-6020-17E4-F6EE0BB401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 rot="16140000">
                <a:off x="4210262" y="693933"/>
                <a:ext cx="723475" cy="6262094"/>
              </a:xfrm>
              <a:prstGeom prst="rect">
                <a:avLst/>
              </a:prstGeom>
            </p:spPr>
          </p:pic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749D53FD-1AA2-3F26-4A50-75DD1D2E5A33}"/>
                  </a:ext>
                </a:extLst>
              </p:cNvPr>
              <p:cNvSpPr txBox="1"/>
              <p:nvPr/>
            </p:nvSpPr>
            <p:spPr>
              <a:xfrm>
                <a:off x="4052454" y="2466429"/>
                <a:ext cx="633157" cy="276999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fr-FR" sz="1200" dirty="0"/>
                  <a:t>Corde</a:t>
                </a:r>
              </a:p>
            </p:txBody>
          </p:sp>
        </p:grpSp>
        <p:cxnSp>
          <p:nvCxnSpPr>
            <p:cNvPr id="21" name="Connector: Elbow 20">
              <a:extLst>
                <a:ext uri="{FF2B5EF4-FFF2-40B4-BE49-F238E27FC236}">
                  <a16:creationId xmlns:a16="http://schemas.microsoft.com/office/drawing/2014/main" id="{3EE8BFC5-F2AA-D1A3-380C-6809D26261A6}"/>
                </a:ext>
              </a:extLst>
            </p:cNvPr>
            <p:cNvCxnSpPr>
              <a:cxnSpLocks/>
              <a:stCxn id="23" idx="0"/>
            </p:cNvCxnSpPr>
            <p:nvPr/>
          </p:nvCxnSpPr>
          <p:spPr>
            <a:xfrm rot="5400000" flipH="1" flipV="1">
              <a:off x="1274767" y="3531748"/>
              <a:ext cx="1167611" cy="256417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1729105-5D1B-BD47-7B86-BF65201E2C22}"/>
                </a:ext>
              </a:extLst>
            </p:cNvPr>
            <p:cNvSpPr txBox="1"/>
            <p:nvPr/>
          </p:nvSpPr>
          <p:spPr>
            <a:xfrm flipH="1">
              <a:off x="2525532" y="4255954"/>
              <a:ext cx="1387055" cy="276999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Micro Humbucker</a:t>
              </a:r>
            </a:p>
          </p:txBody>
        </p:sp>
        <p:cxnSp>
          <p:nvCxnSpPr>
            <p:cNvPr id="51" name="Connector: Elbow 50">
              <a:extLst>
                <a:ext uri="{FF2B5EF4-FFF2-40B4-BE49-F238E27FC236}">
                  <a16:creationId xmlns:a16="http://schemas.microsoft.com/office/drawing/2014/main" id="{3736A5C1-091B-7125-5BE6-37A8B606888F}"/>
                </a:ext>
              </a:extLst>
            </p:cNvPr>
            <p:cNvCxnSpPr>
              <a:cxnSpLocks/>
              <a:stCxn id="23" idx="2"/>
            </p:cNvCxnSpPr>
            <p:nvPr/>
          </p:nvCxnSpPr>
          <p:spPr>
            <a:xfrm rot="16200000" flipH="1">
              <a:off x="1724074" y="4527051"/>
              <a:ext cx="1036591" cy="1024010"/>
            </a:xfrm>
            <a:prstGeom prst="bentConnector3">
              <a:avLst>
                <a:gd name="adj1" fmla="val 19616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Connector: Elbow 57">
              <a:extLst>
                <a:ext uri="{FF2B5EF4-FFF2-40B4-BE49-F238E27FC236}">
                  <a16:creationId xmlns:a16="http://schemas.microsoft.com/office/drawing/2014/main" id="{9A269F26-F8FB-BD35-8D1C-147049D4D4C3}"/>
                </a:ext>
              </a:extLst>
            </p:cNvPr>
            <p:cNvCxnSpPr>
              <a:cxnSpLocks/>
              <a:stCxn id="24" idx="2"/>
            </p:cNvCxnSpPr>
            <p:nvPr/>
          </p:nvCxnSpPr>
          <p:spPr>
            <a:xfrm rot="5400000">
              <a:off x="2678638" y="4956566"/>
              <a:ext cx="964034" cy="116808"/>
            </a:xfrm>
            <a:prstGeom prst="bentConnector3">
              <a:avLst>
                <a:gd name="adj1" fmla="val 20491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or: Elbow 60">
              <a:extLst>
                <a:ext uri="{FF2B5EF4-FFF2-40B4-BE49-F238E27FC236}">
                  <a16:creationId xmlns:a16="http://schemas.microsoft.com/office/drawing/2014/main" id="{CD4B400A-45D8-1178-C9C6-D74658FD0F29}"/>
                </a:ext>
              </a:extLst>
            </p:cNvPr>
            <p:cNvCxnSpPr>
              <a:cxnSpLocks/>
              <a:stCxn id="24" idx="0"/>
            </p:cNvCxnSpPr>
            <p:nvPr/>
          </p:nvCxnSpPr>
          <p:spPr>
            <a:xfrm rot="16200000" flipV="1">
              <a:off x="2166435" y="3203329"/>
              <a:ext cx="1167611" cy="937638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Connector: Elbow 140">
              <a:extLst>
                <a:ext uri="{FF2B5EF4-FFF2-40B4-BE49-F238E27FC236}">
                  <a16:creationId xmlns:a16="http://schemas.microsoft.com/office/drawing/2014/main" id="{2B74BC81-0396-58E2-4F5F-25A19BB7D6D7}"/>
                </a:ext>
              </a:extLst>
            </p:cNvPr>
            <p:cNvCxnSpPr>
              <a:cxnSpLocks/>
              <a:stCxn id="161" idx="2"/>
            </p:cNvCxnSpPr>
            <p:nvPr/>
          </p:nvCxnSpPr>
          <p:spPr>
            <a:xfrm rot="5400000">
              <a:off x="3978664" y="4933548"/>
              <a:ext cx="1165175" cy="573681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Connector: Elbow 145">
              <a:extLst>
                <a:ext uri="{FF2B5EF4-FFF2-40B4-BE49-F238E27FC236}">
                  <a16:creationId xmlns:a16="http://schemas.microsoft.com/office/drawing/2014/main" id="{4427088E-AEAA-CC36-74E4-446F94028ABB}"/>
                </a:ext>
              </a:extLst>
            </p:cNvPr>
            <p:cNvCxnSpPr>
              <a:cxnSpLocks/>
              <a:stCxn id="161" idx="0"/>
            </p:cNvCxnSpPr>
            <p:nvPr/>
          </p:nvCxnSpPr>
          <p:spPr>
            <a:xfrm rot="16200000" flipV="1">
              <a:off x="3888275" y="3400986"/>
              <a:ext cx="1295657" cy="623976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2AC37F92-0300-2194-BBFA-28D6CCCBFC3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04620" y="3077337"/>
              <a:ext cx="4509001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E98F84A-A707-90F0-135B-B3D6DB6478C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51685" y="5819775"/>
              <a:ext cx="5373659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B7AF251-442D-D41A-2407-64D8B6581262}"/>
                </a:ext>
              </a:extLst>
            </p:cNvPr>
            <p:cNvSpPr txBox="1"/>
            <p:nvPr/>
          </p:nvSpPr>
          <p:spPr>
            <a:xfrm flipH="1">
              <a:off x="1088521" y="4243762"/>
              <a:ext cx="1283687" cy="276999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Micro SingleCoil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1EF4D00-8389-C68B-63A5-8B73E75ADB55}"/>
              </a:ext>
            </a:extLst>
          </p:cNvPr>
          <p:cNvGrpSpPr/>
          <p:nvPr/>
        </p:nvGrpSpPr>
        <p:grpSpPr>
          <a:xfrm>
            <a:off x="5836466" y="1122202"/>
            <a:ext cx="3053221" cy="4318256"/>
            <a:chOff x="6451777" y="1536488"/>
            <a:chExt cx="2485046" cy="391970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Rectangle 25">
                  <a:extLst>
                    <a:ext uri="{FF2B5EF4-FFF2-40B4-BE49-F238E27FC236}">
                      <a16:creationId xmlns:a16="http://schemas.microsoft.com/office/drawing/2014/main" id="{DAA78053-9B3F-8A75-512E-06D3655B0586}"/>
                    </a:ext>
                  </a:extLst>
                </p:cNvPr>
                <p:cNvSpPr/>
                <p:nvPr/>
              </p:nvSpPr>
              <p:spPr>
                <a:xfrm>
                  <a:off x="6451777" y="1536488"/>
                  <a:ext cx="2485046" cy="3919700"/>
                </a:xfrm>
                <a:prstGeom prst="rect">
                  <a:avLst/>
                </a:prstGeom>
                <a:ln w="38100">
                  <a:solidFill>
                    <a:srgbClr val="4A66AC"/>
                  </a:solidFill>
                </a:ln>
              </p:spPr>
              <p:style>
                <a:lnRef idx="2">
                  <a:schemeClr val="accent5"/>
                </a:lnRef>
                <a:fillRef idx="1">
                  <a:schemeClr val="lt1"/>
                </a:fillRef>
                <a:effectRef idx="0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t"/>
                <a:lstStyle/>
                <a:p>
                  <a:pPr algn="ctr"/>
                  <a:r>
                    <a:rPr lang="fr-FR" sz="1600" b="1" dirty="0">
                      <a:solidFill>
                        <a:schemeClr val="tx1"/>
                      </a:solidFill>
                    </a:rPr>
                    <a:t>Protocole</a:t>
                  </a:r>
                </a:p>
                <a:p>
                  <a:pPr algn="ctr"/>
                  <a:endParaRPr lang="fr-FR" sz="1600" b="1" dirty="0">
                    <a:solidFill>
                      <a:schemeClr val="tx1"/>
                    </a:solidFill>
                  </a:endParaRP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fr-FR" sz="1600" dirty="0">
                      <a:solidFill>
                        <a:schemeClr val="tx1"/>
                      </a:solidFill>
                    </a:rPr>
                    <a:t>Utilisation d’une bobine de Helmholtz à 50 Hz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endParaRPr lang="fr-FR" sz="1200" dirty="0">
                    <a:solidFill>
                      <a:srgbClr val="C00000"/>
                    </a:solidFill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16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  <m:d>
                          <m:dPr>
                            <m:ctrlPr>
                              <a:rPr lang="fr-FR" sz="16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6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fr-FR" sz="16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fr-FR" sz="16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fr-FR" sz="16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fr-FR" sz="16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sz="16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num>
                                  <m:den>
                                    <m:r>
                                      <a:rPr lang="fr-FR" sz="16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f>
                              <m:fPr>
                                <m:ctrlPr>
                                  <a:rPr lang="fr-FR" sz="16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6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num>
                              <m:den>
                                <m:r>
                                  <a:rPr lang="fr-FR" sz="16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sup>
                        </m:sSup>
                        <m:f>
                          <m:fPr>
                            <m:ctrlPr>
                              <a:rPr lang="fr-FR" sz="16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fr-FR" sz="16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6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fr-FR" sz="16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fr-FR" sz="16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fr-FR" sz="16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</m:den>
                        </m:f>
                        <m:r>
                          <a:rPr lang="fr-FR" sz="16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fr-FR" sz="16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16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6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sz="1600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26" name="Rectangle 25">
                  <a:extLst>
                    <a:ext uri="{FF2B5EF4-FFF2-40B4-BE49-F238E27FC236}">
                      <a16:creationId xmlns:a16="http://schemas.microsoft.com/office/drawing/2014/main" id="{DAA78053-9B3F-8A75-512E-06D3655B058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51777" y="1536488"/>
                  <a:ext cx="2485046" cy="3919700"/>
                </a:xfrm>
                <a:prstGeom prst="rect">
                  <a:avLst/>
                </a:prstGeom>
                <a:blipFill>
                  <a:blip r:embed="rId5"/>
                  <a:stretch>
                    <a:fillRect l="-197"/>
                  </a:stretch>
                </a:blipFill>
                <a:ln w="38100">
                  <a:solidFill>
                    <a:srgbClr val="4A66AC"/>
                  </a:solidFill>
                </a:ln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32" name="Picture 2" descr="Bobine de Helmholtz sur socle : PAM067370">
              <a:extLst>
                <a:ext uri="{FF2B5EF4-FFF2-40B4-BE49-F238E27FC236}">
                  <a16:creationId xmlns:a16="http://schemas.microsoft.com/office/drawing/2014/main" id="{97F9CA38-454F-5EAF-74D4-E7E8E328C68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13422" y="2446652"/>
              <a:ext cx="1761755" cy="116628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4" name="Picture 2" descr="Structure and the induced magnetic field of a Helmholtz coil pair ...">
            <a:extLst>
              <a:ext uri="{FF2B5EF4-FFF2-40B4-BE49-F238E27FC236}">
                <a16:creationId xmlns:a16="http://schemas.microsoft.com/office/drawing/2014/main" id="{CF754146-2AC7-3CBC-E763-CFD6C49A5FD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342"/>
          <a:stretch>
            <a:fillRect/>
          </a:stretch>
        </p:blipFill>
        <p:spPr bwMode="auto">
          <a:xfrm>
            <a:off x="6273922" y="3298908"/>
            <a:ext cx="2178307" cy="12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CEBE25E-EC36-DF12-19EF-138C3E8BD4F5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Expérimentation</a:t>
            </a:r>
          </a:p>
        </p:txBody>
      </p:sp>
      <p:sp>
        <p:nvSpPr>
          <p:cNvPr id="18" name="Date Placeholder 17">
            <a:extLst>
              <a:ext uri="{FF2B5EF4-FFF2-40B4-BE49-F238E27FC236}">
                <a16:creationId xmlns:a16="http://schemas.microsoft.com/office/drawing/2014/main" id="{E5BCA913-E8F4-FEC2-85B5-1EE56140ED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20" name="Footer Placeholder 19">
            <a:extLst>
              <a:ext uri="{FF2B5EF4-FFF2-40B4-BE49-F238E27FC236}">
                <a16:creationId xmlns:a16="http://schemas.microsoft.com/office/drawing/2014/main" id="{0D275B26-53D5-1DA5-3076-7CA2265F7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7231334-36C0-5C49-770A-3C438FD9D3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5084938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50" b="1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2" name="Slide Number Placeholder 2">
            <a:extLst>
              <a:ext uri="{FF2B5EF4-FFF2-40B4-BE49-F238E27FC236}">
                <a16:creationId xmlns:a16="http://schemas.microsoft.com/office/drawing/2014/main" id="{51E47C2C-EF11-482F-718A-A277219A5D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20</a:t>
            </a:fld>
            <a:endParaRPr lang="fr-FR" sz="1400" b="1" dirty="0"/>
          </a:p>
        </p:txBody>
      </p:sp>
    </p:spTree>
    <p:extLst>
      <p:ext uri="{BB962C8B-B14F-4D97-AF65-F5344CB8AC3E}">
        <p14:creationId xmlns:p14="http://schemas.microsoft.com/office/powerpoint/2010/main" val="26624458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16A309-7F61-2078-756A-1BEEE9F9A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EB1A806C-1E53-4584-380F-1ED7D45FC697}"/>
              </a:ext>
            </a:extLst>
          </p:cNvPr>
          <p:cNvSpPr txBox="1"/>
          <p:nvPr/>
        </p:nvSpPr>
        <p:spPr>
          <a:xfrm>
            <a:off x="655762" y="4910371"/>
            <a:ext cx="837251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 dirty="0"/>
              <a:t>Interprétation</a:t>
            </a:r>
          </a:p>
          <a:p>
            <a:r>
              <a:rPr lang="fr-FR" dirty="0">
                <a:sym typeface="Wingdings" panose="05000000000000000000" pitchFamily="2" charset="2"/>
              </a:rPr>
              <a:t>✅ </a:t>
            </a:r>
            <a:r>
              <a:rPr lang="fr-FR" dirty="0"/>
              <a:t>Sensibilité accrue du micro SingleCoil</a:t>
            </a:r>
          </a:p>
          <a:p>
            <a:r>
              <a:rPr lang="fr-FR" dirty="0">
                <a:sym typeface="Wingdings" panose="05000000000000000000" pitchFamily="2" charset="2"/>
              </a:rPr>
              <a:t>✅ </a:t>
            </a:r>
            <a:r>
              <a:rPr lang="fr-FR" dirty="0"/>
              <a:t>Reduction efficace du bourdonnement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E5AC0E9-CB7B-70C2-AA29-F91BBCFF9F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B9F8804-5B6D-12D8-4525-9D1A7692D87A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937DA41-FAE5-2627-6BB9-9A59954ECF3F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1" name="Footer Placeholder 2">
              <a:extLst>
                <a:ext uri="{FF2B5EF4-FFF2-40B4-BE49-F238E27FC236}">
                  <a16:creationId xmlns:a16="http://schemas.microsoft.com/office/drawing/2014/main" id="{B5DEB507-C734-74B6-70ED-BBB59A6246AC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6BBFBE-6A19-F245-FD7F-C53C2B85C7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2A6F6FE-5FF6-5B4E-5D74-3E6B2717EDE3}"/>
              </a:ext>
            </a:extLst>
          </p:cNvPr>
          <p:cNvSpPr txBox="1"/>
          <p:nvPr/>
        </p:nvSpPr>
        <p:spPr>
          <a:xfrm>
            <a:off x="721782" y="61197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C37CBB98-1E72-A4AD-5597-DC805CAF72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63020" y="1249202"/>
            <a:ext cx="3592740" cy="299395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2169C8C4-09CE-6F8E-6D72-84E81FBF3C8E}"/>
              </a:ext>
            </a:extLst>
          </p:cNvPr>
          <p:cNvSpPr txBox="1"/>
          <p:nvPr/>
        </p:nvSpPr>
        <p:spPr>
          <a:xfrm>
            <a:off x="655762" y="4381644"/>
            <a:ext cx="360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96B7DD0-13FB-E3C1-1659-D5681ECB5F8F}"/>
              </a:ext>
            </a:extLst>
          </p:cNvPr>
          <p:cNvSpPr txBox="1"/>
          <p:nvPr/>
        </p:nvSpPr>
        <p:spPr>
          <a:xfrm>
            <a:off x="4824129" y="4381644"/>
            <a:ext cx="360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 parallèle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A87E454A-6B5E-2A3B-18FA-B63D9BB407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27758" y="1249201"/>
            <a:ext cx="3592740" cy="2993949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20B17C0-F8FD-B5AA-43E0-C58AEAD563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5763624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50" b="1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pic>
        <p:nvPicPr>
          <p:cNvPr id="20" name="Picture 19" descr="Python Logo PNG Transparent – Brands Logos">
            <a:extLst>
              <a:ext uri="{FF2B5EF4-FFF2-40B4-BE49-F238E27FC236}">
                <a16:creationId xmlns:a16="http://schemas.microsoft.com/office/drawing/2014/main" id="{41F8D0BD-5CE2-656C-AAF1-8AF02632B4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59105" y="527823"/>
            <a:ext cx="433830" cy="43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DAB8F54-AD94-2AB2-9E03-BD06D6E211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21</a:t>
            </a:fld>
            <a:endParaRPr lang="fr-FR" sz="1400" b="1" dirty="0"/>
          </a:p>
        </p:txBody>
      </p:sp>
    </p:spTree>
    <p:extLst>
      <p:ext uri="{BB962C8B-B14F-4D97-AF65-F5344CB8AC3E}">
        <p14:creationId xmlns:p14="http://schemas.microsoft.com/office/powerpoint/2010/main" val="40048076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51FDCA-BB39-EE18-BB35-2E0E1E4D0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58515866-5F05-8C01-076C-078FAEECE57C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E3100D-75AB-378E-9842-ED0F296E89C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6" name="Footer Placeholder 2">
              <a:extLst>
                <a:ext uri="{FF2B5EF4-FFF2-40B4-BE49-F238E27FC236}">
                  <a16:creationId xmlns:a16="http://schemas.microsoft.com/office/drawing/2014/main" id="{45037E6E-E4E2-AC9B-1CB9-6307187141E9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A639CD3E-4169-1389-4E27-DA0661374473}"/>
              </a:ext>
            </a:extLst>
          </p:cNvPr>
          <p:cNvSpPr/>
          <p:nvPr/>
        </p:nvSpPr>
        <p:spPr>
          <a:xfrm>
            <a:off x="34544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FA2A4C42-E8E3-0A32-60A1-2B34526A12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0186" y="1140698"/>
            <a:ext cx="5175257" cy="5016262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96F6E40A-A2E8-4225-2918-CE1F7288954B}"/>
                  </a:ext>
                </a:extLst>
              </p:cNvPr>
              <p:cNvSpPr/>
              <p:nvPr/>
            </p:nvSpPr>
            <p:spPr>
              <a:xfrm>
                <a:off x="5681666" y="2163818"/>
                <a:ext cx="3208020" cy="3993142"/>
              </a:xfrm>
              <a:prstGeom prst="rect">
                <a:avLst/>
              </a:prstGeom>
              <a:ln w="38100">
                <a:noFill/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r>
                  <a:rPr lang="fr-FR" sz="1600" b="1" dirty="0">
                    <a:solidFill>
                      <a:schemeClr val="tx1"/>
                    </a:solidFill>
                  </a:rPr>
                  <a:t>Mesures</a:t>
                </a:r>
              </a:p>
              <a:p>
                <a:pPr algn="ctr"/>
                <a:endParaRPr lang="fr-FR" sz="600" b="1" u="sng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Théorique : 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  <m:r>
                      <a:rPr lang="fr-FR" sz="1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</m:t>
                    </m:r>
                    <m:r>
                      <a:rPr lang="fr-FR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fr-FR" sz="12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4</m:t>
                    </m:r>
                    <m:r>
                      <a:rPr lang="fr-FR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6</m:t>
                    </m:r>
                    <m:r>
                      <a:rPr lang="fr-FR" sz="1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fr-FR" sz="12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fr-FR" sz="12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fr-FR" sz="12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l-GR" sz="1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sSup>
                      <m:sSupPr>
                        <m:ctrlP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200" b="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𝐻𝑝</m:t>
                        </m:r>
                      </m:sub>
                    </m:sSub>
                    <m:r>
                      <a:rPr lang="fr-FR" sz="1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0,</m:t>
                    </m:r>
                    <m:r>
                      <a:rPr lang="fr-FR" sz="1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02 </m:t>
                    </m:r>
                    <m:r>
                      <m:rPr>
                        <m:nor/>
                      </m:rPr>
                      <a:rPr lang="fr-FR" sz="12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fr-FR" sz="12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fr-FR" sz="12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l-GR" sz="12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μ</m:t>
                    </m:r>
                    <m:sSup>
                      <m:sSupPr>
                        <m:ctrlP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rgbClr val="C00000"/>
                  </a:solidFill>
                </a:endParaRPr>
              </a:p>
              <a:p>
                <a:endParaRPr lang="fr-FR" sz="600" dirty="0">
                  <a:solidFill>
                    <a:srgbClr val="C00000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Expérimentale : 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  <m:r>
                      <a:rPr lang="fr-FR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′</m:t>
                    </m:r>
                    <m:r>
                      <a:rPr lang="fr-FR" sz="1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2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1,</m:t>
                    </m:r>
                    <m:r>
                      <m:rPr>
                        <m:nor/>
                      </m:rPr>
                      <a:rPr lang="fr-FR" sz="12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48 </m:t>
                    </m:r>
                    <m:r>
                      <m:rPr>
                        <m:nor/>
                      </m:rPr>
                      <a:rPr lang="fr-FR" sz="12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mV</m:t>
                    </m:r>
                    <m:r>
                      <m:rPr>
                        <m:nor/>
                      </m:rPr>
                      <a:rPr lang="fr-FR" sz="12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l-GR" sz="1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sSup>
                      <m:sSupPr>
                        <m:ctrlP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2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fr-FR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𝐻𝑝</m:t>
                        </m:r>
                      </m:sub>
                      <m:sup>
                        <m:r>
                          <a:rPr lang="fr-FR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fr-FR" sz="1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0,62</m:t>
                    </m:r>
                    <m:r>
                      <a:rPr lang="fr-FR" sz="1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fr-FR" sz="12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fr-FR" sz="12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fr-FR" sz="12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l-GR" sz="12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μ</m:t>
                    </m:r>
                    <m:sSup>
                      <m:sSupPr>
                        <m:ctrlP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2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rgbClr val="C00000"/>
                  </a:solidFill>
                </a:endParaRPr>
              </a:p>
              <a:p>
                <a:endParaRPr lang="fr-FR" sz="1600" dirty="0">
                  <a:solidFill>
                    <a:srgbClr val="C00000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Ecarts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𝜖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=79,4%</m:t>
                      </m:r>
                    </m:oMath>
                  </m:oMathPara>
                </a14:m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endParaRPr lang="fr-FR" sz="600" b="1" u="sng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Causes :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fr-FR" sz="1600" dirty="0">
                    <a:solidFill>
                      <a:schemeClr val="tx1"/>
                    </a:solidFill>
                  </a:rPr>
                  <a:t>Asymétrie de bobinage</a:t>
                </a:r>
              </a:p>
              <a:p>
                <a:endParaRPr lang="fr-FR" sz="1600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96F6E40A-A2E8-4225-2918-CE1F7288954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1666" y="2163818"/>
                <a:ext cx="3208020" cy="3993142"/>
              </a:xfrm>
              <a:prstGeom prst="rect">
                <a:avLst/>
              </a:prstGeom>
              <a:blipFill>
                <a:blip r:embed="rId4"/>
                <a:stretch>
                  <a:fillRect l="-951" t="-458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1AFFEE1F-3D02-090A-479D-90A16735DDAF}"/>
                  </a:ext>
                </a:extLst>
              </p:cNvPr>
              <p:cNvSpPr/>
              <p:nvPr/>
            </p:nvSpPr>
            <p:spPr>
              <a:xfrm>
                <a:off x="5681666" y="1128398"/>
                <a:ext cx="3208021" cy="915896"/>
              </a:xfrm>
              <a:prstGeom prst="rect">
                <a:avLst/>
              </a:prstGeom>
              <a:ln w="38100">
                <a:solidFill>
                  <a:srgbClr val="4A66AC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Calcul de la sensibilité magnétique</a:t>
                </a:r>
                <a:endParaRPr lang="fr-FR" sz="1400" b="0" i="1" dirty="0">
                  <a:solidFill>
                    <a:srgbClr val="C00000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e</m:t>
                          </m:r>
                        </m:e>
                      </m:d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begChr m:val="|"/>
                          <m:endChr m:val="|"/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</m:d>
                    </m:oMath>
                  </m:oMathPara>
                </a14:m>
                <a:endParaRPr lang="fr-FR" sz="1200" b="0" dirty="0">
                  <a:solidFill>
                    <a:srgbClr val="C00000"/>
                  </a:solidFill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𝐶𝑀𝑅𝑅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=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20</m:t>
                      </m:r>
                      <m:func>
                        <m:func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den>
                          </m:f>
                        </m:e>
                      </m:func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  <a:p>
                <a:pPr/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1AFFEE1F-3D02-090A-479D-90A16735DDA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1666" y="1128398"/>
                <a:ext cx="3208021" cy="91589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rgbClr val="4A66AC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E8A4355-9F53-EC56-1C7E-FC7FB883A1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F3A21404-EC4C-8456-3B1E-A8B200D81B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763A8DD5-EEEE-870C-F78B-64F9974FE1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5084938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50" b="1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DA19AFFB-40D1-65C6-1579-3928E5ED6D7F}"/>
              </a:ext>
            </a:extLst>
          </p:cNvPr>
          <p:cNvSpPr txBox="1"/>
          <p:nvPr/>
        </p:nvSpPr>
        <p:spPr>
          <a:xfrm>
            <a:off x="721782" y="61197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pic>
        <p:nvPicPr>
          <p:cNvPr id="16" name="Picture 15" descr="Python Logo PNG Transparent – Brands Logos">
            <a:extLst>
              <a:ext uri="{FF2B5EF4-FFF2-40B4-BE49-F238E27FC236}">
                <a16:creationId xmlns:a16="http://schemas.microsoft.com/office/drawing/2014/main" id="{7FF30083-6AC6-C272-5098-CC84794396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59105" y="527823"/>
            <a:ext cx="433830" cy="43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AF77044-98CB-DE1B-50F6-58A7C65DA37E}"/>
                  </a:ext>
                </a:extLst>
              </p:cNvPr>
              <p:cNvSpPr txBox="1"/>
              <p:nvPr/>
            </p:nvSpPr>
            <p:spPr>
              <a:xfrm>
                <a:off x="6033583" y="3279792"/>
                <a:ext cx="2504185" cy="298415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𝐶𝑀𝑅</m:t>
                      </m:r>
                      <m:sSub>
                        <m:sSub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𝐻𝑝</m:t>
                          </m:r>
                        </m:sub>
                      </m:sSub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=37 </m:t>
                      </m:r>
                      <m:r>
                        <m:rPr>
                          <m:nor/>
                        </m:rPr>
                        <a:rPr lang="fr-FR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AF77044-98CB-DE1B-50F6-58A7C65DA3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3583" y="3279792"/>
                <a:ext cx="2504185" cy="298415"/>
              </a:xfrm>
              <a:prstGeom prst="rect">
                <a:avLst/>
              </a:prstGeom>
              <a:blipFill>
                <a:blip r:embed="rId8"/>
                <a:stretch>
                  <a:fillRect b="-19231"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9A20A4B-B6C1-0D7B-1B48-07DC0E172ED5}"/>
                  </a:ext>
                </a:extLst>
              </p:cNvPr>
              <p:cNvSpPr txBox="1"/>
              <p:nvPr/>
            </p:nvSpPr>
            <p:spPr>
              <a:xfrm>
                <a:off x="6033582" y="4450997"/>
                <a:ext cx="2504185" cy="298415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𝐶𝑀𝑅</m:t>
                      </m:r>
                      <m:sSub>
                        <m:sSub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𝐻𝑝</m:t>
                          </m:r>
                        </m:sub>
                      </m:sSub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=7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,6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fr-FR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9A20A4B-B6C1-0D7B-1B48-07DC0E172E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3582" y="4450997"/>
                <a:ext cx="2504185" cy="298415"/>
              </a:xfrm>
              <a:prstGeom prst="rect">
                <a:avLst/>
              </a:prstGeom>
              <a:blipFill>
                <a:blip r:embed="rId9"/>
                <a:stretch>
                  <a:fillRect b="-19231"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Slide Number Placeholder 2">
            <a:extLst>
              <a:ext uri="{FF2B5EF4-FFF2-40B4-BE49-F238E27FC236}">
                <a16:creationId xmlns:a16="http://schemas.microsoft.com/office/drawing/2014/main" id="{C522786F-739E-2B8D-1338-5E63FA46A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22</a:t>
            </a:fld>
            <a:endParaRPr lang="fr-FR" sz="1400" b="1" dirty="0"/>
          </a:p>
        </p:txBody>
      </p:sp>
    </p:spTree>
    <p:extLst>
      <p:ext uri="{BB962C8B-B14F-4D97-AF65-F5344CB8AC3E}">
        <p14:creationId xmlns:p14="http://schemas.microsoft.com/office/powerpoint/2010/main" val="8857701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DF9251-C048-A833-EE53-03159FB91E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C267B34-E6A1-7278-22E0-AF653B3C067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  <a:solidFill>
            <a:srgbClr val="4A66AC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CONCLUSION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38E1FFD-CACD-69D5-837A-D84C34CB0776}"/>
              </a:ext>
            </a:extLst>
          </p:cNvPr>
          <p:cNvSpPr/>
          <p:nvPr/>
        </p:nvSpPr>
        <p:spPr>
          <a:xfrm>
            <a:off x="326443" y="419481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CA6678F9-665C-8A0E-2952-CDB19973EF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9326" y="949756"/>
            <a:ext cx="7425344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sz="1600" dirty="0"/>
              <a:t>Dans quelle mesure </a:t>
            </a:r>
            <a:r>
              <a:rPr lang="fr-FR" sz="1600" b="1" dirty="0"/>
              <a:t>l'ajout d'une seconde bobine </a:t>
            </a:r>
            <a:r>
              <a:rPr lang="fr-FR" sz="1600" dirty="0"/>
              <a:t>impacte</a:t>
            </a:r>
          </a:p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sz="1600" dirty="0"/>
              <a:t>la </a:t>
            </a:r>
            <a:r>
              <a:rPr lang="fr-FR" sz="1600" b="1" dirty="0"/>
              <a:t>richesse du son </a:t>
            </a:r>
            <a:r>
              <a:rPr lang="fr-FR" sz="1600" dirty="0"/>
              <a:t>et permet </a:t>
            </a:r>
            <a:r>
              <a:rPr lang="fr-FR" sz="1600" b="1" dirty="0"/>
              <a:t>d'éliminer les parasites </a:t>
            </a:r>
            <a:r>
              <a:rPr lang="fr-FR" sz="1600" dirty="0"/>
              <a:t>?</a:t>
            </a:r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325486D-96BE-5856-258F-4751DE1096D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20" name="Date Placeholder 19">
            <a:extLst>
              <a:ext uri="{FF2B5EF4-FFF2-40B4-BE49-F238E27FC236}">
                <a16:creationId xmlns:a16="http://schemas.microsoft.com/office/drawing/2014/main" id="{0C2E669F-4BE3-0546-0391-2D466FB640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24" name="Footer Placeholder 23">
            <a:extLst>
              <a:ext uri="{FF2B5EF4-FFF2-40B4-BE49-F238E27FC236}">
                <a16:creationId xmlns:a16="http://schemas.microsoft.com/office/drawing/2014/main" id="{DB84FC3F-EFF8-CE3B-A8FE-8CF2D6C749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EA44EEB4-C7F2-FA48-F73E-95DCE61D3D0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46837353"/>
                  </p:ext>
                </p:extLst>
              </p:nvPr>
            </p:nvGraphicFramePr>
            <p:xfrm>
              <a:off x="721782" y="1869055"/>
              <a:ext cx="7563846" cy="2143760"/>
            </p:xfrm>
            <a:graphic>
              <a:graphicData uri="http://schemas.openxmlformats.org/drawingml/2006/table">
                <a:tbl>
                  <a:tblPr firstRow="1" firstCol="1">
                    <a:tableStyleId>{EB9631B5-78F2-41C9-869B-9F39066F8104}</a:tableStyleId>
                  </a:tblPr>
                  <a:tblGrid>
                    <a:gridCol w="2349222">
                      <a:extLst>
                        <a:ext uri="{9D8B030D-6E8A-4147-A177-3AD203B41FA5}">
                          <a16:colId xmlns:a16="http://schemas.microsoft.com/office/drawing/2014/main" val="1786110228"/>
                        </a:ext>
                      </a:extLst>
                    </a:gridCol>
                    <a:gridCol w="2491596">
                      <a:extLst>
                        <a:ext uri="{9D8B030D-6E8A-4147-A177-3AD203B41FA5}">
                          <a16:colId xmlns:a16="http://schemas.microsoft.com/office/drawing/2014/main" val="634179246"/>
                        </a:ext>
                      </a:extLst>
                    </a:gridCol>
                    <a:gridCol w="2723028">
                      <a:extLst>
                        <a:ext uri="{9D8B030D-6E8A-4147-A177-3AD203B41FA5}">
                          <a16:colId xmlns:a16="http://schemas.microsoft.com/office/drawing/2014/main" val="67714880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fr-FR" sz="1600" dirty="0"/>
                            <a:t>Critère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600" dirty="0"/>
                            <a:t>SingleCoil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600" dirty="0"/>
                            <a:t>Humbucker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434609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fr-FR" sz="1600" dirty="0"/>
                            <a:t>Signature sonore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dirty="0">
                              <a:solidFill>
                                <a:srgbClr val="38903A"/>
                              </a:solidFill>
                            </a:rPr>
                            <a:t>Richesse en aigus</a:t>
                          </a:r>
                        </a:p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2000" b="0" i="1" smtClean="0">
                                        <a:solidFill>
                                          <a:srgbClr val="38903A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2000" b="0" i="1" smtClean="0">
                                        <a:solidFill>
                                          <a:srgbClr val="38903A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𝐺</m:t>
                                    </m:r>
                                  </m:e>
                                  <m:sub>
                                    <m:r>
                                      <a:rPr lang="fr-FR" sz="2000" b="0" i="1" smtClean="0">
                                        <a:solidFill>
                                          <a:srgbClr val="38903A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𝑚𝑎𝑥</m:t>
                                    </m:r>
                                  </m:sub>
                                </m:sSub>
                                <m:r>
                                  <a:rPr lang="fr-FR" sz="2000" b="0" i="1" smtClean="0">
                                    <a:solidFill>
                                      <a:srgbClr val="38903A"/>
                                    </a:solidFill>
                                    <a:latin typeface="Cambria Math" panose="02040503050406030204" pitchFamily="18" charset="0"/>
                                  </a:rPr>
                                  <m:t>=10 </m:t>
                                </m:r>
                                <m:r>
                                  <m:rPr>
                                    <m:nor/>
                                  </m:rPr>
                                  <a:rPr lang="fr-FR" sz="2000" b="0" i="0" smtClean="0">
                                    <a:solidFill>
                                      <a:srgbClr val="38903A"/>
                                    </a:solidFill>
                                    <a:latin typeface="Cambria Math" panose="02040503050406030204" pitchFamily="18" charset="0"/>
                                  </a:rPr>
                                  <m:t>dB</m:t>
                                </m:r>
                              </m:oMath>
                            </m:oMathPara>
                          </a14:m>
                          <a:endParaRPr lang="fr-FR" sz="2000" dirty="0">
                            <a:solidFill>
                              <a:srgbClr val="38903A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dirty="0">
                              <a:solidFill>
                                <a:srgbClr val="C00000"/>
                              </a:solidFill>
                            </a:rPr>
                            <a:t>Atténuation des aigus</a:t>
                          </a:r>
                        </a:p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20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20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𝐺</m:t>
                                    </m:r>
                                  </m:e>
                                  <m:sub>
                                    <m:r>
                                      <a:rPr lang="fr-FR" sz="20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𝑚𝑖𝑛</m:t>
                                    </m:r>
                                  </m:sub>
                                </m:sSub>
                                <m:r>
                                  <a:rPr lang="fr-FR" sz="20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=−20 </m:t>
                                </m:r>
                                <m:r>
                                  <m:rPr>
                                    <m:nor/>
                                  </m:rPr>
                                  <a:rPr lang="fr-FR" sz="2000" b="0" i="0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dB</m:t>
                                </m:r>
                              </m:oMath>
                            </m:oMathPara>
                          </a14:m>
                          <a:endParaRPr lang="fr-FR" sz="2000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6750150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fr-FR" sz="1600" dirty="0"/>
                            <a:t>Reduction du bourdonnement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2000" i="0" dirty="0">
                              <a:solidFill>
                                <a:srgbClr val="C00000"/>
                              </a:solidFill>
                              <a:latin typeface="+mn-lt"/>
                              <a:ea typeface="Cambria Math" panose="02040503050406030204" pitchFamily="18" charset="0"/>
                            </a:rPr>
                            <a:t>Inexistante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200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𝐶𝑀𝑅</m:t>
                                </m:r>
                                <m:r>
                                  <a:rPr lang="fr-FR" sz="20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fr-FR" sz="2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fr-FR" sz="20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fr-FR" sz="2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nor/>
                                  </m:rPr>
                                  <a:rPr lang="fr-FR" sz="200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dB</m:t>
                                </m:r>
                              </m:oMath>
                            </m:oMathPara>
                          </a14:m>
                          <a:endParaRPr lang="fr-FR" sz="2000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2000" i="0" dirty="0">
                              <a:solidFill>
                                <a:srgbClr val="38903A"/>
                              </a:solidFill>
                              <a:latin typeface="+mn-lt"/>
                              <a:ea typeface="Cambria Math" panose="02040503050406030204" pitchFamily="18" charset="0"/>
                            </a:rPr>
                            <a:t>Efficace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2000" i="1" smtClean="0">
                                    <a:solidFill>
                                      <a:srgbClr val="38903A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𝐶𝑀𝑅</m:t>
                                </m:r>
                                <m:r>
                                  <a:rPr lang="fr-FR" sz="2000" b="0" i="1" smtClean="0">
                                    <a:solidFill>
                                      <a:srgbClr val="38903A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fr-FR" sz="2000" i="1">
                                    <a:solidFill>
                                      <a:srgbClr val="38903A"/>
                                    </a:solidFill>
                                    <a:latin typeface="Cambria Math" panose="02040503050406030204" pitchFamily="18" charset="0"/>
                                  </a:rPr>
                                  <m:t>=7</m:t>
                                </m:r>
                                <m:r>
                                  <a:rPr lang="fr-FR" sz="2000" b="0" i="1" smtClean="0">
                                    <a:solidFill>
                                      <a:srgbClr val="38903A"/>
                                    </a:solidFill>
                                    <a:latin typeface="Cambria Math" panose="02040503050406030204" pitchFamily="18" charset="0"/>
                                  </a:rPr>
                                  <m:t>,6</m:t>
                                </m:r>
                                <m:r>
                                  <a:rPr lang="fr-FR" sz="2000" i="1">
                                    <a:solidFill>
                                      <a:srgbClr val="38903A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nor/>
                                  </m:rPr>
                                  <a:rPr lang="fr-FR" sz="2000">
                                    <a:solidFill>
                                      <a:srgbClr val="38903A"/>
                                    </a:solidFill>
                                    <a:latin typeface="Cambria Math" panose="02040503050406030204" pitchFamily="18" charset="0"/>
                                  </a:rPr>
                                  <m:t>dB</m:t>
                                </m:r>
                              </m:oMath>
                            </m:oMathPara>
                          </a14:m>
                          <a:endParaRPr lang="fr-FR" sz="2000" dirty="0">
                            <a:solidFill>
                              <a:srgbClr val="38903A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425452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fr-FR" sz="1400" dirty="0"/>
                            <a:t>Exemple d’utilisation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400" dirty="0"/>
                            <a:t>Blues, Funk, Rock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400" dirty="0"/>
                            <a:t>Hard Rock, Jazz, Métal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5604687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EA44EEB4-C7F2-FA48-F73E-95DCE61D3D0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46837353"/>
                  </p:ext>
                </p:extLst>
              </p:nvPr>
            </p:nvGraphicFramePr>
            <p:xfrm>
              <a:off x="721782" y="1869055"/>
              <a:ext cx="7563846" cy="2143760"/>
            </p:xfrm>
            <a:graphic>
              <a:graphicData uri="http://schemas.openxmlformats.org/drawingml/2006/table">
                <a:tbl>
                  <a:tblPr firstRow="1" firstCol="1">
                    <a:tableStyleId>{EB9631B5-78F2-41C9-869B-9F39066F8104}</a:tableStyleId>
                  </a:tblPr>
                  <a:tblGrid>
                    <a:gridCol w="2349222">
                      <a:extLst>
                        <a:ext uri="{9D8B030D-6E8A-4147-A177-3AD203B41FA5}">
                          <a16:colId xmlns:a16="http://schemas.microsoft.com/office/drawing/2014/main" val="1786110228"/>
                        </a:ext>
                      </a:extLst>
                    </a:gridCol>
                    <a:gridCol w="2491596">
                      <a:extLst>
                        <a:ext uri="{9D8B030D-6E8A-4147-A177-3AD203B41FA5}">
                          <a16:colId xmlns:a16="http://schemas.microsoft.com/office/drawing/2014/main" val="634179246"/>
                        </a:ext>
                      </a:extLst>
                    </a:gridCol>
                    <a:gridCol w="2723028">
                      <a:extLst>
                        <a:ext uri="{9D8B030D-6E8A-4147-A177-3AD203B41FA5}">
                          <a16:colId xmlns:a16="http://schemas.microsoft.com/office/drawing/2014/main" val="67714880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fr-FR" sz="1600" dirty="0"/>
                            <a:t>Critère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600" dirty="0"/>
                            <a:t>SingleCoil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600" dirty="0"/>
                            <a:t>Humbucker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4346098"/>
                      </a:ext>
                    </a:extLst>
                  </a:tr>
                  <a:tr h="701040">
                    <a:tc>
                      <a:txBody>
                        <a:bodyPr/>
                        <a:lstStyle/>
                        <a:p>
                          <a:r>
                            <a:rPr lang="fr-FR" sz="1600" dirty="0"/>
                            <a:t>Signature sonore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blipFill>
                          <a:blip r:embed="rId3"/>
                          <a:stretch>
                            <a:fillRect l="-94377" t="-54310" r="-109780" b="-1534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blipFill>
                          <a:blip r:embed="rId3"/>
                          <a:stretch>
                            <a:fillRect l="-177852" t="-54310" r="-447" b="-1534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67501505"/>
                      </a:ext>
                    </a:extLst>
                  </a:tr>
                  <a:tr h="701040">
                    <a:tc>
                      <a:txBody>
                        <a:bodyPr/>
                        <a:lstStyle/>
                        <a:p>
                          <a:r>
                            <a:rPr lang="fr-FR" sz="1600" dirty="0"/>
                            <a:t>Reduction du bourdonnement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blipFill>
                          <a:blip r:embed="rId3"/>
                          <a:stretch>
                            <a:fillRect l="-94377" t="-155652" r="-109780" b="-5478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blipFill>
                          <a:blip r:embed="rId3"/>
                          <a:stretch>
                            <a:fillRect l="-177852" t="-155652" r="-447" b="-5478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425452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fr-FR" sz="1400" dirty="0"/>
                            <a:t>Exemple d’utilisation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400" dirty="0"/>
                            <a:t>Blues, Funk, Rock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400" dirty="0"/>
                            <a:t>Hard Rock, Jazz, Métal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56046871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0EDC5803-E5CD-64DA-9A1E-4B3162FC96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27" r="7227"/>
          <a:stretch/>
        </p:blipFill>
        <p:spPr bwMode="auto">
          <a:xfrm>
            <a:off x="556920" y="517553"/>
            <a:ext cx="1260000" cy="1037332"/>
          </a:xfrm>
          <a:prstGeom prst="rect">
            <a:avLst/>
          </a:prstGeom>
          <a:effectLst>
            <a:softEdge rad="127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F6D65EF9-C6C9-6B0C-4514-E0B85FB572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3" r="6123"/>
          <a:stretch/>
        </p:blipFill>
        <p:spPr bwMode="auto">
          <a:xfrm>
            <a:off x="7327079" y="519483"/>
            <a:ext cx="1260000" cy="10117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1C452AD-9FBD-8BD6-A714-667125509853}"/>
              </a:ext>
            </a:extLst>
          </p:cNvPr>
          <p:cNvSpPr txBox="1"/>
          <p:nvPr/>
        </p:nvSpPr>
        <p:spPr>
          <a:xfrm>
            <a:off x="721782" y="61197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Problématique</a:t>
            </a:r>
          </a:p>
        </p:txBody>
      </p:sp>
      <p:sp>
        <p:nvSpPr>
          <p:cNvPr id="4" name="Slide Number Placeholder 2">
            <a:extLst>
              <a:ext uri="{FF2B5EF4-FFF2-40B4-BE49-F238E27FC236}">
                <a16:creationId xmlns:a16="http://schemas.microsoft.com/office/drawing/2014/main" id="{F0E508EE-6FE9-3B4E-313C-4C7B63D0C9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23</a:t>
            </a:fld>
            <a:endParaRPr lang="fr-FR" sz="1400" b="1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B4C8948-019D-5E3C-ECD1-F28BFF87042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17904" y="4054442"/>
            <a:ext cx="2508375" cy="209031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8AACECA-A0B1-BAF4-6C14-464D07B1A21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49517" y="4054441"/>
            <a:ext cx="2508375" cy="209031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6DDB650-C704-C2A9-8742-D31F89BA002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76294" y="4054441"/>
            <a:ext cx="2508375" cy="2090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663519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267F8-102B-ED7B-0DE1-585BD24C6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196DEC9D-D575-DBBD-0410-59D2ED433045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BDCCB68E-E8C2-CC4C-3A75-B5BA7F6D35AA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solidFill>
              <a:srgbClr val="4A66AC"/>
            </a:solidFill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" name="Footer Placeholder 2">
              <a:extLst>
                <a:ext uri="{FF2B5EF4-FFF2-40B4-BE49-F238E27FC236}">
                  <a16:creationId xmlns:a16="http://schemas.microsoft.com/office/drawing/2014/main" id="{CF93ABBD-287B-55E3-11A3-68FE11A27659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5BCBD774-13EC-37E7-5421-E3BB7AFFF9C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Annexes : Sommaire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86C8F2F-1A54-CCBE-AAF5-AE4AD2305328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01F750C-911D-65AC-5250-EA8EDE55DF5D}"/>
              </a:ext>
            </a:extLst>
          </p:cNvPr>
          <p:cNvSpPr txBox="1"/>
          <p:nvPr/>
        </p:nvSpPr>
        <p:spPr>
          <a:xfrm>
            <a:off x="326443" y="1384451"/>
            <a:ext cx="849111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Annexe 1 :</a:t>
            </a:r>
            <a:r>
              <a:rPr lang="fr-FR" dirty="0"/>
              <a:t> Références bibliographiques et sources. </a:t>
            </a:r>
          </a:p>
          <a:p>
            <a:r>
              <a:rPr lang="fr-FR" b="1" dirty="0"/>
              <a:t>Annexe 2 :</a:t>
            </a:r>
            <a:r>
              <a:rPr lang="fr-FR" dirty="0"/>
              <a:t> Notations et valeur numérique. </a:t>
            </a:r>
          </a:p>
          <a:p>
            <a:r>
              <a:rPr lang="fr-FR" b="1" dirty="0"/>
              <a:t>Annexe 3 :</a:t>
            </a:r>
            <a:r>
              <a:rPr lang="fr-FR" dirty="0"/>
              <a:t> Modélisation de l'induction par la corde. </a:t>
            </a:r>
          </a:p>
          <a:p>
            <a:r>
              <a:rPr lang="fr-FR" b="1" dirty="0"/>
              <a:t>Annexe 4 :</a:t>
            </a:r>
            <a:r>
              <a:rPr lang="fr-FR" dirty="0"/>
              <a:t> Théorie de la réjection du champ parasite. </a:t>
            </a:r>
          </a:p>
          <a:p>
            <a:r>
              <a:rPr lang="fr-FR" b="1" dirty="0"/>
              <a:t>Annexe 5 :</a:t>
            </a:r>
            <a:r>
              <a:rPr lang="fr-FR" dirty="0"/>
              <a:t> Méthodes de traitement numérique et filtrage. </a:t>
            </a:r>
          </a:p>
          <a:p>
            <a:r>
              <a:rPr lang="fr-FR" b="1" dirty="0"/>
              <a:t>Annexe 6 :</a:t>
            </a:r>
            <a:r>
              <a:rPr lang="fr-FR" dirty="0"/>
              <a:t> Algorithme de Levenberg-Marquardt. </a:t>
            </a:r>
          </a:p>
          <a:p>
            <a:r>
              <a:rPr lang="fr-FR" b="1" dirty="0"/>
              <a:t>Annexe 7 :</a:t>
            </a:r>
            <a:r>
              <a:rPr lang="fr-FR" dirty="0"/>
              <a:t> Analyse des échecs et difficultés rencontrées.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E49A0A-51A0-296B-A228-0C95E4C21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7B18BD4-8B0C-2661-3D31-7CBB2D059E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10" name="Slide Number Placeholder 2">
            <a:extLst>
              <a:ext uri="{FF2B5EF4-FFF2-40B4-BE49-F238E27FC236}">
                <a16:creationId xmlns:a16="http://schemas.microsoft.com/office/drawing/2014/main" id="{5BC8A711-C895-FE87-EDAE-8B66C45BB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24</a:t>
            </a:fld>
            <a:endParaRPr lang="fr-FR" sz="1400" b="1" dirty="0"/>
          </a:p>
        </p:txBody>
      </p:sp>
    </p:spTree>
    <p:extLst>
      <p:ext uri="{BB962C8B-B14F-4D97-AF65-F5344CB8AC3E}">
        <p14:creationId xmlns:p14="http://schemas.microsoft.com/office/powerpoint/2010/main" val="408669709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6FC30-AAA2-E5BB-32E0-683CC058E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3F27CD10-7EEF-021B-45BD-839A366C0544}"/>
              </a:ext>
            </a:extLst>
          </p:cNvPr>
          <p:cNvSpPr txBox="1"/>
          <p:nvPr/>
        </p:nvSpPr>
        <p:spPr>
          <a:xfrm>
            <a:off x="345440" y="721360"/>
            <a:ext cx="8393826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Arial Black" panose="020B0A04020102020204" pitchFamily="34" charset="0"/>
              </a:rPr>
              <a:t>ANNEXE 1:</a:t>
            </a:r>
            <a:r>
              <a:rPr lang="fr-FR" sz="2000" dirty="0">
                <a:latin typeface="Arial Black" panose="020B0A04020102020204" pitchFamily="34" charset="0"/>
              </a:rPr>
              <a:t> Références bibliographiques et sources.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B2768E8-3415-4446-BB84-549A102258DE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FE077D-2C94-B4B1-D675-115CAB645DBB}"/>
              </a:ext>
            </a:extLst>
          </p:cNvPr>
          <p:cNvSpPr txBox="1"/>
          <p:nvPr/>
        </p:nvSpPr>
        <p:spPr>
          <a:xfrm>
            <a:off x="326443" y="1372472"/>
            <a:ext cx="8491113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[1] </a:t>
            </a:r>
            <a:r>
              <a:rPr lang="en-GB" sz="1600" dirty="0" err="1"/>
              <a:t>WiseGuy</a:t>
            </a:r>
            <a:r>
              <a:rPr lang="en-GB" sz="1600" dirty="0"/>
              <a:t> Research Consultants, "Global Electric Guitar Pickup Market Research Report 2024," Pune, India, 2024.</a:t>
            </a:r>
          </a:p>
          <a:p>
            <a:endParaRPr lang="en-GB" sz="1600" dirty="0"/>
          </a:p>
          <a:p>
            <a:r>
              <a:rPr lang="en-GB" sz="1600" b="1" dirty="0"/>
              <a:t>[2] </a:t>
            </a:r>
            <a:r>
              <a:rPr lang="en-GB" sz="1600" dirty="0"/>
              <a:t>Matthew W. Hill, "The hidden history of the electric guitar", in Quand la </a:t>
            </a:r>
            <a:r>
              <a:rPr lang="en-GB" sz="1600" dirty="0" err="1"/>
              <a:t>guitare</a:t>
            </a:r>
            <a:r>
              <a:rPr lang="en-GB" sz="1600" dirty="0"/>
              <a:t> [s']</a:t>
            </a:r>
            <a:r>
              <a:rPr lang="en-GB" sz="1600" dirty="0" err="1"/>
              <a:t>électrise</a:t>
            </a:r>
            <a:r>
              <a:rPr lang="en-GB" sz="1600" dirty="0"/>
              <a:t> !, Benoît Navarret et al. (dir.), Sorbonne Université Presses, pp. 33-61, 2022.</a:t>
            </a:r>
          </a:p>
          <a:p>
            <a:endParaRPr lang="en-GB" sz="1600" dirty="0"/>
          </a:p>
          <a:p>
            <a:r>
              <a:rPr lang="en-GB" sz="1600" b="1" dirty="0"/>
              <a:t>[3] </a:t>
            </a:r>
            <a:r>
              <a:rPr lang="en-GB" sz="1600" dirty="0"/>
              <a:t>N. G. Horton &amp; T. R. Moore : </a:t>
            </a:r>
            <a:r>
              <a:rPr lang="en-GB" sz="1600" dirty="0" err="1"/>
              <a:t>Modeling</a:t>
            </a:r>
            <a:r>
              <a:rPr lang="en-GB" sz="1600" dirty="0"/>
              <a:t> the magnetic pickup of an electric guitar :</a:t>
            </a:r>
          </a:p>
          <a:p>
            <a:r>
              <a:rPr lang="en-GB" sz="1600" dirty="0"/>
              <a:t>American Journal of Physics, vol. 77, no. 2, pp. 144–150, 2009, </a:t>
            </a:r>
            <a:r>
              <a:rPr lang="en-GB" sz="1600" dirty="0" err="1"/>
              <a:t>doi</a:t>
            </a:r>
            <a:r>
              <a:rPr lang="en-GB" sz="1600" dirty="0"/>
              <a:t>: 10.1119/1.2990663</a:t>
            </a:r>
          </a:p>
          <a:p>
            <a:endParaRPr lang="en-GB" sz="1600" dirty="0"/>
          </a:p>
          <a:p>
            <a:r>
              <a:rPr lang="en-GB" sz="1600" b="1" dirty="0"/>
              <a:t>[4] </a:t>
            </a:r>
            <a:r>
              <a:rPr lang="en-GB" sz="1600" dirty="0"/>
              <a:t>S. W. Duncan, "Interview With Seth Lover", Seymour Duncan.  [En </a:t>
            </a:r>
            <a:r>
              <a:rPr lang="en-GB" sz="1600" dirty="0" err="1"/>
              <a:t>ligne</a:t>
            </a:r>
            <a:r>
              <a:rPr lang="en-GB" sz="1600" dirty="0"/>
              <a:t>]. Disponible sur: </a:t>
            </a:r>
            <a:r>
              <a:rPr lang="en-GB" sz="1600" dirty="0">
                <a:hlinkClick r:id="rId3"/>
              </a:rPr>
              <a:t>https://www.seymourduncan.com/blog/latest-updates/seymour-w-duncans-interview-with-seth-lover</a:t>
            </a:r>
            <a:endParaRPr lang="en-GB" sz="1600" dirty="0"/>
          </a:p>
          <a:p>
            <a:endParaRPr lang="en-GB" sz="1600" dirty="0"/>
          </a:p>
          <a:p>
            <a:r>
              <a:rPr lang="en-GB" sz="1600" b="1" dirty="0"/>
              <a:t>[5] </a:t>
            </a:r>
            <a:r>
              <a:rPr lang="en-GB" sz="1600" dirty="0"/>
              <a:t>Dan Carson, "Investigation of the Electromagnetic Properties of Electric Guitar Pickups", University of Illinois at Urbana-Champaign, Physics Senior Thesis, 2009.</a:t>
            </a:r>
          </a:p>
          <a:p>
            <a:endParaRPr lang="en-GB" sz="1600" dirty="0"/>
          </a:p>
          <a:p>
            <a:r>
              <a:rPr lang="en-GB" sz="1600" b="1" dirty="0"/>
              <a:t>[6] </a:t>
            </a:r>
            <a:r>
              <a:rPr lang="en-GB" sz="1600" dirty="0"/>
              <a:t>B. </a:t>
            </a:r>
            <a:r>
              <a:rPr lang="en-GB" sz="1600" dirty="0" err="1"/>
              <a:t>d’Andréa</a:t>
            </a:r>
            <a:r>
              <a:rPr lang="en-GB" sz="1600" dirty="0"/>
              <a:t>-Novel, B. Fabre, et P. Jouvelot, </a:t>
            </a:r>
            <a:r>
              <a:rPr lang="en-GB" sz="1600" dirty="0" err="1"/>
              <a:t>Acoustique</a:t>
            </a:r>
            <a:r>
              <a:rPr lang="en-GB" sz="1600" dirty="0"/>
              <a:t> Informatique </a:t>
            </a:r>
            <a:r>
              <a:rPr lang="en-GB" sz="1600" dirty="0" err="1"/>
              <a:t>MusiquE</a:t>
            </a:r>
            <a:r>
              <a:rPr lang="en-GB" sz="1600" dirty="0"/>
              <a:t> : </a:t>
            </a:r>
            <a:r>
              <a:rPr lang="en-GB" sz="1600" dirty="0" err="1"/>
              <a:t>Outils</a:t>
            </a:r>
            <a:r>
              <a:rPr lang="en-GB" sz="1600" dirty="0"/>
              <a:t> </a:t>
            </a:r>
            <a:r>
              <a:rPr lang="en-GB" sz="1600" dirty="0" err="1"/>
              <a:t>scientifiques</a:t>
            </a:r>
            <a:r>
              <a:rPr lang="en-GB" sz="1600" dirty="0"/>
              <a:t> pour la musique. Paris, France : Presses des Mines, 2010, </a:t>
            </a:r>
            <a:r>
              <a:rPr lang="en-GB" sz="1600" dirty="0" err="1"/>
              <a:t>ch.</a:t>
            </a:r>
            <a:r>
              <a:rPr lang="en-GB" sz="1600" dirty="0"/>
              <a:t> 4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9D43332-F8BD-6E2C-04A6-7CBD2C448375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94935E0A-86AC-9436-7A04-23BB4DCFB95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" name="Footer Placeholder 2">
              <a:extLst>
                <a:ext uri="{FF2B5EF4-FFF2-40B4-BE49-F238E27FC236}">
                  <a16:creationId xmlns:a16="http://schemas.microsoft.com/office/drawing/2014/main" id="{A2E238EA-0333-80E5-6A4E-C1DD63F93CF3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14A605A-39EA-E26C-D82F-B7364DE609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E3630A-974D-CC9B-8200-E45D9FB53E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7" name="Slide Number Placeholder 2">
            <a:extLst>
              <a:ext uri="{FF2B5EF4-FFF2-40B4-BE49-F238E27FC236}">
                <a16:creationId xmlns:a16="http://schemas.microsoft.com/office/drawing/2014/main" id="{11860B60-7DA1-5048-127A-6019A8FF4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25</a:t>
            </a:fld>
            <a:endParaRPr lang="fr-FR" sz="1400" b="1" dirty="0"/>
          </a:p>
        </p:txBody>
      </p:sp>
    </p:spTree>
    <p:extLst>
      <p:ext uri="{BB962C8B-B14F-4D97-AF65-F5344CB8AC3E}">
        <p14:creationId xmlns:p14="http://schemas.microsoft.com/office/powerpoint/2010/main" val="36309016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A2C47B-CF41-2900-27D1-46C22C904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3BD09EDA-BBC9-C23C-F784-E5E302DC689C}"/>
              </a:ext>
            </a:extLst>
          </p:cNvPr>
          <p:cNvSpPr txBox="1"/>
          <p:nvPr/>
        </p:nvSpPr>
        <p:spPr>
          <a:xfrm>
            <a:off x="345439" y="721360"/>
            <a:ext cx="8063923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Arial Black" panose="020B0A04020102020204" pitchFamily="34" charset="0"/>
              </a:rPr>
              <a:t>ANNEXE 2 :</a:t>
            </a:r>
            <a:r>
              <a:rPr lang="fr-FR" sz="2000" dirty="0">
                <a:latin typeface="Arial Black" panose="020B0A04020102020204" pitchFamily="34" charset="0"/>
              </a:rPr>
              <a:t> Notations et valeur numérique.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488B616-4201-AC96-BA95-677E016CA99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05887BE-C0C6-26B1-F07D-A7C065B7F1EA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A33D505-1E0C-2999-0AA5-428C61C7DBB8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Footer Placeholder 2">
              <a:extLst>
                <a:ext uri="{FF2B5EF4-FFF2-40B4-BE49-F238E27FC236}">
                  <a16:creationId xmlns:a16="http://schemas.microsoft.com/office/drawing/2014/main" id="{D87F4FDF-66F9-8742-498D-DAA32629EAAD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D1144795-AC8B-21B2-6726-CE3D16CE573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92731092"/>
                  </p:ext>
                </p:extLst>
              </p:nvPr>
            </p:nvGraphicFramePr>
            <p:xfrm>
              <a:off x="345437" y="4827261"/>
              <a:ext cx="4217064" cy="1440000"/>
            </p:xfrm>
            <a:graphic>
              <a:graphicData uri="http://schemas.openxmlformats.org/drawingml/2006/table">
                <a:tbl>
                  <a:tblPr/>
                  <a:tblGrid>
                    <a:gridCol w="685916">
                      <a:extLst>
                        <a:ext uri="{9D8B030D-6E8A-4147-A177-3AD203B41FA5}">
                          <a16:colId xmlns:a16="http://schemas.microsoft.com/office/drawing/2014/main" val="1593414590"/>
                        </a:ext>
                      </a:extLst>
                    </a:gridCol>
                    <a:gridCol w="790997">
                      <a:extLst>
                        <a:ext uri="{9D8B030D-6E8A-4147-A177-3AD203B41FA5}">
                          <a16:colId xmlns:a16="http://schemas.microsoft.com/office/drawing/2014/main" val="2720004451"/>
                        </a:ext>
                      </a:extLst>
                    </a:gridCol>
                    <a:gridCol w="425921">
                      <a:extLst>
                        <a:ext uri="{9D8B030D-6E8A-4147-A177-3AD203B41FA5}">
                          <a16:colId xmlns:a16="http://schemas.microsoft.com/office/drawing/2014/main" val="161282379"/>
                        </a:ext>
                      </a:extLst>
                    </a:gridCol>
                    <a:gridCol w="2314230">
                      <a:extLst>
                        <a:ext uri="{9D8B030D-6E8A-4147-A177-3AD203B41FA5}">
                          <a16:colId xmlns:a16="http://schemas.microsoft.com/office/drawing/2014/main" val="1526808663"/>
                        </a:ext>
                      </a:extLst>
                    </a:gridCol>
                  </a:tblGrid>
                  <a:tr h="360000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Notation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Valeur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Unité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Description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36538467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3,5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-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Perméabilité relative de l'Alnico 5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35289684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𝜒</m:t>
                                </m:r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100 (ODG)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-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Susceptibilité magnétique de la corde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03249128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fr-FR" sz="1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1000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fr-FR" sz="1000" b="0" i="1" smtClean="0">
                                      <a:latin typeface="Cambria Math" panose="02040503050406030204" pitchFamily="18" charset="0"/>
                                    </a:rPr>
                                    <m:t>−8</m:t>
                                  </m:r>
                                </m:sup>
                              </m:sSup>
                            </m:oMath>
                          </a14:m>
                          <a:r>
                            <a:rPr lang="fr-FR" sz="1000" dirty="0"/>
                            <a:t> (ODG)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p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Volume de la portion de la corde active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252264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D1144795-AC8B-21B2-6726-CE3D16CE573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92731092"/>
                  </p:ext>
                </p:extLst>
              </p:nvPr>
            </p:nvGraphicFramePr>
            <p:xfrm>
              <a:off x="345437" y="4827261"/>
              <a:ext cx="4217064" cy="1440000"/>
            </p:xfrm>
            <a:graphic>
              <a:graphicData uri="http://schemas.openxmlformats.org/drawingml/2006/table">
                <a:tbl>
                  <a:tblPr/>
                  <a:tblGrid>
                    <a:gridCol w="685916">
                      <a:extLst>
                        <a:ext uri="{9D8B030D-6E8A-4147-A177-3AD203B41FA5}">
                          <a16:colId xmlns:a16="http://schemas.microsoft.com/office/drawing/2014/main" val="1593414590"/>
                        </a:ext>
                      </a:extLst>
                    </a:gridCol>
                    <a:gridCol w="790997">
                      <a:extLst>
                        <a:ext uri="{9D8B030D-6E8A-4147-A177-3AD203B41FA5}">
                          <a16:colId xmlns:a16="http://schemas.microsoft.com/office/drawing/2014/main" val="2720004451"/>
                        </a:ext>
                      </a:extLst>
                    </a:gridCol>
                    <a:gridCol w="425921">
                      <a:extLst>
                        <a:ext uri="{9D8B030D-6E8A-4147-A177-3AD203B41FA5}">
                          <a16:colId xmlns:a16="http://schemas.microsoft.com/office/drawing/2014/main" val="161282379"/>
                        </a:ext>
                      </a:extLst>
                    </a:gridCol>
                    <a:gridCol w="2314230">
                      <a:extLst>
                        <a:ext uri="{9D8B030D-6E8A-4147-A177-3AD203B41FA5}">
                          <a16:colId xmlns:a16="http://schemas.microsoft.com/office/drawing/2014/main" val="1526808663"/>
                        </a:ext>
                      </a:extLst>
                    </a:gridCol>
                  </a:tblGrid>
                  <a:tr h="360000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Notation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Valeur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Unité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Description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36538467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blipFill>
                          <a:blip r:embed="rId2"/>
                          <a:stretch>
                            <a:fillRect t="-103390" r="-514159" b="-20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3,5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-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Perméabilité relative de l'Alnico 5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35289684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2"/>
                          <a:stretch>
                            <a:fillRect t="-200000" r="-514159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100 (ODG)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-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Susceptibilité magnétique de la corde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03249128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305085" r="-514159" b="-16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86923" t="-305085" r="-346923" b="-16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47143" t="-305085" r="-544286" b="-16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Volume de la portion de la corde active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2522643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" name="Table 16">
                <a:extLst>
                  <a:ext uri="{FF2B5EF4-FFF2-40B4-BE49-F238E27FC236}">
                    <a16:creationId xmlns:a16="http://schemas.microsoft.com/office/drawing/2014/main" id="{3B381818-6C77-AF12-22D8-30F5A4EA623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80229"/>
                  </p:ext>
                </p:extLst>
              </p:nvPr>
            </p:nvGraphicFramePr>
            <p:xfrm>
              <a:off x="345439" y="1507861"/>
              <a:ext cx="4217062" cy="2880000"/>
            </p:xfrm>
            <a:graphic>
              <a:graphicData uri="http://schemas.openxmlformats.org/drawingml/2006/table">
                <a:tbl>
                  <a:tblPr/>
                  <a:tblGrid>
                    <a:gridCol w="685916">
                      <a:extLst>
                        <a:ext uri="{9D8B030D-6E8A-4147-A177-3AD203B41FA5}">
                          <a16:colId xmlns:a16="http://schemas.microsoft.com/office/drawing/2014/main" val="1593414590"/>
                        </a:ext>
                      </a:extLst>
                    </a:gridCol>
                    <a:gridCol w="790996">
                      <a:extLst>
                        <a:ext uri="{9D8B030D-6E8A-4147-A177-3AD203B41FA5}">
                          <a16:colId xmlns:a16="http://schemas.microsoft.com/office/drawing/2014/main" val="2720004451"/>
                        </a:ext>
                      </a:extLst>
                    </a:gridCol>
                    <a:gridCol w="425920">
                      <a:extLst>
                        <a:ext uri="{9D8B030D-6E8A-4147-A177-3AD203B41FA5}">
                          <a16:colId xmlns:a16="http://schemas.microsoft.com/office/drawing/2014/main" val="161282379"/>
                        </a:ext>
                      </a:extLst>
                    </a:gridCol>
                    <a:gridCol w="2314230">
                      <a:extLst>
                        <a:ext uri="{9D8B030D-6E8A-4147-A177-3AD203B41FA5}">
                          <a16:colId xmlns:a16="http://schemas.microsoft.com/office/drawing/2014/main" val="1526808663"/>
                        </a:ext>
                      </a:extLst>
                    </a:gridCol>
                  </a:tblGrid>
                  <a:tr h="360000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Notation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Valeur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Unité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Description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36538467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0,105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Position du micro (SingleCoil)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03249128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𝐻𝑃</m:t>
                                    </m:r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</m:oMath>
                            </m:oMathPara>
                          </a14:m>
                          <a:endParaRPr lang="fr-FR" sz="1000" b="0" i="1" dirty="0">
                            <a:latin typeface="Cambria Math" panose="02040503050406030204" pitchFamily="18" charset="0"/>
                          </a:endParaRPr>
                        </a:p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𝐻𝑃</m:t>
                                    </m:r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0,147, 0,165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oMath>
                            </m:oMathPara>
                          </a14:m>
                          <a:endParaRPr lang="fr-FR" sz="1000" b="0" i="1" dirty="0">
                            <a:latin typeface="Cambria Math" panose="02040503050406030204" pitchFamily="18" charset="0"/>
                          </a:endParaRP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oMath>
                            </m:oMathPara>
                          </a14:m>
                          <a:endParaRPr lang="fr-FR" sz="1000" b="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Position du micro (Humbucker parallèle)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25226435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𝐻𝑆</m:t>
                                    </m:r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</m:oMath>
                            </m:oMathPara>
                          </a14:m>
                          <a:endParaRPr lang="fr-FR" sz="1000" b="0" i="1" dirty="0">
                            <a:latin typeface="Cambria Math" panose="02040503050406030204" pitchFamily="18" charset="0"/>
                          </a:endParaRPr>
                        </a:p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𝐻𝑆</m:t>
                                    </m:r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0,202, 0,220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oMath>
                            </m:oMathPara>
                          </a14:m>
                          <a:endParaRPr lang="fr-FR" sz="1000" b="0" i="1" dirty="0">
                            <a:latin typeface="Cambria Math" panose="02040503050406030204" pitchFamily="18" charset="0"/>
                          </a:endParaRP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Position du micro (Humbucker série)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85710569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0,85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Longueur vibrante de la corde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83586442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0,300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Position de l'origine de la perturbation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35740474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0,105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𝑚𝑚</m:t>
                                </m:r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Amplitude initiale de la perturbation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478196520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80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𝐻𝑧</m:t>
                                </m:r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Fréquence fondamentale de vibration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7509288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7" name="Table 16">
                <a:extLst>
                  <a:ext uri="{FF2B5EF4-FFF2-40B4-BE49-F238E27FC236}">
                    <a16:creationId xmlns:a16="http://schemas.microsoft.com/office/drawing/2014/main" id="{3B381818-6C77-AF12-22D8-30F5A4EA623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80229"/>
                  </p:ext>
                </p:extLst>
              </p:nvPr>
            </p:nvGraphicFramePr>
            <p:xfrm>
              <a:off x="345439" y="1507861"/>
              <a:ext cx="4217062" cy="2880000"/>
            </p:xfrm>
            <a:graphic>
              <a:graphicData uri="http://schemas.openxmlformats.org/drawingml/2006/table">
                <a:tbl>
                  <a:tblPr/>
                  <a:tblGrid>
                    <a:gridCol w="685916">
                      <a:extLst>
                        <a:ext uri="{9D8B030D-6E8A-4147-A177-3AD203B41FA5}">
                          <a16:colId xmlns:a16="http://schemas.microsoft.com/office/drawing/2014/main" val="1593414590"/>
                        </a:ext>
                      </a:extLst>
                    </a:gridCol>
                    <a:gridCol w="790996">
                      <a:extLst>
                        <a:ext uri="{9D8B030D-6E8A-4147-A177-3AD203B41FA5}">
                          <a16:colId xmlns:a16="http://schemas.microsoft.com/office/drawing/2014/main" val="2720004451"/>
                        </a:ext>
                      </a:extLst>
                    </a:gridCol>
                    <a:gridCol w="425920">
                      <a:extLst>
                        <a:ext uri="{9D8B030D-6E8A-4147-A177-3AD203B41FA5}">
                          <a16:colId xmlns:a16="http://schemas.microsoft.com/office/drawing/2014/main" val="161282379"/>
                        </a:ext>
                      </a:extLst>
                    </a:gridCol>
                    <a:gridCol w="2314230">
                      <a:extLst>
                        <a:ext uri="{9D8B030D-6E8A-4147-A177-3AD203B41FA5}">
                          <a16:colId xmlns:a16="http://schemas.microsoft.com/office/drawing/2014/main" val="1526808663"/>
                        </a:ext>
                      </a:extLst>
                    </a:gridCol>
                  </a:tblGrid>
                  <a:tr h="360000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Notation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Valeur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Unité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Description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36538467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blipFill>
                          <a:blip r:embed="rId3"/>
                          <a:stretch>
                            <a:fillRect t="-101695" r="-514159" b="-60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0,105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blipFill>
                          <a:blip r:embed="rId3"/>
                          <a:stretch>
                            <a:fillRect l="-347143" t="-101695" r="-544286" b="-60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Position du micro (SingleCoil)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03249128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3"/>
                          <a:stretch>
                            <a:fillRect t="-201695" r="-514159" b="-50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0,147, 0,165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3"/>
                          <a:stretch>
                            <a:fillRect l="-347143" t="-201695" r="-544286" b="-50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Position du micro (Humbucker parallèle)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25226435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3"/>
                          <a:stretch>
                            <a:fillRect t="-296667" r="-514159" b="-39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0,202, 0,220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3"/>
                          <a:stretch>
                            <a:fillRect l="-347143" t="-296667" r="-544286" b="-39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Position du micro (Humbucker série)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85710569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3"/>
                          <a:stretch>
                            <a:fillRect t="-403390" r="-514159" b="-3016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0,85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3"/>
                          <a:stretch>
                            <a:fillRect l="-347143" t="-403390" r="-544286" b="-3016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Longueur vibrante de la corde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83586442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3"/>
                          <a:stretch>
                            <a:fillRect t="-503390" r="-514159" b="-2016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0,300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3"/>
                          <a:stretch>
                            <a:fillRect l="-347143" t="-503390" r="-544286" b="-2016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Position de l'origine de la perturbation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35740474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3"/>
                          <a:stretch>
                            <a:fillRect t="-603390" r="-514159" b="-1016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0,105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3"/>
                          <a:stretch>
                            <a:fillRect l="-347143" t="-603390" r="-544286" b="-1016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Amplitude initiale de la perturbation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478196520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t="-703390" r="-514159" b="-16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80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47143" t="-703390" r="-544286" b="-16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Fréquence fondamentale de vibration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7509288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9" name="Table 18">
                <a:extLst>
                  <a:ext uri="{FF2B5EF4-FFF2-40B4-BE49-F238E27FC236}">
                    <a16:creationId xmlns:a16="http://schemas.microsoft.com/office/drawing/2014/main" id="{CF42D4E8-367B-CD6E-4006-68B064BCF4A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39652139"/>
                  </p:ext>
                </p:extLst>
              </p:nvPr>
            </p:nvGraphicFramePr>
            <p:xfrm>
              <a:off x="4671437" y="1507861"/>
              <a:ext cx="4324145" cy="1089627"/>
            </p:xfrm>
            <a:graphic>
              <a:graphicData uri="http://schemas.openxmlformats.org/drawingml/2006/table">
                <a:tbl>
                  <a:tblPr/>
                  <a:tblGrid>
                    <a:gridCol w="703333">
                      <a:extLst>
                        <a:ext uri="{9D8B030D-6E8A-4147-A177-3AD203B41FA5}">
                          <a16:colId xmlns:a16="http://schemas.microsoft.com/office/drawing/2014/main" val="1593414590"/>
                        </a:ext>
                      </a:extLst>
                    </a:gridCol>
                    <a:gridCol w="811082">
                      <a:extLst>
                        <a:ext uri="{9D8B030D-6E8A-4147-A177-3AD203B41FA5}">
                          <a16:colId xmlns:a16="http://schemas.microsoft.com/office/drawing/2014/main" val="2720004451"/>
                        </a:ext>
                      </a:extLst>
                    </a:gridCol>
                    <a:gridCol w="436736">
                      <a:extLst>
                        <a:ext uri="{9D8B030D-6E8A-4147-A177-3AD203B41FA5}">
                          <a16:colId xmlns:a16="http://schemas.microsoft.com/office/drawing/2014/main" val="161282379"/>
                        </a:ext>
                      </a:extLst>
                    </a:gridCol>
                    <a:gridCol w="2372994">
                      <a:extLst>
                        <a:ext uri="{9D8B030D-6E8A-4147-A177-3AD203B41FA5}">
                          <a16:colId xmlns:a16="http://schemas.microsoft.com/office/drawing/2014/main" val="1526808663"/>
                        </a:ext>
                      </a:extLst>
                    </a:gridCol>
                  </a:tblGrid>
                  <a:tr h="363209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Notation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Valeur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Unité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Description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36538467"/>
                      </a:ext>
                    </a:extLst>
                  </a:tr>
                  <a:tr h="363209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e>
                                  <m:sub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95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000" dirty="0"/>
                            <a:t>-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Nombre de spire d’une bobine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03249128"/>
                      </a:ext>
                    </a:extLst>
                  </a:tr>
                  <a:tr h="363209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000" dirty="0"/>
                            <a:t>0,06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Rayon des bobines de Helmholtz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252264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9" name="Table 18">
                <a:extLst>
                  <a:ext uri="{FF2B5EF4-FFF2-40B4-BE49-F238E27FC236}">
                    <a16:creationId xmlns:a16="http://schemas.microsoft.com/office/drawing/2014/main" id="{CF42D4E8-367B-CD6E-4006-68B064BCF4A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39652139"/>
                  </p:ext>
                </p:extLst>
              </p:nvPr>
            </p:nvGraphicFramePr>
            <p:xfrm>
              <a:off x="4671437" y="1507861"/>
              <a:ext cx="4324145" cy="1089627"/>
            </p:xfrm>
            <a:graphic>
              <a:graphicData uri="http://schemas.openxmlformats.org/drawingml/2006/table">
                <a:tbl>
                  <a:tblPr/>
                  <a:tblGrid>
                    <a:gridCol w="703333">
                      <a:extLst>
                        <a:ext uri="{9D8B030D-6E8A-4147-A177-3AD203B41FA5}">
                          <a16:colId xmlns:a16="http://schemas.microsoft.com/office/drawing/2014/main" val="1593414590"/>
                        </a:ext>
                      </a:extLst>
                    </a:gridCol>
                    <a:gridCol w="811082">
                      <a:extLst>
                        <a:ext uri="{9D8B030D-6E8A-4147-A177-3AD203B41FA5}">
                          <a16:colId xmlns:a16="http://schemas.microsoft.com/office/drawing/2014/main" val="2720004451"/>
                        </a:ext>
                      </a:extLst>
                    </a:gridCol>
                    <a:gridCol w="436736">
                      <a:extLst>
                        <a:ext uri="{9D8B030D-6E8A-4147-A177-3AD203B41FA5}">
                          <a16:colId xmlns:a16="http://schemas.microsoft.com/office/drawing/2014/main" val="161282379"/>
                        </a:ext>
                      </a:extLst>
                    </a:gridCol>
                    <a:gridCol w="2372994">
                      <a:extLst>
                        <a:ext uri="{9D8B030D-6E8A-4147-A177-3AD203B41FA5}">
                          <a16:colId xmlns:a16="http://schemas.microsoft.com/office/drawing/2014/main" val="1526808663"/>
                        </a:ext>
                      </a:extLst>
                    </a:gridCol>
                  </a:tblGrid>
                  <a:tr h="363209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Notation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Valeur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Unité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Description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36538467"/>
                      </a:ext>
                    </a:extLst>
                  </a:tr>
                  <a:tr h="363209"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blipFill>
                          <a:blip r:embed="rId4"/>
                          <a:stretch>
                            <a:fillRect t="-101667" r="-518261" b="-101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95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000" dirty="0"/>
                            <a:t>-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Nombre de spire d’une bobine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03249128"/>
                      </a:ext>
                    </a:extLst>
                  </a:tr>
                  <a:tr h="363209"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t="-201667" r="-518261" b="-1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000" dirty="0"/>
                            <a:t>0,06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50704" t="-201667" r="-550704" b="-1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Rayon des bobines de Helmholtz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2522643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0" name="Rectangle 19">
            <a:extLst>
              <a:ext uri="{FF2B5EF4-FFF2-40B4-BE49-F238E27FC236}">
                <a16:creationId xmlns:a16="http://schemas.microsoft.com/office/drawing/2014/main" id="{4A0FDFD4-ACE1-C723-796E-51848408BDB8}"/>
              </a:ext>
            </a:extLst>
          </p:cNvPr>
          <p:cNvSpPr/>
          <p:nvPr/>
        </p:nvSpPr>
        <p:spPr>
          <a:xfrm>
            <a:off x="345439" y="1174612"/>
            <a:ext cx="4031962" cy="280107"/>
          </a:xfrm>
          <a:prstGeom prst="rect">
            <a:avLst/>
          </a:prstGeom>
          <a:ln w="38100">
            <a:noFill/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numCol="2" rtlCol="0" anchor="t"/>
          <a:lstStyle/>
          <a:p>
            <a:endParaRPr lang="fr-FR" sz="1400" b="1" dirty="0">
              <a:solidFill>
                <a:schemeClr val="accent3">
                  <a:lumMod val="50000"/>
                </a:schemeClr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B5CD883-82BD-74FC-0CCA-5B43225FB89A}"/>
              </a:ext>
            </a:extLst>
          </p:cNvPr>
          <p:cNvSpPr txBox="1"/>
          <p:nvPr/>
        </p:nvSpPr>
        <p:spPr>
          <a:xfrm>
            <a:off x="326443" y="1142736"/>
            <a:ext cx="43621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chemeClr val="accent3">
                    <a:lumMod val="50000"/>
                  </a:schemeClr>
                </a:solidFill>
              </a:rPr>
              <a:t>Paramètres mécanique (induction)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D94D2AE-FBCD-6DCC-33D2-D0CB6D758659}"/>
              </a:ext>
            </a:extLst>
          </p:cNvPr>
          <p:cNvSpPr txBox="1"/>
          <p:nvPr/>
        </p:nvSpPr>
        <p:spPr>
          <a:xfrm>
            <a:off x="326442" y="4460763"/>
            <a:ext cx="43621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chemeClr val="accent3">
                    <a:lumMod val="50000"/>
                  </a:schemeClr>
                </a:solidFill>
              </a:rPr>
              <a:t>Paramètres magnétique (induction)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E8A2E43-0000-4799-8C98-5CF5D3C0AA82}"/>
              </a:ext>
            </a:extLst>
          </p:cNvPr>
          <p:cNvSpPr txBox="1"/>
          <p:nvPr/>
        </p:nvSpPr>
        <p:spPr>
          <a:xfrm>
            <a:off x="4671437" y="1122601"/>
            <a:ext cx="43621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chemeClr val="accent3">
                    <a:lumMod val="50000"/>
                  </a:schemeClr>
                </a:solidFill>
              </a:rPr>
              <a:t>Paramètres mécanique (parasite)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4" name="Table 23">
                <a:extLst>
                  <a:ext uri="{FF2B5EF4-FFF2-40B4-BE49-F238E27FC236}">
                    <a16:creationId xmlns:a16="http://schemas.microsoft.com/office/drawing/2014/main" id="{CB49C052-18CA-D0C9-14A7-3BDB164A18B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33473610"/>
                  </p:ext>
                </p:extLst>
              </p:nvPr>
            </p:nvGraphicFramePr>
            <p:xfrm>
              <a:off x="4778519" y="3118385"/>
              <a:ext cx="4217064" cy="1089627"/>
            </p:xfrm>
            <a:graphic>
              <a:graphicData uri="http://schemas.openxmlformats.org/drawingml/2006/table">
                <a:tbl>
                  <a:tblPr/>
                  <a:tblGrid>
                    <a:gridCol w="685916">
                      <a:extLst>
                        <a:ext uri="{9D8B030D-6E8A-4147-A177-3AD203B41FA5}">
                          <a16:colId xmlns:a16="http://schemas.microsoft.com/office/drawing/2014/main" val="1593414590"/>
                        </a:ext>
                      </a:extLst>
                    </a:gridCol>
                    <a:gridCol w="790997">
                      <a:extLst>
                        <a:ext uri="{9D8B030D-6E8A-4147-A177-3AD203B41FA5}">
                          <a16:colId xmlns:a16="http://schemas.microsoft.com/office/drawing/2014/main" val="2720004451"/>
                        </a:ext>
                      </a:extLst>
                    </a:gridCol>
                    <a:gridCol w="425921">
                      <a:extLst>
                        <a:ext uri="{9D8B030D-6E8A-4147-A177-3AD203B41FA5}">
                          <a16:colId xmlns:a16="http://schemas.microsoft.com/office/drawing/2014/main" val="161282379"/>
                        </a:ext>
                      </a:extLst>
                    </a:gridCol>
                    <a:gridCol w="2314230">
                      <a:extLst>
                        <a:ext uri="{9D8B030D-6E8A-4147-A177-3AD203B41FA5}">
                          <a16:colId xmlns:a16="http://schemas.microsoft.com/office/drawing/2014/main" val="1526808663"/>
                        </a:ext>
                      </a:extLst>
                    </a:gridCol>
                  </a:tblGrid>
                  <a:tr h="363209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Notation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Valeur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Unité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Description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36538467"/>
                      </a:ext>
                    </a:extLst>
                  </a:tr>
                  <a:tr h="363209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1 (ODG)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p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Gradient du champ magnétique parasite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03249128"/>
                      </a:ext>
                    </a:extLst>
                  </a:tr>
                  <a:tr h="363209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𝐹</m:t>
                                    </m:r>
                                  </m:e>
                                  <m:sub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000" dirty="0"/>
                            <a:t>50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𝐻𝑧</m:t>
                                </m:r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Fréquence du champ magnétique parasite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252264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4" name="Table 23">
                <a:extLst>
                  <a:ext uri="{FF2B5EF4-FFF2-40B4-BE49-F238E27FC236}">
                    <a16:creationId xmlns:a16="http://schemas.microsoft.com/office/drawing/2014/main" id="{CB49C052-18CA-D0C9-14A7-3BDB164A18B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33473610"/>
                  </p:ext>
                </p:extLst>
              </p:nvPr>
            </p:nvGraphicFramePr>
            <p:xfrm>
              <a:off x="4778519" y="3118385"/>
              <a:ext cx="4217064" cy="1089627"/>
            </p:xfrm>
            <a:graphic>
              <a:graphicData uri="http://schemas.openxmlformats.org/drawingml/2006/table">
                <a:tbl>
                  <a:tblPr/>
                  <a:tblGrid>
                    <a:gridCol w="685916">
                      <a:extLst>
                        <a:ext uri="{9D8B030D-6E8A-4147-A177-3AD203B41FA5}">
                          <a16:colId xmlns:a16="http://schemas.microsoft.com/office/drawing/2014/main" val="1593414590"/>
                        </a:ext>
                      </a:extLst>
                    </a:gridCol>
                    <a:gridCol w="790997">
                      <a:extLst>
                        <a:ext uri="{9D8B030D-6E8A-4147-A177-3AD203B41FA5}">
                          <a16:colId xmlns:a16="http://schemas.microsoft.com/office/drawing/2014/main" val="2720004451"/>
                        </a:ext>
                      </a:extLst>
                    </a:gridCol>
                    <a:gridCol w="425921">
                      <a:extLst>
                        <a:ext uri="{9D8B030D-6E8A-4147-A177-3AD203B41FA5}">
                          <a16:colId xmlns:a16="http://schemas.microsoft.com/office/drawing/2014/main" val="161282379"/>
                        </a:ext>
                      </a:extLst>
                    </a:gridCol>
                    <a:gridCol w="2314230">
                      <a:extLst>
                        <a:ext uri="{9D8B030D-6E8A-4147-A177-3AD203B41FA5}">
                          <a16:colId xmlns:a16="http://schemas.microsoft.com/office/drawing/2014/main" val="1526808663"/>
                        </a:ext>
                      </a:extLst>
                    </a:gridCol>
                  </a:tblGrid>
                  <a:tr h="363209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Notation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Valeur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Unité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Description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36538467"/>
                      </a:ext>
                    </a:extLst>
                  </a:tr>
                  <a:tr h="363209"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blipFill>
                          <a:blip r:embed="rId5"/>
                          <a:stretch>
                            <a:fillRect t="-101667" r="-514159" b="-11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1 (ODG)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blipFill>
                          <a:blip r:embed="rId5"/>
                          <a:stretch>
                            <a:fillRect l="-347143" t="-101667" r="-544286" b="-11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Gradient du champ magnétique parasite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03249128"/>
                      </a:ext>
                    </a:extLst>
                  </a:tr>
                  <a:tr h="363209"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t="-201667" r="-514159" b="-1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000" dirty="0"/>
                            <a:t>50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347143" t="-201667" r="-544286" b="-1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Fréquence du champ magnétique parasite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2522643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C245918D-E210-1F1E-4EC5-A7B43F3E7B84}"/>
              </a:ext>
            </a:extLst>
          </p:cNvPr>
          <p:cNvSpPr txBox="1"/>
          <p:nvPr/>
        </p:nvSpPr>
        <p:spPr>
          <a:xfrm>
            <a:off x="4778519" y="2733125"/>
            <a:ext cx="43621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chemeClr val="accent3">
                    <a:lumMod val="50000"/>
                  </a:schemeClr>
                </a:solidFill>
              </a:rPr>
              <a:t>Paramètres magnétiques (parasite)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B20EF1A-1F6F-9525-65C0-C1F7BBBB71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6E79A1-0201-53D7-0BB4-C20241C7F3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7" name="Slide Number Placeholder 2">
            <a:extLst>
              <a:ext uri="{FF2B5EF4-FFF2-40B4-BE49-F238E27FC236}">
                <a16:creationId xmlns:a16="http://schemas.microsoft.com/office/drawing/2014/main" id="{D1901009-EA74-EC93-E653-CCC6C4D2D2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26</a:t>
            </a:fld>
            <a:endParaRPr lang="fr-FR" sz="1400" b="1" dirty="0"/>
          </a:p>
        </p:txBody>
      </p:sp>
    </p:spTree>
    <p:extLst>
      <p:ext uri="{BB962C8B-B14F-4D97-AF65-F5344CB8AC3E}">
        <p14:creationId xmlns:p14="http://schemas.microsoft.com/office/powerpoint/2010/main" val="383703650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55F2D0-380E-9F8B-EAB7-F239559D3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822B8513-685B-5D00-3E76-767B4A734F7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BE10D5-B238-9259-C2A5-819981B66C65}"/>
              </a:ext>
            </a:extLst>
          </p:cNvPr>
          <p:cNvSpPr txBox="1"/>
          <p:nvPr/>
        </p:nvSpPr>
        <p:spPr>
          <a:xfrm>
            <a:off x="345439" y="721360"/>
            <a:ext cx="8063923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Arial Black" panose="020B0A04020102020204" pitchFamily="34" charset="0"/>
              </a:rPr>
              <a:t>ANNEXE 3 :</a:t>
            </a:r>
            <a:r>
              <a:rPr lang="fr-FR" sz="2000" dirty="0">
                <a:latin typeface="Arial Black" panose="020B0A04020102020204" pitchFamily="34" charset="0"/>
              </a:rPr>
              <a:t> Modélisation de l'induction par la corde.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71D93A8-3068-FD13-67A6-BED55AE652C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D16238-4EA7-7517-C0A6-5F60945ECED6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5156412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b="1" u="sng" dirty="0"/>
                  <a:t>Vibration de la corde :</a:t>
                </a:r>
                <a:endParaRPr lang="fr-FR" sz="1200" dirty="0"/>
              </a:p>
              <a:p>
                <a:r>
                  <a:rPr lang="fr-FR" sz="1200" dirty="0"/>
                  <a:t>L’étude de la corde est basée sur l’équation d’Alembert, où la vitesse de propagation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fr-FR" sz="1200" dirty="0"/>
                  <a:t> est défini par la tension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sz="1200" dirty="0"/>
                  <a:t> et la masse linéique </a:t>
                </a: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endParaRPr lang="fr-FR" sz="12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200" i="1" smtClean="0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num>
                      <m:den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Pour une corde de longueur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fr-FR" sz="1200" dirty="0"/>
                  <a:t>, tiré à la position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d’une distance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200" b="0" i="0" smtClean="0">
                        <a:latin typeface="Cambria Math" panose="02040503050406030204" pitchFamily="18" charset="0"/>
                      </a:rPr>
                      <m:t>z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avec une force de pincement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𝑧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0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0≤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des conditions initiales telle que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200" b="0" i="0" smtClean="0">
                        <a:latin typeface="Cambria Math" panose="02040503050406030204" pitchFamily="18" charset="0"/>
                      </a:rPr>
                      <m:t>z</m:t>
                    </m:r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, 0</m:t>
                        </m:r>
                      </m:e>
                    </m:d>
                  </m:oMath>
                </a14:m>
                <a:r>
                  <a:rPr lang="fr-FR" sz="1200" dirty="0"/>
                  <a:t> soit la forme initiale de la corde, on note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</m:oMath>
                </a14:m>
                <a:r>
                  <a:rPr lang="fr-FR" sz="1200" dirty="0"/>
                  <a:t>.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d>
                        <m:d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func>
                            <m:func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𝐹𝑛𝑡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fr-FR" sz="1200" dirty="0"/>
                  <a:t> l’amplitude de l’harmonique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fr-FR" sz="1200" dirty="0"/>
                  <a:t>-ème et peut être calculer par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nary>
                        <m:nary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0)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fr-FR" sz="1200" dirty="0"/>
              </a:p>
              <a:p>
                <a:r>
                  <a:rPr lang="fr-FR" sz="1200" dirty="0"/>
                  <a:t>Ainsi,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𝑑𝑥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D16238-4EA7-7517-C0A6-5F60945ECE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5156412"/>
              </a:xfrm>
              <a:prstGeom prst="rect">
                <a:avLst/>
              </a:prstGeom>
              <a:blipFill>
                <a:blip r:embed="rId2"/>
                <a:stretch>
                  <a:fillRect t="-118" b="-1974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41C732B-CC1E-0649-36C3-A4BA70BB7FD2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506920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dirty="0"/>
                  <a:t>D’où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p>
                            <m:sSup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5/2</m:t>
                              </m:r>
                            </m:sup>
                          </m:sSup>
                          <m:rad>
                            <m:radPr>
                              <m:degHide m:val="on"/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num>
                        <m:den>
                          <m:sSup>
                            <m:sSup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r>
                  <a:rPr lang="fr-FR" sz="1200" b="1" u="sng" dirty="0"/>
                  <a:t>Induction :</a:t>
                </a:r>
                <a:endParaRPr lang="fr-FR" sz="1200" dirty="0"/>
              </a:p>
              <a:p>
                <a:r>
                  <a:rPr lang="fr-FR" sz="1200" dirty="0"/>
                  <a:t>De plus, une portion de la corde de volume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fr-FR" sz="1200" dirty="0"/>
                  <a:t> et de susceptibilité magnétique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𝜒</m:t>
                    </m:r>
                  </m:oMath>
                </a14:m>
                <a:r>
                  <a:rPr lang="fr-FR" sz="1200" dirty="0"/>
                  <a:t> est plongé dans le champ du micro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acc>
                  </m:oMath>
                </a14:m>
                <a:r>
                  <a:rPr lang="fr-FR" sz="1200" dirty="0"/>
                  <a:t>. Donc elle acquiert un moment magnétique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acc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𝜒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acc>
                        </m:num>
                        <m:den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fr-FR" sz="1200" dirty="0"/>
              </a:p>
              <a:p>
                <a:r>
                  <a:rPr lang="fr-FR" sz="1200" dirty="0"/>
                  <a:t>La corde créée donc un champ magnétique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</m:e>
                      </m:acc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num>
                        <m:den>
                          <m:sSup>
                            <m:sSup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𝜒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ac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))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p>
                            <m:sSup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Ainsi le flux traversant le bobinage de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spires est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1200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𝑁</m:t>
                      </m:r>
                      <m:nary>
                        <m:naryPr>
                          <m:chr m:val="∯"/>
                          <m:limLoc m:val="undOvr"/>
                          <m:subHide m:val="on"/>
                          <m:supHide m:val="on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ac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𝑑𝑆</m:t>
                              </m:r>
                            </m:e>
                          </m:acc>
                        </m:e>
                      </m:nary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𝑁𝑆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𝜒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d>
                            <m:d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sSup>
                            <m:sSup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  <m:sup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fr-FR" sz="1200" b="0" i="0" smtClean="0">
                              <a:latin typeface="Cambria Math" panose="02040503050406030204" pitchFamily="18" charset="0"/>
                            </a:rPr>
                            <m:t>Φ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fr-FR" sz="1200" b="0" i="0" smtClean="0">
                              <a:latin typeface="Cambria Math" panose="02040503050406030204" pitchFamily="18" charset="0"/>
                            </a:rPr>
                            <m:t>Φ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den>
                      </m:f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1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𝑁𝑆</m:t>
                          </m:r>
                          <m: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𝜒</m:t>
                          </m:r>
                          <m: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num>
                        <m:den>
                          <m: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d>
                        <m:dPr>
                          <m:ctrlP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sSub>
                                <m:sSubPr>
                                  <m:ctrlP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  <m:d>
                                    <m:dPr>
                                      <m:ctrlPr>
                                        <a:rPr lang="fr-FR" sz="11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fr-FR" sz="11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e>
                              </m:d>
                            </m:num>
                            <m:den>
                              <m:sSup>
                                <m:sSupPr>
                                  <m:ctrlP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p>
                                  <m: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p>
                              </m:sSup>
                            </m:den>
                          </m:f>
                          <m: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p>
                                  <m: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p>
                              </m:sSup>
                            </m:den>
                          </m:f>
                          <m:f>
                            <m:fPr>
                              <m:ctrlP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  <m:nary>
                        <m:naryPr>
                          <m:chr m:val="∑"/>
                          <m:limLoc m:val="undOvr"/>
                          <m:supHide m:val="on"/>
                          <m:ctrlP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func>
                        <m:funcPr>
                          <m:ctrlP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1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𝑛𝐹𝑡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=2</m:t>
                    </m:r>
                    <m:r>
                      <a:rPr lang="fr-FR" sz="1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r>
                      <a:rPr lang="fr-FR" sz="1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𝑛𝐹</m:t>
                    </m:r>
                    <m:func>
                      <m:func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fr-FR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41C732B-CC1E-0649-36C3-A4BA70BB7F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5069208"/>
              </a:xfrm>
              <a:prstGeom prst="rect">
                <a:avLst/>
              </a:prstGeom>
              <a:blipFill>
                <a:blip r:embed="rId3"/>
                <a:stretch>
                  <a:fillRect t="-24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FA777B76-EF7C-8876-1D5D-D609496C95D8}"/>
              </a:ext>
            </a:extLst>
          </p:cNvPr>
          <p:cNvGrpSpPr/>
          <p:nvPr/>
        </p:nvGrpSpPr>
        <p:grpSpPr>
          <a:xfrm>
            <a:off x="3035508" y="2887635"/>
            <a:ext cx="1623736" cy="676275"/>
            <a:chOff x="3501390" y="2752725"/>
            <a:chExt cx="1157854" cy="676275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1A38606B-02D3-FB4F-4E84-A06CC752B21A}"/>
                </a:ext>
              </a:extLst>
            </p:cNvPr>
            <p:cNvGrpSpPr/>
            <p:nvPr/>
          </p:nvGrpSpPr>
          <p:grpSpPr>
            <a:xfrm>
              <a:off x="3501390" y="2752725"/>
              <a:ext cx="1157854" cy="676275"/>
              <a:chOff x="500933" y="4948825"/>
              <a:chExt cx="4020249" cy="888306"/>
            </a:xfrm>
          </p:grpSpPr>
          <p:pic>
            <p:nvPicPr>
              <p:cNvPr id="23" name="Picture 22">
                <a:extLst>
                  <a:ext uri="{FF2B5EF4-FFF2-40B4-BE49-F238E27FC236}">
                    <a16:creationId xmlns:a16="http://schemas.microsoft.com/office/drawing/2014/main" id="{E7E64599-1C52-9F19-E75C-1C83054A944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t="36995"/>
              <a:stretch>
                <a:fillRect/>
              </a:stretch>
            </p:blipFill>
            <p:spPr>
              <a:xfrm>
                <a:off x="500933" y="4948825"/>
                <a:ext cx="4020249" cy="888306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98173CE4-32B0-FCB4-0133-B7F7F801D647}"/>
                      </a:ext>
                    </a:extLst>
                  </p:cNvPr>
                  <p:cNvSpPr txBox="1"/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fr-FR" sz="9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51D8C1AD-927E-E0F4-A2AA-5E5DC0FF643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8333" r="-8333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A230515D-0CF5-C54C-6696-F26CC43280DD}"/>
                    </a:ext>
                  </a:extLst>
                </p:cNvPr>
                <p:cNvSpPr txBox="1"/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EAB0F11-4E7C-6E77-8DD0-F78DBBCD9D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blipFill>
                  <a:blip r:embed="rId6"/>
                  <a:stretch>
                    <a:fillRect l="-25000" r="-3125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3241828B-5116-7216-6B5A-F400AF0BB812}"/>
                    </a:ext>
                  </a:extLst>
                </p:cNvPr>
                <p:cNvSpPr txBox="1"/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A5513AB-DEF1-F4D1-2384-81A3785715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blipFill>
                  <a:blip r:embed="rId7"/>
                  <a:stretch>
                    <a:fillRect l="-25000" r="-2500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D1FB3372-8A72-8A3C-4185-141A249DDF65}"/>
                    </a:ext>
                  </a:extLst>
                </p:cNvPr>
                <p:cNvSpPr txBox="1"/>
                <p:nvPr/>
              </p:nvSpPr>
              <p:spPr>
                <a:xfrm>
                  <a:off x="3842855" y="2942945"/>
                  <a:ext cx="125955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3688DE8-747B-D46B-AFAF-E5F6690A9E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2855" y="2942945"/>
                  <a:ext cx="125955" cy="138499"/>
                </a:xfrm>
                <a:prstGeom prst="rect">
                  <a:avLst/>
                </a:prstGeom>
                <a:blipFill>
                  <a:blip r:embed="rId8"/>
                  <a:stretch>
                    <a:fillRect l="-10714" r="-3571" b="-2272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751B331E-825D-7998-84BB-C2CEA27EFC73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CAA243EF-8D9A-619D-753B-253FFACAA142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" name="Footer Placeholder 2">
              <a:extLst>
                <a:ext uri="{FF2B5EF4-FFF2-40B4-BE49-F238E27FC236}">
                  <a16:creationId xmlns:a16="http://schemas.microsoft.com/office/drawing/2014/main" id="{E96EF237-2867-B9B6-4D1E-4353B4EF70F7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B0A2407-C86B-F9A7-56CD-2554B091F6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A804519D-51B6-4C5E-B301-3F47D06C1A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2" name="Slide Number Placeholder 2">
            <a:extLst>
              <a:ext uri="{FF2B5EF4-FFF2-40B4-BE49-F238E27FC236}">
                <a16:creationId xmlns:a16="http://schemas.microsoft.com/office/drawing/2014/main" id="{D5F648A9-2A1D-AE5D-13D1-19E2A88CF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27</a:t>
            </a:fld>
            <a:endParaRPr lang="fr-FR" sz="1400" b="1" dirty="0"/>
          </a:p>
        </p:txBody>
      </p:sp>
    </p:spTree>
    <p:extLst>
      <p:ext uri="{BB962C8B-B14F-4D97-AF65-F5344CB8AC3E}">
        <p14:creationId xmlns:p14="http://schemas.microsoft.com/office/powerpoint/2010/main" val="18166904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61B5F2-B144-CF76-1F8C-26C914CAC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406A6A33-5483-E45A-C886-DB9DB0F3FCE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670956-3195-813A-9090-176A89DD32F0}"/>
              </a:ext>
            </a:extLst>
          </p:cNvPr>
          <p:cNvSpPr txBox="1"/>
          <p:nvPr/>
        </p:nvSpPr>
        <p:spPr>
          <a:xfrm>
            <a:off x="345439" y="721360"/>
            <a:ext cx="8297628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Arial Black" panose="020B0A04020102020204" pitchFamily="34" charset="0"/>
              </a:rPr>
              <a:t>ANNEXE 4 :</a:t>
            </a:r>
            <a:r>
              <a:rPr lang="fr-FR" sz="2000" dirty="0">
                <a:latin typeface="Arial Black" panose="020B0A04020102020204" pitchFamily="34" charset="0"/>
              </a:rPr>
              <a:t> Théorie de la réjection du champ parasite.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0AB61CD-D09F-44E9-C03D-924382A1A1A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11FD93F-1529-1340-D7CF-3872310E1811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4296946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b="1" u="sng" dirty="0"/>
                  <a:t>Définition :</a:t>
                </a:r>
                <a:endParaRPr lang="fr-FR" sz="1200" dirty="0"/>
              </a:p>
              <a:p>
                <a:r>
                  <a:rPr lang="fr-FR" sz="1200" dirty="0"/>
                  <a:t>On appellera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</m:oMath>
                </a14:m>
                <a:r>
                  <a:rPr lang="fr-FR" sz="1200" dirty="0"/>
                  <a:t> le signal utile 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fr-FR" sz="1200" dirty="0"/>
                  <a:t> le signal parasite. ON définit le </a:t>
                </a:r>
                <a:r>
                  <a:rPr lang="fr-FR" sz="1200" u="sng" dirty="0"/>
                  <a:t>Taux de Rejection de Mode Commun</a:t>
                </a:r>
                <a:endParaRPr lang="fr-FR" sz="1200" b="1" u="sng" dirty="0"/>
              </a:p>
              <a:p>
                <a:endParaRPr lang="fr-FR" sz="1200" b="1" u="sng" dirty="0"/>
              </a:p>
              <a:p>
                <a:r>
                  <a:rPr lang="fr-FR" sz="1200" b="1" u="sng" dirty="0"/>
                  <a:t>Modèle du champ parasite :</a:t>
                </a:r>
                <a:endParaRPr lang="fr-FR" sz="1200" dirty="0"/>
              </a:p>
              <a:p>
                <a:r>
                  <a:rPr lang="fr-FR" sz="1200" dirty="0"/>
                  <a:t>On étudie un champ parasite d’amplitude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, de pulsation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fr-FR" sz="1200" dirty="0"/>
                  <a:t> et de gradient </a:t>
                </a:r>
                <a14:m>
                  <m:oMath xmlns:m="http://schemas.openxmlformats.org/officeDocument/2006/math">
                    <m:r>
                      <a:rPr lang="fr-FR" sz="1200" b="0" i="1" dirty="0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200" dirty="0"/>
                  <a:t> régie par l’équation:</a:t>
                </a:r>
              </a:p>
              <a:p>
                <a:pPr algn="ctr"/>
                <a:endParaRPr lang="fr-FR" sz="1200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′,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′)</m:t>
                      </m:r>
                      <m:func>
                        <m:func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Ainsi on a le flux à travers une surface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fr-FR" sz="1200" dirty="0"/>
                  <a:t> est: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1200" b="0" i="0" smtClean="0">
                          <a:latin typeface="Cambria Math" panose="02040503050406030204" pitchFamily="18" charset="0"/>
                        </a:rPr>
                        <m:t>Φ</m:t>
                      </m:r>
                      <m:r>
                        <a:rPr lang="fr-FR" sz="1200" b="0" i="0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fr-FR" sz="1200" b="0" i="0" smtClean="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p>
                          <m:r>
                            <a:rPr lang="fr-FR" sz="1200" b="0" i="0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fr-FR" sz="1200" b="0" i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fr-FR" sz="1200" b="0" i="0" smtClean="0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fr-FR" sz="1200" b="0" i="0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∯"/>
                          <m:limLoc m:val="undOvr"/>
                          <m:subHide m:val="on"/>
                          <m:supHide m:val="on"/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𝑑𝑆</m:t>
                              </m:r>
                            </m:e>
                          </m:acc>
                        </m:e>
                      </m:nary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𝛼</m:t>
                      </m:r>
                      <m:sSup>
                        <m:sSup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</m:t>
                      </m:r>
                      <m:func>
                        <m:func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dans une bobine composée de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fr-FR" sz="1200" b="0" i="0" smtClean="0">
                              <a:latin typeface="Cambria Math" panose="02040503050406030204" pitchFamily="18" charset="0"/>
                            </a:rPr>
                            <m:t>Φ</m:t>
                          </m:r>
                        </m:num>
                        <m:den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b="1" u="sng" dirty="0"/>
                  <a:t>Pour un micro SingleCoil :</a:t>
                </a:r>
              </a:p>
              <a:p>
                <a:r>
                  <a:rPr lang="fr-FR" sz="1200" dirty="0"/>
                  <a:t>On place le micro à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fr-FR" sz="1200" dirty="0"/>
                  <a:t>, ainsi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11FD93F-1529-1340-D7CF-3872310E18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4296946"/>
              </a:xfrm>
              <a:prstGeom prst="rect">
                <a:avLst/>
              </a:prstGeom>
              <a:blipFill>
                <a:blip r:embed="rId3"/>
                <a:stretch>
                  <a:fillRect t="-14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BC1E68-2458-0314-1F31-1E6A6BB341F6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439376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b="1" u="sng" dirty="0"/>
                  <a:t>Pour un micro Humbucker série :</a:t>
                </a:r>
              </a:p>
              <a:p>
                <a:r>
                  <a:rPr lang="fr-FR" sz="1200" dirty="0"/>
                  <a:t>On génère une FEM par bobinage: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𝐻𝑠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Le micro est composé de deux bobine espacées de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200" b="0" i="0" smtClean="0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lang="fr-FR" sz="1200" dirty="0"/>
                  <a:t> à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spire câblée en opposition de phase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𝐻𝑠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 smtClean="0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fr-FR" sz="1200">
                              <a:latin typeface="Cambria Math" panose="02040503050406030204" pitchFamily="18" charset="0"/>
                            </a:rPr>
                            <m:t>Φ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fr-FR" sz="1200" b="0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)+(−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Φ</m:t>
                              </m:r>
                            </m:num>
                            <m:den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den>
                          </m:f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 −</m:t>
                          </m:r>
                          <m:f>
                            <m:f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</m:num>
                            <m:den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r>
                  <a:rPr lang="fr-FR" sz="1200" dirty="0"/>
                  <a:t>D’où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𝐻𝑠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𝐻𝑠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  <a:p>
                <a:r>
                  <a:rPr lang="fr-FR" sz="1200" dirty="0"/>
                  <a:t>Ainsi :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𝐶𝑀𝑅</m:t>
                    </m:r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𝐻𝑠</m:t>
                        </m:r>
                      </m:sub>
                    </m:sSub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=20</m:t>
                    </m:r>
                    <m:func>
                      <m:func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 sz="1200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fr-FR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sz="1200" b="0" i="1" smtClean="0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sub>
                                </m:s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fr-FR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sz="1200" b="0" i="1" smtClean="0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fr-FR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b="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fr-FR" sz="1200" b="0" i="1" smtClean="0">
                                        <a:latin typeface="Cambria Math" panose="02040503050406030204" pitchFamily="18" charset="0"/>
                                      </a:rPr>
                                      <m:t>𝐻𝑠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</m:func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fr-FR" sz="1200" dirty="0"/>
                  <a:t> </a:t>
                </a:r>
                <a14:m>
                  <m:oMath xmlns:m="http://schemas.openxmlformats.org/officeDocument/2006/math">
                    <m:r>
                      <a:rPr lang="fr-FR" sz="120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20</m:t>
                    </m:r>
                    <m:func>
                      <m:funcPr>
                        <m:ctrlP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 sz="12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fr-FR" sz="12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sz="12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fr-FR" sz="1200" b="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b="1" u="sng" dirty="0"/>
                  <a:t>Pour un micro Humbucker parallèle :</a:t>
                </a:r>
              </a:p>
              <a:p>
                <a:r>
                  <a:rPr lang="fr-FR" sz="1200" dirty="0"/>
                  <a:t>On génère une FEM par bobinage: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𝐻𝑝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De même, sous les mêmes notations,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f>
                            <m:fPr>
                              <m:ctrlPr>
                                <a:rPr lang="fr-FR" sz="140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  <a:p>
                <a:r>
                  <a:rPr lang="fr-FR" sz="1200" dirty="0"/>
                  <a:t>Ainsi :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𝐶𝑀𝑅</m:t>
                    </m:r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𝐻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=20</m:t>
                    </m:r>
                    <m:func>
                      <m:func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 sz="120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fr-FR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sz="1200" i="1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sub>
                                </m:sSub>
                                <m:r>
                                  <a:rPr lang="fr-FR" sz="12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fr-FR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sz="1200" i="1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fr-FR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fr-FR" sz="12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fr-FR" sz="1200" i="1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  <m:r>
                                      <a:rPr lang="fr-FR" sz="12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</m:func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fr-FR" sz="1200" dirty="0"/>
                  <a:t> </a:t>
                </a:r>
                <a14:m>
                  <m:oMath xmlns:m="http://schemas.openxmlformats.org/officeDocument/2006/math"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20</m:t>
                    </m:r>
                    <m:func>
                      <m:funcPr>
                        <m:ctrlP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 sz="12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fr-FR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BC1E68-2458-0314-1F31-1E6A6BB341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4393767"/>
              </a:xfrm>
              <a:prstGeom prst="rect">
                <a:avLst/>
              </a:prstGeom>
              <a:blipFill>
                <a:blip r:embed="rId4"/>
                <a:stretch>
                  <a:fillRect t="-27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4C135CFF-9836-7C54-0BFE-C55DA8EA6DF2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B27E62F-509A-33EE-39F7-CF12A8D18683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" name="Footer Placeholder 2">
              <a:extLst>
                <a:ext uri="{FF2B5EF4-FFF2-40B4-BE49-F238E27FC236}">
                  <a16:creationId xmlns:a16="http://schemas.microsoft.com/office/drawing/2014/main" id="{9F154D45-8B11-2E2C-A9CF-70E8DE66B2BD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E597473-163C-2448-B7A8-744EB33FD861}"/>
                  </a:ext>
                </a:extLst>
              </p:cNvPr>
              <p:cNvSpPr txBox="1"/>
              <p:nvPr/>
            </p:nvSpPr>
            <p:spPr>
              <a:xfrm>
                <a:off x="563660" y="5664788"/>
                <a:ext cx="8191168" cy="523220"/>
              </a:xfrm>
              <a:prstGeom prst="rect">
                <a:avLst/>
              </a:prstGeom>
              <a:ln w="28575">
                <a:solidFill>
                  <a:srgbClr val="4A66AC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fr-FR" sz="1400" dirty="0"/>
                  <a:t>On a une annulation totale du bruit si et seulement si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i="0" smtClean="0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lang="fr-FR" sz="1400" dirty="0"/>
                  <a:t> est petit. En pratique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=0.018 </m:t>
                    </m:r>
                  </m:oMath>
                </a14:m>
                <a:r>
                  <a:rPr lang="fr-FR" sz="1400" dirty="0"/>
                  <a:t>mètre.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fr-FR" sz="1400" dirty="0"/>
                  <a:t>Si les deux Humbucker sont identiques, peu importe le montage, le CMRR est identique</a:t>
                </a: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E597473-163C-2448-B7A8-744EB33FD8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660" y="5664788"/>
                <a:ext cx="8191168" cy="523220"/>
              </a:xfrm>
              <a:prstGeom prst="rect">
                <a:avLst/>
              </a:prstGeom>
              <a:blipFill>
                <a:blip r:embed="rId5"/>
                <a:stretch>
                  <a:fillRect b="-7692"/>
                </a:stretch>
              </a:blipFill>
              <a:ln w="28575">
                <a:solidFill>
                  <a:srgbClr val="4A66AC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2692343-56BA-21CF-A5F9-300910282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16B05F-F041-5835-3954-BD9D11DDD1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7" name="Slide Number Placeholder 2">
            <a:extLst>
              <a:ext uri="{FF2B5EF4-FFF2-40B4-BE49-F238E27FC236}">
                <a16:creationId xmlns:a16="http://schemas.microsoft.com/office/drawing/2014/main" id="{FFD79266-96A3-D472-2024-2DA68574FB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28</a:t>
            </a:fld>
            <a:endParaRPr lang="fr-FR" sz="1400" b="1" dirty="0"/>
          </a:p>
        </p:txBody>
      </p:sp>
    </p:spTree>
    <p:extLst>
      <p:ext uri="{BB962C8B-B14F-4D97-AF65-F5344CB8AC3E}">
        <p14:creationId xmlns:p14="http://schemas.microsoft.com/office/powerpoint/2010/main" val="9595206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7108C-A3BE-9F30-5F6D-AE6C160ED2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E06A84A3-244C-E4E5-16D2-E0D81E52023C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09AD8E1-E315-A065-149E-7D95BAB5C668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98F16D-9EEC-BD13-9BA6-4441C8EDBF7E}"/>
              </a:ext>
            </a:extLst>
          </p:cNvPr>
          <p:cNvSpPr txBox="1"/>
          <p:nvPr/>
        </p:nvSpPr>
        <p:spPr>
          <a:xfrm>
            <a:off x="345439" y="721360"/>
            <a:ext cx="8491113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Arial Black" panose="020B0A04020102020204" pitchFamily="34" charset="0"/>
              </a:rPr>
              <a:t>ANNEXE 5 :</a:t>
            </a:r>
            <a:r>
              <a:rPr lang="fr-FR" sz="2000" dirty="0">
                <a:latin typeface="Arial Black" panose="020B0A04020102020204" pitchFamily="34" charset="0"/>
              </a:rPr>
              <a:t> Méthodes de traitement numérique et filtrage. 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FEFF123-A369-3024-2D63-5BC511850FC0}"/>
              </a:ext>
            </a:extLst>
          </p:cNvPr>
          <p:cNvSpPr txBox="1"/>
          <p:nvPr/>
        </p:nvSpPr>
        <p:spPr>
          <a:xfrm>
            <a:off x="345440" y="1121470"/>
            <a:ext cx="8950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u="sng" dirty="0"/>
              <a:t>Comment passer de données bruitées non exploitables a des données exploitables?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3160F269-E440-1BF8-F93A-BDF8772DA1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440" y="1564631"/>
            <a:ext cx="5486411" cy="4572009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BB76C7F-A157-584F-297C-3D944A36C729}"/>
                  </a:ext>
                </a:extLst>
              </p:cNvPr>
              <p:cNvSpPr txBox="1"/>
              <p:nvPr/>
            </p:nvSpPr>
            <p:spPr>
              <a:xfrm>
                <a:off x="5951220" y="1564631"/>
                <a:ext cx="2885334" cy="39804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400" b="1" u="sng" dirty="0">
                    <a:sym typeface="Wingdings" panose="05000000000000000000" pitchFamily="2" charset="2"/>
                  </a:rPr>
                  <a:t>Filtrage par Moyenne Mobile </a:t>
                </a:r>
                <a:r>
                  <a:rPr lang="fr-FR" sz="1400" dirty="0">
                    <a:sym typeface="Wingdings" panose="05000000000000000000" pitchFamily="2" charset="2"/>
                  </a:rPr>
                  <a:t>Chaque point est la moyenne des 50 précédents et 50 suivants</a:t>
                </a: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❌ Risque de ‘’raboter’’ les pics</a:t>
                </a: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✅ Aucun déphasage</a:t>
                </a: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r>
                  <a:rPr lang="fr-FR" sz="1400" b="1" u="sng" dirty="0">
                    <a:sym typeface="Wingdings" panose="05000000000000000000" pitchFamily="2" charset="2"/>
                  </a:rPr>
                  <a:t>Filtrage numérique passe-bas</a:t>
                </a:r>
              </a:p>
              <a:p>
                <a:r>
                  <a:rPr lang="fr-FR" sz="1400" b="0" dirty="0">
                    <a:sym typeface="Wingdings" panose="05000000000000000000" pitchFamily="2" charset="2"/>
                  </a:rPr>
                  <a:t>Méthode d’Euler avec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14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H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(</m:t>
                      </m:r>
                      <m:r>
                        <m:rPr>
                          <m:sty m:val="p"/>
                        </m:rPr>
                        <a:rPr lang="fr-FR" sz="14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p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) = </m:t>
                      </m:r>
                      <m:f>
                        <m:fPr>
                          <m:ctrlPr>
                            <a:rPr lang="fr-FR" sz="1400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</m:ctrlPr>
                        </m:fPr>
                        <m:num>
                          <m:r>
                            <a:rPr lang="fr-FR" sz="1400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1</m:t>
                          </m:r>
                        </m:num>
                        <m:den>
                          <m:r>
                            <a:rPr lang="fr-FR" sz="1400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1 + </m:t>
                          </m:r>
                          <m:r>
                            <m:rPr>
                              <m:sty m:val="p"/>
                            </m:rPr>
                            <a:rPr lang="fr-FR" sz="1400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τp</m:t>
                          </m:r>
                        </m:den>
                      </m:f>
                    </m:oMath>
                  </m:oMathPara>
                </a14:m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✅ Preserve l’allure globale</a:t>
                </a: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❌ Introduit un déphasage</a:t>
                </a: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BB76C7F-A157-584F-297C-3D944A36C7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1220" y="1564631"/>
                <a:ext cx="2885334" cy="3980449"/>
              </a:xfrm>
              <a:prstGeom prst="rect">
                <a:avLst/>
              </a:prstGeom>
              <a:blipFill>
                <a:blip r:embed="rId3"/>
                <a:stretch>
                  <a:fillRect l="-633" t="-30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>
            <a:extLst>
              <a:ext uri="{FF2B5EF4-FFF2-40B4-BE49-F238E27FC236}">
                <a16:creationId xmlns:a16="http://schemas.microsoft.com/office/drawing/2014/main" id="{4EA012CD-4A4F-5077-ED00-68E3057666A1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79DF584-9CF7-B861-2268-C9DD0FDE375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Footer Placeholder 2">
              <a:extLst>
                <a:ext uri="{FF2B5EF4-FFF2-40B4-BE49-F238E27FC236}">
                  <a16:creationId xmlns:a16="http://schemas.microsoft.com/office/drawing/2014/main" id="{9E59D5D1-9929-41AC-1C69-EDEF90D47D43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9D1896C-AC65-64BB-7C08-6B7C16677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9B6FA9-743F-8037-A7E0-47BBD167FC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7" name="Slide Number Placeholder 2">
            <a:extLst>
              <a:ext uri="{FF2B5EF4-FFF2-40B4-BE49-F238E27FC236}">
                <a16:creationId xmlns:a16="http://schemas.microsoft.com/office/drawing/2014/main" id="{53CF02AC-9500-9D89-7F29-F3D529C99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29</a:t>
            </a:fld>
            <a:endParaRPr lang="fr-FR" sz="1400" b="1" dirty="0"/>
          </a:p>
        </p:txBody>
      </p:sp>
    </p:spTree>
    <p:extLst>
      <p:ext uri="{BB962C8B-B14F-4D97-AF65-F5344CB8AC3E}">
        <p14:creationId xmlns:p14="http://schemas.microsoft.com/office/powerpoint/2010/main" val="280029440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D22C5B-8D73-CCE6-C1F4-7842FE0B84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17D9F10B-2163-F771-FC03-D7518738EB0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79F3FB8-1FB5-8F1E-C164-C844ECA3D082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9B39E1-B87E-8759-1895-1DEFEB3BB07E}"/>
              </a:ext>
            </a:extLst>
          </p:cNvPr>
          <p:cNvSpPr txBox="1"/>
          <p:nvPr/>
        </p:nvSpPr>
        <p:spPr>
          <a:xfrm>
            <a:off x="345439" y="721360"/>
            <a:ext cx="8491113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Arial Black" panose="020B0A04020102020204" pitchFamily="34" charset="0"/>
              </a:rPr>
              <a:t>ANNEXE 6 :</a:t>
            </a:r>
            <a:r>
              <a:rPr lang="fr-FR" sz="2000" dirty="0">
                <a:latin typeface="Arial Black" panose="020B0A04020102020204" pitchFamily="34" charset="0"/>
              </a:rPr>
              <a:t> Algorithme de Levenberg-Marquardt.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BC72904-EEDC-1E60-1DCE-9D51B9D703C6}"/>
                  </a:ext>
                </a:extLst>
              </p:cNvPr>
              <p:cNvSpPr txBox="1"/>
              <p:nvPr/>
            </p:nvSpPr>
            <p:spPr>
              <a:xfrm>
                <a:off x="4584727" y="1127661"/>
                <a:ext cx="4264554" cy="513679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sz="1600" u="sng" dirty="0"/>
                  <a:t>Comment déterminer les valeurs des caractéristiques électriques des micros ?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fr-FR" altLang="fr-FR" sz="1400" b="1" u="sng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b="1" u="sng" dirty="0"/>
                  <a:t>Principe 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Variante de l’algorithme des moindres carrés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fr-FR" altLang="fr-FR" sz="1400" b="1" u="sng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b="1" u="sng" dirty="0"/>
                  <a:t>Combine 2 méthodes :</a:t>
                </a:r>
                <a:endParaRPr lang="fr-FR" altLang="fr-FR" sz="1400" dirty="0"/>
              </a:p>
              <a:p>
                <a:pPr marL="285750" lvl="0" indent="-28575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fr-FR" altLang="fr-FR" sz="1400" b="1" dirty="0"/>
                  <a:t>Descente de gradient</a:t>
                </a:r>
                <a:r>
                  <a:rPr lang="fr-FR" altLang="fr-FR" sz="1400" dirty="0"/>
                  <a:t> : Utilisée loin du minimum </a:t>
                </a:r>
                <a:r>
                  <a:rPr lang="fr-FR" altLang="fr-FR" sz="1400" dirty="0">
                    <a:sym typeface="Wingdings" panose="05000000000000000000" pitchFamily="2" charset="2"/>
                  </a:rPr>
                  <a:t> Stabilité</a:t>
                </a:r>
                <a:endParaRPr lang="fr-FR" altLang="fr-FR" sz="1400" dirty="0"/>
              </a:p>
              <a:p>
                <a:pPr marL="285750" lvl="0" indent="-28575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fr-FR" altLang="fr-FR" sz="1400" b="1" dirty="0"/>
                  <a:t>Méthode de Gauss-Newton</a:t>
                </a:r>
                <a:r>
                  <a:rPr lang="fr-FR" altLang="fr-FR" sz="1400" dirty="0"/>
                  <a:t> : Utilisée proche du minimum </a:t>
                </a:r>
                <a:r>
                  <a:rPr lang="fr-FR" altLang="fr-FR" sz="1400" dirty="0">
                    <a:sym typeface="Wingdings" panose="05000000000000000000" pitchFamily="2" charset="2"/>
                  </a:rPr>
                  <a:t> rapidité</a:t>
                </a:r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b="1" u="sng" dirty="0"/>
                  <a:t>Fonctionnement 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L'incrément des paramètres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altLang="fr-FR" sz="1400" b="0" i="1" smtClean="0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lang="fr-FR" altLang="fr-FR" sz="1400" dirty="0"/>
                  <a:t> est calculé par 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fr-FR" altLang="fr-FR" sz="14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fr-FR" altLang="fr-FR" sz="1400" b="0" i="1" dirty="0" smtClean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  <m:r>
                                <a:rPr lang="fr-FR" altLang="fr-FR" sz="1400" b="0" i="1" dirty="0" smtClean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m:rPr>
                                  <m:sty m:val="p"/>
                                </m:rPr>
                                <a:rPr lang="fr-FR" altLang="fr-FR" sz="1400" b="0" i="1" dirty="0" smtClean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fr-FR" altLang="fr-FR" sz="1400" b="0" i="1" dirty="0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α</m:t>
                          </m:r>
                          <m: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d>
                      <m:r>
                        <a:rPr lang="fr-FR" altLang="fr-FR" sz="1400" b="0" i="1" dirty="0" smtClean="0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fr-FR" altLang="fr-FR" sz="1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J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fr-FR" altLang="fr-FR" sz="1400" b="0" i="1" dirty="0" smtClean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fr-FR" altLang="fr-FR" sz="1400" b="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altLang="fr-FR" sz="1400" b="1" i="1" smtClean="0">
                        <a:latin typeface="Cambria Math" panose="02040503050406030204" pitchFamily="18" charset="0"/>
                      </a:rPr>
                      <m:t>J</m:t>
                    </m:r>
                  </m:oMath>
                </a14:m>
                <a:r>
                  <a:rPr lang="fr-FR" altLang="fr-FR" sz="1400" dirty="0"/>
                  <a:t> : Matrice Jacobienne </a:t>
                </a:r>
              </a:p>
              <a:p>
                <a:pPr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altLang="fr-FR" sz="1400" b="0" i="1" smtClean="0">
                        <a:latin typeface="Cambria Math" panose="02040503050406030204" pitchFamily="18" charset="0"/>
                      </a:rPr>
                      <m:t>r</m:t>
                    </m:r>
                  </m:oMath>
                </a14:m>
                <a:r>
                  <a:rPr lang="fr-FR" altLang="fr-FR" sz="1400" dirty="0"/>
                  <a:t> : Vecteur résidus : image de l’erreur</a:t>
                </a:r>
              </a:p>
              <a:p>
                <a:pPr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altLang="fr-FR" sz="1400" b="0" i="1" smtClean="0">
                        <a:latin typeface="Cambria Math" panose="02040503050406030204" pitchFamily="18" charset="0"/>
                      </a:rPr>
                      <m:t>α</m:t>
                    </m:r>
                  </m:oMath>
                </a14:m>
                <a:r>
                  <a:rPr lang="fr-FR" altLang="fr-FR" sz="1400" dirty="0"/>
                  <a:t> : Taux d’apprentissage variable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fr-FR" altLang="fr-FR" sz="14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dirty="0">
                    <a:sym typeface="Wingdings" panose="05000000000000000000" pitchFamily="2" charset="2"/>
                  </a:rPr>
                  <a:t>Si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ϵ</m:t>
                    </m:r>
                    <m:r>
                      <a:rPr lang="fr-FR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↘</m:t>
                    </m:r>
                  </m:oMath>
                </a14:m>
                <a:r>
                  <a:rPr lang="fr-FR" sz="1400" dirty="0">
                    <a:sym typeface="Wingdings" panose="05000000000000000000" pitchFamily="2" charset="2"/>
                  </a:rPr>
                  <a:t> : Gauss Newton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dirty="0">
                    <a:sym typeface="Wingdings" panose="05000000000000000000" pitchFamily="2" charset="2"/>
                  </a:rPr>
                  <a:t>Si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i="1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ϵ</m:t>
                    </m:r>
                    <m:r>
                      <a:rPr lang="fr-FR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↗</m:t>
                    </m:r>
                  </m:oMath>
                </a14:m>
                <a:r>
                  <a:rPr lang="fr-FR" sz="1400" dirty="0">
                    <a:sym typeface="Wingdings" panose="05000000000000000000" pitchFamily="2" charset="2"/>
                  </a:rPr>
                  <a:t> : Descente de Gradient </a:t>
                </a: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BC72904-EEDC-1E60-1DCE-9D51B9D703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84727" y="1127661"/>
                <a:ext cx="4264554" cy="5136791"/>
              </a:xfrm>
              <a:prstGeom prst="rect">
                <a:avLst/>
              </a:prstGeom>
              <a:blipFill>
                <a:blip r:embed="rId2"/>
                <a:stretch>
                  <a:fillRect l="-714" t="-3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" name="Group 19">
            <a:extLst>
              <a:ext uri="{FF2B5EF4-FFF2-40B4-BE49-F238E27FC236}">
                <a16:creationId xmlns:a16="http://schemas.microsoft.com/office/drawing/2014/main" id="{3A0C246C-3384-6CE8-D081-A3B270E39908}"/>
              </a:ext>
            </a:extLst>
          </p:cNvPr>
          <p:cNvGrpSpPr/>
          <p:nvPr/>
        </p:nvGrpSpPr>
        <p:grpSpPr>
          <a:xfrm>
            <a:off x="345440" y="1121469"/>
            <a:ext cx="4144114" cy="5136791"/>
            <a:chOff x="345440" y="1587720"/>
            <a:chExt cx="3617103" cy="4428906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C4C7B3D5-E778-E53F-4C95-9EB24A7DBC1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45440" y="1587720"/>
              <a:ext cx="3617103" cy="4428906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19CF46D6-4EF4-F232-FD91-E6FB90382318}"/>
                    </a:ext>
                  </a:extLst>
                </p:cNvPr>
                <p:cNvSpPr txBox="1"/>
                <p:nvPr/>
              </p:nvSpPr>
              <p:spPr>
                <a:xfrm>
                  <a:off x="1643131" y="2224466"/>
                  <a:ext cx="1021719" cy="19454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  <m: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fr-FR" sz="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fr-FR" sz="400" b="0" i="1" smtClean="0">
                                    <a:latin typeface="Cambria Math" panose="02040503050406030204" pitchFamily="18" charset="0"/>
                                  </a:rPr>
                                  <m:t>R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fr-FR" sz="400" b="0" i="1" smtClean="0">
                                    <a:latin typeface="Cambria Math" panose="02040503050406030204" pitchFamily="18" charset="0"/>
                                  </a:rPr>
                                  <m:t>p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fr-FR" sz="400" b="0" dirty="0"/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= 0.01</m:t>
                        </m:r>
                      </m:oMath>
                    </m:oMathPara>
                  </a14:m>
                  <a:endParaRPr lang="fr-FR" sz="400" b="0" dirty="0"/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ϵ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= </m:t>
                        </m:r>
                        <m:sSup>
                          <m:sSupPr>
                            <m:ctrlP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  <m:t>−7</m:t>
                            </m:r>
                          </m:sup>
                        </m:sSup>
                      </m:oMath>
                    </m:oMathPara>
                  </a14:m>
                  <a:endParaRPr lang="fr-FR" sz="40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19CF46D6-4EF4-F232-FD91-E6FB903823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43131" y="2224466"/>
                  <a:ext cx="1021719" cy="194540"/>
                </a:xfrm>
                <a:prstGeom prst="rect">
                  <a:avLst/>
                </a:prstGeom>
                <a:blipFill>
                  <a:blip r:embed="rId4"/>
                  <a:stretch>
                    <a:fillRect b="-3125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F14E73D5-40E1-FA40-17C0-BCA99FA1C91C}"/>
                    </a:ext>
                  </a:extLst>
                </p:cNvPr>
                <p:cNvSpPr txBox="1"/>
                <p:nvPr/>
              </p:nvSpPr>
              <p:spPr>
                <a:xfrm>
                  <a:off x="1655444" y="3282458"/>
                  <a:ext cx="1021719" cy="166018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:r>
                    <a:rPr lang="fr-FR" sz="400" dirty="0"/>
                    <a:t>Calcul de la descente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400" b="0" i="1" smtClean="0">
                          <a:latin typeface="Cambria Math" panose="02040503050406030204" pitchFamily="18" charset="0"/>
                        </a:rPr>
                        <m:t>δ</m:t>
                      </m:r>
                    </m:oMath>
                  </a14:m>
                  <a:r>
                    <a:rPr lang="fr-FR" sz="400" dirty="0"/>
                    <a:t> avec :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fr-FR" altLang="fr-FR" sz="4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fr-FR" altLang="fr-FR" sz="400" i="1" dirty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fr-FR" altLang="fr-FR" sz="400" i="1" dirty="0"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  <m:r>
                                  <a:rPr lang="fr-FR" altLang="fr-FR" sz="400" i="1" dirty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m:rPr>
                                    <m:sty m:val="p"/>
                                  </m:rPr>
                                  <a:rPr lang="fr-FR" altLang="fr-FR" sz="400" i="1" dirty="0"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fr-FR" altLang="fr-FR" sz="400" i="1" dirty="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p>
                            <m:r>
                              <a:rPr lang="fr-FR" altLang="fr-FR" sz="400" i="1" dirty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fr-FR" altLang="fr-FR" sz="400" i="1" dirty="0">
                                <a:latin typeface="Cambria Math" panose="02040503050406030204" pitchFamily="18" charset="0"/>
                              </a:rPr>
                              <m:t>α</m:t>
                            </m:r>
                            <m:r>
                              <a:rPr lang="fr-FR" altLang="fr-FR" sz="400" i="1" dirty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d>
                        <m:r>
                          <a:rPr lang="fr-FR" altLang="fr-FR" sz="400" i="1" dirty="0">
                            <a:latin typeface="Cambria Math" panose="02040503050406030204" pitchFamily="18" charset="0"/>
                          </a:rPr>
                          <m:t>𝛿</m:t>
                        </m:r>
                        <m:r>
                          <a:rPr lang="fr-FR" altLang="fr-FR" sz="400" i="1" dirty="0"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fr-FR" altLang="fr-FR" sz="4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altLang="fr-FR" sz="400" i="1" dirty="0">
                                <a:latin typeface="Cambria Math" panose="02040503050406030204" pitchFamily="18" charset="0"/>
                              </a:rPr>
                              <m:t>J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fr-FR" altLang="fr-FR" sz="400" i="1" dirty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p>
                        <m:r>
                          <a:rPr lang="fr-FR" altLang="fr-FR" sz="400" i="1" dirty="0">
                            <a:latin typeface="Cambria Math" panose="02040503050406030204" pitchFamily="18" charset="0"/>
                          </a:rPr>
                          <m:t>𝑟</m:t>
                        </m:r>
                      </m:oMath>
                    </m:oMathPara>
                  </a14:m>
                  <a:endParaRPr lang="fr-FR" altLang="fr-FR" sz="400" dirty="0"/>
                </a:p>
                <a:p>
                  <a:pPr algn="ctr"/>
                  <a:endParaRPr lang="fr-FR" sz="400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F14E73D5-40E1-FA40-17C0-BCA99FA1C9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55444" y="3282458"/>
                  <a:ext cx="1021719" cy="166018"/>
                </a:xfrm>
                <a:prstGeom prst="rect">
                  <a:avLst/>
                </a:prstGeom>
                <a:blipFill>
                  <a:blip r:embed="rId5"/>
                  <a:stretch>
                    <a:fillRect t="-9375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41B9F17A-A7C1-8129-26C5-CCE20D05D2F8}"/>
                    </a:ext>
                  </a:extLst>
                </p:cNvPr>
                <p:cNvSpPr txBox="1"/>
                <p:nvPr/>
              </p:nvSpPr>
              <p:spPr>
                <a:xfrm>
                  <a:off x="1655445" y="3793974"/>
                  <a:ext cx="1021719" cy="12311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4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  <m:t>new</m:t>
                            </m:r>
                          </m:sub>
                        </m:sSub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= </m:t>
                        </m:r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 + </m:t>
                        </m:r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fr-FR" sz="400" b="0" i="1" dirty="0">
                    <a:latin typeface="Cambria Math" panose="02040503050406030204" pitchFamily="18" charset="0"/>
                  </a:endParaRPr>
                </a:p>
                <a:p>
                  <a:pPr algn="ctr"/>
                  <a:r>
                    <a:rPr lang="fr-FR" sz="400" dirty="0"/>
                    <a:t>Calcul du nouveau coût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fr-FR" sz="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sz="400" b="0" i="1" dirty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sz="400" b="0" i="1" dirty="0" smtClean="0">
                              <a:latin typeface="Cambria Math" panose="02040503050406030204" pitchFamily="18" charset="0"/>
                            </a:rPr>
                            <m:t>new</m:t>
                          </m:r>
                        </m:sub>
                      </m:sSub>
                    </m:oMath>
                  </a14:m>
                  <a:endParaRPr lang="fr-FR" sz="400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41B9F17A-A7C1-8129-26C5-CCE20D05D2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55445" y="3793974"/>
                  <a:ext cx="1021719" cy="123111"/>
                </a:xfrm>
                <a:prstGeom prst="rect">
                  <a:avLst/>
                </a:prstGeom>
                <a:blipFill>
                  <a:blip r:embed="rId6"/>
                  <a:stretch>
                    <a:fillRect b="-2381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01EB7C6A-82BF-6C18-30B1-C4455754628B}"/>
                    </a:ext>
                  </a:extLst>
                </p:cNvPr>
                <p:cNvSpPr txBox="1"/>
                <p:nvPr/>
              </p:nvSpPr>
              <p:spPr>
                <a:xfrm>
                  <a:off x="1770064" y="4267912"/>
                  <a:ext cx="792480" cy="61555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4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  <m:t>new</m:t>
                            </m:r>
                          </m:sub>
                        </m:sSub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&lt; </m:t>
                        </m:r>
                        <m:r>
                          <m:rPr>
                            <m:sty m:val="p"/>
                          </m:rP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S</m:t>
                        </m:r>
                      </m:oMath>
                    </m:oMathPara>
                  </a14:m>
                  <a:endParaRPr lang="fr-FR" sz="400" b="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01EB7C6A-82BF-6C18-30B1-C445575462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70064" y="4267912"/>
                  <a:ext cx="792480" cy="61555"/>
                </a:xfrm>
                <a:prstGeom prst="rect">
                  <a:avLst/>
                </a:prstGeom>
                <a:blipFill>
                  <a:blip r:embed="rId7"/>
                  <a:stretch>
                    <a:fillRect b="-30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6B82192-B64C-FB73-EDE5-4E4226E3663C}"/>
                    </a:ext>
                  </a:extLst>
                </p:cNvPr>
                <p:cNvSpPr txBox="1"/>
                <p:nvPr/>
              </p:nvSpPr>
              <p:spPr>
                <a:xfrm>
                  <a:off x="822961" y="4818364"/>
                  <a:ext cx="792480" cy="12311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40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 = </m:t>
                        </m:r>
                        <m:sSub>
                          <m:sSubPr>
                            <m:ctrl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  <m:t>new</m:t>
                            </m:r>
                          </m:sub>
                        </m:sSub>
                      </m:oMath>
                    </m:oMathPara>
                  </a14:m>
                  <a:endParaRPr lang="fr-FR" sz="400" i="1" dirty="0"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α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α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/ </m:t>
                        </m:r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v</m:t>
                        </m:r>
                      </m:oMath>
                    </m:oMathPara>
                  </a14:m>
                  <a:endParaRPr lang="fr-FR" sz="400" b="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6B82192-B64C-FB73-EDE5-4E4226E366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2961" y="4818364"/>
                  <a:ext cx="792480" cy="123111"/>
                </a:xfrm>
                <a:prstGeom prst="rect">
                  <a:avLst/>
                </a:prstGeom>
                <a:blipFill>
                  <a:blip r:embed="rId8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A35FB794-C1DA-068F-4A78-56EE092FA55F}"/>
                    </a:ext>
                  </a:extLst>
                </p:cNvPr>
                <p:cNvSpPr txBox="1"/>
                <p:nvPr/>
              </p:nvSpPr>
              <p:spPr>
                <a:xfrm>
                  <a:off x="2716531" y="4852144"/>
                  <a:ext cx="792480" cy="61555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α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α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v</m:t>
                        </m:r>
                      </m:oMath>
                    </m:oMathPara>
                  </a14:m>
                  <a:endParaRPr lang="fr-FR" sz="400" b="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A35FB794-C1DA-068F-4A78-56EE092FA5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16531" y="4852144"/>
                  <a:ext cx="792480" cy="61555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5D85D38D-5906-CE92-16D5-20B4131E9EAF}"/>
                    </a:ext>
                  </a:extLst>
                </p:cNvPr>
                <p:cNvSpPr txBox="1"/>
                <p:nvPr/>
              </p:nvSpPr>
              <p:spPr>
                <a:xfrm>
                  <a:off x="822961" y="5301827"/>
                  <a:ext cx="792480" cy="61555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400" i="1" dirty="0" smtClean="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&lt; </m:t>
                        </m:r>
                        <m:r>
                          <m:rPr>
                            <m:sty m:val="p"/>
                          </m:rP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ϵ</m:t>
                        </m:r>
                      </m:oMath>
                    </m:oMathPara>
                  </a14:m>
                  <a:endParaRPr lang="fr-FR" sz="400" b="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5D85D38D-5906-CE92-16D5-20B4131E9E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2961" y="5301827"/>
                  <a:ext cx="792480" cy="61555"/>
                </a:xfrm>
                <a:prstGeom prst="rect">
                  <a:avLst/>
                </a:prstGeom>
                <a:blipFill>
                  <a:blip r:embed="rId10"/>
                  <a:stretch>
                    <a:fillRect b="-20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A1E15DCC-C532-6C84-21FE-198EF6A38693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D293FA2D-845E-3E47-013D-1745D6C5C342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3" name="Footer Placeholder 2">
              <a:extLst>
                <a:ext uri="{FF2B5EF4-FFF2-40B4-BE49-F238E27FC236}">
                  <a16:creationId xmlns:a16="http://schemas.microsoft.com/office/drawing/2014/main" id="{F8F13FDA-57A2-A33C-17C0-BF32E05AA341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AEDD2F4-E77C-25A5-7094-7F3E5421AE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A39E5A-CB2D-FAE2-094C-0422750E20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AA470294-45FF-68BE-A857-497FECCCF0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30</a:t>
            </a:fld>
            <a:endParaRPr lang="fr-FR" sz="1400" b="1" dirty="0"/>
          </a:p>
        </p:txBody>
      </p:sp>
    </p:spTree>
    <p:extLst>
      <p:ext uri="{BB962C8B-B14F-4D97-AF65-F5344CB8AC3E}">
        <p14:creationId xmlns:p14="http://schemas.microsoft.com/office/powerpoint/2010/main" val="91325337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23032B-5CBA-D58B-6BE3-2ED288DB3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DD7F8ED1-3EF2-8A6F-4CB4-0CF972E8B4D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C3105C7-994D-34E1-D1CE-ED0E36ED91C8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09C9AA1-328D-AAD8-510E-EFF1E2B2A387}"/>
              </a:ext>
            </a:extLst>
          </p:cNvPr>
          <p:cNvSpPr txBox="1"/>
          <p:nvPr/>
        </p:nvSpPr>
        <p:spPr>
          <a:xfrm>
            <a:off x="345440" y="1121470"/>
            <a:ext cx="8950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u="sng" dirty="0"/>
              <a:t>Comment déterminer les valeurs des caractéristiques électriques des micros ?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80023245-9CE3-A4CE-BCE1-4AF643DD4C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45440" y="1564631"/>
            <a:ext cx="5486411" cy="4572009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5537C42-FFED-9697-1F46-86E067148514}"/>
                  </a:ext>
                </a:extLst>
              </p:cNvPr>
              <p:cNvSpPr txBox="1"/>
              <p:nvPr/>
            </p:nvSpPr>
            <p:spPr>
              <a:xfrm>
                <a:off x="5951220" y="1564631"/>
                <a:ext cx="2885334" cy="452207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Le calcul des résidus se fait par 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1400" i="1">
                          <a:latin typeface="Cambria Math" panose="02040503050406030204" pitchFamily="18" charset="0"/>
                        </a:rPr>
                        <m:t>r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m:rPr>
                                  <m:sty m:val="p"/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ist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w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1, </m:t>
                              </m:r>
                              <m:acc>
                                <m:accPr>
                                  <m:chr m:val="̃"/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w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acc>
                              <m:r>
                                <m:rPr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m:rPr>
                                  <m:sty m:val="p"/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ist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w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2, </m:t>
                              </m:r>
                              <m:acc>
                                <m:accPr>
                                  <m:chr m:val="̃"/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w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acc>
                              <m:r>
                                <m:rPr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...</m:t>
                              </m:r>
                            </m:e>
                            <m:e>
                              <m:r>
                                <m:rPr>
                                  <m:sty m:val="p"/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ist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wn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acc>
                                <m:accPr>
                                  <m:chr m:val="̃"/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wn</m:t>
                                  </m:r>
                                </m:e>
                              </m:acc>
                              <m:r>
                                <m:rPr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Le calcul du coût se fait par 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altLang="fr-FR" sz="1400" b="0" i="1" smtClean="0">
                          <a:latin typeface="Cambria Math" panose="02040503050406030204" pitchFamily="18" charset="0"/>
                        </a:rPr>
                        <m:t>S</m:t>
                      </m:r>
                      <m:r>
                        <a:rPr lang="fr-FR" altLang="fr-FR" sz="1400" b="0" i="1" smtClean="0">
                          <a:latin typeface="Cambria Math" panose="02040503050406030204" pitchFamily="18" charset="0"/>
                        </a:rPr>
                        <m:t> = </m:t>
                      </m:r>
                      <m:nary>
                        <m:naryPr>
                          <m:chr m:val="∑"/>
                          <m:limLoc m:val="subSup"/>
                          <m:ctrlPr>
                            <a:rPr lang="fr-FR" altLang="fr-FR" sz="1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5"/>
                            </m:rPr>
                            <a:rPr lang="fr-FR" altLang="fr-FR" sz="1400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fr-FR" altLang="fr-FR" sz="1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fr-FR" altLang="fr-FR" sz="1400" b="0" i="1" smtClean="0">
                              <a:latin typeface="Cambria Math" panose="02040503050406030204" pitchFamily="18" charset="0"/>
                            </a:rPr>
                            <m:t>n</m:t>
                          </m:r>
                        </m:sup>
                        <m:e>
                          <m:sSubSup>
                            <m:sSubSupPr>
                              <m:ctrlPr>
                                <a:rPr lang="fr-FR" alt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fr-FR" altLang="fr-FR" sz="1400" b="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altLang="fr-FR" sz="1400" b="0" i="1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  <m:sup>
                              <m:r>
                                <a:rPr lang="fr-FR" altLang="fr-FR" sz="1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nary>
                    </m:oMath>
                  </m:oMathPara>
                </a14:m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L'incrément des paramètres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altLang="fr-FR" sz="1400" i="1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lang="fr-FR" altLang="fr-FR" sz="1400" dirty="0"/>
                  <a:t> est calculé par 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fr-FR" altLang="fr-FR" sz="1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fr-FR" altLang="fr-FR" sz="1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fr-FR" altLang="fr-FR" sz="1400" i="1" dirty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  <m:r>
                                <a:rPr lang="fr-FR" altLang="fr-FR" sz="1400" i="1" dirty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m:rPr>
                                  <m:sty m:val="p"/>
                                </m:rPr>
                                <a:rPr lang="fr-FR" altLang="fr-FR" sz="1400" i="1" dirty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fr-FR" altLang="fr-FR" sz="1400" i="1" dirty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r>
                            <a:rPr lang="fr-FR" altLang="fr-FR" sz="1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fr-FR" altLang="fr-FR" sz="1400" i="1" dirty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fr-FR" altLang="fr-FR" sz="1400" i="1" dirty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d>
                      <m:r>
                        <a:rPr lang="fr-FR" altLang="fr-FR" sz="1400" i="1" dirty="0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fr-FR" altLang="fr-FR" sz="1400" i="1" dirty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altLang="fr-FR" sz="1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fr-FR" altLang="fr-FR" sz="1400" i="1" dirty="0">
                              <a:latin typeface="Cambria Math" panose="02040503050406030204" pitchFamily="18" charset="0"/>
                            </a:rPr>
                            <m:t>J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fr-FR" altLang="fr-FR" sz="1400" i="1" dirty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fr-FR" altLang="fr-FR" sz="1400" i="1" dirty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Avec :</a:t>
                </a:r>
              </a:p>
              <a:p>
                <a:pPr algn="ctr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i="1">
                        <a:latin typeface="Cambria Math" panose="02040503050406030204" pitchFamily="18" charset="0"/>
                      </a:rPr>
                      <m:t>J</m:t>
                    </m:r>
                    <m:r>
                      <a:rPr lang="fr-FR" sz="14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fr-FR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fr-FR" sz="14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f>
                                <m:f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brk m:alnAt="7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1)</m:t>
                                  </m:r>
                                </m:num>
                                <m:den>
                                  <m:r>
                                    <m:rPr>
                                      <m:brk m:alnAt="7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L</m:t>
                                  </m:r>
                                </m:den>
                              </m:f>
                            </m:e>
                            <m:e>
                              <m:f>
                                <m:f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brk m:alnAt="7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1)</m:t>
                                  </m:r>
                                </m:num>
                                <m:den>
                                  <m:r>
                                    <m:rPr>
                                      <m:brk m:alnAt="7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C</m:t>
                                  </m:r>
                                </m:den>
                              </m:f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     </m:t>
                              </m:r>
                            </m:e>
                          </m:mr>
                          <m:mr>
                            <m:e>
                              <m:eqArr>
                                <m:eqArr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f>
                                    <m:fPr>
                                      <m:ctrl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Z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2)</m:t>
                                      </m:r>
                                    </m:num>
                                    <m:den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L</m:t>
                                      </m:r>
                                    </m:den>
                                  </m:f>
                                </m:e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...</m:t>
                                  </m:r>
                                </m:e>
                                <m:e>
                                  <m:f>
                                    <m:fPr>
                                      <m:ctrl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Z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ωn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num>
                                    <m:den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L</m:t>
                                      </m:r>
                                    </m:den>
                                  </m:f>
                                </m:e>
                              </m:eqArr>
                            </m:e>
                            <m:e>
                              <m:eqArr>
                                <m:eqArr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f>
                                    <m:fPr>
                                      <m:ctrl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Z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2)</m:t>
                                      </m:r>
                                    </m:num>
                                    <m:den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L</m:t>
                                      </m:r>
                                    </m:den>
                                  </m:f>
                                </m:e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...</m:t>
                                  </m:r>
                                </m:e>
                                <m:e>
                                  <m:f>
                                    <m:fPr>
                                      <m:ctrl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Z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ωn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num>
                                    <m:den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L</m:t>
                                      </m:r>
                                    </m:den>
                                  </m:f>
                                </m:e>
                              </m:eqArr>
                            </m:e>
                          </m:mr>
                        </m:m>
                        <m:eqArr>
                          <m:eqArrPr>
                            <m:ctrlPr>
                              <a:rPr lang="fr-FR" sz="1400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f>
                              <m:fPr>
                                <m:ctrl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ω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1)</m:t>
                                </m:r>
                              </m:num>
                              <m:den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R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p</m:t>
                                    </m:r>
                                  </m:sub>
                                </m:sSub>
                              </m:den>
                            </m:f>
                          </m:e>
                          <m:e>
                            <m:f>
                              <m:fPr>
                                <m:ctrl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ω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2)</m:t>
                                </m:r>
                              </m:num>
                              <m:den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R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p</m:t>
                                    </m:r>
                                  </m:sub>
                                </m:sSub>
                              </m:den>
                            </m:f>
                          </m:e>
                          <m:e>
                            <m:r>
                              <a:rPr lang="fr-FR" sz="1400" i="1">
                                <a:latin typeface="Cambria Math" panose="02040503050406030204" pitchFamily="18" charset="0"/>
                              </a:rPr>
                              <m:t>...</m:t>
                            </m:r>
                          </m:e>
                          <m:e>
                            <m:f>
                              <m:fPr>
                                <m:ctrl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ωn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num>
                              <m:den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R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p</m:t>
                                    </m:r>
                                  </m:sub>
                                </m:sSub>
                              </m:den>
                            </m:f>
                          </m:e>
                        </m:eqArr>
                      </m:e>
                    </m:d>
                  </m:oMath>
                </a14:m>
                <a:endParaRPr lang="fr-FR" altLang="fr-FR" sz="14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5537C42-FFED-9697-1F46-86E0671485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1220" y="1564631"/>
                <a:ext cx="2885334" cy="4522072"/>
              </a:xfrm>
              <a:prstGeom prst="rect">
                <a:avLst/>
              </a:prstGeom>
              <a:blipFill>
                <a:blip r:embed="rId3"/>
                <a:stretch>
                  <a:fillRect l="-633" t="-270" r="-2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>
            <a:extLst>
              <a:ext uri="{FF2B5EF4-FFF2-40B4-BE49-F238E27FC236}">
                <a16:creationId xmlns:a16="http://schemas.microsoft.com/office/drawing/2014/main" id="{25A23E38-AFFC-1314-34D8-5F474D741D97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194ED3C-0189-70F2-3340-35139884ACBA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Footer Placeholder 2">
              <a:extLst>
                <a:ext uri="{FF2B5EF4-FFF2-40B4-BE49-F238E27FC236}">
                  <a16:creationId xmlns:a16="http://schemas.microsoft.com/office/drawing/2014/main" id="{AD4961CD-E048-EDA5-4913-3A2CD9E86F6A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58A788DD-EA1A-EA9F-38E6-52FFF6B6EB98}"/>
              </a:ext>
            </a:extLst>
          </p:cNvPr>
          <p:cNvSpPr txBox="1"/>
          <p:nvPr/>
        </p:nvSpPr>
        <p:spPr>
          <a:xfrm>
            <a:off x="345439" y="721360"/>
            <a:ext cx="8491113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Arial Black" panose="020B0A04020102020204" pitchFamily="34" charset="0"/>
              </a:rPr>
              <a:t>ANNEXE 6 :</a:t>
            </a:r>
            <a:r>
              <a:rPr lang="fr-FR" sz="2000" dirty="0">
                <a:latin typeface="Arial Black" panose="020B0A04020102020204" pitchFamily="34" charset="0"/>
              </a:rPr>
              <a:t> Algorithme de Levenberg-Marquardt. 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F050684-55AE-30B3-6EA6-ACE246C3CA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5A15F5-E718-DC1B-82DA-0E9D49D7A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7" name="Slide Number Placeholder 2">
            <a:extLst>
              <a:ext uri="{FF2B5EF4-FFF2-40B4-BE49-F238E27FC236}">
                <a16:creationId xmlns:a16="http://schemas.microsoft.com/office/drawing/2014/main" id="{48BAF221-99AE-4F1E-A6F4-87FA14E5D2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31</a:t>
            </a:fld>
            <a:endParaRPr lang="fr-FR" sz="1400" b="1" dirty="0"/>
          </a:p>
        </p:txBody>
      </p:sp>
    </p:spTree>
    <p:extLst>
      <p:ext uri="{BB962C8B-B14F-4D97-AF65-F5344CB8AC3E}">
        <p14:creationId xmlns:p14="http://schemas.microsoft.com/office/powerpoint/2010/main" val="355817200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C1AB9-AA17-A289-4177-5B57B838A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80EEE6E3-6825-09CC-8862-418DD007C637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05990FB-38EB-5B30-B3B4-746837CB7A82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51DE8E9-33F3-561B-57C9-2E08CDBD205D}"/>
              </a:ext>
            </a:extLst>
          </p:cNvPr>
          <p:cNvSpPr txBox="1"/>
          <p:nvPr/>
        </p:nvSpPr>
        <p:spPr>
          <a:xfrm>
            <a:off x="345440" y="721360"/>
            <a:ext cx="8626172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Arial Black" panose="020B0A04020102020204" pitchFamily="34" charset="0"/>
              </a:rPr>
              <a:t>ANNEXE 7 :</a:t>
            </a:r>
            <a:r>
              <a:rPr lang="fr-FR" sz="2000" dirty="0">
                <a:latin typeface="Arial Black" panose="020B0A04020102020204" pitchFamily="34" charset="0"/>
              </a:rPr>
              <a:t> Analyse des échecs et difficultés rencontrées.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EAE53AF-2DFC-2830-AB17-39F8A9CFCD3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  <a14:imgEffect>
                      <a14:brightnessContrast brigh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3" t="21864" r="1" b="35960"/>
          <a:stretch>
            <a:fillRect/>
          </a:stretch>
        </p:blipFill>
        <p:spPr>
          <a:xfrm>
            <a:off x="345440" y="1220122"/>
            <a:ext cx="8626173" cy="4852222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7CF1BFFB-993D-B165-6DEA-A362856BAE78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AC24DCD0-D770-6EEC-A98D-F0CAB5B4CAB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" name="Footer Placeholder 2">
              <a:extLst>
                <a:ext uri="{FF2B5EF4-FFF2-40B4-BE49-F238E27FC236}">
                  <a16:creationId xmlns:a16="http://schemas.microsoft.com/office/drawing/2014/main" id="{5180DDD7-F016-DA17-C609-C7473F9858DD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666F482-7CE7-8509-6D95-51F11BB550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0AA350-68D0-F903-69F4-2B53C0EEB8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6863E7E1-64AC-F902-58A5-185AD2049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32</a:t>
            </a:fld>
            <a:endParaRPr lang="fr-FR" sz="1400" b="1" dirty="0"/>
          </a:p>
        </p:txBody>
      </p:sp>
    </p:spTree>
    <p:extLst>
      <p:ext uri="{BB962C8B-B14F-4D97-AF65-F5344CB8AC3E}">
        <p14:creationId xmlns:p14="http://schemas.microsoft.com/office/powerpoint/2010/main" val="174458006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F6F1A6-7284-DDB9-89E2-31D242A16F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3AD740C7-6183-2A85-C9EE-E8A2AE58902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A0915BC-9847-71E7-29FD-55679B3E5BA2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259B488-EBE7-4249-E492-60486C906D2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500" b="12500"/>
          <a:stretch>
            <a:fillRect/>
          </a:stretch>
        </p:blipFill>
        <p:spPr>
          <a:xfrm>
            <a:off x="345439" y="1390254"/>
            <a:ext cx="8472117" cy="4765566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2882774D-4E1C-DAB6-0335-8D40E09BBD17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5AA2265-51F0-27F3-BB79-D4CFB818BDD8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Footer Placeholder 2">
              <a:extLst>
                <a:ext uri="{FF2B5EF4-FFF2-40B4-BE49-F238E27FC236}">
                  <a16:creationId xmlns:a16="http://schemas.microsoft.com/office/drawing/2014/main" id="{9363F4C3-D089-5724-B3D9-349343B259F6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770782AE-74D3-0F0B-3667-FBE7C228BE64}"/>
              </a:ext>
            </a:extLst>
          </p:cNvPr>
          <p:cNvSpPr txBox="1"/>
          <p:nvPr/>
        </p:nvSpPr>
        <p:spPr>
          <a:xfrm>
            <a:off x="345440" y="721360"/>
            <a:ext cx="8626172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Arial Black" panose="020B0A04020102020204" pitchFamily="34" charset="0"/>
              </a:rPr>
              <a:t>ANNEXE 7 :</a:t>
            </a:r>
            <a:r>
              <a:rPr lang="fr-FR" sz="2000" dirty="0">
                <a:latin typeface="Arial Black" panose="020B0A04020102020204" pitchFamily="34" charset="0"/>
              </a:rPr>
              <a:t> Analyse des échecs et difficultés rencontrées.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F164E6C-B55D-DF40-A88D-C505A06585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1FE1E5-76CD-C1BE-3624-1818D0A4A0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4AAEB506-DFD5-ADA6-C407-25C436AFDB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33</a:t>
            </a:fld>
            <a:endParaRPr lang="fr-FR" sz="1400" b="1" dirty="0"/>
          </a:p>
        </p:txBody>
      </p:sp>
    </p:spTree>
    <p:extLst>
      <p:ext uri="{BB962C8B-B14F-4D97-AF65-F5344CB8AC3E}">
        <p14:creationId xmlns:p14="http://schemas.microsoft.com/office/powerpoint/2010/main" val="341068345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C127E-D68A-C4C9-C086-9738F9D58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3FFEE79-B6D9-7DF1-77AC-A2F39E7FB47B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33E4F10-BA31-FD17-A59D-7CAA4E904982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D5C8C20-B7ED-6551-4D0E-60F6CE1EF6AF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217269F-89D7-F4AD-528B-4C77B6A952CC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Footer Placeholder 2">
              <a:extLst>
                <a:ext uri="{FF2B5EF4-FFF2-40B4-BE49-F238E27FC236}">
                  <a16:creationId xmlns:a16="http://schemas.microsoft.com/office/drawing/2014/main" id="{D4433DFC-2955-CE03-9169-35729454E671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E4D36202-B3E5-243C-14C2-48434A7DE7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66000"/>
                    </a14:imgEffect>
                  </a14:imgLayer>
                </a14:imgProps>
              </a:ext>
            </a:extLst>
          </a:blip>
          <a:srcRect l="19282" r="1566" b="8689"/>
          <a:stretch>
            <a:fillRect/>
          </a:stretch>
        </p:blipFill>
        <p:spPr>
          <a:xfrm rot="16200000">
            <a:off x="2548484" y="118160"/>
            <a:ext cx="4047032" cy="6591221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54A7F794-6E33-A78A-72E0-E2362439015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200000"/>
                    </a14:imgEffect>
                    <a14:imgEffect>
                      <a14:brightnessContrast contrast="20000"/>
                    </a14:imgEffect>
                  </a14:imgLayer>
                </a14:imgProps>
              </a:ext>
            </a:extLst>
          </a:blip>
          <a:srcRect l="14914" t="11121" r="5635" b="30934"/>
          <a:stretch>
            <a:fillRect/>
          </a:stretch>
        </p:blipFill>
        <p:spPr>
          <a:xfrm>
            <a:off x="5973557" y="4628840"/>
            <a:ext cx="2844000" cy="1556934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42B486F-873B-1C92-486F-11C77678697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3810" t="15900" r="12423" b="27097"/>
          <a:stretch>
            <a:fillRect/>
          </a:stretch>
        </p:blipFill>
        <p:spPr>
          <a:xfrm>
            <a:off x="514606" y="4628840"/>
            <a:ext cx="2880000" cy="153300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7EF5D67B-65B9-DD8F-74B1-81A310AE71D3}"/>
              </a:ext>
            </a:extLst>
          </p:cNvPr>
          <p:cNvSpPr/>
          <p:nvPr/>
        </p:nvSpPr>
        <p:spPr>
          <a:xfrm>
            <a:off x="1379095" y="1466054"/>
            <a:ext cx="1499017" cy="1345451"/>
          </a:xfrm>
          <a:prstGeom prst="rect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8D180F4-F1E8-39AD-1FE1-134753F82E8C}"/>
              </a:ext>
            </a:extLst>
          </p:cNvPr>
          <p:cNvSpPr txBox="1"/>
          <p:nvPr/>
        </p:nvSpPr>
        <p:spPr>
          <a:xfrm>
            <a:off x="345440" y="721360"/>
            <a:ext cx="8626172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Arial Black" panose="020B0A04020102020204" pitchFamily="34" charset="0"/>
              </a:rPr>
              <a:t>ANNEXE 7 :</a:t>
            </a:r>
            <a:r>
              <a:rPr lang="fr-FR" sz="2000" dirty="0">
                <a:latin typeface="Arial Black" panose="020B0A04020102020204" pitchFamily="34" charset="0"/>
              </a:rPr>
              <a:t> Analyse des échecs et difficultés rencontrées.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0C3DF99-7669-2863-A6C8-AC7C73BAA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7C8A0D-90FE-540A-ED6A-722FEACD56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A61E94F5-3095-0797-0C4B-2D974D1535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34</a:t>
            </a:fld>
            <a:endParaRPr lang="fr-FR" sz="1400" b="1" dirty="0"/>
          </a:p>
        </p:txBody>
      </p:sp>
    </p:spTree>
    <p:extLst>
      <p:ext uri="{BB962C8B-B14F-4D97-AF65-F5344CB8AC3E}">
        <p14:creationId xmlns:p14="http://schemas.microsoft.com/office/powerpoint/2010/main" val="1029642075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Blue Warm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2659</Words>
  <Application>Microsoft Office PowerPoint</Application>
  <PresentationFormat>On-screen Show (4:3)</PresentationFormat>
  <Paragraphs>691</Paragraphs>
  <Slides>34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0" baseType="lpstr">
      <vt:lpstr>Arial</vt:lpstr>
      <vt:lpstr>Arial Black</vt:lpstr>
      <vt:lpstr>Calibri</vt:lpstr>
      <vt:lpstr>Cambria Math</vt:lpstr>
      <vt:lpstr>Wingdings</vt:lpstr>
      <vt:lpstr>Retrospect</vt:lpstr>
      <vt:lpstr>Guitare électrique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SOMMAIRE</vt:lpstr>
      <vt:lpstr>THEORIE</vt:lpstr>
      <vt:lpstr>PowerPoint Presentation</vt:lpstr>
      <vt:lpstr>PowerPoint Presentation</vt:lpstr>
      <vt:lpstr>PowerPoint Presentation</vt:lpstr>
      <vt:lpstr>THEORIE</vt:lpstr>
      <vt:lpstr>PowerPoint Presentation</vt:lpstr>
      <vt:lpstr>PowerPoint Presentation</vt:lpstr>
      <vt:lpstr>PowerPoint Presentation</vt:lpstr>
      <vt:lpstr>PowerPoint Presentation</vt:lpstr>
      <vt:lpstr>THEORIE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Christophe MOREL</dc:creator>
  <cp:lastModifiedBy>Christophe MOREL</cp:lastModifiedBy>
  <cp:revision>805</cp:revision>
  <dcterms:created xsi:type="dcterms:W3CDTF">2025-06-09T15:35:56Z</dcterms:created>
  <dcterms:modified xsi:type="dcterms:W3CDTF">2026-03-09T10:25:39Z</dcterms:modified>
</cp:coreProperties>
</file>