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39"/>
  </p:notesMasterIdLst>
  <p:sldIdLst>
    <p:sldId id="256" r:id="rId2"/>
    <p:sldId id="340" r:id="rId3"/>
    <p:sldId id="338" r:id="rId4"/>
    <p:sldId id="380" r:id="rId5"/>
    <p:sldId id="335" r:id="rId6"/>
    <p:sldId id="337" r:id="rId7"/>
    <p:sldId id="336" r:id="rId8"/>
    <p:sldId id="265" r:id="rId9"/>
    <p:sldId id="374" r:id="rId10"/>
    <p:sldId id="363" r:id="rId11"/>
    <p:sldId id="356" r:id="rId12"/>
    <p:sldId id="345" r:id="rId13"/>
    <p:sldId id="346" r:id="rId14"/>
    <p:sldId id="360" r:id="rId15"/>
    <p:sldId id="362" r:id="rId16"/>
    <p:sldId id="329" r:id="rId17"/>
    <p:sldId id="382" r:id="rId18"/>
    <p:sldId id="333" r:id="rId19"/>
    <p:sldId id="361" r:id="rId20"/>
    <p:sldId id="324" r:id="rId21"/>
    <p:sldId id="313" r:id="rId22"/>
    <p:sldId id="383" r:id="rId23"/>
    <p:sldId id="378" r:id="rId24"/>
    <p:sldId id="379" r:id="rId25"/>
    <p:sldId id="330" r:id="rId26"/>
    <p:sldId id="303" r:id="rId27"/>
    <p:sldId id="271" r:id="rId28"/>
    <p:sldId id="302" r:id="rId29"/>
    <p:sldId id="348" r:id="rId30"/>
    <p:sldId id="277" r:id="rId31"/>
    <p:sldId id="305" r:id="rId32"/>
    <p:sldId id="365" r:id="rId33"/>
    <p:sldId id="370" r:id="rId34"/>
    <p:sldId id="368" r:id="rId35"/>
    <p:sldId id="372" r:id="rId36"/>
    <p:sldId id="373" r:id="rId37"/>
    <p:sldId id="384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5"/>
    <a:srgbClr val="38903A"/>
    <a:srgbClr val="559AD7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975" autoAdjust="0"/>
  </p:normalViewPr>
  <p:slideViewPr>
    <p:cSldViewPr snapToGrid="0">
      <p:cViewPr varScale="1">
        <p:scale>
          <a:sx n="102" d="100"/>
          <a:sy n="102" d="100"/>
        </p:scale>
        <p:origin x="10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B8181-43EA-4C6C-8C7F-7942035F0720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91212D5D-B364-44BA-9771-63E526DCA0A1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50M</a:t>
          </a:r>
          <a:endParaRPr lang="fr-FR" sz="5400" dirty="0">
            <a:latin typeface="Arial Black" panose="020B0A04020102020204" pitchFamily="34" charset="0"/>
          </a:endParaRPr>
        </a:p>
      </dgm:t>
    </dgm:pt>
    <dgm:pt modelId="{FC78DAE6-83E5-4BC1-AC49-428A15180E75}" type="parTrans" cxnId="{0485C7B9-46CA-4C0E-96B3-8FFF5F37DD6A}">
      <dgm:prSet/>
      <dgm:spPr/>
      <dgm:t>
        <a:bodyPr/>
        <a:lstStyle/>
        <a:p>
          <a:endParaRPr lang="fr-FR"/>
        </a:p>
      </dgm:t>
    </dgm:pt>
    <dgm:pt modelId="{D781E287-DBE3-4186-9876-37AE3B390319}" type="sibTrans" cxnId="{0485C7B9-46CA-4C0E-96B3-8FFF5F37DD6A}">
      <dgm:prSet/>
      <dgm:spPr/>
      <dgm:t>
        <a:bodyPr/>
        <a:lstStyle/>
        <a:p>
          <a:endParaRPr lang="fr-FR"/>
        </a:p>
      </dgm:t>
    </dgm:pt>
    <dgm:pt modelId="{E5137407-CC18-4373-B384-F7A66AF869B6}">
      <dgm:prSet phldrT="[Text]" phldr="0" custT="1"/>
      <dgm:spPr/>
      <dgm:t>
        <a:bodyPr/>
        <a:lstStyle/>
        <a:p>
          <a:r>
            <a:rPr lang="fr-FR" sz="1800" dirty="0"/>
            <a:t>Nombre de guitare estimé dans le monde</a:t>
          </a:r>
        </a:p>
      </dgm:t>
    </dgm:pt>
    <dgm:pt modelId="{F5863376-7605-42DC-B58D-060041DC79FF}" type="parTrans" cxnId="{AD0029D9-5E4E-4AD7-A0EC-A4368455A356}">
      <dgm:prSet/>
      <dgm:spPr/>
      <dgm:t>
        <a:bodyPr/>
        <a:lstStyle/>
        <a:p>
          <a:endParaRPr lang="fr-FR"/>
        </a:p>
      </dgm:t>
    </dgm:pt>
    <dgm:pt modelId="{504827BD-EDE8-4FEA-B41A-5C51374DAF4F}" type="sibTrans" cxnId="{AD0029D9-5E4E-4AD7-A0EC-A4368455A356}">
      <dgm:prSet/>
      <dgm:spPr/>
      <dgm:t>
        <a:bodyPr/>
        <a:lstStyle/>
        <a:p>
          <a:endParaRPr lang="fr-FR"/>
        </a:p>
      </dgm:t>
    </dgm:pt>
    <dgm:pt modelId="{AB389A4B-81CD-47F4-AC53-77C6CCDA77CA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10,3B</a:t>
          </a:r>
        </a:p>
      </dgm:t>
    </dgm:pt>
    <dgm:pt modelId="{1957A227-B175-4033-8F1D-F1C3A49DEBE5}" type="parTrans" cxnId="{C1AEFF4B-406F-4617-A89D-BA61E379F596}">
      <dgm:prSet/>
      <dgm:spPr/>
      <dgm:t>
        <a:bodyPr/>
        <a:lstStyle/>
        <a:p>
          <a:endParaRPr lang="fr-FR"/>
        </a:p>
      </dgm:t>
    </dgm:pt>
    <dgm:pt modelId="{BFD4BD52-26B4-4D78-A8D4-0D5AE83B8561}" type="sibTrans" cxnId="{C1AEFF4B-406F-4617-A89D-BA61E379F596}">
      <dgm:prSet/>
      <dgm:spPr/>
      <dgm:t>
        <a:bodyPr/>
        <a:lstStyle/>
        <a:p>
          <a:endParaRPr lang="fr-FR"/>
        </a:p>
      </dgm:t>
    </dgm:pt>
    <dgm:pt modelId="{5DFF8D2C-FF16-4189-959A-DA8AF237818F}">
      <dgm:prSet phldrT="[Text]" phldr="0" custT="1"/>
      <dgm:spPr/>
      <dgm:t>
        <a:bodyPr/>
        <a:lstStyle/>
        <a:p>
          <a:r>
            <a:rPr lang="fr-FR" sz="1800" dirty="0"/>
            <a:t>Valeur du marché de la guitare en 2024</a:t>
          </a:r>
        </a:p>
      </dgm:t>
    </dgm:pt>
    <dgm:pt modelId="{E4367BA8-3CA9-4C87-B29D-AC36939C7927}" type="parTrans" cxnId="{5523898E-814B-4613-82CF-8AC3888E263E}">
      <dgm:prSet/>
      <dgm:spPr/>
      <dgm:t>
        <a:bodyPr/>
        <a:lstStyle/>
        <a:p>
          <a:endParaRPr lang="fr-FR"/>
        </a:p>
      </dgm:t>
    </dgm:pt>
    <dgm:pt modelId="{B5808FB2-8ED5-48B7-94C9-85E33B53CEFA}" type="sibTrans" cxnId="{5523898E-814B-4613-82CF-8AC3888E263E}">
      <dgm:prSet/>
      <dgm:spPr/>
      <dgm:t>
        <a:bodyPr/>
        <a:lstStyle/>
        <a:p>
          <a:endParaRPr lang="fr-FR"/>
        </a:p>
      </dgm:t>
    </dgm:pt>
    <dgm:pt modelId="{D947A9E2-2E97-41F2-A0A4-BF4BF3FB2559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48%</a:t>
          </a:r>
        </a:p>
      </dgm:t>
    </dgm:pt>
    <dgm:pt modelId="{F31CB54F-5BC7-406C-A91B-50C08608D24C}" type="parTrans" cxnId="{8FE87FC7-AC18-4165-B440-4AA7AC67A8D9}">
      <dgm:prSet/>
      <dgm:spPr/>
      <dgm:t>
        <a:bodyPr/>
        <a:lstStyle/>
        <a:p>
          <a:endParaRPr lang="fr-FR"/>
        </a:p>
      </dgm:t>
    </dgm:pt>
    <dgm:pt modelId="{45F2920D-B956-4AA8-9189-A759A3BF2F00}" type="sibTrans" cxnId="{8FE87FC7-AC18-4165-B440-4AA7AC67A8D9}">
      <dgm:prSet/>
      <dgm:spPr/>
      <dgm:t>
        <a:bodyPr/>
        <a:lstStyle/>
        <a:p>
          <a:endParaRPr lang="fr-FR"/>
        </a:p>
      </dgm:t>
    </dgm:pt>
    <dgm:pt modelId="{1D647303-1950-49A3-B3E3-511B5EAB22C1}">
      <dgm:prSet phldrT="[Text]" custT="1"/>
      <dgm:spPr/>
      <dgm:t>
        <a:bodyPr/>
        <a:lstStyle/>
        <a:p>
          <a:r>
            <a:rPr lang="fr-FR" sz="1800" dirty="0"/>
            <a:t>Part de marché des guitares électriques </a:t>
          </a:r>
        </a:p>
      </dgm:t>
    </dgm:pt>
    <dgm:pt modelId="{D66D6EFC-F33F-49A7-81CA-B602591CF869}" type="parTrans" cxnId="{201120F7-9B21-4830-87D4-34EE8C2CC62D}">
      <dgm:prSet/>
      <dgm:spPr/>
      <dgm:t>
        <a:bodyPr/>
        <a:lstStyle/>
        <a:p>
          <a:endParaRPr lang="fr-FR"/>
        </a:p>
      </dgm:t>
    </dgm:pt>
    <dgm:pt modelId="{85CCCEDD-0FA1-4E6A-8302-32155D37CF8E}" type="sibTrans" cxnId="{201120F7-9B21-4830-87D4-34EE8C2CC62D}">
      <dgm:prSet/>
      <dgm:spPr/>
      <dgm:t>
        <a:bodyPr/>
        <a:lstStyle/>
        <a:p>
          <a:endParaRPr lang="fr-FR"/>
        </a:p>
      </dgm:t>
    </dgm:pt>
    <dgm:pt modelId="{B8929512-66CE-4E69-82E8-652F86CC7F13}" type="pres">
      <dgm:prSet presAssocID="{E38B8181-43EA-4C6C-8C7F-7942035F0720}" presName="theList" presStyleCnt="0">
        <dgm:presLayoutVars>
          <dgm:dir/>
          <dgm:animLvl val="lvl"/>
          <dgm:resizeHandles val="exact"/>
        </dgm:presLayoutVars>
      </dgm:prSet>
      <dgm:spPr/>
    </dgm:pt>
    <dgm:pt modelId="{8AD1CDE0-660F-41C6-A232-AB49A944F4B1}" type="pres">
      <dgm:prSet presAssocID="{91212D5D-B364-44BA-9771-63E526DCA0A1}" presName="compNode" presStyleCnt="0"/>
      <dgm:spPr/>
    </dgm:pt>
    <dgm:pt modelId="{A122FDB8-4E52-4F24-924C-55B39B5EEF83}" type="pres">
      <dgm:prSet presAssocID="{91212D5D-B364-44BA-9771-63E526DCA0A1}" presName="aNode" presStyleLbl="bgShp" presStyleIdx="0" presStyleCnt="3"/>
      <dgm:spPr/>
    </dgm:pt>
    <dgm:pt modelId="{EE092F6B-38EB-47CC-973C-37F9D2288AA3}" type="pres">
      <dgm:prSet presAssocID="{91212D5D-B364-44BA-9771-63E526DCA0A1}" presName="textNode" presStyleLbl="bgShp" presStyleIdx="0" presStyleCnt="3"/>
      <dgm:spPr/>
    </dgm:pt>
    <dgm:pt modelId="{0448C864-2F82-4625-BA73-B4FC84AC036D}" type="pres">
      <dgm:prSet presAssocID="{91212D5D-B364-44BA-9771-63E526DCA0A1}" presName="compChildNode" presStyleCnt="0"/>
      <dgm:spPr/>
    </dgm:pt>
    <dgm:pt modelId="{28883B9D-21D9-4368-977E-4B0BD2C2A37C}" type="pres">
      <dgm:prSet presAssocID="{91212D5D-B364-44BA-9771-63E526DCA0A1}" presName="theInnerList" presStyleCnt="0"/>
      <dgm:spPr/>
    </dgm:pt>
    <dgm:pt modelId="{332FF867-5FFB-469C-995E-0CBE678B8048}" type="pres">
      <dgm:prSet presAssocID="{E5137407-CC18-4373-B384-F7A66AF869B6}" presName="childNode" presStyleLbl="node1" presStyleIdx="0" presStyleCnt="3" custScaleY="70691">
        <dgm:presLayoutVars>
          <dgm:bulletEnabled val="1"/>
        </dgm:presLayoutVars>
      </dgm:prSet>
      <dgm:spPr/>
    </dgm:pt>
    <dgm:pt modelId="{A9B3C3CC-83A5-44FD-8337-23960E5C80F6}" type="pres">
      <dgm:prSet presAssocID="{91212D5D-B364-44BA-9771-63E526DCA0A1}" presName="aSpace" presStyleCnt="0"/>
      <dgm:spPr/>
    </dgm:pt>
    <dgm:pt modelId="{51288686-012E-497C-AA23-CFA1CCA57442}" type="pres">
      <dgm:prSet presAssocID="{AB389A4B-81CD-47F4-AC53-77C6CCDA77CA}" presName="compNode" presStyleCnt="0"/>
      <dgm:spPr/>
    </dgm:pt>
    <dgm:pt modelId="{D876CD57-D8B0-4B1D-8A27-4B504FE0CFD4}" type="pres">
      <dgm:prSet presAssocID="{AB389A4B-81CD-47F4-AC53-77C6CCDA77CA}" presName="aNode" presStyleLbl="bgShp" presStyleIdx="1" presStyleCnt="3"/>
      <dgm:spPr/>
    </dgm:pt>
    <dgm:pt modelId="{753AE736-51A9-4ACF-85CA-A535BD91B08A}" type="pres">
      <dgm:prSet presAssocID="{AB389A4B-81CD-47F4-AC53-77C6CCDA77CA}" presName="textNode" presStyleLbl="bgShp" presStyleIdx="1" presStyleCnt="3"/>
      <dgm:spPr/>
    </dgm:pt>
    <dgm:pt modelId="{2037BDEE-75EB-46C8-AD3A-65B225526994}" type="pres">
      <dgm:prSet presAssocID="{AB389A4B-81CD-47F4-AC53-77C6CCDA77CA}" presName="compChildNode" presStyleCnt="0"/>
      <dgm:spPr/>
    </dgm:pt>
    <dgm:pt modelId="{051F6D2A-97B8-4664-A450-ADDEC308F567}" type="pres">
      <dgm:prSet presAssocID="{AB389A4B-81CD-47F4-AC53-77C6CCDA77CA}" presName="theInnerList" presStyleCnt="0"/>
      <dgm:spPr/>
    </dgm:pt>
    <dgm:pt modelId="{212315B0-941C-424E-9FB8-A723AE83E221}" type="pres">
      <dgm:prSet presAssocID="{5DFF8D2C-FF16-4189-959A-DA8AF237818F}" presName="childNode" presStyleLbl="node1" presStyleIdx="1" presStyleCnt="3" custScaleY="70691">
        <dgm:presLayoutVars>
          <dgm:bulletEnabled val="1"/>
        </dgm:presLayoutVars>
      </dgm:prSet>
      <dgm:spPr/>
    </dgm:pt>
    <dgm:pt modelId="{A06D310C-D4D5-42FB-BF30-8EB821EF41B8}" type="pres">
      <dgm:prSet presAssocID="{AB389A4B-81CD-47F4-AC53-77C6CCDA77CA}" presName="aSpace" presStyleCnt="0"/>
      <dgm:spPr/>
    </dgm:pt>
    <dgm:pt modelId="{72FABE35-4F33-4B5B-B72B-CE129740AEE7}" type="pres">
      <dgm:prSet presAssocID="{D947A9E2-2E97-41F2-A0A4-BF4BF3FB2559}" presName="compNode" presStyleCnt="0"/>
      <dgm:spPr/>
    </dgm:pt>
    <dgm:pt modelId="{3D118472-EB36-44B0-9CAB-89E96EDD8635}" type="pres">
      <dgm:prSet presAssocID="{D947A9E2-2E97-41F2-A0A4-BF4BF3FB2559}" presName="aNode" presStyleLbl="bgShp" presStyleIdx="2" presStyleCnt="3"/>
      <dgm:spPr/>
    </dgm:pt>
    <dgm:pt modelId="{D4961126-1C1B-4F88-A93F-D46D2428CFA2}" type="pres">
      <dgm:prSet presAssocID="{D947A9E2-2E97-41F2-A0A4-BF4BF3FB2559}" presName="textNode" presStyleLbl="bgShp" presStyleIdx="2" presStyleCnt="3"/>
      <dgm:spPr/>
    </dgm:pt>
    <dgm:pt modelId="{5B693B72-B78F-4290-A233-520D95F4748A}" type="pres">
      <dgm:prSet presAssocID="{D947A9E2-2E97-41F2-A0A4-BF4BF3FB2559}" presName="compChildNode" presStyleCnt="0"/>
      <dgm:spPr/>
    </dgm:pt>
    <dgm:pt modelId="{3DB0FDFE-0615-4995-85DF-314DBB0DEE15}" type="pres">
      <dgm:prSet presAssocID="{D947A9E2-2E97-41F2-A0A4-BF4BF3FB2559}" presName="theInnerList" presStyleCnt="0"/>
      <dgm:spPr/>
    </dgm:pt>
    <dgm:pt modelId="{522A87F0-0F3E-418E-844F-50D37BC18AE4}" type="pres">
      <dgm:prSet presAssocID="{1D647303-1950-49A3-B3E3-511B5EAB22C1}" presName="childNode" presStyleLbl="node1" presStyleIdx="2" presStyleCnt="3" custScaleY="70691">
        <dgm:presLayoutVars>
          <dgm:bulletEnabled val="1"/>
        </dgm:presLayoutVars>
      </dgm:prSet>
      <dgm:spPr/>
    </dgm:pt>
  </dgm:ptLst>
  <dgm:cxnLst>
    <dgm:cxn modelId="{94D40702-587D-4465-BCBA-552514180BBE}" type="presOf" srcId="{E38B8181-43EA-4C6C-8C7F-7942035F0720}" destId="{B8929512-66CE-4E69-82E8-652F86CC7F13}" srcOrd="0" destOrd="0" presId="urn:microsoft.com/office/officeart/2005/8/layout/lProcess2"/>
    <dgm:cxn modelId="{8F245E04-8DF9-4548-92D1-3655024527CF}" type="presOf" srcId="{D947A9E2-2E97-41F2-A0A4-BF4BF3FB2559}" destId="{D4961126-1C1B-4F88-A93F-D46D2428CFA2}" srcOrd="1" destOrd="0" presId="urn:microsoft.com/office/officeart/2005/8/layout/lProcess2"/>
    <dgm:cxn modelId="{7A5F6A19-7DAC-460E-BBA6-B384A077D6FF}" type="presOf" srcId="{1D647303-1950-49A3-B3E3-511B5EAB22C1}" destId="{522A87F0-0F3E-418E-844F-50D37BC18AE4}" srcOrd="0" destOrd="0" presId="urn:microsoft.com/office/officeart/2005/8/layout/lProcess2"/>
    <dgm:cxn modelId="{299ABB28-1B39-4096-812E-C6AA0CDDD8DA}" type="presOf" srcId="{AB389A4B-81CD-47F4-AC53-77C6CCDA77CA}" destId="{D876CD57-D8B0-4B1D-8A27-4B504FE0CFD4}" srcOrd="0" destOrd="0" presId="urn:microsoft.com/office/officeart/2005/8/layout/lProcess2"/>
    <dgm:cxn modelId="{C1AEFF4B-406F-4617-A89D-BA61E379F596}" srcId="{E38B8181-43EA-4C6C-8C7F-7942035F0720}" destId="{AB389A4B-81CD-47F4-AC53-77C6CCDA77CA}" srcOrd="1" destOrd="0" parTransId="{1957A227-B175-4033-8F1D-F1C3A49DEBE5}" sibTransId="{BFD4BD52-26B4-4D78-A8D4-0D5AE83B8561}"/>
    <dgm:cxn modelId="{A32FD154-FA1F-42EC-A904-99D643BC5003}" type="presOf" srcId="{E5137407-CC18-4373-B384-F7A66AF869B6}" destId="{332FF867-5FFB-469C-995E-0CBE678B8048}" srcOrd="0" destOrd="0" presId="urn:microsoft.com/office/officeart/2005/8/layout/lProcess2"/>
    <dgm:cxn modelId="{5191207E-417E-46C7-B34A-8DDB7C623194}" type="presOf" srcId="{5DFF8D2C-FF16-4189-959A-DA8AF237818F}" destId="{212315B0-941C-424E-9FB8-A723AE83E221}" srcOrd="0" destOrd="0" presId="urn:microsoft.com/office/officeart/2005/8/layout/lProcess2"/>
    <dgm:cxn modelId="{46AA8580-CB6C-47DD-A72E-6CB4DBC796AE}" type="presOf" srcId="{D947A9E2-2E97-41F2-A0A4-BF4BF3FB2559}" destId="{3D118472-EB36-44B0-9CAB-89E96EDD8635}" srcOrd="0" destOrd="0" presId="urn:microsoft.com/office/officeart/2005/8/layout/lProcess2"/>
    <dgm:cxn modelId="{5523898E-814B-4613-82CF-8AC3888E263E}" srcId="{AB389A4B-81CD-47F4-AC53-77C6CCDA77CA}" destId="{5DFF8D2C-FF16-4189-959A-DA8AF237818F}" srcOrd="0" destOrd="0" parTransId="{E4367BA8-3CA9-4C87-B29D-AC36939C7927}" sibTransId="{B5808FB2-8ED5-48B7-94C9-85E33B53CEFA}"/>
    <dgm:cxn modelId="{A75A9195-F7D7-468F-9696-A77A26B18F76}" type="presOf" srcId="{AB389A4B-81CD-47F4-AC53-77C6CCDA77CA}" destId="{753AE736-51A9-4ACF-85CA-A535BD91B08A}" srcOrd="1" destOrd="0" presId="urn:microsoft.com/office/officeart/2005/8/layout/lProcess2"/>
    <dgm:cxn modelId="{209C9C9E-C3F8-4D27-8697-A6FB0C80B67F}" type="presOf" srcId="{91212D5D-B364-44BA-9771-63E526DCA0A1}" destId="{EE092F6B-38EB-47CC-973C-37F9D2288AA3}" srcOrd="1" destOrd="0" presId="urn:microsoft.com/office/officeart/2005/8/layout/lProcess2"/>
    <dgm:cxn modelId="{1D029AA6-958D-47DB-9F92-AA3342059FCC}" type="presOf" srcId="{91212D5D-B364-44BA-9771-63E526DCA0A1}" destId="{A122FDB8-4E52-4F24-924C-55B39B5EEF83}" srcOrd="0" destOrd="0" presId="urn:microsoft.com/office/officeart/2005/8/layout/lProcess2"/>
    <dgm:cxn modelId="{0485C7B9-46CA-4C0E-96B3-8FFF5F37DD6A}" srcId="{E38B8181-43EA-4C6C-8C7F-7942035F0720}" destId="{91212D5D-B364-44BA-9771-63E526DCA0A1}" srcOrd="0" destOrd="0" parTransId="{FC78DAE6-83E5-4BC1-AC49-428A15180E75}" sibTransId="{D781E287-DBE3-4186-9876-37AE3B390319}"/>
    <dgm:cxn modelId="{8FE87FC7-AC18-4165-B440-4AA7AC67A8D9}" srcId="{E38B8181-43EA-4C6C-8C7F-7942035F0720}" destId="{D947A9E2-2E97-41F2-A0A4-BF4BF3FB2559}" srcOrd="2" destOrd="0" parTransId="{F31CB54F-5BC7-406C-A91B-50C08608D24C}" sibTransId="{45F2920D-B956-4AA8-9189-A759A3BF2F00}"/>
    <dgm:cxn modelId="{AD0029D9-5E4E-4AD7-A0EC-A4368455A356}" srcId="{91212D5D-B364-44BA-9771-63E526DCA0A1}" destId="{E5137407-CC18-4373-B384-F7A66AF869B6}" srcOrd="0" destOrd="0" parTransId="{F5863376-7605-42DC-B58D-060041DC79FF}" sibTransId="{504827BD-EDE8-4FEA-B41A-5C51374DAF4F}"/>
    <dgm:cxn modelId="{201120F7-9B21-4830-87D4-34EE8C2CC62D}" srcId="{D947A9E2-2E97-41F2-A0A4-BF4BF3FB2559}" destId="{1D647303-1950-49A3-B3E3-511B5EAB22C1}" srcOrd="0" destOrd="0" parTransId="{D66D6EFC-F33F-49A7-81CA-B602591CF869}" sibTransId="{85CCCEDD-0FA1-4E6A-8302-32155D37CF8E}"/>
    <dgm:cxn modelId="{08E6926F-999E-4517-BB1A-F96A0310265E}" type="presParOf" srcId="{B8929512-66CE-4E69-82E8-652F86CC7F13}" destId="{8AD1CDE0-660F-41C6-A232-AB49A944F4B1}" srcOrd="0" destOrd="0" presId="urn:microsoft.com/office/officeart/2005/8/layout/lProcess2"/>
    <dgm:cxn modelId="{CE9A049D-E141-4083-9323-2C683065397A}" type="presParOf" srcId="{8AD1CDE0-660F-41C6-A232-AB49A944F4B1}" destId="{A122FDB8-4E52-4F24-924C-55B39B5EEF83}" srcOrd="0" destOrd="0" presId="urn:microsoft.com/office/officeart/2005/8/layout/lProcess2"/>
    <dgm:cxn modelId="{C0BB5914-70D5-4110-8C04-9D450E2EDFE8}" type="presParOf" srcId="{8AD1CDE0-660F-41C6-A232-AB49A944F4B1}" destId="{EE092F6B-38EB-47CC-973C-37F9D2288AA3}" srcOrd="1" destOrd="0" presId="urn:microsoft.com/office/officeart/2005/8/layout/lProcess2"/>
    <dgm:cxn modelId="{05DBDA82-E4F4-4AB8-A1EB-7EC172ABBE02}" type="presParOf" srcId="{8AD1CDE0-660F-41C6-A232-AB49A944F4B1}" destId="{0448C864-2F82-4625-BA73-B4FC84AC036D}" srcOrd="2" destOrd="0" presId="urn:microsoft.com/office/officeart/2005/8/layout/lProcess2"/>
    <dgm:cxn modelId="{28C03247-E7BF-4132-B9B5-AA28D4CE75CE}" type="presParOf" srcId="{0448C864-2F82-4625-BA73-B4FC84AC036D}" destId="{28883B9D-21D9-4368-977E-4B0BD2C2A37C}" srcOrd="0" destOrd="0" presId="urn:microsoft.com/office/officeart/2005/8/layout/lProcess2"/>
    <dgm:cxn modelId="{4C34A2E8-D3DD-48CD-96F1-BD14E8265A75}" type="presParOf" srcId="{28883B9D-21D9-4368-977E-4B0BD2C2A37C}" destId="{332FF867-5FFB-469C-995E-0CBE678B8048}" srcOrd="0" destOrd="0" presId="urn:microsoft.com/office/officeart/2005/8/layout/lProcess2"/>
    <dgm:cxn modelId="{250EF62A-AEFF-40E0-A39A-E8780120EB6A}" type="presParOf" srcId="{B8929512-66CE-4E69-82E8-652F86CC7F13}" destId="{A9B3C3CC-83A5-44FD-8337-23960E5C80F6}" srcOrd="1" destOrd="0" presId="urn:microsoft.com/office/officeart/2005/8/layout/lProcess2"/>
    <dgm:cxn modelId="{6C4A4D70-C1C2-4D21-8A99-B71DCD27BB33}" type="presParOf" srcId="{B8929512-66CE-4E69-82E8-652F86CC7F13}" destId="{51288686-012E-497C-AA23-CFA1CCA57442}" srcOrd="2" destOrd="0" presId="urn:microsoft.com/office/officeart/2005/8/layout/lProcess2"/>
    <dgm:cxn modelId="{E09CE3DD-1A3E-4D7A-8D02-75EDE870DD29}" type="presParOf" srcId="{51288686-012E-497C-AA23-CFA1CCA57442}" destId="{D876CD57-D8B0-4B1D-8A27-4B504FE0CFD4}" srcOrd="0" destOrd="0" presId="urn:microsoft.com/office/officeart/2005/8/layout/lProcess2"/>
    <dgm:cxn modelId="{74F7B8D7-D1E3-4561-93EF-FF9712C205DD}" type="presParOf" srcId="{51288686-012E-497C-AA23-CFA1CCA57442}" destId="{753AE736-51A9-4ACF-85CA-A535BD91B08A}" srcOrd="1" destOrd="0" presId="urn:microsoft.com/office/officeart/2005/8/layout/lProcess2"/>
    <dgm:cxn modelId="{56898C8E-CBB4-464E-A05A-A938E6EF7C6F}" type="presParOf" srcId="{51288686-012E-497C-AA23-CFA1CCA57442}" destId="{2037BDEE-75EB-46C8-AD3A-65B225526994}" srcOrd="2" destOrd="0" presId="urn:microsoft.com/office/officeart/2005/8/layout/lProcess2"/>
    <dgm:cxn modelId="{7474C88F-B077-4E52-9389-DB71FE1EE583}" type="presParOf" srcId="{2037BDEE-75EB-46C8-AD3A-65B225526994}" destId="{051F6D2A-97B8-4664-A450-ADDEC308F567}" srcOrd="0" destOrd="0" presId="urn:microsoft.com/office/officeart/2005/8/layout/lProcess2"/>
    <dgm:cxn modelId="{D51C9842-0333-42F3-B1B8-70BB34EF5298}" type="presParOf" srcId="{051F6D2A-97B8-4664-A450-ADDEC308F567}" destId="{212315B0-941C-424E-9FB8-A723AE83E221}" srcOrd="0" destOrd="0" presId="urn:microsoft.com/office/officeart/2005/8/layout/lProcess2"/>
    <dgm:cxn modelId="{D41932D7-DB46-4904-88C2-4968B0EE258B}" type="presParOf" srcId="{B8929512-66CE-4E69-82E8-652F86CC7F13}" destId="{A06D310C-D4D5-42FB-BF30-8EB821EF41B8}" srcOrd="3" destOrd="0" presId="urn:microsoft.com/office/officeart/2005/8/layout/lProcess2"/>
    <dgm:cxn modelId="{AC37D594-B731-481B-B6FC-DF8BB7CC3EEF}" type="presParOf" srcId="{B8929512-66CE-4E69-82E8-652F86CC7F13}" destId="{72FABE35-4F33-4B5B-B72B-CE129740AEE7}" srcOrd="4" destOrd="0" presId="urn:microsoft.com/office/officeart/2005/8/layout/lProcess2"/>
    <dgm:cxn modelId="{20205CCD-3134-441A-BEAF-7C5A6E3D5EC9}" type="presParOf" srcId="{72FABE35-4F33-4B5B-B72B-CE129740AEE7}" destId="{3D118472-EB36-44B0-9CAB-89E96EDD8635}" srcOrd="0" destOrd="0" presId="urn:microsoft.com/office/officeart/2005/8/layout/lProcess2"/>
    <dgm:cxn modelId="{BCB07279-88EC-40FB-BCB3-BF071DDA10B8}" type="presParOf" srcId="{72FABE35-4F33-4B5B-B72B-CE129740AEE7}" destId="{D4961126-1C1B-4F88-A93F-D46D2428CFA2}" srcOrd="1" destOrd="0" presId="urn:microsoft.com/office/officeart/2005/8/layout/lProcess2"/>
    <dgm:cxn modelId="{134B4711-562A-4E32-92F8-7638FD2C4840}" type="presParOf" srcId="{72FABE35-4F33-4B5B-B72B-CE129740AEE7}" destId="{5B693B72-B78F-4290-A233-520D95F4748A}" srcOrd="2" destOrd="0" presId="urn:microsoft.com/office/officeart/2005/8/layout/lProcess2"/>
    <dgm:cxn modelId="{5A6E1D6A-410F-44A8-8D1F-830954F79DCD}" type="presParOf" srcId="{5B693B72-B78F-4290-A233-520D95F4748A}" destId="{3DB0FDFE-0615-4995-85DF-314DBB0DEE15}" srcOrd="0" destOrd="0" presId="urn:microsoft.com/office/officeart/2005/8/layout/lProcess2"/>
    <dgm:cxn modelId="{EC0504A7-74B3-4A45-A806-56DC9387496F}" type="presParOf" srcId="{3DB0FDFE-0615-4995-85DF-314DBB0DEE15}" destId="{522A87F0-0F3E-418E-844F-50D37BC18AE4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D1C852-5D74-4F80-A124-F60AD28CB0FD}" type="doc">
      <dgm:prSet loTypeId="urn:microsoft.com/office/officeart/2005/8/layout/hChevron3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B1946031-CC6F-4798-BB24-30EB0DDC5277}">
      <dgm:prSet phldrT="[Text]" phldr="0"/>
      <dgm:spPr/>
      <dgm:t>
        <a:bodyPr/>
        <a:lstStyle/>
        <a:p>
          <a:pPr algn="l"/>
          <a:r>
            <a:rPr lang="fr-FR" dirty="0"/>
            <a:t>Filtrage électrique interne </a:t>
          </a:r>
        </a:p>
      </dgm:t>
    </dgm:pt>
    <dgm:pt modelId="{DF9440CB-AEE4-4B4A-BAD8-C0D9B8C74E86}" type="parTrans" cxnId="{A54F9490-DB61-4C3A-A7B7-F92EB5A17874}">
      <dgm:prSet/>
      <dgm:spPr/>
      <dgm:t>
        <a:bodyPr/>
        <a:lstStyle/>
        <a:p>
          <a:pPr algn="l"/>
          <a:endParaRPr lang="fr-FR"/>
        </a:p>
      </dgm:t>
    </dgm:pt>
    <dgm:pt modelId="{6409785A-3A6B-45D0-AECD-0CF83416FC6F}" type="sibTrans" cxnId="{A54F9490-DB61-4C3A-A7B7-F92EB5A17874}">
      <dgm:prSet/>
      <dgm:spPr/>
      <dgm:t>
        <a:bodyPr/>
        <a:lstStyle/>
        <a:p>
          <a:pPr algn="l"/>
          <a:endParaRPr lang="fr-FR"/>
        </a:p>
      </dgm:t>
    </dgm:pt>
    <dgm:pt modelId="{E1F92468-EED0-446C-8F01-19EC7893BEB7}">
      <dgm:prSet phldrT="[Text]" phldr="0"/>
      <dgm:spPr/>
      <dgm:t>
        <a:bodyPr/>
        <a:lstStyle/>
        <a:p>
          <a:pPr algn="l"/>
          <a:r>
            <a:rPr lang="fr-FR" dirty="0"/>
            <a:t>Induction et </a:t>
          </a:r>
        </a:p>
        <a:p>
          <a:pPr algn="l"/>
          <a:r>
            <a:rPr lang="fr-FR" dirty="0"/>
            <a:t>filtrage spatial</a:t>
          </a:r>
        </a:p>
      </dgm:t>
    </dgm:pt>
    <dgm:pt modelId="{4C193A07-5FE8-45B1-B54F-43ACFEBFA259}" type="parTrans" cxnId="{F47725DE-476A-4FAB-9188-719AD3DBBAB7}">
      <dgm:prSet/>
      <dgm:spPr/>
      <dgm:t>
        <a:bodyPr/>
        <a:lstStyle/>
        <a:p>
          <a:pPr algn="l"/>
          <a:endParaRPr lang="fr-FR"/>
        </a:p>
      </dgm:t>
    </dgm:pt>
    <dgm:pt modelId="{24A5BA3C-A19D-47E5-9693-F13538540662}" type="sibTrans" cxnId="{F47725DE-476A-4FAB-9188-719AD3DBBAB7}">
      <dgm:prSet/>
      <dgm:spPr/>
      <dgm:t>
        <a:bodyPr/>
        <a:lstStyle/>
        <a:p>
          <a:pPr algn="l"/>
          <a:endParaRPr lang="fr-FR"/>
        </a:p>
      </dgm:t>
    </dgm:pt>
    <dgm:pt modelId="{2999190F-4751-4CC0-8C2C-D4D1BD8541A5}">
      <dgm:prSet phldrT="[Text]" phldr="0"/>
      <dgm:spPr/>
      <dgm:t>
        <a:bodyPr/>
        <a:lstStyle/>
        <a:p>
          <a:pPr algn="l"/>
          <a:r>
            <a:rPr lang="fr-FR" dirty="0"/>
            <a:t>Reduction du « Hum »</a:t>
          </a:r>
        </a:p>
      </dgm:t>
    </dgm:pt>
    <dgm:pt modelId="{B937862D-19FD-452C-9AA2-58269B000A85}" type="parTrans" cxnId="{9D335623-9A20-41EC-8986-84118AEFF14B}">
      <dgm:prSet/>
      <dgm:spPr/>
      <dgm:t>
        <a:bodyPr/>
        <a:lstStyle/>
        <a:p>
          <a:pPr algn="l"/>
          <a:endParaRPr lang="fr-FR"/>
        </a:p>
      </dgm:t>
    </dgm:pt>
    <dgm:pt modelId="{E02B0FFD-8631-41F2-A902-D43C76613677}" type="sibTrans" cxnId="{9D335623-9A20-41EC-8986-84118AEFF14B}">
      <dgm:prSet/>
      <dgm:spPr/>
      <dgm:t>
        <a:bodyPr/>
        <a:lstStyle/>
        <a:p>
          <a:pPr algn="l"/>
          <a:endParaRPr lang="fr-FR"/>
        </a:p>
      </dgm:t>
    </dgm:pt>
    <dgm:pt modelId="{3492A474-1DB8-418E-8701-8300C7EB9CDA}" type="pres">
      <dgm:prSet presAssocID="{AFD1C852-5D74-4F80-A124-F60AD28CB0FD}" presName="Name0" presStyleCnt="0">
        <dgm:presLayoutVars>
          <dgm:dir/>
          <dgm:resizeHandles val="exact"/>
        </dgm:presLayoutVars>
      </dgm:prSet>
      <dgm:spPr/>
    </dgm:pt>
    <dgm:pt modelId="{07B121FE-B513-4273-8542-483E825BE23A}" type="pres">
      <dgm:prSet presAssocID="{B1946031-CC6F-4798-BB24-30EB0DDC5277}" presName="parTxOnly" presStyleLbl="node1" presStyleIdx="0" presStyleCnt="3" custScaleX="90834" custScaleY="433715">
        <dgm:presLayoutVars>
          <dgm:bulletEnabled val="1"/>
        </dgm:presLayoutVars>
      </dgm:prSet>
      <dgm:spPr/>
    </dgm:pt>
    <dgm:pt modelId="{DB817F39-88FC-4708-9DF3-C7F5734050DC}" type="pres">
      <dgm:prSet presAssocID="{6409785A-3A6B-45D0-AECD-0CF83416FC6F}" presName="parSpace" presStyleCnt="0"/>
      <dgm:spPr/>
    </dgm:pt>
    <dgm:pt modelId="{1C5D07C3-19A8-4A2B-ADAD-760FB67323AE}" type="pres">
      <dgm:prSet presAssocID="{E1F92468-EED0-446C-8F01-19EC7893BEB7}" presName="parTxOnly" presStyleLbl="node1" presStyleIdx="1" presStyleCnt="3" custScaleX="85590" custScaleY="433715">
        <dgm:presLayoutVars>
          <dgm:bulletEnabled val="1"/>
        </dgm:presLayoutVars>
      </dgm:prSet>
      <dgm:spPr/>
    </dgm:pt>
    <dgm:pt modelId="{095CFF29-6108-477A-98A8-6875BCA81A2B}" type="pres">
      <dgm:prSet presAssocID="{24A5BA3C-A19D-47E5-9693-F13538540662}" presName="parSpace" presStyleCnt="0"/>
      <dgm:spPr/>
    </dgm:pt>
    <dgm:pt modelId="{EDB0DA63-DB1A-4CF7-9C2D-141473F1AEC3}" type="pres">
      <dgm:prSet presAssocID="{2999190F-4751-4CC0-8C2C-D4D1BD8541A5}" presName="parTxOnly" presStyleLbl="node1" presStyleIdx="2" presStyleCnt="3" custScaleX="77451" custScaleY="433715">
        <dgm:presLayoutVars>
          <dgm:bulletEnabled val="1"/>
        </dgm:presLayoutVars>
      </dgm:prSet>
      <dgm:spPr/>
    </dgm:pt>
  </dgm:ptLst>
  <dgm:cxnLst>
    <dgm:cxn modelId="{9D335623-9A20-41EC-8986-84118AEFF14B}" srcId="{AFD1C852-5D74-4F80-A124-F60AD28CB0FD}" destId="{2999190F-4751-4CC0-8C2C-D4D1BD8541A5}" srcOrd="2" destOrd="0" parTransId="{B937862D-19FD-452C-9AA2-58269B000A85}" sibTransId="{E02B0FFD-8631-41F2-A902-D43C76613677}"/>
    <dgm:cxn modelId="{5087FD27-24EB-4362-B69A-7FAAD70FE1F4}" type="presOf" srcId="{2999190F-4751-4CC0-8C2C-D4D1BD8541A5}" destId="{EDB0DA63-DB1A-4CF7-9C2D-141473F1AEC3}" srcOrd="0" destOrd="0" presId="urn:microsoft.com/office/officeart/2005/8/layout/hChevron3"/>
    <dgm:cxn modelId="{F295B632-26E4-4F8E-AE79-C863461F4647}" type="presOf" srcId="{E1F92468-EED0-446C-8F01-19EC7893BEB7}" destId="{1C5D07C3-19A8-4A2B-ADAD-760FB67323AE}" srcOrd="0" destOrd="0" presId="urn:microsoft.com/office/officeart/2005/8/layout/hChevron3"/>
    <dgm:cxn modelId="{0A6C1934-F3BE-4907-9741-F2ECA6A31CF0}" type="presOf" srcId="{AFD1C852-5D74-4F80-A124-F60AD28CB0FD}" destId="{3492A474-1DB8-418E-8701-8300C7EB9CDA}" srcOrd="0" destOrd="0" presId="urn:microsoft.com/office/officeart/2005/8/layout/hChevron3"/>
    <dgm:cxn modelId="{A54F9490-DB61-4C3A-A7B7-F92EB5A17874}" srcId="{AFD1C852-5D74-4F80-A124-F60AD28CB0FD}" destId="{B1946031-CC6F-4798-BB24-30EB0DDC5277}" srcOrd="0" destOrd="0" parTransId="{DF9440CB-AEE4-4B4A-BAD8-C0D9B8C74E86}" sibTransId="{6409785A-3A6B-45D0-AECD-0CF83416FC6F}"/>
    <dgm:cxn modelId="{A28B0F9F-7F70-4B9B-AD8E-DEBE0C3994F7}" type="presOf" srcId="{B1946031-CC6F-4798-BB24-30EB0DDC5277}" destId="{07B121FE-B513-4273-8542-483E825BE23A}" srcOrd="0" destOrd="0" presId="urn:microsoft.com/office/officeart/2005/8/layout/hChevron3"/>
    <dgm:cxn modelId="{F47725DE-476A-4FAB-9188-719AD3DBBAB7}" srcId="{AFD1C852-5D74-4F80-A124-F60AD28CB0FD}" destId="{E1F92468-EED0-446C-8F01-19EC7893BEB7}" srcOrd="1" destOrd="0" parTransId="{4C193A07-5FE8-45B1-B54F-43ACFEBFA259}" sibTransId="{24A5BA3C-A19D-47E5-9693-F13538540662}"/>
    <dgm:cxn modelId="{183DF5FB-2D9F-4A87-A6B3-1671C769EC58}" type="presParOf" srcId="{3492A474-1DB8-418E-8701-8300C7EB9CDA}" destId="{07B121FE-B513-4273-8542-483E825BE23A}" srcOrd="0" destOrd="0" presId="urn:microsoft.com/office/officeart/2005/8/layout/hChevron3"/>
    <dgm:cxn modelId="{DFE9872F-29F9-4634-B09D-A4AB7A045767}" type="presParOf" srcId="{3492A474-1DB8-418E-8701-8300C7EB9CDA}" destId="{DB817F39-88FC-4708-9DF3-C7F5734050DC}" srcOrd="1" destOrd="0" presId="urn:microsoft.com/office/officeart/2005/8/layout/hChevron3"/>
    <dgm:cxn modelId="{BE1A6A62-7316-4FD4-9DD5-327C01F70C73}" type="presParOf" srcId="{3492A474-1DB8-418E-8701-8300C7EB9CDA}" destId="{1C5D07C3-19A8-4A2B-ADAD-760FB67323AE}" srcOrd="2" destOrd="0" presId="urn:microsoft.com/office/officeart/2005/8/layout/hChevron3"/>
    <dgm:cxn modelId="{C7840BB5-EAAD-4336-89F2-604ABDBD43C8}" type="presParOf" srcId="{3492A474-1DB8-418E-8701-8300C7EB9CDA}" destId="{095CFF29-6108-477A-98A8-6875BCA81A2B}" srcOrd="3" destOrd="0" presId="urn:microsoft.com/office/officeart/2005/8/layout/hChevron3"/>
    <dgm:cxn modelId="{AAC58604-1623-4538-B840-D6B80108F5A3}" type="presParOf" srcId="{3492A474-1DB8-418E-8701-8300C7EB9CDA}" destId="{EDB0DA63-DB1A-4CF7-9C2D-141473F1AEC3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2FDB8-4E52-4F24-924C-55B39B5EEF83}">
      <dsp:nvSpPr>
        <dsp:cNvPr id="0" name=""/>
        <dsp:cNvSpPr/>
      </dsp:nvSpPr>
      <dsp:spPr>
        <a:xfrm>
          <a:off x="964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50M</a:t>
          </a:r>
          <a:endParaRPr lang="fr-FR" sz="5400" kern="1200" dirty="0">
            <a:latin typeface="Arial Black" panose="020B0A04020102020204" pitchFamily="34" charset="0"/>
          </a:endParaRPr>
        </a:p>
      </dsp:txBody>
      <dsp:txXfrm>
        <a:off x="964" y="0"/>
        <a:ext cx="2507184" cy="940174"/>
      </dsp:txXfrm>
    </dsp:sp>
    <dsp:sp modelId="{332FF867-5FFB-469C-995E-0CBE678B8048}">
      <dsp:nvSpPr>
        <dsp:cNvPr id="0" name=""/>
        <dsp:cNvSpPr/>
      </dsp:nvSpPr>
      <dsp:spPr>
        <a:xfrm>
          <a:off x="251682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Nombre de guitare estimé dans le monde</a:t>
          </a:r>
        </a:p>
      </dsp:txBody>
      <dsp:txXfrm>
        <a:off x="293858" y="1280868"/>
        <a:ext cx="1921395" cy="1355654"/>
      </dsp:txXfrm>
    </dsp:sp>
    <dsp:sp modelId="{D876CD57-D8B0-4B1D-8A27-4B504FE0CFD4}">
      <dsp:nvSpPr>
        <dsp:cNvPr id="0" name=""/>
        <dsp:cNvSpPr/>
      </dsp:nvSpPr>
      <dsp:spPr>
        <a:xfrm>
          <a:off x="2696188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10,3B</a:t>
          </a:r>
        </a:p>
      </dsp:txBody>
      <dsp:txXfrm>
        <a:off x="2696188" y="0"/>
        <a:ext cx="2507184" cy="940174"/>
      </dsp:txXfrm>
    </dsp:sp>
    <dsp:sp modelId="{212315B0-941C-424E-9FB8-A723AE83E221}">
      <dsp:nvSpPr>
        <dsp:cNvPr id="0" name=""/>
        <dsp:cNvSpPr/>
      </dsp:nvSpPr>
      <dsp:spPr>
        <a:xfrm>
          <a:off x="2946906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Valeur du marché de la guitare en 2024</a:t>
          </a:r>
        </a:p>
      </dsp:txBody>
      <dsp:txXfrm>
        <a:off x="2989082" y="1280868"/>
        <a:ext cx="1921395" cy="1355654"/>
      </dsp:txXfrm>
    </dsp:sp>
    <dsp:sp modelId="{3D118472-EB36-44B0-9CAB-89E96EDD8635}">
      <dsp:nvSpPr>
        <dsp:cNvPr id="0" name=""/>
        <dsp:cNvSpPr/>
      </dsp:nvSpPr>
      <dsp:spPr>
        <a:xfrm>
          <a:off x="5391411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48%</a:t>
          </a:r>
        </a:p>
      </dsp:txBody>
      <dsp:txXfrm>
        <a:off x="5391411" y="0"/>
        <a:ext cx="2507184" cy="940174"/>
      </dsp:txXfrm>
    </dsp:sp>
    <dsp:sp modelId="{522A87F0-0F3E-418E-844F-50D37BC18AE4}">
      <dsp:nvSpPr>
        <dsp:cNvPr id="0" name=""/>
        <dsp:cNvSpPr/>
      </dsp:nvSpPr>
      <dsp:spPr>
        <a:xfrm>
          <a:off x="5642130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Part de marché des guitares électriques </a:t>
          </a:r>
        </a:p>
      </dsp:txBody>
      <dsp:txXfrm>
        <a:off x="5684306" y="1280868"/>
        <a:ext cx="1921395" cy="1355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121FE-B513-4273-8542-483E825BE23A}">
      <dsp:nvSpPr>
        <dsp:cNvPr id="0" name=""/>
        <dsp:cNvSpPr/>
      </dsp:nvSpPr>
      <dsp:spPr>
        <a:xfrm>
          <a:off x="2067" y="0"/>
          <a:ext cx="2955431" cy="47223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Filtrage électrique interne </a:t>
          </a:r>
        </a:p>
      </dsp:txBody>
      <dsp:txXfrm>
        <a:off x="2067" y="0"/>
        <a:ext cx="2837372" cy="472237"/>
      </dsp:txXfrm>
    </dsp:sp>
    <dsp:sp modelId="{1C5D07C3-19A8-4A2B-ADAD-760FB67323AE}">
      <dsp:nvSpPr>
        <dsp:cNvPr id="0" name=""/>
        <dsp:cNvSpPr/>
      </dsp:nvSpPr>
      <dsp:spPr>
        <a:xfrm>
          <a:off x="2306766" y="0"/>
          <a:ext cx="2784809" cy="4722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Induction et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filtrage spatial</a:t>
          </a:r>
        </a:p>
      </dsp:txBody>
      <dsp:txXfrm>
        <a:off x="2542885" y="0"/>
        <a:ext cx="2312572" cy="472237"/>
      </dsp:txXfrm>
    </dsp:sp>
    <dsp:sp modelId="{EDB0DA63-DB1A-4CF7-9C2D-141473F1AEC3}">
      <dsp:nvSpPr>
        <dsp:cNvPr id="0" name=""/>
        <dsp:cNvSpPr/>
      </dsp:nvSpPr>
      <dsp:spPr>
        <a:xfrm>
          <a:off x="4440842" y="0"/>
          <a:ext cx="2519993" cy="4722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Reduction du « Hum »</a:t>
          </a:r>
        </a:p>
      </dsp:txBody>
      <dsp:txXfrm>
        <a:off x="4676961" y="0"/>
        <a:ext cx="2047756" cy="472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23/02/2026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54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9924-4D85-1D24-FD57-C1C57323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7FBF6-954E-174E-9BA2-B4BC50FE7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8284A-A707-148D-40DD-E5BD26968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76E1-6CD1-CD7C-AB4C-E63A4F6CF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149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76C9-2125-A9B2-8374-6EE28345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BEBB7-C6A9-F035-C798-5E939F3A4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D1DC4-D857-6ABF-3DDC-E4E7A0922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B737E-2622-AA4F-316B-3548DE862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628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DC8-F1D2-F48F-5144-29C93AD3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3ED31-35E2-A213-E2DC-429767622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960C-93AA-3EA5-8A9A-E9404EC97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C1EA0-8E19-54B2-AF8F-866210607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95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4CAD4-74B0-AD25-628B-A01AFCF6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1E0B2-521A-74D5-BB87-77F192FB9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AAADF-DC80-862D-F7A6-6B0723051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21F43-A5FD-B912-0695-43FD6CB9C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630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F5D8-B5ED-3A5C-25AA-355EA500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B50A7-9125-FF61-C35A-0BAAB7787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A70C6-EF27-F3BA-F99C-2D1A0396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F1CD-8CD2-A36F-E4D6-6DC1E0CE9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183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6DDB-317F-D464-2542-AEDEF16F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CD9F-57CF-03E9-A6FD-63617BD82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48DBA-CDA0-31BF-0645-F424C7AC9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40B3F-91D1-FE31-E864-73EC993D1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5079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5F695-4E49-870A-29E7-C511751B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64BC5-1BB3-FFE7-EC85-E200E9442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F961D-1039-9AE2-52D5-0A1669232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10549-939F-B010-DB99-3739C13F2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690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2019F-F1BE-DF3B-F82C-86311F35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5589B-1B2F-16CC-DC16-050AEDD56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C7721-ADC3-F0EE-59B5-95C24C297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639B4-DC19-F263-1927-B1E1323D5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712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A336-7D3A-EAE6-9F30-4197D11A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56105-101D-4ABB-45A9-D39435CAD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C566F-8BBA-5FAB-C7D8-8B782678D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6955B-7625-293A-C6C0-9FA48F69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352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 : Equation de mouvement de la corde</a:t>
            </a:r>
          </a:p>
          <a:p>
            <a:r>
              <a:rPr lang="fr-FR" dirty="0"/>
              <a:t>2 : Idée Maquette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61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41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5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6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8.png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microsoft.com/office/2007/relationships/hdphoto" Target="../media/hdphoto3.wdp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microsoft.com/office/2007/relationships/hdphoto" Target="../media/hdphoto4.wdp"/><Relationship Id="rId7" Type="http://schemas.openxmlformats.org/officeDocument/2006/relationships/image" Target="../media/image39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16.png"/><Relationship Id="rId5" Type="http://schemas.openxmlformats.org/officeDocument/2006/relationships/image" Target="../media/image37.png"/><Relationship Id="rId10" Type="http://schemas.openxmlformats.org/officeDocument/2006/relationships/image" Target="../media/image15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51.png"/><Relationship Id="rId10" Type="http://schemas.openxmlformats.org/officeDocument/2006/relationships/image" Target="../media/image53.png"/><Relationship Id="rId4" Type="http://schemas.openxmlformats.org/officeDocument/2006/relationships/image" Target="../media/image43.jpeg"/><Relationship Id="rId9" Type="http://schemas.openxmlformats.org/officeDocument/2006/relationships/image" Target="../media/image28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7" Type="http://schemas.openxmlformats.org/officeDocument/2006/relationships/image" Target="../media/image48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11" Type="http://schemas.microsoft.com/office/2007/relationships/hdphoto" Target="../media/hdphoto6.wdp"/><Relationship Id="rId10" Type="http://schemas.openxmlformats.org/officeDocument/2006/relationships/image" Target="../media/image52.png"/><Relationship Id="rId4" Type="http://schemas.microsoft.com/office/2007/relationships/hdphoto" Target="../media/hdphoto5.wdp"/><Relationship Id="rId9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sv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43.jpe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61.svg"/><Relationship Id="rId5" Type="http://schemas.openxmlformats.org/officeDocument/2006/relationships/image" Target="../media/image56.png"/><Relationship Id="rId15" Type="http://schemas.openxmlformats.org/officeDocument/2006/relationships/image" Target="../media/image63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69.png"/><Relationship Id="rId7" Type="http://schemas.openxmlformats.org/officeDocument/2006/relationships/image" Target="../media/image22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11" Type="http://schemas.openxmlformats.org/officeDocument/2006/relationships/image" Target="../media/image80.png"/><Relationship Id="rId5" Type="http://schemas.openxmlformats.org/officeDocument/2006/relationships/image" Target="../media/image64.png"/><Relationship Id="rId10" Type="http://schemas.openxmlformats.org/officeDocument/2006/relationships/image" Target="../media/image79.png"/><Relationship Id="rId4" Type="http://schemas.openxmlformats.org/officeDocument/2006/relationships/image" Target="../media/image77.png"/><Relationship Id="rId9" Type="http://schemas.microsoft.com/office/2007/relationships/hdphoto" Target="../media/hdphoto1.wdp"/><Relationship Id="rId14" Type="http://schemas.openxmlformats.org/officeDocument/2006/relationships/image" Target="../media/image4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0.png"/><Relationship Id="rId18" Type="http://schemas.openxmlformats.org/officeDocument/2006/relationships/image" Target="../media/image48.png"/><Relationship Id="rId3" Type="http://schemas.openxmlformats.org/officeDocument/2006/relationships/image" Target="../media/image71.png"/><Relationship Id="rId12" Type="http://schemas.openxmlformats.org/officeDocument/2006/relationships/image" Target="../media/image84.png"/><Relationship Id="rId17" Type="http://schemas.openxmlformats.org/officeDocument/2006/relationships/image" Target="../media/image85.png"/><Relationship Id="rId2" Type="http://schemas.openxmlformats.org/officeDocument/2006/relationships/image" Target="../media/image70.png"/><Relationship Id="rId16" Type="http://schemas.openxmlformats.org/officeDocument/2006/relationships/image" Target="../media/image5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81.png"/><Relationship Id="rId5" Type="http://schemas.microsoft.com/office/2007/relationships/hdphoto" Target="../media/hdphoto1.wdp"/><Relationship Id="rId15" Type="http://schemas.openxmlformats.org/officeDocument/2006/relationships/image" Target="../media/image520.png"/><Relationship Id="rId10" Type="http://schemas.openxmlformats.org/officeDocument/2006/relationships/image" Target="../media/image790.png"/><Relationship Id="rId4" Type="http://schemas.openxmlformats.org/officeDocument/2006/relationships/image" Target="../media/image18.png"/><Relationship Id="rId9" Type="http://schemas.openxmlformats.org/officeDocument/2006/relationships/image" Target="../media/image780.png"/><Relationship Id="rId14" Type="http://schemas.openxmlformats.org/officeDocument/2006/relationships/image" Target="../media/image83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jpe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3.jpeg"/><Relationship Id="rId7" Type="http://schemas.openxmlformats.org/officeDocument/2006/relationships/image" Target="../media/image8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78.png"/><Relationship Id="rId10" Type="http://schemas.openxmlformats.org/officeDocument/2006/relationships/image" Target="../media/image86.png"/><Relationship Id="rId4" Type="http://schemas.openxmlformats.org/officeDocument/2006/relationships/image" Target="../media/image76.png"/><Relationship Id="rId9" Type="http://schemas.openxmlformats.org/officeDocument/2006/relationships/image" Target="../media/image6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6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16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blog/latest-updates/seymour-w-duncans-interview-with-seth-lov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30.png"/><Relationship Id="rId7" Type="http://schemas.openxmlformats.org/officeDocument/2006/relationships/image" Target="../media/image300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9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9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00.png"/><Relationship Id="rId7" Type="http://schemas.openxmlformats.org/officeDocument/2006/relationships/image" Target="../media/image114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microsoft.com/office/2007/relationships/hdphoto" Target="../media/hdphoto11.wdp"/><Relationship Id="rId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121F9-7273-1CF4-F60D-E01BEEB3AF96}"/>
              </a:ext>
            </a:extLst>
          </p:cNvPr>
          <p:cNvSpPr/>
          <p:nvPr/>
        </p:nvSpPr>
        <p:spPr>
          <a:xfrm>
            <a:off x="628649" y="262383"/>
            <a:ext cx="7886701" cy="7752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Black" panose="020B0A04020102020204" pitchFamily="34" charset="0"/>
              </a:rPr>
              <a:t>Guitare électrique : Étude  de l’influence du type de bobinage dans le micro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CA91E38-0C9E-C7FB-9A24-FA98AC9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z="1050" b="1" dirty="0"/>
              <a:t>2026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1FCC0EF-4B1B-F41C-656B-2BE699CD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305C624-2E1B-C39E-B3B4-807FF6A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</a:t>
            </a:fld>
            <a:endParaRPr lang="fr-FR" b="1" dirty="0"/>
          </a:p>
        </p:txBody>
      </p:sp>
      <p:pic>
        <p:nvPicPr>
          <p:cNvPr id="1026" name="Picture 2" descr="Guitare, La Musique, Guitare Électrique">
            <a:extLst>
              <a:ext uri="{FF2B5EF4-FFF2-40B4-BE49-F238E27FC236}">
                <a16:creationId xmlns:a16="http://schemas.microsoft.com/office/drawing/2014/main" id="{0098F414-3793-7E07-8CE1-A5A56D7C2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423"/>
          <a:stretch>
            <a:fillRect/>
          </a:stretch>
        </p:blipFill>
        <p:spPr bwMode="auto">
          <a:xfrm>
            <a:off x="628662" y="1210868"/>
            <a:ext cx="7886688" cy="48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6559-264F-60FB-1D37-320CA1D9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1EE70EB-793F-4DE4-5CD3-06C1970A54E3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06D130B-046F-5180-5387-DB486A265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2026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01B0276-EFF9-456D-E1E7-4ED3C710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2</a:t>
            </a:fld>
            <a:endParaRPr lang="fr-F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7DB1DB-6877-AD95-7BFA-723F07652E4D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3F7BFC6-A0BB-58CB-0A26-507B2DF051F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oter Placeholder 2">
              <a:extLst>
                <a:ext uri="{FF2B5EF4-FFF2-40B4-BE49-F238E27FC236}">
                  <a16:creationId xmlns:a16="http://schemas.microsoft.com/office/drawing/2014/main" id="{C41DAE65-9B17-4A9F-2325-941B2D69EBC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404F2-95E1-6C3C-2AC8-4C3EA8AF8028}"/>
              </a:ext>
            </a:extLst>
          </p:cNvPr>
          <p:cNvSpPr/>
          <p:nvPr/>
        </p:nvSpPr>
        <p:spPr>
          <a:xfrm>
            <a:off x="622219" y="50899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7685325-6DB0-D00D-F7AE-FBD7499B9A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177681"/>
              </p:ext>
            </p:extLst>
          </p:nvPr>
        </p:nvGraphicFramePr>
        <p:xfrm>
          <a:off x="622219" y="1557243"/>
          <a:ext cx="7899561" cy="3133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Graphic 14" descr="Bank with solid fill">
            <a:extLst>
              <a:ext uri="{FF2B5EF4-FFF2-40B4-BE49-F238E27FC236}">
                <a16:creationId xmlns:a16="http://schemas.microsoft.com/office/drawing/2014/main" id="{0A05600E-BBED-713B-0765-F9FC4C8B4F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1043" y="4687846"/>
            <a:ext cx="914400" cy="914400"/>
          </a:xfrm>
          <a:prstGeom prst="rect">
            <a:avLst/>
          </a:prstGeom>
        </p:spPr>
      </p:pic>
      <p:pic>
        <p:nvPicPr>
          <p:cNvPr id="19" name="Graphic 18" descr="Earth globe: Africa and Europe with solid fill">
            <a:extLst>
              <a:ext uri="{FF2B5EF4-FFF2-40B4-BE49-F238E27FC236}">
                <a16:creationId xmlns:a16="http://schemas.microsoft.com/office/drawing/2014/main" id="{18E70CB9-42FE-B71F-A1C8-24CE93E332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6203" y="4735221"/>
            <a:ext cx="914400" cy="914400"/>
          </a:xfrm>
          <a:prstGeom prst="rect">
            <a:avLst/>
          </a:prstGeom>
        </p:spPr>
      </p:pic>
      <p:pic>
        <p:nvPicPr>
          <p:cNvPr id="21" name="Graphic 20" descr="Music note with solid fill">
            <a:extLst>
              <a:ext uri="{FF2B5EF4-FFF2-40B4-BE49-F238E27FC236}">
                <a16:creationId xmlns:a16="http://schemas.microsoft.com/office/drawing/2014/main" id="{84DFF8B1-F884-2B2A-7E80-9BC9C2825C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3397" y="472997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C7AD5E-8D0B-A100-8BC7-8968AFC40EF4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[1]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91B9131-EB23-2B12-2B61-FA931564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98856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04F0-B502-65BC-6A09-35CFB45E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9BCC782-0D3B-CED9-60B9-795B1EBEEAEE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D6EDA89-9709-22F1-2CE0-CBAB49D2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70CCCFE-D2CF-F036-A6E9-C8D4FF0A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3</a:t>
            </a:fld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CF84F-B284-FFE6-89D6-BC064CAF24E5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BD08EE-D283-DD4F-BD91-A527520D3F09}"/>
              </a:ext>
            </a:extLst>
          </p:cNvPr>
          <p:cNvGrpSpPr/>
          <p:nvPr/>
        </p:nvGrpSpPr>
        <p:grpSpPr>
          <a:xfrm>
            <a:off x="-136497" y="1186363"/>
            <a:ext cx="9223365" cy="3939301"/>
            <a:chOff x="-143123" y="1695451"/>
            <a:chExt cx="9223365" cy="389376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AD59C-BE3D-5354-10F1-5FB60C9BA5F8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93765"/>
              <a:chOff x="1006751" y="1255937"/>
              <a:chExt cx="6952009" cy="3872654"/>
            </a:xfrm>
          </p:grpSpPr>
          <p:pic>
            <p:nvPicPr>
              <p:cNvPr id="16" name="Picture 15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8671EF1F-85A1-8978-42ED-6DC100D8E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1026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CC805345-A78D-D399-DA6C-BFFD053F56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E11A188-CC0E-DA89-77CB-1A851E9A6CC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76318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31" name="Picture 8" descr="Sound PNG Transparent Images">
              <a:extLst>
                <a:ext uri="{FF2B5EF4-FFF2-40B4-BE49-F238E27FC236}">
                  <a16:creationId xmlns:a16="http://schemas.microsoft.com/office/drawing/2014/main" id="{C5A23D53-5DDB-D416-A41A-F727728A5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4464" y="2449034"/>
              <a:ext cx="2325778" cy="2325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27FF2A-9CB1-1AF7-C7B2-1DA1B28400B9}"/>
              </a:ext>
            </a:extLst>
          </p:cNvPr>
          <p:cNvGrpSpPr/>
          <p:nvPr/>
        </p:nvGrpSpPr>
        <p:grpSpPr>
          <a:xfrm>
            <a:off x="385745" y="5434033"/>
            <a:ext cx="8293184" cy="739359"/>
            <a:chOff x="385745" y="5494993"/>
            <a:chExt cx="8293184" cy="73935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4A1EF4-71C5-AFEC-F51C-54253E6418D7}"/>
                </a:ext>
              </a:extLst>
            </p:cNvPr>
            <p:cNvGrpSpPr/>
            <p:nvPr/>
          </p:nvGrpSpPr>
          <p:grpSpPr>
            <a:xfrm>
              <a:off x="385745" y="5495226"/>
              <a:ext cx="8293184" cy="739126"/>
              <a:chOff x="385745" y="5495226"/>
              <a:chExt cx="8293184" cy="73912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4F9E293-216E-15DD-4F6F-A29FF3E6E51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2C0AC77-D285-65B0-D66E-4E098D9D4641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E0D4AE5-9607-4DB4-BE36-56A5094F4DD2}"/>
                    </a:ext>
                  </a:extLst>
                </p:cNvPr>
                <p:cNvCxnSpPr>
                  <a:cxnSpLocks/>
                  <a:stCxn id="29" idx="3"/>
                  <a:endCxn id="12" idx="1"/>
                </p:cNvCxnSpPr>
                <p:nvPr/>
              </p:nvCxnSpPr>
              <p:spPr>
                <a:xfrm>
                  <a:off x="5467171" y="3428768"/>
                  <a:ext cx="572727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C0C996A-BF1C-90EE-8498-2E1A93560CCF}"/>
                    </a:ext>
                  </a:extLst>
                </p:cNvPr>
                <p:cNvCxnSpPr>
                  <a:cxnSpLocks/>
                  <a:endCxn id="29" idx="1"/>
                </p:cNvCxnSpPr>
                <p:nvPr/>
              </p:nvCxnSpPr>
              <p:spPr>
                <a:xfrm flipV="1">
                  <a:off x="1833334" y="3428768"/>
                  <a:ext cx="572726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2A0A7D1-8E1F-6D54-6F03-9C163D4121DE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259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574FC-33E4-37D5-8403-057A812BEBA3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96A4DF-AA46-B362-6EF6-93AC149BD5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3F6E7F-9ED7-799A-C6AD-763658746D8C}"/>
                </a:ext>
              </a:extLst>
            </p:cNvPr>
            <p:cNvSpPr/>
            <p:nvPr/>
          </p:nvSpPr>
          <p:spPr>
            <a:xfrm>
              <a:off x="1854515" y="5494993"/>
              <a:ext cx="3061111" cy="73912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Micro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E09AD39-0921-EB4A-1080-583A356887F2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[2]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8E4CD4-00A8-3FA0-0551-6DB2B6DC9710}"/>
              </a:ext>
            </a:extLst>
          </p:cNvPr>
          <p:cNvGrpSpPr/>
          <p:nvPr/>
        </p:nvGrpSpPr>
        <p:grpSpPr>
          <a:xfrm>
            <a:off x="0" y="2871"/>
            <a:ext cx="9144000" cy="457200"/>
            <a:chOff x="0" y="-4624"/>
            <a:chExt cx="91440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469BF9-1B77-D487-E34B-BA7FE33C007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Footer Placeholder 2">
              <a:extLst>
                <a:ext uri="{FF2B5EF4-FFF2-40B4-BE49-F238E27FC236}">
                  <a16:creationId xmlns:a16="http://schemas.microsoft.com/office/drawing/2014/main" id="{55F797F5-28D9-E72A-3828-5A4E5762DF7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75457-0E9C-DB85-2DE0-B08ED03C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8417795-70F9-02E7-96CE-574852CA0F0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8314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5C65-7A37-1B90-FBC8-8C517E9F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B411610-91CC-1D3E-B007-8E0F6F5EEE2B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850E460-ACA2-5F53-1BA7-DFA31DA1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35420-6FBF-ADA3-65E6-29E798D8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4</a:t>
            </a:fld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A5B9C0-C73A-6300-0522-20EE954AE8F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A31A0-C03C-F3ED-69F4-C6FFE6CFE4F6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[1]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F2AC397-DBC1-5503-0B8B-93145E542A30}"/>
              </a:ext>
            </a:extLst>
          </p:cNvPr>
          <p:cNvGrpSpPr/>
          <p:nvPr/>
        </p:nvGrpSpPr>
        <p:grpSpPr>
          <a:xfrm>
            <a:off x="0" y="2871"/>
            <a:ext cx="9144000" cy="457200"/>
            <a:chOff x="0" y="-4624"/>
            <a:chExt cx="91440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792449-E4D3-8512-C655-89A9C46CAF2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Footer Placeholder 2">
              <a:extLst>
                <a:ext uri="{FF2B5EF4-FFF2-40B4-BE49-F238E27FC236}">
                  <a16:creationId xmlns:a16="http://schemas.microsoft.com/office/drawing/2014/main" id="{B08D73A0-6C90-69E7-457F-60D0EE1AF3F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E365F-73BC-124E-0AA1-05822C89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8FB3C2F-F634-79DF-634E-4FB985FD79C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/>
              <a:t>Introduction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AE2E80-E912-D97C-8D4D-D8FA1169D84C}"/>
              </a:ext>
            </a:extLst>
          </p:cNvPr>
          <p:cNvGrpSpPr/>
          <p:nvPr/>
        </p:nvGrpSpPr>
        <p:grpSpPr>
          <a:xfrm>
            <a:off x="330200" y="978128"/>
            <a:ext cx="8498627" cy="4901743"/>
            <a:chOff x="330200" y="1423280"/>
            <a:chExt cx="8498627" cy="4901743"/>
          </a:xfrm>
        </p:grpSpPr>
        <p:pic>
          <p:nvPicPr>
            <p:cNvPr id="6" name="Picture 5" descr="Guitar Pickup Market By Region">
              <a:extLst>
                <a:ext uri="{FF2B5EF4-FFF2-40B4-BE49-F238E27FC236}">
                  <a16:creationId xmlns:a16="http://schemas.microsoft.com/office/drawing/2014/main" id="{6DA00D97-DD6A-62D3-2FEF-6FDA183FC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1" t="1" r="88" b="1662"/>
            <a:stretch>
              <a:fillRect/>
            </a:stretch>
          </p:blipFill>
          <p:spPr>
            <a:xfrm>
              <a:off x="330200" y="1423280"/>
              <a:ext cx="8498627" cy="469684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E4591E-213D-DD3D-F756-86FF1B678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4285" y="5785023"/>
              <a:ext cx="766733" cy="540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935B24-D3D4-E1C7-7221-E3E13E20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1697" y="5785023"/>
              <a:ext cx="766313" cy="5400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5A42A2-4676-292B-E960-C64B3D3DE5C5}"/>
                </a:ext>
              </a:extLst>
            </p:cNvPr>
            <p:cNvSpPr/>
            <p:nvPr/>
          </p:nvSpPr>
          <p:spPr>
            <a:xfrm>
              <a:off x="1119987" y="3792511"/>
              <a:ext cx="2627554" cy="179670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3B1C9B-ECF9-F287-89FF-67656642FDEC}"/>
                </a:ext>
              </a:extLst>
            </p:cNvPr>
            <p:cNvSpPr txBox="1"/>
            <p:nvPr/>
          </p:nvSpPr>
          <p:spPr>
            <a:xfrm>
              <a:off x="1985724" y="3452852"/>
              <a:ext cx="7859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60%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5538530-AEDA-8079-4FC7-7FE95B066120}"/>
              </a:ext>
            </a:extLst>
          </p:cNvPr>
          <p:cNvSpPr txBox="1"/>
          <p:nvPr/>
        </p:nvSpPr>
        <p:spPr>
          <a:xfrm>
            <a:off x="1323303" y="4636845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23.9%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D38844-6458-856C-27C9-4A869A89F20A}"/>
              </a:ext>
            </a:extLst>
          </p:cNvPr>
          <p:cNvSpPr txBox="1"/>
          <p:nvPr/>
        </p:nvSpPr>
        <p:spPr>
          <a:xfrm>
            <a:off x="4427185" y="300770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18.2%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E00042-FA40-4722-DEE9-BCC43CF6F914}"/>
              </a:ext>
            </a:extLst>
          </p:cNvPr>
          <p:cNvSpPr txBox="1"/>
          <p:nvPr/>
        </p:nvSpPr>
        <p:spPr>
          <a:xfrm>
            <a:off x="5919010" y="2526212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13.1%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81727A-1BF8-121E-D477-3D1C7E718221}"/>
              </a:ext>
            </a:extLst>
          </p:cNvPr>
          <p:cNvSpPr txBox="1"/>
          <p:nvPr/>
        </p:nvSpPr>
        <p:spPr>
          <a:xfrm>
            <a:off x="7475333" y="221595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8.7%</a:t>
            </a:r>
          </a:p>
        </p:txBody>
      </p:sp>
    </p:spTree>
    <p:extLst>
      <p:ext uri="{BB962C8B-B14F-4D97-AF65-F5344CB8AC3E}">
        <p14:creationId xmlns:p14="http://schemas.microsoft.com/office/powerpoint/2010/main" val="318377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BA01-5E57-F9AD-7FB1-9B31B40E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7ABC560-5331-C119-99E8-E7E487C7F79C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169199-8D0C-60A6-8967-E16A78FE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2EDCE98-18ED-99C0-05A3-B2ABDB23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5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658A02-6127-85C2-C96E-6360A48C80D9}"/>
              </a:ext>
            </a:extLst>
          </p:cNvPr>
          <p:cNvSpPr/>
          <p:nvPr/>
        </p:nvSpPr>
        <p:spPr>
          <a:xfrm>
            <a:off x="678973" y="1178781"/>
            <a:ext cx="418307" cy="49533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60A34-3C0D-7ED1-37AC-A59777E64D3C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CBCFC-B5B7-AE0C-CD83-2301C046DD2B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5C0811-70DD-0811-C4AB-C5BA5BEE7798}"/>
              </a:ext>
            </a:extLst>
          </p:cNvPr>
          <p:cNvGrpSpPr/>
          <p:nvPr/>
        </p:nvGrpSpPr>
        <p:grpSpPr>
          <a:xfrm>
            <a:off x="757357" y="1267336"/>
            <a:ext cx="2794357" cy="1456239"/>
            <a:chOff x="757357" y="3644776"/>
            <a:chExt cx="2794357" cy="145623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B888DA-EA85-BACA-4DA1-AC7AADA6FDED}"/>
                </a:ext>
              </a:extLst>
            </p:cNvPr>
            <p:cNvSpPr/>
            <p:nvPr/>
          </p:nvSpPr>
          <p:spPr>
            <a:xfrm>
              <a:off x="757357" y="426327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E0E33EAE-DCBB-59AD-9586-0B278CCFB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7" r="7227"/>
            <a:stretch/>
          </p:blipFill>
          <p:spPr bwMode="auto">
            <a:xfrm>
              <a:off x="1802614" y="3655444"/>
              <a:ext cx="1749100" cy="1440000"/>
            </a:xfrm>
            <a:prstGeom prst="rect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A955A1-3FE8-E23C-FB32-197625FCE777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V="1">
              <a:off x="794262" y="3644776"/>
              <a:ext cx="1008352" cy="655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9FA4007-D881-298D-16E0-8B10B844EC49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794262" y="4478374"/>
              <a:ext cx="1008352" cy="622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C89D83A-8EAF-A29A-3D99-1A5A4BA3B567}"/>
              </a:ext>
            </a:extLst>
          </p:cNvPr>
          <p:cNvSpPr txBox="1"/>
          <p:nvPr/>
        </p:nvSpPr>
        <p:spPr>
          <a:xfrm>
            <a:off x="1071094" y="1826633"/>
            <a:ext cx="731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1931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1B0F9D-8566-0C35-DA3D-12B83B1D5D8F}"/>
              </a:ext>
            </a:extLst>
          </p:cNvPr>
          <p:cNvGrpSpPr/>
          <p:nvPr/>
        </p:nvGrpSpPr>
        <p:grpSpPr>
          <a:xfrm>
            <a:off x="4257048" y="1278005"/>
            <a:ext cx="4556752" cy="4679896"/>
            <a:chOff x="5128260" y="2555821"/>
            <a:chExt cx="3281103" cy="2838917"/>
          </a:xfrm>
        </p:grpSpPr>
        <p:pic>
          <p:nvPicPr>
            <p:cNvPr id="10" name="Picture 9" descr="A blue and white drawing of a square and a rectangle&#10;&#10;AI-generated content may be incorrect.">
              <a:extLst>
                <a:ext uri="{FF2B5EF4-FFF2-40B4-BE49-F238E27FC236}">
                  <a16:creationId xmlns:a16="http://schemas.microsoft.com/office/drawing/2014/main" id="{35B1D760-66A7-4EF2-06F7-CEB0F7405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161" r="12491"/>
            <a:stretch>
              <a:fillRect/>
            </a:stretch>
          </p:blipFill>
          <p:spPr>
            <a:xfrm>
              <a:off x="5128260" y="2555821"/>
              <a:ext cx="3281103" cy="283891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6B4602-42B8-CD9D-7B5A-B72982226E4D}"/>
                </a:ext>
              </a:extLst>
            </p:cNvPr>
            <p:cNvSpPr/>
            <p:nvPr/>
          </p:nvSpPr>
          <p:spPr>
            <a:xfrm>
              <a:off x="6606541" y="3415664"/>
              <a:ext cx="308610" cy="2698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BEE47B49-AC29-0A5B-BE91-5834088C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2494" b="70953" l="13960" r="44675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20" t="27687" r="51486" b="24239"/>
            <a:stretch>
              <a:fillRect/>
            </a:stretch>
          </p:blipFill>
          <p:spPr>
            <a:xfrm>
              <a:off x="5573128" y="3130807"/>
              <a:ext cx="2477717" cy="1693612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30357CB-6D07-11C5-8EC3-85C6EB5CB4BF}"/>
                </a:ext>
              </a:extLst>
            </p:cNvPr>
            <p:cNvSpPr/>
            <p:nvPr/>
          </p:nvSpPr>
          <p:spPr>
            <a:xfrm>
              <a:off x="6704837" y="3200415"/>
              <a:ext cx="103688" cy="8735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369F20-F607-9F18-F30E-4FC8F48B5B99}"/>
              </a:ext>
            </a:extLst>
          </p:cNvPr>
          <p:cNvSpPr txBox="1"/>
          <p:nvPr/>
        </p:nvSpPr>
        <p:spPr>
          <a:xfrm>
            <a:off x="1951551" y="2415066"/>
            <a:ext cx="145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SingleCoil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53688-28E3-395D-70F6-E50EF0BE10AB}"/>
              </a:ext>
            </a:extLst>
          </p:cNvPr>
          <p:cNvSpPr txBox="1"/>
          <p:nvPr/>
        </p:nvSpPr>
        <p:spPr>
          <a:xfrm flipH="1">
            <a:off x="2037872" y="3211542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181BAC7-2F05-D532-04C6-1C065A8CDC42}"/>
              </a:ext>
            </a:extLst>
          </p:cNvPr>
          <p:cNvCxnSpPr>
            <a:cxnSpLocks/>
            <a:stCxn id="14" idx="1"/>
          </p:cNvCxnSpPr>
          <p:nvPr/>
        </p:nvCxnSpPr>
        <p:spPr>
          <a:xfrm flipV="1">
            <a:off x="3491406" y="2410534"/>
            <a:ext cx="2993270" cy="939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750372-0D76-1A6A-DD9B-C7FF226BC376}"/>
              </a:ext>
            </a:extLst>
          </p:cNvPr>
          <p:cNvSpPr txBox="1"/>
          <p:nvPr/>
        </p:nvSpPr>
        <p:spPr>
          <a:xfrm flipH="1">
            <a:off x="2037872" y="3973760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CDBB6C-E453-637C-7462-FBC874B60003}"/>
              </a:ext>
            </a:extLst>
          </p:cNvPr>
          <p:cNvSpPr txBox="1"/>
          <p:nvPr/>
        </p:nvSpPr>
        <p:spPr>
          <a:xfrm flipH="1">
            <a:off x="2033051" y="4735978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 permanent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1FCA9BF-D568-7FEF-8F3A-CC03ABDECFCE}"/>
              </a:ext>
            </a:extLst>
          </p:cNvPr>
          <p:cNvCxnSpPr>
            <a:cxnSpLocks/>
            <a:stCxn id="20" idx="1"/>
          </p:cNvCxnSpPr>
          <p:nvPr/>
        </p:nvCxnSpPr>
        <p:spPr>
          <a:xfrm flipV="1">
            <a:off x="3491406" y="3542645"/>
            <a:ext cx="2249820" cy="5696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D422936-A5EF-FA57-44E3-7B65B2489857}"/>
              </a:ext>
            </a:extLst>
          </p:cNvPr>
          <p:cNvCxnSpPr>
            <a:cxnSpLocks/>
            <a:stCxn id="22" idx="2"/>
          </p:cNvCxnSpPr>
          <p:nvPr/>
        </p:nvCxnSpPr>
        <p:spPr>
          <a:xfrm rot="5400000" flipH="1" flipV="1">
            <a:off x="4491508" y="2982771"/>
            <a:ext cx="298515" cy="3761897"/>
          </a:xfrm>
          <a:prstGeom prst="bentConnector4">
            <a:avLst>
              <a:gd name="adj1" fmla="val -76579"/>
              <a:gd name="adj2" fmla="val 10002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Free femm 4.2 software download (Windows)">
            <a:extLst>
              <a:ext uri="{FF2B5EF4-FFF2-40B4-BE49-F238E27FC236}">
                <a16:creationId xmlns:a16="http://schemas.microsoft.com/office/drawing/2014/main" id="{7E23C437-0ABF-7719-0798-576ADE15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368BD-720D-61CB-9C35-FD2F182B225B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[4]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3ED0EB-ADA7-D81C-5F05-2B5D2AD07D1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F004B6D-96AC-28F8-21DD-0746899C49D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Footer Placeholder 2">
              <a:extLst>
                <a:ext uri="{FF2B5EF4-FFF2-40B4-BE49-F238E27FC236}">
                  <a16:creationId xmlns:a16="http://schemas.microsoft.com/office/drawing/2014/main" id="{6D4BF689-D8A2-78A0-F585-E663844622D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0EE9C1D9-D262-11D0-9BC5-9F3CCB21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52776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5CDC-E18A-6821-CC67-B07651DB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8092A65-490B-4AC0-8393-01D12A337A0D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94324AA-72FC-C282-79A1-90C96CC9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1DEB640-326C-4C8A-4353-C88BEC4C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6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875690-14A5-1EF6-BD3E-E169BCC560FD}"/>
              </a:ext>
            </a:extLst>
          </p:cNvPr>
          <p:cNvSpPr/>
          <p:nvPr/>
        </p:nvSpPr>
        <p:spPr>
          <a:xfrm>
            <a:off x="678973" y="1178781"/>
            <a:ext cx="418307" cy="49533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37ED1-A8A1-92A6-E436-7B0AE35C232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39AF3-B671-1A96-D11D-9164EFD8F565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07AC0-394D-84B1-8162-3042EECBDF45}"/>
              </a:ext>
            </a:extLst>
          </p:cNvPr>
          <p:cNvSpPr/>
          <p:nvPr/>
        </p:nvSpPr>
        <p:spPr>
          <a:xfrm>
            <a:off x="622219" y="1351909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5D5EF-60B2-6FAD-3936-D1828DDA27A4}"/>
              </a:ext>
            </a:extLst>
          </p:cNvPr>
          <p:cNvSpPr/>
          <p:nvPr/>
        </p:nvSpPr>
        <p:spPr>
          <a:xfrm>
            <a:off x="642999" y="1720375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AA9F8-0DCE-F3A1-2774-4F4BB52CB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1489540" y="1506714"/>
            <a:ext cx="7074840" cy="4297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19AA84-9CCA-017E-FDA8-64E4C692C133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[4]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2A2EE1-E8ED-145D-23DC-A42B417BD1CE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F5C53E-7258-89EE-AB47-C65C987E144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1670C4DF-4D6D-CC6F-D012-E1872949C00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7BDCDD4D-4B66-2C58-F3EC-5C0B5C1B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91952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3F0E-84CD-C391-808C-60FB199D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CA72259-54E2-49A4-C520-ECE0702321F5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72C224-2B65-C621-0EC0-73274997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9ED0F94-BE44-0B30-1195-0C653D9E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7</a:t>
            </a:fld>
            <a:endParaRPr lang="fr-FR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3DE5677-D04C-C907-22CF-48E34F9CEF3C}"/>
              </a:ext>
            </a:extLst>
          </p:cNvPr>
          <p:cNvSpPr/>
          <p:nvPr/>
        </p:nvSpPr>
        <p:spPr>
          <a:xfrm>
            <a:off x="322686" y="1178781"/>
            <a:ext cx="1125078" cy="4500438"/>
          </a:xfrm>
          <a:prstGeom prst="downArrow">
            <a:avLst>
              <a:gd name="adj1" fmla="val 37279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67775C-D727-1789-6DAC-ED5112DC6709}"/>
              </a:ext>
            </a:extLst>
          </p:cNvPr>
          <p:cNvSpPr/>
          <p:nvPr/>
        </p:nvSpPr>
        <p:spPr>
          <a:xfrm>
            <a:off x="640098" y="1353566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66C38B-927C-53CF-E6AB-365D740BBA91}"/>
              </a:ext>
            </a:extLst>
          </p:cNvPr>
          <p:cNvSpPr/>
          <p:nvPr/>
        </p:nvSpPr>
        <p:spPr>
          <a:xfrm>
            <a:off x="622370" y="171795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2E47D5-1C5D-136A-061D-9A1220859249}"/>
              </a:ext>
            </a:extLst>
          </p:cNvPr>
          <p:cNvGrpSpPr/>
          <p:nvPr/>
        </p:nvGrpSpPr>
        <p:grpSpPr>
          <a:xfrm>
            <a:off x="757357" y="3644776"/>
            <a:ext cx="2840277" cy="1456239"/>
            <a:chOff x="757357" y="3644776"/>
            <a:chExt cx="2840277" cy="145623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69E515-1F8E-1A6F-32EB-A4113124209A}"/>
                </a:ext>
              </a:extLst>
            </p:cNvPr>
            <p:cNvSpPr/>
            <p:nvPr/>
          </p:nvSpPr>
          <p:spPr>
            <a:xfrm>
              <a:off x="757357" y="426327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C077574-15D0-65B4-FDC0-91F3532B9BE6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V="1">
              <a:off x="794262" y="3644776"/>
              <a:ext cx="1008352" cy="655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8D1783E-179B-5321-AD09-59B4859B3E63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794262" y="4478374"/>
              <a:ext cx="1008352" cy="622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EEB520E7-EF31-D47F-BBBC-DF62DEF6C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3" r="6123"/>
            <a:stretch/>
          </p:blipFill>
          <p:spPr bwMode="auto">
            <a:xfrm>
              <a:off x="1804368" y="3652396"/>
              <a:ext cx="1793266" cy="1440000"/>
            </a:xfrm>
            <a:prstGeom prst="rect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611BF4-7805-35AB-84D0-864D256DA30B}"/>
                </a:ext>
              </a:extLst>
            </p:cNvPr>
            <p:cNvSpPr txBox="1"/>
            <p:nvPr/>
          </p:nvSpPr>
          <p:spPr>
            <a:xfrm>
              <a:off x="1071094" y="4204613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/>
                <a:t>1955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FB490B0-BCD6-A56F-0B4F-C5F684FE9AB2}"/>
              </a:ext>
            </a:extLst>
          </p:cNvPr>
          <p:cNvSpPr txBox="1"/>
          <p:nvPr/>
        </p:nvSpPr>
        <p:spPr>
          <a:xfrm>
            <a:off x="1975388" y="4810594"/>
            <a:ext cx="145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Humbucker</a:t>
            </a:r>
          </a:p>
        </p:txBody>
      </p:sp>
      <p:pic>
        <p:nvPicPr>
          <p:cNvPr id="22" name="Picture 21" descr="A drawing of a computer&#10;&#10;AI-generated content may be incorrect.">
            <a:extLst>
              <a:ext uri="{FF2B5EF4-FFF2-40B4-BE49-F238E27FC236}">
                <a16:creationId xmlns:a16="http://schemas.microsoft.com/office/drawing/2014/main" id="{D940559A-4517-B76C-7191-DBF90D78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05567"/>
            <a:ext cx="4303537" cy="39380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B783AE6-51CF-96D4-FF4F-76A91E4D70CC}"/>
              </a:ext>
            </a:extLst>
          </p:cNvPr>
          <p:cNvSpPr/>
          <p:nvPr/>
        </p:nvSpPr>
        <p:spPr>
          <a:xfrm>
            <a:off x="5953149" y="2713650"/>
            <a:ext cx="428593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9966DA-65A5-0089-96C5-341C4C44043D}"/>
              </a:ext>
            </a:extLst>
          </p:cNvPr>
          <p:cNvSpPr/>
          <p:nvPr/>
        </p:nvSpPr>
        <p:spPr>
          <a:xfrm>
            <a:off x="7250271" y="2713650"/>
            <a:ext cx="247651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2B7CE4-DCA4-58A6-9A88-29EF0568BDAF}"/>
              </a:ext>
            </a:extLst>
          </p:cNvPr>
          <p:cNvSpPr/>
          <p:nvPr/>
        </p:nvSpPr>
        <p:spPr>
          <a:xfrm>
            <a:off x="5419725" y="2891036"/>
            <a:ext cx="468895" cy="1200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ACEF00-6939-5D0B-A13E-4FE798F62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>
            <a:off x="5252630" y="2402996"/>
            <a:ext cx="3113821" cy="206033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F916CAF-70B9-62A8-15A1-E542690D7E33}"/>
              </a:ext>
            </a:extLst>
          </p:cNvPr>
          <p:cNvSpPr txBox="1"/>
          <p:nvPr/>
        </p:nvSpPr>
        <p:spPr>
          <a:xfrm flipH="1">
            <a:off x="2037872" y="1405602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8500AF0-2911-5316-990D-909F60C91DD4}"/>
              </a:ext>
            </a:extLst>
          </p:cNvPr>
          <p:cNvCxnSpPr>
            <a:cxnSpLocks/>
            <a:stCxn id="27" idx="1"/>
            <a:endCxn id="33" idx="1"/>
          </p:cNvCxnSpPr>
          <p:nvPr/>
        </p:nvCxnSpPr>
        <p:spPr>
          <a:xfrm>
            <a:off x="3491406" y="1544102"/>
            <a:ext cx="1097739" cy="7330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4B729FB-031A-BAE3-5916-1E9BCF4B4649}"/>
              </a:ext>
            </a:extLst>
          </p:cNvPr>
          <p:cNvSpPr txBox="1"/>
          <p:nvPr/>
        </p:nvSpPr>
        <p:spPr>
          <a:xfrm flipH="1">
            <a:off x="1802613" y="2167820"/>
            <a:ext cx="1683971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Aimants permanents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93002B-9402-19C4-80AB-1BF0833056FE}"/>
              </a:ext>
            </a:extLst>
          </p:cNvPr>
          <p:cNvSpPr txBox="1"/>
          <p:nvPr/>
        </p:nvSpPr>
        <p:spPr>
          <a:xfrm flipH="1">
            <a:off x="2033051" y="2930038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Bobines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27D8FF0-B915-4B4D-DDF6-06610E686E7C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4256375" y="833042"/>
            <a:ext cx="174504" cy="33980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8CECA19-DB69-E156-5705-713CB10CF7E3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3991493" y="1975362"/>
            <a:ext cx="270852" cy="273420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A070375-38D7-0425-E55D-0B48FE1180FC}"/>
              </a:ext>
            </a:extLst>
          </p:cNvPr>
          <p:cNvSpPr/>
          <p:nvPr/>
        </p:nvSpPr>
        <p:spPr>
          <a:xfrm>
            <a:off x="4589145" y="2237711"/>
            <a:ext cx="4276317" cy="7881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2" descr="Free femm 4.2 software download (Windows)">
            <a:extLst>
              <a:ext uri="{FF2B5EF4-FFF2-40B4-BE49-F238E27FC236}">
                <a16:creationId xmlns:a16="http://schemas.microsoft.com/office/drawing/2014/main" id="{3FA0ADC1-9B0B-00B1-E104-3F4417610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47C867-1F90-B54D-5817-E5B6C9DDDF8B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[4]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43A01D-9EAC-A043-6930-6CDD3B7BD02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266ADC-C1AA-F577-8E6D-3B9D08336CD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Footer Placeholder 2">
              <a:extLst>
                <a:ext uri="{FF2B5EF4-FFF2-40B4-BE49-F238E27FC236}">
                  <a16:creationId xmlns:a16="http://schemas.microsoft.com/office/drawing/2014/main" id="{6D8CEED2-0E6C-12E7-408D-63D1C066F85B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075A36E-F98A-813D-84C4-58FB63CA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68086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0E-A710-B751-21D5-1465D95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CE604F-6BFC-79C1-4FC3-CA1EA53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A6762A-3000-D56B-00BC-9C877DB7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8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0A1813A-2397-9FF3-55B4-A7083DA4BF3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6A7184-965A-9FF1-E334-6E902599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27" y="1712718"/>
            <a:ext cx="74253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Dans quelle mesure </a:t>
            </a:r>
            <a:r>
              <a:rPr lang="fr-FR" b="1" dirty="0"/>
              <a:t>l'ajout d'une seconde bobine 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permet-il </a:t>
            </a:r>
            <a:r>
              <a:rPr lang="fr-FR" b="1" dirty="0"/>
              <a:t>d'éliminer les parasites </a:t>
            </a:r>
            <a:r>
              <a:rPr lang="fr-FR" dirty="0"/>
              <a:t>?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Comment cela impacte-t-il </a:t>
            </a:r>
            <a:r>
              <a:rPr lang="fr-FR" b="1" dirty="0"/>
              <a:t>la richesse du son </a:t>
            </a:r>
            <a:r>
              <a:rPr lang="fr-FR" dirty="0"/>
              <a:t>?</a:t>
            </a: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EE9D4-1D4E-E6DD-563B-928B9E769F11}"/>
              </a:ext>
            </a:extLst>
          </p:cNvPr>
          <p:cNvSpPr txBox="1"/>
          <p:nvPr/>
        </p:nvSpPr>
        <p:spPr>
          <a:xfrm>
            <a:off x="822961" y="4436823"/>
            <a:ext cx="3749039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SingleCoil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F5EE0-EFED-C507-DAB9-15D261AF6049}"/>
              </a:ext>
            </a:extLst>
          </p:cNvPr>
          <p:cNvSpPr txBox="1"/>
          <p:nvPr/>
        </p:nvSpPr>
        <p:spPr>
          <a:xfrm>
            <a:off x="4572000" y="4436823"/>
            <a:ext cx="3837363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Humbucker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DBB3E-CACA-593E-E545-39E8047A68D3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Types de micro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92DDB-5107-9492-084E-A03244946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2067480" y="3425036"/>
            <a:ext cx="1260000" cy="1037332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E83BBAA-0E05-C329-303D-8623CD619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5860681" y="3425036"/>
            <a:ext cx="1260000" cy="10117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A2E5A45-09B6-6201-9655-31940D8E76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000343"/>
              </p:ext>
            </p:extLst>
          </p:nvPr>
        </p:nvGraphicFramePr>
        <p:xfrm>
          <a:off x="1215239" y="5535351"/>
          <a:ext cx="6962904" cy="47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D0CB6DFE-9DCE-7015-9FA8-9E678322DE7D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7B675E-C794-FA61-C6CF-1E8B427604C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2DB22642-B50B-7C34-0232-2F3D1155C6D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Problématique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15C5062-7476-D32D-8882-11E83F15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42404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729EB-D0D7-3B68-581B-D6A05530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614B4AA-2C2C-7D08-E999-257308E1354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BAC6AF7-D80B-334A-E503-388FBB7F0B40}"/>
              </a:ext>
            </a:extLst>
          </p:cNvPr>
          <p:cNvGrpSpPr/>
          <p:nvPr/>
        </p:nvGrpSpPr>
        <p:grpSpPr>
          <a:xfrm>
            <a:off x="326176" y="1002105"/>
            <a:ext cx="8527603" cy="3871961"/>
            <a:chOff x="-143123" y="1695451"/>
            <a:chExt cx="8378236" cy="38272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B0992E5-AF2D-3639-9696-6FF62E437322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27203"/>
              <a:chOff x="1006751" y="1255937"/>
              <a:chExt cx="6952009" cy="3806453"/>
            </a:xfrm>
          </p:grpSpPr>
          <p:pic>
            <p:nvPicPr>
              <p:cNvPr id="68" name="Picture 67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8E534E1B-4F89-E291-DF2A-28FE3CE800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69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F2B99565-5333-2089-C925-A7A8B6810A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8341C9F-584A-66FF-9B64-51EB3CCA08E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10117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67" name="Picture 8" descr="Sound PNG Transparent Images">
              <a:extLst>
                <a:ext uri="{FF2B5EF4-FFF2-40B4-BE49-F238E27FC236}">
                  <a16:creationId xmlns:a16="http://schemas.microsoft.com/office/drawing/2014/main" id="{0F9422B7-B165-C834-2130-92D402B216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8608" y="2831113"/>
              <a:ext cx="1476505" cy="1476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7163994-BA1F-AA7D-2A07-3939815A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2CB9E37-9841-478B-DE9B-5613E58F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9</a:t>
            </a:fld>
            <a:endParaRPr lang="fr-FR" sz="1200" b="1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7394BD4-D4CA-42B5-5EB4-DC1CC05CF34C}"/>
              </a:ext>
            </a:extLst>
          </p:cNvPr>
          <p:cNvGrpSpPr/>
          <p:nvPr/>
        </p:nvGrpSpPr>
        <p:grpSpPr>
          <a:xfrm>
            <a:off x="326177" y="4838220"/>
            <a:ext cx="8527602" cy="1210580"/>
            <a:chOff x="385745" y="5083538"/>
            <a:chExt cx="8293184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24B2076-9AFE-688B-EE16-8F10860C9FED}"/>
                </a:ext>
              </a:extLst>
            </p:cNvPr>
            <p:cNvGrpSpPr/>
            <p:nvPr/>
          </p:nvGrpSpPr>
          <p:grpSpPr>
            <a:xfrm>
              <a:off x="385745" y="5083538"/>
              <a:ext cx="8293184" cy="1150814"/>
              <a:chOff x="385745" y="5083538"/>
              <a:chExt cx="8293184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11CE323-5E17-50D8-3A2C-B8E10B291E42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D4ECFE8-1897-2B65-CB50-2C10194FD700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4352A75-E073-69EF-A7F3-406668A45F3F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9AA72A6-05D9-9C6E-8AFF-9F0BEAFF5662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1FBCB9F7-25DC-0140-A000-2C3DA2824B6A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132DFFD4-5F74-1958-26B5-5C4362EBA6F1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6444AEF1-23EB-B69E-8CD3-608C85D7C2F6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41344805-0219-20D8-6BF5-5DE11A767CB9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8EC0128F-C980-BFF5-B028-824BED7C9B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8EC0128F-C980-BFF5-B028-824BED7C9B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1C6AF476-6EEB-B5C8-234C-FE6F30DB81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1C6AF476-6EEB-B5C8-234C-FE6F30DB81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0FEE6261-805B-2861-9864-57E78B72CB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0FEE6261-805B-2861-9864-57E78B72CB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377AB9F7-D223-922E-30F2-4B5238ED60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377AB9F7-D223-922E-30F2-4B5238ED60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5333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ABAACC-CFA5-03E7-D930-3BCEFDFA9F4A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3FED51-CB52-7E5B-F5E6-F6CBC427541B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E4D2AFF-C6FC-91C7-0345-000C3DB9D86F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8A99ED0-7F9A-4A1A-990B-68E0E783AC40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71D1D5-65D4-6ED8-C991-CB32106BCDB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563003-8BF6-82A1-7DDE-D67535E7DF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Footer Placeholder 2">
              <a:extLst>
                <a:ext uri="{FF2B5EF4-FFF2-40B4-BE49-F238E27FC236}">
                  <a16:creationId xmlns:a16="http://schemas.microsoft.com/office/drawing/2014/main" id="{F3EC3ECE-C50D-0611-3EF8-8F9F94A8443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C152979-7945-49EF-C493-E02BDDCAE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665977-0C92-8AFF-0119-0F568D315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36078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95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3876-19B1-E4B6-716D-FD5FA24B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ECB0D33-C7A4-8A73-9AEE-71A29782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986005C-A574-5528-5018-7A91E88D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10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1E79BA3-AB92-32BA-3883-6CA7CE319C5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205F42-26E0-2632-97A3-AB63C2B354A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0F545D-50D5-FBF2-9B53-ED2282786BF3}"/>
                  </a:ext>
                </a:extLst>
              </p:cNvPr>
              <p:cNvSpPr txBox="1"/>
              <p:nvPr/>
            </p:nvSpPr>
            <p:spPr>
              <a:xfrm>
                <a:off x="3442144" y="5091480"/>
                <a:ext cx="5447544" cy="688073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+ </m:t>
                          </m:r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LC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0F545D-50D5-FBF2-9B53-ED2282786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144" y="5091480"/>
                <a:ext cx="5447544" cy="6880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D2AAE83-25D6-5C8B-6786-A77DE700832E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Simulation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5CF74A-3235-334E-632B-CC390B45C369}"/>
              </a:ext>
            </a:extLst>
          </p:cNvPr>
          <p:cNvSpPr/>
          <p:nvPr/>
        </p:nvSpPr>
        <p:spPr>
          <a:xfrm flipV="1">
            <a:off x="7457440" y="3112184"/>
            <a:ext cx="34883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F9204D-E32E-5B95-5640-B88E7B17169B}"/>
              </a:ext>
            </a:extLst>
          </p:cNvPr>
          <p:cNvSpPr/>
          <p:nvPr/>
        </p:nvSpPr>
        <p:spPr>
          <a:xfrm flipV="1">
            <a:off x="8306560" y="3163393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B75D12-6B9E-4593-678A-EE6E88218F7F}"/>
              </a:ext>
            </a:extLst>
          </p:cNvPr>
          <p:cNvSpPr/>
          <p:nvPr/>
        </p:nvSpPr>
        <p:spPr>
          <a:xfrm flipV="1">
            <a:off x="6182131" y="4000962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55C530-9B63-4FD8-E152-A4133E03F058}"/>
              </a:ext>
            </a:extLst>
          </p:cNvPr>
          <p:cNvSpPr txBox="1"/>
          <p:nvPr/>
        </p:nvSpPr>
        <p:spPr>
          <a:xfrm>
            <a:off x="4008208" y="5823997"/>
            <a:ext cx="4347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Passe bas 2</a:t>
            </a:r>
            <a:r>
              <a:rPr lang="fr-FR" sz="1200" b="1" baseline="30000" dirty="0"/>
              <a:t>nd</a:t>
            </a:r>
            <a:r>
              <a:rPr lang="fr-FR" sz="1200" b="1" dirty="0"/>
              <a:t> Ordre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C52100-2078-7084-F07D-5ED9A35E972E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[5]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8DE0F6-F3D3-60E9-AC95-080A1CFD27A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DAFFA78-1391-21A7-5466-4FF63E94793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Footer Placeholder 2">
              <a:extLst>
                <a:ext uri="{FF2B5EF4-FFF2-40B4-BE49-F238E27FC236}">
                  <a16:creationId xmlns:a16="http://schemas.microsoft.com/office/drawing/2014/main" id="{681DBAC5-62E8-3152-7554-3CBF30156F3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B7C302-CEAE-E02C-8A9F-5586C3510386}"/>
                  </a:ext>
                </a:extLst>
              </p:cNvPr>
              <p:cNvSpPr/>
              <p:nvPr/>
            </p:nvSpPr>
            <p:spPr>
              <a:xfrm>
                <a:off x="326176" y="1110401"/>
                <a:ext cx="2878491" cy="4960615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Modèle</a:t>
                </a:r>
              </a:p>
              <a:p>
                <a:pPr algn="ctr"/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Force électromotrice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FEM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Tension induite dans le micro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Inductance série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Inductance du bobinage du micro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série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Resistance interne du bobinage en CC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Condensateur parallèle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Capacité parasite entre les spires du bobinage</a:t>
                </a: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parallèle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Perte par courants de Foucault</a:t>
                </a: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amp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Resistance d’entrée d’un amplificateur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B7C302-CEAE-E02C-8A9F-5586C3510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1110401"/>
                <a:ext cx="2878491" cy="4960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C03D690-8EC1-39C0-78A9-76F7F54EC971}"/>
              </a:ext>
            </a:extLst>
          </p:cNvPr>
          <p:cNvGrpSpPr/>
          <p:nvPr/>
        </p:nvGrpSpPr>
        <p:grpSpPr>
          <a:xfrm>
            <a:off x="3442144" y="1139891"/>
            <a:ext cx="5447544" cy="3869802"/>
            <a:chOff x="1054903" y="1363393"/>
            <a:chExt cx="4626939" cy="3600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5F175ED-75BD-0594-4496-836405341042}"/>
                </a:ext>
              </a:extLst>
            </p:cNvPr>
            <p:cNvGrpSpPr/>
            <p:nvPr/>
          </p:nvGrpSpPr>
          <p:grpSpPr>
            <a:xfrm>
              <a:off x="1054903" y="1363393"/>
              <a:ext cx="4626939" cy="3600000"/>
              <a:chOff x="1054904" y="1200155"/>
              <a:chExt cx="4927617" cy="3601072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2C8B805-5A00-DF26-9274-1372E1E8BC4E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54904" y="1200155"/>
                <a:ext cx="4927617" cy="36010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4FF6692-02DB-2BAD-9736-3F7A9C46E824}"/>
                  </a:ext>
                </a:extLst>
              </p:cNvPr>
              <p:cNvSpPr/>
              <p:nvPr/>
            </p:nvSpPr>
            <p:spPr>
              <a:xfrm>
                <a:off x="1486014" y="210415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733BCE-A9AF-5C2C-0150-DCF00D160A00}"/>
                  </a:ext>
                </a:extLst>
              </p:cNvPr>
              <p:cNvSpPr/>
              <p:nvPr/>
            </p:nvSpPr>
            <p:spPr>
              <a:xfrm>
                <a:off x="2555070" y="303342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A97779-86EB-D4C5-0616-D79902CA7A03}"/>
                  </a:ext>
                </a:extLst>
              </p:cNvPr>
              <p:cNvSpPr/>
              <p:nvPr/>
            </p:nvSpPr>
            <p:spPr>
              <a:xfrm>
                <a:off x="3715970" y="3073533"/>
                <a:ext cx="703406" cy="2401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666622-D887-C02B-48A3-3C066C5B2CED}"/>
                  </a:ext>
                </a:extLst>
              </p:cNvPr>
              <p:cNvSpPr/>
              <p:nvPr/>
            </p:nvSpPr>
            <p:spPr>
              <a:xfrm>
                <a:off x="5397029" y="3091033"/>
                <a:ext cx="527521" cy="2011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C13F4F8-18A5-4057-201D-4D1070B2E781}"/>
                  </a:ext>
                </a:extLst>
              </p:cNvPr>
              <p:cNvSpPr/>
              <p:nvPr/>
            </p:nvSpPr>
            <p:spPr>
              <a:xfrm>
                <a:off x="1468417" y="3119201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3943E8A-1FC6-FC7C-384C-53948D2FB57F}"/>
                </a:ext>
              </a:extLst>
            </p:cNvPr>
            <p:cNvCxnSpPr/>
            <p:nvPr/>
          </p:nvCxnSpPr>
          <p:spPr>
            <a:xfrm flipV="1">
              <a:off x="1601848" y="3920464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06677D-0818-3210-9991-80EAAFAEA943}"/>
                    </a:ext>
                  </a:extLst>
                </p:cNvPr>
                <p:cNvSpPr txBox="1"/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06677D-0818-3210-9991-80EAAFAEA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5769" t="-3333" r="-15385" b="-4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2D71FB5-B582-D158-98B2-AFA7CCD504A8}"/>
                </a:ext>
              </a:extLst>
            </p:cNvPr>
            <p:cNvCxnSpPr/>
            <p:nvPr/>
          </p:nvCxnSpPr>
          <p:spPr>
            <a:xfrm flipV="1">
              <a:off x="4752281" y="2872673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BEA564-E231-D34A-1E71-EDA0435E746B}"/>
                    </a:ext>
                  </a:extLst>
                </p:cNvPr>
                <p:cNvSpPr txBox="1"/>
                <p:nvPr/>
              </p:nvSpPr>
              <p:spPr>
                <a:xfrm>
                  <a:off x="4413719" y="3036680"/>
                  <a:ext cx="32117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BEA564-E231-D34A-1E71-EDA0435E74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3719" y="3036680"/>
                  <a:ext cx="321178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5660" r="-13208" b="-4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812AC73-6CEC-C446-2C29-D16FE96678A7}"/>
              </a:ext>
            </a:extLst>
          </p:cNvPr>
          <p:cNvSpPr txBox="1"/>
          <p:nvPr/>
        </p:nvSpPr>
        <p:spPr>
          <a:xfrm>
            <a:off x="4068272" y="4697849"/>
            <a:ext cx="4626939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Schéma électrique équivalent d’un micro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B61DF536-AB20-09C4-4CD2-C37677694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EBF26C-5DCD-6E88-B3A2-94B398912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63026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25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C70D36F4-D5FF-945D-E39A-606CC8E48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919" y="492278"/>
            <a:ext cx="634848" cy="63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49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095B-CBBF-28A8-4ECB-2036D2BA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C174FD-251E-6617-96DC-59EDC4D1886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C0E1E9-9630-1795-4D01-63EDE489C412}"/>
                  </a:ext>
                </a:extLst>
              </p:cNvPr>
              <p:cNvSpPr/>
              <p:nvPr/>
            </p:nvSpPr>
            <p:spPr>
              <a:xfrm>
                <a:off x="5321656" y="1210777"/>
                <a:ext cx="3617103" cy="4906153"/>
              </a:xfrm>
              <a:prstGeom prst="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Objectif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Déterminer l’impédance du micro en fonction de la fréquence</a:t>
                </a:r>
              </a:p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Méthode 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Pont diviseur de tension : </a:t>
                </a:r>
                <a14:m>
                  <m:oMath xmlns:m="http://schemas.openxmlformats.org/officeDocument/2006/math"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𝐺𝐵𝐹</m:t>
                        </m:r>
                      </m:sub>
                    </m:sSub>
                  </m:oMath>
                </a14:m>
                <a:endParaRPr lang="fr-FR" sz="1600" i="1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 = </m:t>
                      </m:r>
                      <m:r>
                        <m:rPr>
                          <m:sty m:val="p"/>
                        </m:rP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GBF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den>
                      </m:f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C0E1E9-9630-1795-4D01-63EDE489C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656" y="1210777"/>
                <a:ext cx="3617103" cy="4906153"/>
              </a:xfrm>
              <a:prstGeom prst="rect">
                <a:avLst/>
              </a:prstGeom>
              <a:blipFill>
                <a:blip r:embed="rId2"/>
                <a:stretch>
                  <a:fillRect l="-501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0ABA615-8D40-69B1-317C-00A345AF13E9}"/>
              </a:ext>
            </a:extLst>
          </p:cNvPr>
          <p:cNvGrpSpPr/>
          <p:nvPr/>
        </p:nvGrpSpPr>
        <p:grpSpPr>
          <a:xfrm>
            <a:off x="5699430" y="3429000"/>
            <a:ext cx="2861554" cy="1929984"/>
            <a:chOff x="2104420" y="1905000"/>
            <a:chExt cx="4277322" cy="336279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6BB29C-4C7A-C471-B9C0-8AB1B56F5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2104420" y="1905000"/>
              <a:ext cx="4277322" cy="336279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06F93D-7797-CC53-D4A9-199C192B191A}"/>
                </a:ext>
              </a:extLst>
            </p:cNvPr>
            <p:cNvSpPr/>
            <p:nvPr/>
          </p:nvSpPr>
          <p:spPr>
            <a:xfrm>
              <a:off x="3916553" y="4642606"/>
              <a:ext cx="849818" cy="38062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26CE66-0479-6172-EAA5-302AF3EEB546}"/>
                </a:ext>
              </a:extLst>
            </p:cNvPr>
            <p:cNvSpPr txBox="1"/>
            <p:nvPr/>
          </p:nvSpPr>
          <p:spPr>
            <a:xfrm>
              <a:off x="3756771" y="4309385"/>
              <a:ext cx="1169381" cy="4290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>
                  <a:latin typeface="Arial Black" panose="020B0A04020102020204" pitchFamily="34" charset="0"/>
                </a:rPr>
                <a:t>MICRO</a:t>
              </a:r>
              <a:endParaRPr lang="fr-FR" sz="1050" dirty="0">
                <a:latin typeface="Arial Black" panose="020B0A04020102020204" pitchFamily="34" charset="0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52AEC967-8D24-240D-CD5A-34AE81CE6951}"/>
                </a:ext>
              </a:extLst>
            </p:cNvPr>
            <p:cNvSpPr/>
            <p:nvPr/>
          </p:nvSpPr>
          <p:spPr>
            <a:xfrm>
              <a:off x="2971013" y="2256020"/>
              <a:ext cx="374754" cy="134911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5FCE015-0DE4-4491-5078-0E8C4E18ACBD}"/>
                </a:ext>
              </a:extLst>
            </p:cNvPr>
            <p:cNvCxnSpPr>
              <a:cxnSpLocks/>
              <a:endCxn id="21" idx="3"/>
            </p:cNvCxnSpPr>
            <p:nvPr/>
          </p:nvCxnSpPr>
          <p:spPr>
            <a:xfrm flipV="1">
              <a:off x="3158390" y="2390931"/>
              <a:ext cx="0" cy="1674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C1C5097-5663-EE26-5A50-7D842017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B1C5B82-F24C-54E1-B2B4-47EDF43A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11</a:t>
            </a:fld>
            <a:endParaRPr lang="fr-FR" sz="1200" b="1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840323-D421-9975-E022-715C81AAE9F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59CBEC-6A66-3C03-69BA-0B6C7EDE554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36A16625-5967-D680-5029-0BF57049FBA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01DC408-888A-6405-0042-8A6DE09D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A675C6-213A-E88E-59F1-7172A6896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9" b="79"/>
          <a:stretch/>
        </p:blipFill>
        <p:spPr>
          <a:xfrm>
            <a:off x="281944" y="1210777"/>
            <a:ext cx="4913871" cy="4906153"/>
          </a:xfrm>
          <a:prstGeom prst="rect">
            <a:avLst/>
          </a:prstGeom>
          <a:effectLst>
            <a:softEdge rad="31750"/>
          </a:effectLst>
        </p:spPr>
      </p:pic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6465D4B-F265-C435-89C6-9EE669732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72316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CADA8AD9-A980-D884-9F53-A96F804F319D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1FCDA5-B890-01D2-182A-1078351C6549}"/>
              </a:ext>
            </a:extLst>
          </p:cNvPr>
          <p:cNvCxnSpPr>
            <a:cxnSpLocks/>
          </p:cNvCxnSpPr>
          <p:nvPr/>
        </p:nvCxnSpPr>
        <p:spPr>
          <a:xfrm>
            <a:off x="7812038" y="4178695"/>
            <a:ext cx="0" cy="460905"/>
          </a:xfrm>
          <a:prstGeom prst="straightConnector1">
            <a:avLst/>
          </a:prstGeom>
          <a:ln>
            <a:solidFill>
              <a:srgbClr val="3890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7951B3F-B71F-04C5-033D-571EB537A86C}"/>
              </a:ext>
            </a:extLst>
          </p:cNvPr>
          <p:cNvCxnSpPr>
            <a:cxnSpLocks/>
          </p:cNvCxnSpPr>
          <p:nvPr/>
        </p:nvCxnSpPr>
        <p:spPr>
          <a:xfrm>
            <a:off x="6689384" y="4178695"/>
            <a:ext cx="0" cy="497078"/>
          </a:xfrm>
          <a:prstGeom prst="straightConnector1">
            <a:avLst/>
          </a:prstGeom>
          <a:ln>
            <a:solidFill>
              <a:srgbClr val="3890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C6A192F-C9E6-3913-92C8-47D4FEEEB3D1}"/>
                  </a:ext>
                </a:extLst>
              </p:cNvPr>
              <p:cNvSpPr txBox="1"/>
              <p:nvPr/>
            </p:nvSpPr>
            <p:spPr>
              <a:xfrm>
                <a:off x="6726162" y="4296629"/>
                <a:ext cx="3711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solidFill>
                                <a:srgbClr val="3890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solidFill>
                                <a:srgbClr val="38903A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200" b="0" i="1" smtClean="0">
                              <a:solidFill>
                                <a:srgbClr val="38903A"/>
                              </a:solidFill>
                              <a:latin typeface="Cambria Math" panose="02040503050406030204" pitchFamily="18" charset="0"/>
                            </a:rPr>
                            <m:t>𝐺𝐵𝐹</m:t>
                          </m:r>
                        </m:sub>
                      </m:sSub>
                    </m:oMath>
                  </m:oMathPara>
                </a14:m>
                <a:endParaRPr lang="fr-FR" sz="1200" dirty="0">
                  <a:solidFill>
                    <a:srgbClr val="38903A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C6A192F-C9E6-3913-92C8-47D4FEEEB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162" y="4296629"/>
                <a:ext cx="371192" cy="184666"/>
              </a:xfrm>
              <a:prstGeom prst="rect">
                <a:avLst/>
              </a:prstGeom>
              <a:blipFill>
                <a:blip r:embed="rId6"/>
                <a:stretch>
                  <a:fillRect l="-8197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535FFE-8824-B77E-5FAB-A54BB03B2785}"/>
                  </a:ext>
                </a:extLst>
              </p:cNvPr>
              <p:cNvSpPr txBox="1"/>
              <p:nvPr/>
            </p:nvSpPr>
            <p:spPr>
              <a:xfrm>
                <a:off x="7599570" y="4305720"/>
                <a:ext cx="1520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fr-FR" sz="1200" dirty="0">
                  <a:solidFill>
                    <a:srgbClr val="38903A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535FFE-8824-B77E-5FAB-A54BB03B2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570" y="4305720"/>
                <a:ext cx="152093" cy="184666"/>
              </a:xfrm>
              <a:prstGeom prst="rect">
                <a:avLst/>
              </a:prstGeom>
              <a:blipFill>
                <a:blip r:embed="rId7"/>
                <a:stretch>
                  <a:fillRect l="-20000" r="-20000" b="-64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DA4ED38-3F05-55E4-ED59-58ECFFBA2298}"/>
              </a:ext>
            </a:extLst>
          </p:cNvPr>
          <p:cNvSpPr/>
          <p:nvPr/>
        </p:nvSpPr>
        <p:spPr>
          <a:xfrm>
            <a:off x="2006462" y="5800737"/>
            <a:ext cx="1224992" cy="23285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Humbucker //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5C2715-4E42-FA5B-654D-9747CF5FD4F0}"/>
              </a:ext>
            </a:extLst>
          </p:cNvPr>
          <p:cNvSpPr/>
          <p:nvPr/>
        </p:nvSpPr>
        <p:spPr>
          <a:xfrm>
            <a:off x="841383" y="5804713"/>
            <a:ext cx="1105167" cy="23683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SingleCoil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468A20-34D5-A069-9DC5-CF87DA8D02B4}"/>
              </a:ext>
            </a:extLst>
          </p:cNvPr>
          <p:cNvSpPr/>
          <p:nvPr/>
        </p:nvSpPr>
        <p:spPr>
          <a:xfrm>
            <a:off x="3291367" y="5800737"/>
            <a:ext cx="1224992" cy="23285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Humbucker --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4C252-6974-3EF4-899D-0952F1FCADB1}"/>
              </a:ext>
            </a:extLst>
          </p:cNvPr>
          <p:cNvSpPr/>
          <p:nvPr/>
        </p:nvSpPr>
        <p:spPr>
          <a:xfrm>
            <a:off x="575968" y="2158154"/>
            <a:ext cx="530829" cy="25400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latin typeface="Arial Black" panose="020B0A04020102020204" pitchFamily="34" charset="0"/>
              </a:rPr>
              <a:t>GBF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502883-4ADD-59E9-EC8D-076BAF9CDD5F}"/>
              </a:ext>
            </a:extLst>
          </p:cNvPr>
          <p:cNvSpPr/>
          <p:nvPr/>
        </p:nvSpPr>
        <p:spPr>
          <a:xfrm>
            <a:off x="4607931" y="3301006"/>
            <a:ext cx="563985" cy="22475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>
                <a:latin typeface="Arial Black" panose="020B0A04020102020204" pitchFamily="34" charset="0"/>
              </a:rPr>
              <a:t>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797E74-7A34-2C69-3753-AF7FFB05A8D0}"/>
              </a:ext>
            </a:extLst>
          </p:cNvPr>
          <p:cNvCxnSpPr>
            <a:cxnSpLocks/>
          </p:cNvCxnSpPr>
          <p:nvPr/>
        </p:nvCxnSpPr>
        <p:spPr>
          <a:xfrm>
            <a:off x="822960" y="5179695"/>
            <a:ext cx="4328160" cy="3892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FC77F-1088-9609-75BE-F71B0ABBF560}"/>
              </a:ext>
            </a:extLst>
          </p:cNvPr>
          <p:cNvSpPr/>
          <p:nvPr/>
        </p:nvSpPr>
        <p:spPr>
          <a:xfrm>
            <a:off x="3198993" y="1583055"/>
            <a:ext cx="1373007" cy="232506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latin typeface="Arial Black" panose="020B0A04020102020204" pitchFamily="34" charset="0"/>
              </a:rPr>
              <a:t>Oscilloscope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A94EEE7-A6D4-9C12-C17D-3011F3620DB2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2882265" y="1699307"/>
            <a:ext cx="316728" cy="173305"/>
          </a:xfrm>
          <a:prstGeom prst="bentConnector3">
            <a:avLst>
              <a:gd name="adj1" fmla="val 101124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A2894128-1CD2-68C3-51EA-677C374DD7BE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106797" y="2285159"/>
            <a:ext cx="287169" cy="174622"/>
          </a:xfrm>
          <a:prstGeom prst="bentConnector3">
            <a:avLst>
              <a:gd name="adj1" fmla="val 99753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CD795CE-C17B-8143-0B6D-604D6D299D4D}"/>
              </a:ext>
            </a:extLst>
          </p:cNvPr>
          <p:cNvCxnSpPr>
            <a:cxnSpLocks/>
            <a:stCxn id="19" idx="2"/>
          </p:cNvCxnSpPr>
          <p:nvPr/>
        </p:nvCxnSpPr>
        <p:spPr>
          <a:xfrm rot="5400000">
            <a:off x="4407269" y="3273293"/>
            <a:ext cx="230192" cy="735119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5F1AED8-A973-35EC-9070-69EC4F8AA8D1}"/>
              </a:ext>
            </a:extLst>
          </p:cNvPr>
          <p:cNvCxnSpPr>
            <a:cxnSpLocks/>
            <a:stCxn id="17" idx="0"/>
          </p:cNvCxnSpPr>
          <p:nvPr/>
        </p:nvCxnSpPr>
        <p:spPr>
          <a:xfrm rot="16200000" flipV="1">
            <a:off x="3516262" y="5413135"/>
            <a:ext cx="379038" cy="396165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B1771D3-1A92-AE3F-8642-44D9E34AD6E5}"/>
              </a:ext>
            </a:extLst>
          </p:cNvPr>
          <p:cNvCxnSpPr>
            <a:cxnSpLocks/>
            <a:stCxn id="12" idx="0"/>
          </p:cNvCxnSpPr>
          <p:nvPr/>
        </p:nvCxnSpPr>
        <p:spPr>
          <a:xfrm rot="5400000" flipH="1" flipV="1">
            <a:off x="1453373" y="5377465"/>
            <a:ext cx="367843" cy="486654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431C73B-4CC1-0252-E2C1-697332D8B31E}"/>
              </a:ext>
            </a:extLst>
          </p:cNvPr>
          <p:cNvCxnSpPr>
            <a:cxnSpLocks/>
          </p:cNvCxnSpPr>
          <p:nvPr/>
        </p:nvCxnSpPr>
        <p:spPr>
          <a:xfrm flipV="1">
            <a:off x="2613213" y="5613400"/>
            <a:ext cx="0" cy="18733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98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18B5-54AA-3079-566C-736CFE78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5CE00B-FC79-81FF-86A6-285CABA510BD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C71C571-0E5F-3D4C-EAFA-E4D0E697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E8E22F3-36AA-64A0-F7DA-405F92FD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12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9DDD954-4CB1-5C4D-D33E-CFAF6AFEA11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/>
              <p:nvPr/>
            </p:nvSpPr>
            <p:spPr>
              <a:xfrm>
                <a:off x="5467122" y="1035070"/>
                <a:ext cx="3499013" cy="2283357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Méthode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Déterminer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Observer la résistance en CC avec un </a:t>
                </a:r>
                <a:r>
                  <a:rPr lang="fr-FR" sz="1400" u="sng" dirty="0">
                    <a:solidFill>
                      <a:schemeClr val="tx1"/>
                    </a:solidFill>
                  </a:rPr>
                  <a:t>multimètre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Determiner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Approximation numérique via un algorithme d’optimisation numérique basé sur les </a:t>
                </a:r>
                <a:r>
                  <a:rPr lang="fr-FR" sz="1400" b="1" dirty="0">
                    <a:solidFill>
                      <a:schemeClr val="tx1"/>
                    </a:solidFill>
                  </a:rPr>
                  <a:t>moindres carrés.</a:t>
                </a:r>
                <a:endParaRPr lang="fr-FR" sz="1400" u="sng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122" y="1035070"/>
                <a:ext cx="3499013" cy="2283357"/>
              </a:xfrm>
              <a:prstGeom prst="rect">
                <a:avLst/>
              </a:prstGeom>
              <a:blipFill>
                <a:blip r:embed="rId4"/>
                <a:stretch>
                  <a:fillRect r="-345" b="-263"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A0507F6-1CAF-6D7E-A062-151372E24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176" y="1035070"/>
            <a:ext cx="5009745" cy="521710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31B521F-AFDC-D9C5-028E-C5CB3D8FDF4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94F355-A446-D356-7486-C332C08027A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8D546518-E475-76BF-FDD7-AAAC59D808E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3CF6CC7-C2A9-D2EB-0FC4-A98DAEFFDC33}"/>
              </a:ext>
            </a:extLst>
          </p:cNvPr>
          <p:cNvSpPr/>
          <p:nvPr/>
        </p:nvSpPr>
        <p:spPr>
          <a:xfrm>
            <a:off x="5467124" y="3437083"/>
            <a:ext cx="3499012" cy="2815095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Mesures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DB194F1-0075-78A8-D900-8165D3AE9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111403"/>
              </p:ext>
            </p:extLst>
          </p:nvPr>
        </p:nvGraphicFramePr>
        <p:xfrm>
          <a:off x="5566510" y="3818066"/>
          <a:ext cx="3323180" cy="23353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30795">
                  <a:extLst>
                    <a:ext uri="{9D8B030D-6E8A-4147-A177-3AD203B41FA5}">
                      <a16:colId xmlns:a16="http://schemas.microsoft.com/office/drawing/2014/main" val="887859225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2798946589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3812795422"/>
                    </a:ext>
                  </a:extLst>
                </a:gridCol>
                <a:gridCol w="830795">
                  <a:extLst>
                    <a:ext uri="{9D8B030D-6E8A-4147-A177-3AD203B41FA5}">
                      <a16:colId xmlns:a16="http://schemas.microsoft.com/office/drawing/2014/main" val="3496875843"/>
                    </a:ext>
                  </a:extLst>
                </a:gridCol>
              </a:tblGrid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147041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15,10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5096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2,43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4,71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96117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905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499,6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351,1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1069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42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/>
              <p:nvPr/>
            </p:nvSpPr>
            <p:spPr>
              <a:xfrm>
                <a:off x="5583832" y="4352383"/>
                <a:ext cx="797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32" y="4352383"/>
                <a:ext cx="797654" cy="276999"/>
              </a:xfrm>
              <a:prstGeom prst="rect">
                <a:avLst/>
              </a:prstGeom>
              <a:blipFill>
                <a:blip r:embed="rId6"/>
                <a:stretch>
                  <a:fillRect l="-6107" t="-2222" r="-9924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/>
              <p:nvPr/>
            </p:nvSpPr>
            <p:spPr>
              <a:xfrm>
                <a:off x="5583832" y="4848950"/>
                <a:ext cx="5578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32" y="4848950"/>
                <a:ext cx="557845" cy="276999"/>
              </a:xfrm>
              <a:prstGeom prst="rect">
                <a:avLst/>
              </a:prstGeom>
              <a:blipFill>
                <a:blip r:embed="rId7"/>
                <a:stretch>
                  <a:fillRect l="-8791" r="-14286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/>
              <p:nvPr/>
            </p:nvSpPr>
            <p:spPr>
              <a:xfrm>
                <a:off x="5583832" y="5292326"/>
                <a:ext cx="657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pF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32" y="5292326"/>
                <a:ext cx="657231" cy="276999"/>
              </a:xfrm>
              <a:prstGeom prst="rect">
                <a:avLst/>
              </a:prstGeom>
              <a:blipFill>
                <a:blip r:embed="rId8"/>
                <a:stretch>
                  <a:fillRect l="-7407" r="-11111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/>
              <p:nvPr/>
            </p:nvSpPr>
            <p:spPr>
              <a:xfrm>
                <a:off x="5583832" y="5766140"/>
                <a:ext cx="821700" cy="3016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32" y="5766140"/>
                <a:ext cx="821700" cy="301686"/>
              </a:xfrm>
              <a:prstGeom prst="rect">
                <a:avLst/>
              </a:prstGeom>
              <a:blipFill>
                <a:blip r:embed="rId9"/>
                <a:stretch>
                  <a:fillRect l="-5926" t="-2041" r="-9630" b="-28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4EAD3AE-C225-14EF-269F-5B5AE150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6545223" y="3805438"/>
            <a:ext cx="568459" cy="468000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605931B4-D82E-5BAF-958F-6B5A64B60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7375954" y="3809801"/>
            <a:ext cx="582811" cy="46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ooter Placeholder 2">
            <a:extLst>
              <a:ext uri="{FF2B5EF4-FFF2-40B4-BE49-F238E27FC236}">
                <a16:creationId xmlns:a16="http://schemas.microsoft.com/office/drawing/2014/main" id="{96AD9D58-FAFC-CBE8-A6DF-0867908D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3AA4B7E-24CD-8B97-FE91-5DC5ED0AA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458519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2EEDFEB-AFAA-C6BE-4F6C-51B78A0870E6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AE11E-94DD-BEBA-B1D0-26ABBE2E48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734" b="94964" l="9577" r="89978">
                        <a14:foregroundMark x1="58463" y1="9353" x2="66036" y2="7014"/>
                        <a14:foregroundMark x1="66036" y1="7014" x2="71715" y2="7734"/>
                        <a14:foregroundMark x1="71715" y1="7734" x2="62695" y2="8813"/>
                        <a14:foregroundMark x1="74833" y1="40827" x2="76503" y2="42446"/>
                        <a14:foregroundMark x1="64143" y1="47302" x2="64143" y2="47302"/>
                        <a14:foregroundMark x1="55457" y1="52698" x2="55457" y2="52698"/>
                        <a14:foregroundMark x1="45323" y1="59532" x2="45323" y2="59532"/>
                        <a14:foregroundMark x1="34187" y1="65108" x2="34187" y2="65108"/>
                        <a14:foregroundMark x1="22717" y1="70324" x2="22717" y2="70324"/>
                        <a14:foregroundMark x1="9688" y1="69604" x2="10802" y2="81475"/>
                        <a14:foregroundMark x1="10802" y1="81475" x2="13252" y2="82914"/>
                        <a14:foregroundMark x1="21604" y1="90468" x2="30178" y2="86511"/>
                        <a14:foregroundMark x1="22829" y1="94964" x2="22829" y2="94964"/>
                        <a14:foregroundMark x1="73942" y1="43165" x2="73942" y2="43165"/>
                      </a14:backgroundRemoval>
                    </a14:imgEffect>
                  </a14:imgLayer>
                </a14:imgProps>
              </a:ext>
            </a:extLst>
          </a:blip>
          <a:srcRect l="6039" t="3464" r="11427" b="863"/>
          <a:stretch>
            <a:fillRect/>
          </a:stretch>
        </p:blipFill>
        <p:spPr>
          <a:xfrm>
            <a:off x="8191781" y="3818066"/>
            <a:ext cx="601890" cy="432000"/>
          </a:xfrm>
          <a:prstGeom prst="rect">
            <a:avLst/>
          </a:prstGeom>
        </p:spPr>
      </p:pic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4BBCE65E-32DD-5E3F-FB43-54F44397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4" y="483864"/>
            <a:ext cx="506135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3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2422-0593-98CE-0BC1-D9A0BE05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1B7ADBC6-4B8D-7364-80A5-17CE31D6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413" y="46511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AC3C3F02-BE4B-C00D-8113-255A41FE1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4" y="483864"/>
            <a:ext cx="506135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A3D31D4-FFA1-BFF2-889B-9A83090A38E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3249544-0A0A-C649-155C-A9E1F782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28BACC0-48BC-CC88-7B3A-B5A7AC62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13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6E554F1-44BD-8B7F-91BB-367D7780CA1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EA3527-CBE4-BB1E-8E8A-8B21A1F88B1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91E480-CEFE-D580-938C-FDAA725FDA6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ooter Placeholder 2">
              <a:extLst>
                <a:ext uri="{FF2B5EF4-FFF2-40B4-BE49-F238E27FC236}">
                  <a16:creationId xmlns:a16="http://schemas.microsoft.com/office/drawing/2014/main" id="{024BCF65-762C-3EB5-9AA3-CD664A82060E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9349B35-E6B7-9E01-F26A-2A7F7B8E63D3}"/>
                  </a:ext>
                </a:extLst>
              </p:cNvPr>
              <p:cNvSpPr/>
              <p:nvPr/>
            </p:nvSpPr>
            <p:spPr>
              <a:xfrm>
                <a:off x="5583836" y="3922665"/>
                <a:ext cx="3357228" cy="2329514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Conclusion</a:t>
                </a: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r>
                  <a:rPr lang="fr-FR" sz="1400" b="1" dirty="0">
                    <a:solidFill>
                      <a:schemeClr val="tx1"/>
                    </a:solidFill>
                  </a:rPr>
                  <a:t>En basses fréquences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b="0" dirty="0">
                  <a:solidFill>
                    <a:srgbClr val="C00000"/>
                  </a:solidFill>
                </a:endParaRPr>
              </a:p>
              <a:p>
                <a:endParaRPr lang="fr-FR" sz="1400" b="0" dirty="0">
                  <a:solidFill>
                    <a:srgbClr val="C00000"/>
                  </a:solidFill>
                </a:endParaRPr>
              </a:p>
              <a:p>
                <a:r>
                  <a:rPr lang="fr-FR" sz="1400" b="1" dirty="0">
                    <a:solidFill>
                      <a:schemeClr val="tx1"/>
                    </a:solidFill>
                  </a:rPr>
                  <a:t>A la résonance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SC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HB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r>
                  <a:rPr lang="fr-FR" sz="1400" b="1" dirty="0">
                    <a:solidFill>
                      <a:schemeClr val="tx1"/>
                    </a:solidFill>
                  </a:rPr>
                  <a:t>En haute fréquence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SC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HB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9349B35-E6B7-9E01-F26A-2A7F7B8E63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36" y="3922665"/>
                <a:ext cx="3357228" cy="2329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2FCA72B-A395-406E-8C4A-C20084E7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9BC71-3A20-546E-95A4-02C1584F6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488886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6B5C775-C8F0-7ABF-BA08-8D829E5E17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032179"/>
            <a:ext cx="5175257" cy="52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F34FD-89CC-63DB-50E1-5A91FD67A29F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6D5E734-BEFF-CD79-965F-FB5828B2E5CC}"/>
              </a:ext>
            </a:extLst>
          </p:cNvPr>
          <p:cNvGrpSpPr/>
          <p:nvPr/>
        </p:nvGrpSpPr>
        <p:grpSpPr>
          <a:xfrm>
            <a:off x="5599227" y="1032179"/>
            <a:ext cx="3326445" cy="2823180"/>
            <a:chOff x="1054903" y="1363393"/>
            <a:chExt cx="4626939" cy="360000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ED3F46F-DC18-6391-8105-AA697B7747C2}"/>
                </a:ext>
              </a:extLst>
            </p:cNvPr>
            <p:cNvGrpSpPr/>
            <p:nvPr/>
          </p:nvGrpSpPr>
          <p:grpSpPr>
            <a:xfrm>
              <a:off x="1054903" y="1363393"/>
              <a:ext cx="4626939" cy="3600000"/>
              <a:chOff x="1054904" y="1200155"/>
              <a:chExt cx="4927617" cy="360107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FABB742B-9779-0465-C259-DD2573559646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54904" y="1200155"/>
                <a:ext cx="4927617" cy="36010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0F03DAF-9C8C-E632-D75C-DF45F7659EE5}"/>
                  </a:ext>
                </a:extLst>
              </p:cNvPr>
              <p:cNvSpPr/>
              <p:nvPr/>
            </p:nvSpPr>
            <p:spPr>
              <a:xfrm>
                <a:off x="1486014" y="210415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DE0F72D0-A71E-B680-123E-D91909E35BA7}"/>
                  </a:ext>
                </a:extLst>
              </p:cNvPr>
              <p:cNvSpPr/>
              <p:nvPr/>
            </p:nvSpPr>
            <p:spPr>
              <a:xfrm>
                <a:off x="2555070" y="303342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B2F929-E154-3686-6854-44785E9CDCD6}"/>
                  </a:ext>
                </a:extLst>
              </p:cNvPr>
              <p:cNvSpPr/>
              <p:nvPr/>
            </p:nvSpPr>
            <p:spPr>
              <a:xfrm>
                <a:off x="3715970" y="3073533"/>
                <a:ext cx="703406" cy="2401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66C91E7-5B62-9869-0353-44F1526FF73B}"/>
                  </a:ext>
                </a:extLst>
              </p:cNvPr>
              <p:cNvSpPr/>
              <p:nvPr/>
            </p:nvSpPr>
            <p:spPr>
              <a:xfrm>
                <a:off x="5397029" y="3091033"/>
                <a:ext cx="527521" cy="2011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560A7F0-B90A-AF7F-A883-CF1041484132}"/>
                  </a:ext>
                </a:extLst>
              </p:cNvPr>
              <p:cNvSpPr/>
              <p:nvPr/>
            </p:nvSpPr>
            <p:spPr>
              <a:xfrm>
                <a:off x="1468417" y="3119201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4ED0F49-FAA4-0AB9-0346-7032B03D4C1B}"/>
                </a:ext>
              </a:extLst>
            </p:cNvPr>
            <p:cNvCxnSpPr/>
            <p:nvPr/>
          </p:nvCxnSpPr>
          <p:spPr>
            <a:xfrm flipV="1">
              <a:off x="1601848" y="3920464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429EC13A-C0EE-64FD-58A5-021924C2CEE4}"/>
                    </a:ext>
                  </a:extLst>
                </p:cNvPr>
                <p:cNvSpPr txBox="1"/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06677D-0818-3210-9991-80EAAFAEA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5769" t="-3333" r="-15385" b="-4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A114535-2247-6B08-8DA7-704BEBE278D9}"/>
                </a:ext>
              </a:extLst>
            </p:cNvPr>
            <p:cNvCxnSpPr/>
            <p:nvPr/>
          </p:nvCxnSpPr>
          <p:spPr>
            <a:xfrm flipV="1">
              <a:off x="4752281" y="2872673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761A93D-AA81-8CAE-7391-1FE645F4975D}"/>
                    </a:ext>
                  </a:extLst>
                </p:cNvPr>
                <p:cNvSpPr txBox="1"/>
                <p:nvPr/>
              </p:nvSpPr>
              <p:spPr>
                <a:xfrm>
                  <a:off x="4361210" y="3036681"/>
                  <a:ext cx="32117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761A93D-AA81-8CAE-7391-1FE645F497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1210" y="3036681"/>
                  <a:ext cx="321178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5789" t="-4348" r="-52632" b="-8260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15195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FCD4-D77B-F1C4-55DD-38C4A934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96176C0-9C44-1775-37E4-AD2AFEED5530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CB0E4D0-484C-0B4E-BDE7-3504057701ED}"/>
              </a:ext>
            </a:extLst>
          </p:cNvPr>
          <p:cNvGrpSpPr/>
          <p:nvPr/>
        </p:nvGrpSpPr>
        <p:grpSpPr>
          <a:xfrm>
            <a:off x="326176" y="1002105"/>
            <a:ext cx="8527603" cy="3871961"/>
            <a:chOff x="-143123" y="1695451"/>
            <a:chExt cx="8378236" cy="38272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8D23FFC-B47E-B3BA-1B54-489B1B98EC82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27203"/>
              <a:chOff x="1006751" y="1255937"/>
              <a:chExt cx="6952009" cy="3806453"/>
            </a:xfrm>
          </p:grpSpPr>
          <p:pic>
            <p:nvPicPr>
              <p:cNvPr id="68" name="Picture 67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9E3ADCD7-C186-B526-3478-BB91B2959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69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84FFA659-5182-64DC-FE6E-6A51D79B76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2BC230A-33A9-0CE3-C146-6A6EFA12400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10117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67" name="Picture 8" descr="Sound PNG Transparent Images">
              <a:extLst>
                <a:ext uri="{FF2B5EF4-FFF2-40B4-BE49-F238E27FC236}">
                  <a16:creationId xmlns:a16="http://schemas.microsoft.com/office/drawing/2014/main" id="{D32D96BA-E861-4A25-8537-B34D005C1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8608" y="2831113"/>
              <a:ext cx="1476505" cy="1476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6C5A857-3856-ABEB-0586-58660E5A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3353FF4-31AA-5E70-D72A-ECD17373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14</a:t>
            </a:fld>
            <a:endParaRPr lang="fr-FR" sz="1200" b="1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AF150A1-C0FD-2A31-918E-93B83058E113}"/>
              </a:ext>
            </a:extLst>
          </p:cNvPr>
          <p:cNvGrpSpPr/>
          <p:nvPr/>
        </p:nvGrpSpPr>
        <p:grpSpPr>
          <a:xfrm>
            <a:off x="326177" y="4838220"/>
            <a:ext cx="8527602" cy="1210580"/>
            <a:chOff x="385745" y="5083538"/>
            <a:chExt cx="8293184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1E8A2-562F-2391-DE82-01FB673AEF5C}"/>
                </a:ext>
              </a:extLst>
            </p:cNvPr>
            <p:cNvGrpSpPr/>
            <p:nvPr/>
          </p:nvGrpSpPr>
          <p:grpSpPr>
            <a:xfrm>
              <a:off x="385745" y="5083538"/>
              <a:ext cx="8293184" cy="1150814"/>
              <a:chOff x="385745" y="5083538"/>
              <a:chExt cx="8293184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CC22706-E154-E480-834B-0A0914D263CE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8D96272-AB69-A3F2-22CA-7CB0AF5B7115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2482C0E-9587-3BAE-6CD8-E6F6F1AC4195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rgbClr val="559AD7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04BD342-1123-F804-2806-2DFDD4AC9A26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DF1803B1-9D88-36E3-0A95-86E105BC2365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8E4A1CAC-CFDD-3534-8AA1-4979F7B51B35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AE6E9B31-F506-D994-C412-03730C5F49D8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85B4BC89-9F96-94D7-6A77-412D6FACFCE0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35B79A7-CE76-21F2-4764-BFF291CE56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35B79A7-CE76-21F2-4764-BFF291CE56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30E53824-5154-9021-5E92-F61E789FEE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30E53824-5154-9021-5E92-F61E789FEE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B07A5120-CACE-7227-3E1A-512C8B3FEF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B07A5120-CACE-7227-3E1A-512C8B3FEF9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8E7C32FB-5DCC-5278-06CE-1337AEF841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8E7C32FB-5DCC-5278-06CE-1337AEF841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128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6A8F45-F97F-1579-0616-154D45687B1D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08772BC-B767-5069-5611-84F2D865EA5D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8CC04AB-3F10-7818-1627-D458DD445E99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A3BDDDA-3141-7E4A-0F8B-25F068259B22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4ADB00-D268-0454-EE6E-4FC9D2A0571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3B424D-5FFE-4A76-56AC-BBA4DFB3F60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Footer Placeholder 2">
              <a:extLst>
                <a:ext uri="{FF2B5EF4-FFF2-40B4-BE49-F238E27FC236}">
                  <a16:creationId xmlns:a16="http://schemas.microsoft.com/office/drawing/2014/main" id="{0042A8E5-0D8C-FE6B-92B0-F65BDE2E3BC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E3A26E4-93FB-9F10-6EB6-2D1E5A8A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E62838-026A-5E99-536A-5C7F4F892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1458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59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1A89-AE2B-E041-5B38-418F6180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954A7EF-E819-7403-B518-89541C0929F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8AFA9E9-9719-679C-6FBE-1201DA0B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D01C7BF-D0F9-5DDA-0EB7-BA641961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15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1B1DFE7-8FA8-677E-D0C4-9ECAB1E04C00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1F8A49-A641-A223-BC2B-565D3A9EA4F1}"/>
                  </a:ext>
                </a:extLst>
              </p:cNvPr>
              <p:cNvSpPr/>
              <p:nvPr/>
            </p:nvSpPr>
            <p:spPr>
              <a:xfrm>
                <a:off x="326176" y="1124075"/>
                <a:ext cx="4070565" cy="1170919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Vibration de la corde : Onde stationnaire dans le plan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1600" b="0" i="1" smtClean="0">
                        <a:latin typeface="Cambria Math" panose="02040503050406030204" pitchFamily="18" charset="0"/>
                      </a:rPr>
                      <m:t>O</m:t>
                    </m:r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1F8A49-A641-A223-BC2B-565D3A9EA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1124075"/>
                <a:ext cx="4070565" cy="1170919"/>
              </a:xfrm>
              <a:prstGeom prst="rect">
                <a:avLst/>
              </a:prstGeom>
              <a:blipFill>
                <a:blip r:embed="rId2"/>
                <a:stretch>
                  <a:fillRect l="-446" b="-1010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75243A0-1FE9-8074-A10B-6683AE34908D}"/>
                  </a:ext>
                </a:extLst>
              </p:cNvPr>
              <p:cNvSpPr/>
              <p:nvPr/>
            </p:nvSpPr>
            <p:spPr>
              <a:xfrm>
                <a:off x="4572000" y="1124075"/>
                <a:ext cx="4367789" cy="4946941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dirty="0"/>
                  <a:t>L’équation d’onde de la corde est régie par :</a:t>
                </a:r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𝑛𝐹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600" i="1" dirty="0"/>
              </a:p>
              <a:p>
                <a:endParaRPr lang="fr-FR" sz="1600" dirty="0"/>
              </a:p>
              <a:p>
                <a:r>
                  <a:rPr lang="fr-FR" sz="1400" dirty="0"/>
                  <a:t>Or la corde est plongée dans le champ de l’aimant, elle crée donc un </a:t>
                </a:r>
                <a:r>
                  <a:rPr lang="fr-FR" sz="1400" b="1" dirty="0"/>
                  <a:t>champ induit </a:t>
                </a:r>
                <a:r>
                  <a:rPr lang="fr-FR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2000" i="1" dirty="0"/>
              </a:p>
              <a:p>
                <a:endParaRPr lang="fr-FR" sz="1400" i="1" dirty="0">
                  <a:latin typeface="+mj-lt"/>
                  <a:ea typeface="Cambria Math" panose="02040503050406030204" pitchFamily="18" charset="0"/>
                </a:endParaRPr>
              </a:p>
              <a:p>
                <a:r>
                  <a:rPr lang="fr-FR" sz="1400" dirty="0"/>
                  <a:t>Ainsi le flux à travers le micro est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𝛷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𝑉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2000" i="1" dirty="0"/>
              </a:p>
              <a:p>
                <a:endParaRPr lang="fr-FR" sz="1400" dirty="0"/>
              </a:p>
              <a:p>
                <a:r>
                  <a:rPr lang="fr-FR" sz="1400" dirty="0"/>
                  <a:t>Avec la </a:t>
                </a:r>
                <a:r>
                  <a:rPr lang="fr-FR" sz="1400" b="1" dirty="0"/>
                  <a:t>Loi d’induction de Faraday </a:t>
                </a:r>
                <a:r>
                  <a:rPr lang="fr-FR" sz="14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l-GR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𝛷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𝛷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fr-FR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𝑛𝐹𝑡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fr-FR" sz="1200" i="1" dirty="0">
                  <a:solidFill>
                    <a:schemeClr val="tx1"/>
                  </a:solidFill>
                </a:endParaRPr>
              </a:p>
              <a:p>
                <a:endParaRPr lang="fr-FR" sz="1200" dirty="0">
                  <a:solidFill>
                    <a:schemeClr val="tx1"/>
                  </a:solidFill>
                </a:endParaRPr>
              </a:p>
              <a:p>
                <a:r>
                  <a:rPr lang="fr-FR" sz="1200" dirty="0">
                    <a:solidFill>
                      <a:schemeClr val="tx1"/>
                    </a:solidFill>
                  </a:rPr>
                  <a:t>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1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1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r>
                            <a:rPr lang="fr-F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𝑛𝐹</m:t>
                          </m:r>
                          <m:r>
                            <m:rPr>
                              <m:sty m:val="p"/>
                            </m:rPr>
                            <a:rPr lang="fr-FR" sz="11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m:rPr>
                          <m:nor/>
                        </m:rPr>
                        <a:rPr lang="fr-FR" sz="11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fr-FR" sz="1100" b="0" i="0" smtClean="0">
                          <a:latin typeface="Cambria Math" panose="02040503050406030204" pitchFamily="18" charset="0"/>
                        </a:rPr>
                        <m:t>et</m:t>
                      </m:r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1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1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1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1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1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75243A0-1FE9-8074-A10B-6683AE349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124075"/>
                <a:ext cx="4367789" cy="4946941"/>
              </a:xfrm>
              <a:prstGeom prst="rect">
                <a:avLst/>
              </a:prstGeom>
              <a:blipFill>
                <a:blip r:embed="rId3"/>
                <a:stretch>
                  <a:fillRect t="-7946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81906A3C-88C9-1D36-3F04-582CE4AFF6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8040987" y="475567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4542817-0D26-16DE-05F1-42109423F7B5}"/>
              </a:ext>
            </a:extLst>
          </p:cNvPr>
          <p:cNvGrpSpPr/>
          <p:nvPr/>
        </p:nvGrpSpPr>
        <p:grpSpPr>
          <a:xfrm>
            <a:off x="326176" y="2443917"/>
            <a:ext cx="4070565" cy="3627100"/>
            <a:chOff x="1131100" y="2976855"/>
            <a:chExt cx="3842591" cy="32182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2987E6F-BA8C-5202-2C1C-6F726B798189}"/>
                    </a:ext>
                  </a:extLst>
                </p:cNvPr>
                <p:cNvSpPr/>
                <p:nvPr/>
              </p:nvSpPr>
              <p:spPr>
                <a:xfrm>
                  <a:off x="1131100" y="2976855"/>
                  <a:ext cx="3842591" cy="3218206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numCol="1" rtlCol="0" anchor="t"/>
                <a:lstStyle/>
                <a:p>
                  <a:r>
                    <a:rPr lang="fr-FR" sz="1600" b="1" dirty="0"/>
                    <a:t>Notations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a14:m>
                  <a:r>
                    <a:rPr lang="fr-FR" sz="1400" dirty="0"/>
                    <a:t> : F.E.M. dans le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Fréquence fondamentale de la corde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Susceptibilité magnétique de la code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Volume de la corde ‘’magnétisé’’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fr-FR" sz="1400" dirty="0"/>
                    <a:t>: Champ magnétique du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Nombre de spire du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Surface active du micro</a:t>
                  </a:r>
                </a:p>
                <a:p>
                  <a:endParaRPr lang="fr-FR" sz="1400" dirty="0"/>
                </a:p>
                <a:p>
                  <a:endParaRPr lang="fr-FR" sz="1400" dirty="0"/>
                </a:p>
                <a:p>
                  <a:endParaRPr lang="fr-FR" sz="1400" dirty="0"/>
                </a:p>
                <a:p>
                  <a:endParaRPr lang="fr-FR" sz="1400" dirty="0"/>
                </a:p>
                <a:p>
                  <a:endParaRPr lang="fr-FR" sz="1400" dirty="0"/>
                </a:p>
                <a:p>
                  <a:endParaRPr lang="fr-FR" sz="1400" dirty="0"/>
                </a:p>
                <a:p>
                  <a:endParaRPr lang="fr-FR" sz="1400" dirty="0"/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1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1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1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1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1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a14:m>
                  <a:r>
                    <a:rPr lang="fr-FR" sz="1100" dirty="0"/>
                    <a:t> : Amplitude le l’harmonique </a:t>
                  </a:r>
                  <a14:m>
                    <m:oMath xmlns:m="http://schemas.openxmlformats.org/officeDocument/2006/math"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fr-FR" sz="11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2987E6F-BA8C-5202-2C1C-6F726B7981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00" y="2976855"/>
                  <a:ext cx="3842591" cy="3218206"/>
                </a:xfrm>
                <a:prstGeom prst="rect">
                  <a:avLst/>
                </a:prstGeom>
                <a:blipFill>
                  <a:blip r:embed="rId5"/>
                  <a:stretch>
                    <a:fillRect l="-446" b="-16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E99069D-051E-87CC-1880-C585FCEAC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7942" y="4216498"/>
              <a:ext cx="3680460" cy="152484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6407A35-DBAA-281B-6DDA-73426A4020F8}"/>
              </a:ext>
            </a:extLst>
          </p:cNvPr>
          <p:cNvSpPr txBox="1"/>
          <p:nvPr/>
        </p:nvSpPr>
        <p:spPr>
          <a:xfrm>
            <a:off x="8303977" y="6071016"/>
            <a:ext cx="899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[3], [6]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C69331-5718-E0EA-991B-6D586EE81AA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5852F1-EC13-BF09-0DFA-BE103B31840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8E2E46A3-2221-A2D5-54B9-A262D8F6744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32302FE-C087-438E-ED4E-ACC60AFC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FA5F0B-6893-1941-CFB9-608BD2497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54475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0102D8F-E925-7221-961F-2FEFF9EDBB3E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C3E80D-6DBC-3158-72E1-362EA71CF75B}"/>
                  </a:ext>
                </a:extLst>
              </p:cNvPr>
              <p:cNvSpPr txBox="1"/>
              <p:nvPr/>
            </p:nvSpPr>
            <p:spPr>
              <a:xfrm>
                <a:off x="4163754" y="3837217"/>
                <a:ext cx="139333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C3E80D-6DBC-3158-72E1-362EA71CF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754" y="3837217"/>
                <a:ext cx="139333" cy="215444"/>
              </a:xfrm>
              <a:prstGeom prst="rect">
                <a:avLst/>
              </a:prstGeom>
              <a:blipFill>
                <a:blip r:embed="rId7"/>
                <a:stretch>
                  <a:fillRect l="-26087" t="-33333" r="-100000" b="-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339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DC96-7D6B-022A-BC8C-33392430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359E262-01D9-BF02-4695-E9718D933A6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2D5DECE-2A60-2317-83E1-58347A3F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5306DF-F81B-2F74-5E66-B9A57BEB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16</a:t>
            </a:fld>
            <a:endParaRPr lang="fr-FR" sz="1200" b="1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652D22F-CABB-77B2-FA12-0A1F4414A2B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338D3F1-E023-E957-7E93-0E852832BB7E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Footer Placeholder 2">
              <a:extLst>
                <a:ext uri="{FF2B5EF4-FFF2-40B4-BE49-F238E27FC236}">
                  <a16:creationId xmlns:a16="http://schemas.microsoft.com/office/drawing/2014/main" id="{6CEAFEBB-B7D7-A979-765E-DCADAB67C2C2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DF5559-6C9D-3A8E-C3E0-F4F5AC89DB3C}"/>
              </a:ext>
            </a:extLst>
          </p:cNvPr>
          <p:cNvGrpSpPr/>
          <p:nvPr/>
        </p:nvGrpSpPr>
        <p:grpSpPr>
          <a:xfrm>
            <a:off x="5362238" y="1143139"/>
            <a:ext cx="3452207" cy="4920381"/>
            <a:chOff x="6429026" y="1318510"/>
            <a:chExt cx="2513036" cy="37798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D1CDCC24-52FC-A6FC-AF35-DBBA86C51873}"/>
                    </a:ext>
                  </a:extLst>
                </p:cNvPr>
                <p:cNvSpPr/>
                <p:nvPr/>
              </p:nvSpPr>
              <p:spPr>
                <a:xfrm>
                  <a:off x="6457016" y="1318510"/>
                  <a:ext cx="2485046" cy="3779800"/>
                </a:xfrm>
                <a:prstGeom prst="rect">
                  <a:avLst/>
                </a:prstGeom>
                <a:ln w="38100">
                  <a:solidFill>
                    <a:schemeClr val="accent6"/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fr-FR" sz="1600" b="1" dirty="0">
                      <a:solidFill>
                        <a:schemeClr val="tx1"/>
                      </a:solidFill>
                    </a:rPr>
                    <a:t>Protocole</a:t>
                  </a: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>
                      <a:solidFill>
                        <a:schemeClr val="tx1"/>
                      </a:solidFill>
                    </a:rPr>
                    <a:t>Excitation de la corde ‘’à la main’’ à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=30</m:t>
                      </m:r>
                    </m:oMath>
                  </a14:m>
                  <a:r>
                    <a:rPr lang="fr-FR" sz="1600" dirty="0">
                      <a:solidFill>
                        <a:schemeClr val="tx1"/>
                      </a:solidFill>
                    </a:rPr>
                    <a:t> cm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>
                      <a:solidFill>
                        <a:schemeClr val="tx1"/>
                      </a:solidFill>
                    </a:rPr>
                    <a:t>Relevé de la tension aux bornes la résistance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𝑎𝑚𝑝</m:t>
                          </m:r>
                        </m:sub>
                      </m:sSub>
                    </m:oMath>
                  </a14:m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>
                      <a:solidFill>
                        <a:schemeClr val="tx1"/>
                      </a:solidFill>
                    </a:rPr>
                    <a:t>Fréquence fondamentale: </a:t>
                  </a:r>
                  <a14:m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80</m:t>
                      </m:r>
                    </m:oMath>
                  </a14:m>
                  <a:r>
                    <a:rPr lang="fr-FR" sz="1600" dirty="0">
                      <a:solidFill>
                        <a:schemeClr val="tx1"/>
                      </a:solidFill>
                    </a:rPr>
                    <a:t> Hz </a:t>
                  </a:r>
                  <a:r>
                    <a:rPr lang="fr-FR" sz="1600" dirty="0">
                      <a:solidFill>
                        <a:schemeClr val="tx1"/>
                      </a:solidFill>
                      <a:sym typeface="Wingdings" panose="05000000000000000000" pitchFamily="2" charset="2"/>
                    </a:rPr>
                    <a:t> </a:t>
                  </a:r>
                  <a14:m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𝑢</m:t>
                      </m:r>
                      <m:d>
                        <m:d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e>
                      </m:d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𝑒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𝑡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a14:m>
                  <a:endParaRPr lang="fr-FR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D1CDCC24-52FC-A6FC-AF35-DBBA86C518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7016" y="1318510"/>
                  <a:ext cx="2485046" cy="3779800"/>
                </a:xfrm>
                <a:prstGeom prst="rect">
                  <a:avLst/>
                </a:prstGeom>
                <a:blipFill>
                  <a:blip r:embed="rId2"/>
                  <a:stretch>
                    <a:fillRect l="-177" r="-707"/>
                  </a:stretch>
                </a:blipFill>
                <a:ln w="3810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A23E68A-A65C-A12E-753D-45B38F124E8F}"/>
                </a:ext>
              </a:extLst>
            </p:cNvPr>
            <p:cNvSpPr/>
            <p:nvPr/>
          </p:nvSpPr>
          <p:spPr>
            <a:xfrm rot="16200000">
              <a:off x="6269362" y="4195744"/>
              <a:ext cx="1312065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7392EF7-E69A-FBBE-FF61-674BDCF2226A}"/>
                </a:ext>
              </a:extLst>
            </p:cNvPr>
            <p:cNvGrpSpPr/>
            <p:nvPr/>
          </p:nvGrpSpPr>
          <p:grpSpPr>
            <a:xfrm>
              <a:off x="7114959" y="3562570"/>
              <a:ext cx="1800921" cy="1110504"/>
              <a:chOff x="7133777" y="3809995"/>
              <a:chExt cx="1683780" cy="76146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AD72CAD-7612-3CF0-D4E3-C46A4DFF0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989763" y="3876498"/>
                <a:ext cx="827794" cy="690115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2AD20C-FA20-6811-A6D9-40C43C57256C}"/>
                  </a:ext>
                </a:extLst>
              </p:cNvPr>
              <p:cNvSpPr/>
              <p:nvPr/>
            </p:nvSpPr>
            <p:spPr>
              <a:xfrm>
                <a:off x="7133777" y="3881349"/>
                <a:ext cx="179882" cy="690115"/>
              </a:xfrm>
              <a:prstGeom prst="rect">
                <a:avLst/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4" name="Connector: Elbow 13">
                <a:extLst>
                  <a:ext uri="{FF2B5EF4-FFF2-40B4-BE49-F238E27FC236}">
                    <a16:creationId xmlns:a16="http://schemas.microsoft.com/office/drawing/2014/main" id="{BA47D6C8-36D4-44AD-CA04-1DB90FF0D34A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 rot="10800000" flipV="1">
                <a:off x="7223719" y="4453242"/>
                <a:ext cx="935397" cy="118221"/>
              </a:xfrm>
              <a:prstGeom prst="bentConnector4">
                <a:avLst>
                  <a:gd name="adj1" fmla="val 388"/>
                  <a:gd name="adj2" fmla="val 293367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Connector: Elbow 19">
                <a:extLst>
                  <a:ext uri="{FF2B5EF4-FFF2-40B4-BE49-F238E27FC236}">
                    <a16:creationId xmlns:a16="http://schemas.microsoft.com/office/drawing/2014/main" id="{7D855CD3-8716-F3D8-180F-1F7F063076E1}"/>
                  </a:ext>
                </a:extLst>
              </p:cNvPr>
              <p:cNvCxnSpPr>
                <a:cxnSpLocks/>
                <a:endCxn id="10" idx="0"/>
              </p:cNvCxnSpPr>
              <p:nvPr/>
            </p:nvCxnSpPr>
            <p:spPr>
              <a:xfrm rot="10800000" flipV="1">
                <a:off x="7223718" y="3809995"/>
                <a:ext cx="925872" cy="71353"/>
              </a:xfrm>
              <a:prstGeom prst="bentConnector2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00744D9-C28C-C8A8-7738-98A2945790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49590" y="3810000"/>
                <a:ext cx="0" cy="18557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ECB0DE-2F92-E777-710D-46FE392347D3}"/>
                  </a:ext>
                </a:extLst>
              </p:cNvPr>
              <p:cNvSpPr txBox="1"/>
              <p:nvPr/>
            </p:nvSpPr>
            <p:spPr>
              <a:xfrm>
                <a:off x="7215489" y="3860089"/>
                <a:ext cx="6074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100" b="1" dirty="0"/>
                  <a:t>Micro</a:t>
                </a:r>
                <a:endParaRPr lang="fr-FR" b="1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9AF6A25-32DF-F6FA-62E8-D619AC7C340C}"/>
                </a:ext>
              </a:extLst>
            </p:cNvPr>
            <p:cNvSpPr txBox="1"/>
            <p:nvPr/>
          </p:nvSpPr>
          <p:spPr>
            <a:xfrm>
              <a:off x="6429026" y="3345405"/>
              <a:ext cx="607436" cy="236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>
                  <a:latin typeface="Arial Black" panose="020B0A04020102020204" pitchFamily="34" charset="0"/>
                </a:rPr>
                <a:t>Corde</a:t>
              </a:r>
              <a:endParaRPr lang="fr-FR" sz="2400" b="1" dirty="0">
                <a:latin typeface="Arial Black" panose="020B0A04020102020204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447045F-3CC6-9ECE-B003-4ABC5359256F}"/>
                </a:ext>
              </a:extLst>
            </p:cNvPr>
            <p:cNvCxnSpPr/>
            <p:nvPr/>
          </p:nvCxnSpPr>
          <p:spPr>
            <a:xfrm flipV="1">
              <a:off x="7388051" y="3926343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FAE08B2-6F4F-B387-66ED-7ABA96619EA9}"/>
                    </a:ext>
                  </a:extLst>
                </p:cNvPr>
                <p:cNvSpPr txBox="1"/>
                <p:nvPr/>
              </p:nvSpPr>
              <p:spPr>
                <a:xfrm>
                  <a:off x="7392712" y="4017150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FAE08B2-6F4F-B387-66ED-7ABA96619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2712" y="4017150"/>
                  <a:ext cx="316562" cy="184666"/>
                </a:xfrm>
                <a:prstGeom prst="rect">
                  <a:avLst/>
                </a:prstGeom>
                <a:blipFill>
                  <a:blip r:embed="rId8"/>
                  <a:stretch>
                    <a:fillRect t="-3125" r="-4839" b="-312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05B622C-2AE6-B718-55A0-799064579779}"/>
                </a:ext>
              </a:extLst>
            </p:cNvPr>
            <p:cNvCxnSpPr/>
            <p:nvPr/>
          </p:nvCxnSpPr>
          <p:spPr>
            <a:xfrm flipV="1">
              <a:off x="8030496" y="3899852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879757A-F1CA-727B-3EAE-68CAA7284482}"/>
                    </a:ext>
                  </a:extLst>
                </p:cNvPr>
                <p:cNvSpPr txBox="1"/>
                <p:nvPr/>
              </p:nvSpPr>
              <p:spPr>
                <a:xfrm>
                  <a:off x="7727026" y="4220013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879757A-F1CA-727B-3EAE-68CAA7284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026" y="4220013"/>
                  <a:ext cx="316562" cy="184666"/>
                </a:xfrm>
                <a:prstGeom prst="rect">
                  <a:avLst/>
                </a:prstGeom>
                <a:blipFill>
                  <a:blip r:embed="rId9"/>
                  <a:stretch>
                    <a:fillRect r="-6452" b="-3030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686A051F-9DAE-A8C6-000C-F8E486C0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D21AB-CEBC-E2AC-7001-EB1450AFE9C3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607F5F5-C920-E8BE-F59C-FEDACBD8F753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340835-A145-5373-DEB1-EFF2B2EE05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81" b="3828"/>
          <a:stretch>
            <a:fillRect/>
          </a:stretch>
        </p:blipFill>
        <p:spPr>
          <a:xfrm>
            <a:off x="281944" y="1128398"/>
            <a:ext cx="4913871" cy="4935123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4625F1-930A-19C2-391C-C0CFF4AB4944}"/>
              </a:ext>
            </a:extLst>
          </p:cNvPr>
          <p:cNvSpPr/>
          <p:nvPr/>
        </p:nvSpPr>
        <p:spPr>
          <a:xfrm>
            <a:off x="1894037" y="5988112"/>
            <a:ext cx="1224992" cy="23285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Humbucker //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AD9445-BE9C-973C-C972-8AFE4B8EAE0E}"/>
              </a:ext>
            </a:extLst>
          </p:cNvPr>
          <p:cNvSpPr/>
          <p:nvPr/>
        </p:nvSpPr>
        <p:spPr>
          <a:xfrm>
            <a:off x="728958" y="5992088"/>
            <a:ext cx="1105167" cy="23683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SingleCoil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AC70B2-4DA2-8485-1575-BEAEC25927E8}"/>
              </a:ext>
            </a:extLst>
          </p:cNvPr>
          <p:cNvSpPr/>
          <p:nvPr/>
        </p:nvSpPr>
        <p:spPr>
          <a:xfrm>
            <a:off x="3178942" y="5988112"/>
            <a:ext cx="1224992" cy="23285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Humbucker --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EA8B41-DBF9-4BAE-EC12-9787ED3EBFD4}"/>
              </a:ext>
            </a:extLst>
          </p:cNvPr>
          <p:cNvSpPr/>
          <p:nvPr/>
        </p:nvSpPr>
        <p:spPr>
          <a:xfrm>
            <a:off x="1099811" y="2332703"/>
            <a:ext cx="332845" cy="23683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8C5315-833A-1227-2102-F393794B1434}"/>
              </a:ext>
            </a:extLst>
          </p:cNvPr>
          <p:cNvSpPr/>
          <p:nvPr/>
        </p:nvSpPr>
        <p:spPr>
          <a:xfrm>
            <a:off x="881348" y="1255662"/>
            <a:ext cx="1132831" cy="29461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Oscilloscope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A10E743-00B2-81C7-931B-E99DB5826837}"/>
              </a:ext>
            </a:extLst>
          </p:cNvPr>
          <p:cNvCxnSpPr>
            <a:cxnSpLocks/>
          </p:cNvCxnSpPr>
          <p:nvPr/>
        </p:nvCxnSpPr>
        <p:spPr>
          <a:xfrm flipV="1">
            <a:off x="1447763" y="5732146"/>
            <a:ext cx="566415" cy="255966"/>
          </a:xfrm>
          <a:prstGeom prst="bentConnector3">
            <a:avLst>
              <a:gd name="adj1" fmla="val 3251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D0FAE8A-3688-F2A8-6B0A-E9E30236C8B8}"/>
              </a:ext>
            </a:extLst>
          </p:cNvPr>
          <p:cNvCxnSpPr>
            <a:cxnSpLocks/>
          </p:cNvCxnSpPr>
          <p:nvPr/>
        </p:nvCxnSpPr>
        <p:spPr>
          <a:xfrm rot="10800000">
            <a:off x="3178942" y="5775962"/>
            <a:ext cx="429129" cy="212151"/>
          </a:xfrm>
          <a:prstGeom prst="bentConnector3">
            <a:avLst>
              <a:gd name="adj1" fmla="val 4276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2DA095-581E-E30B-B879-F49B0A2527DD}"/>
              </a:ext>
            </a:extLst>
          </p:cNvPr>
          <p:cNvCxnSpPr>
            <a:cxnSpLocks/>
          </p:cNvCxnSpPr>
          <p:nvPr/>
        </p:nvCxnSpPr>
        <p:spPr>
          <a:xfrm flipV="1">
            <a:off x="2506533" y="5892165"/>
            <a:ext cx="0" cy="90232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BAC65E0-95E4-0252-3042-A8AE9170EA26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1245336" y="2590430"/>
            <a:ext cx="425295" cy="383499"/>
          </a:xfrm>
          <a:prstGeom prst="bentConnector3">
            <a:avLst>
              <a:gd name="adj1" fmla="val 99720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CA56CDB-24E7-CD5E-78EB-1C02851331F6}"/>
              </a:ext>
            </a:extLst>
          </p:cNvPr>
          <p:cNvCxnSpPr>
            <a:cxnSpLocks/>
            <a:stCxn id="15" idx="2"/>
          </p:cNvCxnSpPr>
          <p:nvPr/>
        </p:nvCxnSpPr>
        <p:spPr>
          <a:xfrm rot="16200000" flipH="1">
            <a:off x="1676612" y="1321427"/>
            <a:ext cx="238820" cy="696517"/>
          </a:xfrm>
          <a:prstGeom prst="bent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835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5E99-2CF9-7E0D-79CA-BABAA19A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3DB6B27-AA82-27CA-4C59-BED8BD50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FA63362-A7FE-D456-4DFE-76AF9C9F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17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B2583-C897-D79E-5A55-FE07F68B995B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8BA7D4-4F47-C07A-D458-039535C30ED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9199" y="2427394"/>
            <a:ext cx="2699997" cy="22499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BCCF08D-70B3-E157-EEA1-72C05F75B77B}"/>
              </a:ext>
            </a:extLst>
          </p:cNvPr>
          <p:cNvSpPr txBox="1"/>
          <p:nvPr/>
        </p:nvSpPr>
        <p:spPr>
          <a:xfrm>
            <a:off x="440839" y="4867365"/>
            <a:ext cx="27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EC79C7-8A93-8CDB-03E0-AF1F6EBA0AAC}"/>
              </a:ext>
            </a:extLst>
          </p:cNvPr>
          <p:cNvSpPr txBox="1"/>
          <p:nvPr/>
        </p:nvSpPr>
        <p:spPr>
          <a:xfrm>
            <a:off x="6117557" y="4863787"/>
            <a:ext cx="27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série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02FDA5-7836-89A4-513F-D23A79CB7D5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841" y="2427394"/>
            <a:ext cx="2699997" cy="224999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4022765-3984-7359-05D4-7CAE0CFC9EB1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B2AA81-E672-0837-BD68-1B03A7BDB0D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CA1F761A-9FE7-4661-E1FD-548CB5B7DBC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4A34250-3A97-0AAF-6B6F-C673400F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233B56-FF7D-388A-ECE2-AF982CD8927A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96A93A-1114-8144-2C24-C6B160717F3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7558" y="2427394"/>
            <a:ext cx="2699998" cy="2249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A94647-80D0-4EB0-FC94-6216C87463A1}"/>
              </a:ext>
            </a:extLst>
          </p:cNvPr>
          <p:cNvSpPr txBox="1"/>
          <p:nvPr/>
        </p:nvSpPr>
        <p:spPr>
          <a:xfrm>
            <a:off x="3279198" y="4867365"/>
            <a:ext cx="27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parallèle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544452B-910B-68CB-0A4F-F4E4DEDBF9F7}"/>
                  </a:ext>
                </a:extLst>
              </p:cNvPr>
              <p:cNvSpPr/>
              <p:nvPr/>
            </p:nvSpPr>
            <p:spPr>
              <a:xfrm>
                <a:off x="440839" y="1096755"/>
                <a:ext cx="5538359" cy="1076129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b="1" u="sng" dirty="0"/>
                  <a:t>Rappel théorie :</a:t>
                </a:r>
              </a:p>
              <a:p>
                <a:pPr algn="ctr"/>
                <a:endParaRPr lang="fr-FR" sz="12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𝑛𝐹𝑡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544452B-910B-68CB-0A4F-F4E4DEDBF9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39" y="1096755"/>
                <a:ext cx="5538359" cy="1076129"/>
              </a:xfrm>
              <a:prstGeom prst="rect">
                <a:avLst/>
              </a:prstGeom>
              <a:blipFill>
                <a:blip r:embed="rId7"/>
                <a:stretch>
                  <a:fillRect t="-18132" b="-67033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2D8FFD-1E35-537E-6054-486D3ADEFA71}"/>
                  </a:ext>
                </a:extLst>
              </p:cNvPr>
              <p:cNvSpPr txBox="1"/>
              <p:nvPr/>
            </p:nvSpPr>
            <p:spPr>
              <a:xfrm>
                <a:off x="6137339" y="1416095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2D8FFD-1E35-537E-6054-486D3ADEF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339" y="1416095"/>
                <a:ext cx="2752349" cy="3781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4E5089-6E9B-6F7E-BA33-3EFF1F8B5DC5}"/>
                  </a:ext>
                </a:extLst>
              </p:cNvPr>
              <p:cNvSpPr txBox="1"/>
              <p:nvPr/>
            </p:nvSpPr>
            <p:spPr>
              <a:xfrm>
                <a:off x="6137339" y="1794212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4E5089-6E9B-6F7E-BA33-3EFF1F8B5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339" y="1794212"/>
                <a:ext cx="2752349" cy="3781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4B174E5-2B22-6FCB-F5C2-DFA333A3C499}"/>
              </a:ext>
            </a:extLst>
          </p:cNvPr>
          <p:cNvSpPr txBox="1"/>
          <p:nvPr/>
        </p:nvSpPr>
        <p:spPr>
          <a:xfrm>
            <a:off x="6137339" y="1097861"/>
            <a:ext cx="839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Avec :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804168-F12A-5B6F-67AF-D3BDF429A8D6}"/>
              </a:ext>
            </a:extLst>
          </p:cNvPr>
          <p:cNvGrpSpPr/>
          <p:nvPr/>
        </p:nvGrpSpPr>
        <p:grpSpPr>
          <a:xfrm>
            <a:off x="445038" y="5206305"/>
            <a:ext cx="8372519" cy="923330"/>
            <a:chOff x="349675" y="2989072"/>
            <a:chExt cx="8444650" cy="92333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4564F4-4B1E-F872-BAD5-FD19257966FD}"/>
                </a:ext>
              </a:extLst>
            </p:cNvPr>
            <p:cNvSpPr txBox="1"/>
            <p:nvPr/>
          </p:nvSpPr>
          <p:spPr>
            <a:xfrm>
              <a:off x="349675" y="2989072"/>
              <a:ext cx="844465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u="sng" dirty="0"/>
                <a:t>Analyse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dirty="0"/>
                <a:t>Forme générale du spectre respectée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dirty="0"/>
                <a:t>Humbucker série : Différence à 320 Hz</a:t>
              </a:r>
            </a:p>
          </p:txBody>
        </p:sp>
        <p:pic>
          <p:nvPicPr>
            <p:cNvPr id="31" name="Graphic 30" descr="Checkmark with solid fill">
              <a:extLst>
                <a:ext uri="{FF2B5EF4-FFF2-40B4-BE49-F238E27FC236}">
                  <a16:creationId xmlns:a16="http://schemas.microsoft.com/office/drawing/2014/main" id="{4E67BDF8-C69B-9258-DEBB-8095785E8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0920" y="3279082"/>
              <a:ext cx="252000" cy="252000"/>
            </a:xfrm>
            <a:prstGeom prst="rect">
              <a:avLst/>
            </a:prstGeom>
          </p:spPr>
        </p:pic>
        <p:pic>
          <p:nvPicPr>
            <p:cNvPr id="33" name="Graphic 32" descr="Close with solid fill">
              <a:extLst>
                <a:ext uri="{FF2B5EF4-FFF2-40B4-BE49-F238E27FC236}">
                  <a16:creationId xmlns:a16="http://schemas.microsoft.com/office/drawing/2014/main" id="{8D13A339-C2F6-EBA9-6F9A-5D7CA29D0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08237" y="3592410"/>
              <a:ext cx="252000" cy="252000"/>
            </a:xfrm>
            <a:prstGeom prst="rect">
              <a:avLst/>
            </a:prstGeom>
          </p:spPr>
        </p:pic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2DEAF3-B9BA-FC61-92AE-05C68AA66DF6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9715F5-8301-543E-7775-1F4BD835DA2C}"/>
                  </a:ext>
                </a:extLst>
              </p:cNvPr>
              <p:cNvSpPr txBox="1"/>
              <p:nvPr/>
            </p:nvSpPr>
            <p:spPr>
              <a:xfrm>
                <a:off x="2087879" y="2951955"/>
                <a:ext cx="868681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± 0,0172 %</m:t>
                      </m:r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9715F5-8301-543E-7775-1F4BD835D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879" y="2951955"/>
                <a:ext cx="868681" cy="276999"/>
              </a:xfrm>
              <a:prstGeom prst="rect">
                <a:avLst/>
              </a:prstGeom>
              <a:blipFill>
                <a:blip r:embed="rId14"/>
                <a:stretch>
                  <a:fillRect r="-551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78A13-F6C2-3149-2FF1-5A0165748808}"/>
                  </a:ext>
                </a:extLst>
              </p:cNvPr>
              <p:cNvSpPr txBox="1"/>
              <p:nvPr/>
            </p:nvSpPr>
            <p:spPr>
              <a:xfrm>
                <a:off x="4945379" y="2974815"/>
                <a:ext cx="868681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± 0,0096 %</m:t>
                      </m:r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78A13-F6C2-3149-2FF1-5A0165748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379" y="2974815"/>
                <a:ext cx="868681" cy="276999"/>
              </a:xfrm>
              <a:prstGeom prst="rect">
                <a:avLst/>
              </a:prstGeom>
              <a:blipFill>
                <a:blip r:embed="rId15"/>
                <a:stretch>
                  <a:fillRect r="-551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1AEDCA-FBF8-2148-C756-6331384B3076}"/>
                  </a:ext>
                </a:extLst>
              </p:cNvPr>
              <p:cNvSpPr txBox="1"/>
              <p:nvPr/>
            </p:nvSpPr>
            <p:spPr>
              <a:xfrm>
                <a:off x="7773725" y="2959575"/>
                <a:ext cx="868681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± 0,0197 %</m:t>
                      </m:r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1AEDCA-FBF8-2148-C756-6331384B3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725" y="2959575"/>
                <a:ext cx="868681" cy="276999"/>
              </a:xfrm>
              <a:prstGeom prst="rect">
                <a:avLst/>
              </a:prstGeom>
              <a:blipFill>
                <a:blip r:embed="rId16"/>
                <a:stretch>
                  <a:fillRect r="-5517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Python Logo PNG Transparent – Brands Logos">
            <a:extLst>
              <a:ext uri="{FF2B5EF4-FFF2-40B4-BE49-F238E27FC236}">
                <a16:creationId xmlns:a16="http://schemas.microsoft.com/office/drawing/2014/main" id="{A4C3DAF1-5532-B6F1-D01E-C035E8932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4" y="483864"/>
            <a:ext cx="506135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879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BAE8-7762-46B2-E907-AD709936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EB2398-EFF8-C9A2-49F0-95D4E4A8CC35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D8542C0-197A-96FC-F849-6D84EC76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6F0E06E-2288-33E6-28E3-CCE75F99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18</a:t>
            </a:fld>
            <a:endParaRPr lang="fr-FR" sz="1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/>
              <p:nvPr/>
            </p:nvSpPr>
            <p:spPr>
              <a:xfrm>
                <a:off x="5681666" y="1128398"/>
                <a:ext cx="3208021" cy="915896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du gain d’atténuation relatif :</a:t>
                </a:r>
              </a:p>
              <a:p>
                <a:endParaRPr lang="fr-FR" sz="1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/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28398"/>
                <a:ext cx="3208021" cy="91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5B40429-E66D-936A-8895-1DC0AF6D287B}"/>
              </a:ext>
            </a:extLst>
          </p:cNvPr>
          <p:cNvGrpSpPr/>
          <p:nvPr/>
        </p:nvGrpSpPr>
        <p:grpSpPr>
          <a:xfrm>
            <a:off x="5681666" y="2163818"/>
            <a:ext cx="3269985" cy="3993142"/>
            <a:chOff x="6114891" y="2389099"/>
            <a:chExt cx="2721663" cy="357316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E1FC82B-F70C-8D5D-E171-A36BE02D4021}"/>
                </a:ext>
              </a:extLst>
            </p:cNvPr>
            <p:cNvGrpSpPr/>
            <p:nvPr/>
          </p:nvGrpSpPr>
          <p:grpSpPr>
            <a:xfrm>
              <a:off x="6114891" y="2389099"/>
              <a:ext cx="2721663" cy="3573164"/>
              <a:chOff x="5958063" y="2389099"/>
              <a:chExt cx="2878491" cy="357316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CA3093A-8816-005B-D928-3B44B655C8E2}"/>
                  </a:ext>
                </a:extLst>
              </p:cNvPr>
              <p:cNvSpPr/>
              <p:nvPr/>
            </p:nvSpPr>
            <p:spPr>
              <a:xfrm>
                <a:off x="5958063" y="2389099"/>
                <a:ext cx="2878491" cy="3573164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Nœuds de vibration :</a:t>
                </a: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Filtrage en peigne spatial :</a:t>
                </a: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3C3E0C0-FBAB-DC78-5B15-476675A96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3236" b="4515"/>
              <a:stretch>
                <a:fillRect/>
              </a:stretch>
            </p:blipFill>
            <p:spPr>
              <a:xfrm>
                <a:off x="6477938" y="4604155"/>
                <a:ext cx="1798321" cy="377538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40B446E-9BC2-8E92-5207-9220276E3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76" t="6786" r="5431" b="11456"/>
              <a:stretch>
                <a:fillRect/>
              </a:stretch>
            </p:blipFill>
            <p:spPr>
              <a:xfrm>
                <a:off x="6988242" y="5064642"/>
                <a:ext cx="793915" cy="525312"/>
              </a:xfrm>
              <a:prstGeom prst="rect">
                <a:avLst/>
              </a:prstGeom>
            </p:spPr>
          </p:pic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21575B3-C3E7-D035-FD8D-5A909416EA0A}"/>
                  </a:ext>
                </a:extLst>
              </p:cNvPr>
              <p:cNvGrpSpPr/>
              <p:nvPr/>
            </p:nvGrpSpPr>
            <p:grpSpPr>
              <a:xfrm>
                <a:off x="6100686" y="2976560"/>
                <a:ext cx="2593244" cy="1059640"/>
                <a:chOff x="6082122" y="3612551"/>
                <a:chExt cx="2593242" cy="1010417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BB147258-36F6-4862-BCFA-8C34DAA43A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40000" contrast="40000"/>
                          </a14:imgEffect>
                        </a14:imgLayer>
                      </a14:imgProps>
                    </a:ext>
                  </a:extLst>
                </a:blip>
                <a:srcRect l="3726" t="8959" r="3236" b="4515"/>
                <a:stretch>
                  <a:fillRect/>
                </a:stretch>
              </p:blipFill>
              <p:spPr>
                <a:xfrm>
                  <a:off x="6467476" y="3612551"/>
                  <a:ext cx="1798320" cy="360000"/>
                </a:xfrm>
                <a:prstGeom prst="rect">
                  <a:avLst/>
                </a:prstGeom>
              </p:spPr>
            </p:pic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6A19C6E1-1347-2947-0051-4E4B5CAD3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ackgroundRemoval t="32494" b="70953" l="13960" r="44675"/>
                          </a14:imgEffect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120" t="27687" r="51486" b="24239"/>
                <a:stretch>
                  <a:fillRect/>
                </a:stretch>
              </p:blipFill>
              <p:spPr>
                <a:xfrm>
                  <a:off x="6920250" y="3866659"/>
                  <a:ext cx="932157" cy="756309"/>
                </a:xfrm>
                <a:prstGeom prst="rect">
                  <a:avLst/>
                </a:prstGeom>
              </p:spPr>
            </p:pic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BD459B7B-7876-DECC-7C5D-6EF7F711F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70935" y="3612551"/>
                  <a:ext cx="0" cy="863841"/>
                </a:xfrm>
                <a:prstGeom prst="line">
                  <a:avLst/>
                </a:prstGeom>
                <a:ln w="9525" cap="flat" cmpd="sng" algn="ctr">
                  <a:solidFill>
                    <a:srgbClr val="C00000"/>
                  </a:solidFill>
                  <a:prstDash val="sys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69C823F4-FBD6-6BF7-DDFC-373F3F49B1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40000" contrast="40000"/>
                          </a14:imgEffect>
                        </a14:imgLayer>
                      </a14:imgProps>
                    </a:ext>
                  </a:extLst>
                </a:blip>
                <a:srcRect l="76827" t="8959" r="3236" b="4515"/>
                <a:stretch>
                  <a:fillRect/>
                </a:stretch>
              </p:blipFill>
              <p:spPr>
                <a:xfrm>
                  <a:off x="6082122" y="3612551"/>
                  <a:ext cx="385354" cy="360000"/>
                </a:xfrm>
                <a:prstGeom prst="rect">
                  <a:avLst/>
                </a:prstGeom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49EE9B9-324D-BB3C-541F-721FD32B50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40000" contrast="40000"/>
                          </a14:imgEffect>
                        </a14:imgLayer>
                      </a14:imgProps>
                    </a:ext>
                  </a:extLst>
                </a:blip>
                <a:srcRect l="3726" t="8959" r="75085" b="4515"/>
                <a:stretch>
                  <a:fillRect/>
                </a:stretch>
              </p:blipFill>
              <p:spPr>
                <a:xfrm>
                  <a:off x="8265796" y="3612551"/>
                  <a:ext cx="409568" cy="360000"/>
                </a:xfrm>
                <a:prstGeom prst="rect">
                  <a:avLst/>
                </a:prstGeom>
              </p:spPr>
            </p:pic>
          </p:grp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65BA09B4-C52E-B87A-CF04-8232C165DF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42582" y="4874895"/>
                <a:ext cx="0" cy="696047"/>
              </a:xfrm>
              <a:prstGeom prst="line">
                <a:avLst/>
              </a:prstGeom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B93E4C2-FBE4-4065-9278-90914A6EC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1982" y="4703445"/>
                <a:ext cx="0" cy="867498"/>
              </a:xfrm>
              <a:prstGeom prst="line">
                <a:avLst/>
              </a:prstGeom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06407F-AE7F-3BBE-2F75-7730253F21E7}"/>
                    </a:ext>
                  </a:extLst>
                </p:cNvPr>
                <p:cNvSpPr txBox="1"/>
                <p:nvPr/>
              </p:nvSpPr>
              <p:spPr>
                <a:xfrm>
                  <a:off x="6591942" y="3940434"/>
                  <a:ext cx="1748389" cy="3781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sSub>
                              <m:sSubPr>
                                <m:ctrlPr>
                                  <a:rPr lang="fr-FR" sz="105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1050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050" b="0" i="1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sub>
                            </m:sSub>
                          </m:sub>
                        </m:sSub>
                        <m:r>
                          <a:rPr lang="fr-FR" sz="105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sz="105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05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fr-FR" sz="105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fr-FR" sz="105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06407F-AE7F-3BBE-2F75-7730253F2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942" y="3940434"/>
                  <a:ext cx="1748389" cy="37811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1CAC20F-EC26-B5B1-7233-C097D272BB96}"/>
                    </a:ext>
                  </a:extLst>
                </p:cNvPr>
                <p:cNvSpPr txBox="1"/>
                <p:nvPr/>
              </p:nvSpPr>
              <p:spPr>
                <a:xfrm>
                  <a:off x="6240422" y="5556492"/>
                  <a:ext cx="2470599" cy="3781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sSub>
                              <m:sSubPr>
                                <m:ctrlPr>
                                  <a:rPr lang="fr-FR" sz="105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1050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05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sub>
                        </m:sSub>
                        <m:r>
                          <a:rPr lang="fr-FR" sz="105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sz="105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05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sz="10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fr-FR" sz="105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sz="105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sz="105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1050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func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fr-FR" sz="105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1CAC20F-EC26-B5B1-7233-C097D272B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0422" y="5556492"/>
                  <a:ext cx="2470599" cy="37811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7C8EA8-F319-D7E0-8067-9D1EAC76E64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DA953AF-25C3-1D39-4B06-09ED975BB1A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4BCE2257-F05E-832B-4E41-697261064FA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A77982B-C36B-8EDB-5099-18085A7B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C05A3D-32B8-82F3-42AF-E20F9F7CEB70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56DC6A4-DDE0-128B-1A21-EBE107893AF8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6EC09A-1CE2-C57C-EA75-CE25A5404F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28398"/>
            <a:ext cx="5175257" cy="499765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31065C-A20A-A288-0085-D396B6CE6BAB}"/>
              </a:ext>
            </a:extLst>
          </p:cNvPr>
          <p:cNvCxnSpPr>
            <a:cxnSpLocks/>
          </p:cNvCxnSpPr>
          <p:nvPr/>
        </p:nvCxnSpPr>
        <p:spPr>
          <a:xfrm>
            <a:off x="3063584" y="3377565"/>
            <a:ext cx="0" cy="1449268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AC77C0-992D-6FEB-50E1-07C49D290036}"/>
                  </a:ext>
                </a:extLst>
              </p:cNvPr>
              <p:cNvSpPr txBox="1"/>
              <p:nvPr/>
            </p:nvSpPr>
            <p:spPr>
              <a:xfrm>
                <a:off x="3078704" y="4611570"/>
                <a:ext cx="4953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𝟑𝟐𝟎</m:t>
                    </m:r>
                    <m:r>
                      <a:rPr lang="fr-FR" sz="1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b="1" dirty="0">
                    <a:solidFill>
                      <a:srgbClr val="C00000"/>
                    </a:solidFill>
                  </a:rPr>
                  <a:t>Hz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AC77C0-992D-6FEB-50E1-07C49D290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704" y="4611570"/>
                <a:ext cx="495328" cy="184666"/>
              </a:xfrm>
              <a:prstGeom prst="rect">
                <a:avLst/>
              </a:prstGeom>
              <a:blipFill>
                <a:blip r:embed="rId13"/>
                <a:stretch>
                  <a:fillRect l="-11111" t="-29032" r="-19753" b="-4516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Python Logo PNG Transparent – Brands Logos">
            <a:extLst>
              <a:ext uri="{FF2B5EF4-FFF2-40B4-BE49-F238E27FC236}">
                <a16:creationId xmlns:a16="http://schemas.microsoft.com/office/drawing/2014/main" id="{FAF7CBEB-0067-C932-A2A5-C8DC59CC8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4" y="483864"/>
            <a:ext cx="506135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840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443C-1132-470C-D64F-59D770C6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7ADF0A-BC65-2B59-DB0A-5AC2D897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46AB8D3-DEB4-0AE6-6FE3-850FB50B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19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FC845-40D7-1D84-2831-0F5EB2B9A9BD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2D14195-002C-3AC6-91BA-38D5950E6A8F}"/>
              </a:ext>
            </a:extLst>
          </p:cNvPr>
          <p:cNvGrpSpPr/>
          <p:nvPr/>
        </p:nvGrpSpPr>
        <p:grpSpPr>
          <a:xfrm>
            <a:off x="449951" y="4838220"/>
            <a:ext cx="8491114" cy="1210580"/>
            <a:chOff x="194470" y="5083538"/>
            <a:chExt cx="8484459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8A93C6F-6963-CF1D-4030-848C335D32BA}"/>
                </a:ext>
              </a:extLst>
            </p:cNvPr>
            <p:cNvGrpSpPr/>
            <p:nvPr/>
          </p:nvGrpSpPr>
          <p:grpSpPr>
            <a:xfrm>
              <a:off x="194470" y="5083538"/>
              <a:ext cx="8484459" cy="1150814"/>
              <a:chOff x="194470" y="5083538"/>
              <a:chExt cx="8484459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EC0EFE0-5A7E-434A-48B5-6D0BDA324E7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24626F8-3405-7B94-857D-F1F2A8E46808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65B8228-B903-2034-466C-E1CF7CE3C58B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7C62744-6624-30B8-4516-B89653B12216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BE861EC0-ADFA-BFD5-9A59-357BF9F8DA0C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CBAA01B1-07B4-0E8E-EA74-4165A97C907C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2351D297-C352-0650-1F96-4B946D7E8EDF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2C793BFD-06C9-831C-9B6A-6D0B4AB1F2FB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C89B3A1-9684-D240-5467-3E82410169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C89B3A1-9684-D240-5467-3E82410169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A65CBD3-56E2-8142-5CE2-5D9B819463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A65CBD3-56E2-8142-5CE2-5D9B819463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74510184-3A41-CDD1-88B7-90ACF554C7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74510184-3A41-CDD1-88B7-90ACF554C7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8AEFA58-920D-CA4B-0F07-1505906941E3}"/>
                  </a:ext>
                </a:extLst>
              </p:cNvPr>
              <p:cNvSpPr txBox="1"/>
              <p:nvPr/>
            </p:nvSpPr>
            <p:spPr>
              <a:xfrm>
                <a:off x="194470" y="5571687"/>
                <a:ext cx="13135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Champ Magnétique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E9D5FC-7311-9DE7-224D-265153585F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E58AEB-3C8B-BEE6-23D3-28ACF6A082A1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9D5AB90-5B5D-299C-905F-5A23D8466EEA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E631FB0-AF2B-52D9-ABF9-A8C72A563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1307807" y="901333"/>
            <a:ext cx="6528386" cy="39655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6F19366-E464-2982-AC55-682B5038ECC4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F9072DF-6B10-F3FF-2E80-2B8708D4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9F772F-663F-5F54-5B8F-B00F8569B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62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799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C3C5-724E-6B47-34F2-CF92308B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23932D-DB1E-0F79-2630-BD139B43CBE1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9FDBC51-B7C5-D612-8598-965C48AC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ADAE1A4-DBF7-136C-C7FB-905349CD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20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B6957C-FA40-780F-7F7C-92FF0723E95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/>
              <p:nvPr/>
            </p:nvSpPr>
            <p:spPr>
              <a:xfrm>
                <a:off x="4747261" y="1124075"/>
                <a:ext cx="4203181" cy="5146248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On considère un champ parasite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pPr algn="ctr"/>
                <a:endParaRPr lang="fr-FR" sz="1600" dirty="0"/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SingleCoil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On place le micro tel que </a:t>
                </a:r>
                <a14:m>
                  <m:oMath xmlns:m="http://schemas.openxmlformats.org/officeDocument/2006/math"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′=0</m:t>
                    </m:r>
                  </m:oMath>
                </a14:m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u="sng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endParaRPr lang="fr-FR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(0, 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pPr algn="ctr"/>
                <a:endParaRPr lang="fr-FR" sz="1600" dirty="0"/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Humbucker :</a:t>
                </a:r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u="sng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400" b="0" dirty="0"/>
                  <a:t>Montage série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𝐻𝑠</m:t>
                        </m:r>
                      </m:sub>
                    </m:sSub>
                    <m:d>
                      <m:dPr>
                        <m:ctrlPr>
                          <a:rPr lang="fr-FR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fr-F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400" dirty="0"/>
                  <a:t>Montage parallèle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𝐻𝑝</m:t>
                        </m:r>
                      </m:sub>
                    </m:sSub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fr-FR" sz="1400" dirty="0"/>
              </a:p>
              <a:p>
                <a:r>
                  <a:rPr lang="fr-FR" sz="1600" dirty="0"/>
                  <a:t>D’où 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fr-FR" sz="1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𝐻𝑝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fr-FR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1" y="1124075"/>
                <a:ext cx="4203181" cy="5146248"/>
              </a:xfrm>
              <a:prstGeom prst="rect">
                <a:avLst/>
              </a:prstGeom>
              <a:blipFill>
                <a:blip r:embed="rId2"/>
                <a:stretch>
                  <a:fillRect l="-43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64CC775C-DC4C-63E7-FC61-EA5A3939172B}"/>
              </a:ext>
            </a:extLst>
          </p:cNvPr>
          <p:cNvGrpSpPr/>
          <p:nvPr/>
        </p:nvGrpSpPr>
        <p:grpSpPr>
          <a:xfrm>
            <a:off x="326176" y="2696874"/>
            <a:ext cx="4070564" cy="3573449"/>
            <a:chOff x="1211000" y="2537460"/>
            <a:chExt cx="3842591" cy="3657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A165BD7B-D6B6-F854-07A0-F8064B514725}"/>
                    </a:ext>
                  </a:extLst>
                </p:cNvPr>
                <p:cNvSpPr/>
                <p:nvPr/>
              </p:nvSpPr>
              <p:spPr>
                <a:xfrm>
                  <a:off x="1211000" y="2537460"/>
                  <a:ext cx="3842591" cy="3657600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numCol="1" rtlCol="0" anchor="t"/>
                <a:lstStyle/>
                <a:p>
                  <a:r>
                    <a:rPr lang="fr-FR" sz="1600" b="1" dirty="0"/>
                    <a:t>Notations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5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sz="15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500" dirty="0"/>
                    <a:t>: F.E.M. dans le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5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5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500" dirty="0"/>
                    <a:t>: Nombre d’un bobinage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5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5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500" dirty="0"/>
                    <a:t>: Surface du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fr-FR" sz="1500" dirty="0"/>
                    <a:t>: Gradient du champ parasite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5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500" dirty="0"/>
                    <a:t>: Fréquence du champ parasite</a:t>
                  </a: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A165BD7B-D6B6-F854-07A0-F8064B5147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1000" y="2537460"/>
                  <a:ext cx="3842591" cy="3657600"/>
                </a:xfrm>
                <a:prstGeom prst="rect">
                  <a:avLst/>
                </a:prstGeom>
                <a:blipFill>
                  <a:blip r:embed="rId3"/>
                  <a:stretch>
                    <a:fillRect l="-44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AutoShape 2" descr="Image de ">
              <a:extLst>
                <a:ext uri="{FF2B5EF4-FFF2-40B4-BE49-F238E27FC236}">
                  <a16:creationId xmlns:a16="http://schemas.microsoft.com/office/drawing/2014/main" id="{191D9128-D82D-813C-F887-06FAE524B6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9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73D4D17-B068-BC08-FD30-C054806AF9D6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2494" b="70953" l="13960" r="44675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62" t="33994" r="56355" b="28677"/>
            <a:stretch>
              <a:fillRect/>
            </a:stretch>
          </p:blipFill>
          <p:spPr>
            <a:xfrm rot="16200000">
              <a:off x="3789600" y="4075725"/>
              <a:ext cx="540000" cy="72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C37DEA7-2203-42F7-6199-1F53CB0FEEA9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65" t="31109" r="16927" b="29421"/>
            <a:stretch>
              <a:fillRect/>
            </a:stretch>
          </p:blipFill>
          <p:spPr>
            <a:xfrm rot="16200000">
              <a:off x="3519600" y="5043882"/>
              <a:ext cx="1080000" cy="720000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E12A478-9168-E9A7-08C1-904DA5C9D11F}"/>
                </a:ext>
              </a:extLst>
            </p:cNvPr>
            <p:cNvGrpSpPr/>
            <p:nvPr/>
          </p:nvGrpSpPr>
          <p:grpSpPr>
            <a:xfrm>
              <a:off x="3464259" y="4302651"/>
              <a:ext cx="1152426" cy="1803753"/>
              <a:chOff x="1435741" y="3154410"/>
              <a:chExt cx="1152426" cy="1803753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3BE3CFB-79EF-46B3-B885-C590E1FFCC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85090" y="4255046"/>
                <a:ext cx="4877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13CEC012-6C4D-4FA6-13FD-D7443D6FED09}"/>
                      </a:ext>
                    </a:extLst>
                  </p:cNvPr>
                  <p:cNvSpPr txBox="1"/>
                  <p:nvPr/>
                </p:nvSpPr>
                <p:spPr>
                  <a:xfrm>
                    <a:off x="1435741" y="4143861"/>
                    <a:ext cx="169918" cy="2223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13CEC012-6C4D-4FA6-13FD-D7443D6FE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5741" y="4143861"/>
                    <a:ext cx="169918" cy="2223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8571" r="-32143" b="-2973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0A816B5-53E3-F589-38D2-8FB5899DC4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2806" y="4255046"/>
                <a:ext cx="0" cy="416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DD4A81F-E446-8C5B-C4B6-971AC4B98CD1}"/>
                      </a:ext>
                    </a:extLst>
                  </p:cNvPr>
                  <p:cNvSpPr txBox="1"/>
                  <p:nvPr/>
                </p:nvSpPr>
                <p:spPr>
                  <a:xfrm>
                    <a:off x="1990251" y="4735794"/>
                    <a:ext cx="165110" cy="2223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DD4A81F-E446-8C5B-C4B6-971AC4B98C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0251" y="4735794"/>
                    <a:ext cx="165110" cy="22236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2222" r="-22222" b="-8108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CC432440-AFBD-FE2E-238F-FB732EA55D33}"/>
                      </a:ext>
                    </a:extLst>
                  </p:cNvPr>
                  <p:cNvSpPr txBox="1"/>
                  <p:nvPr/>
                </p:nvSpPr>
                <p:spPr>
                  <a:xfrm>
                    <a:off x="2440608" y="4290781"/>
                    <a:ext cx="127111" cy="3538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CC432440-AFBD-FE2E-238F-FB732EA55D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0608" y="4290781"/>
                    <a:ext cx="127111" cy="35381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2727" t="-1754" r="-27273" b="-1403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066B23E-CB7A-24DB-69DB-5E458707C247}"/>
                      </a:ext>
                    </a:extLst>
                  </p:cNvPr>
                  <p:cNvSpPr txBox="1"/>
                  <p:nvPr/>
                </p:nvSpPr>
                <p:spPr>
                  <a:xfrm>
                    <a:off x="2388421" y="3837625"/>
                    <a:ext cx="199746" cy="3538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066B23E-CB7A-24DB-69DB-5E458707C2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8421" y="3837625"/>
                    <a:ext cx="199746" cy="35381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3509" r="-17647" b="-1403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329C849-FD05-E48F-7B3A-455288FE67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85090" y="3279270"/>
                <a:ext cx="4877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291721E5-D838-9684-957E-F4B2D764E8F9}"/>
                      </a:ext>
                    </a:extLst>
                  </p:cNvPr>
                  <p:cNvSpPr txBox="1"/>
                  <p:nvPr/>
                </p:nvSpPr>
                <p:spPr>
                  <a:xfrm>
                    <a:off x="1435741" y="3154410"/>
                    <a:ext cx="169918" cy="2223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291721E5-D838-9684-957E-F4B2D764E8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5741" y="3154410"/>
                    <a:ext cx="169918" cy="22236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8571" r="-32143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CCB477B-68D4-66E8-9099-532A344293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2806" y="3279270"/>
                <a:ext cx="0" cy="1660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9B3E65F-92A4-D8EE-10ED-0F9447D71CBD}"/>
                      </a:ext>
                    </a:extLst>
                  </p:cNvPr>
                  <p:cNvSpPr txBox="1"/>
                  <p:nvPr/>
                </p:nvSpPr>
                <p:spPr>
                  <a:xfrm>
                    <a:off x="1990251" y="3430485"/>
                    <a:ext cx="165110" cy="2223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9B3E65F-92A4-D8EE-10ED-0F9447D71C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0251" y="3430485"/>
                    <a:ext cx="165110" cy="22236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2222" r="-22222" b="-8108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125323C-5C14-F193-F991-30FAE1066184}"/>
                </a:ext>
              </a:extLst>
            </p:cNvPr>
            <p:cNvGrpSpPr/>
            <p:nvPr/>
          </p:nvGrpSpPr>
          <p:grpSpPr>
            <a:xfrm>
              <a:off x="1699654" y="4952326"/>
              <a:ext cx="1544379" cy="901924"/>
              <a:chOff x="1699654" y="4952326"/>
              <a:chExt cx="1544379" cy="90192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E8E7F2C-74F6-4532-DDC7-7644551959A7}"/>
                  </a:ext>
                </a:extLst>
              </p:cNvPr>
              <p:cNvCxnSpPr/>
              <p:nvPr/>
            </p:nvCxnSpPr>
            <p:spPr>
              <a:xfrm>
                <a:off x="1700920" y="5403881"/>
                <a:ext cx="1508760" cy="0"/>
              </a:xfrm>
              <a:prstGeom prst="straightConnector1">
                <a:avLst/>
              </a:prstGeom>
              <a:ln w="38100">
                <a:solidFill>
                  <a:srgbClr val="3890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48B2373-3BE8-8DA8-0C01-F9A3AD3ED065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738" y="5006421"/>
                    <a:ext cx="347211" cy="3451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200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2000" dirty="0">
                      <a:solidFill>
                        <a:srgbClr val="38903A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48B2373-3BE8-8DA8-0C01-F9A3AD3ED0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3738" y="5006421"/>
                    <a:ext cx="347211" cy="34515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5789" r="-3509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85D0D423-6440-EDF0-0B59-8D2843A8BF31}"/>
                  </a:ext>
                </a:extLst>
              </p:cNvPr>
              <p:cNvSpPr/>
              <p:nvPr/>
            </p:nvSpPr>
            <p:spPr>
              <a:xfrm>
                <a:off x="1700920" y="5403288"/>
                <a:ext cx="1508760" cy="450962"/>
              </a:xfrm>
              <a:prstGeom prst="arc">
                <a:avLst>
                  <a:gd name="adj1" fmla="val 16200000"/>
                  <a:gd name="adj2" fmla="val 21318415"/>
                </a:avLst>
              </a:prstGeom>
              <a:ln w="28575">
                <a:solidFill>
                  <a:srgbClr val="3890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FE8E84BD-8DB9-8C32-A2D5-836E000D5D67}"/>
                  </a:ext>
                </a:extLst>
              </p:cNvPr>
              <p:cNvSpPr/>
              <p:nvPr/>
            </p:nvSpPr>
            <p:spPr>
              <a:xfrm flipV="1">
                <a:off x="1699654" y="4952326"/>
                <a:ext cx="1508760" cy="450962"/>
              </a:xfrm>
              <a:prstGeom prst="arc">
                <a:avLst>
                  <a:gd name="adj1" fmla="val 16200000"/>
                  <a:gd name="adj2" fmla="val 21318415"/>
                </a:avLst>
              </a:prstGeom>
              <a:ln w="28575">
                <a:solidFill>
                  <a:srgbClr val="3890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Isosceles Triangle 45">
                <a:extLst>
                  <a:ext uri="{FF2B5EF4-FFF2-40B4-BE49-F238E27FC236}">
                    <a16:creationId xmlns:a16="http://schemas.microsoft.com/office/drawing/2014/main" id="{E8F1C0D4-E7BF-A56A-66B8-2EF66503523C}"/>
                  </a:ext>
                </a:extLst>
              </p:cNvPr>
              <p:cNvSpPr/>
              <p:nvPr/>
            </p:nvSpPr>
            <p:spPr>
              <a:xfrm rot="2778153">
                <a:off x="3174565" y="5186224"/>
                <a:ext cx="67698" cy="71238"/>
              </a:xfrm>
              <a:prstGeom prst="triangle">
                <a:avLst/>
              </a:prstGeom>
              <a:solidFill>
                <a:srgbClr val="38903A"/>
              </a:solidFill>
              <a:ln>
                <a:solidFill>
                  <a:srgbClr val="3890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FF99D8DF-EB3C-7D2B-91C5-6DA397B1020C}"/>
                  </a:ext>
                </a:extLst>
              </p:cNvPr>
              <p:cNvSpPr/>
              <p:nvPr/>
            </p:nvSpPr>
            <p:spPr>
              <a:xfrm rot="8004520">
                <a:off x="3164379" y="5548707"/>
                <a:ext cx="67698" cy="71238"/>
              </a:xfrm>
              <a:prstGeom prst="triangle">
                <a:avLst/>
              </a:prstGeom>
              <a:solidFill>
                <a:srgbClr val="38903A"/>
              </a:solidFill>
              <a:ln>
                <a:solidFill>
                  <a:srgbClr val="3890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D80C00-81CF-0ACA-2B22-AD88491FC8A1}"/>
                </a:ext>
              </a:extLst>
            </p:cNvPr>
            <p:cNvCxnSpPr/>
            <p:nvPr/>
          </p:nvCxnSpPr>
          <p:spPr>
            <a:xfrm flipH="1">
              <a:off x="1447764" y="4792980"/>
              <a:ext cx="327663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98DBCAD-8DE2-B26A-F28F-DE975A13CF1C}"/>
                </a:ext>
              </a:extLst>
            </p:cNvPr>
            <p:cNvGrpSpPr/>
            <p:nvPr/>
          </p:nvGrpSpPr>
          <p:grpSpPr>
            <a:xfrm>
              <a:off x="1713173" y="3988565"/>
              <a:ext cx="1544379" cy="901924"/>
              <a:chOff x="1699654" y="4952326"/>
              <a:chExt cx="1544379" cy="901924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3F9B1D8-9D10-F88F-4092-C5BE6B1D1EAA}"/>
                  </a:ext>
                </a:extLst>
              </p:cNvPr>
              <p:cNvCxnSpPr/>
              <p:nvPr/>
            </p:nvCxnSpPr>
            <p:spPr>
              <a:xfrm>
                <a:off x="1700920" y="5403881"/>
                <a:ext cx="1508760" cy="0"/>
              </a:xfrm>
              <a:prstGeom prst="straightConnector1">
                <a:avLst/>
              </a:prstGeom>
              <a:ln w="38100">
                <a:solidFill>
                  <a:srgbClr val="3890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DB244FD-9C5A-2D4B-196B-CA6F26C94AEF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738" y="5006421"/>
                    <a:ext cx="347211" cy="3451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200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2000" dirty="0">
                      <a:solidFill>
                        <a:srgbClr val="38903A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DB244FD-9C5A-2D4B-196B-CA6F26C94A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3738" y="5006421"/>
                    <a:ext cx="347211" cy="34515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5789" r="-3509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3E97DF05-5490-31B1-A805-F06F41AA3A12}"/>
                  </a:ext>
                </a:extLst>
              </p:cNvPr>
              <p:cNvSpPr/>
              <p:nvPr/>
            </p:nvSpPr>
            <p:spPr>
              <a:xfrm>
                <a:off x="1700920" y="5403288"/>
                <a:ext cx="1508760" cy="450962"/>
              </a:xfrm>
              <a:prstGeom prst="arc">
                <a:avLst>
                  <a:gd name="adj1" fmla="val 16200000"/>
                  <a:gd name="adj2" fmla="val 21318415"/>
                </a:avLst>
              </a:prstGeom>
              <a:ln w="28575">
                <a:solidFill>
                  <a:srgbClr val="3890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B2354A2E-C08C-81D8-2AFE-6DC06DC0D8B4}"/>
                  </a:ext>
                </a:extLst>
              </p:cNvPr>
              <p:cNvSpPr/>
              <p:nvPr/>
            </p:nvSpPr>
            <p:spPr>
              <a:xfrm flipV="1">
                <a:off x="1699654" y="4952326"/>
                <a:ext cx="1508760" cy="450962"/>
              </a:xfrm>
              <a:prstGeom prst="arc">
                <a:avLst>
                  <a:gd name="adj1" fmla="val 16200000"/>
                  <a:gd name="adj2" fmla="val 21318415"/>
                </a:avLst>
              </a:prstGeom>
              <a:ln w="28575">
                <a:solidFill>
                  <a:srgbClr val="3890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96F9CB74-D7AB-3B25-38FB-F4F08ECD4546}"/>
                  </a:ext>
                </a:extLst>
              </p:cNvPr>
              <p:cNvSpPr/>
              <p:nvPr/>
            </p:nvSpPr>
            <p:spPr>
              <a:xfrm rot="2778153">
                <a:off x="3174565" y="5186224"/>
                <a:ext cx="67698" cy="71238"/>
              </a:xfrm>
              <a:prstGeom prst="triangle">
                <a:avLst/>
              </a:prstGeom>
              <a:solidFill>
                <a:srgbClr val="38903A"/>
              </a:solidFill>
              <a:ln>
                <a:solidFill>
                  <a:srgbClr val="3890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id="{83616F32-5E18-8F61-D331-A3D22F87DE3F}"/>
                  </a:ext>
                </a:extLst>
              </p:cNvPr>
              <p:cNvSpPr/>
              <p:nvPr/>
            </p:nvSpPr>
            <p:spPr>
              <a:xfrm rot="8004520">
                <a:off x="3164379" y="5548707"/>
                <a:ext cx="67698" cy="71238"/>
              </a:xfrm>
              <a:prstGeom prst="triangle">
                <a:avLst/>
              </a:prstGeom>
              <a:solidFill>
                <a:srgbClr val="38903A"/>
              </a:solidFill>
              <a:ln>
                <a:solidFill>
                  <a:srgbClr val="3890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6E3F63-18A3-9498-5073-A5EF88801CC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D188FC-F06E-EA7C-476B-D42BE57B1E8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Footer Placeholder 2">
              <a:extLst>
                <a:ext uri="{FF2B5EF4-FFF2-40B4-BE49-F238E27FC236}">
                  <a16:creationId xmlns:a16="http://schemas.microsoft.com/office/drawing/2014/main" id="{8E4F5BB7-84F5-256D-1766-FF80BA3A668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702EA55-3B7D-8E0A-598A-0BCE3646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3E3BAB-D466-9F44-61A6-DD7BAEFAD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15552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51915C8-D355-0228-41D3-02B545BB2493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6CBC8C4-39F6-4601-41C5-54ED85F9A541}"/>
                  </a:ext>
                </a:extLst>
              </p:cNvPr>
              <p:cNvSpPr/>
              <p:nvPr/>
            </p:nvSpPr>
            <p:spPr>
              <a:xfrm>
                <a:off x="326176" y="1124075"/>
                <a:ext cx="4070565" cy="1423878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6CBC8C4-39F6-4601-41C5-54ED85F9A5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1124075"/>
                <a:ext cx="4070565" cy="1423878"/>
              </a:xfrm>
              <a:prstGeom prst="rect">
                <a:avLst/>
              </a:prstGeom>
              <a:blipFill>
                <a:blip r:embed="rId17"/>
                <a:stretch>
                  <a:fillRect l="-446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4FDF9A-D925-BEE4-0528-54523CEC29A1}"/>
                  </a:ext>
                </a:extLst>
              </p:cNvPr>
              <p:cNvSpPr txBox="1"/>
              <p:nvPr/>
            </p:nvSpPr>
            <p:spPr>
              <a:xfrm>
                <a:off x="2725273" y="4421555"/>
                <a:ext cx="139333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4FDF9A-D925-BEE4-0528-54523CEC2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273" y="4421555"/>
                <a:ext cx="139333" cy="215444"/>
              </a:xfrm>
              <a:prstGeom prst="rect">
                <a:avLst/>
              </a:prstGeom>
              <a:blipFill>
                <a:blip r:embed="rId18"/>
                <a:stretch>
                  <a:fillRect l="-26087" t="-33333" r="-100000" b="-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493FE3-1016-C2F7-F503-1AAAEF5676B5}"/>
                  </a:ext>
                </a:extLst>
              </p:cNvPr>
              <p:cNvSpPr txBox="1"/>
              <p:nvPr/>
            </p:nvSpPr>
            <p:spPr>
              <a:xfrm>
                <a:off x="2725273" y="5408242"/>
                <a:ext cx="139333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493FE3-1016-C2F7-F503-1AAAEF567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273" y="5408242"/>
                <a:ext cx="139333" cy="215444"/>
              </a:xfrm>
              <a:prstGeom prst="rect">
                <a:avLst/>
              </a:prstGeom>
              <a:blipFill>
                <a:blip r:embed="rId18"/>
                <a:stretch>
                  <a:fillRect l="-26087" t="-33333" r="-100000" b="-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459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17EF-1FA9-4C71-24AC-92C2CCED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7A830A7-B734-AAE1-B623-C2C7A033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2644A6-17D6-7DD7-E116-6CC65045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21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7026C-30AC-055B-0F5E-C7C1D3422A7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E267BF-F8C8-7B9F-086E-2829E24D70E2}"/>
              </a:ext>
            </a:extLst>
          </p:cNvPr>
          <p:cNvGrpSpPr/>
          <p:nvPr/>
        </p:nvGrpSpPr>
        <p:grpSpPr>
          <a:xfrm>
            <a:off x="376131" y="1128398"/>
            <a:ext cx="7320105" cy="5123781"/>
            <a:chOff x="1088521" y="1146180"/>
            <a:chExt cx="6758213" cy="49349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325D940-13FD-EE6E-C1BF-2EAC1C5E3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27" b="5227"/>
            <a:stretch/>
          </p:blipFill>
          <p:spPr>
            <a:xfrm rot="16200000">
              <a:off x="2190128" y="306547"/>
              <a:ext cx="2942282" cy="4621547"/>
            </a:xfrm>
            <a:prstGeom prst="rect">
              <a:avLst/>
            </a:prstGeom>
            <a:ln w="28575">
              <a:noFill/>
            </a:ln>
            <a:effectLst>
              <a:softEdge rad="31750"/>
            </a:effectLst>
          </p:spPr>
        </p:pic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C1537CB8-8F77-3361-FCF5-324906ABEE21}"/>
                </a:ext>
              </a:extLst>
            </p:cNvPr>
            <p:cNvGrpSpPr/>
            <p:nvPr/>
          </p:nvGrpSpPr>
          <p:grpSpPr>
            <a:xfrm flipH="1">
              <a:off x="1433732" y="4360802"/>
              <a:ext cx="6413002" cy="1720288"/>
              <a:chOff x="1440953" y="2466429"/>
              <a:chExt cx="6262094" cy="1720288"/>
            </a:xfrm>
          </p:grpSpPr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485931D7-3E78-6020-17E4-F6EE0BB401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 rot="16140000">
                <a:off x="4210262" y="693933"/>
                <a:ext cx="723475" cy="6262094"/>
              </a:xfrm>
              <a:prstGeom prst="rect">
                <a:avLst/>
              </a:prstGeom>
            </p:spPr>
          </p:pic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749D53FD-1AA2-3F26-4A50-75DD1D2E5A33}"/>
                  </a:ext>
                </a:extLst>
              </p:cNvPr>
              <p:cNvSpPr txBox="1"/>
              <p:nvPr/>
            </p:nvSpPr>
            <p:spPr>
              <a:xfrm>
                <a:off x="4052454" y="2466429"/>
                <a:ext cx="633157" cy="27699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Corde</a:t>
                </a:r>
              </a:p>
            </p:txBody>
          </p:sp>
        </p:grp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3EE8BFC5-F2AA-D1A3-380C-6809D26261A6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rot="5400000" flipH="1" flipV="1">
              <a:off x="1274767" y="3531748"/>
              <a:ext cx="1167611" cy="25641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729105-5D1B-BD47-7B86-BF65201E2C22}"/>
                </a:ext>
              </a:extLst>
            </p:cNvPr>
            <p:cNvSpPr txBox="1"/>
            <p:nvPr/>
          </p:nvSpPr>
          <p:spPr>
            <a:xfrm flipH="1">
              <a:off x="2525532" y="4255954"/>
              <a:ext cx="1387055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Micro Humbucker</a:t>
              </a:r>
            </a:p>
          </p:txBody>
        </p: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3736A5C1-091B-7125-5BE6-37A8B606888F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rot="16200000" flipH="1">
              <a:off x="1724074" y="4527051"/>
              <a:ext cx="1036591" cy="1024010"/>
            </a:xfrm>
            <a:prstGeom prst="bentConnector3">
              <a:avLst>
                <a:gd name="adj1" fmla="val 1961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9A269F26-F8FB-BD35-8D1C-147049D4D4C3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rot="5400000">
              <a:off x="2678638" y="4956566"/>
              <a:ext cx="964034" cy="116808"/>
            </a:xfrm>
            <a:prstGeom prst="bentConnector3">
              <a:avLst>
                <a:gd name="adj1" fmla="val 20491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CD4B400A-45D8-1178-C9C6-D74658FD0F2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rot="16200000" flipV="1">
              <a:off x="2166435" y="3203329"/>
              <a:ext cx="1167611" cy="9376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: Elbow 140">
              <a:extLst>
                <a:ext uri="{FF2B5EF4-FFF2-40B4-BE49-F238E27FC236}">
                  <a16:creationId xmlns:a16="http://schemas.microsoft.com/office/drawing/2014/main" id="{2B74BC81-0396-58E2-4F5F-25A19BB7D6D7}"/>
                </a:ext>
              </a:extLst>
            </p:cNvPr>
            <p:cNvCxnSpPr>
              <a:cxnSpLocks/>
              <a:stCxn id="161" idx="2"/>
            </p:cNvCxnSpPr>
            <p:nvPr/>
          </p:nvCxnSpPr>
          <p:spPr>
            <a:xfrm rot="5400000">
              <a:off x="3978664" y="4933548"/>
              <a:ext cx="1165175" cy="57368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: Elbow 145">
              <a:extLst>
                <a:ext uri="{FF2B5EF4-FFF2-40B4-BE49-F238E27FC236}">
                  <a16:creationId xmlns:a16="http://schemas.microsoft.com/office/drawing/2014/main" id="{4427088E-AEAA-CC36-74E4-446F94028ABB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rot="16200000" flipV="1">
              <a:off x="3888275" y="3400986"/>
              <a:ext cx="1295657" cy="62397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AC37F92-0300-2194-BBFA-28D6CCCBFC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4620" y="3077337"/>
              <a:ext cx="45090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98F84A-A707-90F0-135B-B3D6DB647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1685" y="5819775"/>
              <a:ext cx="537365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7AF251-442D-D41A-2407-64D8B6581262}"/>
                </a:ext>
              </a:extLst>
            </p:cNvPr>
            <p:cNvSpPr txBox="1"/>
            <p:nvPr/>
          </p:nvSpPr>
          <p:spPr>
            <a:xfrm flipH="1">
              <a:off x="1088521" y="4243762"/>
              <a:ext cx="1283687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Micro SingleCoil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EF4D00-8389-C68B-63A5-8B73E75ADB55}"/>
              </a:ext>
            </a:extLst>
          </p:cNvPr>
          <p:cNvGrpSpPr/>
          <p:nvPr/>
        </p:nvGrpSpPr>
        <p:grpSpPr>
          <a:xfrm>
            <a:off x="5836466" y="1122202"/>
            <a:ext cx="3053221" cy="4234657"/>
            <a:chOff x="6451777" y="1536488"/>
            <a:chExt cx="2485046" cy="39197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AA78053-9B3F-8A75-512E-06D3655B0586}"/>
                    </a:ext>
                  </a:extLst>
                </p:cNvPr>
                <p:cNvSpPr/>
                <p:nvPr/>
              </p:nvSpPr>
              <p:spPr>
                <a:xfrm>
                  <a:off x="6451777" y="1536488"/>
                  <a:ext cx="2485046" cy="3919700"/>
                </a:xfrm>
                <a:prstGeom prst="rect">
                  <a:avLst/>
                </a:prstGeom>
                <a:ln w="38100">
                  <a:solidFill>
                    <a:schemeClr val="accent6"/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fr-FR" sz="1600" b="1" dirty="0">
                      <a:solidFill>
                        <a:schemeClr val="tx1"/>
                      </a:solidFill>
                    </a:rPr>
                    <a:t>Protocole</a:t>
                  </a:r>
                </a:p>
                <a:p>
                  <a:endParaRPr lang="fr-FR" sz="1600" b="1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>
                      <a:solidFill>
                        <a:schemeClr val="tx1"/>
                      </a:solidFill>
                    </a:rPr>
                    <a:t>Utilisation de Bobine Helmholtz pour contrôler le champ parasite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200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  <a:p>
                  <a:endParaRPr lang="fr-FR" sz="1200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d>
                          <m:dPr>
                            <m:ctrlP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f>
                          <m:fPr>
                            <m:ctrlP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fr-FR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400" dirty="0">
                    <a:solidFill>
                      <a:srgbClr val="C00000"/>
                    </a:solidFill>
                  </a:endParaRPr>
                </a:p>
                <a:p>
                  <a:endParaRPr lang="fr-FR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AA78053-9B3F-8A75-512E-06D3655B05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1777" y="1536488"/>
                  <a:ext cx="2485046" cy="3919700"/>
                </a:xfrm>
                <a:prstGeom prst="rect">
                  <a:avLst/>
                </a:prstGeom>
                <a:blipFill>
                  <a:blip r:embed="rId5"/>
                  <a:stretch>
                    <a:fillRect l="-197"/>
                  </a:stretch>
                </a:blipFill>
                <a:ln w="3810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2" name="Picture 2" descr="Bobine de Helmholtz sur socle : PAM067370">
              <a:extLst>
                <a:ext uri="{FF2B5EF4-FFF2-40B4-BE49-F238E27FC236}">
                  <a16:creationId xmlns:a16="http://schemas.microsoft.com/office/drawing/2014/main" id="{97F9CA38-454F-5EAF-74D4-E7E8E328C6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7409" y="2918502"/>
              <a:ext cx="2227030" cy="1474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4D060AE-4742-D8B5-61B6-553566A7F6A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A61D3E-6CDD-7313-43C9-D2F0E63324C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Footer Placeholder 2">
              <a:extLst>
                <a:ext uri="{FF2B5EF4-FFF2-40B4-BE49-F238E27FC236}">
                  <a16:creationId xmlns:a16="http://schemas.microsoft.com/office/drawing/2014/main" id="{391E767F-0360-B146-2D34-43323635A9B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8480ED95-278F-2E07-99E5-455FF7B8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5ABC91-EC81-CF51-B80D-BF081ACF7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97809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CEBE25E-EC36-DF12-19EF-138C3E8BD4F5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</p:spTree>
    <p:extLst>
      <p:ext uri="{BB962C8B-B14F-4D97-AF65-F5344CB8AC3E}">
        <p14:creationId xmlns:p14="http://schemas.microsoft.com/office/powerpoint/2010/main" val="266244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547C-CC5A-E31E-1F9D-26F86D42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ython Logo PNG Transparent – Brands Logos">
            <a:extLst>
              <a:ext uri="{FF2B5EF4-FFF2-40B4-BE49-F238E27FC236}">
                <a16:creationId xmlns:a16="http://schemas.microsoft.com/office/drawing/2014/main" id="{BCCA6F7E-15C3-01BE-D43E-05264890E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BD147E4-97B9-BAC6-E2D8-36DF7ABD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90D456A-82CE-3473-7A14-69676356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22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E55A32-62CF-1F65-DEE4-FAD3D88ADDA0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3EBB9E-6CEF-8902-7344-85A1FC61702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9199" y="2427394"/>
            <a:ext cx="2699997" cy="22499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4EF85BB-C332-8E1A-6E21-11747112003E}"/>
              </a:ext>
            </a:extLst>
          </p:cNvPr>
          <p:cNvSpPr txBox="1"/>
          <p:nvPr/>
        </p:nvSpPr>
        <p:spPr>
          <a:xfrm>
            <a:off x="440839" y="4867365"/>
            <a:ext cx="27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98CB01-C488-FE93-4C79-5496BC2794D9}"/>
              </a:ext>
            </a:extLst>
          </p:cNvPr>
          <p:cNvSpPr txBox="1"/>
          <p:nvPr/>
        </p:nvSpPr>
        <p:spPr>
          <a:xfrm>
            <a:off x="6117557" y="4863787"/>
            <a:ext cx="27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série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404684-1751-7280-02F9-3C18FC8CD1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840" y="2429543"/>
            <a:ext cx="2699997" cy="224999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CF2CACA-6E21-A096-6360-EC29170DE8D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6C9BE48-2388-1286-3D6D-BC479E0FDBB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22C8462A-21BD-D374-1544-98E3DBB3A45F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64838E5-B9D2-C7AA-9C7F-F2F307F6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B6A3F6-9232-8782-F45D-A7BAE812B29D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9F5C338-911C-0D09-E8CC-CB6C04FFECE4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4661E5B9-D467-E189-F6A6-15DEB1531408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7557" y="2400394"/>
            <a:ext cx="2700000" cy="230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5FF2EA-3256-F71C-D1C8-3F1D5E73E9F1}"/>
              </a:ext>
            </a:extLst>
          </p:cNvPr>
          <p:cNvSpPr txBox="1"/>
          <p:nvPr/>
        </p:nvSpPr>
        <p:spPr>
          <a:xfrm>
            <a:off x="3279198" y="4867365"/>
            <a:ext cx="270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 parallèle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C3ADAD-9B72-5DC0-B7EB-9142F8E2DDCA}"/>
                  </a:ext>
                </a:extLst>
              </p:cNvPr>
              <p:cNvSpPr/>
              <p:nvPr/>
            </p:nvSpPr>
            <p:spPr>
              <a:xfrm>
                <a:off x="440839" y="1104250"/>
                <a:ext cx="5538357" cy="1221937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b="1" u="sng" dirty="0"/>
                  <a:t>Rappel théorie :</a:t>
                </a:r>
                <a:endParaRPr lang="fr-FR" sz="12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func>
                      <m:func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</m:t>
                        </m:r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𝐻𝑝</m:t>
                        </m:r>
                      </m:sub>
                    </m:sSub>
                    <m:d>
                      <m:d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𝐻𝑝</m:t>
                        </m:r>
                      </m:sub>
                    </m:sSub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fr-FR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m:rPr>
                        <m:sty m:val="p"/>
                      </m:rPr>
                      <a:rPr lang="fr-FR" sz="16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func>
                      <m:func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</m:t>
                        </m:r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600" i="1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𝐻𝑠</m:t>
                        </m:r>
                      </m:sub>
                    </m:sSub>
                    <m:d>
                      <m:d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𝐻𝑠</m:t>
                        </m:r>
                      </m:sub>
                    </m:sSub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m:rPr>
                        <m:sty m:val="p"/>
                      </m:rPr>
                      <a:rPr lang="fr-FR" sz="16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func>
                      <m:func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6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</m:t>
                        </m:r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6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C3ADAD-9B72-5DC0-B7EB-9142F8E2D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39" y="1104250"/>
                <a:ext cx="5538357" cy="1221937"/>
              </a:xfrm>
              <a:prstGeom prst="rect">
                <a:avLst/>
              </a:prstGeom>
              <a:blipFill>
                <a:blip r:embed="rId7"/>
                <a:stretch>
                  <a:fillRect l="-109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5B12C4D7-3A31-8432-1F26-A75D635B9D3C}"/>
              </a:ext>
            </a:extLst>
          </p:cNvPr>
          <p:cNvGrpSpPr/>
          <p:nvPr/>
        </p:nvGrpSpPr>
        <p:grpSpPr>
          <a:xfrm>
            <a:off x="445038" y="5206305"/>
            <a:ext cx="8372519" cy="923330"/>
            <a:chOff x="349675" y="2989072"/>
            <a:chExt cx="8444650" cy="92333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5EA3780-EC96-1D00-BF87-8544C2CBBC07}"/>
                </a:ext>
              </a:extLst>
            </p:cNvPr>
            <p:cNvSpPr txBox="1"/>
            <p:nvPr/>
          </p:nvSpPr>
          <p:spPr>
            <a:xfrm>
              <a:off x="349675" y="2989072"/>
              <a:ext cx="844465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u="sng" dirty="0"/>
                <a:t>Analyse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dirty="0"/>
                <a:t>Proportionnalité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dirty="0"/>
                <a:t>Linéarité</a:t>
              </a:r>
            </a:p>
          </p:txBody>
        </p:sp>
        <p:pic>
          <p:nvPicPr>
            <p:cNvPr id="31" name="Graphic 30" descr="Checkmark with solid fill">
              <a:extLst>
                <a:ext uri="{FF2B5EF4-FFF2-40B4-BE49-F238E27FC236}">
                  <a16:creationId xmlns:a16="http://schemas.microsoft.com/office/drawing/2014/main" id="{64F006DB-E3E1-21D1-21A7-2FDF36244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0920" y="3551700"/>
              <a:ext cx="252000" cy="252000"/>
            </a:xfrm>
            <a:prstGeom prst="rect">
              <a:avLst/>
            </a:prstGeom>
          </p:spPr>
        </p:pic>
        <p:pic>
          <p:nvPicPr>
            <p:cNvPr id="6" name="Graphic 5" descr="Checkmark with solid fill">
              <a:extLst>
                <a:ext uri="{FF2B5EF4-FFF2-40B4-BE49-F238E27FC236}">
                  <a16:creationId xmlns:a16="http://schemas.microsoft.com/office/drawing/2014/main" id="{35AB09C4-3415-F98D-CA88-2CCE74A53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0920" y="3259246"/>
              <a:ext cx="252000" cy="252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CE52BE-B647-9EC2-0C21-CE8D2D66A349}"/>
                  </a:ext>
                </a:extLst>
              </p:cNvPr>
              <p:cNvSpPr txBox="1"/>
              <p:nvPr/>
            </p:nvSpPr>
            <p:spPr>
              <a:xfrm>
                <a:off x="6137339" y="1416095"/>
                <a:ext cx="27523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1,8 </m:t>
                    </m:r>
                  </m:oMath>
                </a14:m>
                <a:r>
                  <a:rPr lang="fr-FR" sz="1400" dirty="0"/>
                  <a:t>cm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CE52BE-B647-9EC2-0C21-CE8D2D66A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339" y="1416095"/>
                <a:ext cx="2752349" cy="307777"/>
              </a:xfrm>
              <a:prstGeom prst="rect">
                <a:avLst/>
              </a:prstGeom>
              <a:blipFill>
                <a:blip r:embed="rId10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470D18-BCAF-973B-2F46-DCCB59EF06A1}"/>
                  </a:ext>
                </a:extLst>
              </p:cNvPr>
              <p:cNvSpPr txBox="1"/>
              <p:nvPr/>
            </p:nvSpPr>
            <p:spPr>
              <a:xfrm>
                <a:off x="6137339" y="1794212"/>
                <a:ext cx="275234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fr-FR" sz="1400" dirty="0"/>
                  <a:t> Hz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470D18-BCAF-973B-2F46-DCCB59EF0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339" y="1794212"/>
                <a:ext cx="2752349" cy="307777"/>
              </a:xfrm>
              <a:prstGeom prst="rect">
                <a:avLst/>
              </a:prstGeom>
              <a:blipFill>
                <a:blip r:embed="rId11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32CB69A-487A-A02D-DAAD-D6D0B7CA3D21}"/>
              </a:ext>
            </a:extLst>
          </p:cNvPr>
          <p:cNvSpPr txBox="1"/>
          <p:nvPr/>
        </p:nvSpPr>
        <p:spPr>
          <a:xfrm>
            <a:off x="6137339" y="1097861"/>
            <a:ext cx="839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Avec :</a:t>
            </a:r>
          </a:p>
        </p:txBody>
      </p:sp>
    </p:spTree>
    <p:extLst>
      <p:ext uri="{BB962C8B-B14F-4D97-AF65-F5344CB8AC3E}">
        <p14:creationId xmlns:p14="http://schemas.microsoft.com/office/powerpoint/2010/main" val="1578354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FDCA-BB39-EE18-BB35-2E0E1E4D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ython Logo PNG Transparent – Brands Logos">
            <a:extLst>
              <a:ext uri="{FF2B5EF4-FFF2-40B4-BE49-F238E27FC236}">
                <a16:creationId xmlns:a16="http://schemas.microsoft.com/office/drawing/2014/main" id="{58D75C07-2267-97C9-DF3E-D3ABD9490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39CD3E-4169-1389-4E27-DA0661374473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0D0C938-4ECB-1DA1-67BD-D63764B87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7BCF8FF-ACF9-FB8B-E151-7B5C4BAF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23</a:t>
            </a:fld>
            <a:endParaRPr lang="fr-FR" sz="1200" b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E0D461-FC05-B3F5-62F5-6B6EE8EE068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BC8908D-38C7-4B78-A6DE-6A8D885E563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E9D709F9-B44E-10BF-9ED9-CFCC31C7C88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E33BF853-DFE6-1FC4-3C9D-A35C8A35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59499-4633-7F7C-612F-2C1B14CA0C63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2A4C42-E8E3-0A32-60A1-2B34526A1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28398"/>
            <a:ext cx="5175257" cy="502856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034487-F93D-3D84-24EC-21435744B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78006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F6E40A-A2E8-4225-2918-CE1F7288954B}"/>
                  </a:ext>
                </a:extLst>
              </p:cNvPr>
              <p:cNvSpPr/>
              <p:nvPr/>
            </p:nvSpPr>
            <p:spPr>
              <a:xfrm>
                <a:off x="5681666" y="2163818"/>
                <a:ext cx="3208020" cy="3993142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Mesures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Théoriquement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b="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05 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=29,3 </m:t>
                      </m:r>
                      <m:r>
                        <m:rPr>
                          <m:nor/>
                        </m:rPr>
                        <a:rPr lang="fr-FR" sz="1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Expérimentalement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50 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0,61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𝑒𝑥𝑝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7,7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F6E40A-A2E8-4225-2918-CE1F72889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2163818"/>
                <a:ext cx="3208020" cy="39931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AFFEE1F-3D02-090A-479D-90A16735DDAF}"/>
                  </a:ext>
                </a:extLst>
              </p:cNvPr>
              <p:cNvSpPr/>
              <p:nvPr/>
            </p:nvSpPr>
            <p:spPr>
              <a:xfrm>
                <a:off x="5681666" y="1128398"/>
                <a:ext cx="3208021" cy="915896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de la sensibilité aux champs extérieurs :</a:t>
                </a:r>
                <a:endParaRPr lang="fr-FR" sz="1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 =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AFFEE1F-3D02-090A-479D-90A16735D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28398"/>
                <a:ext cx="3208021" cy="915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770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8DDE-8058-D513-454A-425B15CD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ython Logo PNG Transparent – Brands Logos">
            <a:extLst>
              <a:ext uri="{FF2B5EF4-FFF2-40B4-BE49-F238E27FC236}">
                <a16:creationId xmlns:a16="http://schemas.microsoft.com/office/drawing/2014/main" id="{F5895879-FA73-2DAB-B3BB-0EA8ABC2D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16C992-E13E-0C7C-33FA-13E5294689C1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2288D99-DD40-2C00-82EB-9E0C534F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A46788A-3B58-E29A-0DB6-BBBFF6C7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24</a:t>
            </a:fld>
            <a:endParaRPr lang="fr-FR" sz="1200" b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E00CE6-D5A0-044B-9664-AA74EA5B7C6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90711A-EE66-D3C4-F373-ECF24AFCC73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B9BA49DA-B097-C954-0946-5985D29DEEF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971F3444-3E92-D593-44DB-E9F2FEBD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C04D7-566D-248D-E11E-E3B91020283C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2BEA36-52BA-9B9A-D07A-F7BCCA94D443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00DBD7-FF42-C7F4-AA50-92867DF0AFE9}"/>
                  </a:ext>
                </a:extLst>
              </p:cNvPr>
              <p:cNvSpPr/>
              <p:nvPr/>
            </p:nvSpPr>
            <p:spPr>
              <a:xfrm>
                <a:off x="5681666" y="1112100"/>
                <a:ext cx="3208019" cy="5044860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endParaRPr lang="fr-FR" sz="1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Ecarts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Mesures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29,3 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=7,7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Ecarts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=73,7%</m:t>
                      </m:r>
                    </m:oMath>
                  </m:oMathPara>
                </a14:m>
                <a:endParaRPr lang="fr-FR" b="1" u="sng" dirty="0">
                  <a:solidFill>
                    <a:schemeClr val="tx1"/>
                  </a:solidFill>
                </a:endParaRP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Limites du modèle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tx1"/>
                    </a:solidFill>
                  </a:rPr>
                  <a:t>Estimation de </a:t>
                </a:r>
                <a14:m>
                  <m:oMath xmlns:m="http://schemas.openxmlformats.org/officeDocument/2006/math"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tx1"/>
                    </a:solidFill>
                  </a:rPr>
                  <a:t>Micro ponctuel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Limites expérimentales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tx1"/>
                    </a:solidFill>
                  </a:rPr>
                  <a:t>Asymétrie de bobinage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00DBD7-FF42-C7F4-AA50-92867DF0A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12100"/>
                <a:ext cx="3208019" cy="50448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0833AB3-A5DC-8A4B-64B9-5413B04629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28398"/>
            <a:ext cx="5175257" cy="50285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8364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9A9E-1C8C-7508-4A99-E9E72DA0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00E49-9BB6-266A-A15B-45A7A7E94780}"/>
              </a:ext>
            </a:extLst>
          </p:cNvPr>
          <p:cNvSpPr/>
          <p:nvPr/>
        </p:nvSpPr>
        <p:spPr>
          <a:xfrm>
            <a:off x="326443" y="419481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9CF280-6AA1-02B9-5766-0A88FFF4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28" y="1181389"/>
            <a:ext cx="742534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Dans quelle mesure </a:t>
            </a:r>
            <a:r>
              <a:rPr lang="fr-FR" sz="1600" b="1" dirty="0"/>
              <a:t>l'ajout d'une seconde bobine 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permet-il </a:t>
            </a:r>
            <a:r>
              <a:rPr lang="fr-FR" sz="1600" b="1" dirty="0"/>
              <a:t>d'éliminer les parasites </a:t>
            </a:r>
            <a:r>
              <a:rPr lang="fr-FR" sz="1600" dirty="0"/>
              <a:t>?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Comment cela impacte-t-il </a:t>
            </a:r>
            <a:r>
              <a:rPr lang="fr-FR" sz="1600" b="1" dirty="0"/>
              <a:t>la richesse du son </a:t>
            </a:r>
            <a:r>
              <a:rPr lang="fr-FR" sz="1600" dirty="0"/>
              <a:t>?</a:t>
            </a:r>
            <a:endParaRPr kumimoji="0" lang="fr-FR" altLang="fr-F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C41BDD6-0B7E-DB68-BFEB-ED6C52B4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83BD53-0BEB-220C-AC97-3EEC3B15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25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5DCA8F8-D862-BC8C-AF76-12EA5860996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9A0B97-C62F-658B-F983-80B2EEFBB94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559317-5E18-475F-41AB-2D45B40A5AB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57C2ED85-A2C2-A521-06FA-698ECFF1563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800" b="1" dirty="0"/>
                <a:t>Conclusion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B4953A3-EECA-18B3-CF42-FBC3F980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79A5BE-F8B6-F182-EAE5-5A74F73561AD}"/>
              </a:ext>
            </a:extLst>
          </p:cNvPr>
          <p:cNvSpPr txBox="1"/>
          <p:nvPr/>
        </p:nvSpPr>
        <p:spPr>
          <a:xfrm>
            <a:off x="720826" y="772958"/>
            <a:ext cx="7702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 Black" panose="020B0A04020102020204" pitchFamily="34" charset="0"/>
              </a:rPr>
              <a:t>Problématique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53EAE-61C2-F213-92AF-9F717B075800}"/>
              </a:ext>
            </a:extLst>
          </p:cNvPr>
          <p:cNvSpPr txBox="1"/>
          <p:nvPr/>
        </p:nvSpPr>
        <p:spPr>
          <a:xfrm>
            <a:off x="720825" y="2388402"/>
            <a:ext cx="7702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 Black" panose="020B0A04020102020204" pitchFamily="34" charset="0"/>
              </a:rPr>
              <a:t>Conclusion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297959-A9E0-C237-3E10-5F1C61755A38}"/>
              </a:ext>
            </a:extLst>
          </p:cNvPr>
          <p:cNvGrpSpPr/>
          <p:nvPr/>
        </p:nvGrpSpPr>
        <p:grpSpPr>
          <a:xfrm>
            <a:off x="349675" y="2838894"/>
            <a:ext cx="8444650" cy="3012500"/>
            <a:chOff x="349675" y="2838894"/>
            <a:chExt cx="8444650" cy="30125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66C661-B607-061A-A9F8-3C818C718700}"/>
                </a:ext>
              </a:extLst>
            </p:cNvPr>
            <p:cNvSpPr txBox="1"/>
            <p:nvPr/>
          </p:nvSpPr>
          <p:spPr>
            <a:xfrm>
              <a:off x="349675" y="2989072"/>
              <a:ext cx="844465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u="sng" dirty="0"/>
                <a:t>Micro Singlecoil :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dirty="0"/>
                <a:t>Sensible aux champs extérieurs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dirty="0"/>
                <a:t>Spectre riche dans les hautes fréquences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fr-FR" dirty="0"/>
            </a:p>
            <a:p>
              <a:r>
                <a:rPr lang="fr-FR" b="1" u="sng" dirty="0"/>
                <a:t>Micro Humbucker :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dirty="0"/>
                <a:t>Reduction efficace du bourdonnement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dirty="0"/>
                <a:t>Filtrage spatial accru qui atténue certaines harmoniques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fr-FR" dirty="0"/>
            </a:p>
            <a:p>
              <a:r>
                <a:rPr lang="fr-FR" b="1" u="sng" dirty="0"/>
                <a:t>Donc :</a:t>
              </a:r>
            </a:p>
            <a:p>
              <a:r>
                <a:rPr lang="fr-FR" dirty="0"/>
                <a:t>Nécessité de faire des </a:t>
              </a:r>
              <a:r>
                <a:rPr lang="fr-FR" u="sng" dirty="0">
                  <a:solidFill>
                    <a:srgbClr val="C00000"/>
                  </a:solidFill>
                </a:rPr>
                <a:t>compromis</a:t>
              </a:r>
            </a:p>
          </p:txBody>
        </p:sp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7B024F95-B138-985B-1165-9E03066759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3" r="6123"/>
            <a:stretch/>
          </p:blipFill>
          <p:spPr bwMode="auto">
            <a:xfrm>
              <a:off x="2658019" y="3900085"/>
              <a:ext cx="672476" cy="5400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1E4BF96-13FC-AAE7-FE03-F72E37775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7" r="7227"/>
            <a:stretch/>
          </p:blipFill>
          <p:spPr bwMode="auto">
            <a:xfrm>
              <a:off x="2436682" y="2838894"/>
              <a:ext cx="655914" cy="540000"/>
            </a:xfrm>
            <a:prstGeom prst="rect">
              <a:avLst/>
            </a:prstGeom>
            <a:effectLst>
              <a:softEdge rad="127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Graphic 16" descr="Checkmark with solid fill">
              <a:extLst>
                <a:ext uri="{FF2B5EF4-FFF2-40B4-BE49-F238E27FC236}">
                  <a16:creationId xmlns:a16="http://schemas.microsoft.com/office/drawing/2014/main" id="{5012B3B3-5B7E-B87A-8C7E-CE9EC8508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0920" y="3551700"/>
              <a:ext cx="252000" cy="252000"/>
            </a:xfrm>
            <a:prstGeom prst="rect">
              <a:avLst/>
            </a:prstGeom>
          </p:spPr>
        </p:pic>
        <p:pic>
          <p:nvPicPr>
            <p:cNvPr id="19" name="Graphic 18" descr="Checkmark with solid fill">
              <a:extLst>
                <a:ext uri="{FF2B5EF4-FFF2-40B4-BE49-F238E27FC236}">
                  <a16:creationId xmlns:a16="http://schemas.microsoft.com/office/drawing/2014/main" id="{2F3153A6-DA11-EE61-3CA2-F2B46B137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0920" y="4377858"/>
              <a:ext cx="252000" cy="252000"/>
            </a:xfrm>
            <a:prstGeom prst="rect">
              <a:avLst/>
            </a:prstGeom>
          </p:spPr>
        </p:pic>
        <p:pic>
          <p:nvPicPr>
            <p:cNvPr id="21" name="Graphic 20" descr="Close with solid fill">
              <a:extLst>
                <a:ext uri="{FF2B5EF4-FFF2-40B4-BE49-F238E27FC236}">
                  <a16:creationId xmlns:a16="http://schemas.microsoft.com/office/drawing/2014/main" id="{24AE6B43-99B1-097D-E732-FBC3A25B7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3775" y="3317129"/>
              <a:ext cx="252000" cy="252000"/>
            </a:xfrm>
            <a:prstGeom prst="rect">
              <a:avLst/>
            </a:prstGeom>
          </p:spPr>
        </p:pic>
        <p:pic>
          <p:nvPicPr>
            <p:cNvPr id="23" name="Graphic 22" descr="Close with solid fill">
              <a:extLst>
                <a:ext uri="{FF2B5EF4-FFF2-40B4-BE49-F238E27FC236}">
                  <a16:creationId xmlns:a16="http://schemas.microsoft.com/office/drawing/2014/main" id="{4E04D3B4-BD96-EA47-260F-84C021B0D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3775" y="4690634"/>
              <a:ext cx="252000" cy="2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8187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67F8-102B-ED7B-0DE1-585BD24C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574C88C-C846-3D06-3760-839BCCE4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67D19BA-9241-DDAC-50D0-86F96248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26</a:t>
            </a:fld>
            <a:endParaRPr lang="fr-FR" sz="1200" b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6DEC9D-D575-DBBD-0410-59D2ED43304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DCCB68E-E8C2-CC4C-3A75-B5BA7F6D35A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oter Placeholder 2">
              <a:extLst>
                <a:ext uri="{FF2B5EF4-FFF2-40B4-BE49-F238E27FC236}">
                  <a16:creationId xmlns:a16="http://schemas.microsoft.com/office/drawing/2014/main" id="{CF93ABBD-287B-55E3-11A3-68FE11A2765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BCBD774-13EC-37E7-5421-E3BB7AFFF9C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Annexes : Sommaire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C8F2F-1A54-CCBE-AAF5-AE4AD230532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AA300-0088-5FE7-E14B-005D0418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F750C-911D-65AC-5250-EA8EDE55DF5D}"/>
              </a:ext>
            </a:extLst>
          </p:cNvPr>
          <p:cNvSpPr txBox="1"/>
          <p:nvPr/>
        </p:nvSpPr>
        <p:spPr>
          <a:xfrm>
            <a:off x="326443" y="1384451"/>
            <a:ext cx="8491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Annexe 1 :</a:t>
            </a:r>
            <a:r>
              <a:rPr lang="fr-FR" dirty="0"/>
              <a:t> Références bibliographiques et sources. </a:t>
            </a:r>
          </a:p>
          <a:p>
            <a:r>
              <a:rPr lang="fr-FR" b="1" dirty="0"/>
              <a:t>Annexe 2 :</a:t>
            </a:r>
            <a:r>
              <a:rPr lang="fr-FR" dirty="0"/>
              <a:t> Remerciements. </a:t>
            </a:r>
          </a:p>
          <a:p>
            <a:r>
              <a:rPr lang="fr-FR" b="1" dirty="0"/>
              <a:t>Annexe 3 :</a:t>
            </a:r>
            <a:r>
              <a:rPr lang="fr-FR" dirty="0"/>
              <a:t> Notations et valeur numérique. </a:t>
            </a:r>
          </a:p>
          <a:p>
            <a:r>
              <a:rPr lang="fr-FR" b="1" dirty="0"/>
              <a:t>Annexe 4 :</a:t>
            </a:r>
            <a:r>
              <a:rPr lang="fr-FR" dirty="0"/>
              <a:t> Modélisation de l'induction par la corde. </a:t>
            </a:r>
          </a:p>
          <a:p>
            <a:r>
              <a:rPr lang="fr-FR" b="1" dirty="0"/>
              <a:t>Annexe 5 :</a:t>
            </a:r>
            <a:r>
              <a:rPr lang="fr-FR" dirty="0"/>
              <a:t> Théorie de la réjection du champ parasite. </a:t>
            </a:r>
          </a:p>
          <a:p>
            <a:r>
              <a:rPr lang="fr-FR" b="1" dirty="0"/>
              <a:t>Annexe 6 :</a:t>
            </a:r>
            <a:r>
              <a:rPr lang="fr-FR" dirty="0"/>
              <a:t> Méthodes de traitement numérique et filtrage. </a:t>
            </a:r>
          </a:p>
          <a:p>
            <a:r>
              <a:rPr lang="fr-FR" b="1" dirty="0"/>
              <a:t>Annexe 7 :</a:t>
            </a:r>
            <a:r>
              <a:rPr lang="fr-FR" dirty="0"/>
              <a:t> Algorithme de Levenberg-Marquardt. </a:t>
            </a:r>
          </a:p>
          <a:p>
            <a:r>
              <a:rPr lang="fr-FR" b="1" dirty="0"/>
              <a:t>Annexe 8 :</a:t>
            </a:r>
            <a:r>
              <a:rPr lang="fr-FR" dirty="0"/>
              <a:t> Analyse des échecs et difficultés rencontrées.</a:t>
            </a:r>
          </a:p>
        </p:txBody>
      </p:sp>
    </p:spTree>
    <p:extLst>
      <p:ext uri="{BB962C8B-B14F-4D97-AF65-F5344CB8AC3E}">
        <p14:creationId xmlns:p14="http://schemas.microsoft.com/office/powerpoint/2010/main" val="4086697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C011195-2549-BCE2-65E7-95D97701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DCD4202-BEB8-74F4-5148-FD85D148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27</a:t>
            </a:fld>
            <a:endParaRPr lang="fr-FR" sz="12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8393826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1:</a:t>
            </a:r>
            <a:r>
              <a:rPr lang="fr-FR" sz="2000" dirty="0">
                <a:latin typeface="Arial Black" panose="020B0A04020102020204" pitchFamily="34" charset="0"/>
              </a:rPr>
              <a:t> Références bibliographiques et sources.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26443" y="1372472"/>
            <a:ext cx="84911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[1] </a:t>
            </a:r>
            <a:r>
              <a:rPr lang="en-GB" sz="1600" dirty="0" err="1"/>
              <a:t>WiseGuy</a:t>
            </a:r>
            <a:r>
              <a:rPr lang="en-GB" sz="1600" dirty="0"/>
              <a:t> Research Consultants, "Global Electric Guitar Pickup Market Research Report 2024," Pune, India, 2024.</a:t>
            </a:r>
          </a:p>
          <a:p>
            <a:endParaRPr lang="en-GB" sz="1600" dirty="0"/>
          </a:p>
          <a:p>
            <a:r>
              <a:rPr lang="en-GB" sz="1600" b="1" dirty="0"/>
              <a:t>[2] </a:t>
            </a:r>
            <a:r>
              <a:rPr lang="en-GB" sz="1600" dirty="0"/>
              <a:t>Matthew W. Hill, "The hidden history of the electric guitar", in Quand la </a:t>
            </a:r>
            <a:r>
              <a:rPr lang="en-GB" sz="1600" dirty="0" err="1"/>
              <a:t>guitare</a:t>
            </a:r>
            <a:r>
              <a:rPr lang="en-GB" sz="1600" dirty="0"/>
              <a:t> [s']</a:t>
            </a:r>
            <a:r>
              <a:rPr lang="en-GB" sz="1600" dirty="0" err="1"/>
              <a:t>électrise</a:t>
            </a:r>
            <a:r>
              <a:rPr lang="en-GB" sz="1600" dirty="0"/>
              <a:t> !, Benoît Navarret et al. (dir.), Sorbonne Université Presses, pp. 33-61, 2022.</a:t>
            </a:r>
          </a:p>
          <a:p>
            <a:endParaRPr lang="en-GB" sz="1600" dirty="0"/>
          </a:p>
          <a:p>
            <a:r>
              <a:rPr lang="en-GB" sz="1600" b="1" dirty="0"/>
              <a:t>[3] </a:t>
            </a:r>
            <a:r>
              <a:rPr lang="en-GB" sz="1600" dirty="0"/>
              <a:t>N. G. Horton &amp; T. R. Moore : </a:t>
            </a:r>
            <a:r>
              <a:rPr lang="en-GB" sz="1600" dirty="0" err="1"/>
              <a:t>Modeling</a:t>
            </a:r>
            <a:r>
              <a:rPr lang="en-GB" sz="1600" dirty="0"/>
              <a:t> the magnetic pickup of an electric guitar :</a:t>
            </a:r>
          </a:p>
          <a:p>
            <a:r>
              <a:rPr lang="en-GB" sz="1600" dirty="0"/>
              <a:t>American Journal of Physics, vol. 77, no. 2, pp. 144–150, 2009, </a:t>
            </a:r>
            <a:r>
              <a:rPr lang="en-GB" sz="1600" dirty="0" err="1"/>
              <a:t>doi</a:t>
            </a:r>
            <a:r>
              <a:rPr lang="en-GB" sz="1600" dirty="0"/>
              <a:t>: 10.1119/1.2990663</a:t>
            </a:r>
          </a:p>
          <a:p>
            <a:endParaRPr lang="en-GB" sz="1600" dirty="0"/>
          </a:p>
          <a:p>
            <a:r>
              <a:rPr lang="en-GB" sz="1600" b="1" dirty="0"/>
              <a:t>[4] </a:t>
            </a:r>
            <a:r>
              <a:rPr lang="en-GB" sz="1600" dirty="0"/>
              <a:t>S. W. Duncan, "Interview With Seth Lover", Seymour Duncan.  [En </a:t>
            </a:r>
            <a:r>
              <a:rPr lang="en-GB" sz="1600" dirty="0" err="1"/>
              <a:t>ligne</a:t>
            </a:r>
            <a:r>
              <a:rPr lang="en-GB" sz="1600" dirty="0"/>
              <a:t>]. Disponible sur: </a:t>
            </a:r>
            <a:r>
              <a:rPr lang="en-GB" sz="1600" dirty="0">
                <a:hlinkClick r:id="rId3"/>
              </a:rPr>
              <a:t>https://www.seymourduncan.com/blog/latest-updates/seymour-w-duncans-interview-with-seth-lover</a:t>
            </a:r>
            <a:endParaRPr lang="en-GB" sz="1600" dirty="0"/>
          </a:p>
          <a:p>
            <a:endParaRPr lang="en-GB" sz="1600" dirty="0"/>
          </a:p>
          <a:p>
            <a:r>
              <a:rPr lang="en-GB" sz="1600" b="1" dirty="0"/>
              <a:t>[5] </a:t>
            </a:r>
            <a:r>
              <a:rPr lang="en-GB" sz="1600" dirty="0"/>
              <a:t>Dan Carson, "Investigation of the Electromagnetic Properties of Electric Guitar Pickups", University of Illinois at Urbana-Champaign, Physics Senior Thesis, 2009.</a:t>
            </a:r>
          </a:p>
          <a:p>
            <a:endParaRPr lang="en-GB" sz="1600" dirty="0"/>
          </a:p>
          <a:p>
            <a:r>
              <a:rPr lang="en-GB" sz="1600" b="1" dirty="0"/>
              <a:t>[6] </a:t>
            </a:r>
            <a:r>
              <a:rPr lang="en-GB" sz="1600" dirty="0"/>
              <a:t>B. </a:t>
            </a:r>
            <a:r>
              <a:rPr lang="en-GB" sz="1600" dirty="0" err="1"/>
              <a:t>d’Andréa</a:t>
            </a:r>
            <a:r>
              <a:rPr lang="en-GB" sz="1600" dirty="0"/>
              <a:t>-Novel, B. Fabre, et P. Jouvelot, </a:t>
            </a:r>
            <a:r>
              <a:rPr lang="en-GB" sz="1600" dirty="0" err="1"/>
              <a:t>Acoustique</a:t>
            </a:r>
            <a:r>
              <a:rPr lang="en-GB" sz="1600" dirty="0"/>
              <a:t> Informatique </a:t>
            </a:r>
            <a:r>
              <a:rPr lang="en-GB" sz="1600" dirty="0" err="1"/>
              <a:t>MusiquE</a:t>
            </a:r>
            <a:r>
              <a:rPr lang="en-GB" sz="1600" dirty="0"/>
              <a:t> : </a:t>
            </a:r>
            <a:r>
              <a:rPr lang="en-GB" sz="1600" dirty="0" err="1"/>
              <a:t>Outils</a:t>
            </a:r>
            <a:r>
              <a:rPr lang="en-GB" sz="1600" dirty="0"/>
              <a:t> </a:t>
            </a:r>
            <a:r>
              <a:rPr lang="en-GB" sz="1600" dirty="0" err="1"/>
              <a:t>scientifiques</a:t>
            </a:r>
            <a:r>
              <a:rPr lang="en-GB" sz="1600" dirty="0"/>
              <a:t> pour la musique. Paris, France : Presses des Mines, 2010, </a:t>
            </a:r>
            <a:r>
              <a:rPr lang="en-GB" sz="1600" dirty="0" err="1"/>
              <a:t>ch.</a:t>
            </a:r>
            <a:r>
              <a:rPr lang="en-GB" sz="1600" dirty="0"/>
              <a:t> 4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91F70DF-5274-3947-B274-A2EAF490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D43332-F8BD-6E2C-04A6-7CBD2C44837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935E0A-86AC-9436-7A04-23BB4DCFB95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A2E238EA-0333-80E5-6A4E-C1DD63F93CF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E6D5-1701-3BEE-B0A5-E256A3A6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9093611-3561-6AFC-8B29-235BE2B5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EE7CF6-6544-6E25-5056-82E21022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28</a:t>
            </a:fld>
            <a:endParaRPr lang="fr-FR" sz="12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E578E-E842-899B-459C-15B4BA0F22E9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2 :</a:t>
            </a:r>
            <a:r>
              <a:rPr lang="fr-FR" sz="2000" dirty="0">
                <a:latin typeface="Arial Black" panose="020B0A04020102020204" pitchFamily="34" charset="0"/>
              </a:rPr>
              <a:t> Remerciements.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99E44F-1F36-18D2-50B8-92E3C5465C7A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D91B2-998A-B850-BFB6-9B10EF3C3C36}"/>
              </a:ext>
            </a:extLst>
          </p:cNvPr>
          <p:cNvSpPr txBox="1"/>
          <p:nvPr/>
        </p:nvSpPr>
        <p:spPr>
          <a:xfrm>
            <a:off x="1744980" y="1390254"/>
            <a:ext cx="7072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Art Music Store</a:t>
            </a:r>
            <a:r>
              <a:rPr lang="fr-FR" sz="1600" dirty="0"/>
              <a:t>,</a:t>
            </a:r>
            <a:r>
              <a:rPr lang="fr-FR" sz="1600" b="1" dirty="0"/>
              <a:t> </a:t>
            </a:r>
            <a:r>
              <a:rPr lang="fr-FR" sz="1600" dirty="0"/>
              <a:t>3800, Grenoble, Place Victor Hugo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Menuiserie Paradis</a:t>
            </a:r>
            <a:r>
              <a:rPr lang="fr-FR" sz="1600" dirty="0"/>
              <a:t>, 38590, Brézins, Rue des Caillères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pic>
        <p:nvPicPr>
          <p:cNvPr id="2050" name="Picture 2" descr="Les Boutiques | Art Rock Music Store, Magasin de Musique à Crolles et à ...">
            <a:extLst>
              <a:ext uri="{FF2B5EF4-FFF2-40B4-BE49-F238E27FC236}">
                <a16:creationId xmlns:a16="http://schemas.microsoft.com/office/drawing/2014/main" id="{6B5FA1A0-A21F-2704-4B07-98DC048FD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" y="1344216"/>
            <a:ext cx="1239000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Menuiserie Jérôme Paradis | Brézins">
            <a:extLst>
              <a:ext uri="{FF2B5EF4-FFF2-40B4-BE49-F238E27FC236}">
                <a16:creationId xmlns:a16="http://schemas.microsoft.com/office/drawing/2014/main" id="{60E6E8E9-ADE0-B962-617A-584376023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5BC96-6601-01EF-A1A8-0CDE5F128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63" y="2750010"/>
            <a:ext cx="1346717" cy="1260000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D5FC0E5-64EB-8361-1BFF-E07DE317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D4207A-2DE2-DDB4-499E-645E1E9A06B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5F7D3D-AE97-12D7-592B-541818FBB0F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AC5D0688-E328-E5A7-E5DA-893DDDB0F23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240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C47B-CF41-2900-27D1-46C22C90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2B99003-69ED-29F2-2154-EF399E28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630691B-0CB2-5EB8-C15E-7B7CC27F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29</a:t>
            </a:fld>
            <a:endParaRPr lang="fr-FR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09EDA-BBC9-C23C-F784-E5E302DC689C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3 :</a:t>
            </a:r>
            <a:r>
              <a:rPr lang="fr-FR" sz="2000" dirty="0">
                <a:latin typeface="Arial Black" panose="020B0A04020102020204" pitchFamily="34" charset="0"/>
              </a:rPr>
              <a:t> Notations et valeur numérique.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88B616-4201-AC96-BA95-677E016CA99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D22C1-5163-DFF3-B750-9677CA9F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5887BE-C0C6-26B1-F07D-A7C065B7F1E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33D505-1E0C-2999-0AA5-428C61C7DBB8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D87F4FDF-66F9-8742-498D-DAA32629EAA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1144795-AC8B-21B2-6726-CE3D16CE57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731092"/>
                  </p:ext>
                </p:extLst>
              </p:nvPr>
            </p:nvGraphicFramePr>
            <p:xfrm>
              <a:off x="345437" y="4827261"/>
              <a:ext cx="4217064" cy="144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3,5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Perméabilité relative de l'Alnico 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528968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100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Susceptibilité magnétique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0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r>
                            <a:rPr lang="fr-FR" sz="1000" dirty="0"/>
                            <a:t>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Volume de la portion de la corde active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1144795-AC8B-21B2-6726-CE3D16CE57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2731092"/>
                  </p:ext>
                </p:extLst>
              </p:nvPr>
            </p:nvGraphicFramePr>
            <p:xfrm>
              <a:off x="345437" y="4827261"/>
              <a:ext cx="4217064" cy="144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390" r="-514159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3,5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Perméabilité relative de l'Alnico 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528968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0000" r="-51415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100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Susceptibilité magnétique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5085" r="-514159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923" t="-305085" r="-346923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47143" t="-305085" r="-544286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Volume de la portion de la corde active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B381818-6C77-AF12-22D8-30F5A4EA62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229"/>
                  </p:ext>
                </p:extLst>
              </p:nvPr>
            </p:nvGraphicFramePr>
            <p:xfrm>
              <a:off x="345439" y="1507861"/>
              <a:ext cx="4217062" cy="288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6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0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(SingleCoil)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𝐻𝑃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𝐻𝑃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0,147, 0,165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parallèle)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𝐻𝑆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𝐻𝑆</m:t>
                                    </m:r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0,202, 0,220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série)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57105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0,85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Longueur vibrante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358644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0,300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de l'origine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574047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Amplitude initiale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81965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80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𝐻𝑧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fondamentale de vibration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509288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B381818-6C77-AF12-22D8-30F5A4EA62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0229"/>
                  </p:ext>
                </p:extLst>
              </p:nvPr>
            </p:nvGraphicFramePr>
            <p:xfrm>
              <a:off x="345439" y="1507861"/>
              <a:ext cx="4217062" cy="2880000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6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0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101695" r="-514159" b="-6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101695" r="-544286" b="-6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(SingleCoil)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01695" r="-514159" b="-5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0,147, 0,165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201695" r="-544286" b="-5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parallèle)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96667" r="-514159" b="-3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0,202, 0,220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296667" r="-544286" b="-3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du micro (Humbucker série)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571056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03390" r="-514159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0,85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403390" r="-544286" b="-3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Longueur vibrante de la corde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3586442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03390" r="-514159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0,300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503390" r="-544286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Position de l'origine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5740474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603390" r="-514159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0,105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47143" t="-603390" r="-544286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Amplitude initiale de la perturbation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819652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03390" r="-514159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80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7143" t="-703390" r="-544286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fondamentale de vibration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50928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F42D4E8-367B-CD6E-4006-68B064BCF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652139"/>
                  </p:ext>
                </p:extLst>
              </p:nvPr>
            </p:nvGraphicFramePr>
            <p:xfrm>
              <a:off x="4671437" y="1507861"/>
              <a:ext cx="4324145" cy="1089627"/>
            </p:xfrm>
            <a:graphic>
              <a:graphicData uri="http://schemas.openxmlformats.org/drawingml/2006/table">
                <a:tbl>
                  <a:tblPr/>
                  <a:tblGrid>
                    <a:gridCol w="703333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811082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36736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72994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95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Nombre de spire d’une bobine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0,06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Rayon des bobines de Helmholtz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CF42D4E8-367B-CD6E-4006-68B064BCF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652139"/>
                  </p:ext>
                </p:extLst>
              </p:nvPr>
            </p:nvGraphicFramePr>
            <p:xfrm>
              <a:off x="4671437" y="1507861"/>
              <a:ext cx="4324145" cy="1089627"/>
            </p:xfrm>
            <a:graphic>
              <a:graphicData uri="http://schemas.openxmlformats.org/drawingml/2006/table">
                <a:tbl>
                  <a:tblPr/>
                  <a:tblGrid>
                    <a:gridCol w="703333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811082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36736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72994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101667" r="-518261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95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-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Nombre de spire d’une bobine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1667" r="-518261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0,06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0704" t="-201667" r="-550704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Rayon des bobines de Helmholtz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4A0FDFD4-ACE1-C723-796E-51848408BDB8}"/>
              </a:ext>
            </a:extLst>
          </p:cNvPr>
          <p:cNvSpPr/>
          <p:nvPr/>
        </p:nvSpPr>
        <p:spPr>
          <a:xfrm>
            <a:off x="345439" y="1174612"/>
            <a:ext cx="4031962" cy="280107"/>
          </a:xfrm>
          <a:prstGeom prst="rect">
            <a:avLst/>
          </a:prstGeom>
          <a:ln w="381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numCol="2" rtlCol="0" anchor="t"/>
          <a:lstStyle/>
          <a:p>
            <a:endParaRPr lang="fr-FR" sz="1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5CD883-82BD-74FC-0CCA-5B43225FB89A}"/>
              </a:ext>
            </a:extLst>
          </p:cNvPr>
          <p:cNvSpPr txBox="1"/>
          <p:nvPr/>
        </p:nvSpPr>
        <p:spPr>
          <a:xfrm>
            <a:off x="326443" y="1142736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mécanique (induction)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94D2AE-FBCD-6DCC-33D2-D0CB6D758659}"/>
              </a:ext>
            </a:extLst>
          </p:cNvPr>
          <p:cNvSpPr txBox="1"/>
          <p:nvPr/>
        </p:nvSpPr>
        <p:spPr>
          <a:xfrm>
            <a:off x="326442" y="4460763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magnétique (induction)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A2E43-0000-4799-8C98-5CF5D3C0AA82}"/>
              </a:ext>
            </a:extLst>
          </p:cNvPr>
          <p:cNvSpPr txBox="1"/>
          <p:nvPr/>
        </p:nvSpPr>
        <p:spPr>
          <a:xfrm>
            <a:off x="4671437" y="1122601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mécanique (parasite)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CB49C052-18CA-D0C9-14A7-3BDB164A18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019935"/>
                  </p:ext>
                </p:extLst>
              </p:nvPr>
            </p:nvGraphicFramePr>
            <p:xfrm>
              <a:off x="4778519" y="3118385"/>
              <a:ext cx="4217064" cy="1089627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Gradient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50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𝐻𝑧</m:t>
                                </m:r>
                              </m:oMath>
                            </m:oMathPara>
                          </a14:m>
                          <a:endParaRPr lang="fr-FR" sz="1000" dirty="0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CB49C052-18CA-D0C9-14A7-3BDB164A18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019935"/>
                  </p:ext>
                </p:extLst>
              </p:nvPr>
            </p:nvGraphicFramePr>
            <p:xfrm>
              <a:off x="4778519" y="3118385"/>
              <a:ext cx="4217064" cy="1089627"/>
            </p:xfrm>
            <a:graphic>
              <a:graphicData uri="http://schemas.openxmlformats.org/drawingml/2006/table">
                <a:tbl>
                  <a:tblPr/>
                  <a:tblGrid>
                    <a:gridCol w="685916">
                      <a:extLst>
                        <a:ext uri="{9D8B030D-6E8A-4147-A177-3AD203B41FA5}">
                          <a16:colId xmlns:a16="http://schemas.microsoft.com/office/drawing/2014/main" val="1593414590"/>
                        </a:ext>
                      </a:extLst>
                    </a:gridCol>
                    <a:gridCol w="790997">
                      <a:extLst>
                        <a:ext uri="{9D8B030D-6E8A-4147-A177-3AD203B41FA5}">
                          <a16:colId xmlns:a16="http://schemas.microsoft.com/office/drawing/2014/main" val="2720004451"/>
                        </a:ext>
                      </a:extLst>
                    </a:gridCol>
                    <a:gridCol w="425921">
                      <a:extLst>
                        <a:ext uri="{9D8B030D-6E8A-4147-A177-3AD203B41FA5}">
                          <a16:colId xmlns:a16="http://schemas.microsoft.com/office/drawing/2014/main" val="161282379"/>
                        </a:ext>
                      </a:extLst>
                    </a:gridCol>
                    <a:gridCol w="2314230">
                      <a:extLst>
                        <a:ext uri="{9D8B030D-6E8A-4147-A177-3AD203B41FA5}">
                          <a16:colId xmlns:a16="http://schemas.microsoft.com/office/drawing/2014/main" val="1526808663"/>
                        </a:ext>
                      </a:extLst>
                    </a:gridCol>
                  </a:tblGrid>
                  <a:tr h="36320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Notation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Valeur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Unité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b="1" dirty="0"/>
                            <a:t>Description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36538467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01667" r="-514159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fr-FR" sz="1000" dirty="0"/>
                            <a:t>1 (ODG)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347143" t="-101667" r="-544286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Gradient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3249128"/>
                      </a:ext>
                    </a:extLst>
                  </a:tr>
                  <a:tr h="363209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1667" r="-514159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000" dirty="0"/>
                            <a:t>50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7143" t="-201667" r="-544286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000" dirty="0"/>
                            <a:t>Fréquence du champ magnétique parasite</a:t>
                          </a:r>
                        </a:p>
                      </a:txBody>
                      <a:tcPr marL="30246" marR="30246" marT="15123" marB="1512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252264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245918D-E210-1F1E-4EC5-A7B43F3E7B84}"/>
              </a:ext>
            </a:extLst>
          </p:cNvPr>
          <p:cNvSpPr txBox="1"/>
          <p:nvPr/>
        </p:nvSpPr>
        <p:spPr>
          <a:xfrm>
            <a:off x="4778519" y="2733125"/>
            <a:ext cx="4362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3">
                    <a:lumMod val="50000"/>
                  </a:schemeClr>
                </a:solidFill>
              </a:rPr>
              <a:t>Paramètres magnétiques (parasite)</a:t>
            </a:r>
          </a:p>
        </p:txBody>
      </p:sp>
    </p:spTree>
    <p:extLst>
      <p:ext uri="{BB962C8B-B14F-4D97-AF65-F5344CB8AC3E}">
        <p14:creationId xmlns:p14="http://schemas.microsoft.com/office/powerpoint/2010/main" val="3837036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10E9A24-B484-295A-C630-F6DE6A33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39197A-E1E0-DE57-ABEA-CF1EC736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30</a:t>
            </a:fld>
            <a:endParaRPr lang="fr-FR" sz="1200" b="1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4 :</a:t>
            </a:r>
            <a:r>
              <a:rPr lang="fr-FR" sz="2000" dirty="0">
                <a:latin typeface="Arial Black" panose="020B0A04020102020204" pitchFamily="34" charset="0"/>
              </a:rPr>
              <a:t> Modélisation de l'induction par la corde.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b="1" u="sng" dirty="0"/>
                  <a:t>Vibration de la corde :</a:t>
                </a:r>
                <a:endParaRPr lang="fr-FR" sz="1200" dirty="0"/>
              </a:p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avec une force de pincement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blipFill>
                <a:blip r:embed="rId2"/>
                <a:stretch>
                  <a:fillRect t="-120" r="-888" b="-19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00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b="1" u="sng" dirty="0"/>
                  <a:t>Induction :</a:t>
                </a:r>
                <a:endParaRPr lang="fr-FR" sz="1200" dirty="0"/>
              </a:p>
              <a:p>
                <a:r>
                  <a:rPr lang="fr-FR" sz="1200" dirty="0"/>
                  <a:t>De plus, une portion de la corde de volume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r-FR" sz="1200" dirty="0"/>
                  <a:t> et de susceptibilité magnétique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fr-FR" sz="1200" dirty="0"/>
                  <a:t> est plongé dans le champ du micro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200" dirty="0"/>
                  <a:t>. Donc elle acquiert un moment magnétique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La corde créée donc un champ magnétique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le flux traversant le bobinage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spires est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1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𝑁𝑆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d>
                                    <m:dPr>
                                      <m:ctrlPr>
                                        <a:rPr lang="fr-FR" sz="11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1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11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fr-FR" sz="11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1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sz="11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𝑛𝐹𝑡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𝑛𝐹</m:t>
                    </m:r>
                    <m:func>
                      <m:func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func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004319"/>
              </a:xfrm>
              <a:prstGeom prst="rect">
                <a:avLst/>
              </a:prstGeom>
              <a:blipFill>
                <a:blip r:embed="rId3"/>
                <a:stretch>
                  <a:fillRect t="-24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A777B76-EF7C-8876-1D5D-D609496C95D8}"/>
              </a:ext>
            </a:extLst>
          </p:cNvPr>
          <p:cNvGrpSpPr/>
          <p:nvPr/>
        </p:nvGrpSpPr>
        <p:grpSpPr>
          <a:xfrm>
            <a:off x="3035508" y="2887635"/>
            <a:ext cx="1623736" cy="676275"/>
            <a:chOff x="3501390" y="2752725"/>
            <a:chExt cx="1157854" cy="67627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A38606B-02D3-FB4F-4E84-A06CC752B21A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7E64599-1C52-9F19-E75C-1C83054A9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98173CE4-32B0-FCB4-0133-B7F7F801D647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30515D-0CF5-C54C-6696-F26CC43280DD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241828B-5116-7216-6B5A-F400AF0BB812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1FB3372-8A72-8A3C-4185-141A249DDF65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0714" r="-3571" b="-2272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6C170-7191-7DC0-F875-65C4BD15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51B331E-825D-7998-84BB-C2CEA27EFC7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A243EF-8D9A-619D-753B-253FFACAA1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E96EF237-2867-B9B6-4D1E-4353B4EF70F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E24388-EC68-4AFB-B105-72F9AF9744DB}"/>
              </a:ext>
            </a:extLst>
          </p:cNvPr>
          <p:cNvSpPr txBox="1"/>
          <p:nvPr/>
        </p:nvSpPr>
        <p:spPr>
          <a:xfrm>
            <a:off x="8303977" y="6071016"/>
            <a:ext cx="899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[3], [6]</a:t>
            </a:r>
          </a:p>
        </p:txBody>
      </p:sp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B5F2-B144-CF76-1F8C-26C914C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BB62E9F-C416-8E56-1CDE-C3F6958E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DC783EB-893F-C311-8294-9AEF8605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31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06A6A33-5483-E45A-C886-DB9DB0F3FCE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70956-3195-813A-9090-176A89DD32F0}"/>
              </a:ext>
            </a:extLst>
          </p:cNvPr>
          <p:cNvSpPr txBox="1"/>
          <p:nvPr/>
        </p:nvSpPr>
        <p:spPr>
          <a:xfrm>
            <a:off x="345439" y="721360"/>
            <a:ext cx="8297628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5 :</a:t>
            </a:r>
            <a:r>
              <a:rPr lang="fr-FR" sz="2000" dirty="0">
                <a:latin typeface="Arial Black" panose="020B0A04020102020204" pitchFamily="34" charset="0"/>
              </a:rPr>
              <a:t> Théorie de la réjection du champ parasite.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B61CD-D09F-44E9-C03D-924382A1A1A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4296946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b="1" u="sng" dirty="0"/>
                  <a:t>Définition :</a:t>
                </a:r>
                <a:endParaRPr lang="fr-FR" sz="1200" dirty="0"/>
              </a:p>
              <a:p>
                <a:r>
                  <a:rPr lang="fr-FR" sz="1200" dirty="0"/>
                  <a:t>On appellera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fr-FR" sz="1200" dirty="0"/>
                  <a:t> le signal utile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fr-FR" sz="1200" dirty="0"/>
                  <a:t> le signal parasite. ON définit le </a:t>
                </a:r>
                <a:r>
                  <a:rPr lang="fr-FR" sz="1200" u="sng" dirty="0"/>
                  <a:t>Taux de Rejection de Mode Commun</a:t>
                </a:r>
                <a:endParaRPr lang="fr-FR" sz="1200" b="1" u="sng" dirty="0"/>
              </a:p>
              <a:p>
                <a:endParaRPr lang="fr-FR" sz="1200" b="1" u="sng" dirty="0"/>
              </a:p>
              <a:p>
                <a:r>
                  <a:rPr lang="fr-FR" sz="1200" b="1" u="sng" dirty="0"/>
                  <a:t>Modèle du champ parasite :</a:t>
                </a:r>
                <a:endParaRPr lang="fr-FR" sz="1200" dirty="0"/>
              </a:p>
              <a:p>
                <a:r>
                  <a:rPr lang="fr-FR" sz="1200" dirty="0"/>
                  <a:t>On étudie un champ parasite d’amplitude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, de fréquence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200" dirty="0"/>
                  <a:t> et de gradient </a:t>
                </a:r>
                <a14:m>
                  <m:oMath xmlns:m="http://schemas.openxmlformats.org/officeDocument/2006/math">
                    <m:r>
                      <a:rPr lang="fr-FR" sz="12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200" dirty="0"/>
                  <a:t> régie par l’équation:</a:t>
                </a:r>
              </a:p>
              <a:p>
                <a:pPr algn="ctr"/>
                <a:endParaRPr lang="fr-FR" sz="12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′,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Ainsi on a le flux à travers une surface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r-FR" sz="1200" dirty="0"/>
                  <a:t> est: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fr-FR" sz="1200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acc>
                            <m:accPr>
                              <m:chr m:val="⃗"/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une bobine composée de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b="1" u="sng" dirty="0"/>
                  <a:t>Pour un micro SingleCoil :</a:t>
                </a:r>
              </a:p>
              <a:p>
                <a:r>
                  <a:rPr lang="fr-FR" sz="1200" dirty="0"/>
                  <a:t>On place le micro 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sz="1200" dirty="0"/>
                  <a:t>, 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4296946"/>
              </a:xfrm>
              <a:prstGeom prst="rect">
                <a:avLst/>
              </a:prstGeom>
              <a:blipFill>
                <a:blip r:embed="rId3"/>
                <a:stretch>
                  <a:fillRect t="-1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4431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b="1" u="sng" dirty="0"/>
                  <a:t>Pour un micro Humbucker série :</a:t>
                </a:r>
              </a:p>
              <a:p>
                <a:r>
                  <a:rPr lang="fr-FR" sz="12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Le micro est composé de deux bobine espacées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sz="1200" dirty="0"/>
                  <a:t> à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spire câblée en opposition de phase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sz="1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)+(−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r>
                  <a:rPr lang="fr-FR" sz="12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𝐻𝑠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fr-FR" sz="1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Ainsi :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𝐻𝑠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𝐻𝑠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200" dirty="0"/>
                  <a:t> </a:t>
                </a:r>
                <a14:m>
                  <m:oMath xmlns:m="http://schemas.openxmlformats.org/officeDocument/2006/math">
                    <m:r>
                      <a:rPr lang="fr-FR" sz="1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b="1" u="sng" dirty="0"/>
                  <a:t>Pour un micro Humbucker parallèle :</a:t>
                </a:r>
              </a:p>
              <a:p>
                <a:r>
                  <a:rPr lang="fr-FR" sz="12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𝐻𝑝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De même, sous les mêmes notations,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fr-FR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r>
                  <a:rPr lang="fr-FR" sz="1200" dirty="0"/>
                  <a:t>Ainsi :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200" dirty="0"/>
                  <a:t> </a:t>
                </a:r>
                <a14:m>
                  <m:oMath xmlns:m="http://schemas.openxmlformats.org/officeDocument/2006/math"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1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4431470"/>
              </a:xfrm>
              <a:prstGeom prst="rect">
                <a:avLst/>
              </a:prstGeom>
              <a:blipFill>
                <a:blip r:embed="rId4"/>
                <a:stretch>
                  <a:fillRect t="-2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7B6E3-8EE4-F64E-7E5A-C4237D3C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135CFF-9836-7C54-0BFE-C55DA8EA6DF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27E62F-509A-33EE-39F7-CF12A8D1868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9F154D45-8B11-2E2C-A9CF-70E8DE66B2B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597473-163C-2448-B7A8-744EB33FD861}"/>
                  </a:ext>
                </a:extLst>
              </p:cNvPr>
              <p:cNvSpPr txBox="1"/>
              <p:nvPr/>
            </p:nvSpPr>
            <p:spPr>
              <a:xfrm>
                <a:off x="563660" y="5664788"/>
                <a:ext cx="8191168" cy="52322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400" dirty="0"/>
                  <a:t>On a une annulation totale du bruit si et seulement 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sz="1400" dirty="0"/>
                  <a:t> est petit. En pratique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=0.018 </m:t>
                    </m:r>
                  </m:oMath>
                </a14:m>
                <a:r>
                  <a:rPr lang="fr-FR" sz="1400" dirty="0"/>
                  <a:t>mètre.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400" dirty="0"/>
                  <a:t>Si les deux Humbucker sont identiques, peu importe le montage, le CMRR est identique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597473-163C-2448-B7A8-744EB33FD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0" y="5664788"/>
                <a:ext cx="8191168" cy="523220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  <a:ln w="28575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520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108C-A3BE-9F30-5F6D-AE6C160E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AE4AA4-C3C7-2E15-4FE6-655BAA3E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EF6E153-E804-1E6D-AC1A-DA165A12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32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06A84A3-244C-E4E5-16D2-E0D81E52023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9AD8E1-E315-A065-149E-7D95BAB5C66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8F16D-9EEC-BD13-9BA6-4441C8EDBF7E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6 :</a:t>
            </a:r>
            <a:r>
              <a:rPr lang="fr-FR" sz="2000" dirty="0">
                <a:latin typeface="Arial Black" panose="020B0A04020102020204" pitchFamily="34" charset="0"/>
              </a:rPr>
              <a:t> Méthodes de traitement numérique et filtrage.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FF123-A369-3024-2D63-5BC511850FC0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passer de données bruitées non exploitables a des données exploitables?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60F269-E440-1BF8-F93A-BDF8772DA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4411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par Moyenne Mobile </a:t>
                </a:r>
                <a:r>
                  <a:rPr lang="fr-FR" sz="1400" dirty="0">
                    <a:sym typeface="Wingdings" panose="05000000000000000000" pitchFamily="2" charset="2"/>
                  </a:rPr>
                  <a:t>Chaque point est la moyenne des 50 précédents et 50 suivants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Temps de calcul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Risque de ‘’raboter’’ les pics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Aucun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numérique passe-bas</a:t>
                </a:r>
              </a:p>
              <a:p>
                <a:r>
                  <a:rPr lang="fr-FR" sz="1400" b="0" dirty="0">
                    <a:sym typeface="Wingdings" panose="05000000000000000000" pitchFamily="2" charset="2"/>
                  </a:rPr>
                  <a:t>Méthode d’Euler 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H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p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 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 + </m:t>
                          </m:r>
                          <m:r>
                            <m:rPr>
                              <m:sty m:val="p"/>
                            </m:r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τp</m:t>
                          </m:r>
                        </m:den>
                      </m:f>
                    </m:oMath>
                  </m:oMathPara>
                </a14:m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Temps de calcul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Preserve l’allure globale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Introduit 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4411336"/>
              </a:xfrm>
              <a:prstGeom prst="rect">
                <a:avLst/>
              </a:prstGeom>
              <a:blipFill>
                <a:blip r:embed="rId3"/>
                <a:stretch>
                  <a:fillRect l="-633" t="-2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9AED8-D051-72A1-0FAB-7881F8AC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A012CD-4A4F-5077-ED00-68E3057666A1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DF584-9CF7-B861-2268-C9DD0FDE375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9E59D5D1-9929-41AC-1C69-EDEF90D47D4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0294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2C5B-8D73-CCE6-C1F4-7842FE0B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AF5A9F0-2A4C-02C4-E2F8-B040A3F3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534992-DB8E-40A8-C706-E82CEB30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33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7D9F10B-2163-F771-FC03-D7518738EB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F3FB8-1FB5-8F1E-C164-C844ECA3D0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B39E1-B87E-8759-1895-1DEFEB3BB07E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7 :</a:t>
            </a:r>
            <a:r>
              <a:rPr lang="fr-FR" sz="2000" dirty="0">
                <a:latin typeface="Arial Black" panose="020B0A04020102020204" pitchFamily="34" charset="0"/>
              </a:rPr>
              <a:t> Algorithme de Levenberg-Marquardt.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58F603-827C-9F7F-25B9-66795A26B2C3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déterminer les valeurs des caractéristiques électriques des micros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/>
              <p:nvPr/>
            </p:nvSpPr>
            <p:spPr>
              <a:xfrm>
                <a:off x="4572000" y="1564631"/>
                <a:ext cx="4264554" cy="4428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Principe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Variante de l’algorithme des moindres carrés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b="1" u="sng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Combine 2 méthodes :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Descente de gradient</a:t>
                </a:r>
                <a:r>
                  <a:rPr lang="fr-FR" altLang="fr-FR" sz="1400" dirty="0"/>
                  <a:t> : Utilisée loin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Stabilité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Méthode de Gauss-Newton</a:t>
                </a:r>
                <a:r>
                  <a:rPr lang="fr-FR" altLang="fr-FR" sz="1400" dirty="0"/>
                  <a:t> : Utilisée proche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rapidité</a:t>
                </a: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Fonctionnement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b="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1" i="1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fr-FR" altLang="fr-FR" sz="1400" dirty="0"/>
                  <a:t> : Matrice Jacobienne 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fr-FR" altLang="fr-FR" sz="1400" dirty="0"/>
                  <a:t> : Vecteur résidus : image de l’erreur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fr-FR" altLang="fr-FR" sz="1400" dirty="0"/>
                  <a:t> : Taux d’apprentissage variable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↘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Gauss Newton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↗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Descente de Gradient 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564631"/>
                <a:ext cx="4264554" cy="4428905"/>
              </a:xfrm>
              <a:prstGeom prst="rect">
                <a:avLst/>
              </a:prstGeom>
              <a:blipFill>
                <a:blip r:embed="rId2"/>
                <a:stretch>
                  <a:fillRect l="-429" t="-2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89229-D649-26C3-F99E-5A1F94B1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0C246C-3384-6CE8-D081-A3B270E39908}"/>
              </a:ext>
            </a:extLst>
          </p:cNvPr>
          <p:cNvGrpSpPr/>
          <p:nvPr/>
        </p:nvGrpSpPr>
        <p:grpSpPr>
          <a:xfrm>
            <a:off x="345440" y="1587720"/>
            <a:ext cx="3617103" cy="4428906"/>
            <a:chOff x="345440" y="1587720"/>
            <a:chExt cx="3617103" cy="44289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C7B3D5-E778-E53F-4C95-9EB24A7DB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440" y="1587720"/>
              <a:ext cx="3617103" cy="442890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/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0.01</m:t>
                        </m:r>
                      </m:oMath>
                    </m:oMathPara>
                  </a14:m>
                  <a:endParaRPr lang="fr-FR" sz="4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</m:oMath>
                    </m:oMathPara>
                  </a14:m>
                  <a:endParaRPr lang="fr-FR" sz="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blipFill>
                  <a:blip r:embed="rId4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/>
                <p:nvPr/>
              </p:nvSpPr>
              <p:spPr>
                <a:xfrm>
                  <a:off x="1655445" y="3320037"/>
                  <a:ext cx="1021719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400" dirty="0"/>
                    <a:t>Calcul de la descente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400" b="0" i="1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a14:m>
                  <a:endParaRPr lang="fr-FR" sz="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5" y="3320037"/>
                  <a:ext cx="1021719" cy="61555"/>
                </a:xfrm>
                <a:prstGeom prst="rect">
                  <a:avLst/>
                </a:prstGeom>
                <a:blipFill>
                  <a:blip r:embed="rId5"/>
                  <a:stretch>
                    <a:fillRect t="-30000" b="-5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/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fr-FR" sz="400" dirty="0"/>
                    <a:t>Calcul du nouveau coût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</m:oMath>
                  </a14:m>
                  <a:endParaRPr lang="fr-FR" sz="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/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blipFill>
                  <a:blip r:embed="rId7"/>
                  <a:stretch>
                    <a:fillRect b="-3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/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fr-FR" sz="4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blipFill>
                  <a:blip r:embed="rId8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/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/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i="1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ϵ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E15DCC-C532-6C84-21FE-198EF6A3869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93FA2D-845E-3E47-013D-1745D6C5C3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F8F13FDA-57A2-A33C-17C0-BF32E05AA34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32533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032B-5CBA-D58B-6BE3-2ED288DB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8EB8047-B6FD-C262-D749-BA281272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73D2A4C-27D1-DFAF-6C8D-8C59AA46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34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D7F8ED1-3EF2-8A6F-4CB4-0CF972E8B4D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3105C7-994D-34E1-D1CE-ED0E36ED91C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9C9AA1-328D-AAD8-510E-EFF1E2B2A387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déterminer les valeurs des caractéristiques électriques des micros 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023245-9CE3-A4CE-BCE1-4AF643DD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des résidus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2, 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wn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du coût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i="1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Avec :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</a:rPr>
                      <m:t>J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den>
                              </m:f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</m:mr>
                        </m:m>
                        <m:eqArr>
                          <m:eqArr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1)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2)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...</m:t>
                            </m:r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ωn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fr-FR" altLang="fr-FR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blipFill>
                <a:blip r:embed="rId3"/>
                <a:stretch>
                  <a:fillRect l="-633" t="-270" r="-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58A68-4175-1FE0-DFCA-73363B0F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A23E38-AFFC-1314-34D8-5F474D741D9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94ED3C-0189-70F2-3340-35139884ACB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AD4961CD-E048-EDA5-4913-3A2CD9E86F6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A788DD-EA1A-EA9F-38E6-52FFF6B6EB98}"/>
              </a:ext>
            </a:extLst>
          </p:cNvPr>
          <p:cNvSpPr txBox="1"/>
          <p:nvPr/>
        </p:nvSpPr>
        <p:spPr>
          <a:xfrm>
            <a:off x="345439" y="721360"/>
            <a:ext cx="849111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7 :</a:t>
            </a:r>
            <a:r>
              <a:rPr lang="fr-FR" sz="2000" dirty="0">
                <a:latin typeface="Arial Black" panose="020B0A04020102020204" pitchFamily="34" charset="0"/>
              </a:rPr>
              <a:t> Algorithme de Levenberg-Marquardt. </a:t>
            </a:r>
          </a:p>
        </p:txBody>
      </p:sp>
    </p:spTree>
    <p:extLst>
      <p:ext uri="{BB962C8B-B14F-4D97-AF65-F5344CB8AC3E}">
        <p14:creationId xmlns:p14="http://schemas.microsoft.com/office/powerpoint/2010/main" val="35581720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1AB9-AA17-A289-4177-5B57B838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8461287-D707-9296-0912-13EC57D9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1BD5E36-8BC4-63CE-35F9-3C9F06D3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35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0EEE6E3-6825-09CC-8862-418DD007C63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990FB-38EB-5B30-B3B4-746837CB7A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DE8E9-33F3-561B-57C9-2E08CDBD205D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8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EF09A-3743-0F99-88E7-941B18BE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E53AF-2DFC-2830-AB17-39F8A9CFCD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" t="21864" r="1" b="35960"/>
          <a:stretch>
            <a:fillRect/>
          </a:stretch>
        </p:blipFill>
        <p:spPr>
          <a:xfrm>
            <a:off x="345440" y="1220122"/>
            <a:ext cx="8626173" cy="485222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CF1BFFB-993D-B165-6DEA-A362856BAE78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24DCD0-D770-6EEC-A98D-F0CAB5B4CAB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5180DDD7-F016-DA17-C609-C7473F9858D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580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F1A6-7284-DDB9-89E2-31D242A1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1A8F8BC-5457-F637-253E-501D5B3F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56C9157-C10C-5A98-91D7-0B32B393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36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AD740C7-6183-2A85-C9EE-E8A2AE58902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0915BC-9847-71E7-29FD-55679B3E5BA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A4084-0161-71FA-C96F-CB2E64B2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59B488-EBE7-4249-E492-60486C906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45439" y="1390254"/>
            <a:ext cx="8472117" cy="476556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882774D-4E1C-DAB6-0335-8D40E09BBD1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AA2265-51F0-27F3-BB79-D4CFB818BDD8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9363F4C3-D089-5724-B3D9-349343B259F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0782AE-74D3-0F0B-3667-FBE7C228BE64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8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</p:spTree>
    <p:extLst>
      <p:ext uri="{BB962C8B-B14F-4D97-AF65-F5344CB8AC3E}">
        <p14:creationId xmlns:p14="http://schemas.microsoft.com/office/powerpoint/2010/main" val="3410683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C127E-D68A-C4C9-C086-9738F9D5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80B2C9C-674F-90F5-E1CC-34D98FA50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9335C5F-9B07-5AC8-00F0-9F64763A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37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3FFEE79-B6D9-7DF1-77AC-A2F39E7FB47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3E4F10-BA31-FD17-A59D-7CAA4E9049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5FFF7-404B-CF36-11FC-4931F08AE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5C8C20-B7ED-6551-4D0E-60F6CE1EF6A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17269F-89D7-F4AD-528B-4C77B6A952C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D4433DFC-2955-CE03-9169-35729454E67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4D36202-B3E5-243C-14C2-48434A7DE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9282" r="1566" b="8689"/>
          <a:stretch>
            <a:fillRect/>
          </a:stretch>
        </p:blipFill>
        <p:spPr>
          <a:xfrm rot="16200000">
            <a:off x="2548484" y="118160"/>
            <a:ext cx="4047032" cy="65912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A7F794-6E33-A78A-72E0-E23624390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4914" t="11121" r="5635" b="30934"/>
          <a:stretch>
            <a:fillRect/>
          </a:stretch>
        </p:blipFill>
        <p:spPr>
          <a:xfrm>
            <a:off x="5973557" y="4628840"/>
            <a:ext cx="2844000" cy="15569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2B486F-873B-1C92-486F-11C7767869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10" t="15900" r="12423" b="27097"/>
          <a:stretch>
            <a:fillRect/>
          </a:stretch>
        </p:blipFill>
        <p:spPr>
          <a:xfrm>
            <a:off x="514606" y="4628840"/>
            <a:ext cx="2880000" cy="1533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EF5D67B-65B9-DD8F-74B1-81A310AE71D3}"/>
              </a:ext>
            </a:extLst>
          </p:cNvPr>
          <p:cNvSpPr/>
          <p:nvPr/>
        </p:nvSpPr>
        <p:spPr>
          <a:xfrm>
            <a:off x="1379095" y="1466054"/>
            <a:ext cx="1499017" cy="134545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D180F4-F1E8-39AD-1FE1-134753F82E8C}"/>
              </a:ext>
            </a:extLst>
          </p:cNvPr>
          <p:cNvSpPr txBox="1"/>
          <p:nvPr/>
        </p:nvSpPr>
        <p:spPr>
          <a:xfrm>
            <a:off x="345440" y="721360"/>
            <a:ext cx="8626172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Arial Black" panose="020B0A04020102020204" pitchFamily="34" charset="0"/>
              </a:rPr>
              <a:t>ANNEXE 8 :</a:t>
            </a:r>
            <a:r>
              <a:rPr lang="fr-FR" sz="2000" dirty="0">
                <a:latin typeface="Arial Black" panose="020B0A04020102020204" pitchFamily="34" charset="0"/>
              </a:rPr>
              <a:t> Analyse des échecs et difficultés rencontrées.</a:t>
            </a:r>
          </a:p>
        </p:txBody>
      </p:sp>
    </p:spTree>
    <p:extLst>
      <p:ext uri="{BB962C8B-B14F-4D97-AF65-F5344CB8AC3E}">
        <p14:creationId xmlns:p14="http://schemas.microsoft.com/office/powerpoint/2010/main" val="10296420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3237</Words>
  <Application>Microsoft Office PowerPoint</Application>
  <PresentationFormat>On-screen Show (4:3)</PresentationFormat>
  <Paragraphs>823</Paragraphs>
  <Slides>37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Black</vt:lpstr>
      <vt:lpstr>Calibri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716</cp:revision>
  <dcterms:created xsi:type="dcterms:W3CDTF">2025-06-09T15:35:56Z</dcterms:created>
  <dcterms:modified xsi:type="dcterms:W3CDTF">2026-02-23T10:30:16Z</dcterms:modified>
</cp:coreProperties>
</file>