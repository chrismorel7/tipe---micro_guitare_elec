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1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29" r:id="rId17"/>
    <p:sldId id="381" r:id="rId18"/>
    <p:sldId id="382" r:id="rId19"/>
    <p:sldId id="333" r:id="rId20"/>
    <p:sldId id="361" r:id="rId21"/>
    <p:sldId id="324" r:id="rId22"/>
    <p:sldId id="313" r:id="rId23"/>
    <p:sldId id="383" r:id="rId24"/>
    <p:sldId id="378" r:id="rId25"/>
    <p:sldId id="379" r:id="rId26"/>
    <p:sldId id="330" r:id="rId27"/>
    <p:sldId id="303" r:id="rId28"/>
    <p:sldId id="271" r:id="rId29"/>
    <p:sldId id="302" r:id="rId30"/>
    <p:sldId id="348" r:id="rId31"/>
    <p:sldId id="277" r:id="rId32"/>
    <p:sldId id="304" r:id="rId33"/>
    <p:sldId id="305" r:id="rId34"/>
    <p:sldId id="311" r:id="rId35"/>
    <p:sldId id="365" r:id="rId36"/>
    <p:sldId id="370" r:id="rId37"/>
    <p:sldId id="368" r:id="rId38"/>
    <p:sldId id="372" r:id="rId39"/>
    <p:sldId id="373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8587A-3FE1-79C8-146D-C7A48457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34F46-6722-1664-DD7C-A9B049C1C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58CA9-4F61-D5E9-99DC-FC94FA0E4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20A19-DA99-8D03-5496-ACA9E4950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051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4CAD4-74B0-AD25-628B-A01AFCF6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1E0B2-521A-74D5-BB87-77F192FB9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AAADF-DC80-862D-F7A6-6B0723051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1F43-A5FD-B912-0695-43FD6CB9C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6303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16DDB-317F-D464-2542-AEDEF16FD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1CD9F-57CF-03E9-A6FD-63617BD82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48DBA-CDA0-31BF-0645-F424C7AC9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40B3F-91D1-FE31-E864-73EC993D1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50794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33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4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5" Type="http://schemas.openxmlformats.org/officeDocument/2006/relationships/image" Target="../media/image37.png"/><Relationship Id="rId10" Type="http://schemas.openxmlformats.org/officeDocument/2006/relationships/image" Target="../media/image15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34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6.png"/><Relationship Id="rId4" Type="http://schemas.openxmlformats.org/officeDocument/2006/relationships/image" Target="../media/image43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5.wdp"/><Relationship Id="rId7" Type="http://schemas.microsoft.com/office/2007/relationships/hdphoto" Target="../media/hdphoto6.wdp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1.svg"/><Relationship Id="rId3" Type="http://schemas.openxmlformats.org/officeDocument/2006/relationships/image" Target="../media/image34.jpeg"/><Relationship Id="rId7" Type="http://schemas.openxmlformats.org/officeDocument/2006/relationships/image" Target="../media/image57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57.svg"/><Relationship Id="rId5" Type="http://schemas.openxmlformats.org/officeDocument/2006/relationships/image" Target="../media/image54.png"/><Relationship Id="rId10" Type="http://schemas.openxmlformats.org/officeDocument/2006/relationships/image" Target="../media/image56.png"/><Relationship Id="rId4" Type="http://schemas.openxmlformats.org/officeDocument/2006/relationships/image" Target="../media/image52.png"/><Relationship Id="rId9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1.svg"/><Relationship Id="rId3" Type="http://schemas.openxmlformats.org/officeDocument/2006/relationships/image" Target="../media/image34.jpeg"/><Relationship Id="rId7" Type="http://schemas.openxmlformats.org/officeDocument/2006/relationships/image" Target="../media/image57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57.svg"/><Relationship Id="rId5" Type="http://schemas.openxmlformats.org/officeDocument/2006/relationships/image" Target="../media/image63.png"/><Relationship Id="rId10" Type="http://schemas.openxmlformats.org/officeDocument/2006/relationships/image" Target="../media/image56.png"/><Relationship Id="rId4" Type="http://schemas.openxmlformats.org/officeDocument/2006/relationships/image" Target="../media/image62.png"/><Relationship Id="rId9" Type="http://schemas.openxmlformats.org/officeDocument/2006/relationships/image" Target="../media/image5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4.jpeg"/><Relationship Id="rId7" Type="http://schemas.openxmlformats.org/officeDocument/2006/relationships/image" Target="../media/image22.png"/><Relationship Id="rId12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80.png"/><Relationship Id="rId5" Type="http://schemas.openxmlformats.org/officeDocument/2006/relationships/image" Target="../media/image65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18" Type="http://schemas.openxmlformats.org/officeDocument/2006/relationships/image" Target="../media/image48.png"/><Relationship Id="rId3" Type="http://schemas.openxmlformats.org/officeDocument/2006/relationships/image" Target="../media/image83.png"/><Relationship Id="rId12" Type="http://schemas.openxmlformats.org/officeDocument/2006/relationships/image" Target="../media/image84.png"/><Relationship Id="rId17" Type="http://schemas.openxmlformats.org/officeDocument/2006/relationships/image" Target="../media/image85.png"/><Relationship Id="rId2" Type="http://schemas.openxmlformats.org/officeDocument/2006/relationships/image" Target="../media/image82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11" Type="http://schemas.openxmlformats.org/officeDocument/2006/relationships/image" Target="../media/image81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jpeg"/><Relationship Id="rId5" Type="http://schemas.openxmlformats.org/officeDocument/2006/relationships/image" Target="../media/image87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34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Relationship Id="rId9" Type="http://schemas.openxmlformats.org/officeDocument/2006/relationships/image" Target="../media/image5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7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7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1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svg"/><Relationship Id="rId5" Type="http://schemas.openxmlformats.org/officeDocument/2006/relationships/image" Target="../media/image5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8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2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8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1.jpeg"/><Relationship Id="rId10" Type="http://schemas.openxmlformats.org/officeDocument/2006/relationships/image" Target="../media/image330.png"/><Relationship Id="rId9" Type="http://schemas.openxmlformats.org/officeDocument/2006/relationships/image" Target="../media/image90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2.png"/><Relationship Id="rId7" Type="http://schemas.openxmlformats.org/officeDocument/2006/relationships/image" Target="../media/image11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144" y="5091480"/>
                <a:ext cx="5447544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du bobinage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interne du bobinage en CC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parasite entre les spires du bobinage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Perte par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On a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D’où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GBF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den>
                    </m:f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760" b="5280"/>
          <a:stretch>
            <a:fillRect/>
          </a:stretch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723D10F-DC3E-0502-B8F8-4D38F5670C0A}"/>
              </a:ext>
            </a:extLst>
          </p:cNvPr>
          <p:cNvGrpSpPr/>
          <p:nvPr/>
        </p:nvGrpSpPr>
        <p:grpSpPr>
          <a:xfrm>
            <a:off x="5403867" y="3282846"/>
            <a:ext cx="1609248" cy="2735705"/>
            <a:chOff x="6497897" y="3679700"/>
            <a:chExt cx="1558055" cy="238382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A87804-E793-D915-5A30-57C6AEB52B60}"/>
                </a:ext>
              </a:extLst>
            </p:cNvPr>
            <p:cNvGrpSpPr/>
            <p:nvPr/>
          </p:nvGrpSpPr>
          <p:grpSpPr>
            <a:xfrm>
              <a:off x="6497897" y="3679700"/>
              <a:ext cx="1558055" cy="2383821"/>
              <a:chOff x="6497897" y="3679700"/>
              <a:chExt cx="1558055" cy="2383821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514A741-CB88-186A-C4B1-6DCE3856F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6307" t="10463" r="6981" b="8803"/>
              <a:stretch>
                <a:fillRect/>
              </a:stretch>
            </p:blipFill>
            <p:spPr>
              <a:xfrm>
                <a:off x="6497897" y="3679700"/>
                <a:ext cx="1558055" cy="2383821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442F70-CCD4-8D46-B6DE-910E10217EA2}"/>
                  </a:ext>
                </a:extLst>
              </p:cNvPr>
              <p:cNvSpPr/>
              <p:nvPr/>
            </p:nvSpPr>
            <p:spPr>
              <a:xfrm>
                <a:off x="7432839" y="4056920"/>
                <a:ext cx="337279" cy="54615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671E79-08BE-83DE-FA73-714A8E9F71DE}"/>
                </a:ext>
              </a:extLst>
            </p:cNvPr>
            <p:cNvGrpSpPr/>
            <p:nvPr/>
          </p:nvGrpSpPr>
          <p:grpSpPr>
            <a:xfrm>
              <a:off x="6928661" y="4756793"/>
              <a:ext cx="368691" cy="333760"/>
              <a:chOff x="6928661" y="4756793"/>
              <a:chExt cx="368691" cy="33376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D7D492C5-9B73-C6CA-041A-FE1E349AD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43869" y="4756793"/>
                <a:ext cx="0" cy="333760"/>
              </a:xfrm>
              <a:prstGeom prst="straightConnector1">
                <a:avLst/>
              </a:prstGeom>
              <a:ln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/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oMath>
                      </m:oMathPara>
                    </a14:m>
                    <a:endParaRPr lang="fr-FR" sz="12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349" b="-285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A8C134-BA8E-CC3F-12D8-CF0F721FA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55402" y="5313463"/>
              <a:ext cx="0" cy="33376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/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0833" r="-208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66DF18A-1892-5FE0-EB86-11E4337FC251}"/>
              </a:ext>
            </a:extLst>
          </p:cNvPr>
          <p:cNvSpPr txBox="1"/>
          <p:nvPr/>
        </p:nvSpPr>
        <p:spPr>
          <a:xfrm>
            <a:off x="5723508" y="3772788"/>
            <a:ext cx="7015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Arial Black" panose="020B0A04020102020204" pitchFamily="34" charset="0"/>
              </a:rPr>
              <a:t>MICRO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4"/>
                <a:stretch>
                  <a:fillRect r="-345"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5009745" cy="521710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564559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505,9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346,4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170919"/>
              </a:xfrm>
              <a:prstGeom prst="rect">
                <a:avLst/>
              </a:prstGeom>
              <a:blipFill>
                <a:blip r:embed="rId2"/>
                <a:stretch>
                  <a:fillRect l="-446" b="-101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dirty="0"/>
                  <a:t>L’équation d’onde de la corde est régie par :</a:t>
                </a:r>
                <a:endParaRPr lang="fr-F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i="1" dirty="0"/>
              </a:p>
              <a:p>
                <a:endParaRPr lang="fr-FR" sz="1600" dirty="0"/>
              </a:p>
              <a:p>
                <a:r>
                  <a:rPr lang="fr-FR" sz="1400" dirty="0"/>
                  <a:t>Or la corde est plongée dans le champ de l’aimant, elle créé donc un </a:t>
                </a:r>
                <a:r>
                  <a:rPr lang="fr-FR" sz="1400" b="1" dirty="0"/>
                  <a:t>champ induit </a:t>
                </a:r>
                <a:r>
                  <a:rPr lang="fr-FR" sz="1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400" dirty="0"/>
                  <a:t>Ainsi le flux a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2000" i="1" dirty="0"/>
              </a:p>
              <a:p>
                <a:endParaRPr lang="fr-FR" sz="1400" dirty="0"/>
              </a:p>
              <a:p>
                <a:r>
                  <a:rPr lang="fr-FR" sz="1400" dirty="0"/>
                  <a:t>Avec la </a:t>
                </a:r>
                <a:r>
                  <a:rPr lang="fr-FR" sz="1400" b="1" dirty="0"/>
                  <a:t>Loi d’induction de Faraday </a:t>
                </a:r>
                <a:r>
                  <a:rPr lang="fr-FR" sz="1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fr-FR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i="1" dirty="0">
                  <a:solidFill>
                    <a:schemeClr val="tx1"/>
                  </a:solidFill>
                </a:endParaRPr>
              </a:p>
              <a:p>
                <a:endParaRPr lang="fr-FR" sz="1200" dirty="0">
                  <a:solidFill>
                    <a:schemeClr val="tx1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124075"/>
                <a:ext cx="4367789" cy="4946941"/>
              </a:xfrm>
              <a:prstGeom prst="rect">
                <a:avLst/>
              </a:prstGeom>
              <a:blipFill>
                <a:blip r:embed="rId3"/>
                <a:stretch>
                  <a:fillRect t="-7946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47556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443917"/>
            <a:ext cx="4070565" cy="3627100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a14:m>
                  <a:r>
                    <a:rPr lang="fr-FR" sz="1400" dirty="0"/>
                    <a:t> 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χ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Susceptibilité magnétique de la code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Volume de la corde ‘’magnétisé’’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fr-FR" sz="1400" dirty="0"/>
                    <a:t>: Champ magnétique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endParaRPr lang="fr-FR" sz="1400" dirty="0"/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a14:m>
                  <a:r>
                    <a:rPr lang="fr-FR" sz="1100" dirty="0"/>
                    <a:t> : Amplitude le l’harmonique </a:t>
                  </a:r>
                  <a14:m>
                    <m:oMath xmlns:m="http://schemas.openxmlformats.org/officeDocument/2006/math"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endParaRPr lang="fr-FR" sz="11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 b="-16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7942" y="4216498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/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C3E80D-6DBC-3158-72E1-362EA71CF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754" y="3837217"/>
                <a:ext cx="139333" cy="215444"/>
              </a:xfrm>
              <a:prstGeom prst="rect">
                <a:avLst/>
              </a:prstGeom>
              <a:blipFill>
                <a:blip r:embed="rId7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329555" y="1128397"/>
            <a:ext cx="6737273" cy="4932065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470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1271763" y="5777370"/>
            <a:ext cx="5380497" cy="53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816345" y="1143140"/>
            <a:ext cx="2998100" cy="4040698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5"/>
                  <a:stretch>
                    <a:fillRect l="-203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Corde</a:t>
              </a:r>
              <a:endParaRPr lang="fr-FR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9343-0C4A-09C2-4BE1-1726DED6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DAFC98B-1785-82EC-5E37-557D0582E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3DF98EC-0B88-39F6-5AB0-18F4894A9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44E8AF7-74AE-4F01-5C58-38C912543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0DFDC9-FE78-5F36-54CE-487B9018DB9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EDF79A-FF76-1B83-4B3A-F3A73EF2BAC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9EC5CA-D716-93EF-3E4C-22CABA5A72F1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063BE6-91FD-7201-F3B9-7ACF53D7F0F7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DA5B21-7786-CB40-1B32-87730A218C3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8" cy="22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7810DEA-11EA-4740-767A-6DA625D30C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2E19F9A-9E8C-806B-90F4-DAD3D3096BF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00F0F5D-8D23-77F6-0AC7-B088C31D326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78E4CFA-B463-1598-8CD5-2719125E6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C1F935-DD93-2CEA-C837-2648461B1EA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F60D5F-D905-D484-8EA1-39329F56020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54C3BA-88C1-EAA5-E4CC-5F489F46F6BD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81CC1E8-5980-193A-906F-6C5F07FB28F2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81CC1E8-5980-193A-906F-6C5F07FB28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5A2FCB-A038-BA97-1C0E-703214A174F2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5A2FCB-A038-BA97-1C0E-703214A17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DC1EEE-B40E-993F-A095-8A5C4A44C7D8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DC1EEE-B40E-993F-A095-8A5C4A44C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F692FE60-A0E2-94B3-AD74-E0CA6ADF4376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5D4EFE-9D86-3AE8-EE21-EC92DB792FC7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2395BD-4B02-4B8C-0111-7CBB7F9AC254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Différence de ‘’pente’’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Signaux de même fréquence fondamentale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174E9A87-9CE1-B7C6-2F5E-80F5F8DF7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D98E98A6-937D-FDDB-8628-978295A7F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9F9EC83B-99D1-B130-2637-1907D2518FE8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46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5E99-2CF9-7E0D-79CA-BABAA19AB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D251184-C89D-7B97-57FA-B3C351335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3DB6B27-AA82-27CA-4C59-BED8BD503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FA63362-A7FE-D456-4DFE-76AF9C9F5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8B2583-C897-D79E-5A55-FE07F68B995B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8BA7D4-4F47-C07A-D458-039535C30ED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8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BCCF08D-70B3-E157-EEA1-72C05F75B77B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EC79C7-8A93-8CDB-03E0-AF1F6EBA0AAC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2FDA5-7836-89A4-513F-D23A79CB7D5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8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4022765-3984-7359-05D4-7CAE0CFC9EB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BB2AA81-E672-0837-BD68-1B03A7BDB0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CA1F761A-9FE7-4661-E1FD-548CB5B7D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4A34250-3A97-0AAF-6B6F-C673400F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33B56-FF7D-388A-ECE2-AF982CD8927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A93A-1114-8144-2C24-C6B160717F37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94647-80D0-4EB0-FC94-6216C87463A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/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pPr algn="ctr"/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2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44452B-910B-68CB-0A4F-F4E4DEDBF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5538359" cy="1076129"/>
              </a:xfrm>
              <a:prstGeom prst="rect">
                <a:avLst/>
              </a:prstGeom>
              <a:blipFill>
                <a:blip r:embed="rId7"/>
                <a:stretch>
                  <a:fillRect t="-18132" b="-67033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/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D8FFD-1E35-537E-6054-486D3ADEF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416095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/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4E5089-6E9B-6F7E-BA33-3EFF1F8B5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339" y="179421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4B174E5-2B22-6FCB-F5C2-DFA333A3C499}"/>
              </a:ext>
            </a:extLst>
          </p:cNvPr>
          <p:cNvSpPr txBox="1"/>
          <p:nvPr/>
        </p:nvSpPr>
        <p:spPr>
          <a:xfrm>
            <a:off x="6137339" y="1097861"/>
            <a:ext cx="839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Avec 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8804168-F12A-5B6F-67AF-D3BDF429A8D6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4564F4-4B1E-F872-BAD5-FD19257966FD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Prépondérance du 2</a:t>
              </a:r>
              <a:r>
                <a:rPr lang="fr-FR" baseline="30000" dirty="0"/>
                <a:t>e</a:t>
              </a:r>
              <a:r>
                <a:rPr lang="fr-FR" dirty="0"/>
                <a:t> mode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Forme générale du spectre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4E67BDF8-C69B-9258-DEBB-8095785E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33" name="Graphic 32" descr="Close with solid fill">
              <a:extLst>
                <a:ext uri="{FF2B5EF4-FFF2-40B4-BE49-F238E27FC236}">
                  <a16:creationId xmlns:a16="http://schemas.microsoft.com/office/drawing/2014/main" id="{8D13A339-C2F6-EBA9-6F9A-5D7CA29D0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2DEAF3-B9BA-FC61-92AE-05C68AA66DF6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0879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316B92B-DBC2-CA56-1031-6F628708C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4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152426" cy="1803753"/>
              <a:chOff x="1435741" y="3154410"/>
              <a:chExt cx="1152426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0608" y="4290781"/>
                    <a:ext cx="127111" cy="3538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2727" t="-1754" r="-27273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37625"/>
                    <a:ext cx="199746" cy="353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509" r="-17647" b="-14035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/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4FDF9A-D925-BEE4-0528-54523CEC2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4421555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/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493FE3-1016-C2F7-F503-1AAAEF567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273" y="5408242"/>
                <a:ext cx="139333" cy="215444"/>
              </a:xfrm>
              <a:prstGeom prst="rect">
                <a:avLst/>
              </a:prstGeom>
              <a:blipFill>
                <a:blip r:embed="rId18"/>
                <a:stretch>
                  <a:fillRect l="-26087" t="-33333" r="-100000" b="-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3/2</m:t>
                            </m:r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box>
                          <m:box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h𝑒𝑙</m:t>
                                    </m:r>
                                  </m:sub>
                                </m:s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den>
                            </m:f>
                          </m:e>
                        </m:box>
                        <m:func>
                          <m:func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𝑓𝑡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547C-CC5A-E31E-1F9D-26F86D42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BCCA6F7E-15C3-01BE-D43E-05264890E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BD147E4-97B9-BAC6-E2D8-36DF7ABD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90D456A-82CE-3473-7A14-69676356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E55A32-62CF-1F65-DEE4-FAD3D88ADDA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3EBB9E-6CEF-8902-7344-85A1FC61702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9199" y="2427394"/>
            <a:ext cx="2699997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4EF85BB-C332-8E1A-6E21-11747112003E}"/>
              </a:ext>
            </a:extLst>
          </p:cNvPr>
          <p:cNvSpPr txBox="1"/>
          <p:nvPr/>
        </p:nvSpPr>
        <p:spPr>
          <a:xfrm>
            <a:off x="440839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98CB01-C488-FE93-4C79-5496BC2794D9}"/>
              </a:ext>
            </a:extLst>
          </p:cNvPr>
          <p:cNvSpPr txBox="1"/>
          <p:nvPr/>
        </p:nvSpPr>
        <p:spPr>
          <a:xfrm>
            <a:off x="6117557" y="4863787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404684-1751-7280-02F9-3C18FC8CD18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840" y="2429543"/>
            <a:ext cx="2699997" cy="22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CF2CACA-6E21-A096-6360-EC29170DE8D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6C9BE48-2388-1286-3D6D-BC479E0FDB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22C8462A-21BD-D374-1544-98E3DBB3A45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4838E5-B9D2-C7AA-9C7F-F2F307F60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B6A3F6-9232-8782-F45D-A7BAE812B2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F5C338-911C-0D09-E8CC-CB6C04FFECE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4661E5B9-D467-E189-F6A6-15DEB1531408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7557" y="2400394"/>
            <a:ext cx="2700000" cy="230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5FF2EA-3256-F71C-D1C8-3F1D5E73E9F1}"/>
              </a:ext>
            </a:extLst>
          </p:cNvPr>
          <p:cNvSpPr txBox="1"/>
          <p:nvPr/>
        </p:nvSpPr>
        <p:spPr>
          <a:xfrm>
            <a:off x="3279198" y="4867365"/>
            <a:ext cx="27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/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/>
                  <a:t>Rappel théorie :</a:t>
                </a:r>
              </a:p>
              <a:p>
                <a:endParaRPr lang="fr-FR" sz="12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fr-FR" sz="1200" dirty="0">
                    <a:solidFill>
                      <a:schemeClr val="tx1"/>
                    </a:solidFill>
                  </a:rPr>
                  <a:t>   ou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𝑁𝑆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(2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C3ADAD-9B72-5DC0-B7EB-9142F8E2D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39" y="1096755"/>
                <a:ext cx="8376718" cy="10761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5B12C4D7-3A31-8432-1F26-A75D635B9D3C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EA3780-EC96-1D00-BF87-8544C2CBBC07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Analyse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Proportionnalité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Linéarité</a:t>
              </a:r>
            </a:p>
          </p:txBody>
        </p:sp>
        <p:pic>
          <p:nvPicPr>
            <p:cNvPr id="31" name="Graphic 30" descr="Checkmark with solid fill">
              <a:extLst>
                <a:ext uri="{FF2B5EF4-FFF2-40B4-BE49-F238E27FC236}">
                  <a16:creationId xmlns:a16="http://schemas.microsoft.com/office/drawing/2014/main" id="{64F006DB-E3E1-21D1-21A7-2FDF36244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6" name="Graphic 5" descr="Checkmark with solid fill">
              <a:extLst>
                <a:ext uri="{FF2B5EF4-FFF2-40B4-BE49-F238E27FC236}">
                  <a16:creationId xmlns:a16="http://schemas.microsoft.com/office/drawing/2014/main" id="{35AB09C4-3415-F98D-CA88-2CCE74A53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0920" y="325924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8354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497259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0EB545-BE7E-8AD0-E286-8195F37AB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=7,7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=73,7%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Estimation de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Micro ponctuel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297959-A9E0-C237-3E10-5F1C61755A38}"/>
              </a:ext>
            </a:extLst>
          </p:cNvPr>
          <p:cNvGrpSpPr/>
          <p:nvPr/>
        </p:nvGrpSpPr>
        <p:grpSpPr>
          <a:xfrm>
            <a:off x="349675" y="2838894"/>
            <a:ext cx="8444650" cy="3012500"/>
            <a:chOff x="349675" y="2838894"/>
            <a:chExt cx="8444650" cy="30125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66C661-B607-061A-A9F8-3C818C718700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Micro Singlecoil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Sensible aux champs extérieurs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Spectre riche dans les hautes fréquences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Micro Humbucker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Filtrage spatial accru qui atténue certaines harmoniques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Donc :</a:t>
              </a:r>
            </a:p>
            <a:p>
              <a:r>
                <a:rPr lang="fr-FR" dirty="0"/>
                <a:t>Nécessité de faire des </a:t>
              </a:r>
              <a:r>
                <a:rPr lang="fr-FR" u="sng" dirty="0">
                  <a:solidFill>
                    <a:srgbClr val="C00000"/>
                  </a:solidFill>
                </a:rPr>
                <a:t>compromis</a:t>
              </a:r>
            </a:p>
          </p:txBody>
        </p:sp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7B024F95-B138-985B-1165-9E0306675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2658019" y="3900085"/>
              <a:ext cx="672476" cy="540000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1E4BF96-13FC-AAE7-FE03-F72E37775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2436682" y="2838894"/>
              <a:ext cx="655914" cy="540000"/>
            </a:xfrm>
            <a:prstGeom prst="rect">
              <a:avLst/>
            </a:prstGeom>
            <a:effectLst>
              <a:softEdge rad="12700"/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raphic 16" descr="Checkmark with solid fill">
              <a:extLst>
                <a:ext uri="{FF2B5EF4-FFF2-40B4-BE49-F238E27FC236}">
                  <a16:creationId xmlns:a16="http://schemas.microsoft.com/office/drawing/2014/main" id="{5012B3B3-5B7E-B87A-8C7E-CE9EC8508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19" name="Graphic 18" descr="Checkmark with solid fill">
              <a:extLst>
                <a:ext uri="{FF2B5EF4-FFF2-40B4-BE49-F238E27FC236}">
                  <a16:creationId xmlns:a16="http://schemas.microsoft.com/office/drawing/2014/main" id="{2F3153A6-DA11-EE61-3CA2-F2B46B137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4377858"/>
              <a:ext cx="252000" cy="252000"/>
            </a:xfrm>
            <a:prstGeom prst="rect">
              <a:avLst/>
            </a:prstGeom>
          </p:spPr>
        </p:pic>
        <p:pic>
          <p:nvPicPr>
            <p:cNvPr id="21" name="Graphic 20" descr="Close with solid fill">
              <a:extLst>
                <a:ext uri="{FF2B5EF4-FFF2-40B4-BE49-F238E27FC236}">
                  <a16:creationId xmlns:a16="http://schemas.microsoft.com/office/drawing/2014/main" id="{24AE6B43-99B1-097D-E732-FBC3A25B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  <p:pic>
          <p:nvPicPr>
            <p:cNvPr id="23" name="Graphic 22" descr="Close with solid fill">
              <a:extLst>
                <a:ext uri="{FF2B5EF4-FFF2-40B4-BE49-F238E27FC236}">
                  <a16:creationId xmlns:a16="http://schemas.microsoft.com/office/drawing/2014/main" id="{4E04D3B4-BD96-EA47-260F-84C021B0D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13775" y="4690634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Algorithme de Levenberg-Marquardt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Difficultés rencontrées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non fonctionnel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Signal non exploitable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endParaRPr lang="fr-FR" sz="14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40" y="1121470"/>
            <a:ext cx="849111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fr-FR" sz="1400" b="1" dirty="0"/>
              <a:t>[4] </a:t>
            </a:r>
            <a:r>
              <a:rPr lang="fr-FR" altLang="fr-FR" sz="1400" dirty="0">
                <a:latin typeface="Arial" panose="020B0604020202020204" pitchFamily="34" charset="0"/>
              </a:rPr>
              <a:t>N. G. Horton and T. R. Moore, “Modeling the </a:t>
            </a:r>
            <a:r>
              <a:rPr lang="fr-FR" altLang="fr-FR" sz="1400" dirty="0" err="1">
                <a:latin typeface="Arial" panose="020B0604020202020204" pitchFamily="34" charset="0"/>
              </a:rPr>
              <a:t>magnetic</a:t>
            </a:r>
            <a:r>
              <a:rPr lang="fr-FR" altLang="fr-FR" sz="1400" dirty="0">
                <a:latin typeface="Arial" panose="020B0604020202020204" pitchFamily="34" charset="0"/>
              </a:rPr>
              <a:t> pickup of an electric guitar,” </a:t>
            </a:r>
            <a:r>
              <a:rPr lang="fr-FR" altLang="fr-FR" sz="1400" i="1" dirty="0">
                <a:latin typeface="Arial" panose="020B0604020202020204" pitchFamily="34" charset="0"/>
              </a:rPr>
              <a:t>American Journal of </a:t>
            </a:r>
            <a:r>
              <a:rPr lang="fr-FR" altLang="fr-FR" sz="1400" i="1" dirty="0" err="1">
                <a:latin typeface="Arial" panose="020B0604020202020204" pitchFamily="34" charset="0"/>
              </a:rPr>
              <a:t>Physics</a:t>
            </a:r>
            <a:r>
              <a:rPr lang="fr-FR" altLang="fr-FR" sz="1400" dirty="0">
                <a:latin typeface="Arial" panose="020B0604020202020204" pitchFamily="34" charset="0"/>
              </a:rPr>
              <a:t>, vol. 77, no. 2, pp. 144–150, 2009, </a:t>
            </a:r>
            <a:r>
              <a:rPr lang="fr-FR" altLang="fr-FR" sz="1400" dirty="0" err="1">
                <a:latin typeface="Arial" panose="020B0604020202020204" pitchFamily="34" charset="0"/>
              </a:rPr>
              <a:t>doi</a:t>
            </a:r>
            <a:r>
              <a:rPr lang="fr-FR" altLang="fr-FR" sz="1400" dirty="0">
                <a:latin typeface="Arial" panose="020B0604020202020204" pitchFamily="34" charset="0"/>
              </a:rPr>
              <a:t>: 10.1119/1.2990663.</a:t>
            </a:r>
            <a:endParaRPr lang="fr-FR" sz="1400" dirty="0"/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[6]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[9]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3.1. Modèle Théorique : Notations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3.2. Modèle Théorique : Micro SingleCoil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3.3 Modèle Théorique : Micro Humbucker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6EE3699D-46D5-2B36-C196-9E11A94CA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5EFADAD-C3A6-A8E3-9DC1-9398FA59CC54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F3696E1-2746-792F-E1BE-E73591F4906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B6D7A170-2D3D-68AD-F6C5-30ED8CE3B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A5ACE84-5626-8115-C7EF-EDF0A9FC3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7AB326F-B451-3291-F97D-2AF3285609E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664590-68FE-ADBC-2FE3-CBDCBE8C5CA4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939978-C48D-DF75-B928-C37568D0A9D7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7D1DF2-943B-5CAF-13EA-3EFD05819CC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679511-ED67-39F6-B54C-E3546EA7EBF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ooter Placeholder 2">
              <a:extLst>
                <a:ext uri="{FF2B5EF4-FFF2-40B4-BE49-F238E27FC236}">
                  <a16:creationId xmlns:a16="http://schemas.microsoft.com/office/drawing/2014/main" id="{08F08D51-7AC0-340B-6A71-580DDDD059D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3.4. Modèle Théorique : Action d’un champ parasite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4.1.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ADCD0-05A8-4491-060C-60273600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199AE-6BDA-9E78-D2AC-12B65BFA809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A2FE95A-7C58-C364-4496-F6F80B21C1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6DFC31C-7A2F-1100-C5CB-76209A433C6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5.1. Micro non fonctionnel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12408-1335-7F77-5E5C-005F476AC79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 Signal non exploitable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3541</Words>
  <Application>Microsoft Office PowerPoint</Application>
  <PresentationFormat>On-screen Show (4:3)</PresentationFormat>
  <Paragraphs>838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682</cp:revision>
  <dcterms:created xsi:type="dcterms:W3CDTF">2025-06-09T15:35:56Z</dcterms:created>
  <dcterms:modified xsi:type="dcterms:W3CDTF">2026-02-12T17:50:47Z</dcterms:modified>
</cp:coreProperties>
</file>