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2"/>
  </p:notesMasterIdLst>
  <p:sldIdLst>
    <p:sldId id="256" r:id="rId2"/>
    <p:sldId id="340" r:id="rId3"/>
    <p:sldId id="338" r:id="rId4"/>
    <p:sldId id="380" r:id="rId5"/>
    <p:sldId id="335" r:id="rId6"/>
    <p:sldId id="337" r:id="rId7"/>
    <p:sldId id="336" r:id="rId8"/>
    <p:sldId id="265" r:id="rId9"/>
    <p:sldId id="374" r:id="rId10"/>
    <p:sldId id="363" r:id="rId11"/>
    <p:sldId id="356" r:id="rId12"/>
    <p:sldId id="345" r:id="rId13"/>
    <p:sldId id="346" r:id="rId14"/>
    <p:sldId id="360" r:id="rId15"/>
    <p:sldId id="362" r:id="rId16"/>
    <p:sldId id="375" r:id="rId17"/>
    <p:sldId id="329" r:id="rId18"/>
    <p:sldId id="327" r:id="rId19"/>
    <p:sldId id="376" r:id="rId20"/>
    <p:sldId id="333" r:id="rId21"/>
    <p:sldId id="361" r:id="rId22"/>
    <p:sldId id="324" r:id="rId23"/>
    <p:sldId id="313" r:id="rId24"/>
    <p:sldId id="377" r:id="rId25"/>
    <p:sldId id="378" r:id="rId26"/>
    <p:sldId id="379" r:id="rId27"/>
    <p:sldId id="330" r:id="rId28"/>
    <p:sldId id="303" r:id="rId29"/>
    <p:sldId id="271" r:id="rId30"/>
    <p:sldId id="302" r:id="rId31"/>
    <p:sldId id="348" r:id="rId32"/>
    <p:sldId id="277" r:id="rId33"/>
    <p:sldId id="304" r:id="rId34"/>
    <p:sldId id="305" r:id="rId35"/>
    <p:sldId id="311" r:id="rId36"/>
    <p:sldId id="365" r:id="rId37"/>
    <p:sldId id="370" r:id="rId38"/>
    <p:sldId id="368" r:id="rId39"/>
    <p:sldId id="372" r:id="rId40"/>
    <p:sldId id="373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1" autoAdjust="0"/>
    <p:restoredTop sz="95975" autoAdjust="0"/>
  </p:normalViewPr>
  <p:slideViewPr>
    <p:cSldViewPr snapToGrid="0">
      <p:cViewPr varScale="1">
        <p:scale>
          <a:sx n="102" d="100"/>
          <a:sy n="102" d="100"/>
        </p:scale>
        <p:origin x="10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04/02/2026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2D983-FEDD-129E-66D3-3E9D68D2B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E9B9E-86DF-68E9-BA09-9A76688947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A0FC2-6DA7-96A4-7FDE-ED9484031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A559B-9094-2297-95FA-531E8A0D50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35894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AC5D8-A135-20B1-7E79-33C2CED3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D2B1BA-3D63-7D2F-D40B-22E17C2930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611BE0-EEB8-F6A5-81A5-5E2E8282A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B016B-0136-4506-8492-5D80EF245A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79750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5F695-4E49-870A-29E7-C511751B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64BC5-1BB3-FFE7-EC85-E200E94427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F961D-1039-9AE2-52D5-0A1669232B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10549-939F-B010-DB99-3739C13F2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690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2019F-F1BE-DF3B-F82C-86311F357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5589B-1B2F-16CC-DC16-050AEDD56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4C7721-ADC3-F0EE-59B5-95C24C29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8639B4-DC19-F263-1927-B1E1323D5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07120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2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28.png"/><Relationship Id="rId10" Type="http://schemas.openxmlformats.org/officeDocument/2006/relationships/image" Target="../media/image30.png"/><Relationship Id="rId4" Type="http://schemas.openxmlformats.org/officeDocument/2006/relationships/image" Target="../media/image27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2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5" Type="http://schemas.openxmlformats.org/officeDocument/2006/relationships/image" Target="../media/image33.png"/><Relationship Id="rId4" Type="http://schemas.microsoft.com/office/2007/relationships/hdphoto" Target="../media/hdphoto3.wdp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15.png"/><Relationship Id="rId3" Type="http://schemas.openxmlformats.org/officeDocument/2006/relationships/image" Target="../media/image34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6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19" Type="http://schemas.openxmlformats.org/officeDocument/2006/relationships/image" Target="../media/image16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30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51.png"/><Relationship Id="rId10" Type="http://schemas.openxmlformats.org/officeDocument/2006/relationships/image" Target="../media/image53.png"/><Relationship Id="rId4" Type="http://schemas.openxmlformats.org/officeDocument/2006/relationships/image" Target="../media/image34.jpeg"/><Relationship Id="rId9" Type="http://schemas.openxmlformats.org/officeDocument/2006/relationships/image" Target="../media/image28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7.png"/><Relationship Id="rId4" Type="http://schemas.openxmlformats.org/officeDocument/2006/relationships/image" Target="../media/image3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2.png"/><Relationship Id="rId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microsoft.com/office/2007/relationships/hdphoto" Target="../media/hdphoto5.wdp"/><Relationship Id="rId7" Type="http://schemas.microsoft.com/office/2007/relationships/hdphoto" Target="../media/hdphoto6.wdp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4.png"/><Relationship Id="rId4" Type="http://schemas.openxmlformats.org/officeDocument/2006/relationships/image" Target="../media/image61.png"/><Relationship Id="rId9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34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3.png"/><Relationship Id="rId9" Type="http://schemas.openxmlformats.org/officeDocument/2006/relationships/image" Target="../media/image7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34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441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4.jpeg"/><Relationship Id="rId7" Type="http://schemas.openxmlformats.org/officeDocument/2006/relationships/image" Target="../media/image22.png"/><Relationship Id="rId12" Type="http://schemas.openxmlformats.org/officeDocument/2006/relationships/image" Target="../media/image7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microsoft.com/office/2007/relationships/hdphoto" Target="../media/hdphoto7.wdp"/><Relationship Id="rId11" Type="http://schemas.openxmlformats.org/officeDocument/2006/relationships/image" Target="../media/image80.png"/><Relationship Id="rId5" Type="http://schemas.openxmlformats.org/officeDocument/2006/relationships/image" Target="../media/image75.png"/><Relationship Id="rId10" Type="http://schemas.openxmlformats.org/officeDocument/2006/relationships/image" Target="../media/image79.png"/><Relationship Id="rId4" Type="http://schemas.openxmlformats.org/officeDocument/2006/relationships/image" Target="../media/image77.png"/><Relationship Id="rId9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0.png"/><Relationship Id="rId3" Type="http://schemas.openxmlformats.org/officeDocument/2006/relationships/image" Target="../media/image83.png"/><Relationship Id="rId12" Type="http://schemas.openxmlformats.org/officeDocument/2006/relationships/image" Target="../media/image810.png"/><Relationship Id="rId17" Type="http://schemas.openxmlformats.org/officeDocument/2006/relationships/image" Target="../media/image85.png"/><Relationship Id="rId2" Type="http://schemas.openxmlformats.org/officeDocument/2006/relationships/image" Target="../media/image82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00.png"/><Relationship Id="rId5" Type="http://schemas.microsoft.com/office/2007/relationships/hdphoto" Target="../media/hdphoto1.wdp"/><Relationship Id="rId15" Type="http://schemas.openxmlformats.org/officeDocument/2006/relationships/image" Target="../media/image520.png"/><Relationship Id="rId10" Type="http://schemas.openxmlformats.org/officeDocument/2006/relationships/image" Target="../media/image790.png"/><Relationship Id="rId4" Type="http://schemas.openxmlformats.org/officeDocument/2006/relationships/image" Target="../media/image18.png"/><Relationship Id="rId9" Type="http://schemas.openxmlformats.org/officeDocument/2006/relationships/image" Target="../media/image780.png"/><Relationship Id="rId14" Type="http://schemas.openxmlformats.org/officeDocument/2006/relationships/image" Target="../media/image830.png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8.wdp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jpeg"/><Relationship Id="rId5" Type="http://schemas.openxmlformats.org/officeDocument/2006/relationships/image" Target="../media/image87.png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86.png"/><Relationship Id="rId4" Type="http://schemas.openxmlformats.org/officeDocument/2006/relationships/image" Target="../media/image8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8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6.png"/><Relationship Id="rId4" Type="http://schemas.openxmlformats.org/officeDocument/2006/relationships/image" Target="../media/image8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svg"/><Relationship Id="rId3" Type="http://schemas.openxmlformats.org/officeDocument/2006/relationships/image" Target="../media/image16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svg"/><Relationship Id="rId5" Type="http://schemas.openxmlformats.org/officeDocument/2006/relationships/image" Target="../media/image89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2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9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82.jpeg"/><Relationship Id="rId10" Type="http://schemas.openxmlformats.org/officeDocument/2006/relationships/image" Target="../media/image330.png"/><Relationship Id="rId9" Type="http://schemas.openxmlformats.org/officeDocument/2006/relationships/image" Target="../media/image101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0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03.png"/><Relationship Id="rId7" Type="http://schemas.openxmlformats.org/officeDocument/2006/relationships/image" Target="../media/image11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10" Type="http://schemas.openxmlformats.org/officeDocument/2006/relationships/image" Target="../media/image117.png"/><Relationship Id="rId4" Type="http://schemas.openxmlformats.org/officeDocument/2006/relationships/image" Target="../media/image111.png"/><Relationship Id="rId9" Type="http://schemas.openxmlformats.org/officeDocument/2006/relationships/image" Target="../media/image11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9.wdp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sz="1050" b="1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0899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50177681"/>
              </p:ext>
            </p:extLst>
          </p:nvPr>
        </p:nvGraphicFramePr>
        <p:xfrm>
          <a:off x="622219" y="15572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6878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47352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47299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391B9131-EB23-2B12-2B61-FA9315644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C375457-0E9C-DB85-2DE0-B08ED03CF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8417795-70F9-02E7-96CE-574852CA0F0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B5C65-7A37-1B90-FBC8-8C517E9FE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B411610-91CC-1D3E-B007-8E0F6F5EEE2B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850E460-ACA2-5F53-1BA7-DFA31DA1F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C335420-6FBF-ADA3-65E6-29E798D8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A5B9C0-C73A-6300-0522-20EE954AE8F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2A31A0-C03C-F3ED-69F4-C6FFE6CFE4F6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F2AC397-DBC1-5503-0B8B-93145E542A3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792449-E4D3-8512-C655-89A9C46CAF2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B08D73A0-6C90-69E7-457F-60D0EE1AF3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E365F-73BC-124E-0AA1-05822C89C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08FB3C2F-F634-79DF-634E-4FB985FD79C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600" b="1" dirty="0"/>
              <a:t>Introduction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DAE2E80-E912-D97C-8D4D-D8FA1169D84C}"/>
              </a:ext>
            </a:extLst>
          </p:cNvPr>
          <p:cNvGrpSpPr/>
          <p:nvPr/>
        </p:nvGrpSpPr>
        <p:grpSpPr>
          <a:xfrm>
            <a:off x="330200" y="978128"/>
            <a:ext cx="8498627" cy="4901743"/>
            <a:chOff x="330200" y="1423280"/>
            <a:chExt cx="8498627" cy="4901743"/>
          </a:xfrm>
        </p:grpSpPr>
        <p:pic>
          <p:nvPicPr>
            <p:cNvPr id="6" name="Picture 5" descr="Guitar Pickup Market By Region">
              <a:extLst>
                <a:ext uri="{FF2B5EF4-FFF2-40B4-BE49-F238E27FC236}">
                  <a16:creationId xmlns:a16="http://schemas.microsoft.com/office/drawing/2014/main" id="{6DA00D97-DD6A-62D3-2FEF-6FDA183FC4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01" t="1" r="88" b="1662"/>
            <a:stretch>
              <a:fillRect/>
            </a:stretch>
          </p:blipFill>
          <p:spPr>
            <a:xfrm>
              <a:off x="330200" y="1423280"/>
              <a:ext cx="8498627" cy="469684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E2E4591E-213D-DD3D-F756-86FF1B6789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4285" y="5785023"/>
              <a:ext cx="766733" cy="540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6935B24-D3D4-E1C7-7221-E3E13E203B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697" y="5785023"/>
              <a:ext cx="766313" cy="540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65A42A2-4676-292B-E960-C64B3D3DE5C5}"/>
                </a:ext>
              </a:extLst>
            </p:cNvPr>
            <p:cNvSpPr/>
            <p:nvPr/>
          </p:nvSpPr>
          <p:spPr>
            <a:xfrm>
              <a:off x="1119987" y="3792511"/>
              <a:ext cx="2627554" cy="1796705"/>
            </a:xfrm>
            <a:prstGeom prst="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23B1C9B-ECF9-F287-89FF-67656642FDEC}"/>
                </a:ext>
              </a:extLst>
            </p:cNvPr>
            <p:cNvSpPr txBox="1"/>
            <p:nvPr/>
          </p:nvSpPr>
          <p:spPr>
            <a:xfrm>
              <a:off x="1985724" y="3452852"/>
              <a:ext cx="7859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dirty="0">
                  <a:solidFill>
                    <a:srgbClr val="C00000"/>
                  </a:solidFill>
                  <a:latin typeface="Arial Black" panose="020B0A04020102020204" pitchFamily="34" charset="0"/>
                </a:rPr>
                <a:t>60%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5538530-AEDA-8079-4FC7-7FE95B066120}"/>
              </a:ext>
            </a:extLst>
          </p:cNvPr>
          <p:cNvSpPr txBox="1"/>
          <p:nvPr/>
        </p:nvSpPr>
        <p:spPr>
          <a:xfrm>
            <a:off x="1323303" y="4636845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D38844-6458-856C-27C9-4A869A89F20A}"/>
              </a:ext>
            </a:extLst>
          </p:cNvPr>
          <p:cNvSpPr txBox="1"/>
          <p:nvPr/>
        </p:nvSpPr>
        <p:spPr>
          <a:xfrm>
            <a:off x="4427185" y="30077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18.2%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1E00042-FA40-4722-DEE9-BCC43CF6F914}"/>
              </a:ext>
            </a:extLst>
          </p:cNvPr>
          <p:cNvSpPr txBox="1"/>
          <p:nvPr/>
        </p:nvSpPr>
        <p:spPr>
          <a:xfrm>
            <a:off x="5919010" y="2526212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13.1%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81727A-1BF8-121E-D477-3D1C7E718221}"/>
              </a:ext>
            </a:extLst>
          </p:cNvPr>
          <p:cNvSpPr txBox="1"/>
          <p:nvPr/>
        </p:nvSpPr>
        <p:spPr>
          <a:xfrm>
            <a:off x="7475333" y="221595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8.7%</a:t>
            </a:r>
          </a:p>
        </p:txBody>
      </p:sp>
    </p:spTree>
    <p:extLst>
      <p:ext uri="{BB962C8B-B14F-4D97-AF65-F5344CB8AC3E}">
        <p14:creationId xmlns:p14="http://schemas.microsoft.com/office/powerpoint/2010/main" val="3183775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0EE9C1D9-D262-11D0-9BC5-9F3CCB213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1" name="Footer Placeholder 2">
            <a:extLst>
              <a:ext uri="{FF2B5EF4-FFF2-40B4-BE49-F238E27FC236}">
                <a16:creationId xmlns:a16="http://schemas.microsoft.com/office/drawing/2014/main" id="{7BDCDD4D-4B66-2C58-F3EC-5C0B5C1B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Introduction</a:t>
              </a:r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C075A36E-F98A-813D-84C4-58FB63CA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7" y="1712718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Problématique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E15C5062-7476-D32D-8882-11E83F153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729EB-D0D7-3B68-581B-D6A05530F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14B4AA-2C2C-7D08-E999-257308E1354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BAC6AF7-D80B-334A-E503-388FBB7F0B40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0992E5-AF2D-3639-9696-6FF62E43732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E534E1B-4F89-E291-DF2A-28FE3CE800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2B99565-5333-2089-C925-A7A8B6810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8341C9F-584A-66FF-9B64-51EB3CCA08E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0F9422B7-B165-C834-2130-92D402B216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7163994-BA1F-AA7D-2A07-3939815A7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12CB9E37-9841-478B-DE9B-5613E58F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394BD4-D4CA-42B5-5EB4-DC1CC05CF34C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D24B2076-9AFE-688B-EE16-8F10860C9FED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311CE323-5E17-50D8-3A2C-B8E10B291E42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2D4ECFE8-1897-2B65-CB50-2C10194FD700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4352A75-E073-69EF-A7F3-406668A45F3F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9AA72A6-05D9-9C6E-8AFF-9F0BEAFF5662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1FBCB9F7-25DC-0140-A000-2C3DA2824B6A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132DFFD4-5F74-1958-26B5-5C4362EBA6F1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6444AEF1-23EB-B69E-8CD3-608C85D7C2F6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41344805-0219-20D8-6BF5-5DE11A767CB9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8EC0128F-C980-BFF5-B028-824BED7C9B0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1C6AF476-6EEB-B5C8-234C-FE6F30DB818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0FEE6261-805B-2861-9864-57E78B72CB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377AB9F7-D223-922E-30F2-4B5238ED60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r="-5333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6ABAACC-CFA5-03E7-D930-3BCEFDFA9F4A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73FED51-CB52-7E5B-F5E6-F6CBC427541B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4D2AFF-C6FC-91C7-0345-000C3DB9D8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8A99ED0-7F9A-4A1A-990B-68E0E783AC40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71D1D5-65D4-6ED8-C991-CB32106BCDB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563003-8BF6-82A1-7DDE-D67535E7DF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F3EC3ECE-C50D-0611-3EF8-8F9F94A844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AC152979-7945-49EF-C493-E02BDDCA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665977-0C92-8AFF-0119-0F568D315F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23607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995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3838524" y="5091480"/>
                <a:ext cx="4654783" cy="688073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+ 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LC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amp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05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p</m:t>
                                  </m:r>
                                </m:sub>
                              </m:sSub>
                            </m:den>
                          </m:f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524" y="5091480"/>
                <a:ext cx="4654783" cy="6880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4008208" y="5823997"/>
            <a:ext cx="43478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/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Modèle</a:t>
                </a:r>
              </a:p>
              <a:p>
                <a:pPr algn="ctr"/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Force électromotrice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FEM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Tension induite dans le micro par la vibration de la corde</a:t>
                </a:r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Inductance série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Inductance de la bobine du micro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série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en CC du micro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Condensateur parallèle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Capacité interne du micro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parallèle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due aux courants de Foucault</a:t>
                </a: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Resistance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amp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Resistance d’entrée d’un amplificateur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3B7C302-CEAE-E02C-8A9F-5586C35103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10401"/>
                <a:ext cx="2878491" cy="496061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3C03D690-8EC1-39C0-78A9-76F7F54EC971}"/>
              </a:ext>
            </a:extLst>
          </p:cNvPr>
          <p:cNvGrpSpPr/>
          <p:nvPr/>
        </p:nvGrpSpPr>
        <p:grpSpPr>
          <a:xfrm>
            <a:off x="3442144" y="1139891"/>
            <a:ext cx="5447544" cy="3869802"/>
            <a:chOff x="1054903" y="1363393"/>
            <a:chExt cx="4626939" cy="360000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15F175ED-75BD-0594-4496-83640534104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D2C8B805-5A00-DF26-9274-1372E1E8BC4E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F6692-02DB-2BAD-9736-3F7A9C46E824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C733BCE-A9AF-5C2C-0150-DCF00D160A00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DA97779-86EB-D4C5-0616-D79902CA7A03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666622-D887-C02B-48A3-3C066C5B2CED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C13F4F8-18A5-4057-201D-4D1070B2E781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943E8A-1FC6-FC7C-384C-53948D2FB57F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2D71FB5-B582-D158-98B2-AFA7CCD504A8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/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BEA564-E231-D34A-1E71-EDA0435E74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3719" y="3036680"/>
                  <a:ext cx="321178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660" r="-13208" b="-43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4068272" y="4697849"/>
            <a:ext cx="4626939" cy="26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B61DF536-AB20-09C4-4CD2-C37677694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7EBF26C-5DCD-6E88-B3A2-94B398912E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63026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919" y="492278"/>
            <a:ext cx="634848" cy="634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/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noFill/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Objectif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Déterminer l’impédance du micro en fonction de la fréquence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Méthode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Pont diviseur de tension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On a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                           D’où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fr-FR" sz="1600" b="0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Z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 = </m:t>
                    </m:r>
                    <m:r>
                      <m:rPr>
                        <m:sty m:val="p"/>
                      </m:rP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U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GBF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den>
                    </m:f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U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</m:den>
                    </m:f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GBF</m:t>
                        </m:r>
                      </m:sub>
                    </m:sSub>
                  </m:oMath>
                </a14:m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endParaRPr lang="fr-FR" sz="16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C0E1E9-9630-1795-4D01-63EDE489C4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1656" y="1210777"/>
                <a:ext cx="3617103" cy="4906153"/>
              </a:xfrm>
              <a:prstGeom prst="rect">
                <a:avLst/>
              </a:prstGeom>
              <a:blipFill>
                <a:blip r:embed="rId2"/>
                <a:stretch>
                  <a:fillRect l="-501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301DC408-888A-6405-0042-8A6DE09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3A675C6-213A-E88E-59F1-7172A68963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760" b="5280"/>
          <a:stretch>
            <a:fillRect/>
          </a:stretch>
        </p:blipFill>
        <p:spPr>
          <a:xfrm>
            <a:off x="281944" y="1210777"/>
            <a:ext cx="4913871" cy="4906153"/>
          </a:xfrm>
          <a:prstGeom prst="rect">
            <a:avLst/>
          </a:prstGeom>
          <a:effectLst>
            <a:softEdge rad="31750"/>
          </a:effectLst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A723D10F-DC3E-0502-B8F8-4D38F5670C0A}"/>
              </a:ext>
            </a:extLst>
          </p:cNvPr>
          <p:cNvGrpSpPr/>
          <p:nvPr/>
        </p:nvGrpSpPr>
        <p:grpSpPr>
          <a:xfrm>
            <a:off x="5403867" y="3282846"/>
            <a:ext cx="1609248" cy="2735705"/>
            <a:chOff x="6497897" y="3679700"/>
            <a:chExt cx="1558055" cy="238382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BA87804-E793-D915-5A30-57C6AEB52B60}"/>
                </a:ext>
              </a:extLst>
            </p:cNvPr>
            <p:cNvGrpSpPr/>
            <p:nvPr/>
          </p:nvGrpSpPr>
          <p:grpSpPr>
            <a:xfrm>
              <a:off x="6497897" y="3679700"/>
              <a:ext cx="1558055" cy="2383821"/>
              <a:chOff x="6497897" y="3679700"/>
              <a:chExt cx="1558055" cy="2383821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514A741-CB88-186A-C4B1-6DCE3856F2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6307" t="10463" r="6981" b="8803"/>
              <a:stretch>
                <a:fillRect/>
              </a:stretch>
            </p:blipFill>
            <p:spPr>
              <a:xfrm>
                <a:off x="6497897" y="3679700"/>
                <a:ext cx="1558055" cy="2383821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442F70-CCD4-8D46-B6DE-910E10217EA2}"/>
                  </a:ext>
                </a:extLst>
              </p:cNvPr>
              <p:cNvSpPr/>
              <p:nvPr/>
            </p:nvSpPr>
            <p:spPr>
              <a:xfrm>
                <a:off x="7432839" y="4056920"/>
                <a:ext cx="337279" cy="54615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D7671E79-08BE-83DE-FA73-714A8E9F71DE}"/>
                </a:ext>
              </a:extLst>
            </p:cNvPr>
            <p:cNvGrpSpPr/>
            <p:nvPr/>
          </p:nvGrpSpPr>
          <p:grpSpPr>
            <a:xfrm>
              <a:off x="6928661" y="4756793"/>
              <a:ext cx="368691" cy="333760"/>
              <a:chOff x="6928661" y="4756793"/>
              <a:chExt cx="368691" cy="333760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D7D492C5-9B73-C6CA-041A-FE1E349AD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43869" y="4756793"/>
                <a:ext cx="0" cy="333760"/>
              </a:xfrm>
              <a:prstGeom prst="straightConnector1">
                <a:avLst/>
              </a:prstGeom>
              <a:ln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/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  <m:t>GBF</m:t>
                              </m:r>
                            </m:sub>
                          </m:sSub>
                        </m:oMath>
                      </m:oMathPara>
                    </a14:m>
                    <a:endParaRPr lang="fr-FR" sz="12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F415487-9BB7-B80B-8283-C78CB2FEB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28661" y="4831340"/>
                    <a:ext cx="368691" cy="184666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349" b="-285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EA8C134-BA8E-CC3F-12D8-CF0F721FA6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55402" y="5313463"/>
              <a:ext cx="0" cy="33376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/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FCAE14E7-0E0B-1399-EDCF-F1EE790AA3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7352" y="5388010"/>
                  <a:ext cx="14266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0833" r="-208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66DF18A-1892-5FE0-EB86-11E4337FC251}"/>
              </a:ext>
            </a:extLst>
          </p:cNvPr>
          <p:cNvSpPr txBox="1"/>
          <p:nvPr/>
        </p:nvSpPr>
        <p:spPr>
          <a:xfrm>
            <a:off x="5723508" y="3772788"/>
            <a:ext cx="70158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latin typeface="Arial Black" panose="020B0A04020102020204" pitchFamily="34" charset="0"/>
              </a:rPr>
              <a:t>MICRO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56465D4B-F265-C435-89C6-9EE669732A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723164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CADA8AD9-A980-D884-9F53-A96F804F319D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5583836" y="1035070"/>
                <a:ext cx="3382300" cy="2283357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Déterminer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Observer la résistance en CC avec un </a:t>
                </a:r>
                <a:r>
                  <a:rPr lang="fr-FR" sz="1400" u="sng" dirty="0">
                    <a:solidFill>
                      <a:schemeClr val="tx1"/>
                    </a:solidFill>
                  </a:rPr>
                  <a:t>multimètre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b="1" dirty="0">
                    <a:solidFill>
                      <a:schemeClr val="tx1"/>
                    </a:solidFill>
                  </a:rPr>
                  <a:t>Determiner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L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C</m:t>
                    </m:r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sz="1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sz="1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sub>
                    </m:sSub>
                  </m:oMath>
                </a14:m>
                <a:r>
                  <a:rPr lang="fr-FR" sz="1400" b="1" dirty="0">
                    <a:solidFill>
                      <a:schemeClr val="tx1"/>
                    </a:solidFill>
                  </a:rPr>
                  <a:t>:</a:t>
                </a: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Approximation numérique via une algorithme d’optimisation numérique : </a:t>
                </a:r>
              </a:p>
              <a:p>
                <a:r>
                  <a:rPr lang="fr-FR" sz="1400" u="sng" dirty="0"/>
                  <a:t>Levenberg-Marquardt</a:t>
                </a: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1035070"/>
                <a:ext cx="3382300" cy="2283357"/>
              </a:xfrm>
              <a:prstGeom prst="rect">
                <a:avLst/>
              </a:prstGeom>
              <a:blipFill>
                <a:blip r:embed="rId4"/>
                <a:stretch>
                  <a:fillRect b="-263"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8529" y="1024035"/>
            <a:ext cx="5174243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3CF6CC7-C2A9-D2EB-0FC4-A98DAEFFDC33}"/>
              </a:ext>
            </a:extLst>
          </p:cNvPr>
          <p:cNvSpPr/>
          <p:nvPr/>
        </p:nvSpPr>
        <p:spPr>
          <a:xfrm>
            <a:off x="5583836" y="3437083"/>
            <a:ext cx="3382300" cy="2815095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DB194F1-0075-78A8-D900-8165D3AE9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10835"/>
              </p:ext>
            </p:extLst>
          </p:nvPr>
        </p:nvGraphicFramePr>
        <p:xfrm>
          <a:off x="5642349" y="3818066"/>
          <a:ext cx="3247339" cy="233539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27811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1159764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467079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/>
              <p:nvPr/>
            </p:nvSpPr>
            <p:spPr>
              <a:xfrm>
                <a:off x="5716408" y="4358922"/>
                <a:ext cx="7976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6C2966F-DA0E-A129-4604-4CAF4E34FA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408" y="4358922"/>
                <a:ext cx="797654" cy="276999"/>
              </a:xfrm>
              <a:prstGeom prst="rect">
                <a:avLst/>
              </a:prstGeom>
              <a:blipFill>
                <a:blip r:embed="rId6"/>
                <a:stretch>
                  <a:fillRect l="-6107" r="-9924" b="-4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/>
              <p:nvPr/>
            </p:nvSpPr>
            <p:spPr>
              <a:xfrm>
                <a:off x="5802191" y="4843528"/>
                <a:ext cx="5578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2F0483B-5D7F-BD8A-75FC-E3EF369CF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2191" y="4843528"/>
                <a:ext cx="557845" cy="276999"/>
              </a:xfrm>
              <a:prstGeom prst="rect">
                <a:avLst/>
              </a:prstGeom>
              <a:blipFill>
                <a:blip r:embed="rId7"/>
                <a:stretch>
                  <a:fillRect l="-8791" t="-2222" r="-14286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/>
              <p:nvPr/>
            </p:nvSpPr>
            <p:spPr>
              <a:xfrm>
                <a:off x="5802191" y="5291218"/>
                <a:ext cx="6572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pF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3756B1CA-1069-0FB7-1585-C66FE7279A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2191" y="5291218"/>
                <a:ext cx="657231" cy="276999"/>
              </a:xfrm>
              <a:prstGeom prst="rect">
                <a:avLst/>
              </a:prstGeom>
              <a:blipFill>
                <a:blip r:embed="rId8"/>
                <a:stretch>
                  <a:fillRect l="-7407" t="-2222" r="-11111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/>
              <p:nvPr/>
            </p:nvSpPr>
            <p:spPr>
              <a:xfrm>
                <a:off x="5716408" y="5760764"/>
                <a:ext cx="821700" cy="3016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[</m:t>
                      </m:r>
                      <m:r>
                        <m:rPr>
                          <m:sty m:val="p"/>
                        </m:rPr>
                        <a:rPr lang="fr-FR" b="0" i="1" smtClean="0">
                          <a:latin typeface="Cambria Math" panose="02040503050406030204" pitchFamily="18" charset="0"/>
                        </a:rPr>
                        <m:t>kΩ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54E78-8366-A42C-287C-7D6E1E1C9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408" y="5760764"/>
                <a:ext cx="821700" cy="301686"/>
              </a:xfrm>
              <a:prstGeom prst="rect">
                <a:avLst/>
              </a:prstGeom>
              <a:blipFill>
                <a:blip r:embed="rId9"/>
                <a:stretch>
                  <a:fillRect l="-5926" r="-9630" b="-306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/>
              <p:nvPr/>
            </p:nvSpPr>
            <p:spPr>
              <a:xfrm>
                <a:off x="6903185" y="4385371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BFEA2D9-79F1-7D11-1325-861A26FFA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185" y="4385371"/>
                <a:ext cx="496931" cy="276999"/>
              </a:xfrm>
              <a:prstGeom prst="rect">
                <a:avLst/>
              </a:prstGeom>
              <a:blipFill>
                <a:blip r:embed="rId10"/>
                <a:stretch>
                  <a:fillRect l="-9756" r="-10976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/>
              <p:nvPr/>
            </p:nvSpPr>
            <p:spPr>
              <a:xfrm>
                <a:off x="8067273" y="4382516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7D08778-1B73-0628-895B-B342F3B665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273" y="4382516"/>
                <a:ext cx="496931" cy="276999"/>
              </a:xfrm>
              <a:prstGeom prst="rect">
                <a:avLst/>
              </a:prstGeom>
              <a:blipFill>
                <a:blip r:embed="rId11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/>
              <p:nvPr/>
            </p:nvSpPr>
            <p:spPr>
              <a:xfrm>
                <a:off x="6903184" y="4843527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3,75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53456E5-E853-A4FE-EFAC-CC6B3ECCD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184" y="4843527"/>
                <a:ext cx="496931" cy="276999"/>
              </a:xfrm>
              <a:prstGeom prst="rect">
                <a:avLst/>
              </a:prstGeom>
              <a:blipFill>
                <a:blip r:embed="rId12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/>
              <p:nvPr/>
            </p:nvSpPr>
            <p:spPr>
              <a:xfrm>
                <a:off x="6927228" y="5286689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270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EC5D21F-FCF1-F74B-E5B5-F1A43ECCC8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7228" y="5286689"/>
                <a:ext cx="448841" cy="276999"/>
              </a:xfrm>
              <a:prstGeom prst="rect">
                <a:avLst/>
              </a:prstGeom>
              <a:blipFill>
                <a:blip r:embed="rId13"/>
                <a:stretch>
                  <a:fillRect l="-10811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/>
              <p:nvPr/>
            </p:nvSpPr>
            <p:spPr>
              <a:xfrm>
                <a:off x="6850883" y="5771296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305,8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DF28906-22A0-559E-7F1A-A74554E13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0883" y="5771296"/>
                <a:ext cx="625171" cy="276999"/>
              </a:xfrm>
              <a:prstGeom prst="rect">
                <a:avLst/>
              </a:prstGeom>
              <a:blipFill>
                <a:blip r:embed="rId14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/>
              <p:nvPr/>
            </p:nvSpPr>
            <p:spPr>
              <a:xfrm>
                <a:off x="8067272" y="4843527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6A8249-5B4E-315E-0B47-E0197793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7272" y="4843527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/>
              <p:nvPr/>
            </p:nvSpPr>
            <p:spPr>
              <a:xfrm>
                <a:off x="8091316" y="5292326"/>
                <a:ext cx="4488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150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D69FF50-C911-DA9C-9E7F-230E239FCA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1316" y="5292326"/>
                <a:ext cx="448841" cy="276999"/>
              </a:xfrm>
              <a:prstGeom prst="rect">
                <a:avLst/>
              </a:prstGeom>
              <a:blipFill>
                <a:blip r:embed="rId16"/>
                <a:stretch>
                  <a:fillRect l="-12162" r="-10811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/>
              <p:nvPr/>
            </p:nvSpPr>
            <p:spPr>
              <a:xfrm>
                <a:off x="8003150" y="5760764"/>
                <a:ext cx="6251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246,8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845B47F-AF8D-1C10-143E-2FABAB6625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3150" y="5760764"/>
                <a:ext cx="625171" cy="276999"/>
              </a:xfrm>
              <a:prstGeom prst="rect">
                <a:avLst/>
              </a:prstGeom>
              <a:blipFill>
                <a:blip r:embed="rId17"/>
                <a:stretch>
                  <a:fillRect l="-7843" r="-8824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4EAD3AE-C225-14EF-269F-5B5AE150E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6895853" y="3818869"/>
            <a:ext cx="568459" cy="468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605931B4-D82E-5BAF-958F-6B5A64B607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053696" y="3788883"/>
            <a:ext cx="582811" cy="46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Footer Placeholder 2">
            <a:extLst>
              <a:ext uri="{FF2B5EF4-FFF2-40B4-BE49-F238E27FC236}">
                <a16:creationId xmlns:a16="http://schemas.microsoft.com/office/drawing/2014/main" id="{96AD9D58-FAFC-CBE8-A6DF-0867908DA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53AA4B7E-24CD-8B97-FE91-5DC5ED0AA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45851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36" name="TextBox 35">
            <a:extLst>
              <a:ext uri="{FF2B5EF4-FFF2-40B4-BE49-F238E27FC236}">
                <a16:creationId xmlns:a16="http://schemas.microsoft.com/office/drawing/2014/main" id="{E2EEDFEB-AFAA-C6BE-4F6C-51B78A0870E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1B7ADBC6-4B8D-7364-80A5-17CE31D60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7413" y="465112"/>
            <a:ext cx="540000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AC3C3F02-BE4B-C00D-8113-255A41FE1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/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Conclusion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basses fréquences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b="0" dirty="0">
                  <a:solidFill>
                    <a:srgbClr val="C00000"/>
                  </a:solidFill>
                </a:endParaRPr>
              </a:p>
              <a:p>
                <a:endParaRPr lang="fr-FR" sz="1400" b="0" dirty="0">
                  <a:solidFill>
                    <a:srgbClr val="C00000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A la résonance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dirty="0">
                    <a:solidFill>
                      <a:schemeClr val="tx1"/>
                    </a:solidFill>
                  </a:rPr>
                  <a:t>En haute fréquence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SC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19349B35-E6B7-9E01-F26A-2A7F7B8E63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3836" y="3922665"/>
                <a:ext cx="3357228" cy="232951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2">
            <a:extLst>
              <a:ext uri="{FF2B5EF4-FFF2-40B4-BE49-F238E27FC236}">
                <a16:creationId xmlns:a16="http://schemas.microsoft.com/office/drawing/2014/main" id="{12FCA72B-A395-406E-8C4A-C20084E75B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9E9BC71-3A20-546E-95A4-02C1584F6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48888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60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66B5C775-C8F0-7ABF-BA08-8D829E5E17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032179"/>
            <a:ext cx="5175257" cy="522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9F34FD-89CC-63DB-50E1-5A91FD67A29F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D5E734-BEFF-CD79-965F-FB5828B2E5CC}"/>
              </a:ext>
            </a:extLst>
          </p:cNvPr>
          <p:cNvGrpSpPr/>
          <p:nvPr/>
        </p:nvGrpSpPr>
        <p:grpSpPr>
          <a:xfrm>
            <a:off x="5599227" y="1032179"/>
            <a:ext cx="3326445" cy="2823180"/>
            <a:chOff x="1054903" y="1363393"/>
            <a:chExt cx="4626939" cy="360000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4ED3F46F-DC18-6391-8105-AA697B7747C2}"/>
                </a:ext>
              </a:extLst>
            </p:cNvPr>
            <p:cNvGrpSpPr/>
            <p:nvPr/>
          </p:nvGrpSpPr>
          <p:grpSpPr>
            <a:xfrm>
              <a:off x="1054903" y="1363393"/>
              <a:ext cx="4626939" cy="3600000"/>
              <a:chOff x="1054904" y="1200155"/>
              <a:chExt cx="4927617" cy="3601072"/>
            </a:xfrm>
          </p:grpSpPr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ABB742B-9779-0465-C259-DD2573559646}"/>
                  </a:ext>
                </a:extLst>
              </p:cNvPr>
              <p:cNvPicPr>
                <a:picLocks/>
              </p:cNvPicPr>
              <p:nvPr/>
            </p:nvPicPr>
            <p:blipFill>
              <a:blip r:embed="rId7">
                <a:biLevel thresh="75000"/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054904" y="1200155"/>
                <a:ext cx="4927617" cy="360107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40F03DAF-9C8C-E632-D75C-DF45F7659EE5}"/>
                  </a:ext>
                </a:extLst>
              </p:cNvPr>
              <p:cNvSpPr/>
              <p:nvPr/>
            </p:nvSpPr>
            <p:spPr>
              <a:xfrm>
                <a:off x="1486014" y="210415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DE0F72D0-A71E-B680-123E-D91909E35BA7}"/>
                  </a:ext>
                </a:extLst>
              </p:cNvPr>
              <p:cNvSpPr/>
              <p:nvPr/>
            </p:nvSpPr>
            <p:spPr>
              <a:xfrm>
                <a:off x="2555070" y="3033420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ACB2F929-E154-3686-6854-44785E9CDCD6}"/>
                  </a:ext>
                </a:extLst>
              </p:cNvPr>
              <p:cNvSpPr/>
              <p:nvPr/>
            </p:nvSpPr>
            <p:spPr>
              <a:xfrm>
                <a:off x="3715970" y="3073533"/>
                <a:ext cx="703406" cy="2401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6C91E7-5B62-9869-0353-44F1526FF73B}"/>
                  </a:ext>
                </a:extLst>
              </p:cNvPr>
              <p:cNvSpPr/>
              <p:nvPr/>
            </p:nvSpPr>
            <p:spPr>
              <a:xfrm>
                <a:off x="5397029" y="3091033"/>
                <a:ext cx="527521" cy="20117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60A7F0-B90A-AF7F-A883-CF1041484132}"/>
                  </a:ext>
                </a:extLst>
              </p:cNvPr>
              <p:cNvSpPr/>
              <p:nvPr/>
            </p:nvSpPr>
            <p:spPr>
              <a:xfrm>
                <a:off x="1468417" y="3119201"/>
                <a:ext cx="569627" cy="19447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4ED0F49-FAA4-0AB9-0346-7032B03D4C1B}"/>
                </a:ext>
              </a:extLst>
            </p:cNvPr>
            <p:cNvCxnSpPr/>
            <p:nvPr/>
          </p:nvCxnSpPr>
          <p:spPr>
            <a:xfrm flipV="1">
              <a:off x="1601848" y="3920464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429EC13A-C0EE-64FD-58A5-021924C2CEE4}"/>
                    </a:ext>
                  </a:extLst>
                </p:cNvPr>
                <p:cNvSpPr txBox="1"/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806677D-0818-3210-9991-80EAAFAEA9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7934" y="4069558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5769" t="-3333" r="-15385" b="-4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9A114535-2247-6B08-8DA7-704BEBE278D9}"/>
                </a:ext>
              </a:extLst>
            </p:cNvPr>
            <p:cNvCxnSpPr/>
            <p:nvPr/>
          </p:nvCxnSpPr>
          <p:spPr>
            <a:xfrm flipV="1">
              <a:off x="4752281" y="287267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/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761A93D-AA81-8CAE-7391-1FE645F49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1210" y="3036681"/>
                  <a:ext cx="321178" cy="184666"/>
                </a:xfrm>
                <a:prstGeom prst="rect">
                  <a:avLst/>
                </a:prstGeom>
                <a:blipFill>
                  <a:blip r:embed="rId10"/>
                  <a:stretch>
                    <a:fillRect l="-15789" t="-4348" r="-52632" b="-8260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326176" y="1002105"/>
            <a:ext cx="8527603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326177" y="4838220"/>
            <a:ext cx="8527602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EE3A26E4-93FB-9F10-6EB6-2D1E5A8A7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E62838-026A-5E99-536A-5C7F4F892C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614588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2"/>
                <a:stretch>
                  <a:fillRect l="-446" t="-417" b="-50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blipFill>
                <a:blip r:embed="rId3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47556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326176" y="2817571"/>
            <a:ext cx="4070565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32302FE-C087-438E-ED4E-ACC60AFC9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FA5F0B-6893-1941-CFB9-608BD2497F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54475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D0102D8F-E925-7221-961F-2FEFF9EDBB3E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F2C50-6CC9-C3EE-29F3-7C375F957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A35BF52-5243-1C8B-E2FA-0917DDC4573B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19C61E7-3FFC-9A6E-48BF-5B0F83CF0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34E34C-C7DC-4C9D-E7D3-252A58623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127E5D1-FD5D-56D9-25A5-172DD2E2176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C0931F-811C-9C9D-D553-84A85AEC6513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A7C0931F-811C-9C9D-D553-84A85AEC65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2"/>
                <a:stretch>
                  <a:fillRect l="-446" t="-417" b="-5000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DC25FA1-DADB-03FF-B6FB-4631D766E5F7}"/>
                  </a:ext>
                </a:extLst>
              </p:cNvPr>
              <p:cNvSpPr/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CDC25FA1-DADB-03FF-B6FB-4631D766E5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0" y="1124075"/>
                <a:ext cx="4192529" cy="4946941"/>
              </a:xfrm>
              <a:prstGeom prst="rect">
                <a:avLst/>
              </a:prstGeom>
              <a:blipFill>
                <a:blip r:embed="rId3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35154A-B9BD-FC93-AC7A-853978880407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439BFEE-2F58-708D-F266-88C40338BED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1BA56B6-AC9D-9E60-9C21-421709968C1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7192CD16-8E2C-3333-DBD2-62A38F26992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86D70CD-A4FC-8E95-CA9B-0FF8712E9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86BDC02-6389-F30F-3B78-D4E6A85D51F4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00EBAFB-AD26-BEED-DA93-5C5D6A320004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F6DFF94-D749-B50C-0E91-697C276D35EC}"/>
              </a:ext>
            </a:extLst>
          </p:cNvPr>
          <p:cNvGrpSpPr/>
          <p:nvPr/>
        </p:nvGrpSpPr>
        <p:grpSpPr>
          <a:xfrm>
            <a:off x="326176" y="2817571"/>
            <a:ext cx="4070565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1D01B90-32FA-B14C-B3F1-C323E51E9F65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HB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81D01B90-32FA-B14C-B3F1-C323E51E9F6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4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72FD4FE2-186D-6122-19EE-43AB44BFF4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pic>
        <p:nvPicPr>
          <p:cNvPr id="24" name="Picture 2">
            <a:extLst>
              <a:ext uri="{FF2B5EF4-FFF2-40B4-BE49-F238E27FC236}">
                <a16:creationId xmlns:a16="http://schemas.microsoft.com/office/drawing/2014/main" id="{58EF0318-0404-B364-1983-75C029CB77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49428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11707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329555" y="1128397"/>
            <a:ext cx="6737273" cy="4932065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470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1271763" y="5777370"/>
            <a:ext cx="5380497" cy="533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8DF5559-6C9D-3A8E-C3E0-F4F5AC89DB3C}"/>
              </a:ext>
            </a:extLst>
          </p:cNvPr>
          <p:cNvGrpSpPr/>
          <p:nvPr/>
        </p:nvGrpSpPr>
        <p:grpSpPr>
          <a:xfrm>
            <a:off x="5816345" y="1143140"/>
            <a:ext cx="2998100" cy="4040698"/>
            <a:chOff x="6429026" y="1318510"/>
            <a:chExt cx="2513036" cy="37798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/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Excitation de la corde ‘’à la main’’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Relevé de la tension aux bornes la résistance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𝑎𝑚𝑝</m:t>
                          </m:r>
                        </m:sub>
                      </m:sSub>
                    </m:oMath>
                  </a14:m>
                  <a:endParaRPr lang="fr-FR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D1CDCC24-52FC-A6FC-AF35-DBBA86C518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7016" y="1318510"/>
                  <a:ext cx="2485046" cy="3779800"/>
                </a:xfrm>
                <a:prstGeom prst="rect">
                  <a:avLst/>
                </a:prstGeom>
                <a:blipFill>
                  <a:blip r:embed="rId5"/>
                  <a:stretch>
                    <a:fillRect l="-203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A23E68A-A65C-A12E-753D-45B38F124E8F}"/>
                </a:ext>
              </a:extLst>
            </p:cNvPr>
            <p:cNvSpPr/>
            <p:nvPr/>
          </p:nvSpPr>
          <p:spPr>
            <a:xfrm rot="16200000">
              <a:off x="6269362" y="4195744"/>
              <a:ext cx="1312065" cy="4571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7392EF7-E69A-FBBE-FF61-674BDCF2226A}"/>
                </a:ext>
              </a:extLst>
            </p:cNvPr>
            <p:cNvGrpSpPr/>
            <p:nvPr/>
          </p:nvGrpSpPr>
          <p:grpSpPr>
            <a:xfrm>
              <a:off x="7114959" y="3562570"/>
              <a:ext cx="1800921" cy="1110504"/>
              <a:chOff x="7133777" y="3809995"/>
              <a:chExt cx="1683780" cy="761469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CAD72CAD-7612-3CF0-D4E3-C46A4DFF08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tretch>
                <a:fillRect/>
              </a:stretch>
            </p:blipFill>
            <p:spPr>
              <a:xfrm>
                <a:off x="7989763" y="3876498"/>
                <a:ext cx="827794" cy="690115"/>
              </a:xfrm>
              <a:prstGeom prst="rect">
                <a:avLst/>
              </a:prstGeom>
            </p:spPr>
          </p:pic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652AD20C-FA20-6811-A6D9-40C43C57256C}"/>
                  </a:ext>
                </a:extLst>
              </p:cNvPr>
              <p:cNvSpPr/>
              <p:nvPr/>
            </p:nvSpPr>
            <p:spPr>
              <a:xfrm>
                <a:off x="7133777" y="3881349"/>
                <a:ext cx="179882" cy="690115"/>
              </a:xfrm>
              <a:prstGeom prst="rect">
                <a:avLst/>
              </a:prstGeom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1"/>
              </a:fillRef>
              <a:effectRef idx="1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4" name="Connector: Elbow 13">
                <a:extLst>
                  <a:ext uri="{FF2B5EF4-FFF2-40B4-BE49-F238E27FC236}">
                    <a16:creationId xmlns:a16="http://schemas.microsoft.com/office/drawing/2014/main" id="{BA47D6C8-36D4-44AD-CA04-1DB90FF0D34A}"/>
                  </a:ext>
                </a:extLst>
              </p:cNvPr>
              <p:cNvCxnSpPr>
                <a:cxnSpLocks/>
                <a:endCxn id="10" idx="2"/>
              </p:cNvCxnSpPr>
              <p:nvPr/>
            </p:nvCxnSpPr>
            <p:spPr>
              <a:xfrm rot="10800000" flipV="1">
                <a:off x="7223719" y="4453242"/>
                <a:ext cx="935397" cy="118221"/>
              </a:xfrm>
              <a:prstGeom prst="bentConnector4">
                <a:avLst>
                  <a:gd name="adj1" fmla="val 388"/>
                  <a:gd name="adj2" fmla="val 293367"/>
                </a:avLst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7D855CD3-8716-F3D8-180F-1F7F063076E1}"/>
                  </a:ext>
                </a:extLst>
              </p:cNvPr>
              <p:cNvCxnSpPr>
                <a:cxnSpLocks/>
                <a:endCxn id="10" idx="0"/>
              </p:cNvCxnSpPr>
              <p:nvPr/>
            </p:nvCxnSpPr>
            <p:spPr>
              <a:xfrm rot="10800000" flipV="1">
                <a:off x="7223718" y="3809995"/>
                <a:ext cx="925872" cy="71353"/>
              </a:xfrm>
              <a:prstGeom prst="bentConnector2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800744D9-C28C-C8A8-7738-98A294579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49590" y="3810000"/>
                <a:ext cx="0" cy="185575"/>
              </a:xfrm>
              <a:prstGeom prst="line">
                <a:avLst/>
              </a:prstGeom>
              <a:ln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6ECB0DE-2F92-E777-710D-46FE392347D3}"/>
                  </a:ext>
                </a:extLst>
              </p:cNvPr>
              <p:cNvSpPr txBox="1"/>
              <p:nvPr/>
            </p:nvSpPr>
            <p:spPr>
              <a:xfrm>
                <a:off x="7215489" y="3860089"/>
                <a:ext cx="60743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100" b="1" dirty="0"/>
                  <a:t>Micro</a:t>
                </a:r>
                <a:endParaRPr lang="fr-FR" b="1" dirty="0"/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9AF6A25-32DF-F6FA-62E8-D619AC7C340C}"/>
                </a:ext>
              </a:extLst>
            </p:cNvPr>
            <p:cNvSpPr txBox="1"/>
            <p:nvPr/>
          </p:nvSpPr>
          <p:spPr>
            <a:xfrm>
              <a:off x="6429026" y="3345405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Corde</a:t>
              </a:r>
              <a:endParaRPr lang="fr-FR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447045F-3CC6-9ECE-B003-4ABC5359256F}"/>
                </a:ext>
              </a:extLst>
            </p:cNvPr>
            <p:cNvCxnSpPr/>
            <p:nvPr/>
          </p:nvCxnSpPr>
          <p:spPr>
            <a:xfrm flipV="1">
              <a:off x="7388051" y="3926343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/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FAE08B2-6F4F-B387-66ED-7ABA96619E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712" y="4017150"/>
                  <a:ext cx="316562" cy="184666"/>
                </a:xfrm>
                <a:prstGeom prst="rect">
                  <a:avLst/>
                </a:prstGeom>
                <a:blipFill>
                  <a:blip r:embed="rId8"/>
                  <a:stretch>
                    <a:fillRect t="-3125" r="-4839" b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05B622C-2AE6-B718-55A0-799064579779}"/>
                </a:ext>
              </a:extLst>
            </p:cNvPr>
            <p:cNvCxnSpPr/>
            <p:nvPr/>
          </p:nvCxnSpPr>
          <p:spPr>
            <a:xfrm flipV="1">
              <a:off x="8030496" y="3899852"/>
              <a:ext cx="0" cy="540000"/>
            </a:xfrm>
            <a:prstGeom prst="straightConnector1">
              <a:avLst/>
            </a:prstGeom>
            <a:ln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/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solidFill>
                              <a:srgbClr val="38903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879757A-F1CA-727B-3EAE-68CAA7284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27026" y="4220013"/>
                  <a:ext cx="316562" cy="184666"/>
                </a:xfrm>
                <a:prstGeom prst="rect">
                  <a:avLst/>
                </a:prstGeom>
                <a:blipFill>
                  <a:blip r:embed="rId9"/>
                  <a:stretch>
                    <a:fillRect r="-6452" b="-3030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Footer Placeholder 2">
            <a:extLst>
              <a:ext uri="{FF2B5EF4-FFF2-40B4-BE49-F238E27FC236}">
                <a16:creationId xmlns:a16="http://schemas.microsoft.com/office/drawing/2014/main" id="{686A051F-9DAE-A8C6-000C-F8E486C07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D21AB-CEBC-E2AC-7001-EB1450AFE9C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5607F5F5-C920-E8BE-F59C-FEDACBD8F75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Python Logo PNG Transparent – Brands Logos">
            <a:extLst>
              <a:ext uri="{FF2B5EF4-FFF2-40B4-BE49-F238E27FC236}">
                <a16:creationId xmlns:a16="http://schemas.microsoft.com/office/drawing/2014/main" id="{A9275D5A-F203-CD62-0335-4796C479B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5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325239"/>
            <a:ext cx="3934325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3333" b="-161111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D15E045-16DB-F511-190B-24133BD0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1658C86-F1F4-EBD9-76A3-9370521A5298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CD87675-DBE0-A3B9-6C34-798D57760B96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1C60C-E402-156F-EE5B-0D038F4A7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400CEF28-3128-AA55-CE9F-04A9F0682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27DDA0-D3D4-79BC-A345-28DC8795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6D3D9D9-03B9-EFF4-D554-4058E48D7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16D692-24A1-1072-2F23-16917E9E661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2C916-6337-8DEC-9D94-AC0709F461B1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89199EF-78C5-BA9C-798F-58A0DE4C8F9C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44572E8-0FA9-6F9C-C207-8C562675B7F5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C9F886E-CFE1-FC57-DA43-F3BC45B25F93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325239"/>
            <a:ext cx="3934324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4D1F77-DE76-0057-DA47-79FF26EE5560}"/>
                  </a:ext>
                </a:extLst>
              </p:cNvPr>
              <p:cNvSpPr txBox="1"/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4D1F77-DE76-0057-DA47-79FF26EE55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895" y="5035343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60AACF-5ACF-0606-EB51-9466F05A2044}"/>
                  </a:ext>
                </a:extLst>
              </p:cNvPr>
              <p:cNvSpPr txBox="1"/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160AACF-5ACF-0606-EB51-9466F05A2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852" y="5032949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3333" b="-161111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2CD2F1-DD3E-A6D0-9470-72164D80CFC5}"/>
                  </a:ext>
                </a:extLst>
              </p:cNvPr>
              <p:cNvSpPr txBox="1"/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2CD2F1-DD3E-A6D0-9470-72164D80C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737" y="5662993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AE4D2B-8A64-35C2-25A7-2E0BFE5037AA}"/>
                  </a:ext>
                </a:extLst>
              </p:cNvPr>
              <p:cNvSpPr txBox="1"/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0AE4D2B-8A64-35C2-25A7-2E0BFE5037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4" y="5662992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6897F3A-3A6A-872C-CD22-D6DAA3FC6DC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F05CD20-DC6E-11D4-FDB0-7D4248F46F2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1B2A5B3D-C5C4-6ED5-22A1-FDDC5BBD90F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E1C47A-5513-CF64-D06F-BADCEA5226D2}"/>
                  </a:ext>
                </a:extLst>
              </p:cNvPr>
              <p:cNvSpPr txBox="1"/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E1C47A-5513-CF64-D06F-BADCEA522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7930" y="5575876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2DE5E36-2EB4-D049-64A5-CFEE5A0E5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E0DE781-74DC-357B-C9F2-F41488C99BF7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43190F5B-DE0B-2EBD-BB09-0CCFBFF7912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B393AF3-AF61-D14E-0BA2-52D6F8A77801}"/>
              </a:ext>
            </a:extLst>
          </p:cNvPr>
          <p:cNvGrpSpPr/>
          <p:nvPr/>
        </p:nvGrpSpPr>
        <p:grpSpPr>
          <a:xfrm>
            <a:off x="1070895" y="4142346"/>
            <a:ext cx="355600" cy="375297"/>
            <a:chOff x="1276060" y="5077968"/>
            <a:chExt cx="355600" cy="37529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3102940-2651-F064-2607-ACA9A38EA8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07FC7B4-9978-654F-5F82-B53C8B4F3E73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56D4036-8B12-9013-B093-94744107CA03}"/>
              </a:ext>
            </a:extLst>
          </p:cNvPr>
          <p:cNvGrpSpPr/>
          <p:nvPr/>
        </p:nvGrpSpPr>
        <p:grpSpPr>
          <a:xfrm>
            <a:off x="5501661" y="4143725"/>
            <a:ext cx="355600" cy="375297"/>
            <a:chOff x="1276060" y="5077968"/>
            <a:chExt cx="355600" cy="375297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A0C2FA5-7680-387C-B741-5CD9202274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6CE68A39-0B6D-A5C1-B522-0D8E80185539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29422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D316B92B-DBC2-CA56-1031-6F628708C8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35B40429-E66D-936A-8895-1DC0AF6D287B}"/>
              </a:ext>
            </a:extLst>
          </p:cNvPr>
          <p:cNvGrpSpPr/>
          <p:nvPr/>
        </p:nvGrpSpPr>
        <p:grpSpPr>
          <a:xfrm>
            <a:off x="5681666" y="2163818"/>
            <a:ext cx="3269985" cy="3993142"/>
            <a:chOff x="6114891" y="2389099"/>
            <a:chExt cx="2721663" cy="357316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AE1FC82B-F70C-8D5D-E171-A36BE02D4021}"/>
                </a:ext>
              </a:extLst>
            </p:cNvPr>
            <p:cNvGrpSpPr/>
            <p:nvPr/>
          </p:nvGrpSpPr>
          <p:grpSpPr>
            <a:xfrm>
              <a:off x="6114891" y="2389099"/>
              <a:ext cx="2721663" cy="3573164"/>
              <a:chOff x="5958063" y="2389099"/>
              <a:chExt cx="2878491" cy="3573164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CA3093A-8816-005B-D928-3B44B655C8E2}"/>
                  </a:ext>
                </a:extLst>
              </p:cNvPr>
              <p:cNvSpPr/>
              <p:nvPr/>
            </p:nvSpPr>
            <p:spPr>
              <a:xfrm>
                <a:off x="5958063" y="2389099"/>
                <a:ext cx="2878491" cy="3573164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Nœuds de vibration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Filtrage en peigne spatial :</a:t>
                </a: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  <a:p>
                <a:endParaRPr lang="fr-FR" sz="1400" b="1" dirty="0">
                  <a:solidFill>
                    <a:schemeClr val="tx1"/>
                  </a:solidFill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3C3E0C0-FBAB-DC78-5B15-476675A96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77938" y="4604155"/>
                <a:ext cx="1798321" cy="377538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C40B446E-9BC2-8E92-5207-9220276E30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276" t="6786" r="5431" b="11456"/>
              <a:stretch>
                <a:fillRect/>
              </a:stretch>
            </p:blipFill>
            <p:spPr>
              <a:xfrm>
                <a:off x="6988242" y="5064642"/>
                <a:ext cx="793915" cy="525312"/>
              </a:xfrm>
              <a:prstGeom prst="rect">
                <a:avLst/>
              </a:prstGeom>
            </p:spPr>
          </p:pic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21575B3-C3E7-D035-FD8D-5A909416EA0A}"/>
                  </a:ext>
                </a:extLst>
              </p:cNvPr>
              <p:cNvGrpSpPr/>
              <p:nvPr/>
            </p:nvGrpSpPr>
            <p:grpSpPr>
              <a:xfrm>
                <a:off x="6100686" y="2976560"/>
                <a:ext cx="2593244" cy="1059640"/>
                <a:chOff x="6082122" y="3612551"/>
                <a:chExt cx="2593242" cy="1010417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BB147258-36F6-4862-BCFA-8C34DAA43AD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3236" b="4515"/>
                <a:stretch>
                  <a:fillRect/>
                </a:stretch>
              </p:blipFill>
              <p:spPr>
                <a:xfrm>
                  <a:off x="6467476" y="3612551"/>
                  <a:ext cx="1798320" cy="360000"/>
                </a:xfrm>
                <a:prstGeom prst="rect">
                  <a:avLst/>
                </a:prstGeom>
              </p:spPr>
            </p:pic>
            <p:pic>
              <p:nvPicPr>
                <p:cNvPr id="49" name="Picture 48">
                  <a:extLst>
                    <a:ext uri="{FF2B5EF4-FFF2-40B4-BE49-F238E27FC236}">
                      <a16:creationId xmlns:a16="http://schemas.microsoft.com/office/drawing/2014/main" id="{6A19C6E1-1347-2947-0051-4E4B5CAD30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BEBA8EAE-BF5A-486C-A8C5-ECC9F3942E4B}">
                      <a14:imgProps xmlns:a14="http://schemas.microsoft.com/office/drawing/2010/main">
                        <a14:imgLayer r:embed="rId9">
                          <a14:imgEffect>
                            <a14:backgroundRemoval t="32494" b="70953" l="13960" r="44675"/>
                          </a14:imgEffect>
                          <a14:imgEffect>
                            <a14:brightnessContrast bright="40000"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120" t="27687" r="51486" b="24239"/>
                <a:stretch>
                  <a:fillRect/>
                </a:stretch>
              </p:blipFill>
              <p:spPr>
                <a:xfrm>
                  <a:off x="6920250" y="3866659"/>
                  <a:ext cx="932157" cy="756309"/>
                </a:xfrm>
                <a:prstGeom prst="rect">
                  <a:avLst/>
                </a:prstGeom>
              </p:spPr>
            </p:pic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BD459B7B-7876-DECC-7C5D-6EF7F711F3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370935" y="3612551"/>
                  <a:ext cx="0" cy="863841"/>
                </a:xfrm>
                <a:prstGeom prst="line">
                  <a:avLst/>
                </a:prstGeom>
                <a:ln w="9525" cap="flat" cmpd="sng" algn="ctr">
                  <a:solidFill>
                    <a:srgbClr val="C00000"/>
                  </a:solidFill>
                  <a:prstDash val="sys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51" name="Picture 50">
                  <a:extLst>
                    <a:ext uri="{FF2B5EF4-FFF2-40B4-BE49-F238E27FC236}">
                      <a16:creationId xmlns:a16="http://schemas.microsoft.com/office/drawing/2014/main" id="{69C823F4-FBD6-6BF7-DDFC-373F3F49B1D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76827" t="8959" r="3236" b="4515"/>
                <a:stretch>
                  <a:fillRect/>
                </a:stretch>
              </p:blipFill>
              <p:spPr>
                <a:xfrm>
                  <a:off x="6082122" y="3612551"/>
                  <a:ext cx="385354" cy="360000"/>
                </a:xfrm>
                <a:prstGeom prst="rect">
                  <a:avLst/>
                </a:prstGeom>
              </p:spPr>
            </p:pic>
            <p:pic>
              <p:nvPicPr>
                <p:cNvPr id="52" name="Picture 51">
                  <a:extLst>
                    <a:ext uri="{FF2B5EF4-FFF2-40B4-BE49-F238E27FC236}">
                      <a16:creationId xmlns:a16="http://schemas.microsoft.com/office/drawing/2014/main" id="{849EE9B9-324D-BB3C-541F-721FD32B50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rightnessContrast bright="40000" contrast="40000"/>
                          </a14:imgEffect>
                        </a14:imgLayer>
                      </a14:imgProps>
                    </a:ext>
                  </a:extLst>
                </a:blip>
                <a:srcRect l="3726" t="8959" r="75085" b="4515"/>
                <a:stretch>
                  <a:fillRect/>
                </a:stretch>
              </p:blipFill>
              <p:spPr>
                <a:xfrm>
                  <a:off x="8265796" y="3612551"/>
                  <a:ext cx="409568" cy="360000"/>
                </a:xfrm>
                <a:prstGeom prst="rect">
                  <a:avLst/>
                </a:prstGeom>
              </p:spPr>
            </p:pic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65BA09B4-C52E-B87A-CF04-8232C165DF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42582" y="4874895"/>
                <a:ext cx="0" cy="696047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B93E4C2-FBE4-4065-9278-90914A6EC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21982" y="4703445"/>
                <a:ext cx="0" cy="867498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/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E06407F-AE7F-3BBE-2F75-7730253F21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1942" y="3940434"/>
                  <a:ext cx="1748389" cy="3781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/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sSub>
                              <m:sSubPr>
                                <m:ctrlPr>
                                  <a:rPr lang="fr-FR" sz="105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105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</m:sSub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fr-FR" sz="105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fr-FR" sz="105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el-GR" sz="105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  <m:sSub>
                              <m:sSub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05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05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fr-FR" sz="105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fr-FR" sz="105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 sz="105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>
                                  <m:f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05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fr-FR" sz="105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func>
                            <m:r>
                              <a:rPr lang="fr-FR" sz="105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func>
                      </m:oMath>
                    </m:oMathPara>
                  </a14:m>
                  <a:endParaRPr lang="fr-FR" sz="105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E1CAC20F-EC26-B5B1-7233-C097D272B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0422" y="5556492"/>
                  <a:ext cx="2470599" cy="3781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AA77982B-C36B-8EDB-5099-18085A7BE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CC05A3D-32B8-82F3-42AF-E20F9F7CEB70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b="1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A56DC6A4-DDE0-128B-1A21-EBE107893AF8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76EC09A-1CE2-C57C-EA75-CE25A5404F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449951" y="4838220"/>
            <a:ext cx="8491114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307807" y="901333"/>
            <a:ext cx="6528386" cy="396552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6F19366-E464-2982-AC55-682B5038ECC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7F9072DF-6B10-F3FF-2E80-2B8708D4A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9F772F-663F-5F54-5B8F-B00F8569B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562531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261" y="1124075"/>
                <a:ext cx="4203181" cy="5146248"/>
              </a:xfrm>
              <a:prstGeom prst="rect">
                <a:avLst/>
              </a:prstGeom>
              <a:blipFill>
                <a:blip r:embed="rId2"/>
                <a:stretch>
                  <a:fillRect l="-43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64CC775C-DC4C-63E7-FC61-EA5A3939172B}"/>
              </a:ext>
            </a:extLst>
          </p:cNvPr>
          <p:cNvGrpSpPr/>
          <p:nvPr/>
        </p:nvGrpSpPr>
        <p:grpSpPr>
          <a:xfrm>
            <a:off x="326176" y="2696874"/>
            <a:ext cx="4070565" cy="3573449"/>
            <a:chOff x="1211000" y="2537460"/>
            <a:chExt cx="3842591" cy="36576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/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6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F.E.M. dans le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Nombre de spire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Surface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500" b="0" i="1" smtClean="0">
                          <a:latin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fr-FR" sz="1500" dirty="0"/>
                    <a:t>: Gradient du champ parasite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5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500" dirty="0"/>
                    <a:t>: Fréquence du champ parasite</a:t>
                  </a:r>
                </a:p>
              </p:txBody>
            </p:sp>
          </mc:Choice>
          <mc:Fallback xmlns=""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A165BD7B-D6B6-F854-07A0-F8064B5147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1000" y="2537460"/>
                  <a:ext cx="3842591" cy="3657600"/>
                </a:xfrm>
                <a:prstGeom prst="rect">
                  <a:avLst/>
                </a:prstGeom>
                <a:blipFill>
                  <a:blip r:embed="rId3"/>
                  <a:stretch>
                    <a:fillRect l="-44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AutoShape 2" descr="Image de ">
              <a:extLst>
                <a:ext uri="{FF2B5EF4-FFF2-40B4-BE49-F238E27FC236}">
                  <a16:creationId xmlns:a16="http://schemas.microsoft.com/office/drawing/2014/main" id="{191D9128-D82D-813C-F887-06FAE524B6D6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4419600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73D4D17-B068-BC08-FD30-C054806AF9D6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462" t="33994" r="56355" b="28677"/>
            <a:stretch>
              <a:fillRect/>
            </a:stretch>
          </p:blipFill>
          <p:spPr>
            <a:xfrm rot="16200000">
              <a:off x="3789600" y="4075725"/>
              <a:ext cx="540000" cy="7200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C37DEA7-2203-42F7-6199-1F53CB0FEEA9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165" t="31109" r="16927" b="29421"/>
            <a:stretch>
              <a:fillRect/>
            </a:stretch>
          </p:blipFill>
          <p:spPr>
            <a:xfrm rot="16200000">
              <a:off x="3519600" y="5043882"/>
              <a:ext cx="1080000" cy="720000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E12A478-9168-E9A7-08C1-904DA5C9D11F}"/>
                </a:ext>
              </a:extLst>
            </p:cNvPr>
            <p:cNvGrpSpPr/>
            <p:nvPr/>
          </p:nvGrpSpPr>
          <p:grpSpPr>
            <a:xfrm>
              <a:off x="3464259" y="4302651"/>
              <a:ext cx="1304635" cy="1803753"/>
              <a:chOff x="1435741" y="3154410"/>
              <a:chExt cx="1304635" cy="1803753"/>
            </a:xfrm>
          </p:grpSpPr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3BE3CFB-79EF-46B3-B885-C590E1FFCCB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4255046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3CEC012-6C4D-4FA6-13FD-D7443D6FED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4143861"/>
                    <a:ext cx="169918" cy="2223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8571" r="-32143" b="-29730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0A816B5-53E3-F589-38D2-8FB5899DC4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4255046"/>
                <a:ext cx="0" cy="4165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DDD4A81F-E446-8C5B-C4B6-971AC4B98C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4735794"/>
                    <a:ext cx="165110" cy="22236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/>
                  <p:nvPr/>
                </p:nvSpPr>
                <p:spPr>
                  <a:xfrm>
                    <a:off x="2391082" y="4290780"/>
                    <a:ext cx="34663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fr-FR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CC432440-AFBD-FE2E-238F-FB732EA55D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91082" y="4290780"/>
                    <a:ext cx="346633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8772" t="-2174" r="-17544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/>
                  <p:nvPr/>
                </p:nvSpPr>
                <p:spPr>
                  <a:xfrm>
                    <a:off x="2388421" y="3868311"/>
                    <a:ext cx="351955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oMath>
                      </m:oMathPara>
                    </a14:m>
                    <a:endParaRPr lang="fr-FR" dirty="0"/>
                  </a:p>
                </p:txBody>
              </p:sp>
            </mc:Choice>
            <mc:Fallback xmlns="">
              <p:sp>
                <p:nvSpPr>
                  <p:cNvPr id="50" name="TextBox 49">
                    <a:extLst>
                      <a:ext uri="{FF2B5EF4-FFF2-40B4-BE49-F238E27FC236}">
                        <a16:creationId xmlns:a16="http://schemas.microsoft.com/office/drawing/2014/main" id="{4066B23E-CB7A-24DB-69DB-5E458707C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88421" y="3868311"/>
                    <a:ext cx="351955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8772" t="-2222" r="-1929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0329C849-FD05-E48F-7B3A-455288FE67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85090" y="3279270"/>
                <a:ext cx="48771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/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291721E5-D838-9684-957E-F4B2D764E8F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35741" y="3154410"/>
                    <a:ext cx="169918" cy="22236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28571" r="-32143" b="-30556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4CCB477B-68D4-66E8-9099-532A344293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72806" y="3279270"/>
                <a:ext cx="0" cy="1660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/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A9B3E65F-92A4-D8EE-10ED-0F9447D71C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51" y="3430485"/>
                    <a:ext cx="165110" cy="22236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2222" r="-22222" b="-8108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D125323C-5C14-F193-F991-30FAE1066184}"/>
                </a:ext>
              </a:extLst>
            </p:cNvPr>
            <p:cNvGrpSpPr/>
            <p:nvPr/>
          </p:nvGrpSpPr>
          <p:grpSpPr>
            <a:xfrm>
              <a:off x="1699654" y="4952326"/>
              <a:ext cx="1544379" cy="901924"/>
              <a:chOff x="1699654" y="4952326"/>
              <a:chExt cx="1544379" cy="901924"/>
            </a:xfrm>
          </p:grpSpPr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9E8E7F2C-74F6-4532-DDC7-7644551959A7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B48B2373-3BE8-8DA8-0C01-F9A3AD3ED0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Arc 43">
                <a:extLst>
                  <a:ext uri="{FF2B5EF4-FFF2-40B4-BE49-F238E27FC236}">
                    <a16:creationId xmlns:a16="http://schemas.microsoft.com/office/drawing/2014/main" id="{85D0D423-6440-EDF0-0B59-8D2843A8BF31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5" name="Arc 44">
                <a:extLst>
                  <a:ext uri="{FF2B5EF4-FFF2-40B4-BE49-F238E27FC236}">
                    <a16:creationId xmlns:a16="http://schemas.microsoft.com/office/drawing/2014/main" id="{FE8E84BD-8DB9-8C32-A2D5-836E000D5D67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Isosceles Triangle 45">
                <a:extLst>
                  <a:ext uri="{FF2B5EF4-FFF2-40B4-BE49-F238E27FC236}">
                    <a16:creationId xmlns:a16="http://schemas.microsoft.com/office/drawing/2014/main" id="{E8F1C0D4-E7BF-A56A-66B8-2EF66503523C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7" name="Isosceles Triangle 46">
                <a:extLst>
                  <a:ext uri="{FF2B5EF4-FFF2-40B4-BE49-F238E27FC236}">
                    <a16:creationId xmlns:a16="http://schemas.microsoft.com/office/drawing/2014/main" id="{FF99D8DF-EB3C-7D2B-91C5-6DA397B1020C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D80C00-81CF-0ACA-2B22-AD88491FC8A1}"/>
                </a:ext>
              </a:extLst>
            </p:cNvPr>
            <p:cNvCxnSpPr/>
            <p:nvPr/>
          </p:nvCxnSpPr>
          <p:spPr>
            <a:xfrm flipH="1">
              <a:off x="1447764" y="4792980"/>
              <a:ext cx="3276636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198DBCAD-8DE2-B26A-F28F-DE975A13CF1C}"/>
                </a:ext>
              </a:extLst>
            </p:cNvPr>
            <p:cNvGrpSpPr/>
            <p:nvPr/>
          </p:nvGrpSpPr>
          <p:grpSpPr>
            <a:xfrm>
              <a:off x="1713173" y="3988565"/>
              <a:ext cx="1544379" cy="901924"/>
              <a:chOff x="1699654" y="4952326"/>
              <a:chExt cx="1544379" cy="901924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F3F9B1D8-9D10-F88F-4092-C5BE6B1D1EAA}"/>
                  </a:ext>
                </a:extLst>
              </p:cNvPr>
              <p:cNvCxnSpPr/>
              <p:nvPr/>
            </p:nvCxnSpPr>
            <p:spPr>
              <a:xfrm>
                <a:off x="1700920" y="5403881"/>
                <a:ext cx="1508760" cy="0"/>
              </a:xfrm>
              <a:prstGeom prst="straightConnector1">
                <a:avLst/>
              </a:prstGeom>
              <a:ln w="38100">
                <a:solidFill>
                  <a:srgbClr val="3890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2000" i="1" smtClean="0">
                                  <a:solidFill>
                                    <a:srgbClr val="38903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fr-FR" sz="2000" b="0" i="1" smtClean="0">
                                      <a:solidFill>
                                        <a:srgbClr val="38903A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2000" dirty="0">
                      <a:solidFill>
                        <a:srgbClr val="38903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DB244FD-9C5A-2D4B-196B-CA6F26C94A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738" y="5006421"/>
                    <a:ext cx="347211" cy="34515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789" r="-3509" b="-15789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Arc 36">
                <a:extLst>
                  <a:ext uri="{FF2B5EF4-FFF2-40B4-BE49-F238E27FC236}">
                    <a16:creationId xmlns:a16="http://schemas.microsoft.com/office/drawing/2014/main" id="{3E97DF05-5490-31B1-A805-F06F41AA3A12}"/>
                  </a:ext>
                </a:extLst>
              </p:cNvPr>
              <p:cNvSpPr/>
              <p:nvPr/>
            </p:nvSpPr>
            <p:spPr>
              <a:xfrm>
                <a:off x="1700920" y="5403288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8" name="Arc 37">
                <a:extLst>
                  <a:ext uri="{FF2B5EF4-FFF2-40B4-BE49-F238E27FC236}">
                    <a16:creationId xmlns:a16="http://schemas.microsoft.com/office/drawing/2014/main" id="{B2354A2E-C08C-81D8-2AFE-6DC06DC0D8B4}"/>
                  </a:ext>
                </a:extLst>
              </p:cNvPr>
              <p:cNvSpPr/>
              <p:nvPr/>
            </p:nvSpPr>
            <p:spPr>
              <a:xfrm flipV="1">
                <a:off x="1699654" y="4952326"/>
                <a:ext cx="1508760" cy="450962"/>
              </a:xfrm>
              <a:prstGeom prst="arc">
                <a:avLst>
                  <a:gd name="adj1" fmla="val 16200000"/>
                  <a:gd name="adj2" fmla="val 21318415"/>
                </a:avLst>
              </a:prstGeom>
              <a:ln w="28575">
                <a:solidFill>
                  <a:srgbClr val="38903A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9" name="Isosceles Triangle 38">
                <a:extLst>
                  <a:ext uri="{FF2B5EF4-FFF2-40B4-BE49-F238E27FC236}">
                    <a16:creationId xmlns:a16="http://schemas.microsoft.com/office/drawing/2014/main" id="{96F9CB74-D7AB-3B25-38FB-F4F08ECD4546}"/>
                  </a:ext>
                </a:extLst>
              </p:cNvPr>
              <p:cNvSpPr/>
              <p:nvPr/>
            </p:nvSpPr>
            <p:spPr>
              <a:xfrm rot="2778153">
                <a:off x="3174565" y="5186224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0" name="Isosceles Triangle 39">
                <a:extLst>
                  <a:ext uri="{FF2B5EF4-FFF2-40B4-BE49-F238E27FC236}">
                    <a16:creationId xmlns:a16="http://schemas.microsoft.com/office/drawing/2014/main" id="{83616F32-5E18-8F61-D331-A3D22F87DE3F}"/>
                  </a:ext>
                </a:extLst>
              </p:cNvPr>
              <p:cNvSpPr/>
              <p:nvPr/>
            </p:nvSpPr>
            <p:spPr>
              <a:xfrm rot="8004520">
                <a:off x="3164379" y="5548707"/>
                <a:ext cx="67698" cy="71238"/>
              </a:xfrm>
              <a:prstGeom prst="triangle">
                <a:avLst/>
              </a:prstGeom>
              <a:solidFill>
                <a:srgbClr val="38903A"/>
              </a:solidFill>
              <a:ln>
                <a:solidFill>
                  <a:srgbClr val="38903A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0702EA55-3B7D-8E0A-598A-0BCE3646F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E3BAB-D466-9F44-61A6-DD7BAEFAD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115552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1915C8-D355-0228-41D3-02B545BB249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/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C6CBC8C4-39F6-4601-41C5-54ED85F9A5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176" y="1124075"/>
                <a:ext cx="4070565" cy="1423878"/>
              </a:xfrm>
              <a:prstGeom prst="rect">
                <a:avLst/>
              </a:prstGeom>
              <a:blipFill>
                <a:blip r:embed="rId17"/>
                <a:stretch>
                  <a:fillRect l="-446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376131" y="1128398"/>
            <a:ext cx="7320105" cy="5123781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1EF4D00-8389-C68B-63A5-8B73E75ADB55}"/>
              </a:ext>
            </a:extLst>
          </p:cNvPr>
          <p:cNvGrpSpPr/>
          <p:nvPr/>
        </p:nvGrpSpPr>
        <p:grpSpPr>
          <a:xfrm>
            <a:off x="5836466" y="1122202"/>
            <a:ext cx="3053221" cy="4234657"/>
            <a:chOff x="6451777" y="1536488"/>
            <a:chExt cx="2485046" cy="39197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/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ln w="38100">
                  <a:solidFill>
                    <a:schemeClr val="accent6"/>
                  </a:solidFill>
                </a:ln>
              </p:spPr>
              <p:style>
                <a:lnRef idx="2">
                  <a:schemeClr val="accent5"/>
                </a:lnRef>
                <a:fillRef idx="1">
                  <a:schemeClr val="lt1"/>
                </a:fillRef>
                <a:effectRef idx="0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t"/>
                <a:lstStyle/>
                <a:p>
                  <a:pPr algn="ctr"/>
                  <a:r>
                    <a:rPr lang="fr-FR" sz="1600" b="1" dirty="0">
                      <a:solidFill>
                        <a:schemeClr val="tx1"/>
                      </a:solidFill>
                    </a:rPr>
                    <a:t>Protocole</a:t>
                  </a:r>
                </a:p>
                <a:p>
                  <a:endParaRPr lang="fr-FR" sz="1600" b="1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fr-FR" sz="1600" dirty="0">
                      <a:solidFill>
                        <a:schemeClr val="tx1"/>
                      </a:solidFill>
                    </a:rPr>
                    <a:t>Utilisation de Bobine Helmholtz pour contrôler le champ parasite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600" dirty="0">
                    <a:solidFill>
                      <a:schemeClr val="tx1"/>
                    </a:solidFill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endParaRPr lang="fr-FR" sz="1200" dirty="0">
                    <a:solidFill>
                      <a:srgbClr val="C0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14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d>
                          <m:d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sz="1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den>
                            </m:f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3/2</m:t>
                            </m:r>
                          </m:sup>
                        </m:sSup>
                        <m:f>
                          <m:f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num>
                          <m:den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den>
                        </m:f>
                        <m:box>
                          <m:box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  <m:sub>
                                    <m:r>
                                      <a:rPr lang="fr-FR" sz="14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h𝑒𝑙</m:t>
                                    </m:r>
                                  </m:sub>
                                </m:sSub>
                                <m:r>
                                  <a:rPr lang="fr-FR" sz="14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</m:den>
                            </m:f>
                          </m:e>
                        </m:box>
                        <m:func>
                          <m:funcPr>
                            <m:ctrlP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4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𝑓𝑡</m:t>
                            </m:r>
                            <m:r>
                              <a:rPr lang="fr-FR" sz="1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oMath>
                    </m:oMathPara>
                  </a14:m>
                  <a:endParaRPr lang="fr-FR" sz="1400" dirty="0">
                    <a:solidFill>
                      <a:srgbClr val="C00000"/>
                    </a:solidFill>
                  </a:endParaRPr>
                </a:p>
                <a:p>
                  <a:endParaRPr lang="fr-FR" sz="1600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DAA78053-9B3F-8A75-512E-06D3655B05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51777" y="1536488"/>
                  <a:ext cx="2485046" cy="3919700"/>
                </a:xfrm>
                <a:prstGeom prst="rect">
                  <a:avLst/>
                </a:prstGeom>
                <a:blipFill>
                  <a:blip r:embed="rId5"/>
                  <a:stretch>
                    <a:fillRect l="-197"/>
                  </a:stretch>
                </a:blipFill>
                <a:ln w="3810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2" descr="Bobine de Helmholtz sur socle : PAM067370">
              <a:extLst>
                <a:ext uri="{FF2B5EF4-FFF2-40B4-BE49-F238E27FC236}">
                  <a16:creationId xmlns:a16="http://schemas.microsoft.com/office/drawing/2014/main" id="{97F9CA38-454F-5EAF-74D4-E7E8E328C6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7409" y="2918502"/>
              <a:ext cx="2227030" cy="1474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8480ED95-278F-2E07-99E5-455FF7B8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55ABC91-EC81-CF51-B80D-BF081ACF7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9897809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ECEBE25E-EC36-DF12-19EF-138C3E8BD4F5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A116-B257-46DC-D532-904FDAB80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3C9AB909-227A-DB8E-343F-90192B47A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D664516-AB78-AED6-40C8-D2A80E494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5816B72-3664-AD7A-2C6F-0C2601756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150C7D-3995-CF44-7A27-E64A72A0798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FA048-D700-E2AB-6380-D180305A67B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2926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9A2BA09-D315-AB3E-644B-0B9931E9D3B2}"/>
              </a:ext>
            </a:extLst>
          </p:cNvPr>
          <p:cNvSpPr txBox="1"/>
          <p:nvPr/>
        </p:nvSpPr>
        <p:spPr>
          <a:xfrm>
            <a:off x="386751" y="4662846"/>
            <a:ext cx="3934324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0B0834-923C-F120-44F2-E272D1DA1003}"/>
              </a:ext>
            </a:extLst>
          </p:cNvPr>
          <p:cNvSpPr txBox="1"/>
          <p:nvPr/>
        </p:nvSpPr>
        <p:spPr>
          <a:xfrm>
            <a:off x="4822925" y="4662846"/>
            <a:ext cx="3934323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EF0AF5-949D-F4AF-8A03-381DB55BB26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2" y="1325239"/>
            <a:ext cx="3934322" cy="3223901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BBB10803-4ED7-0438-C83F-5BB84BDC62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2633CA5-DBE8-F072-4B8B-B1337EE46CF9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B07A8C91-D344-8220-F4D0-0390C4F393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3151F3-B1B1-1E40-BF72-84C20DB90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48D012-47CC-DD8A-C7E0-8A5F8FCA4DBA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0AA2476-9161-6BA5-BB0D-B1CF58A7A5B0}"/>
                  </a:ext>
                </a:extLst>
              </p:cNvPr>
              <p:cNvSpPr txBox="1"/>
              <p:nvPr/>
            </p:nvSpPr>
            <p:spPr>
              <a:xfrm>
                <a:off x="386751" y="5056399"/>
                <a:ext cx="3934323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0AA2476-9161-6BA5-BB0D-B1CF58A7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751" y="5056399"/>
                <a:ext cx="3934323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8C55BB-6681-EA6F-DCEE-0416128CD7DF}"/>
                  </a:ext>
                </a:extLst>
              </p:cNvPr>
              <p:cNvSpPr txBox="1"/>
              <p:nvPr/>
            </p:nvSpPr>
            <p:spPr>
              <a:xfrm>
                <a:off x="4822924" y="5038162"/>
                <a:ext cx="393432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D8C55BB-6681-EA6F-DCEE-0416128CD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2924" y="5038162"/>
                <a:ext cx="3934321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E144350A-8E55-4DF2-B1A9-31785C13F3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19579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FDCA-BB39-EE18-BB35-2E0E1E4D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58D75C07-2267-97C9-DF3E-D3ABD94902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39CD3E-4169-1389-4E27-DA0661374473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0D0C938-4ECB-1DA1-67BD-D63764B87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BCF8FF-ACF9-FB8B-E151-7B5C4BAF6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7E0D461-FC05-B3F5-62F5-6B6EE8EE068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BC8908D-38C7-4B78-A6DE-6A8D885E563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E9D709F9-B44E-10BF-9ED9-CFCC31C7C88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E33BF853-DFE6-1FC4-3C9D-A35C8A352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759499-4633-7F7C-612F-2C1B14CA0C63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2A4C42-E8E3-0A32-60A1-2B34526A1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3034487-F93D-3D84-24EC-21435744B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178006"/>
              </p:ext>
            </p:extLst>
          </p:nvPr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/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96F6E40A-A2E8-4225-2918-CE1F728895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2163818"/>
                <a:ext cx="3208020" cy="39931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/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sensibilité aux champs extérieurs :</a:t>
                </a:r>
                <a:endParaRPr lang="fr-FR" sz="1400" b="0" i="1" dirty="0">
                  <a:solidFill>
                    <a:srgbClr val="C0000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 =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|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AFFEE1F-3D02-090A-479D-90A16735DD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28398"/>
                <a:ext cx="3208021" cy="9158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5770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8DDE-8058-D513-454A-425B15CD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" descr="Python Logo PNG Transparent – Brands Logos">
            <a:extLst>
              <a:ext uri="{FF2B5EF4-FFF2-40B4-BE49-F238E27FC236}">
                <a16:creationId xmlns:a16="http://schemas.microsoft.com/office/drawing/2014/main" id="{F5895879-FA73-2DAB-B3BB-0EA8ABC2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09363" y="468874"/>
            <a:ext cx="542288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716C992-E13E-0C7C-33FA-13E5294689C1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2288D99-DD40-2C00-82EB-9E0C534FE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46788A-3B58-E29A-0DB6-BBBFF6C7E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AE00CE6-D5A0-044B-9664-AA74EA5B7C6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490711A-EE66-D3C4-F373-ECF24AFCC7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B9BA49DA-B097-C954-0946-5985D29DEEF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fr-FR" dirty="0"/>
            </a:p>
          </p:txBody>
        </p:sp>
      </p:grpSp>
      <p:sp>
        <p:nvSpPr>
          <p:cNvPr id="16" name="Footer Placeholder 2">
            <a:extLst>
              <a:ext uri="{FF2B5EF4-FFF2-40B4-BE49-F238E27FC236}">
                <a16:creationId xmlns:a16="http://schemas.microsoft.com/office/drawing/2014/main" id="{971F3444-3E92-D593-44DB-E9F2FEBD7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6C04D7-566D-248D-E11E-E3B91020283C}"/>
              </a:ext>
            </a:extLst>
          </p:cNvPr>
          <p:cNvSpPr txBox="1"/>
          <p:nvPr/>
        </p:nvSpPr>
        <p:spPr>
          <a:xfrm>
            <a:off x="756758" y="60582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10EB545-BE7E-8AD0-E286-8195F37ABF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0186" y="1128398"/>
            <a:ext cx="5175257" cy="502856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2BEA36-52BA-9B9A-D07A-F7BCCA94D443}"/>
              </a:ext>
            </a:extLst>
          </p:cNvPr>
          <p:cNvGraphicFramePr>
            <a:graphicFrameLocks noGrp="1"/>
          </p:cNvGraphicFramePr>
          <p:nvPr/>
        </p:nvGraphicFramePr>
        <p:xfrm>
          <a:off x="326176" y="41413"/>
          <a:ext cx="856351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4504">
                  <a:extLst>
                    <a:ext uri="{9D8B030D-6E8A-4147-A177-3AD203B41FA5}">
                      <a16:colId xmlns:a16="http://schemas.microsoft.com/office/drawing/2014/main" val="1619084455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13699801"/>
                    </a:ext>
                  </a:extLst>
                </a:gridCol>
                <a:gridCol w="2854504">
                  <a:extLst>
                    <a:ext uri="{9D8B030D-6E8A-4147-A177-3AD203B41FA5}">
                      <a16:colId xmlns:a16="http://schemas.microsoft.com/office/drawing/2014/main" val="29905955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Filtrage électrique interne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b="0" dirty="0">
                          <a:solidFill>
                            <a:schemeClr val="bg1"/>
                          </a:solidFill>
                        </a:rPr>
                        <a:t>Induction et filtrage spatial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>
                          <a:solidFill>
                            <a:schemeClr val="bg1"/>
                          </a:solidFill>
                        </a:rPr>
                        <a:t>Reduction du bourdonnement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645671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/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Ecarts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=7,7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=73,7%</m:t>
                      </m:r>
                    </m:oMath>
                  </m:oMathPara>
                </a14:m>
                <a:endParaRPr lang="fr-FR" b="1" u="sng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Estimation de</a:t>
                </a:r>
                <a14:m>
                  <m:oMath xmlns:m="http://schemas.openxmlformats.org/officeDocument/2006/math"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4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800DBD7-FF42-C7F4-AA50-92867DF0A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1666" y="1112100"/>
                <a:ext cx="3208019" cy="50448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83641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26443" y="419481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66C661-B607-061A-A9F8-3C818C718700}"/>
              </a:ext>
            </a:extLst>
          </p:cNvPr>
          <p:cNvSpPr txBox="1"/>
          <p:nvPr/>
        </p:nvSpPr>
        <p:spPr>
          <a:xfrm>
            <a:off x="349675" y="2989072"/>
            <a:ext cx="84446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Micro Singlecoil 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Sensible aux champs extérieurs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Spectre riche dans les hautes fréquences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r>
              <a:rPr lang="fr-FR" b="1" u="sng" dirty="0"/>
              <a:t>Micro Humbucker :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Reduction efficace du bourdonnement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Filtrage spatial accru qui atténue certaines harmoniques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  <a:p>
            <a:r>
              <a:rPr lang="fr-FR" b="1" u="sng" dirty="0"/>
              <a:t>Donc :</a:t>
            </a:r>
          </a:p>
          <a:p>
            <a:r>
              <a:rPr lang="fr-FR" dirty="0"/>
              <a:t>Nécessité de faire des </a:t>
            </a:r>
            <a:r>
              <a:rPr lang="fr-FR" u="sng" dirty="0">
                <a:solidFill>
                  <a:srgbClr val="C00000"/>
                </a:solidFill>
              </a:rPr>
              <a:t>compromis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29CF280-6AA1-02B9-5766-0A88FFF47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9328" y="1181389"/>
            <a:ext cx="7425344" cy="8617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Dans quelle mesure </a:t>
            </a:r>
            <a:r>
              <a:rPr lang="fr-FR" sz="1600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permet-il </a:t>
            </a:r>
            <a:r>
              <a:rPr lang="fr-FR" sz="1600" b="1" dirty="0"/>
              <a:t>d'éliminer les parasites </a:t>
            </a:r>
            <a:r>
              <a:rPr lang="fr-FR" sz="1600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1600" dirty="0"/>
              <a:t>Comment cela impacte-t-il </a:t>
            </a:r>
            <a:r>
              <a:rPr lang="fr-FR" sz="1600" b="1" dirty="0"/>
              <a:t>la richesse du son </a:t>
            </a:r>
            <a:r>
              <a:rPr lang="fr-FR" sz="1600" dirty="0"/>
              <a:t>?</a:t>
            </a:r>
            <a:endParaRPr kumimoji="0" lang="fr-FR" altLang="fr-FR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2658019" y="3900085"/>
            <a:ext cx="672476" cy="540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800" b="1" dirty="0"/>
                <a:t>Conclusion</a:t>
              </a:r>
            </a:p>
          </p:txBody>
        </p:sp>
      </p:grp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FB4953A3-EECA-18B3-CF42-FBC3F9802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436682" y="2838894"/>
            <a:ext cx="655914" cy="540000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F79A5BE-F8B6-F182-EAE5-5A74F73561AD}"/>
              </a:ext>
            </a:extLst>
          </p:cNvPr>
          <p:cNvSpPr txBox="1"/>
          <p:nvPr/>
        </p:nvSpPr>
        <p:spPr>
          <a:xfrm>
            <a:off x="720826" y="772958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Problématique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153EAE-61C2-F213-92AF-9F717B075800}"/>
              </a:ext>
            </a:extLst>
          </p:cNvPr>
          <p:cNvSpPr txBox="1"/>
          <p:nvPr/>
        </p:nvSpPr>
        <p:spPr>
          <a:xfrm>
            <a:off x="720825" y="2388402"/>
            <a:ext cx="77023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000" dirty="0">
                <a:latin typeface="Arial Black" panose="020B0A04020102020204" pitchFamily="34" charset="0"/>
              </a:rPr>
              <a:t>Conclusion </a:t>
            </a:r>
          </a:p>
        </p:txBody>
      </p:sp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5012B3B3-5B7E-B87A-8C7E-CE9EC85084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0920" y="3551700"/>
            <a:ext cx="252000" cy="252000"/>
          </a:xfrm>
          <a:prstGeom prst="rect">
            <a:avLst/>
          </a:prstGeom>
        </p:spPr>
      </p:pic>
      <p:pic>
        <p:nvPicPr>
          <p:cNvPr id="19" name="Graphic 18" descr="Checkmark with solid fill">
            <a:extLst>
              <a:ext uri="{FF2B5EF4-FFF2-40B4-BE49-F238E27FC236}">
                <a16:creationId xmlns:a16="http://schemas.microsoft.com/office/drawing/2014/main" id="{2F3153A6-DA11-EE61-3CA2-F2B46B137E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0920" y="4377858"/>
            <a:ext cx="252000" cy="252000"/>
          </a:xfrm>
          <a:prstGeom prst="rect">
            <a:avLst/>
          </a:prstGeom>
        </p:spPr>
      </p:pic>
      <p:pic>
        <p:nvPicPr>
          <p:cNvPr id="21" name="Graphic 20" descr="Close with solid fill">
            <a:extLst>
              <a:ext uri="{FF2B5EF4-FFF2-40B4-BE49-F238E27FC236}">
                <a16:creationId xmlns:a16="http://schemas.microsoft.com/office/drawing/2014/main" id="{24AE6B43-99B1-097D-E732-FBC3A25B7F5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775" y="3317129"/>
            <a:ext cx="252000" cy="252000"/>
          </a:xfrm>
          <a:prstGeom prst="rect">
            <a:avLst/>
          </a:prstGeom>
        </p:spPr>
      </p:pic>
      <p:pic>
        <p:nvPicPr>
          <p:cNvPr id="23" name="Graphic 22" descr="Close with solid fill">
            <a:extLst>
              <a:ext uri="{FF2B5EF4-FFF2-40B4-BE49-F238E27FC236}">
                <a16:creationId xmlns:a16="http://schemas.microsoft.com/office/drawing/2014/main" id="{4E04D3B4-BD96-EA47-260F-84C021B0D3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3775" y="4690634"/>
            <a:ext cx="252000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6DEC9D-D575-DBBD-0410-59D2ED43304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DCCB68E-E8C2-CC4C-3A75-B5BA7F6D35A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F93ABBD-287B-55E3-11A3-68FE11A2765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332398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Algorithme de Levenberg-Marquardt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Difficultés rencontrées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non fonctionnel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Signal non exploitable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endParaRPr lang="fr-FR" sz="140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AA300-0088-5FE7-E14B-005D0418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40" y="1121470"/>
            <a:ext cx="849111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fr-FR" sz="1400" b="1" dirty="0"/>
              <a:t>[4] </a:t>
            </a:r>
            <a:r>
              <a:rPr lang="fr-FR" altLang="fr-FR" sz="1400" dirty="0">
                <a:latin typeface="Arial" panose="020B0604020202020204" pitchFamily="34" charset="0"/>
              </a:rPr>
              <a:t>N. G. Horton and T. R. Moore, “Modeling the </a:t>
            </a:r>
            <a:r>
              <a:rPr lang="fr-FR" altLang="fr-FR" sz="1400" dirty="0" err="1">
                <a:latin typeface="Arial" panose="020B0604020202020204" pitchFamily="34" charset="0"/>
              </a:rPr>
              <a:t>magnetic</a:t>
            </a:r>
            <a:r>
              <a:rPr lang="fr-FR" altLang="fr-FR" sz="1400" dirty="0">
                <a:latin typeface="Arial" panose="020B0604020202020204" pitchFamily="34" charset="0"/>
              </a:rPr>
              <a:t> pickup of an electric guitar,” </a:t>
            </a:r>
            <a:r>
              <a:rPr lang="fr-FR" altLang="fr-FR" sz="1400" i="1" dirty="0">
                <a:latin typeface="Arial" panose="020B0604020202020204" pitchFamily="34" charset="0"/>
              </a:rPr>
              <a:t>American Journal of </a:t>
            </a:r>
            <a:r>
              <a:rPr lang="fr-FR" altLang="fr-FR" sz="1400" i="1" dirty="0" err="1">
                <a:latin typeface="Arial" panose="020B0604020202020204" pitchFamily="34" charset="0"/>
              </a:rPr>
              <a:t>Physics</a:t>
            </a:r>
            <a:r>
              <a:rPr lang="fr-FR" altLang="fr-FR" sz="1400" dirty="0">
                <a:latin typeface="Arial" panose="020B0604020202020204" pitchFamily="34" charset="0"/>
              </a:rPr>
              <a:t>, vol. 77, no. 2, pp. 144–150, 2009, </a:t>
            </a:r>
            <a:r>
              <a:rPr lang="fr-FR" altLang="fr-FR" sz="1400" dirty="0" err="1">
                <a:latin typeface="Arial" panose="020B0604020202020204" pitchFamily="34" charset="0"/>
              </a:rPr>
              <a:t>doi</a:t>
            </a:r>
            <a:r>
              <a:rPr lang="fr-FR" altLang="fr-FR" sz="1400" dirty="0">
                <a:latin typeface="Arial" panose="020B0604020202020204" pitchFamily="34" charset="0"/>
              </a:rPr>
              <a:t>: 10.1119/1.2990663.</a:t>
            </a:r>
            <a:endParaRPr lang="fr-FR" sz="1400" dirty="0"/>
          </a:p>
          <a:p>
            <a:endParaRPr lang="fr-FR" sz="1400" dirty="0"/>
          </a:p>
          <a:p>
            <a:r>
              <a:rPr lang="en-GB" sz="1400" b="1" dirty="0"/>
              <a:t>[5]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[6]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[9]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91F70DF-5274-3947-B274-A2EAF490D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D43332-F8BD-6E2C-04A6-7CBD2C448375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4935E0A-86AC-9436-7A04-23BB4DCFB9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A2E238EA-0333-80E5-6A4E-C1DD63F93CF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D5FC0E5-64EB-8361-1BFF-E07DE3179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D4207A-2DE2-DDB4-499E-645E1E9A06B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5F7D3D-AE97-12D7-592B-541818FBB0F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AC5D0688-E328-E5A7-E5DA-893DDDB0F23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3.1. Modèle Théorique : Notations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 l="-72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D22C1-5163-DFF3-B750-9677CA9F4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05887BE-C0C6-26B1-F07D-A7C065B7F1E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33D505-1E0C-2999-0AA5-428C61C7DBB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D87F4FDF-66F9-8742-498D-DAA32629EAA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 dirty="0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3.2. Modèle Théorique : Micro SingleCoil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C6C170-7191-7DC0-F875-65C4BD15D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1B331E-825D-7998-84BB-C2CEA27EFC7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AA243EF-8D9A-619D-753B-253FFACAA1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E96EF237-2867-B9B6-4D1E-4353B4EF70F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3.3 Modèle Théorique : Micro Humbucker </a:t>
            </a:r>
            <a:r>
              <a:rPr lang="fr-FR" sz="1050" i="1" dirty="0"/>
              <a:t>cf. [3] </a:t>
            </a:r>
            <a:endParaRPr lang="fr-FR" sz="24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oter Placeholder 2">
            <a:extLst>
              <a:ext uri="{FF2B5EF4-FFF2-40B4-BE49-F238E27FC236}">
                <a16:creationId xmlns:a16="http://schemas.microsoft.com/office/drawing/2014/main" id="{6EE3699D-46D5-2B36-C196-9E11A94CA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5EFADAD-C3A6-A8E3-9DC1-9398FA59CC54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F3696E1-2746-792F-E1BE-E73591F4906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B6D7A170-2D3D-68AD-F6C5-30ED8CE3B4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A5ACE84-5626-8115-C7EF-EDF0A9FC34E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67AB326F-B451-3291-F97D-2AF3285609E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F664590-68FE-ADBC-2FE3-CBDCBE8C5CA4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96939978-C48D-DF75-B928-C37568D0A9D7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27D1DF2-943B-5CAF-13EA-3EFD05819CC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A679511-ED67-39F6-B54C-E3546EA7EBF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Footer Placeholder 2">
              <a:extLst>
                <a:ext uri="{FF2B5EF4-FFF2-40B4-BE49-F238E27FC236}">
                  <a16:creationId xmlns:a16="http://schemas.microsoft.com/office/drawing/2014/main" id="{08F08D51-7AC0-340B-6A71-580DDDD059D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3.4. Modèle Théorique : Action d’un champ parasite</a:t>
            </a:r>
            <a:endParaRPr lang="fr-FR" sz="24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97B6E3-8EE4-F64E-7E5A-C4237D3CD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C135CFF-9836-7C54-0BFE-C55DA8EA6DF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B27E62F-509A-33EE-39F7-CF12A8D1868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9F154D45-8B11-2E2C-A9CF-70E8DE66B2B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4.1.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DADCD0-05A8-4491-060C-60273600E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199AE-6BDA-9E78-D2AC-12B65BFA809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A2FE95A-7C58-C364-4496-F6F80B21C1F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46DFC31C-7A2F-1100-C5CB-76209A433C67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9AED8-D051-72A1-0FAB-7881F8ACE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A012CD-4A4F-5077-ED00-68E3057666A1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79DF584-9CF7-B861-2268-C9DD0FDE375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9E59D5D1-9929-41AC-1C69-EDEF90D47D4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22C5B-8D73-CCE6-C1F4-7842FE0B8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AF5A9F0-2A4C-02C4-E2F8-B040A3F3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C534992-DB8E-40A8-C706-E82CEB302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7D9F10B-2163-F771-FC03-D7518738EB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9F3FB8-1FB5-8F1E-C164-C844ECA3D0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B39E1-B87E-8759-1895-1DEFEB3BB0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258F603-827C-9F7F-25B9-66795A26B2C3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/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Principe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Variante de l’algorithme des moindres carrés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b="1" u="sng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Combine 2 méthodes :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Descente de gradient</a:t>
                </a:r>
                <a:r>
                  <a:rPr lang="fr-FR" altLang="fr-FR" sz="1400" dirty="0"/>
                  <a:t> : Utilisée loin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Stabilité</a:t>
                </a:r>
                <a:endParaRPr lang="fr-FR" altLang="fr-FR" sz="1400" dirty="0"/>
              </a:p>
              <a:p>
                <a:pPr marL="285750" lvl="0" indent="-28575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fr-FR" altLang="fr-FR" sz="1400" b="1" dirty="0"/>
                  <a:t>Méthode de Gauss-Newton</a:t>
                </a:r>
                <a:r>
                  <a:rPr lang="fr-FR" altLang="fr-FR" sz="1400" dirty="0"/>
                  <a:t> : Utilisée proche du minimum </a:t>
                </a:r>
                <a:r>
                  <a:rPr lang="fr-FR" altLang="fr-FR" sz="1400" dirty="0">
                    <a:sym typeface="Wingdings" panose="05000000000000000000" pitchFamily="2" charset="2"/>
                  </a:rPr>
                  <a:t> rapidité</a:t>
                </a: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b="1" u="sng" dirty="0"/>
                  <a:t>Fonctionnement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α</m:t>
                          </m:r>
                          <m: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b="0" i="1" dirty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b="0" i="1" dirty="0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b="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1" i="1" smtClean="0">
                        <a:latin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fr-FR" altLang="fr-FR" sz="1400" dirty="0"/>
                  <a:t> : Matrice Jacobienne 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r</m:t>
                    </m:r>
                  </m:oMath>
                </a14:m>
                <a:r>
                  <a:rPr lang="fr-FR" altLang="fr-FR" sz="1400" dirty="0"/>
                  <a:t> : Vecteur résidus : image de l’erreur</a:t>
                </a:r>
              </a:p>
              <a:p>
                <a:pPr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fr-FR" altLang="fr-FR" sz="1400" dirty="0"/>
                  <a:t> : Taux d’apprentissage variable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↘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Gauss Newton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400" dirty="0">
                    <a:sym typeface="Wingdings" panose="05000000000000000000" pitchFamily="2" charset="2"/>
                  </a:rPr>
                  <a:t>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ϵ</m:t>
                    </m:r>
                    <m:r>
                      <a:rPr lang="fr-FR" sz="1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anose="05000000000000000000" pitchFamily="2" charset="2"/>
                      </a:rPr>
                      <m:t>↗</m:t>
                    </m:r>
                  </m:oMath>
                </a14:m>
                <a:r>
                  <a:rPr lang="fr-FR" sz="1400" dirty="0">
                    <a:sym typeface="Wingdings" panose="05000000000000000000" pitchFamily="2" charset="2"/>
                  </a:rPr>
                  <a:t> : Descente de Gradient 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BC72904-EEDC-1E60-1DCE-9D51B9D7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1564631"/>
                <a:ext cx="4264554" cy="4428905"/>
              </a:xfrm>
              <a:prstGeom prst="rect">
                <a:avLst/>
              </a:prstGeom>
              <a:blipFill>
                <a:blip r:embed="rId2"/>
                <a:stretch>
                  <a:fillRect l="-429" t="-27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89229-D649-26C3-F99E-5A1F94B1F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A0C246C-3384-6CE8-D081-A3B270E39908}"/>
              </a:ext>
            </a:extLst>
          </p:cNvPr>
          <p:cNvGrpSpPr/>
          <p:nvPr/>
        </p:nvGrpSpPr>
        <p:grpSpPr>
          <a:xfrm>
            <a:off x="345440" y="1587720"/>
            <a:ext cx="3617103" cy="4428906"/>
            <a:chOff x="345440" y="1587720"/>
            <a:chExt cx="3617103" cy="4428906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C7B3D5-E778-E53F-4C95-9EB24A7DB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5440" y="1587720"/>
              <a:ext cx="3617103" cy="44289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/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R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fr-FR" sz="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0.01</m:t>
                        </m:r>
                      </m:oMath>
                    </m:oMathPara>
                  </a14:m>
                  <a:endParaRPr lang="fr-FR" sz="400" b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sSup>
                          <m:sSupPr>
                            <m:ctrlP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sz="400" b="0" i="1" smtClean="0">
                                <a:latin typeface="Cambria Math" panose="02040503050406030204" pitchFamily="18" charset="0"/>
                              </a:rPr>
                              <m:t>−7</m:t>
                            </m:r>
                          </m:sup>
                        </m:sSup>
                      </m:oMath>
                    </m:oMathPara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9CF46D6-4EF4-F232-FD91-E6FB903823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131" y="2224466"/>
                  <a:ext cx="1021719" cy="194540"/>
                </a:xfrm>
                <a:prstGeom prst="rect">
                  <a:avLst/>
                </a:prstGeom>
                <a:blipFill>
                  <a:blip r:embed="rId4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/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:r>
                    <a:rPr lang="fr-FR" sz="400" dirty="0"/>
                    <a:t>Calcul de la descente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400" b="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14E73D5-40E1-FA40-17C0-BCA99FA1C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320037"/>
                  <a:ext cx="1021719" cy="61555"/>
                </a:xfrm>
                <a:prstGeom prst="rect">
                  <a:avLst/>
                </a:prstGeom>
                <a:blipFill>
                  <a:blip r:embed="rId5"/>
                  <a:stretch>
                    <a:fillRect t="-30000" b="-5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/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  <a:p>
                  <a:pPr algn="ctr"/>
                  <a:r>
                    <a:rPr lang="fr-FR" sz="400" dirty="0"/>
                    <a:t>Calcul du nouveau coût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fr-FR" sz="400" b="0" i="1" dirty="0" smtClean="0">
                              <a:latin typeface="Cambria Math" panose="02040503050406030204" pitchFamily="18" charset="0"/>
                            </a:rPr>
                            <m:t>new</m:t>
                          </m:r>
                        </m:sub>
                      </m:sSub>
                    </m:oMath>
                  </a14:m>
                  <a:endParaRPr lang="fr-FR" sz="4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1B9F17A-A7C1-8129-26C5-CCE20D05D2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5445" y="3793974"/>
                  <a:ext cx="1021719" cy="123111"/>
                </a:xfrm>
                <a:prstGeom prst="rect">
                  <a:avLst/>
                </a:prstGeom>
                <a:blipFill>
                  <a:blip r:embed="rId6"/>
                  <a:stretch>
                    <a:fillRect b="-2381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/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S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1EB7C6A-82BF-6C18-30B1-C44557546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064" y="4267912"/>
                  <a:ext cx="792480" cy="61555"/>
                </a:xfrm>
                <a:prstGeom prst="rect">
                  <a:avLst/>
                </a:prstGeom>
                <a:blipFill>
                  <a:blip r:embed="rId7"/>
                  <a:stretch>
                    <a:fillRect b="-3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/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4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400" b="0" i="1" dirty="0" smtClean="0">
                                <a:latin typeface="Cambria Math" panose="02040503050406030204" pitchFamily="18" charset="0"/>
                              </a:rPr>
                              <m:t>new</m:t>
                            </m:r>
                          </m:sub>
                        </m:sSub>
                      </m:oMath>
                    </m:oMathPara>
                  </a14:m>
                  <a:endParaRPr lang="fr-FR" sz="40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/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6B82192-B64C-FB73-EDE5-4E4226E366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4818364"/>
                  <a:ext cx="792480" cy="123111"/>
                </a:xfrm>
                <a:prstGeom prst="rect">
                  <a:avLst/>
                </a:prstGeom>
                <a:blipFill>
                  <a:blip r:embed="rId8"/>
                  <a:stretch>
                    <a:fillRect b="-1904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/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fr-FR" sz="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sz="4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35FB794-C1DA-068F-4A78-56EE092FA5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6531" y="4852144"/>
                  <a:ext cx="792480" cy="615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/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fr-FR" sz="400" i="1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&lt; </m:t>
                        </m:r>
                        <m:r>
                          <m:rPr>
                            <m:sty m:val="p"/>
                          </m:rPr>
                          <a:rPr lang="fr-FR" sz="400" b="0" i="1" dirty="0" smtClean="0">
                            <a:latin typeface="Cambria Math" panose="02040503050406030204" pitchFamily="18" charset="0"/>
                          </a:rPr>
                          <m:t>ϵ</m:t>
                        </m:r>
                      </m:oMath>
                    </m:oMathPara>
                  </a14:m>
                  <a:endParaRPr lang="fr-FR" sz="4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5D85D38D-5906-CE92-16D5-20B4131E9E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2961" y="5301827"/>
                  <a:ext cx="792480" cy="61555"/>
                </a:xfrm>
                <a:prstGeom prst="rect">
                  <a:avLst/>
                </a:prstGeom>
                <a:blipFill>
                  <a:blip r:embed="rId10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A1E15DCC-C532-6C84-21FE-198EF6A3869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293FA2D-845E-3E47-013D-1745D6C5C34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F8F13FDA-57A2-A33C-17C0-BF32E05AA34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32533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3032B-5CBA-D58B-6BE3-2ED288DB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8EB8047-B6FD-C262-D749-BA2812726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73D2A4C-27D1-DFAF-6C8D-8C59AA46A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D7F8ED1-3EF2-8A6F-4CB4-0CF972E8B4D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3105C7-994D-34E1-D1CE-ED0E36ED91C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7367D-863A-93E2-06BC-B67FD2AE2D2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4.3. Algorithme de Levenberg-Marquardt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09C9AA1-328D-AAD8-510E-EFF1E2B2A387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déterminer les valeurs des caractéristiques électriques des micros 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0023245-9CE3-A4CE-BCE1-4AF643DD4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des résidus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2, 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...</m:t>
                              </m:r>
                            </m:e>
                            <m:e>
                              <m:r>
                                <m:rPr>
                                  <m:sty m:val="p"/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ist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wn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acc>
                                <m:accPr>
                                  <m:chr m:val="̃"/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wn</m:t>
                                  </m:r>
                                </m:e>
                              </m:acc>
                              <m:r>
                                <m:rPr>
                                  <m:brk m:alnAt="7"/>
                                </m:rP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Le calcul du coût se fait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fr-FR" altLang="fr-FR" sz="1400" b="0" i="1" smtClean="0">
                          <a:latin typeface="Cambria Math" panose="02040503050406030204" pitchFamily="18" charset="0"/>
                        </a:rPr>
                        <m:t> = 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fr-FR" altLang="fr-FR" sz="1400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  <m:e>
                          <m:sSubSup>
                            <m:sSubSupPr>
                              <m:ctrl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lang="fr-FR" altLang="fr-F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L'incrément des paramètres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altLang="fr-FR" sz="1400" i="1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fr-FR" altLang="fr-FR" sz="1400" dirty="0"/>
                  <a:t> est calculé par :</a:t>
                </a:r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  <m: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fr-FR" altLang="fr-FR" sz="1400" i="1" dirty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p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d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J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fr-FR" altLang="fr-FR" sz="1400" i="1" dirty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fr-FR" altLang="fr-FR" sz="1400" i="1" dirty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fr-FR" altLang="fr-FR" sz="1400" dirty="0"/>
              </a:p>
              <a:p>
                <a:pPr lvl="0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Avec :</a:t>
                </a:r>
              </a:p>
              <a:p>
                <a:pPr algn="ctr" defTabSz="91440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fr-FR" altLang="fr-FR" sz="14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400" i="1">
                        <a:latin typeface="Cambria Math" panose="02040503050406030204" pitchFamily="18" charset="0"/>
                      </a:rPr>
                      <m:t>J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1)</m:t>
                                  </m:r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C</m:t>
                                  </m:r>
                                </m:den>
                              </m:f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2)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...</m:t>
                                  </m:r>
                                </m:e>
                                <m:e>
                                  <m:f>
                                    <m:f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ωn</m:t>
                                      </m:r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L</m:t>
                                      </m:r>
                                    </m:den>
                                  </m:f>
                                </m:e>
                              </m:eqArr>
                            </m:e>
                          </m:mr>
                        </m:m>
                        <m:eqArr>
                          <m:eqArrPr>
                            <m:ctrlPr>
                              <a:rPr lang="fr-FR" sz="1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2)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  <m:e>
                            <m:r>
                              <a:rPr lang="fr-FR" sz="1400" i="1">
                                <a:latin typeface="Cambria Math" panose="02040503050406030204" pitchFamily="18" charset="0"/>
                              </a:rPr>
                              <m:t>...</m:t>
                            </m:r>
                          </m:e>
                          <m:e>
                            <m:f>
                              <m:fPr>
                                <m:ctrl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ωn</m:t>
                                </m:r>
                                <m: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m:rPr>
                                    <m:brk m:alnAt="7"/>
                                  </m:rPr>
                                  <a:rPr lang="fr-FR" sz="1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R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fr-FR" sz="1400" i="1">
                                        <a:latin typeface="Cambria Math" panose="02040503050406030204" pitchFamily="18" charset="0"/>
                                      </a:rPr>
                                      <m:t>p</m:t>
                                    </m:r>
                                  </m:sub>
                                </m:sSub>
                              </m:den>
                            </m:f>
                          </m:e>
                        </m:eqArr>
                      </m:e>
                    </m:d>
                  </m:oMath>
                </a14:m>
                <a:endParaRPr lang="fr-FR" altLang="fr-FR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5537C42-FFED-9697-1F46-86E067148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522072"/>
              </a:xfrm>
              <a:prstGeom prst="rect">
                <a:avLst/>
              </a:prstGeom>
              <a:blipFill>
                <a:blip r:embed="rId3"/>
                <a:stretch>
                  <a:fillRect l="-633" t="-270" r="-2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E58A68-4175-1FE0-DFCA-73363B0F3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A23E38-AFFC-1314-34D8-5F474D741D9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94ED3C-0189-70F2-3340-35139884ACB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AD4961CD-E048-EDA5-4913-3A2CD9E86F6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81720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1AB9-AA17-A289-4177-5B57B838A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461287-D707-9296-0912-13EC57D94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1BD5E36-8BC4-63CE-35F9-3C9F06D3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0EEE6E3-6825-09CC-8862-418DD007C6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990FB-38EB-5B30-B3B4-746837CB7A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1DE8E9-33F3-561B-57C9-2E08CDBD20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5.1. Micro non fonctionnel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F09A-3743-0F99-88E7-941B18BE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AE53AF-2DFC-2830-AB17-39F8A9CFCD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" t="21864" r="1" b="35960"/>
          <a:stretch>
            <a:fillRect/>
          </a:stretch>
        </p:blipFill>
        <p:spPr>
          <a:xfrm>
            <a:off x="345440" y="1220122"/>
            <a:ext cx="8626173" cy="4852222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7CF1BFFB-993D-B165-6DEA-A362856BAE78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C24DCD0-D770-6EEC-A98D-F0CAB5B4CAB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180DDD7-F016-DA17-C609-C7473F9858D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45800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6F1A6-7284-DDB9-89E2-31D242A16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1A8F8BC-5457-F637-253E-501D5B3F2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56C9157-C10C-5A98-91D7-0B32B393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AD740C7-6183-2A85-C9EE-E8A2AE58902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0915BC-9847-71E7-29FD-55679B3E5BA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12408-1335-7F77-5E5C-005F476AC790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 Signal non exploitable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3A4084-0161-71FA-C96F-CB2E64B2C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64639" y="6459786"/>
            <a:ext cx="3617103" cy="365125"/>
          </a:xfrm>
        </p:spPr>
        <p:txBody>
          <a:bodyPr/>
          <a:lstStyle/>
          <a:p>
            <a:r>
              <a:rPr lang="fr-FR" sz="1050" b="1" dirty="0"/>
              <a:t>39662 – PTSI / PT Lycée F. Buisson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59B488-EBE7-4249-E492-60486C906D2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500" b="12500"/>
          <a:stretch>
            <a:fillRect/>
          </a:stretch>
        </p:blipFill>
        <p:spPr>
          <a:xfrm>
            <a:off x="345439" y="1390254"/>
            <a:ext cx="8472117" cy="4765566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882774D-4E1C-DAB6-0335-8D40E09BBD1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AA2265-51F0-27F3-BB79-D4CFB818BDD8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9363F4C3-D089-5724-B3D9-349343B259F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1600" b="1" dirty="0"/>
                <a:t>Annexes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06834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3640</Words>
  <Application>Microsoft Office PowerPoint</Application>
  <PresentationFormat>On-screen Show (4:3)</PresentationFormat>
  <Paragraphs>841</Paragraphs>
  <Slides>40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656</cp:revision>
  <dcterms:created xsi:type="dcterms:W3CDTF">2025-06-09T15:35:56Z</dcterms:created>
  <dcterms:modified xsi:type="dcterms:W3CDTF">2026-02-04T21:32:33Z</dcterms:modified>
</cp:coreProperties>
</file>