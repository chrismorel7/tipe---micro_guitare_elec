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6"/>
  </p:notesMasterIdLst>
  <p:sldIdLst>
    <p:sldId id="387" r:id="rId2"/>
    <p:sldId id="340" r:id="rId3"/>
    <p:sldId id="338" r:id="rId4"/>
    <p:sldId id="380" r:id="rId5"/>
    <p:sldId id="335" r:id="rId6"/>
    <p:sldId id="337" r:id="rId7"/>
    <p:sldId id="336" r:id="rId8"/>
    <p:sldId id="265" r:id="rId9"/>
    <p:sldId id="386" r:id="rId10"/>
    <p:sldId id="389" r:id="rId11"/>
    <p:sldId id="356" r:id="rId12"/>
    <p:sldId id="345" r:id="rId13"/>
    <p:sldId id="346" r:id="rId14"/>
    <p:sldId id="390" r:id="rId15"/>
    <p:sldId id="329" r:id="rId16"/>
    <p:sldId id="393" r:id="rId17"/>
    <p:sldId id="394" r:id="rId18"/>
    <p:sldId id="333" r:id="rId19"/>
    <p:sldId id="391" r:id="rId20"/>
    <p:sldId id="313" r:id="rId21"/>
    <p:sldId id="397" r:id="rId22"/>
    <p:sldId id="378" r:id="rId23"/>
    <p:sldId id="398" r:id="rId24"/>
    <p:sldId id="303" r:id="rId25"/>
    <p:sldId id="271" r:id="rId26"/>
    <p:sldId id="348" r:id="rId27"/>
    <p:sldId id="277" r:id="rId28"/>
    <p:sldId id="305" r:id="rId29"/>
    <p:sldId id="365" r:id="rId30"/>
    <p:sldId id="370" r:id="rId31"/>
    <p:sldId id="368" r:id="rId32"/>
    <p:sldId id="372" r:id="rId33"/>
    <p:sldId id="373" r:id="rId34"/>
    <p:sldId id="38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66AC"/>
    <a:srgbClr val="38903A"/>
    <a:srgbClr val="014095"/>
    <a:srgbClr val="629DD1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76" autoAdjust="0"/>
    <p:restoredTop sz="95975" autoAdjust="0"/>
  </p:normalViewPr>
  <p:slideViewPr>
    <p:cSldViewPr snapToGrid="0">
      <p:cViewPr>
        <p:scale>
          <a:sx n="125" d="100"/>
          <a:sy n="125" d="100"/>
        </p:scale>
        <p:origin x="989" y="1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5F695-4E49-870A-29E7-C511751B6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64BC5-1BB3-FFE7-EC85-E200E94427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F961D-1039-9AE2-52D5-0A1669232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10549-939F-B010-DB99-3739C13F2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6906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9C0FC-4B23-C77D-909C-EB608CE56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2F030-0C12-3582-3DB2-9E259F530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7B7B4B-AE32-9530-A187-40C0045B6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C1BB-4E2B-DE55-18E9-70B9A677F0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1386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9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microsoft.com/office/2007/relationships/hdphoto" Target="../media/hdphoto2.wdp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11" Type="http://schemas.openxmlformats.org/officeDocument/2006/relationships/image" Target="../media/image25.png"/><Relationship Id="rId10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8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microsoft.com/office/2007/relationships/hdphoto" Target="../media/hdphoto4.wdp"/><Relationship Id="rId3" Type="http://schemas.openxmlformats.org/officeDocument/2006/relationships/image" Target="../media/image282.png"/><Relationship Id="rId7" Type="http://schemas.openxmlformats.org/officeDocument/2006/relationships/image" Target="../media/image39.png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16.png"/><Relationship Id="rId10" Type="http://schemas.openxmlformats.org/officeDocument/2006/relationships/image" Target="../media/image15.png"/><Relationship Id="rId4" Type="http://schemas.openxmlformats.org/officeDocument/2006/relationships/image" Target="../media/image33.png"/><Relationship Id="rId9" Type="http://schemas.openxmlformats.org/officeDocument/2006/relationships/image" Target="../media/image41.png"/><Relationship Id="rId14" Type="http://schemas.openxmlformats.org/officeDocument/2006/relationships/image" Target="../media/image35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jpe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40.png"/><Relationship Id="rId7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7.png"/><Relationship Id="rId5" Type="http://schemas.openxmlformats.org/officeDocument/2006/relationships/image" Target="../media/image460.png"/><Relationship Id="rId4" Type="http://schemas.openxmlformats.org/officeDocument/2006/relationships/image" Target="../media/image450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3" Type="http://schemas.openxmlformats.org/officeDocument/2006/relationships/image" Target="../media/image49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10" Type="http://schemas.openxmlformats.org/officeDocument/2006/relationships/image" Target="../media/image35.jpeg"/><Relationship Id="rId9" Type="http://schemas.openxmlformats.org/officeDocument/2006/relationships/image" Target="../media/image5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jpe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8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60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microsoft.com/office/2007/relationships/hdphoto" Target="../media/hdphoto6.wdp"/><Relationship Id="rId15" Type="http://schemas.openxmlformats.org/officeDocument/2006/relationships/image" Target="../media/image35.jpe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58.png"/><Relationship Id="rId14" Type="http://schemas.openxmlformats.org/officeDocument/2006/relationships/image" Target="../media/image6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71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70.png"/><Relationship Id="rId5" Type="http://schemas.openxmlformats.org/officeDocument/2006/relationships/image" Target="../media/image620.png"/><Relationship Id="rId4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7" Type="http://schemas.openxmlformats.org/officeDocument/2006/relationships/image" Target="../media/image66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jpeg"/><Relationship Id="rId5" Type="http://schemas.openxmlformats.org/officeDocument/2006/relationships/image" Target="../media/image74.png"/><Relationship Id="rId4" Type="http://schemas.openxmlformats.org/officeDocument/2006/relationships/image" Target="../media/image6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jpe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jpeg"/><Relationship Id="rId5" Type="http://schemas.openxmlformats.org/officeDocument/2006/relationships/image" Target="../media/image75.png"/><Relationship Id="rId4" Type="http://schemas.openxmlformats.org/officeDocument/2006/relationships/image" Target="../media/image73.png"/><Relationship Id="rId9" Type="http://schemas.openxmlformats.org/officeDocument/2006/relationships/image" Target="../media/image8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77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6.png"/><Relationship Id="rId7" Type="http://schemas.openxmlformats.org/officeDocument/2006/relationships/image" Target="../media/image30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7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9.png"/><Relationship Id="rId4" Type="http://schemas.openxmlformats.org/officeDocument/2006/relationships/image" Target="../media/image9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83.png"/><Relationship Id="rId7" Type="http://schemas.openxmlformats.org/officeDocument/2006/relationships/image" Target="../media/image114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03.png"/><Relationship Id="rId10" Type="http://schemas.openxmlformats.org/officeDocument/2006/relationships/image" Target="../media/image117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e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microsoft.com/office/2007/relationships/hdphoto" Target="../media/hdphoto10.wdp"/><Relationship Id="rId4" Type="http://schemas.openxmlformats.org/officeDocument/2006/relationships/image" Target="../media/image8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5AC26-A7A2-65B6-7B29-11EC07A6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Arial Black" panose="020B0A04020102020204" pitchFamily="34" charset="0"/>
              </a:rPr>
              <a:t>Guitare électrique</a:t>
            </a:r>
            <a:endParaRPr lang="fr-F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40984-6D77-4428-740A-A1707BD7F50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dirty="0"/>
              <a:t>Etude de l’influence du type de bobinage dans le micro</a:t>
            </a:r>
          </a:p>
        </p:txBody>
      </p:sp>
      <p:pic>
        <p:nvPicPr>
          <p:cNvPr id="8" name="Picture 2" descr="Guitare, La Musique, Guitare Électrique">
            <a:extLst>
              <a:ext uri="{FF2B5EF4-FFF2-40B4-BE49-F238E27FC236}">
                <a16:creationId xmlns:a16="http://schemas.microsoft.com/office/drawing/2014/main" id="{89657AC2-F3D9-A8C8-AAAD-B6D3F242C614}"/>
              </a:ext>
            </a:extLst>
          </p:cNvPr>
          <p:cNvPicPr>
            <a:picLocks noGrp="1" noChangeAspect="1" noChangeArrowheads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72" b="9672"/>
          <a:stretch>
            <a:fillRect/>
          </a:stretch>
        </p:blipFill>
        <p:spPr bwMode="auto">
          <a:xfrm>
            <a:off x="0" y="0"/>
            <a:ext cx="9144000" cy="491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6366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0899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0177681"/>
              </p:ext>
            </p:extLst>
          </p:nvPr>
        </p:nvGraphicFramePr>
        <p:xfrm>
          <a:off x="622219" y="15572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6878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47352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47299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5921829" y="6071016"/>
            <a:ext cx="32815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[1] </a:t>
            </a:r>
            <a:r>
              <a:rPr lang="en-GB" sz="1100" dirty="0" err="1"/>
              <a:t>WiseGuy</a:t>
            </a:r>
            <a:r>
              <a:rPr lang="en-GB" sz="1100" dirty="0"/>
              <a:t> Research Consultants</a:t>
            </a:r>
            <a:endParaRPr lang="fr-FR" sz="11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21CB03-8FB3-DCCC-1E6A-468CBF66A0C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2DEB56B-5E6F-7F53-5602-DC58EDC1646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5B19474D-95C6-FB1A-CC9F-918E0FC5501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12551F-BBF9-4810-F2AF-2838FCD61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1EA654-5847-FC21-5C05-227A415BD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z="1400" b="1" smtClean="0"/>
              <a:t>2</a:t>
            </a:fld>
            <a:endParaRPr lang="fr-FR" sz="1400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E13F58-63AC-F0D3-5446-33ECFA46D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43440" y="924437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421651" y="5064229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4915627" y="6071016"/>
            <a:ext cx="42877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[2] </a:t>
            </a:r>
            <a:r>
              <a:rPr lang="en-GB" sz="1100" dirty="0"/>
              <a:t>Matthew W. Hill, Sorbonne Université Presse</a:t>
            </a:r>
            <a:endParaRPr lang="fr-FR" sz="1100"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8417795-70F9-02E7-96CE-574852CA0F0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97FF5D9-EF18-24AF-8AB4-7DAB59DDE23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54CFB6A-7BE4-336E-497B-88F584AC08B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4" name="Footer Placeholder 2">
              <a:extLst>
                <a:ext uri="{FF2B5EF4-FFF2-40B4-BE49-F238E27FC236}">
                  <a16:creationId xmlns:a16="http://schemas.microsoft.com/office/drawing/2014/main" id="{81FB907C-1F88-1B14-226E-07CDAD186F1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B61853-FCE9-DA8F-F77F-DBFD494B4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FF95-1FEB-A5EE-FCFC-F7BB71FD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B7EDE2C3-3CCE-BE30-6104-A13D47AA6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B5C65-7A37-1B90-FBC8-8C517E9FE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B411610-91CC-1D3E-B007-8E0F6F5EEE2B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A5B9C0-C73A-6300-0522-20EE954AE8F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08FB3C2F-F634-79DF-634E-4FB985FD79C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AE2E80-E912-D97C-8D4D-D8FA1169D84C}"/>
              </a:ext>
            </a:extLst>
          </p:cNvPr>
          <p:cNvGrpSpPr/>
          <p:nvPr/>
        </p:nvGrpSpPr>
        <p:grpSpPr>
          <a:xfrm>
            <a:off x="330200" y="978128"/>
            <a:ext cx="8498627" cy="4901743"/>
            <a:chOff x="330200" y="1423280"/>
            <a:chExt cx="8498627" cy="4901743"/>
          </a:xfrm>
        </p:grpSpPr>
        <p:pic>
          <p:nvPicPr>
            <p:cNvPr id="6" name="Picture 5" descr="Guitar Pickup Market By Region">
              <a:extLst>
                <a:ext uri="{FF2B5EF4-FFF2-40B4-BE49-F238E27FC236}">
                  <a16:creationId xmlns:a16="http://schemas.microsoft.com/office/drawing/2014/main" id="{6DA00D97-DD6A-62D3-2FEF-6FDA183FC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1" t="1" r="88" b="1662"/>
            <a:stretch>
              <a:fillRect/>
            </a:stretch>
          </p:blipFill>
          <p:spPr>
            <a:xfrm>
              <a:off x="330200" y="1423280"/>
              <a:ext cx="8498627" cy="469684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E4591E-213D-DD3D-F756-86FF1B678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285" y="5785023"/>
              <a:ext cx="766733" cy="540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935B24-D3D4-E1C7-7221-E3E13E203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697" y="5785023"/>
              <a:ext cx="766313" cy="540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65A42A2-4676-292B-E960-C64B3D3DE5C5}"/>
                </a:ext>
              </a:extLst>
            </p:cNvPr>
            <p:cNvSpPr/>
            <p:nvPr/>
          </p:nvSpPr>
          <p:spPr>
            <a:xfrm>
              <a:off x="1119987" y="3792511"/>
              <a:ext cx="2627554" cy="1796705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3B1C9B-ECF9-F287-89FF-67656642FDEC}"/>
                </a:ext>
              </a:extLst>
            </p:cNvPr>
            <p:cNvSpPr txBox="1"/>
            <p:nvPr/>
          </p:nvSpPr>
          <p:spPr>
            <a:xfrm>
              <a:off x="1985724" y="3452852"/>
              <a:ext cx="7859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rgbClr val="C00000"/>
                  </a:solidFill>
                  <a:latin typeface="Arial Black" panose="020B0A04020102020204" pitchFamily="34" charset="0"/>
                </a:rPr>
                <a:t>60%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5538530-AEDA-8079-4FC7-7FE95B066120}"/>
              </a:ext>
            </a:extLst>
          </p:cNvPr>
          <p:cNvSpPr txBox="1"/>
          <p:nvPr/>
        </p:nvSpPr>
        <p:spPr>
          <a:xfrm>
            <a:off x="1323303" y="4636845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D38844-6458-856C-27C9-4A869A89F20A}"/>
              </a:ext>
            </a:extLst>
          </p:cNvPr>
          <p:cNvSpPr txBox="1"/>
          <p:nvPr/>
        </p:nvSpPr>
        <p:spPr>
          <a:xfrm>
            <a:off x="4427185" y="30077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18.2%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00042-FA40-4722-DEE9-BCC43CF6F914}"/>
              </a:ext>
            </a:extLst>
          </p:cNvPr>
          <p:cNvSpPr txBox="1"/>
          <p:nvPr/>
        </p:nvSpPr>
        <p:spPr>
          <a:xfrm>
            <a:off x="5919010" y="2526212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13.1%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81727A-1BF8-121E-D477-3D1C7E718221}"/>
              </a:ext>
            </a:extLst>
          </p:cNvPr>
          <p:cNvSpPr txBox="1"/>
          <p:nvPr/>
        </p:nvSpPr>
        <p:spPr>
          <a:xfrm>
            <a:off x="7475333" y="221595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8.7%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582498-A12E-C1F5-F376-6C09D43F7F4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FE9E1E-C8F4-E203-5640-8217B20F502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4468C78C-C5D3-2CC7-D96D-98F1E6CC8C4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24C715-1FC7-1020-3096-E8C89B6EA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E2C755-F442-740C-3610-5B4E39BBF131}"/>
              </a:ext>
            </a:extLst>
          </p:cNvPr>
          <p:cNvSpPr txBox="1"/>
          <p:nvPr/>
        </p:nvSpPr>
        <p:spPr>
          <a:xfrm>
            <a:off x="5921829" y="6071016"/>
            <a:ext cx="32815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[1] </a:t>
            </a:r>
            <a:r>
              <a:rPr lang="en-GB" sz="1100" dirty="0" err="1"/>
              <a:t>WiseGuy</a:t>
            </a:r>
            <a:r>
              <a:rPr lang="en-GB" sz="1100" dirty="0"/>
              <a:t> Research Consultants</a:t>
            </a:r>
            <a:endParaRPr lang="fr-FR" sz="110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4749FD6-7341-29D8-2EFF-027559DD1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46EC049F-B723-0C3E-A041-0F11D0EA4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4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183775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7756C83-7AA3-F936-101B-DF3BB74A0CF5}"/>
              </a:ext>
            </a:extLst>
          </p:cNvPr>
          <p:cNvGrpSpPr/>
          <p:nvPr/>
        </p:nvGrpSpPr>
        <p:grpSpPr>
          <a:xfrm>
            <a:off x="642999" y="1268784"/>
            <a:ext cx="7940613" cy="4679896"/>
            <a:chOff x="2391413" y="1278005"/>
            <a:chExt cx="7940613" cy="467989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1B0F9D-8566-0C35-DA3D-12B83B1D5D8F}"/>
                </a:ext>
              </a:extLst>
            </p:cNvPr>
            <p:cNvGrpSpPr/>
            <p:nvPr/>
          </p:nvGrpSpPr>
          <p:grpSpPr>
            <a:xfrm>
              <a:off x="4257048" y="1278005"/>
              <a:ext cx="4556752" cy="4679896"/>
              <a:chOff x="5128260" y="2555821"/>
              <a:chExt cx="3281103" cy="2838917"/>
            </a:xfrm>
          </p:grpSpPr>
          <p:pic>
            <p:nvPicPr>
              <p:cNvPr id="10" name="Picture 9" descr="A blue and white drawing of a square and a rectangle&#10;&#10;AI-generated content may be incorrect.">
                <a:extLst>
                  <a:ext uri="{FF2B5EF4-FFF2-40B4-BE49-F238E27FC236}">
                    <a16:creationId xmlns:a16="http://schemas.microsoft.com/office/drawing/2014/main" id="{35B1D760-66A7-4EF2-06F7-CEB0F74054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17161" r="12491"/>
              <a:stretch>
                <a:fillRect/>
              </a:stretch>
            </p:blipFill>
            <p:spPr>
              <a:xfrm>
                <a:off x="5128260" y="2555821"/>
                <a:ext cx="3281103" cy="2838917"/>
              </a:xfrm>
              <a:prstGeom prst="rect">
                <a:avLst/>
              </a:prstGeom>
            </p:spPr>
          </p:pic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B4602-42B8-CD9D-7B5A-B72982226E4D}"/>
                  </a:ext>
                </a:extLst>
              </p:cNvPr>
              <p:cNvSpPr/>
              <p:nvPr/>
            </p:nvSpPr>
            <p:spPr>
              <a:xfrm>
                <a:off x="6606541" y="3415664"/>
                <a:ext cx="308610" cy="2698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29" name="Picture 1028">
                <a:extLst>
                  <a:ext uri="{FF2B5EF4-FFF2-40B4-BE49-F238E27FC236}">
                    <a16:creationId xmlns:a16="http://schemas.microsoft.com/office/drawing/2014/main" id="{BEE47B49-AC29-0A5B-BE91-5834088C24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5513338" y="3130807"/>
                <a:ext cx="2568446" cy="1693612"/>
              </a:xfrm>
              <a:prstGeom prst="rect">
                <a:avLst/>
              </a:prstGeom>
            </p:spPr>
          </p:pic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30357CB-6D07-11C5-8EC3-85C6EB5CB4BF}"/>
                  </a:ext>
                </a:extLst>
              </p:cNvPr>
              <p:cNvSpPr/>
              <p:nvPr/>
            </p:nvSpPr>
            <p:spPr>
              <a:xfrm>
                <a:off x="6704837" y="3200415"/>
                <a:ext cx="103688" cy="8735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1E53688-28E3-395D-70F6-E50EF0BE10AB}"/>
                </a:ext>
              </a:extLst>
            </p:cNvPr>
            <p:cNvSpPr txBox="1"/>
            <p:nvPr/>
          </p:nvSpPr>
          <p:spPr>
            <a:xfrm flipH="1">
              <a:off x="2391413" y="2759586"/>
              <a:ext cx="1453534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F181BAC7-2F05-D532-04C6-1C065A8CDC42}"/>
                </a:ext>
              </a:extLst>
            </p:cNvPr>
            <p:cNvCxnSpPr>
              <a:cxnSpLocks/>
              <a:stCxn id="14" idx="0"/>
              <a:endCxn id="12" idx="2"/>
            </p:cNvCxnSpPr>
            <p:nvPr/>
          </p:nvCxnSpPr>
          <p:spPr>
            <a:xfrm rot="5400000" flipH="1" flipV="1">
              <a:off x="4608888" y="921898"/>
              <a:ext cx="346981" cy="332839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9750372-0D76-1A6A-DD9B-C7FF226BC376}"/>
                </a:ext>
              </a:extLst>
            </p:cNvPr>
            <p:cNvSpPr txBox="1"/>
            <p:nvPr/>
          </p:nvSpPr>
          <p:spPr>
            <a:xfrm flipH="1">
              <a:off x="8878492" y="3017369"/>
              <a:ext cx="1453534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Bobine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5CDBB6C-E453-637C-7462-FBC874B60003}"/>
                </a:ext>
              </a:extLst>
            </p:cNvPr>
            <p:cNvSpPr txBox="1"/>
            <p:nvPr/>
          </p:nvSpPr>
          <p:spPr>
            <a:xfrm flipH="1">
              <a:off x="2391413" y="4386908"/>
              <a:ext cx="1453534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Aimant permanent</a:t>
              </a:r>
            </a:p>
          </p:txBody>
        </p: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11FCA9BF-D568-7FEF-8F3A-CC03ABDECFCE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 rot="5400000">
              <a:off x="8071816" y="2588985"/>
              <a:ext cx="828060" cy="223882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BD422936-A5EF-FA57-44E3-7B65B2489857}"/>
                </a:ext>
              </a:extLst>
            </p:cNvPr>
            <p:cNvCxnSpPr>
              <a:cxnSpLocks/>
              <a:stCxn id="22" idx="0"/>
            </p:cNvCxnSpPr>
            <p:nvPr/>
          </p:nvCxnSpPr>
          <p:spPr>
            <a:xfrm rot="5400000" flipH="1" flipV="1">
              <a:off x="4369573" y="2309905"/>
              <a:ext cx="825611" cy="332839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EFCE6-1325-4661-AA72-4FFBB63CEF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Micro SingleCoil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4AF7F45-52A3-9483-9C58-D4A5D32B0F4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3EF40E8-F99F-B462-8250-77A4C4061D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Footer Placeholder 2">
              <a:extLst>
                <a:ext uri="{FF2B5EF4-FFF2-40B4-BE49-F238E27FC236}">
                  <a16:creationId xmlns:a16="http://schemas.microsoft.com/office/drawing/2014/main" id="{19F03FE6-1C4E-947B-FA91-0A23A23336D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B4D5B1-9014-DA13-332D-861F4AAD1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10DB0-A6E5-9C62-A429-F39200613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7FD8EB-97F7-35B8-C300-7336CE17CC36}"/>
              </a:ext>
            </a:extLst>
          </p:cNvPr>
          <p:cNvSpPr txBox="1"/>
          <p:nvPr/>
        </p:nvSpPr>
        <p:spPr>
          <a:xfrm>
            <a:off x="4570127" y="2991386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6C5D8-B656-F7A3-CC83-FC76F4C1E262}"/>
              </a:ext>
            </a:extLst>
          </p:cNvPr>
          <p:cNvSpPr txBox="1"/>
          <p:nvPr/>
        </p:nvSpPr>
        <p:spPr>
          <a:xfrm>
            <a:off x="4570127" y="4222612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F05E82A5-EBC8-504A-BD59-F5FAB4888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5</a:t>
            </a:fld>
            <a:endParaRPr lang="fr-FR" sz="1400" b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154492E-813C-5706-A577-F0D7E77B9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56920" y="517553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622219" y="954461"/>
            <a:ext cx="7984008" cy="484971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86814AB-8380-0640-C9A3-B61B1F95450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CC6DF1-F332-A203-EE77-C772AC9C18B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7DD3AD4-78A0-831B-7B26-AF4449B0D39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DA0D0A-9CE4-B35F-DED9-B8F9D2909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170900-36E2-535F-E2A2-C1BB77EB8900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BCE46BE-99A1-C396-1439-D5023E5B2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E414B8C1-87A9-3C45-48CB-A14FD9ABD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6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9C2055B-F368-6E9D-0494-ABBA449BB687}"/>
              </a:ext>
            </a:extLst>
          </p:cNvPr>
          <p:cNvGrpSpPr>
            <a:grpSpLocks noChangeAspect="1"/>
          </p:cNvGrpSpPr>
          <p:nvPr/>
        </p:nvGrpSpPr>
        <p:grpSpPr>
          <a:xfrm>
            <a:off x="1592129" y="498613"/>
            <a:ext cx="5952228" cy="5446688"/>
            <a:chOff x="4572000" y="1105567"/>
            <a:chExt cx="4303537" cy="3938025"/>
          </a:xfrm>
        </p:grpSpPr>
        <p:pic>
          <p:nvPicPr>
            <p:cNvPr id="22" name="Picture 21" descr="A drawing of a computer&#10;&#10;AI-generated content may be incorrect.">
              <a:extLst>
                <a:ext uri="{FF2B5EF4-FFF2-40B4-BE49-F238E27FC236}">
                  <a16:creationId xmlns:a16="http://schemas.microsoft.com/office/drawing/2014/main" id="{D940559A-4517-B76C-7191-DBF90D784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1105567"/>
              <a:ext cx="4303537" cy="3938025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4ACEF00-6939-5D0B-A13E-4FE798F62E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5043879" y="2370603"/>
              <a:ext cx="3400522" cy="2092725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A070375-38D7-0425-E55D-0B48FE1180FC}"/>
                </a:ext>
              </a:extLst>
            </p:cNvPr>
            <p:cNvSpPr/>
            <p:nvPr/>
          </p:nvSpPr>
          <p:spPr>
            <a:xfrm>
              <a:off x="4589145" y="2237711"/>
              <a:ext cx="4276317" cy="788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2B4F244-6F4C-3EAA-965E-76F8DAA7B14C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Micro Humbucker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593F41-6F39-361E-0A62-C3B67BE71D93}"/>
              </a:ext>
            </a:extLst>
          </p:cNvPr>
          <p:cNvSpPr txBox="1"/>
          <p:nvPr/>
        </p:nvSpPr>
        <p:spPr>
          <a:xfrm flipH="1">
            <a:off x="720997" y="1477266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F77FEB0-F50B-87D1-B05A-F03C82BDF92D}"/>
              </a:ext>
            </a:extLst>
          </p:cNvPr>
          <p:cNvCxnSpPr>
            <a:cxnSpLocks/>
            <a:stCxn id="37" idx="2"/>
            <a:endCxn id="33" idx="1"/>
          </p:cNvCxnSpPr>
          <p:nvPr/>
        </p:nvCxnSpPr>
        <p:spPr>
          <a:xfrm rot="16200000" flipH="1">
            <a:off x="1349442" y="1852587"/>
            <a:ext cx="364722" cy="16807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ABADA61-5B9D-A516-A70E-04D7AA645191}"/>
              </a:ext>
            </a:extLst>
          </p:cNvPr>
          <p:cNvSpPr txBox="1"/>
          <p:nvPr/>
        </p:nvSpPr>
        <p:spPr>
          <a:xfrm flipH="1">
            <a:off x="471055" y="4387077"/>
            <a:ext cx="162257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1CFDA93-F6CC-0567-B5D1-51470F715D93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1539750" y="2271048"/>
            <a:ext cx="1858622" cy="237343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BAF1B7B9-1C45-C088-4CB0-28717C74BDF2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497878" y="1498116"/>
            <a:ext cx="1673426" cy="410449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F467D2B5-392A-FE74-4310-84CCCF4527BB}"/>
              </a:ext>
            </a:extLst>
          </p:cNvPr>
          <p:cNvSpPr txBox="1"/>
          <p:nvPr/>
        </p:nvSpPr>
        <p:spPr>
          <a:xfrm flipH="1">
            <a:off x="7150275" y="337339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279DD24F-CDD7-E624-5F20-C27C82B2FBB1}"/>
              </a:ext>
            </a:extLst>
          </p:cNvPr>
          <p:cNvCxnSpPr>
            <a:cxnSpLocks/>
            <a:stCxn id="50" idx="2"/>
          </p:cNvCxnSpPr>
          <p:nvPr/>
        </p:nvCxnSpPr>
        <p:spPr>
          <a:xfrm rot="5400000">
            <a:off x="6916081" y="2926612"/>
            <a:ext cx="237183" cy="168474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B78FAB7A-9FB1-C9C0-4840-E3A7DD272F73}"/>
              </a:ext>
            </a:extLst>
          </p:cNvPr>
          <p:cNvCxnSpPr>
            <a:cxnSpLocks/>
            <a:stCxn id="50" idx="2"/>
          </p:cNvCxnSpPr>
          <p:nvPr/>
        </p:nvCxnSpPr>
        <p:spPr>
          <a:xfrm rot="5400000">
            <a:off x="5821500" y="2189183"/>
            <a:ext cx="594335" cy="3516750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5A6B271-E2D8-B11C-AC3A-41C087E067C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16B81DE-CE67-4B5A-3895-DD224A2F4D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0" name="Footer Placeholder 2">
              <a:extLst>
                <a:ext uri="{FF2B5EF4-FFF2-40B4-BE49-F238E27FC236}">
                  <a16:creationId xmlns:a16="http://schemas.microsoft.com/office/drawing/2014/main" id="{ED27BAC7-A23D-18ED-EB0C-C289ED77629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5FFD95-280A-DA7B-3174-834A58BBF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A031E5-F817-247E-643D-F0D1019CEEBD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90AA6-1EE8-EF08-E227-88553644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4CCC4F-5C65-DD91-8A61-17E888BB2326}"/>
              </a:ext>
            </a:extLst>
          </p:cNvPr>
          <p:cNvSpPr txBox="1"/>
          <p:nvPr/>
        </p:nvSpPr>
        <p:spPr>
          <a:xfrm>
            <a:off x="3545069" y="2778610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E1A32-81FA-D10B-F3D8-BD7081109444}"/>
              </a:ext>
            </a:extLst>
          </p:cNvPr>
          <p:cNvSpPr txBox="1"/>
          <p:nvPr/>
        </p:nvSpPr>
        <p:spPr>
          <a:xfrm>
            <a:off x="5195699" y="2782495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D83196-DCA2-B166-452A-75A892D29BD8}"/>
              </a:ext>
            </a:extLst>
          </p:cNvPr>
          <p:cNvSpPr txBox="1"/>
          <p:nvPr/>
        </p:nvSpPr>
        <p:spPr>
          <a:xfrm>
            <a:off x="5195698" y="4320785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31F120-E518-5CCD-6BEA-2B95E2C97550}"/>
              </a:ext>
            </a:extLst>
          </p:cNvPr>
          <p:cNvSpPr txBox="1"/>
          <p:nvPr/>
        </p:nvSpPr>
        <p:spPr>
          <a:xfrm>
            <a:off x="3545069" y="4317910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2F1BF78-7771-183F-5E10-7EAB30E10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7</a:t>
            </a:fld>
            <a:endParaRPr lang="fr-FR" sz="1400" b="1" dirty="0"/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F361DA7D-3E77-57F3-D00B-30AF85B8C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56920" y="527318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7" y="1666552"/>
            <a:ext cx="7425344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Dans quelle mesure </a:t>
            </a:r>
            <a:r>
              <a:rPr lang="fr-FR" sz="2000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permet-il </a:t>
            </a:r>
            <a:r>
              <a:rPr lang="fr-FR" sz="2000" b="1" dirty="0"/>
              <a:t>d'éliminer les parasites </a:t>
            </a:r>
            <a:r>
              <a:rPr lang="fr-FR" sz="2000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cela impacte-t-il </a:t>
            </a:r>
            <a:r>
              <a:rPr lang="fr-FR" sz="2000" b="1" dirty="0"/>
              <a:t>la richesse du son </a:t>
            </a:r>
            <a:r>
              <a:rPr lang="fr-FR" sz="2000" dirty="0"/>
              <a:t>?</a:t>
            </a:r>
            <a:endParaRPr kumimoji="0" lang="fr-FR" altLang="fr-FR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000" dirty="0"/>
              <a:t>SingleCoil</a:t>
            </a:r>
            <a:endParaRPr lang="fr-F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000" dirty="0"/>
              <a:t>Humbucker</a:t>
            </a:r>
            <a:endParaRPr lang="fr-FR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Architecture des micros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1894305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6033856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54D667-7FF4-5DE5-D4F2-5DD4D34EB19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DCE21C3-ED50-B7AE-90AC-B6FCFAE27E9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6E8EBF37-F330-4467-BC2C-030BB6539C50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7C153F-C755-6198-D31A-B9D25FF85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93CD084-34B4-D32A-A321-EF55172C9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B4A5D9C7-9BA9-B381-FFAC-9B1028B19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8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D390230-A66D-FF4E-9E42-551EEE657AEA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15BB4F3-3902-D98E-74DA-57C1499BEC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9A28375B-D627-740F-A1A9-88BD72733650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89143811-CC85-6876-FEDB-53C2F3122FDE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78086C-4327-4CCE-3575-B965AEB07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800" dirty="0">
                <a:latin typeface="Arial Black" panose="020B0A04020102020204" pitchFamily="34" charset="0"/>
              </a:rPr>
              <a:t>SOMMAIRE</a:t>
            </a:r>
            <a:endParaRPr lang="fr-FR" sz="2400" dirty="0">
              <a:latin typeface="Arial Black" panose="020B0A040201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06377-3E17-25EE-9ED4-4AD5B2ACC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  <a:latin typeface="Arial Black" panose="020B0A04020102020204" pitchFamily="34" charset="0"/>
              </a:rPr>
              <a:t>I. Filtrage électrique interne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A. Théorie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B. Expérimentation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C. Résultats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fr-FR" dirty="0">
              <a:solidFill>
                <a:schemeClr val="tx1"/>
              </a:solidFill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  <a:latin typeface="Arial Black" panose="020B0A04020102020204" pitchFamily="34" charset="0"/>
              </a:rPr>
              <a:t>II. Induction et filtrage spatial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A. Théorie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B. Expérimentation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C. Résultats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fr-FR" dirty="0">
              <a:solidFill>
                <a:schemeClr val="tx1"/>
              </a:solidFill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  <a:latin typeface="Arial Black" panose="020B0A04020102020204" pitchFamily="34" charset="0"/>
              </a:rPr>
              <a:t>III. Réduction du bourdonnement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A. Théorie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B. Expérimentation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C. Résultats</a:t>
            </a:r>
          </a:p>
          <a:p>
            <a:endParaRPr lang="fr-F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DB849-6BE7-4318-417B-F68D54419C3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fr-FR" sz="1600" dirty="0">
                <a:solidFill>
                  <a:schemeClr val="tx1"/>
                </a:solidFill>
              </a:rPr>
              <a:t>Comparaison des différents montages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SingleCoil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Humbucker série (--)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Humbucker parallèle (//)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EA2F07-0D60-CE99-61C5-8E3DEFE30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11B6D2B-D51B-778B-D85B-5262F118BA2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7DA164-4E2F-3F43-7D4B-04F38B9080C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6483E35D-B97E-442E-7EAA-361348BD5A8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4BA831D4-708C-E15C-792A-6B3F67FF8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sp>
        <p:nvSpPr>
          <p:cNvPr id="15" name="Slide Number Placeholder 2">
            <a:extLst>
              <a:ext uri="{FF2B5EF4-FFF2-40B4-BE49-F238E27FC236}">
                <a16:creationId xmlns:a16="http://schemas.microsoft.com/office/drawing/2014/main" id="{12EB2ECF-9E51-3809-56D3-C6C81FA47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9</a:t>
            </a:fld>
            <a:endParaRPr lang="fr-FR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5807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A67A1-DA61-144F-362B-2D83140EA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800" dirty="0">
                <a:latin typeface="Arial Black" panose="020B0A04020102020204" pitchFamily="34" charset="0"/>
              </a:rPr>
              <a:t>THEORIE</a:t>
            </a:r>
            <a:endParaRPr lang="fr-FR" sz="28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8490F7B-B856-2072-2D20-4EF3D42D68CB}"/>
              </a:ext>
            </a:extLst>
          </p:cNvPr>
          <p:cNvGrpSpPr/>
          <p:nvPr/>
        </p:nvGrpSpPr>
        <p:grpSpPr>
          <a:xfrm>
            <a:off x="3353556" y="999394"/>
            <a:ext cx="5447544" cy="3869802"/>
            <a:chOff x="1054903" y="1363393"/>
            <a:chExt cx="4626939" cy="36000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821C979-ECD0-3B5D-D02D-3E8F869F4181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D2E38B82-AC76-3902-9777-E5D3B147BDAB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CF4F3A-C925-7A21-2466-B1435898CB49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4F847F-324E-3AF9-DD8B-2A3D7ED31C67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47A821B-7C32-C11F-4EC7-61104E0F3F8C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7F0EF69-3F70-4282-5858-C1DC1CF8BB0F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270AF5-99F9-928C-BD3A-A92043EA0E4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8844546-C4A9-7120-AC2B-8F99517EE9EC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787BD7A-8E88-7B68-9FD7-163E690E3BB8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93186A7-E3C8-3A1D-64E4-8B61491CF22A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B4FB649-0208-E2CF-1D98-78328F1FBE1A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90F3B32-0968-D622-89B1-D5CDEEBE7A7F}"/>
                  </a:ext>
                </a:extLst>
              </p:cNvPr>
              <p:cNvSpPr txBox="1"/>
              <p:nvPr/>
            </p:nvSpPr>
            <p:spPr>
              <a:xfrm>
                <a:off x="3353556" y="4961363"/>
                <a:ext cx="5447544" cy="770596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90F3B32-0968-D622-89B1-D5CDEEBE7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56" y="4961363"/>
                <a:ext cx="5447544" cy="77059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43558B9-6EAE-48A6-1620-C265526DFD24}"/>
              </a:ext>
            </a:extLst>
          </p:cNvPr>
          <p:cNvSpPr txBox="1"/>
          <p:nvPr/>
        </p:nvSpPr>
        <p:spPr>
          <a:xfrm>
            <a:off x="3353556" y="5761933"/>
            <a:ext cx="49063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u="sng" dirty="0"/>
              <a:t>Interprétation :</a:t>
            </a:r>
            <a:r>
              <a:rPr lang="fr-FR" sz="1600" b="1" dirty="0"/>
              <a:t> </a:t>
            </a:r>
            <a:r>
              <a:rPr lang="fr-FR" sz="1600" dirty="0"/>
              <a:t>Filtrage passe-bas du 2</a:t>
            </a:r>
            <a:r>
              <a:rPr lang="fr-FR" sz="1600" baseline="30000" dirty="0"/>
              <a:t>nd</a:t>
            </a:r>
            <a:r>
              <a:rPr lang="fr-FR" sz="1600" dirty="0"/>
              <a:t> Ordre</a:t>
            </a:r>
          </a:p>
        </p:txBody>
      </p:sp>
      <p:pic>
        <p:nvPicPr>
          <p:cNvPr id="26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0297559E-EA70-1DE4-7979-69EF1A6DE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5100" y="509985"/>
            <a:ext cx="43200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733C6F4-992F-BB99-62FF-4D4162E5BD31}"/>
              </a:ext>
            </a:extLst>
          </p:cNvPr>
          <p:cNvSpPr txBox="1"/>
          <p:nvPr/>
        </p:nvSpPr>
        <p:spPr>
          <a:xfrm>
            <a:off x="6241143" y="6071016"/>
            <a:ext cx="29622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[5] </a:t>
            </a:r>
            <a:r>
              <a:rPr lang="en-GB" sz="1100" dirty="0"/>
              <a:t>Dan Carson, University of Illinois</a:t>
            </a:r>
            <a:endParaRPr lang="fr-FR" sz="11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CEFF3E8-2258-46FE-09B5-C11C3E7F473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E1865FE-B460-15DA-A157-F58E3236E70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3E606650-1E4A-F03E-0DD6-D8BD67A4E91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16DF2492-FBFF-25AC-E08E-48DF96784C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024890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grpSp>
        <p:nvGrpSpPr>
          <p:cNvPr id="35" name="Group 34">
            <a:extLst>
              <a:ext uri="{FF2B5EF4-FFF2-40B4-BE49-F238E27FC236}">
                <a16:creationId xmlns:a16="http://schemas.microsoft.com/office/drawing/2014/main" id="{AC6D9136-2E81-692E-7DBD-8FB26ED19DAB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B9AE222-747A-973A-ECFE-AC3724C4AAF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7" name="Footer Placeholder 2">
              <a:extLst>
                <a:ext uri="{FF2B5EF4-FFF2-40B4-BE49-F238E27FC236}">
                  <a16:creationId xmlns:a16="http://schemas.microsoft.com/office/drawing/2014/main" id="{41C0BE7A-FF24-20AD-5591-BCADFC32DC9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C4BAEF-33D1-6188-9AE8-8A5542988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41" name="Footer Placeholder 2">
            <a:extLst>
              <a:ext uri="{FF2B5EF4-FFF2-40B4-BE49-F238E27FC236}">
                <a16:creationId xmlns:a16="http://schemas.microsoft.com/office/drawing/2014/main" id="{01A560DB-8ED3-218F-79C6-A6A579F5103A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57B1FA-16C6-9796-D924-6382EF215E5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fr-FR" sz="1600" b="1" u="sng" dirty="0">
                <a:solidFill>
                  <a:schemeClr val="tx1"/>
                </a:solidFill>
              </a:rPr>
              <a:t>Hypothèses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Symétrie parfaite des bobinages</a:t>
            </a:r>
          </a:p>
          <a:p>
            <a:r>
              <a:rPr lang="fr-FR" sz="1600" b="1" u="sng" dirty="0">
                <a:solidFill>
                  <a:schemeClr val="tx1"/>
                </a:solidFill>
              </a:rPr>
              <a:t>Conséquences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Schéma équivalent identique peu importe le montage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7D1A44-CCE9-562E-F295-243ACA209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6DFBE72C-A090-2527-9851-1C14313D2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10</a:t>
            </a:fld>
            <a:endParaRPr lang="fr-FR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1994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C319EB6-D050-8DBB-4112-2E3F1B093E1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2BC0D67-2425-4D0E-3776-899C928CB41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5C8F3993-2355-171A-9FBE-F8EA50A5C35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/>
              <p:nvPr/>
            </p:nvSpPr>
            <p:spPr>
              <a:xfrm>
                <a:off x="322077" y="1187775"/>
                <a:ext cx="3533931" cy="1915026"/>
              </a:xfrm>
              <a:prstGeom prst="rect">
                <a:avLst/>
              </a:prstGeom>
              <a:noFill/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Déterminer l’impédance du micro en fonction de la fréquence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Pont diviseur de tension : </a:t>
                </a:r>
                <a14:m>
                  <m:oMath xmlns:m="http://schemas.openxmlformats.org/officeDocument/2006/math"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den>
                    </m:f>
                    <m:sSub>
                      <m:sSub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𝐺𝐵𝐹</m:t>
                        </m:r>
                      </m:sub>
                    </m:sSub>
                  </m:oMath>
                </a14:m>
                <a:endParaRPr lang="fr-FR" sz="16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77" y="1187775"/>
                <a:ext cx="3533931" cy="1915026"/>
              </a:xfrm>
              <a:prstGeom prst="rect">
                <a:avLst/>
              </a:prstGeom>
              <a:blipFill>
                <a:blip r:embed="rId2"/>
                <a:stretch>
                  <a:fillRect l="-512"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3A675C6-213A-E88E-59F1-7172A68963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" b="79"/>
          <a:stretch/>
        </p:blipFill>
        <p:spPr>
          <a:xfrm>
            <a:off x="3975817" y="1187775"/>
            <a:ext cx="4913871" cy="4906153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ADA8AD9-A980-D884-9F53-A96F804F31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CD795CE-C17B-8143-0B6D-604D6D299D4D}"/>
              </a:ext>
            </a:extLst>
          </p:cNvPr>
          <p:cNvCxnSpPr>
            <a:cxnSpLocks/>
          </p:cNvCxnSpPr>
          <p:nvPr/>
        </p:nvCxnSpPr>
        <p:spPr>
          <a:xfrm rot="5400000">
            <a:off x="4407269" y="3273293"/>
            <a:ext cx="230192" cy="735119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0A638B-D00C-84A5-7F3F-9DEF548B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4FF317D-0E3D-2149-FF14-7FB5BF57A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BDDF23-3866-2F86-609B-138319DE390C}"/>
                  </a:ext>
                </a:extLst>
              </p:cNvPr>
              <p:cNvSpPr txBox="1"/>
              <p:nvPr/>
            </p:nvSpPr>
            <p:spPr>
              <a:xfrm>
                <a:off x="824130" y="5629960"/>
                <a:ext cx="2459887" cy="461024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 = </m:t>
                      </m:r>
                      <m:r>
                        <m:rPr>
                          <m:sty m:val="p"/>
                        </m:rP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GBF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BDDF23-3866-2F86-609B-138319DE3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130" y="5629960"/>
                <a:ext cx="2459887" cy="4610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468B502-C852-DA7A-06E1-C9E1DD295A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86369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4" name="Slide Number Placeholder 2">
            <a:extLst>
              <a:ext uri="{FF2B5EF4-FFF2-40B4-BE49-F238E27FC236}">
                <a16:creationId xmlns:a16="http://schemas.microsoft.com/office/drawing/2014/main" id="{3AB365AE-8582-AF86-8AE4-7690CDAE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11</a:t>
            </a:fld>
            <a:endParaRPr lang="fr-FR" sz="14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51405C3-75BE-A1BA-EC66-0918DDE320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3134" y="3525756"/>
            <a:ext cx="2441876" cy="1919429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FC39BB1-4983-50EB-E742-9333FE3E145E}"/>
              </a:ext>
            </a:extLst>
          </p:cNvPr>
          <p:cNvCxnSpPr>
            <a:cxnSpLocks/>
            <a:stCxn id="64" idx="1"/>
          </p:cNvCxnSpPr>
          <p:nvPr/>
        </p:nvCxnSpPr>
        <p:spPr>
          <a:xfrm rot="10800000" flipV="1">
            <a:off x="1287493" y="3355192"/>
            <a:ext cx="369713" cy="199273"/>
          </a:xfrm>
          <a:prstGeom prst="bentConnector3">
            <a:avLst>
              <a:gd name="adj1" fmla="val 100749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75EFD0F-C466-424A-D172-8B5B238D89C9}"/>
              </a:ext>
            </a:extLst>
          </p:cNvPr>
          <p:cNvSpPr/>
          <p:nvPr/>
        </p:nvSpPr>
        <p:spPr>
          <a:xfrm>
            <a:off x="3588389" y="4793092"/>
            <a:ext cx="1132831" cy="294614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Micro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430E7CFD-6FE0-F360-DBF0-266E893A6C78}"/>
              </a:ext>
            </a:extLst>
          </p:cNvPr>
          <p:cNvCxnSpPr>
            <a:cxnSpLocks/>
            <a:stCxn id="38" idx="2"/>
          </p:cNvCxnSpPr>
          <p:nvPr/>
        </p:nvCxnSpPr>
        <p:spPr>
          <a:xfrm rot="16200000" flipH="1">
            <a:off x="4726201" y="4516310"/>
            <a:ext cx="344079" cy="1486870"/>
          </a:xfrm>
          <a:prstGeom prst="bentConnector2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A582BD5-71BA-7ADA-53CB-59030ED3CC3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2398143" y="4940399"/>
            <a:ext cx="1190246" cy="0"/>
          </a:xfrm>
          <a:prstGeom prst="straightConnector1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01B70164-69F2-4F49-9052-D3B25D39B34E}"/>
              </a:ext>
            </a:extLst>
          </p:cNvPr>
          <p:cNvSpPr/>
          <p:nvPr/>
        </p:nvSpPr>
        <p:spPr>
          <a:xfrm>
            <a:off x="3509887" y="3973765"/>
            <a:ext cx="1132831" cy="236830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Resistance</a:t>
            </a:r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568FF021-9013-84D8-10DC-2B5362CB434F}"/>
              </a:ext>
            </a:extLst>
          </p:cNvPr>
          <p:cNvCxnSpPr>
            <a:cxnSpLocks/>
            <a:stCxn id="52" idx="1"/>
          </p:cNvCxnSpPr>
          <p:nvPr/>
        </p:nvCxnSpPr>
        <p:spPr>
          <a:xfrm rot="10800000">
            <a:off x="2840967" y="3916392"/>
            <a:ext cx="668921" cy="175788"/>
          </a:xfrm>
          <a:prstGeom prst="bentConnector3">
            <a:avLst>
              <a:gd name="adj1" fmla="val 99865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E02DBE5-6DB0-1AAF-91F1-849CDD773B81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4642718" y="3737466"/>
            <a:ext cx="3151248" cy="354714"/>
          </a:xfrm>
          <a:prstGeom prst="bentConnector3">
            <a:avLst>
              <a:gd name="adj1" fmla="val 99890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C07EE90A-1444-22A7-BD0C-31C3A8B00B4D}"/>
              </a:ext>
            </a:extLst>
          </p:cNvPr>
          <p:cNvSpPr/>
          <p:nvPr/>
        </p:nvSpPr>
        <p:spPr>
          <a:xfrm>
            <a:off x="1657205" y="3236778"/>
            <a:ext cx="1132831" cy="236830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GBF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AF1EB253-8BFC-E7A4-ABAE-1F09FADB0319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790036" y="3340981"/>
            <a:ext cx="1420658" cy="14212"/>
          </a:xfrm>
          <a:prstGeom prst="straightConnector1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5E7C659-0248-766A-80EB-17EC0DB5AF9E}"/>
                  </a:ext>
                </a:extLst>
              </p:cNvPr>
              <p:cNvSpPr txBox="1"/>
              <p:nvPr/>
            </p:nvSpPr>
            <p:spPr>
              <a:xfrm>
                <a:off x="1091926" y="4169132"/>
                <a:ext cx="39113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𝑮𝑩𝑭</m:t>
                          </m:r>
                        </m:sub>
                      </m:sSub>
                    </m:oMath>
                  </m:oMathPara>
                </a14:m>
                <a:endParaRPr lang="fr-FR" sz="12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5E7C659-0248-766A-80EB-17EC0DB5AF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26" y="4169132"/>
                <a:ext cx="391133" cy="184666"/>
              </a:xfrm>
              <a:prstGeom prst="rect">
                <a:avLst/>
              </a:prstGeom>
              <a:blipFill>
                <a:blip r:embed="rId7"/>
                <a:stretch>
                  <a:fillRect l="-7813" r="-3125" b="-1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8C424C57-146B-8664-4A50-014EE2CF87C5}"/>
              </a:ext>
            </a:extLst>
          </p:cNvPr>
          <p:cNvCxnSpPr>
            <a:cxnSpLocks/>
          </p:cNvCxnSpPr>
          <p:nvPr/>
        </p:nvCxnSpPr>
        <p:spPr>
          <a:xfrm>
            <a:off x="2654607" y="3688813"/>
            <a:ext cx="415595" cy="0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E150705-5AAA-D6E6-C05E-6FCD56C8C1FA}"/>
                  </a:ext>
                </a:extLst>
              </p:cNvPr>
              <p:cNvSpPr txBox="1"/>
              <p:nvPr/>
            </p:nvSpPr>
            <p:spPr>
              <a:xfrm>
                <a:off x="2763220" y="3500762"/>
                <a:ext cx="15549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𝑼</m:t>
                      </m:r>
                    </m:oMath>
                  </m:oMathPara>
                </a14:m>
                <a:endParaRPr lang="fr-FR" sz="12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E150705-5AAA-D6E6-C05E-6FCD56C8C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3220" y="3500762"/>
                <a:ext cx="155491" cy="184666"/>
              </a:xfrm>
              <a:prstGeom prst="rect">
                <a:avLst/>
              </a:prstGeom>
              <a:blipFill>
                <a:blip r:embed="rId8"/>
                <a:stretch>
                  <a:fillRect l="-19231" r="-19231" b="-64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690AFC0-9B79-8810-D929-90938E6F84D9}"/>
              </a:ext>
            </a:extLst>
          </p:cNvPr>
          <p:cNvCxnSpPr>
            <a:cxnSpLocks/>
          </p:cNvCxnSpPr>
          <p:nvPr/>
        </p:nvCxnSpPr>
        <p:spPr>
          <a:xfrm flipH="1">
            <a:off x="1064080" y="4151754"/>
            <a:ext cx="408269" cy="0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u="sng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Ohmmètre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u="sng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u="sng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u="sng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u="sng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u="sng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 algorithme d’optimisation numérique basé sur les </a:t>
                </a:r>
                <a:r>
                  <a:rPr lang="fr-FR" sz="1400" b="1" dirty="0">
                    <a:solidFill>
                      <a:schemeClr val="tx1"/>
                    </a:solidFill>
                  </a:rPr>
                  <a:t>moindres carrés.</a:t>
                </a:r>
                <a:endParaRPr lang="fr-FR" sz="1400" u="sng" dirty="0"/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blipFill>
                <a:blip r:embed="rId3"/>
                <a:stretch>
                  <a:fillRect r="-345" b="-263"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6176" y="1035070"/>
            <a:ext cx="4907929" cy="409087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5467124" y="3437083"/>
            <a:ext cx="3499012" cy="2815095"/>
          </a:xfrm>
          <a:prstGeom prst="rect">
            <a:avLst/>
          </a:prstGeom>
          <a:ln w="38100"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Mesures</a:t>
            </a:r>
            <a:endParaRPr lang="fr-FR" sz="1400" b="1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324961"/>
              </p:ext>
            </p:extLst>
          </p:nvPr>
        </p:nvGraphicFramePr>
        <p:xfrm>
          <a:off x="5566510" y="3818066"/>
          <a:ext cx="3323180" cy="2335395"/>
        </p:xfrm>
        <a:graphic>
          <a:graphicData uri="http://schemas.openxmlformats.org/drawingml/2006/table">
            <a:tbl>
              <a:tblPr firstRow="1" bandRow="1">
                <a:tableStyleId>{EB9631B5-78F2-41C9-869B-9F39066F8104}</a:tableStyleId>
              </a:tblPr>
              <a:tblGrid>
                <a:gridCol w="83079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496875843"/>
                    </a:ext>
                  </a:extLst>
                </a:gridCol>
              </a:tblGrid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5,26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4,52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15,10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2,43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1,77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4,71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360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50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110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499,6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351,1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1069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07" t="-2222" r="-9924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7407" r="-11111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926" t="-2041" r="-963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6545223" y="3805438"/>
            <a:ext cx="568459" cy="468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7375954" y="3809801"/>
            <a:ext cx="582811" cy="46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2EEDFEB-AFAA-C6BE-4F6C-51B78A0870E6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4AE11E-94DD-BEBA-B1D0-26ABBE2E48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7734" b="94964" l="9577" r="89978">
                        <a14:foregroundMark x1="58463" y1="9353" x2="66036" y2="7014"/>
                        <a14:foregroundMark x1="66036" y1="7014" x2="71715" y2="7734"/>
                        <a14:foregroundMark x1="71715" y1="7734" x2="62695" y2="8813"/>
                        <a14:foregroundMark x1="74833" y1="40827" x2="76503" y2="42446"/>
                        <a14:foregroundMark x1="64143" y1="47302" x2="64143" y2="47302"/>
                        <a14:foregroundMark x1="55457" y1="52698" x2="55457" y2="52698"/>
                        <a14:foregroundMark x1="45323" y1="59532" x2="45323" y2="59532"/>
                        <a14:foregroundMark x1="34187" y1="65108" x2="34187" y2="65108"/>
                        <a14:foregroundMark x1="22717" y1="70324" x2="22717" y2="70324"/>
                        <a14:foregroundMark x1="9688" y1="69604" x2="10802" y2="81475"/>
                        <a14:foregroundMark x1="10802" y1="81475" x2="13252" y2="82914"/>
                        <a14:foregroundMark x1="21604" y1="90468" x2="30178" y2="86511"/>
                        <a14:foregroundMark x1="22829" y1="94964" x2="22829" y2="94964"/>
                        <a14:foregroundMark x1="73942" y1="43165" x2="73942" y2="43165"/>
                      </a14:backgroundRemoval>
                    </a14:imgEffect>
                  </a14:imgLayer>
                </a14:imgProps>
              </a:ext>
            </a:extLst>
          </a:blip>
          <a:srcRect l="6039" t="3464" r="11427" b="863"/>
          <a:stretch>
            <a:fillRect/>
          </a:stretch>
        </p:blipFill>
        <p:spPr>
          <a:xfrm>
            <a:off x="8191781" y="3818066"/>
            <a:ext cx="601890" cy="43200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BBCE65E-32DD-5E3F-FB43-54F4439767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F54AAF-1F00-4A5D-972C-B8793ABDB31E}"/>
              </a:ext>
            </a:extLst>
          </p:cNvPr>
          <p:cNvSpPr txBox="1"/>
          <p:nvPr/>
        </p:nvSpPr>
        <p:spPr>
          <a:xfrm>
            <a:off x="326176" y="5185866"/>
            <a:ext cx="50097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2 bobinages </a:t>
            </a:r>
            <a:r>
              <a:rPr lang="fr-FR" dirty="0">
                <a:sym typeface="Wingdings" panose="05000000000000000000" pitchFamily="2" charset="2"/>
              </a:rPr>
              <a:t> Impédance plus élevée</a:t>
            </a:r>
            <a:endParaRPr lang="fr-FR" dirty="0"/>
          </a:p>
          <a:p>
            <a:r>
              <a:rPr lang="fr-FR" dirty="0">
                <a:sym typeface="Wingdings" panose="05000000000000000000" pitchFamily="2" charset="2"/>
              </a:rPr>
              <a:t>❌ </a:t>
            </a:r>
            <a:r>
              <a:rPr lang="fr-FR" dirty="0"/>
              <a:t>Asymétrie de bobinage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D0EFF090-BF0A-0471-2711-EC67DE0CE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A2C3CE1E-2176-A2FA-66DD-2825EA602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D4E8BA1-2670-8152-1740-E703D32C7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86369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E15E85E2-3972-C82C-AA31-3DF274E7E3F8}"/>
              </a:ext>
            </a:extLst>
          </p:cNvPr>
          <p:cNvSpPr/>
          <p:nvPr/>
        </p:nvSpPr>
        <p:spPr>
          <a:xfrm>
            <a:off x="2192999" y="2962704"/>
            <a:ext cx="540000" cy="540000"/>
          </a:xfrm>
          <a:prstGeom prst="ellipse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36E53F-6C18-D61D-21EC-086093EE1878}"/>
              </a:ext>
            </a:extLst>
          </p:cNvPr>
          <p:cNvSpPr/>
          <p:nvPr/>
        </p:nvSpPr>
        <p:spPr>
          <a:xfrm>
            <a:off x="3005319" y="2610954"/>
            <a:ext cx="540000" cy="540000"/>
          </a:xfrm>
          <a:prstGeom prst="ellipse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Slide Number Placeholder 2">
            <a:extLst>
              <a:ext uri="{FF2B5EF4-FFF2-40B4-BE49-F238E27FC236}">
                <a16:creationId xmlns:a16="http://schemas.microsoft.com/office/drawing/2014/main" id="{8D7582FE-4322-E4D9-50B3-0F9F7BFBB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12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DF49161-7DA7-CBAD-DA69-F6204EDAFF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7" t="6076" r="7814" b="1154"/>
          <a:stretch>
            <a:fillRect/>
          </a:stretch>
        </p:blipFill>
        <p:spPr>
          <a:xfrm>
            <a:off x="1782354" y="975153"/>
            <a:ext cx="5579292" cy="432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F15115-6003-EC7E-DAC7-C2810368AF60}"/>
              </a:ext>
            </a:extLst>
          </p:cNvPr>
          <p:cNvSpPr txBox="1"/>
          <p:nvPr/>
        </p:nvSpPr>
        <p:spPr>
          <a:xfrm>
            <a:off x="326176" y="4977665"/>
            <a:ext cx="81329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Humbucker </a:t>
            </a:r>
            <a:r>
              <a:rPr lang="fr-FR" dirty="0">
                <a:sym typeface="Wingdings" panose="05000000000000000000" pitchFamily="2" charset="2"/>
              </a:rPr>
              <a:t> Gain plat  Son ‘’brut’’</a:t>
            </a:r>
          </a:p>
          <a:p>
            <a:r>
              <a:rPr lang="fr-FR" dirty="0">
                <a:sym typeface="Wingdings" panose="05000000000000000000" pitchFamily="2" charset="2"/>
              </a:rPr>
              <a:t>✅ SingleCoil  Amplification des harmoniques  Son ‘’brillant’’</a:t>
            </a:r>
            <a:endParaRPr lang="fr-FR" dirty="0"/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En basse fréquence : 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B9F34FD-89CC-63DB-50E1-5A91FD67A29F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999D8F-5B32-DA14-93D6-5EBB9D1420D7}"/>
                  </a:ext>
                </a:extLst>
              </p:cNvPr>
              <p:cNvSpPr txBox="1"/>
              <p:nvPr/>
            </p:nvSpPr>
            <p:spPr>
              <a:xfrm>
                <a:off x="3018758" y="5865798"/>
                <a:ext cx="1288892" cy="27699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999D8F-5B32-DA14-93D6-5EBB9D142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758" y="5865798"/>
                <a:ext cx="1288892" cy="276999"/>
              </a:xfrm>
              <a:prstGeom prst="rect">
                <a:avLst/>
              </a:prstGeom>
              <a:blipFill>
                <a:blip r:embed="rId4"/>
                <a:stretch>
                  <a:fillRect r="-930" b="-2857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37137A-2DF8-0791-F8A8-F30EA22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78B1C69-CA78-8148-C0E7-1AAEB429E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99404B-C1DA-0DFF-BFA6-4B629B35C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86369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5" name="Picture 14" descr="Python Logo PNG Transparent – Brands Logos">
            <a:extLst>
              <a:ext uri="{FF2B5EF4-FFF2-40B4-BE49-F238E27FC236}">
                <a16:creationId xmlns:a16="http://schemas.microsoft.com/office/drawing/2014/main" id="{39801DB7-87F1-E2FA-E3AB-1FF4FDB11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6A117BC8-A91E-D34D-A263-E9D4907BD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13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0CE5C55-9AB2-04E9-BBA6-03FF3272A551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D27D75C-5344-E3EC-39F3-8D58FBA9B7E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Footer Placeholder 2">
              <a:extLst>
                <a:ext uri="{FF2B5EF4-FFF2-40B4-BE49-F238E27FC236}">
                  <a16:creationId xmlns:a16="http://schemas.microsoft.com/office/drawing/2014/main" id="{16041891-CE0D-3879-5B8D-27146EDFEF3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76A4ECD2-33B5-D1E7-5EF4-C6DA96EA2F4F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2B4A86-A818-1533-4DB1-351711E7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400" dirty="0">
                <a:latin typeface="Arial Black" panose="020B0A04020102020204" pitchFamily="34" charset="0"/>
              </a:rPr>
              <a:t>THEORIE</a:t>
            </a:r>
            <a:endParaRPr lang="fr-FR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B5975782-C655-C957-C569-F74F73371E27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Hypothèses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Onde stationnaire dans le plan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Micros ponctuels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Induction mutuelle négligée</a:t>
                </a:r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B5975782-C655-C957-C569-F74F73371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blipFill>
                <a:blip r:embed="rId2"/>
                <a:stretch>
                  <a:fillRect l="-1269" t="-12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C8B4A-0584-4F8B-DFD9-05C2433FF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135E5EA-5257-8009-CB80-E87EAA0C9BF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FD91D72-8DB8-2258-3BE8-FE34292F162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E0E53B9E-73CA-B9B1-6344-1D59FDAF117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EF650D1-F3C1-F23F-294B-A4FA3D5759A8}"/>
                  </a:ext>
                </a:extLst>
              </p:cNvPr>
              <p:cNvSpPr txBox="1"/>
              <p:nvPr/>
            </p:nvSpPr>
            <p:spPr>
              <a:xfrm>
                <a:off x="3303791" y="2186203"/>
                <a:ext cx="5585897" cy="32099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600" dirty="0"/>
                  <a:t>L’équation d’onde de la corde est régie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𝑛𝐹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600" dirty="0"/>
              </a:p>
              <a:p>
                <a:r>
                  <a:rPr lang="fr-FR" sz="1600" dirty="0"/>
                  <a:t>Or la corde est plongée dans le champ de l’aimant, elle crée donc un </a:t>
                </a:r>
                <a:r>
                  <a:rPr lang="fr-FR" sz="1600" b="1" dirty="0"/>
                  <a:t>champ induit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600" i="1" dirty="0">
                  <a:latin typeface="+mj-lt"/>
                  <a:ea typeface="Cambria Math" panose="02040503050406030204" pitchFamily="18" charset="0"/>
                </a:endParaRPr>
              </a:p>
              <a:p>
                <a:endParaRPr lang="fr-FR" sz="600" i="1" dirty="0">
                  <a:latin typeface="+mj-lt"/>
                  <a:ea typeface="Cambria Math" panose="02040503050406030204" pitchFamily="18" charset="0"/>
                </a:endParaRPr>
              </a:p>
              <a:p>
                <a:r>
                  <a:rPr lang="fr-FR" sz="1600" dirty="0"/>
                  <a:t>Ainsi le flux à travers le micro est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𝛷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600" dirty="0"/>
              </a:p>
              <a:p>
                <a:endParaRPr lang="fr-FR" sz="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EF650D1-F3C1-F23F-294B-A4FA3D575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91" y="2186203"/>
                <a:ext cx="5585897" cy="3209981"/>
              </a:xfrm>
              <a:prstGeom prst="rect">
                <a:avLst/>
              </a:prstGeom>
              <a:blipFill>
                <a:blip r:embed="rId3"/>
                <a:stretch>
                  <a:fillRect l="-655" t="-119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C11811-C13B-27C8-6B7E-F74894C60B61}"/>
                  </a:ext>
                </a:extLst>
              </p:cNvPr>
              <p:cNvSpPr txBox="1"/>
              <p:nvPr/>
            </p:nvSpPr>
            <p:spPr>
              <a:xfrm>
                <a:off x="3348084" y="5411562"/>
                <a:ext cx="5497310" cy="628698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C11811-C13B-27C8-6B7E-F74894C60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084" y="5411562"/>
                <a:ext cx="5497310" cy="6286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38251A6-C3EA-2C6F-4787-81CA4A4D8980}"/>
                  </a:ext>
                </a:extLst>
              </p:cNvPr>
              <p:cNvSpPr txBox="1"/>
              <p:nvPr/>
            </p:nvSpPr>
            <p:spPr>
              <a:xfrm>
                <a:off x="450772" y="5484254"/>
                <a:ext cx="1624559" cy="277127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𝑛𝐹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m:rPr>
                          <m:nor/>
                        </m:rPr>
                        <a:rPr lang="fr-FR" sz="1100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38251A6-C3EA-2C6F-4787-81CA4A4D89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" y="5484254"/>
                <a:ext cx="1624559" cy="27712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885D3A-AB9C-FDDE-C382-4D0F62B07516}"/>
                  </a:ext>
                </a:extLst>
              </p:cNvPr>
              <p:cNvSpPr txBox="1"/>
              <p:nvPr/>
            </p:nvSpPr>
            <p:spPr>
              <a:xfrm>
                <a:off x="449826" y="5830854"/>
                <a:ext cx="2466556" cy="27610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𝑛𝐹</m:t>
                          </m:r>
                          <m:r>
                            <a:rPr lang="fr-FR" sz="11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885D3A-AB9C-FDDE-C382-4D0F62B07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26" y="5830854"/>
                <a:ext cx="2466556" cy="276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C0F3C1-7512-A531-7F2E-7C4620C32A04}"/>
                  </a:ext>
                </a:extLst>
              </p:cNvPr>
              <p:cNvSpPr txBox="1"/>
              <p:nvPr/>
            </p:nvSpPr>
            <p:spPr>
              <a:xfrm>
                <a:off x="450772" y="4937643"/>
                <a:ext cx="1993984" cy="47904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1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C0F3C1-7512-A531-7F2E-7C4620C32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" y="4937643"/>
                <a:ext cx="1993984" cy="47904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0FB02EB5-601B-5D4F-F670-F963712B9DCC}"/>
              </a:ext>
            </a:extLst>
          </p:cNvPr>
          <p:cNvSpPr txBox="1"/>
          <p:nvPr/>
        </p:nvSpPr>
        <p:spPr>
          <a:xfrm>
            <a:off x="5747657" y="6071016"/>
            <a:ext cx="34557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[6] </a:t>
            </a:r>
            <a:r>
              <a:rPr lang="en-GB" sz="1100" dirty="0"/>
              <a:t>B. D'Andrea-Novel, Presse des Mines</a:t>
            </a:r>
            <a:endParaRPr lang="fr-FR" sz="11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0C720B-33DC-E8F2-3DE4-BF11DF668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83A222-ED91-0839-F882-B79AEBDE65E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" r="137"/>
          <a:stretch/>
        </p:blipFill>
        <p:spPr>
          <a:xfrm>
            <a:off x="3348084" y="530794"/>
            <a:ext cx="5541604" cy="1652857"/>
          </a:xfrm>
          <a:prstGeom prst="rect">
            <a:avLst/>
          </a:prstGeom>
        </p:spPr>
      </p:pic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482CF58E-92C9-C369-0139-D8097E4682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70967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B6CE7088-3557-BC2B-F2A8-00ABC08B3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14</a:t>
            </a:fld>
            <a:endParaRPr lang="fr-FR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22950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8BD061B-D33F-5C6C-7159-62D2EA49DA0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E49283F-B7C2-323C-E9F5-655766F5891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9B218E2D-41F2-8DB6-FF3F-307297FEA32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Footer Placeholder 2">
            <a:extLst>
              <a:ext uri="{FF2B5EF4-FFF2-40B4-BE49-F238E27FC236}">
                <a16:creationId xmlns:a16="http://schemas.microsoft.com/office/drawing/2014/main" id="{6CEAFEBB-B7D7-A979-765E-DCADAB67C2C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07F5F5-C920-E8BE-F59C-FEDACBD8F75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340835-A145-5373-DEB1-EFF2B2EE05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581" b="3828"/>
          <a:stretch>
            <a:fillRect/>
          </a:stretch>
        </p:blipFill>
        <p:spPr>
          <a:xfrm>
            <a:off x="3975817" y="1128398"/>
            <a:ext cx="4913871" cy="4935123"/>
          </a:xfrm>
          <a:prstGeom prst="rect">
            <a:avLst/>
          </a:prstGeom>
          <a:effectLst>
            <a:softEdge rad="31750"/>
          </a:effectLst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32DA095-581E-E30B-B879-F49B0A2527DD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3919140" y="5732146"/>
            <a:ext cx="2134447" cy="10796"/>
          </a:xfrm>
          <a:prstGeom prst="straightConnector1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2BAC65E0-95E4-0252-3042-A8AE9170EA26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4483262" y="3019456"/>
            <a:ext cx="960006" cy="544327"/>
          </a:xfrm>
          <a:prstGeom prst="bentConnector3">
            <a:avLst>
              <a:gd name="adj1" fmla="val 99871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CA56CDB-24E7-CD5E-78EB-1C02851331F6}"/>
              </a:ext>
            </a:extLst>
          </p:cNvPr>
          <p:cNvCxnSpPr>
            <a:cxnSpLocks/>
            <a:stCxn id="15" idx="0"/>
          </p:cNvCxnSpPr>
          <p:nvPr/>
        </p:nvCxnSpPr>
        <p:spPr>
          <a:xfrm rot="5400000" flipH="1" flipV="1">
            <a:off x="4428103" y="1179249"/>
            <a:ext cx="881092" cy="1903604"/>
          </a:xfrm>
          <a:prstGeom prst="bentConnector2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8F56B911-BB28-4CBE-3881-6EC2093BF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982A5C74-26D9-E102-B27C-C61F193EC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0FEB00C1-4A21-7BA9-DCEE-A1EF3054B8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5081C8B4-641B-F61E-5A65-035612AE2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15</a:t>
            </a:fld>
            <a:endParaRPr lang="fr-FR" sz="14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00FD17C-9700-17F1-F443-EECB18699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812" y="2204973"/>
            <a:ext cx="3373612" cy="39207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FE821B7-B9C3-D9DA-FD12-940F056E57F9}"/>
                  </a:ext>
                </a:extLst>
              </p:cNvPr>
              <p:cNvSpPr txBox="1"/>
              <p:nvPr/>
            </p:nvSpPr>
            <p:spPr>
              <a:xfrm>
                <a:off x="326176" y="1128398"/>
                <a:ext cx="3435680" cy="923330"/>
              </a:xfrm>
              <a:prstGeom prst="rect">
                <a:avLst/>
              </a:prstGeom>
              <a:noFill/>
              <a:ln w="38100">
                <a:solidFill>
                  <a:srgbClr val="4A66AC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Excitation manuelle de la corde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=30</m:t>
                    </m:r>
                  </m:oMath>
                </a14:m>
                <a:r>
                  <a:rPr lang="fr-FR" dirty="0"/>
                  <a:t>cm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=80</m:t>
                    </m:r>
                  </m:oMath>
                </a14:m>
                <a:r>
                  <a:rPr lang="fr-FR" dirty="0"/>
                  <a:t>Hz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:endParaRPr lang="fr-FR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FE821B7-B9C3-D9DA-FD12-940F056E5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8398"/>
                <a:ext cx="3435680" cy="923330"/>
              </a:xfrm>
              <a:prstGeom prst="rect">
                <a:avLst/>
              </a:prstGeom>
              <a:blipFill>
                <a:blip r:embed="rId5"/>
                <a:stretch>
                  <a:fillRect l="-1054" t="-1266" r="-527" b="-6962"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>
            <a:extLst>
              <a:ext uri="{FF2B5EF4-FFF2-40B4-BE49-F238E27FC236}">
                <a16:creationId xmlns:a16="http://schemas.microsoft.com/office/drawing/2014/main" id="{7A8C5315-833A-1227-2102-F393794B1434}"/>
              </a:ext>
            </a:extLst>
          </p:cNvPr>
          <p:cNvSpPr/>
          <p:nvPr/>
        </p:nvSpPr>
        <p:spPr>
          <a:xfrm>
            <a:off x="3350431" y="2571597"/>
            <a:ext cx="1132831" cy="294614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Oscilloscope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EA8B41-DBF9-4BAE-EC12-9787ED3EBFD4}"/>
              </a:ext>
            </a:extLst>
          </p:cNvPr>
          <p:cNvSpPr/>
          <p:nvPr/>
        </p:nvSpPr>
        <p:spPr>
          <a:xfrm>
            <a:off x="3350431" y="3445368"/>
            <a:ext cx="1132831" cy="236830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Resistance</a:t>
            </a:r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A40D472F-BC32-2262-CA3A-FD082EB0DFC9}"/>
              </a:ext>
            </a:extLst>
          </p:cNvPr>
          <p:cNvCxnSpPr>
            <a:cxnSpLocks/>
            <a:stCxn id="12" idx="1"/>
          </p:cNvCxnSpPr>
          <p:nvPr/>
        </p:nvCxnSpPr>
        <p:spPr>
          <a:xfrm rot="10800000">
            <a:off x="2605183" y="3357841"/>
            <a:ext cx="745248" cy="205943"/>
          </a:xfrm>
          <a:prstGeom prst="bentConnector3">
            <a:avLst>
              <a:gd name="adj1" fmla="val 100063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8F91A0F7-0A8A-6942-5619-89D8D96F223A}"/>
              </a:ext>
            </a:extLst>
          </p:cNvPr>
          <p:cNvCxnSpPr>
            <a:cxnSpLocks/>
          </p:cNvCxnSpPr>
          <p:nvPr/>
        </p:nvCxnSpPr>
        <p:spPr>
          <a:xfrm>
            <a:off x="5007840" y="5505955"/>
            <a:ext cx="384070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15719646-612D-60C7-5515-4C1C2A069C80}"/>
                  </a:ext>
                </a:extLst>
              </p:cNvPr>
              <p:cNvSpPr txBox="1"/>
              <p:nvPr/>
            </p:nvSpPr>
            <p:spPr>
              <a:xfrm>
                <a:off x="2032718" y="1717328"/>
                <a:ext cx="1288892" cy="27699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15719646-612D-60C7-5515-4C1C2A069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718" y="1717328"/>
                <a:ext cx="1288892" cy="276999"/>
              </a:xfrm>
              <a:prstGeom prst="rect">
                <a:avLst/>
              </a:prstGeom>
              <a:blipFill>
                <a:blip r:embed="rId6"/>
                <a:stretch>
                  <a:fillRect r="-930" b="-3125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EC4625F1-930A-19C2-391C-C0CFF4AB4944}"/>
              </a:ext>
            </a:extLst>
          </p:cNvPr>
          <p:cNvSpPr/>
          <p:nvPr/>
        </p:nvSpPr>
        <p:spPr>
          <a:xfrm>
            <a:off x="2694148" y="5615719"/>
            <a:ext cx="1224992" cy="232854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//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AD9445-BE9C-973C-C972-8AFE4B8EAE0E}"/>
              </a:ext>
            </a:extLst>
          </p:cNvPr>
          <p:cNvSpPr/>
          <p:nvPr/>
        </p:nvSpPr>
        <p:spPr>
          <a:xfrm>
            <a:off x="2731002" y="5916459"/>
            <a:ext cx="1105167" cy="236830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SingleCoil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AC70B2-4DA2-8485-1575-BEAEC25927E8}"/>
              </a:ext>
            </a:extLst>
          </p:cNvPr>
          <p:cNvSpPr/>
          <p:nvPr/>
        </p:nvSpPr>
        <p:spPr>
          <a:xfrm>
            <a:off x="2694148" y="5309222"/>
            <a:ext cx="1224992" cy="232854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--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8A10E743-00B2-81C7-931B-E99DB5826837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836169" y="5846902"/>
            <a:ext cx="1945686" cy="187972"/>
          </a:xfrm>
          <a:prstGeom prst="bentConnector3">
            <a:avLst>
              <a:gd name="adj1" fmla="val 99656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5D0FAE8A-3688-F2A8-6B0A-E9E30236C8B8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2557860" y="4560437"/>
            <a:ext cx="457076" cy="1040493"/>
          </a:xfrm>
          <a:prstGeom prst="bentConnector2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24E87CDB-17A6-24C1-90D1-1ED1137DA57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919140" y="5412994"/>
            <a:ext cx="2585177" cy="12655"/>
          </a:xfrm>
          <a:prstGeom prst="straightConnector1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26183F1B-78FD-09F6-1604-BCD222630B2F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>
            <a:off x="2150134" y="5695322"/>
            <a:ext cx="580868" cy="339553"/>
          </a:xfrm>
          <a:prstGeom prst="bentConnector3">
            <a:avLst>
              <a:gd name="adj1" fmla="val 100493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A3859F76-CB05-368E-06E0-93ECDDFC03E7}"/>
              </a:ext>
            </a:extLst>
          </p:cNvPr>
          <p:cNvCxnSpPr>
            <a:cxnSpLocks/>
            <a:stCxn id="3" idx="1"/>
          </p:cNvCxnSpPr>
          <p:nvPr/>
        </p:nvCxnSpPr>
        <p:spPr>
          <a:xfrm rot="10800000">
            <a:off x="2266152" y="5342248"/>
            <a:ext cx="427996" cy="389898"/>
          </a:xfrm>
          <a:prstGeom prst="bentConnector3">
            <a:avLst>
              <a:gd name="adj1" fmla="val 50000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035FA2-0849-EE37-8E55-ACA53FD9E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CCB08A6-75F3-C217-089B-94DA3EE536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7A11090-9E47-E883-0F29-75609AC1E27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5A8CAB53-01B8-7DD4-BABD-161C3B42FE7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8917C206-7D8F-F87C-A464-C28158F269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5762" y="1243154"/>
            <a:ext cx="3600000" cy="30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71E75F-9259-7FAA-45E5-54846152DA8A}"/>
              </a:ext>
            </a:extLst>
          </p:cNvPr>
          <p:cNvSpPr txBox="1"/>
          <p:nvPr/>
        </p:nvSpPr>
        <p:spPr>
          <a:xfrm>
            <a:off x="655762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 (Théorie)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4D5F30-39B8-D7CA-2411-76B79449E82F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AD8DFC-CCA3-143E-1C3A-755E2E49D659}"/>
              </a:ext>
            </a:extLst>
          </p:cNvPr>
          <p:cNvSpPr txBox="1"/>
          <p:nvPr/>
        </p:nvSpPr>
        <p:spPr>
          <a:xfrm>
            <a:off x="4824129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 (Expérience)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BABFBD4-0070-EF04-AA46-1FCDEC8DDE48}"/>
                  </a:ext>
                </a:extLst>
              </p:cNvPr>
              <p:cNvSpPr txBox="1"/>
              <p:nvPr/>
            </p:nvSpPr>
            <p:spPr>
              <a:xfrm>
                <a:off x="517169" y="4798890"/>
                <a:ext cx="8372519" cy="10389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u="sng" dirty="0"/>
                  <a:t>Interprétation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✅ </a:t>
                </a:r>
                <a:r>
                  <a:rPr lang="fr-FR" dirty="0"/>
                  <a:t>Décroissance en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/>
              </a:p>
              <a:p>
                <a:r>
                  <a:rPr lang="fr-FR" dirty="0">
                    <a:sym typeface="Wingdings" panose="05000000000000000000" pitchFamily="2" charset="2"/>
                  </a:rPr>
                  <a:t>❌ </a:t>
                </a:r>
                <a:r>
                  <a:rPr lang="fr-FR" dirty="0"/>
                  <a:t>Modes 2, 4, 5 et 6 amplifiés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BABFBD4-0070-EF04-AA46-1FCDEC8DD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69" y="4798890"/>
                <a:ext cx="8372519" cy="1038939"/>
              </a:xfrm>
              <a:prstGeom prst="rect">
                <a:avLst/>
              </a:prstGeom>
              <a:blipFill>
                <a:blip r:embed="rId3"/>
                <a:stretch>
                  <a:fillRect l="-655" t="-2924" b="-818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A624D57-F4C1-F5D8-3CC9-E0209DB5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E74625C-1157-F956-CC44-D38484D63704}"/>
                  </a:ext>
                </a:extLst>
              </p:cNvPr>
              <p:cNvSpPr txBox="1"/>
              <p:nvPr/>
            </p:nvSpPr>
            <p:spPr>
              <a:xfrm>
                <a:off x="5400461" y="5270136"/>
                <a:ext cx="2504185" cy="405496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 </m:t>
                    </m:r>
                    <m:f>
                      <m:fPr>
                        <m:ctrlP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E74625C-1157-F956-CC44-D38484D63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461" y="5270136"/>
                <a:ext cx="2504185" cy="405496"/>
              </a:xfrm>
              <a:prstGeom prst="rect">
                <a:avLst/>
              </a:prstGeom>
              <a:blipFill>
                <a:blip r:embed="rId8"/>
                <a:stretch>
                  <a:fillRect t="-1449" b="-15942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39C4E2F6-656E-8266-5DE2-F8CA51BB84A7}"/>
              </a:ext>
            </a:extLst>
          </p:cNvPr>
          <p:cNvSpPr txBox="1"/>
          <p:nvPr/>
        </p:nvSpPr>
        <p:spPr>
          <a:xfrm>
            <a:off x="4852555" y="4805451"/>
            <a:ext cx="4613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u="sng" dirty="0"/>
              <a:t>Explication</a:t>
            </a:r>
            <a:endParaRPr lang="fr-FR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FF3B87D-F3B2-17A1-9B13-5DACB3E7A7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758" y="1249201"/>
            <a:ext cx="3592741" cy="299395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F926BDE1-7057-6CAA-D208-1327F028FD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9" name="Picture 28" descr="Python Logo PNG Transparent – Brands Logos">
            <a:extLst>
              <a:ext uri="{FF2B5EF4-FFF2-40B4-BE49-F238E27FC236}">
                <a16:creationId xmlns:a16="http://schemas.microsoft.com/office/drawing/2014/main" id="{90270A4D-19B9-ADC9-8698-3824832580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845832-E47B-15C0-52AF-DE2EDF18C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16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5672008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B0776-6070-B8A2-6D9F-E5C0B68D5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FB68D66-9E95-3048-2E0B-343D3B2583D0}"/>
                  </a:ext>
                </a:extLst>
              </p:cNvPr>
              <p:cNvSpPr txBox="1"/>
              <p:nvPr/>
            </p:nvSpPr>
            <p:spPr>
              <a:xfrm>
                <a:off x="517169" y="4798890"/>
                <a:ext cx="8372519" cy="13159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u="sng" dirty="0"/>
                  <a:t>Interprétation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✅ </a:t>
                </a:r>
                <a:r>
                  <a:rPr lang="fr-FR" dirty="0"/>
                  <a:t>Décroissance en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/>
              </a:p>
              <a:p>
                <a:r>
                  <a:rPr lang="fr-FR" dirty="0">
                    <a:sym typeface="Wingdings" panose="05000000000000000000" pitchFamily="2" charset="2"/>
                  </a:rPr>
                  <a:t>❌ </a:t>
                </a:r>
                <a:r>
                  <a:rPr lang="fr-FR" dirty="0"/>
                  <a:t>Modes 2 et 4 amplifiés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❌ </a:t>
                </a:r>
                <a:r>
                  <a:rPr lang="fr-FR" dirty="0"/>
                  <a:t>Ecart au mode 4 (320 Hz)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FB68D66-9E95-3048-2E0B-343D3B258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69" y="4798890"/>
                <a:ext cx="8372519" cy="1315938"/>
              </a:xfrm>
              <a:prstGeom prst="rect">
                <a:avLst/>
              </a:prstGeom>
              <a:blipFill>
                <a:blip r:embed="rId2"/>
                <a:stretch>
                  <a:fillRect l="-655" t="-2315" b="-64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80AC9B-8262-9B48-47CD-FC997E4B8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3B99880-11E0-A7BA-ED53-2BF29D230E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BDBE29-3737-3A36-9F03-6A308E7806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168428B4-D9A1-DA21-A141-7F89B05F1DB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E6CA2-8879-E8E8-EC0B-E3AF58AA1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8C4C82-CCDC-6D92-7005-1CC53B69C0C7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A97981-7912-272E-7ACF-6108A251F5DE}"/>
                  </a:ext>
                </a:extLst>
              </p:cNvPr>
              <p:cNvSpPr txBox="1"/>
              <p:nvPr/>
            </p:nvSpPr>
            <p:spPr>
              <a:xfrm>
                <a:off x="4960189" y="5266577"/>
                <a:ext cx="3218413" cy="52046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 </m:t>
                    </m:r>
                    <m:f>
                      <m:fPr>
                        <m:ctrlP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Δ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A97981-7912-272E-7ACF-6108A251F5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0189" y="5266577"/>
                <a:ext cx="3218413" cy="520463"/>
              </a:xfrm>
              <a:prstGeom prst="rect">
                <a:avLst/>
              </a:prstGeom>
              <a:blipFill>
                <a:blip r:embed="rId3"/>
                <a:stretch>
                  <a:fillRect b="-11364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62E9BE76-3E1C-DD1F-D8A7-D7C6D9593C6B}"/>
              </a:ext>
            </a:extLst>
          </p:cNvPr>
          <p:cNvSpPr txBox="1"/>
          <p:nvPr/>
        </p:nvSpPr>
        <p:spPr>
          <a:xfrm>
            <a:off x="4852555" y="4805451"/>
            <a:ext cx="4613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u="sng" dirty="0"/>
              <a:t>Explication</a:t>
            </a:r>
            <a:endParaRPr lang="fr-FR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A01F9E83-A6F3-6D91-CA14-B7F3AFCB93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3020" y="1249202"/>
            <a:ext cx="3592741" cy="29939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1F46B1B-B27C-9E89-F12F-18307D5A3C9D}"/>
              </a:ext>
            </a:extLst>
          </p:cNvPr>
          <p:cNvSpPr txBox="1"/>
          <p:nvPr/>
        </p:nvSpPr>
        <p:spPr>
          <a:xfrm>
            <a:off x="655762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75591C-80F6-8773-08A7-D9275CC0220F}"/>
              </a:ext>
            </a:extLst>
          </p:cNvPr>
          <p:cNvSpPr txBox="1"/>
          <p:nvPr/>
        </p:nvSpPr>
        <p:spPr>
          <a:xfrm>
            <a:off x="4824129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E30C8D0D-93B5-CCBA-2B39-9C042195F7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758" y="1249201"/>
            <a:ext cx="3592740" cy="299395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AA0DE2CE-31CB-5804-5054-16DE572DF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34" name="Picture 33" descr="Python Logo PNG Transparent – Brands Logos">
            <a:extLst>
              <a:ext uri="{FF2B5EF4-FFF2-40B4-BE49-F238E27FC236}">
                <a16:creationId xmlns:a16="http://schemas.microsoft.com/office/drawing/2014/main" id="{D03D47F7-7ACE-3539-D126-594A312E6A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B00F24D5-E92A-9FA3-3B43-11FAB4F9C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17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2389985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1E5EDFB-C840-65AB-C6E3-90FB7CB6E4A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B845F26-B0CA-A491-4DA1-1F594CFBD87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82433090-BC1B-2216-FF85-994BBF3E9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FC82B-F70C-8D5D-E171-A36BE02D4021}"/>
              </a:ext>
            </a:extLst>
          </p:cNvPr>
          <p:cNvGrpSpPr/>
          <p:nvPr/>
        </p:nvGrpSpPr>
        <p:grpSpPr>
          <a:xfrm>
            <a:off x="5714016" y="2163818"/>
            <a:ext cx="3269985" cy="3993142"/>
            <a:chOff x="5958063" y="2389099"/>
            <a:chExt cx="2878491" cy="35731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A3093A-8816-005B-D928-3B44B655C8E2}"/>
                </a:ext>
              </a:extLst>
            </p:cNvPr>
            <p:cNvSpPr/>
            <p:nvPr/>
          </p:nvSpPr>
          <p:spPr>
            <a:xfrm>
              <a:off x="5958063" y="2389099"/>
              <a:ext cx="2878491" cy="3573164"/>
            </a:xfrm>
            <a:prstGeom prst="rect">
              <a:avLst/>
            </a:prstGeom>
            <a:ln w="38100">
              <a:noFill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fr-FR" sz="1400" b="1" u="sng" dirty="0">
                  <a:solidFill>
                    <a:schemeClr val="tx1"/>
                  </a:solidFill>
                </a:rPr>
                <a:t>Nœuds de vibration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u="sng" dirty="0">
                <a:solidFill>
                  <a:schemeClr val="tx1"/>
                </a:solidFill>
              </a:endParaRPr>
            </a:p>
            <a:p>
              <a:endParaRPr lang="fr-FR" sz="1400" b="1" u="sng" dirty="0">
                <a:solidFill>
                  <a:schemeClr val="tx1"/>
                </a:solidFill>
              </a:endParaRPr>
            </a:p>
            <a:p>
              <a:r>
                <a:rPr lang="fr-FR" sz="1400" b="1" u="sng" dirty="0">
                  <a:solidFill>
                    <a:schemeClr val="tx1"/>
                  </a:solidFill>
                </a:rPr>
                <a:t>Filtrage en peigne spatial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C3E0C0-FBAB-DC78-5B15-476675A96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77938" y="4604155"/>
              <a:ext cx="1798321" cy="37753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40B446E-9BC2-8E92-5207-9220276E3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6988242" y="5064642"/>
              <a:ext cx="793915" cy="525312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21575B3-C3E7-D035-FD8D-5A909416EA0A}"/>
                </a:ext>
              </a:extLst>
            </p:cNvPr>
            <p:cNvGrpSpPr/>
            <p:nvPr/>
          </p:nvGrpSpPr>
          <p:grpSpPr>
            <a:xfrm>
              <a:off x="6092582" y="2976561"/>
              <a:ext cx="2601348" cy="2005132"/>
              <a:chOff x="6074018" y="3612551"/>
              <a:chExt cx="2601346" cy="1911988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67476" y="3612551"/>
                <a:ext cx="1798320" cy="360000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6A19C6E1-1347-2947-0051-4E4B5CAD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6920250" y="3866659"/>
                <a:ext cx="932157" cy="756309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459B7B-7876-DECC-7C5D-6EF7F711F3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70935" y="3612551"/>
                <a:ext cx="0" cy="863841"/>
              </a:xfrm>
              <a:prstGeom prst="line">
                <a:avLst/>
              </a:prstGeom>
              <a:ln w="12700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9C823F4-FBD6-6BF7-DDFC-373F3F49B1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82122" y="3612551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49EE9B9-324D-BB3C-541F-721FD32B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65796" y="3612551"/>
                <a:ext cx="409568" cy="360000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F73F8ABF-37B1-C042-48E3-54079A812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74018" y="5164377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755D2A8C-C203-0783-181A-D6DC107E7E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57693" y="5164539"/>
                <a:ext cx="409568" cy="360000"/>
              </a:xfrm>
              <a:prstGeom prst="rect">
                <a:avLst/>
              </a:prstGeom>
            </p:spPr>
          </p:pic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5BA09B4-C52E-B87A-CF04-8232C165D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2582" y="4874895"/>
              <a:ext cx="0" cy="696047"/>
            </a:xfrm>
            <a:prstGeom prst="line">
              <a:avLst/>
            </a:prstGeom>
            <a:ln w="12700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B93E4C2-FBE4-4065-9278-90914A6EC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1982" y="4703445"/>
              <a:ext cx="0" cy="867498"/>
            </a:xfrm>
            <a:prstGeom prst="line">
              <a:avLst/>
            </a:prstGeom>
            <a:ln w="12700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23" name="Footer Placeholder 2">
            <a:extLst>
              <a:ext uri="{FF2B5EF4-FFF2-40B4-BE49-F238E27FC236}">
                <a16:creationId xmlns:a16="http://schemas.microsoft.com/office/drawing/2014/main" id="{4BCE2257-F05E-832B-4E41-697261064FA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EC09A-1CE2-C57C-EA75-CE25A5404F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7"/>
            <a:ext cx="5175257" cy="5105961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A31065C-A20A-A288-0085-D396B6CE6BAB}"/>
              </a:ext>
            </a:extLst>
          </p:cNvPr>
          <p:cNvCxnSpPr>
            <a:cxnSpLocks/>
          </p:cNvCxnSpPr>
          <p:nvPr/>
        </p:nvCxnSpPr>
        <p:spPr>
          <a:xfrm>
            <a:off x="2545383" y="3592786"/>
            <a:ext cx="0" cy="1307018"/>
          </a:xfrm>
          <a:prstGeom prst="line">
            <a:avLst/>
          </a:prstGeom>
          <a:ln w="28575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/>
              <p:nvPr/>
            </p:nvSpPr>
            <p:spPr>
              <a:xfrm>
                <a:off x="2610806" y="4649765"/>
                <a:ext cx="49532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𝟑𝟐𝟎</m:t>
                    </m:r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b="1" dirty="0">
                    <a:solidFill>
                      <a:srgbClr val="C00000"/>
                    </a:solidFill>
                  </a:rPr>
                  <a:t>Hz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806" y="4649765"/>
                <a:ext cx="495328" cy="184666"/>
              </a:xfrm>
              <a:prstGeom prst="rect">
                <a:avLst/>
              </a:prstGeom>
              <a:blipFill>
                <a:blip r:embed="rId10"/>
                <a:stretch>
                  <a:fillRect l="-10976" t="-30000" r="-18293" b="-4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AE1A2621-99DB-BABC-D8E3-49A97B682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CC0FE738-C281-1177-AD0D-5BE611618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C52325-88C1-A427-ED20-29C118D8B26E}"/>
                  </a:ext>
                </a:extLst>
              </p:cNvPr>
              <p:cNvSpPr txBox="1"/>
              <p:nvPr/>
            </p:nvSpPr>
            <p:spPr>
              <a:xfrm>
                <a:off x="6261555" y="3945584"/>
                <a:ext cx="2042905" cy="315407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sz="1400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 </m:t>
                    </m:r>
                    <m:f>
                      <m:fPr>
                        <m:ctrlP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C52325-88C1-A427-ED20-29C118D8B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1555" y="3945584"/>
                <a:ext cx="2042905" cy="315407"/>
              </a:xfrm>
              <a:prstGeom prst="rect">
                <a:avLst/>
              </a:prstGeom>
              <a:blipFill>
                <a:blip r:embed="rId14"/>
                <a:stretch>
                  <a:fillRect b="-12727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07D52926-2903-DDB1-463C-CF6DDA0BA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33" name="Picture 32" descr="Python Logo PNG Transparent – Brands Logos">
            <a:extLst>
              <a:ext uri="{FF2B5EF4-FFF2-40B4-BE49-F238E27FC236}">
                <a16:creationId xmlns:a16="http://schemas.microsoft.com/office/drawing/2014/main" id="{0B55D3CE-AC79-473D-FF58-01B706B2EB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289B7671-856C-99CF-B704-3812E7BC9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18</a:t>
            </a:fld>
            <a:endParaRPr lang="fr-FR" sz="1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B49B21-A9DD-184A-7858-37E1D03C3D6B}"/>
                  </a:ext>
                </a:extLst>
              </p:cNvPr>
              <p:cNvSpPr txBox="1"/>
              <p:nvPr/>
            </p:nvSpPr>
            <p:spPr>
              <a:xfrm>
                <a:off x="6008919" y="5829440"/>
                <a:ext cx="2569562" cy="404919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sz="1400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 </m:t>
                    </m:r>
                    <m:f>
                      <m:fPr>
                        <m:ctrlP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fr-FR" sz="1400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Δ</m:t>
                                </m:r>
                              </m:num>
                              <m:den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B49B21-A9DD-184A-7858-37E1D03C3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8919" y="5829440"/>
                <a:ext cx="2569562" cy="404919"/>
              </a:xfrm>
              <a:prstGeom prst="rect">
                <a:avLst/>
              </a:prstGeom>
              <a:blipFill>
                <a:blip r:embed="rId16"/>
                <a:stretch>
                  <a:fillRect b="-100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DAEE9D9D-3B5E-BD6F-CC19-9E045698CA7A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951BE-DC89-1531-EC6E-EF373AD65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FA5A69-4ADE-0A85-B85F-F117819EFF54}"/>
                  </a:ext>
                </a:extLst>
              </p:cNvPr>
              <p:cNvSpPr txBox="1"/>
              <p:nvPr/>
            </p:nvSpPr>
            <p:spPr>
              <a:xfrm>
                <a:off x="3303791" y="1850111"/>
                <a:ext cx="5585897" cy="37651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600" dirty="0"/>
                  <a:t>On considère un champ parasite sinusoïdale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600" dirty="0"/>
              </a:p>
              <a:p>
                <a:r>
                  <a:rPr lang="fr-FR" sz="1600" b="1" u="sng" dirty="0"/>
                  <a:t>Pour un micro SingleCoil :</a:t>
                </a:r>
              </a:p>
              <a:p>
                <a:r>
                  <a:rPr lang="fr-FR" sz="1600" dirty="0"/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b="1" u="sng" dirty="0"/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/>
                  <a:t>Montage série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ⅇ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sz="1600" i="1" dirty="0">
                  <a:latin typeface="Cambria Math" panose="02040503050406030204" pitchFamily="18" charset="0"/>
                </a:endParaRP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/>
                  <a:t>Montage parallèle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FA5A69-4ADE-0A85-B85F-F117819EF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91" y="1850111"/>
                <a:ext cx="5585897" cy="3765198"/>
              </a:xfrm>
              <a:prstGeom prst="rect">
                <a:avLst/>
              </a:prstGeom>
              <a:blipFill>
                <a:blip r:embed="rId2"/>
                <a:stretch>
                  <a:fillRect l="-655" t="-485" b="-32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626D5441-F7C5-80F8-00AB-D1887F85EB3D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09E84C9-68CB-907E-5467-644C750197F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Footer Placeholder 2">
              <a:extLst>
                <a:ext uri="{FF2B5EF4-FFF2-40B4-BE49-F238E27FC236}">
                  <a16:creationId xmlns:a16="http://schemas.microsoft.com/office/drawing/2014/main" id="{9BB2E0DE-AE44-2645-298B-0071500DA0E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D256A7E3-90FC-3D29-1355-E4360E2C6F11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9DAE30-FDE1-9D08-1084-73C2A26E7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400" dirty="0">
                <a:latin typeface="Arial Black" panose="020B0A04020102020204" pitchFamily="34" charset="0"/>
              </a:rPr>
              <a:t>THEORIE</a:t>
            </a:r>
            <a:endParaRPr lang="fr-FR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EB732A1-8498-ED1B-638B-26F88547B04B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Hypothèses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Micros ponctuels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Induction mutuelle négligée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EB732A1-8498-ED1B-638B-26F88547B0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blipFill>
                <a:blip r:embed="rId3"/>
                <a:stretch>
                  <a:fillRect l="-1269" t="-1264" r="-25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1A4AA-683C-9A93-32AB-142876913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7F8E63B-9F83-A7E2-0305-24C1966AE6E6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AC9D2DC-732A-8320-0119-9CCE9BC10F0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42EDB493-EBE2-C0CA-4AD5-4C47038D9F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93BDE62-4EC4-A8F9-E579-E1D63E9C35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129" b="64958"/>
          <a:stretch>
            <a:fillRect/>
          </a:stretch>
        </p:blipFill>
        <p:spPr>
          <a:xfrm>
            <a:off x="3303790" y="593134"/>
            <a:ext cx="2944610" cy="108470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3840F5A-AD85-41F7-50A5-0FA8682BF4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365" t="37722" r="-1" b="737"/>
          <a:stretch>
            <a:fillRect/>
          </a:stretch>
        </p:blipFill>
        <p:spPr>
          <a:xfrm>
            <a:off x="6088742" y="566334"/>
            <a:ext cx="2800945" cy="12805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B637A96-B54C-26FC-7E3A-8C4ECCAE0C9B}"/>
                  </a:ext>
                </a:extLst>
              </p:cNvPr>
              <p:cNvSpPr txBox="1"/>
              <p:nvPr/>
            </p:nvSpPr>
            <p:spPr>
              <a:xfrm>
                <a:off x="4826757" y="3534744"/>
                <a:ext cx="2523969" cy="338554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B637A96-B54C-26FC-7E3A-8C4ECCAE0C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757" y="3534744"/>
                <a:ext cx="2523969" cy="338554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D6A62A6-84FB-CCE4-E39A-3CF3D437F6D3}"/>
                  </a:ext>
                </a:extLst>
              </p:cNvPr>
              <p:cNvSpPr txBox="1"/>
              <p:nvPr/>
            </p:nvSpPr>
            <p:spPr>
              <a:xfrm>
                <a:off x="4735326" y="4808935"/>
                <a:ext cx="3026139" cy="338554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D6A62A6-84FB-CCE4-E39A-3CF3D437F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5326" y="4808935"/>
                <a:ext cx="3026139" cy="338554"/>
              </a:xfrm>
              <a:prstGeom prst="rect">
                <a:avLst/>
              </a:prstGeom>
              <a:blipFill>
                <a:blip r:embed="rId6"/>
                <a:stretch>
                  <a:fillRect b="-10526"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B89713C-EC85-403E-732E-2955D28B31CC}"/>
                  </a:ext>
                </a:extLst>
              </p:cNvPr>
              <p:cNvSpPr txBox="1"/>
              <p:nvPr/>
            </p:nvSpPr>
            <p:spPr>
              <a:xfrm>
                <a:off x="4672103" y="5598406"/>
                <a:ext cx="3152587" cy="553357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f>
                                <m:fPr>
                                  <m:ctrlPr>
                                    <a:rPr lang="fr-FR" sz="16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B89713C-EC85-403E-732E-2955D28B31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2103" y="5598406"/>
                <a:ext cx="3152587" cy="5533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5CC5112-6FAA-596D-0A9E-E7F71586A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190DEA1-70DA-099B-C165-B160C8AAD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75820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B68D51-2935-DE19-8B7A-A7EE16A01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19</a:t>
            </a:fld>
            <a:endParaRPr lang="fr-FR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1594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F325D95-66BD-B16D-478C-A16E375CA2B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4633CA-79B5-8626-5F5C-961A97B305C7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4D548465-9274-10EF-DF9E-7E195D565F1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376131" y="1128398"/>
            <a:ext cx="7320105" cy="5123781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1EF4D00-8389-C68B-63A5-8B73E75ADB55}"/>
              </a:ext>
            </a:extLst>
          </p:cNvPr>
          <p:cNvGrpSpPr/>
          <p:nvPr/>
        </p:nvGrpSpPr>
        <p:grpSpPr>
          <a:xfrm>
            <a:off x="5836466" y="1122202"/>
            <a:ext cx="3053221" cy="4318256"/>
            <a:chOff x="6451777" y="1536488"/>
            <a:chExt cx="2485046" cy="39197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/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ln w="38100">
                  <a:solidFill>
                    <a:srgbClr val="4A66AC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pPr algn="ctr"/>
                  <a:endParaRPr lang="fr-FR" sz="1600" b="1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Utilisation d’une bobine de Helmholtz à 50 Hz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6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d>
                          <m:d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6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6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fr-FR" sz="16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f>
                              <m:fPr>
                                <m:ctrlP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p>
                        </m:sSup>
                        <m:f>
                          <m:f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fr-FR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6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blipFill>
                  <a:blip r:embed="rId5"/>
                  <a:stretch>
                    <a:fillRect l="-197"/>
                  </a:stretch>
                </a:blipFill>
                <a:ln w="38100">
                  <a:solidFill>
                    <a:srgbClr val="4A66AC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2" descr="Bobine de Helmholtz sur socle : PAM067370">
              <a:extLst>
                <a:ext uri="{FF2B5EF4-FFF2-40B4-BE49-F238E27FC236}">
                  <a16:creationId xmlns:a16="http://schemas.microsoft.com/office/drawing/2014/main" id="{97F9CA38-454F-5EAF-74D4-E7E8E328C6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3422" y="2446652"/>
              <a:ext cx="1761755" cy="1166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" name="Picture 2" descr="Structure and the induced magnetic field of a Helmholtz coil pair ...">
            <a:extLst>
              <a:ext uri="{FF2B5EF4-FFF2-40B4-BE49-F238E27FC236}">
                <a16:creationId xmlns:a16="http://schemas.microsoft.com/office/drawing/2014/main" id="{CF754146-2AC7-3CBC-E763-CFD6C49A5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2"/>
          <a:stretch>
            <a:fillRect/>
          </a:stretch>
        </p:blipFill>
        <p:spPr bwMode="auto">
          <a:xfrm>
            <a:off x="6273922" y="3298908"/>
            <a:ext cx="2178307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CEBE25E-EC36-DF12-19EF-138C3E8BD4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E5BCA913-E8F4-FEC2-85B5-1EE56140E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0D275B26-53D5-1DA5-3076-7CA2265F7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7231334-36C0-5C49-770A-3C438FD9D3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08493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51E47C2C-EF11-482F-718A-A277219A5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20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6A309-7F61-2078-756A-1BEEE9F9A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EB1A806C-1E53-4584-380F-1ED7D45FC697}"/>
              </a:ext>
            </a:extLst>
          </p:cNvPr>
          <p:cNvSpPr txBox="1"/>
          <p:nvPr/>
        </p:nvSpPr>
        <p:spPr>
          <a:xfrm>
            <a:off x="655762" y="4910371"/>
            <a:ext cx="8372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Sensibilité accrue du micro SingleCoil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Reduction efficace du bourdonnement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5AC0E9-CB7B-70C2-AA29-F91BBCFF9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B9F8804-5B6D-12D8-4525-9D1A7692D87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937DA41-FAE5-2627-6BB9-9A59954ECF3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B5DEB507-C734-74B6-70ED-BBB59A6246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BBFBE-6A19-F245-FD7F-C53C2B85C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A6F6FE-5FF6-5B4E-5D74-3E6B2717EDE3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37CBB98-1E72-A4AD-5597-DC805CAF72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3020" y="1249202"/>
            <a:ext cx="3592740" cy="29939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169C8C4-09CE-6F8E-6D72-84E81FBF3C8E}"/>
              </a:ext>
            </a:extLst>
          </p:cNvPr>
          <p:cNvSpPr txBox="1"/>
          <p:nvPr/>
        </p:nvSpPr>
        <p:spPr>
          <a:xfrm>
            <a:off x="655762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6B7DD0-13FB-E3C1-1659-D5681ECB5F8F}"/>
              </a:ext>
            </a:extLst>
          </p:cNvPr>
          <p:cNvSpPr txBox="1"/>
          <p:nvPr/>
        </p:nvSpPr>
        <p:spPr>
          <a:xfrm>
            <a:off x="4824129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87E454A-6B5E-2A3B-18FA-B63D9BB407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758" y="1249201"/>
            <a:ext cx="3592740" cy="2993949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20B17C0-F8FD-B5AA-43E0-C58AEAD563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76362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0" name="Picture 19" descr="Python Logo PNG Transparent – Brands Logos">
            <a:extLst>
              <a:ext uri="{FF2B5EF4-FFF2-40B4-BE49-F238E27FC236}">
                <a16:creationId xmlns:a16="http://schemas.microsoft.com/office/drawing/2014/main" id="{41F8D0BD-5CE2-656C-AAF1-8AF02632B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AB8F54-AD94-2AB2-9E03-BD06D6E2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21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4004807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FDCA-BB39-EE18-BB35-2E0E1E4D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8515866-5F05-8C01-076C-078FAEECE57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E3100D-75AB-378E-9842-ED0F296E89C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" name="Footer Placeholder 2">
              <a:extLst>
                <a:ext uri="{FF2B5EF4-FFF2-40B4-BE49-F238E27FC236}">
                  <a16:creationId xmlns:a16="http://schemas.microsoft.com/office/drawing/2014/main" id="{45037E6E-E4E2-AC9B-1CB9-6307187141E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A639CD3E-4169-1389-4E27-DA0661374473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2A4C42-E8E3-0A32-60A1-2B34526A12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40698"/>
            <a:ext cx="5175257" cy="5016262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/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pPr algn="ctr"/>
                <a:endParaRPr lang="fr-FR" sz="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Théorique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2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02 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Expérimentale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48 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  <m:sup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0,62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=79,4%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Causes 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blipFill>
                <a:blip r:embed="rId4"/>
                <a:stretch>
                  <a:fillRect l="-951" t="-45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de la sensibilité magnétique</a:t>
                </a:r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d>
                    </m:oMath>
                  </m:oMathPara>
                </a14:m>
                <a:endParaRPr lang="fr-FR" sz="1200" b="0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𝐶𝑀𝑅𝑅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8A4355-9F53-EC56-1C7E-FC7FB883A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3A21404-EC4C-8456-3B1E-A8B200D81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63A8DD5-EEEE-870C-F78B-64F9974FE1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08493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DA19AFFB-40D1-65C6-1579-3928E5ED6D7F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6" name="Picture 15" descr="Python Logo PNG Transparent – Brands Logos">
            <a:extLst>
              <a:ext uri="{FF2B5EF4-FFF2-40B4-BE49-F238E27FC236}">
                <a16:creationId xmlns:a16="http://schemas.microsoft.com/office/drawing/2014/main" id="{7FF30083-6AC6-C272-5098-CC8479439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AF77044-98CB-DE1B-50F6-58A7C65DA37E}"/>
                  </a:ext>
                </a:extLst>
              </p:cNvPr>
              <p:cNvSpPr txBox="1"/>
              <p:nvPr/>
            </p:nvSpPr>
            <p:spPr>
              <a:xfrm>
                <a:off x="6033583" y="3279792"/>
                <a:ext cx="2504185" cy="298415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=37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AF77044-98CB-DE1B-50F6-58A7C65DA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83" y="3279792"/>
                <a:ext cx="2504185" cy="298415"/>
              </a:xfrm>
              <a:prstGeom prst="rect">
                <a:avLst/>
              </a:prstGeom>
              <a:blipFill>
                <a:blip r:embed="rId8"/>
                <a:stretch>
                  <a:fillRect b="-1923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9A20A4B-B6C1-0D7B-1B48-07DC0E172ED5}"/>
                  </a:ext>
                </a:extLst>
              </p:cNvPr>
              <p:cNvSpPr txBox="1"/>
              <p:nvPr/>
            </p:nvSpPr>
            <p:spPr>
              <a:xfrm>
                <a:off x="6033582" y="4450997"/>
                <a:ext cx="2504185" cy="298415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,6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9A20A4B-B6C1-0D7B-1B48-07DC0E172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82" y="4450997"/>
                <a:ext cx="2504185" cy="298415"/>
              </a:xfrm>
              <a:prstGeom prst="rect">
                <a:avLst/>
              </a:prstGeom>
              <a:blipFill>
                <a:blip r:embed="rId9"/>
                <a:stretch>
                  <a:fillRect b="-1923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C522786F-739E-2B8D-1338-5E63FA46A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22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885770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F9251-C048-A833-EE53-03159FB91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C267B34-E6A1-7278-22E0-AF653B3C067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CONCLUSION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8E1FFD-CACD-69D5-837A-D84C34CB0776}"/>
              </a:ext>
            </a:extLst>
          </p:cNvPr>
          <p:cNvSpPr/>
          <p:nvPr/>
        </p:nvSpPr>
        <p:spPr>
          <a:xfrm>
            <a:off x="326443" y="419481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CA6678F9-665C-8A0E-2952-CDB19973EF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6" y="949756"/>
            <a:ext cx="7425344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Dans quelle mesure </a:t>
            </a:r>
            <a:r>
              <a:rPr lang="fr-FR" sz="1600" b="1" dirty="0"/>
              <a:t>l'ajout d'une seconde bobine </a:t>
            </a:r>
            <a:r>
              <a:rPr lang="fr-FR" sz="1600" dirty="0"/>
              <a:t>impacte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la </a:t>
            </a:r>
            <a:r>
              <a:rPr lang="fr-FR" sz="1600" b="1" dirty="0"/>
              <a:t>richesse du son </a:t>
            </a:r>
            <a:r>
              <a:rPr lang="fr-FR" sz="1600" dirty="0"/>
              <a:t>et permet </a:t>
            </a:r>
            <a:r>
              <a:rPr lang="fr-FR" sz="1600" b="1" dirty="0"/>
              <a:t>d'éliminer les parasites </a:t>
            </a:r>
            <a:r>
              <a:rPr lang="fr-FR" sz="1600" dirty="0"/>
              <a:t>?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25486D-96BE-5856-258F-4751DE1096D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0C2E669F-4BE3-0546-0391-2D466FB64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DB84FC3F-EFF8-CE3B-A8FE-8CF2D6C74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A44EEB4-C7F2-FA48-F73E-95DCE61D3D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46837353"/>
                  </p:ext>
                </p:extLst>
              </p:nvPr>
            </p:nvGraphicFramePr>
            <p:xfrm>
              <a:off x="721782" y="1869055"/>
              <a:ext cx="7563846" cy="2143760"/>
            </p:xfrm>
            <a:graphic>
              <a:graphicData uri="http://schemas.openxmlformats.org/drawingml/2006/table">
                <a:tbl>
                  <a:tblPr firstRow="1" firstCol="1">
                    <a:tableStyleId>{EB9631B5-78F2-41C9-869B-9F39066F8104}</a:tableStyleId>
                  </a:tblPr>
                  <a:tblGrid>
                    <a:gridCol w="2349222">
                      <a:extLst>
                        <a:ext uri="{9D8B030D-6E8A-4147-A177-3AD203B41FA5}">
                          <a16:colId xmlns:a16="http://schemas.microsoft.com/office/drawing/2014/main" val="1786110228"/>
                        </a:ext>
                      </a:extLst>
                    </a:gridCol>
                    <a:gridCol w="2491596">
                      <a:extLst>
                        <a:ext uri="{9D8B030D-6E8A-4147-A177-3AD203B41FA5}">
                          <a16:colId xmlns:a16="http://schemas.microsoft.com/office/drawing/2014/main" val="634179246"/>
                        </a:ext>
                      </a:extLst>
                    </a:gridCol>
                    <a:gridCol w="2723028">
                      <a:extLst>
                        <a:ext uri="{9D8B030D-6E8A-4147-A177-3AD203B41FA5}">
                          <a16:colId xmlns:a16="http://schemas.microsoft.com/office/drawing/2014/main" val="6771488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Critère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43460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Signature sonore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dirty="0">
                              <a:solidFill>
                                <a:srgbClr val="38903A"/>
                              </a:solidFill>
                            </a:rPr>
                            <a:t>Richesse en aigus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2000" b="0" i="1" smtClean="0">
                                        <a:solidFill>
                                          <a:srgbClr val="38903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b="0" i="1" smtClean="0">
                                        <a:solidFill>
                                          <a:srgbClr val="38903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fr-FR" sz="2000" b="0" i="1" smtClean="0">
                                        <a:solidFill>
                                          <a:srgbClr val="38903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𝑚𝑎𝑥</m:t>
                                    </m:r>
                                  </m:sub>
                                </m:s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=10 </m:t>
                                </m:r>
                                <m:r>
                                  <m:rPr>
                                    <m:nor/>
                                  </m:rPr>
                                  <a:rPr lang="fr-FR" sz="2000" b="0" i="0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38903A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dirty="0">
                              <a:solidFill>
                                <a:srgbClr val="C00000"/>
                              </a:solidFill>
                            </a:rPr>
                            <a:t>Atténuation des aigus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fr-FR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𝑚𝑖𝑛</m:t>
                                    </m:r>
                                  </m:sub>
                                </m:sSub>
                                <m:r>
                                  <a:rPr lang="fr-FR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=−20 </m:t>
                                </m:r>
                                <m:r>
                                  <m:rPr>
                                    <m:nor/>
                                  </m:rPr>
                                  <a:rPr lang="fr-FR" sz="2000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675015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Reduction du bourdonnement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2000" i="0" dirty="0">
                              <a:solidFill>
                                <a:srgbClr val="C00000"/>
                              </a:solidFill>
                              <a:latin typeface="+mn-lt"/>
                              <a:ea typeface="Cambria Math" panose="02040503050406030204" pitchFamily="18" charset="0"/>
                            </a:rPr>
                            <a:t>Inexistante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200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𝐶𝑀𝑅</m:t>
                                </m:r>
                                <m:r>
                                  <a:rPr lang="fr-FR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fr-FR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fr-FR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fr-FR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2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2000" i="0" dirty="0">
                              <a:solidFill>
                                <a:srgbClr val="38903A"/>
                              </a:solidFill>
                              <a:latin typeface="+mn-lt"/>
                              <a:ea typeface="Cambria Math" panose="02040503050406030204" pitchFamily="18" charset="0"/>
                            </a:rPr>
                            <a:t>Efficace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200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𝐶𝑀𝑅</m:t>
                                </m:r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fr-FR" sz="2000" i="1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=7</m:t>
                                </m:r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,6</m:t>
                                </m:r>
                                <m:r>
                                  <a:rPr lang="fr-FR" sz="2000" i="1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200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38903A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254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400" dirty="0"/>
                            <a:t>Exemple d’utilisation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Blues, Funk, Rock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Hard Rock, Jazz, Métal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60468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A44EEB4-C7F2-FA48-F73E-95DCE61D3D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46837353"/>
                  </p:ext>
                </p:extLst>
              </p:nvPr>
            </p:nvGraphicFramePr>
            <p:xfrm>
              <a:off x="721782" y="1869055"/>
              <a:ext cx="7563846" cy="2143760"/>
            </p:xfrm>
            <a:graphic>
              <a:graphicData uri="http://schemas.openxmlformats.org/drawingml/2006/table">
                <a:tbl>
                  <a:tblPr firstRow="1" firstCol="1">
                    <a:tableStyleId>{EB9631B5-78F2-41C9-869B-9F39066F8104}</a:tableStyleId>
                  </a:tblPr>
                  <a:tblGrid>
                    <a:gridCol w="2349222">
                      <a:extLst>
                        <a:ext uri="{9D8B030D-6E8A-4147-A177-3AD203B41FA5}">
                          <a16:colId xmlns:a16="http://schemas.microsoft.com/office/drawing/2014/main" val="1786110228"/>
                        </a:ext>
                      </a:extLst>
                    </a:gridCol>
                    <a:gridCol w="2491596">
                      <a:extLst>
                        <a:ext uri="{9D8B030D-6E8A-4147-A177-3AD203B41FA5}">
                          <a16:colId xmlns:a16="http://schemas.microsoft.com/office/drawing/2014/main" val="634179246"/>
                        </a:ext>
                      </a:extLst>
                    </a:gridCol>
                    <a:gridCol w="2723028">
                      <a:extLst>
                        <a:ext uri="{9D8B030D-6E8A-4147-A177-3AD203B41FA5}">
                          <a16:colId xmlns:a16="http://schemas.microsoft.com/office/drawing/2014/main" val="6771488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Critère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4346098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Signature sonore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94377" t="-54310" r="-109780" b="-1534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77852" t="-54310" r="-447" b="-15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7501505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Reduction du bourdonnement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94377" t="-155652" r="-109780" b="-547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77852" t="-155652" r="-447" b="-547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254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400" dirty="0"/>
                            <a:t>Exemple d’utilisation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Blues, Funk, Rock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Hard Rock, Jazz, Métal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604687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EDC5803-E5CD-64DA-9A1E-4B3162FC96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56920" y="517553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F6D65EF9-C6C9-6B0C-4514-E0B85FB57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7327079" y="519483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1C452AD-9FBD-8BD6-A714-667125509853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Problématique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F0E508EE-6FE9-3B4E-313C-4C7B63D0C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23</a:t>
            </a:fld>
            <a:endParaRPr lang="fr-FR" sz="14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B4C8948-019D-5E3C-ECD1-F28BFF8704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7904" y="4054442"/>
            <a:ext cx="2508375" cy="209031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8AACECA-A0B1-BAF4-6C14-464D07B1A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49517" y="4054441"/>
            <a:ext cx="2508375" cy="209031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6DDB650-C704-C2A9-8742-D31F89BA00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76294" y="4054441"/>
            <a:ext cx="2508375" cy="209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6351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96DEC9D-D575-DBBD-0410-59D2ED43304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DCCB68E-E8C2-CC4C-3A75-B5BA7F6D35A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F93ABBD-287B-55E3-11A3-68FE11A2765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F750C-911D-65AC-5250-EA8EDE55DF5D}"/>
              </a:ext>
            </a:extLst>
          </p:cNvPr>
          <p:cNvSpPr txBox="1"/>
          <p:nvPr/>
        </p:nvSpPr>
        <p:spPr>
          <a:xfrm>
            <a:off x="326443" y="1384451"/>
            <a:ext cx="84911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Annexe 1 :</a:t>
            </a:r>
            <a:r>
              <a:rPr lang="fr-FR" dirty="0"/>
              <a:t> Références bibliographiques et sources. </a:t>
            </a:r>
          </a:p>
          <a:p>
            <a:r>
              <a:rPr lang="fr-FR" b="1" dirty="0"/>
              <a:t>Annexe 2 :</a:t>
            </a:r>
            <a:r>
              <a:rPr lang="fr-FR" dirty="0"/>
              <a:t> Notations et valeur numérique. </a:t>
            </a:r>
          </a:p>
          <a:p>
            <a:r>
              <a:rPr lang="fr-FR" b="1" dirty="0"/>
              <a:t>Annexe 3 :</a:t>
            </a:r>
            <a:r>
              <a:rPr lang="fr-FR" dirty="0"/>
              <a:t> Modélisation de l'induction par la corde. </a:t>
            </a:r>
          </a:p>
          <a:p>
            <a:r>
              <a:rPr lang="fr-FR" b="1" dirty="0"/>
              <a:t>Annexe 4 :</a:t>
            </a:r>
            <a:r>
              <a:rPr lang="fr-FR" dirty="0"/>
              <a:t> Théorie de la réjection du champ parasite. </a:t>
            </a:r>
          </a:p>
          <a:p>
            <a:r>
              <a:rPr lang="fr-FR" b="1" dirty="0"/>
              <a:t>Annexe 5 :</a:t>
            </a:r>
            <a:r>
              <a:rPr lang="fr-FR" dirty="0"/>
              <a:t> Méthodes de traitement numérique et filtrage. </a:t>
            </a:r>
          </a:p>
          <a:p>
            <a:r>
              <a:rPr lang="fr-FR" b="1" dirty="0"/>
              <a:t>Annexe 6 :</a:t>
            </a:r>
            <a:r>
              <a:rPr lang="fr-FR" dirty="0"/>
              <a:t> Algorithme de Levenberg-Marquardt. </a:t>
            </a:r>
          </a:p>
          <a:p>
            <a:r>
              <a:rPr lang="fr-FR" b="1" dirty="0"/>
              <a:t>Annexe 7 :</a:t>
            </a:r>
            <a:r>
              <a:rPr lang="fr-FR" dirty="0"/>
              <a:t> Analyse des échecs et difficultés rencontrées.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49A0A-51A0-296B-A228-0C95E4C21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7B18BD4-8B0C-2661-3D31-7CBB2D05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5BC8A711-C895-FE87-EDAE-8B66C45BB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24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8393826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1:</a:t>
            </a:r>
            <a:r>
              <a:rPr lang="fr-FR" sz="2000" dirty="0">
                <a:latin typeface="Arial Black" panose="020B0A04020102020204" pitchFamily="34" charset="0"/>
              </a:rPr>
              <a:t> Références bibliographiques et sources.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26443" y="1372472"/>
            <a:ext cx="84911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[1] </a:t>
            </a:r>
            <a:r>
              <a:rPr lang="en-GB" sz="1600" dirty="0" err="1"/>
              <a:t>WiseGuy</a:t>
            </a:r>
            <a:r>
              <a:rPr lang="en-GB" sz="1600" dirty="0"/>
              <a:t> Research Consultants, "Global Electric Guitar Pickup Market Research Report 2024," Pune, India, 2024.</a:t>
            </a:r>
          </a:p>
          <a:p>
            <a:endParaRPr lang="en-GB" sz="1600" dirty="0"/>
          </a:p>
          <a:p>
            <a:r>
              <a:rPr lang="en-GB" sz="1600" b="1" dirty="0"/>
              <a:t>[2] </a:t>
            </a:r>
            <a:r>
              <a:rPr lang="en-GB" sz="1600" dirty="0"/>
              <a:t>Matthew W. Hill, "The hidden history of the electric guitar", in Quand la </a:t>
            </a:r>
            <a:r>
              <a:rPr lang="en-GB" sz="1600" dirty="0" err="1"/>
              <a:t>guitare</a:t>
            </a:r>
            <a:r>
              <a:rPr lang="en-GB" sz="1600" dirty="0"/>
              <a:t> [s']</a:t>
            </a:r>
            <a:r>
              <a:rPr lang="en-GB" sz="1600" dirty="0" err="1"/>
              <a:t>électrise</a:t>
            </a:r>
            <a:r>
              <a:rPr lang="en-GB" sz="1600" dirty="0"/>
              <a:t> !, Benoît Navarret et al. (dir.), Sorbonne Université Presses, pp. 33-61, 2022.</a:t>
            </a:r>
          </a:p>
          <a:p>
            <a:endParaRPr lang="en-GB" sz="1600" dirty="0"/>
          </a:p>
          <a:p>
            <a:r>
              <a:rPr lang="en-GB" sz="1600" b="1" dirty="0"/>
              <a:t>[3] </a:t>
            </a:r>
            <a:r>
              <a:rPr lang="en-GB" sz="1600" dirty="0"/>
              <a:t>N. G. Horton &amp; T. R. Moore : </a:t>
            </a:r>
            <a:r>
              <a:rPr lang="en-GB" sz="1600" dirty="0" err="1"/>
              <a:t>Modeling</a:t>
            </a:r>
            <a:r>
              <a:rPr lang="en-GB" sz="1600" dirty="0"/>
              <a:t> the magnetic pickup of an electric guitar :</a:t>
            </a:r>
          </a:p>
          <a:p>
            <a:r>
              <a:rPr lang="en-GB" sz="1600" dirty="0"/>
              <a:t>American Journal of Physics, vol. 77, no. 2, pp. 144–150, 2009, </a:t>
            </a:r>
            <a:r>
              <a:rPr lang="en-GB" sz="1600" dirty="0" err="1"/>
              <a:t>doi</a:t>
            </a:r>
            <a:r>
              <a:rPr lang="en-GB" sz="1600" dirty="0"/>
              <a:t>: 10.1119/1.2990663</a:t>
            </a:r>
          </a:p>
          <a:p>
            <a:endParaRPr lang="en-GB" sz="1600" dirty="0"/>
          </a:p>
          <a:p>
            <a:r>
              <a:rPr lang="en-GB" sz="1600" b="1" dirty="0"/>
              <a:t>[4] </a:t>
            </a:r>
            <a:r>
              <a:rPr lang="en-GB" sz="1600" dirty="0"/>
              <a:t>S. W. Duncan, "Interview With Seth Lover", Seymour Duncan.  [En </a:t>
            </a:r>
            <a:r>
              <a:rPr lang="en-GB" sz="1600" dirty="0" err="1"/>
              <a:t>ligne</a:t>
            </a:r>
            <a:r>
              <a:rPr lang="en-GB" sz="1600" dirty="0"/>
              <a:t>]. Disponible sur: </a:t>
            </a:r>
            <a:r>
              <a:rPr lang="en-GB" sz="1600" dirty="0">
                <a:hlinkClick r:id="rId3"/>
              </a:rPr>
              <a:t>https://www.seymourduncan.com/blog/latest-updates/seymour-w-duncans-interview-with-seth-lover</a:t>
            </a:r>
            <a:endParaRPr lang="en-GB" sz="1600" dirty="0"/>
          </a:p>
          <a:p>
            <a:endParaRPr lang="en-GB" sz="1600" dirty="0"/>
          </a:p>
          <a:p>
            <a:r>
              <a:rPr lang="en-GB" sz="1600" b="1" dirty="0"/>
              <a:t>[5] </a:t>
            </a:r>
            <a:r>
              <a:rPr lang="en-GB" sz="1600" dirty="0"/>
              <a:t>Dan Carson, "Investigation of the Electromagnetic Properties of Electric Guitar Pickups", University of Illinois at Urbana-Champaign, Physics Senior Thesis, 2009.</a:t>
            </a:r>
          </a:p>
          <a:p>
            <a:endParaRPr lang="en-GB" sz="1600" dirty="0"/>
          </a:p>
          <a:p>
            <a:r>
              <a:rPr lang="en-GB" sz="1600" b="1" dirty="0"/>
              <a:t>[6] </a:t>
            </a:r>
            <a:r>
              <a:rPr lang="en-GB" sz="1600" dirty="0"/>
              <a:t>B. </a:t>
            </a:r>
            <a:r>
              <a:rPr lang="en-GB" sz="1600" dirty="0" err="1"/>
              <a:t>d’Andréa</a:t>
            </a:r>
            <a:r>
              <a:rPr lang="en-GB" sz="1600" dirty="0"/>
              <a:t>-Novel, B. Fabre, et P. Jouvelot, </a:t>
            </a:r>
            <a:r>
              <a:rPr lang="en-GB" sz="1600" dirty="0" err="1"/>
              <a:t>Acoustique</a:t>
            </a:r>
            <a:r>
              <a:rPr lang="en-GB" sz="1600" dirty="0"/>
              <a:t> Informatique </a:t>
            </a:r>
            <a:r>
              <a:rPr lang="en-GB" sz="1600" dirty="0" err="1"/>
              <a:t>MusiquE</a:t>
            </a:r>
            <a:r>
              <a:rPr lang="en-GB" sz="1600" dirty="0"/>
              <a:t> : </a:t>
            </a:r>
            <a:r>
              <a:rPr lang="en-GB" sz="1600" dirty="0" err="1"/>
              <a:t>Outils</a:t>
            </a:r>
            <a:r>
              <a:rPr lang="en-GB" sz="1600" dirty="0"/>
              <a:t> </a:t>
            </a:r>
            <a:r>
              <a:rPr lang="en-GB" sz="1600" dirty="0" err="1"/>
              <a:t>scientifiques</a:t>
            </a:r>
            <a:r>
              <a:rPr lang="en-GB" sz="1600" dirty="0"/>
              <a:t> pour la musique. Paris, France : Presses des Mines, 2010, </a:t>
            </a:r>
            <a:r>
              <a:rPr lang="en-GB" sz="1600" dirty="0" err="1"/>
              <a:t>ch.</a:t>
            </a:r>
            <a:r>
              <a:rPr lang="en-GB" sz="1600" dirty="0"/>
              <a:t> 4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D43332-F8BD-6E2C-04A6-7CBD2C44837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4935E0A-86AC-9436-7A04-23BB4DCFB9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A2E238EA-0333-80E5-6A4E-C1DD63F93C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4A605A-39EA-E26C-D82F-B7364DE60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3630A-974D-CC9B-8200-E45D9FB53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11860B60-7DA1-5048-127A-6019A8FF4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25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2 :</a:t>
            </a:r>
            <a:r>
              <a:rPr lang="fr-FR" sz="2000" dirty="0">
                <a:latin typeface="Arial Black" panose="020B0A04020102020204" pitchFamily="34" charset="0"/>
              </a:rPr>
              <a:t> Notations et valeur numérique.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5887BE-C0C6-26B1-F07D-A7C065B7F1E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33D505-1E0C-2999-0AA5-428C61C7DBB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D87F4FDF-66F9-8742-498D-DAA32629EAA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1144795-AC8B-21B2-6726-CE3D16CE57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731092"/>
                  </p:ext>
                </p:extLst>
              </p:nvPr>
            </p:nvGraphicFramePr>
            <p:xfrm>
              <a:off x="345437" y="4827261"/>
              <a:ext cx="4217064" cy="144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3,5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Perméabilité relative de l'Alnico 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528968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𝜒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100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Susceptibilité magnétique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oMath>
                          </a14:m>
                          <a:r>
                            <a:rPr lang="fr-FR" sz="1000" dirty="0"/>
                            <a:t>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p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Volume de la portion de la corde active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1144795-AC8B-21B2-6726-CE3D16CE57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731092"/>
                  </p:ext>
                </p:extLst>
              </p:nvPr>
            </p:nvGraphicFramePr>
            <p:xfrm>
              <a:off x="345437" y="4827261"/>
              <a:ext cx="4217064" cy="144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103390" r="-514159" b="-2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3,5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Perméabilité relative de l'Alnico 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528968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200000" r="-51415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100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Susceptibilité magnétique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05085" r="-514159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6923" t="-305085" r="-346923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47143" t="-305085" r="-544286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Volume de la portion de la corde active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3B381818-6C77-AF12-22D8-30F5A4EA62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229"/>
                  </p:ext>
                </p:extLst>
              </p:nvPr>
            </p:nvGraphicFramePr>
            <p:xfrm>
              <a:off x="345439" y="1507861"/>
              <a:ext cx="4217062" cy="288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6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0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(SingleCoil)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𝐻𝑃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𝐻𝑃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0,147, 0,165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parallèle)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𝐻𝑆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𝐻𝑆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0,202, 0,220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série)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85710569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0,85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Longueur vibrante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3586442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0,300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de l'origine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3574047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Amplitude initiale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78196520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80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fondamentale de vibration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750928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3B381818-6C77-AF12-22D8-30F5A4EA62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229"/>
                  </p:ext>
                </p:extLst>
              </p:nvPr>
            </p:nvGraphicFramePr>
            <p:xfrm>
              <a:off x="345439" y="1507861"/>
              <a:ext cx="4217062" cy="288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6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0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101695" r="-514159" b="-6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101695" r="-544286" b="-6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(SingleCoil)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201695" r="-514159" b="-5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0,147, 0,165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201695" r="-544286" b="-5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parallèle)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296667" r="-514159" b="-39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0,202, 0,220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296667" r="-544286" b="-39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série)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85710569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403390" r="-514159" b="-3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0,85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403390" r="-544286" b="-3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Longueur vibrante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3586442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503390" r="-514159" b="-2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0,300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503390" r="-544286" b="-2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de l'origine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3574047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603390" r="-514159" b="-1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603390" r="-544286" b="-1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Amplitude initiale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78196520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703390" r="-514159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80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7143" t="-703390" r="-544286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fondamentale de vibration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7509288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CF42D4E8-367B-CD6E-4006-68B064BCF4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9652139"/>
                  </p:ext>
                </p:extLst>
              </p:nvPr>
            </p:nvGraphicFramePr>
            <p:xfrm>
              <a:off x="4671437" y="1507861"/>
              <a:ext cx="4324145" cy="1089627"/>
            </p:xfrm>
            <a:graphic>
              <a:graphicData uri="http://schemas.openxmlformats.org/drawingml/2006/table">
                <a:tbl>
                  <a:tblPr/>
                  <a:tblGrid>
                    <a:gridCol w="703333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811082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36736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72994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95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Nombre de spire d’une bobine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0,06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Rayon des bobines de Helmholtz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CF42D4E8-367B-CD6E-4006-68B064BCF4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9652139"/>
                  </p:ext>
                </p:extLst>
              </p:nvPr>
            </p:nvGraphicFramePr>
            <p:xfrm>
              <a:off x="4671437" y="1507861"/>
              <a:ext cx="4324145" cy="1089627"/>
            </p:xfrm>
            <a:graphic>
              <a:graphicData uri="http://schemas.openxmlformats.org/drawingml/2006/table">
                <a:tbl>
                  <a:tblPr/>
                  <a:tblGrid>
                    <a:gridCol w="703333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811082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36736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72994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101667" r="-518261" b="-10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95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Nombre de spire d’une bobine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201667" r="-518261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0,06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50704" t="-201667" r="-550704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Rayon des bobines de Helmholtz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4A0FDFD4-ACE1-C723-796E-51848408BDB8}"/>
              </a:ext>
            </a:extLst>
          </p:cNvPr>
          <p:cNvSpPr/>
          <p:nvPr/>
        </p:nvSpPr>
        <p:spPr>
          <a:xfrm>
            <a:off x="345439" y="1174612"/>
            <a:ext cx="4031962" cy="280107"/>
          </a:xfrm>
          <a:prstGeom prst="rect">
            <a:avLst/>
          </a:prstGeom>
          <a:ln w="38100"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numCol="2" rtlCol="0" anchor="t"/>
          <a:lstStyle/>
          <a:p>
            <a:endParaRPr lang="fr-FR" sz="14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5CD883-82BD-74FC-0CCA-5B43225FB89A}"/>
              </a:ext>
            </a:extLst>
          </p:cNvPr>
          <p:cNvSpPr txBox="1"/>
          <p:nvPr/>
        </p:nvSpPr>
        <p:spPr>
          <a:xfrm>
            <a:off x="326443" y="1142736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mécanique (induction)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94D2AE-FBCD-6DCC-33D2-D0CB6D758659}"/>
              </a:ext>
            </a:extLst>
          </p:cNvPr>
          <p:cNvSpPr txBox="1"/>
          <p:nvPr/>
        </p:nvSpPr>
        <p:spPr>
          <a:xfrm>
            <a:off x="326442" y="4460763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magnétique (induction)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8A2E43-0000-4799-8C98-5CF5D3C0AA82}"/>
              </a:ext>
            </a:extLst>
          </p:cNvPr>
          <p:cNvSpPr txBox="1"/>
          <p:nvPr/>
        </p:nvSpPr>
        <p:spPr>
          <a:xfrm>
            <a:off x="4671437" y="1122601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mécanique (parasite)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CB49C052-18CA-D0C9-14A7-3BDB164A18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3473610"/>
                  </p:ext>
                </p:extLst>
              </p:nvPr>
            </p:nvGraphicFramePr>
            <p:xfrm>
              <a:off x="4778519" y="3118385"/>
              <a:ext cx="4217064" cy="1089627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p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Gradient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50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CB49C052-18CA-D0C9-14A7-3BDB164A18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3473610"/>
                  </p:ext>
                </p:extLst>
              </p:nvPr>
            </p:nvGraphicFramePr>
            <p:xfrm>
              <a:off x="4778519" y="3118385"/>
              <a:ext cx="4217064" cy="1089627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101667" r="-514159" b="-1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l="-347143" t="-101667" r="-544286" b="-1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Gradient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201667" r="-514159" b="-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50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47143" t="-201667" r="-544286" b="-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C245918D-E210-1F1E-4EC5-A7B43F3E7B84}"/>
              </a:ext>
            </a:extLst>
          </p:cNvPr>
          <p:cNvSpPr txBox="1"/>
          <p:nvPr/>
        </p:nvSpPr>
        <p:spPr>
          <a:xfrm>
            <a:off x="4778519" y="2733125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magnétiques (parasite)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20EF1A-1F6F-9525-65C0-C1F7BBBB7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E79A1-0201-53D7-0BB4-C20241C7F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D1901009-EA74-EC93-E653-CCC6C4D2D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26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3 :</a:t>
            </a:r>
            <a:r>
              <a:rPr lang="fr-FR" sz="2000" dirty="0">
                <a:latin typeface="Arial Black" panose="020B0A04020102020204" pitchFamily="34" charset="0"/>
              </a:rPr>
              <a:t> Modélisation de l'induction par la corde.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156412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Vibration de la corde :</a:t>
                </a:r>
                <a:endParaRPr lang="fr-FR" sz="1200" dirty="0"/>
              </a:p>
              <a:p>
                <a:r>
                  <a:rPr lang="fr-FR" sz="1200" dirty="0"/>
                  <a:t>L’étude de la corde est basée sur l’équation d’Alembert,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z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note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fr-FR" sz="1200" dirty="0"/>
                  <a:t>.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𝐹𝑛𝑡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156412"/>
              </a:xfrm>
              <a:prstGeom prst="rect">
                <a:avLst/>
              </a:prstGeom>
              <a:blipFill>
                <a:blip r:embed="rId2"/>
                <a:stretch>
                  <a:fillRect t="-118" b="-1974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069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b="1" u="sng" dirty="0"/>
                  <a:t>Induction :</a:t>
                </a:r>
                <a:endParaRPr lang="fr-FR" sz="1200" dirty="0"/>
              </a:p>
              <a:p>
                <a:r>
                  <a:rPr lang="fr-FR" sz="1200" dirty="0"/>
                  <a:t>De plus, une portion de la corde de volume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fr-FR" sz="1200" dirty="0"/>
                  <a:t> et de susceptibilité magnétique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fr-FR" sz="1200" dirty="0"/>
                  <a:t> est plongé dans le champ du micro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/>
                  <a:t>. Donc elle acquiert un moment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corde créée donc un champ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le flux traversant le bobinage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spires est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d>
                                    <m:dPr>
                                      <m:ctrlP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unc>
                        <m:func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1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𝑛𝐹𝑡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𝑛𝐹</m:t>
                    </m:r>
                    <m:func>
                      <m:func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069208"/>
              </a:xfrm>
              <a:prstGeom prst="rect">
                <a:avLst/>
              </a:prstGeom>
              <a:blipFill>
                <a:blip r:embed="rId3"/>
                <a:stretch>
                  <a:fillRect t="-24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88763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51B331E-825D-7998-84BB-C2CEA27EFC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A243EF-8D9A-619D-753B-253FFACAA1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E96EF237-2867-B9B6-4D1E-4353B4EF70F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0A2407-C86B-F9A7-56CD-2554B091F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804519D-51B6-4C5E-B301-3F47D06C1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D5F648A9-2A1D-AE5D-13D1-19E2A88CF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27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297628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4 :</a:t>
            </a:r>
            <a:r>
              <a:rPr lang="fr-FR" sz="2000" dirty="0">
                <a:latin typeface="Arial Black" panose="020B0A04020102020204" pitchFamily="34" charset="0"/>
              </a:rPr>
              <a:t> Théorie de la réjection du champ parasite.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296946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Définition :</a:t>
                </a:r>
                <a:endParaRPr lang="fr-FR" sz="1200" dirty="0"/>
              </a:p>
              <a:p>
                <a:r>
                  <a:rPr lang="fr-FR" sz="1200" dirty="0"/>
                  <a:t>On appellera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fr-FR" sz="1200" dirty="0"/>
                  <a:t> le signal utile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fr-FR" sz="1200" dirty="0"/>
                  <a:t> le signal parasite. ON définit le </a:t>
                </a:r>
                <a:r>
                  <a:rPr lang="fr-FR" sz="1200" u="sng" dirty="0"/>
                  <a:t>Taux de Rejection de Mode Commun</a:t>
                </a:r>
                <a:endParaRPr lang="fr-FR" sz="1200" b="1" u="sng" dirty="0"/>
              </a:p>
              <a:p>
                <a:endParaRPr lang="fr-FR" sz="1200" b="1" u="sng" dirty="0"/>
              </a:p>
              <a:p>
                <a:r>
                  <a:rPr lang="fr-FR" sz="1200" b="1" u="sng" dirty="0"/>
                  <a:t>Modèle du champ parasite :</a:t>
                </a:r>
                <a:endParaRPr lang="fr-FR" sz="1200" dirty="0"/>
              </a:p>
              <a:p>
                <a:r>
                  <a:rPr lang="fr-FR" sz="1200" dirty="0"/>
                  <a:t>On étudie un champ parasite d’amplitude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, de pulsation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200" dirty="0"/>
                  <a:t> et de gradient </a:t>
                </a:r>
                <a14:m>
                  <m:oMath xmlns:m="http://schemas.openxmlformats.org/officeDocument/2006/math">
                    <m:r>
                      <a:rPr lang="fr-FR" sz="12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le flux à travers une surface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fr-FR" sz="1200" dirty="0"/>
                  <a:t> est: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une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SingleCoil :</a:t>
                </a:r>
              </a:p>
              <a:p>
                <a:r>
                  <a:rPr lang="fr-FR" sz="1200" dirty="0"/>
                  <a:t>On place le micro 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200" dirty="0"/>
                  <a:t>, 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296946"/>
              </a:xfrm>
              <a:prstGeom prst="rect">
                <a:avLst/>
              </a:prstGeom>
              <a:blipFill>
                <a:blip r:embed="rId3"/>
                <a:stretch>
                  <a:fillRect t="-14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3937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b="1" u="sng" dirty="0"/>
                  <a:t>Pour un micro Humbucker série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Le micro est composé de deux bobine espacées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200" dirty="0"/>
                  <a:t>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f>
                            <m:f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𝐻𝑠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b="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Humbucker parallèle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De même, sous les mêmes notations,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393767"/>
              </a:xfrm>
              <a:prstGeom prst="rect">
                <a:avLst/>
              </a:prstGeom>
              <a:blipFill>
                <a:blip r:embed="rId4"/>
                <a:stretch>
                  <a:fillRect t="-2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C135CFF-9836-7C54-0BFE-C55DA8EA6DF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B27E62F-509A-33EE-39F7-CF12A8D186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9F154D45-8B11-2E2C-A9CF-70E8DE66B2B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/>
              <p:nvPr/>
            </p:nvSpPr>
            <p:spPr>
              <a:xfrm>
                <a:off x="563660" y="5664788"/>
                <a:ext cx="8191168" cy="523220"/>
              </a:xfrm>
              <a:prstGeom prst="rect">
                <a:avLst/>
              </a:prstGeom>
              <a:ln w="28575">
                <a:solidFill>
                  <a:srgbClr val="4A66AC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400" dirty="0"/>
                  <a:t> est petit. En pratique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=0.018 </m:t>
                    </m:r>
                  </m:oMath>
                </a14:m>
                <a:r>
                  <a:rPr lang="fr-FR" sz="1400" dirty="0"/>
                  <a:t>mètre.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Si les deux Humbucker sont identiques, peu importe le montage, le CMRR est identique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0" y="5664788"/>
                <a:ext cx="8191168" cy="523220"/>
              </a:xfrm>
              <a:prstGeom prst="rect">
                <a:avLst/>
              </a:prstGeom>
              <a:blipFill>
                <a:blip r:embed="rId5"/>
                <a:stretch>
                  <a:fillRect b="-7692"/>
                </a:stretch>
              </a:blipFill>
              <a:ln w="28575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692343-56BA-21CF-A5F9-30091028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6B05F-F041-5835-3954-BD9D11DDD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FFD79266-96A3-D472-2024-2DA68574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28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5 :</a:t>
            </a:r>
            <a:r>
              <a:rPr lang="fr-FR" sz="2000" dirty="0">
                <a:latin typeface="Arial Black" panose="020B0A04020102020204" pitchFamily="34" charset="0"/>
              </a:rPr>
              <a:t> Méthodes de traitement numérique et filtrage.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39804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3980449"/>
              </a:xfrm>
              <a:prstGeom prst="rect">
                <a:avLst/>
              </a:prstGeom>
              <a:blipFill>
                <a:blip r:embed="rId3"/>
                <a:stretch>
                  <a:fillRect l="-633" t="-30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EA012CD-4A4F-5077-ED00-68E3057666A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79DF584-9CF7-B861-2268-C9DD0FDE37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9E59D5D1-9929-41AC-1C69-EDEF90D47D4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D1896C-AC65-64BB-7C08-6B7C16677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9B6FA9-743F-8037-A7E0-47BBD167F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53CF02AC-9500-9D89-7F29-F3D529C99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29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22C5B-8D73-CCE6-C1F4-7842FE0B8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7D9F10B-2163-F771-FC03-D7518738EB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9F3FB8-1FB5-8F1E-C164-C844ECA3D0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B39E1-B87E-8759-1895-1DEFEB3BB0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6 :</a:t>
            </a:r>
            <a:r>
              <a:rPr lang="fr-FR" sz="2000" dirty="0">
                <a:latin typeface="Arial Black" panose="020B0A04020102020204" pitchFamily="34" charset="0"/>
              </a:rPr>
              <a:t> Algorithme de Levenberg-Marquardt.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/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sz="1600" u="sng" dirty="0"/>
                  <a:t>Comment déterminer les valeurs des caractéristiques électriques des micros ?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Variante de l’algorithme des moindres carrés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Fonctionnement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Vecteur résidus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blipFill>
                <a:blip r:embed="rId2"/>
                <a:stretch>
                  <a:fillRect l="-714" t="-3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3A0C246C-3384-6CE8-D081-A3B270E39908}"/>
              </a:ext>
            </a:extLst>
          </p:cNvPr>
          <p:cNvGrpSpPr/>
          <p:nvPr/>
        </p:nvGrpSpPr>
        <p:grpSpPr>
          <a:xfrm>
            <a:off x="345440" y="1121469"/>
            <a:ext cx="4144114" cy="5136791"/>
            <a:chOff x="345440" y="1587720"/>
            <a:chExt cx="3617103" cy="442890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C7B3D5-E778-E53F-4C95-9EB24A7DB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440" y="1587720"/>
              <a:ext cx="3617103" cy="44289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/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0.01</m:t>
                        </m:r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−7</m:t>
                            </m:r>
                          </m:sup>
                        </m:sSup>
                      </m:oMath>
                    </m:oMathPara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blipFill>
                  <a:blip r:embed="rId4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/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400" dirty="0"/>
                    <a:t>Calcul de la descente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4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a14:m>
                  <a:r>
                    <a:rPr lang="fr-FR" sz="400" dirty="0"/>
                    <a:t> avec 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α</m:t>
                            </m:r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J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fr-FR" altLang="fr-FR" sz="400" dirty="0"/>
                </a:p>
                <a:p>
                  <a:pPr algn="ctr"/>
                  <a:endParaRPr lang="fr-FR" sz="4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blipFill>
                  <a:blip r:embed="rId5"/>
                  <a:stretch>
                    <a:fillRect t="-937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/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fr-FR" sz="400" dirty="0"/>
                    <a:t>Calcul du nouveau coût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/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blipFill>
                  <a:blip r:embed="rId7"/>
                  <a:stretch>
                    <a:fillRect b="-3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/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</m:oMath>
                    </m:oMathPara>
                  </a14:m>
                  <a:endParaRPr lang="fr-FR" sz="40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blipFill>
                  <a:blip r:embed="rId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/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/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i="1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ϵ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E15DCC-C532-6C84-21FE-198EF6A3869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293FA2D-845E-3E47-013D-1745D6C5C3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F8F13FDA-57A2-A33C-17C0-BF32E05AA34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EDD2F4-E77C-25A5-7094-7F3E5421A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39E5A-CB2D-FAE2-094C-0422750E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A470294-45FF-68BE-A857-497FECCC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30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9132533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des résidus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2, 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du coût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ctrl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blipFill>
                <a:blip r:embed="rId3"/>
                <a:stretch>
                  <a:fillRect l="-633" t="-270" r="-2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25A23E38-AFFC-1314-34D8-5F474D741D9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94ED3C-0189-70F2-3340-35139884ACB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AD4961CD-E048-EDA5-4913-3A2CD9E86F6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8A788DD-EA1A-EA9F-38E6-52FFF6B6EB98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6 :</a:t>
            </a:r>
            <a:r>
              <a:rPr lang="fr-FR" sz="2000" dirty="0">
                <a:latin typeface="Arial Black" panose="020B0A04020102020204" pitchFamily="34" charset="0"/>
              </a:rPr>
              <a:t> Algorithme de Levenberg-Marquardt.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050684-55AE-30B3-6EA6-ACE246C3C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A15F5-E718-DC1B-82DA-0E9D49D7A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8BAF221-99AE-4F1E-A6F4-87FA14E5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31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1AB9-AA17-A289-4177-5B57B838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EEE6E3-6825-09CC-8862-418DD007C6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990FB-38EB-5B30-B3B4-746837CB7A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1DE8E9-33F3-561B-57C9-2E08CDBD205D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AE53AF-2DFC-2830-AB17-39F8A9CFCD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" t="21864" r="1" b="35960"/>
          <a:stretch>
            <a:fillRect/>
          </a:stretch>
        </p:blipFill>
        <p:spPr>
          <a:xfrm>
            <a:off x="345440" y="1220122"/>
            <a:ext cx="8626173" cy="485222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CF1BFFB-993D-B165-6DEA-A362856BAE7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C24DCD0-D770-6EEC-A98D-F0CAB5B4CA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180DDD7-F016-DA17-C609-C7473F9858D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66F482-7CE7-8509-6D95-51F11BB55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AA350-68D0-F903-69F4-2B53C0EE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6863E7E1-64AC-F902-58A5-185AD2049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32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7445800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6F1A6-7284-DDB9-89E2-31D242A16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D740C7-6183-2A85-C9EE-E8A2AE58902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0915BC-9847-71E7-29FD-55679B3E5BA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59B488-EBE7-4249-E492-60486C906D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>
            <a:fillRect/>
          </a:stretch>
        </p:blipFill>
        <p:spPr>
          <a:xfrm>
            <a:off x="345439" y="1390254"/>
            <a:ext cx="8472117" cy="476556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882774D-4E1C-DAB6-0335-8D40E09BBD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AA2265-51F0-27F3-BB79-D4CFB818BDD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363F4C3-D089-5724-B3D9-349343B259F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70782AE-74D3-0F0B-3667-FBE7C228BE64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164E6C-B55D-DF40-A88D-C505A0658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FE1E5-76CD-C1BE-3624-1818D0A4A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4AAEB506-DFD5-ADA6-C407-25C436AFD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33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4106834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C127E-D68A-C4C9-C086-9738F9D5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3FFEE79-B6D9-7DF1-77AC-A2F39E7FB47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3E4F10-BA31-FD17-A59D-7CAA4E9049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D5C8C20-B7ED-6551-4D0E-60F6CE1EF6A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217269F-89D7-F4AD-528B-4C77B6A952C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D4433DFC-2955-CE03-9169-35729454E67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4D36202-B3E5-243C-14C2-48434A7DE7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 l="19282" r="1566" b="8689"/>
          <a:stretch>
            <a:fillRect/>
          </a:stretch>
        </p:blipFill>
        <p:spPr>
          <a:xfrm rot="16200000">
            <a:off x="2548484" y="118160"/>
            <a:ext cx="4047032" cy="659122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4A7F794-6E33-A78A-72E0-E236243901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200000"/>
                    </a14:imgEffect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14914" t="11121" r="5635" b="30934"/>
          <a:stretch>
            <a:fillRect/>
          </a:stretch>
        </p:blipFill>
        <p:spPr>
          <a:xfrm>
            <a:off x="5973557" y="4628840"/>
            <a:ext cx="2844000" cy="155693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2B486F-873B-1C92-486F-11C77678697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810" t="15900" r="12423" b="27097"/>
          <a:stretch>
            <a:fillRect/>
          </a:stretch>
        </p:blipFill>
        <p:spPr>
          <a:xfrm>
            <a:off x="514606" y="4628840"/>
            <a:ext cx="2880000" cy="1533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EF5D67B-65B9-DD8F-74B1-81A310AE71D3}"/>
              </a:ext>
            </a:extLst>
          </p:cNvPr>
          <p:cNvSpPr/>
          <p:nvPr/>
        </p:nvSpPr>
        <p:spPr>
          <a:xfrm>
            <a:off x="1379095" y="1466054"/>
            <a:ext cx="1499017" cy="134545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D180F4-F1E8-39AD-1FE1-134753F82E8C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C3DF99-7669-2863-A6C8-AC7C73BAA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7C8A0D-90FE-540A-ED6A-722FEACD5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61E94F5-3095-0797-0C4B-2D974D153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34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02964207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2659</Words>
  <Application>Microsoft Office PowerPoint</Application>
  <PresentationFormat>On-screen Show (4:3)</PresentationFormat>
  <Paragraphs>691</Paragraphs>
  <Slides>34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Arial Black</vt:lpstr>
      <vt:lpstr>Calibri</vt:lpstr>
      <vt:lpstr>Cambria Math</vt:lpstr>
      <vt:lpstr>Wingdings</vt:lpstr>
      <vt:lpstr>Retrospect</vt:lpstr>
      <vt:lpstr>Guitare électrique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SOMMAIRE</vt:lpstr>
      <vt:lpstr>THEORIE</vt:lpstr>
      <vt:lpstr>PowerPoint Presentation</vt:lpstr>
      <vt:lpstr>PowerPoint Presentation</vt:lpstr>
      <vt:lpstr>PowerPoint Presentation</vt:lpstr>
      <vt:lpstr>THEORIE</vt:lpstr>
      <vt:lpstr>PowerPoint Presentation</vt:lpstr>
      <vt:lpstr>PowerPoint Presentation</vt:lpstr>
      <vt:lpstr>PowerPoint Presentation</vt:lpstr>
      <vt:lpstr>PowerPoint Presentation</vt:lpstr>
      <vt:lpstr>THEORIE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805</cp:revision>
  <dcterms:created xsi:type="dcterms:W3CDTF">2025-06-09T15:35:56Z</dcterms:created>
  <dcterms:modified xsi:type="dcterms:W3CDTF">2026-03-09T10:57:41Z</dcterms:modified>
</cp:coreProperties>
</file>