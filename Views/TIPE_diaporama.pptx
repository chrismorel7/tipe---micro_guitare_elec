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37"/>
  </p:notesMasterIdLst>
  <p:sldIdLst>
    <p:sldId id="387" r:id="rId2"/>
    <p:sldId id="340" r:id="rId3"/>
    <p:sldId id="338" r:id="rId4"/>
    <p:sldId id="380" r:id="rId5"/>
    <p:sldId id="335" r:id="rId6"/>
    <p:sldId id="337" r:id="rId7"/>
    <p:sldId id="336" r:id="rId8"/>
    <p:sldId id="265" r:id="rId9"/>
    <p:sldId id="386" r:id="rId10"/>
    <p:sldId id="389" r:id="rId11"/>
    <p:sldId id="356" r:id="rId12"/>
    <p:sldId id="345" r:id="rId13"/>
    <p:sldId id="346" r:id="rId14"/>
    <p:sldId id="390" r:id="rId15"/>
    <p:sldId id="329" r:id="rId16"/>
    <p:sldId id="393" r:id="rId17"/>
    <p:sldId id="394" r:id="rId18"/>
    <p:sldId id="333" r:id="rId19"/>
    <p:sldId id="391" r:id="rId20"/>
    <p:sldId id="313" r:id="rId21"/>
    <p:sldId id="396" r:id="rId22"/>
    <p:sldId id="378" r:id="rId23"/>
    <p:sldId id="330" r:id="rId24"/>
    <p:sldId id="303" r:id="rId25"/>
    <p:sldId id="271" r:id="rId26"/>
    <p:sldId id="302" r:id="rId27"/>
    <p:sldId id="348" r:id="rId28"/>
    <p:sldId id="277" r:id="rId29"/>
    <p:sldId id="305" r:id="rId30"/>
    <p:sldId id="365" r:id="rId31"/>
    <p:sldId id="370" r:id="rId32"/>
    <p:sldId id="368" r:id="rId33"/>
    <p:sldId id="372" r:id="rId34"/>
    <p:sldId id="373" r:id="rId35"/>
    <p:sldId id="384" r:id="rId3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A66AC"/>
    <a:srgbClr val="629DD1"/>
    <a:srgbClr val="014095"/>
    <a:srgbClr val="559AD7"/>
    <a:srgbClr val="38903A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91" autoAdjust="0"/>
    <p:restoredTop sz="95975" autoAdjust="0"/>
  </p:normalViewPr>
  <p:slideViewPr>
    <p:cSldViewPr snapToGrid="0">
      <p:cViewPr varScale="1">
        <p:scale>
          <a:sx n="119" d="100"/>
          <a:sy n="119" d="100"/>
        </p:scale>
        <p:origin x="1070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38B8181-43EA-4C6C-8C7F-7942035F0720}" type="doc">
      <dgm:prSet loTypeId="urn:microsoft.com/office/officeart/2005/8/layout/lProcess2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91212D5D-B364-44BA-9771-63E526DCA0A1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50M</a:t>
          </a:r>
          <a:endParaRPr lang="fr-FR" sz="5400" dirty="0">
            <a:latin typeface="Arial Black" panose="020B0A04020102020204" pitchFamily="34" charset="0"/>
          </a:endParaRPr>
        </a:p>
      </dgm:t>
    </dgm:pt>
    <dgm:pt modelId="{FC78DAE6-83E5-4BC1-AC49-428A15180E75}" type="parTrans" cxnId="{0485C7B9-46CA-4C0E-96B3-8FFF5F37DD6A}">
      <dgm:prSet/>
      <dgm:spPr/>
      <dgm:t>
        <a:bodyPr/>
        <a:lstStyle/>
        <a:p>
          <a:endParaRPr lang="fr-FR"/>
        </a:p>
      </dgm:t>
    </dgm:pt>
    <dgm:pt modelId="{D781E287-DBE3-4186-9876-37AE3B390319}" type="sibTrans" cxnId="{0485C7B9-46CA-4C0E-96B3-8FFF5F37DD6A}">
      <dgm:prSet/>
      <dgm:spPr/>
      <dgm:t>
        <a:bodyPr/>
        <a:lstStyle/>
        <a:p>
          <a:endParaRPr lang="fr-FR"/>
        </a:p>
      </dgm:t>
    </dgm:pt>
    <dgm:pt modelId="{E5137407-CC18-4373-B384-F7A66AF869B6}">
      <dgm:prSet phldrT="[Text]" phldr="0" custT="1"/>
      <dgm:spPr/>
      <dgm:t>
        <a:bodyPr/>
        <a:lstStyle/>
        <a:p>
          <a:r>
            <a:rPr lang="fr-FR" sz="1800" dirty="0"/>
            <a:t>Nombre de guitare estimé dans le monde</a:t>
          </a:r>
        </a:p>
      </dgm:t>
    </dgm:pt>
    <dgm:pt modelId="{F5863376-7605-42DC-B58D-060041DC79FF}" type="parTrans" cxnId="{AD0029D9-5E4E-4AD7-A0EC-A4368455A356}">
      <dgm:prSet/>
      <dgm:spPr/>
      <dgm:t>
        <a:bodyPr/>
        <a:lstStyle/>
        <a:p>
          <a:endParaRPr lang="fr-FR"/>
        </a:p>
      </dgm:t>
    </dgm:pt>
    <dgm:pt modelId="{504827BD-EDE8-4FEA-B41A-5C51374DAF4F}" type="sibTrans" cxnId="{AD0029D9-5E4E-4AD7-A0EC-A4368455A356}">
      <dgm:prSet/>
      <dgm:spPr/>
      <dgm:t>
        <a:bodyPr/>
        <a:lstStyle/>
        <a:p>
          <a:endParaRPr lang="fr-FR"/>
        </a:p>
      </dgm:t>
    </dgm:pt>
    <dgm:pt modelId="{AB389A4B-81CD-47F4-AC53-77C6CCDA77CA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10,3B</a:t>
          </a:r>
        </a:p>
      </dgm:t>
    </dgm:pt>
    <dgm:pt modelId="{1957A227-B175-4033-8F1D-F1C3A49DEBE5}" type="parTrans" cxnId="{C1AEFF4B-406F-4617-A89D-BA61E379F596}">
      <dgm:prSet/>
      <dgm:spPr/>
      <dgm:t>
        <a:bodyPr/>
        <a:lstStyle/>
        <a:p>
          <a:endParaRPr lang="fr-FR"/>
        </a:p>
      </dgm:t>
    </dgm:pt>
    <dgm:pt modelId="{BFD4BD52-26B4-4D78-A8D4-0D5AE83B8561}" type="sibTrans" cxnId="{C1AEFF4B-406F-4617-A89D-BA61E379F596}">
      <dgm:prSet/>
      <dgm:spPr/>
      <dgm:t>
        <a:bodyPr/>
        <a:lstStyle/>
        <a:p>
          <a:endParaRPr lang="fr-FR"/>
        </a:p>
      </dgm:t>
    </dgm:pt>
    <dgm:pt modelId="{5DFF8D2C-FF16-4189-959A-DA8AF237818F}">
      <dgm:prSet phldrT="[Text]" phldr="0" custT="1"/>
      <dgm:spPr/>
      <dgm:t>
        <a:bodyPr/>
        <a:lstStyle/>
        <a:p>
          <a:r>
            <a:rPr lang="fr-FR" sz="1800" dirty="0"/>
            <a:t>Valeur du marché de la guitare en 2024</a:t>
          </a:r>
        </a:p>
      </dgm:t>
    </dgm:pt>
    <dgm:pt modelId="{E4367BA8-3CA9-4C87-B29D-AC36939C7927}" type="parTrans" cxnId="{5523898E-814B-4613-82CF-8AC3888E263E}">
      <dgm:prSet/>
      <dgm:spPr/>
      <dgm:t>
        <a:bodyPr/>
        <a:lstStyle/>
        <a:p>
          <a:endParaRPr lang="fr-FR"/>
        </a:p>
      </dgm:t>
    </dgm:pt>
    <dgm:pt modelId="{B5808FB2-8ED5-48B7-94C9-85E33B53CEFA}" type="sibTrans" cxnId="{5523898E-814B-4613-82CF-8AC3888E263E}">
      <dgm:prSet/>
      <dgm:spPr/>
      <dgm:t>
        <a:bodyPr/>
        <a:lstStyle/>
        <a:p>
          <a:endParaRPr lang="fr-FR"/>
        </a:p>
      </dgm:t>
    </dgm:pt>
    <dgm:pt modelId="{D947A9E2-2E97-41F2-A0A4-BF4BF3FB2559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48%</a:t>
          </a:r>
        </a:p>
      </dgm:t>
    </dgm:pt>
    <dgm:pt modelId="{F31CB54F-5BC7-406C-A91B-50C08608D24C}" type="parTrans" cxnId="{8FE87FC7-AC18-4165-B440-4AA7AC67A8D9}">
      <dgm:prSet/>
      <dgm:spPr/>
      <dgm:t>
        <a:bodyPr/>
        <a:lstStyle/>
        <a:p>
          <a:endParaRPr lang="fr-FR"/>
        </a:p>
      </dgm:t>
    </dgm:pt>
    <dgm:pt modelId="{45F2920D-B956-4AA8-9189-A759A3BF2F00}" type="sibTrans" cxnId="{8FE87FC7-AC18-4165-B440-4AA7AC67A8D9}">
      <dgm:prSet/>
      <dgm:spPr/>
      <dgm:t>
        <a:bodyPr/>
        <a:lstStyle/>
        <a:p>
          <a:endParaRPr lang="fr-FR"/>
        </a:p>
      </dgm:t>
    </dgm:pt>
    <dgm:pt modelId="{1D647303-1950-49A3-B3E3-511B5EAB22C1}">
      <dgm:prSet phldrT="[Text]" custT="1"/>
      <dgm:spPr/>
      <dgm:t>
        <a:bodyPr/>
        <a:lstStyle/>
        <a:p>
          <a:r>
            <a:rPr lang="fr-FR" sz="1800" dirty="0"/>
            <a:t>Part de marché des guitares électriques </a:t>
          </a:r>
        </a:p>
      </dgm:t>
    </dgm:pt>
    <dgm:pt modelId="{D66D6EFC-F33F-49A7-81CA-B602591CF869}" type="parTrans" cxnId="{201120F7-9B21-4830-87D4-34EE8C2CC62D}">
      <dgm:prSet/>
      <dgm:spPr/>
      <dgm:t>
        <a:bodyPr/>
        <a:lstStyle/>
        <a:p>
          <a:endParaRPr lang="fr-FR"/>
        </a:p>
      </dgm:t>
    </dgm:pt>
    <dgm:pt modelId="{85CCCEDD-0FA1-4E6A-8302-32155D37CF8E}" type="sibTrans" cxnId="{201120F7-9B21-4830-87D4-34EE8C2CC62D}">
      <dgm:prSet/>
      <dgm:spPr/>
      <dgm:t>
        <a:bodyPr/>
        <a:lstStyle/>
        <a:p>
          <a:endParaRPr lang="fr-FR"/>
        </a:p>
      </dgm:t>
    </dgm:pt>
    <dgm:pt modelId="{B8929512-66CE-4E69-82E8-652F86CC7F13}" type="pres">
      <dgm:prSet presAssocID="{E38B8181-43EA-4C6C-8C7F-7942035F0720}" presName="theList" presStyleCnt="0">
        <dgm:presLayoutVars>
          <dgm:dir/>
          <dgm:animLvl val="lvl"/>
          <dgm:resizeHandles val="exact"/>
        </dgm:presLayoutVars>
      </dgm:prSet>
      <dgm:spPr/>
    </dgm:pt>
    <dgm:pt modelId="{8AD1CDE0-660F-41C6-A232-AB49A944F4B1}" type="pres">
      <dgm:prSet presAssocID="{91212D5D-B364-44BA-9771-63E526DCA0A1}" presName="compNode" presStyleCnt="0"/>
      <dgm:spPr/>
    </dgm:pt>
    <dgm:pt modelId="{A122FDB8-4E52-4F24-924C-55B39B5EEF83}" type="pres">
      <dgm:prSet presAssocID="{91212D5D-B364-44BA-9771-63E526DCA0A1}" presName="aNode" presStyleLbl="bgShp" presStyleIdx="0" presStyleCnt="3"/>
      <dgm:spPr/>
    </dgm:pt>
    <dgm:pt modelId="{EE092F6B-38EB-47CC-973C-37F9D2288AA3}" type="pres">
      <dgm:prSet presAssocID="{91212D5D-B364-44BA-9771-63E526DCA0A1}" presName="textNode" presStyleLbl="bgShp" presStyleIdx="0" presStyleCnt="3"/>
      <dgm:spPr/>
    </dgm:pt>
    <dgm:pt modelId="{0448C864-2F82-4625-BA73-B4FC84AC036D}" type="pres">
      <dgm:prSet presAssocID="{91212D5D-B364-44BA-9771-63E526DCA0A1}" presName="compChildNode" presStyleCnt="0"/>
      <dgm:spPr/>
    </dgm:pt>
    <dgm:pt modelId="{28883B9D-21D9-4368-977E-4B0BD2C2A37C}" type="pres">
      <dgm:prSet presAssocID="{91212D5D-B364-44BA-9771-63E526DCA0A1}" presName="theInnerList" presStyleCnt="0"/>
      <dgm:spPr/>
    </dgm:pt>
    <dgm:pt modelId="{332FF867-5FFB-469C-995E-0CBE678B8048}" type="pres">
      <dgm:prSet presAssocID="{E5137407-CC18-4373-B384-F7A66AF869B6}" presName="childNode" presStyleLbl="node1" presStyleIdx="0" presStyleCnt="3" custScaleY="70691">
        <dgm:presLayoutVars>
          <dgm:bulletEnabled val="1"/>
        </dgm:presLayoutVars>
      </dgm:prSet>
      <dgm:spPr/>
    </dgm:pt>
    <dgm:pt modelId="{A9B3C3CC-83A5-44FD-8337-23960E5C80F6}" type="pres">
      <dgm:prSet presAssocID="{91212D5D-B364-44BA-9771-63E526DCA0A1}" presName="aSpace" presStyleCnt="0"/>
      <dgm:spPr/>
    </dgm:pt>
    <dgm:pt modelId="{51288686-012E-497C-AA23-CFA1CCA57442}" type="pres">
      <dgm:prSet presAssocID="{AB389A4B-81CD-47F4-AC53-77C6CCDA77CA}" presName="compNode" presStyleCnt="0"/>
      <dgm:spPr/>
    </dgm:pt>
    <dgm:pt modelId="{D876CD57-D8B0-4B1D-8A27-4B504FE0CFD4}" type="pres">
      <dgm:prSet presAssocID="{AB389A4B-81CD-47F4-AC53-77C6CCDA77CA}" presName="aNode" presStyleLbl="bgShp" presStyleIdx="1" presStyleCnt="3"/>
      <dgm:spPr/>
    </dgm:pt>
    <dgm:pt modelId="{753AE736-51A9-4ACF-85CA-A535BD91B08A}" type="pres">
      <dgm:prSet presAssocID="{AB389A4B-81CD-47F4-AC53-77C6CCDA77CA}" presName="textNode" presStyleLbl="bgShp" presStyleIdx="1" presStyleCnt="3"/>
      <dgm:spPr/>
    </dgm:pt>
    <dgm:pt modelId="{2037BDEE-75EB-46C8-AD3A-65B225526994}" type="pres">
      <dgm:prSet presAssocID="{AB389A4B-81CD-47F4-AC53-77C6CCDA77CA}" presName="compChildNode" presStyleCnt="0"/>
      <dgm:spPr/>
    </dgm:pt>
    <dgm:pt modelId="{051F6D2A-97B8-4664-A450-ADDEC308F567}" type="pres">
      <dgm:prSet presAssocID="{AB389A4B-81CD-47F4-AC53-77C6CCDA77CA}" presName="theInnerList" presStyleCnt="0"/>
      <dgm:spPr/>
    </dgm:pt>
    <dgm:pt modelId="{212315B0-941C-424E-9FB8-A723AE83E221}" type="pres">
      <dgm:prSet presAssocID="{5DFF8D2C-FF16-4189-959A-DA8AF237818F}" presName="childNode" presStyleLbl="node1" presStyleIdx="1" presStyleCnt="3" custScaleY="70691">
        <dgm:presLayoutVars>
          <dgm:bulletEnabled val="1"/>
        </dgm:presLayoutVars>
      </dgm:prSet>
      <dgm:spPr/>
    </dgm:pt>
    <dgm:pt modelId="{A06D310C-D4D5-42FB-BF30-8EB821EF41B8}" type="pres">
      <dgm:prSet presAssocID="{AB389A4B-81CD-47F4-AC53-77C6CCDA77CA}" presName="aSpace" presStyleCnt="0"/>
      <dgm:spPr/>
    </dgm:pt>
    <dgm:pt modelId="{72FABE35-4F33-4B5B-B72B-CE129740AEE7}" type="pres">
      <dgm:prSet presAssocID="{D947A9E2-2E97-41F2-A0A4-BF4BF3FB2559}" presName="compNode" presStyleCnt="0"/>
      <dgm:spPr/>
    </dgm:pt>
    <dgm:pt modelId="{3D118472-EB36-44B0-9CAB-89E96EDD8635}" type="pres">
      <dgm:prSet presAssocID="{D947A9E2-2E97-41F2-A0A4-BF4BF3FB2559}" presName="aNode" presStyleLbl="bgShp" presStyleIdx="2" presStyleCnt="3"/>
      <dgm:spPr/>
    </dgm:pt>
    <dgm:pt modelId="{D4961126-1C1B-4F88-A93F-D46D2428CFA2}" type="pres">
      <dgm:prSet presAssocID="{D947A9E2-2E97-41F2-A0A4-BF4BF3FB2559}" presName="textNode" presStyleLbl="bgShp" presStyleIdx="2" presStyleCnt="3"/>
      <dgm:spPr/>
    </dgm:pt>
    <dgm:pt modelId="{5B693B72-B78F-4290-A233-520D95F4748A}" type="pres">
      <dgm:prSet presAssocID="{D947A9E2-2E97-41F2-A0A4-BF4BF3FB2559}" presName="compChildNode" presStyleCnt="0"/>
      <dgm:spPr/>
    </dgm:pt>
    <dgm:pt modelId="{3DB0FDFE-0615-4995-85DF-314DBB0DEE15}" type="pres">
      <dgm:prSet presAssocID="{D947A9E2-2E97-41F2-A0A4-BF4BF3FB2559}" presName="theInnerList" presStyleCnt="0"/>
      <dgm:spPr/>
    </dgm:pt>
    <dgm:pt modelId="{522A87F0-0F3E-418E-844F-50D37BC18AE4}" type="pres">
      <dgm:prSet presAssocID="{1D647303-1950-49A3-B3E3-511B5EAB22C1}" presName="childNode" presStyleLbl="node1" presStyleIdx="2" presStyleCnt="3" custScaleY="70691">
        <dgm:presLayoutVars>
          <dgm:bulletEnabled val="1"/>
        </dgm:presLayoutVars>
      </dgm:prSet>
      <dgm:spPr/>
    </dgm:pt>
  </dgm:ptLst>
  <dgm:cxnLst>
    <dgm:cxn modelId="{94D40702-587D-4465-BCBA-552514180BBE}" type="presOf" srcId="{E38B8181-43EA-4C6C-8C7F-7942035F0720}" destId="{B8929512-66CE-4E69-82E8-652F86CC7F13}" srcOrd="0" destOrd="0" presId="urn:microsoft.com/office/officeart/2005/8/layout/lProcess2"/>
    <dgm:cxn modelId="{8F245E04-8DF9-4548-92D1-3655024527CF}" type="presOf" srcId="{D947A9E2-2E97-41F2-A0A4-BF4BF3FB2559}" destId="{D4961126-1C1B-4F88-A93F-D46D2428CFA2}" srcOrd="1" destOrd="0" presId="urn:microsoft.com/office/officeart/2005/8/layout/lProcess2"/>
    <dgm:cxn modelId="{7A5F6A19-7DAC-460E-BBA6-B384A077D6FF}" type="presOf" srcId="{1D647303-1950-49A3-B3E3-511B5EAB22C1}" destId="{522A87F0-0F3E-418E-844F-50D37BC18AE4}" srcOrd="0" destOrd="0" presId="urn:microsoft.com/office/officeart/2005/8/layout/lProcess2"/>
    <dgm:cxn modelId="{299ABB28-1B39-4096-812E-C6AA0CDDD8DA}" type="presOf" srcId="{AB389A4B-81CD-47F4-AC53-77C6CCDA77CA}" destId="{D876CD57-D8B0-4B1D-8A27-4B504FE0CFD4}" srcOrd="0" destOrd="0" presId="urn:microsoft.com/office/officeart/2005/8/layout/lProcess2"/>
    <dgm:cxn modelId="{C1AEFF4B-406F-4617-A89D-BA61E379F596}" srcId="{E38B8181-43EA-4C6C-8C7F-7942035F0720}" destId="{AB389A4B-81CD-47F4-AC53-77C6CCDA77CA}" srcOrd="1" destOrd="0" parTransId="{1957A227-B175-4033-8F1D-F1C3A49DEBE5}" sibTransId="{BFD4BD52-26B4-4D78-A8D4-0D5AE83B8561}"/>
    <dgm:cxn modelId="{A32FD154-FA1F-42EC-A904-99D643BC5003}" type="presOf" srcId="{E5137407-CC18-4373-B384-F7A66AF869B6}" destId="{332FF867-5FFB-469C-995E-0CBE678B8048}" srcOrd="0" destOrd="0" presId="urn:microsoft.com/office/officeart/2005/8/layout/lProcess2"/>
    <dgm:cxn modelId="{5191207E-417E-46C7-B34A-8DDB7C623194}" type="presOf" srcId="{5DFF8D2C-FF16-4189-959A-DA8AF237818F}" destId="{212315B0-941C-424E-9FB8-A723AE83E221}" srcOrd="0" destOrd="0" presId="urn:microsoft.com/office/officeart/2005/8/layout/lProcess2"/>
    <dgm:cxn modelId="{46AA8580-CB6C-47DD-A72E-6CB4DBC796AE}" type="presOf" srcId="{D947A9E2-2E97-41F2-A0A4-BF4BF3FB2559}" destId="{3D118472-EB36-44B0-9CAB-89E96EDD8635}" srcOrd="0" destOrd="0" presId="urn:microsoft.com/office/officeart/2005/8/layout/lProcess2"/>
    <dgm:cxn modelId="{5523898E-814B-4613-82CF-8AC3888E263E}" srcId="{AB389A4B-81CD-47F4-AC53-77C6CCDA77CA}" destId="{5DFF8D2C-FF16-4189-959A-DA8AF237818F}" srcOrd="0" destOrd="0" parTransId="{E4367BA8-3CA9-4C87-B29D-AC36939C7927}" sibTransId="{B5808FB2-8ED5-48B7-94C9-85E33B53CEFA}"/>
    <dgm:cxn modelId="{A75A9195-F7D7-468F-9696-A77A26B18F76}" type="presOf" srcId="{AB389A4B-81CD-47F4-AC53-77C6CCDA77CA}" destId="{753AE736-51A9-4ACF-85CA-A535BD91B08A}" srcOrd="1" destOrd="0" presId="urn:microsoft.com/office/officeart/2005/8/layout/lProcess2"/>
    <dgm:cxn modelId="{209C9C9E-C3F8-4D27-8697-A6FB0C80B67F}" type="presOf" srcId="{91212D5D-B364-44BA-9771-63E526DCA0A1}" destId="{EE092F6B-38EB-47CC-973C-37F9D2288AA3}" srcOrd="1" destOrd="0" presId="urn:microsoft.com/office/officeart/2005/8/layout/lProcess2"/>
    <dgm:cxn modelId="{1D029AA6-958D-47DB-9F92-AA3342059FCC}" type="presOf" srcId="{91212D5D-B364-44BA-9771-63E526DCA0A1}" destId="{A122FDB8-4E52-4F24-924C-55B39B5EEF83}" srcOrd="0" destOrd="0" presId="urn:microsoft.com/office/officeart/2005/8/layout/lProcess2"/>
    <dgm:cxn modelId="{0485C7B9-46CA-4C0E-96B3-8FFF5F37DD6A}" srcId="{E38B8181-43EA-4C6C-8C7F-7942035F0720}" destId="{91212D5D-B364-44BA-9771-63E526DCA0A1}" srcOrd="0" destOrd="0" parTransId="{FC78DAE6-83E5-4BC1-AC49-428A15180E75}" sibTransId="{D781E287-DBE3-4186-9876-37AE3B390319}"/>
    <dgm:cxn modelId="{8FE87FC7-AC18-4165-B440-4AA7AC67A8D9}" srcId="{E38B8181-43EA-4C6C-8C7F-7942035F0720}" destId="{D947A9E2-2E97-41F2-A0A4-BF4BF3FB2559}" srcOrd="2" destOrd="0" parTransId="{F31CB54F-5BC7-406C-A91B-50C08608D24C}" sibTransId="{45F2920D-B956-4AA8-9189-A759A3BF2F00}"/>
    <dgm:cxn modelId="{AD0029D9-5E4E-4AD7-A0EC-A4368455A356}" srcId="{91212D5D-B364-44BA-9771-63E526DCA0A1}" destId="{E5137407-CC18-4373-B384-F7A66AF869B6}" srcOrd="0" destOrd="0" parTransId="{F5863376-7605-42DC-B58D-060041DC79FF}" sibTransId="{504827BD-EDE8-4FEA-B41A-5C51374DAF4F}"/>
    <dgm:cxn modelId="{201120F7-9B21-4830-87D4-34EE8C2CC62D}" srcId="{D947A9E2-2E97-41F2-A0A4-BF4BF3FB2559}" destId="{1D647303-1950-49A3-B3E3-511B5EAB22C1}" srcOrd="0" destOrd="0" parTransId="{D66D6EFC-F33F-49A7-81CA-B602591CF869}" sibTransId="{85CCCEDD-0FA1-4E6A-8302-32155D37CF8E}"/>
    <dgm:cxn modelId="{08E6926F-999E-4517-BB1A-F96A0310265E}" type="presParOf" srcId="{B8929512-66CE-4E69-82E8-652F86CC7F13}" destId="{8AD1CDE0-660F-41C6-A232-AB49A944F4B1}" srcOrd="0" destOrd="0" presId="urn:microsoft.com/office/officeart/2005/8/layout/lProcess2"/>
    <dgm:cxn modelId="{CE9A049D-E141-4083-9323-2C683065397A}" type="presParOf" srcId="{8AD1CDE0-660F-41C6-A232-AB49A944F4B1}" destId="{A122FDB8-4E52-4F24-924C-55B39B5EEF83}" srcOrd="0" destOrd="0" presId="urn:microsoft.com/office/officeart/2005/8/layout/lProcess2"/>
    <dgm:cxn modelId="{C0BB5914-70D5-4110-8C04-9D450E2EDFE8}" type="presParOf" srcId="{8AD1CDE0-660F-41C6-A232-AB49A944F4B1}" destId="{EE092F6B-38EB-47CC-973C-37F9D2288AA3}" srcOrd="1" destOrd="0" presId="urn:microsoft.com/office/officeart/2005/8/layout/lProcess2"/>
    <dgm:cxn modelId="{05DBDA82-E4F4-4AB8-A1EB-7EC172ABBE02}" type="presParOf" srcId="{8AD1CDE0-660F-41C6-A232-AB49A944F4B1}" destId="{0448C864-2F82-4625-BA73-B4FC84AC036D}" srcOrd="2" destOrd="0" presId="urn:microsoft.com/office/officeart/2005/8/layout/lProcess2"/>
    <dgm:cxn modelId="{28C03247-E7BF-4132-B9B5-AA28D4CE75CE}" type="presParOf" srcId="{0448C864-2F82-4625-BA73-B4FC84AC036D}" destId="{28883B9D-21D9-4368-977E-4B0BD2C2A37C}" srcOrd="0" destOrd="0" presId="urn:microsoft.com/office/officeart/2005/8/layout/lProcess2"/>
    <dgm:cxn modelId="{4C34A2E8-D3DD-48CD-96F1-BD14E8265A75}" type="presParOf" srcId="{28883B9D-21D9-4368-977E-4B0BD2C2A37C}" destId="{332FF867-5FFB-469C-995E-0CBE678B8048}" srcOrd="0" destOrd="0" presId="urn:microsoft.com/office/officeart/2005/8/layout/lProcess2"/>
    <dgm:cxn modelId="{250EF62A-AEFF-40E0-A39A-E8780120EB6A}" type="presParOf" srcId="{B8929512-66CE-4E69-82E8-652F86CC7F13}" destId="{A9B3C3CC-83A5-44FD-8337-23960E5C80F6}" srcOrd="1" destOrd="0" presId="urn:microsoft.com/office/officeart/2005/8/layout/lProcess2"/>
    <dgm:cxn modelId="{6C4A4D70-C1C2-4D21-8A99-B71DCD27BB33}" type="presParOf" srcId="{B8929512-66CE-4E69-82E8-652F86CC7F13}" destId="{51288686-012E-497C-AA23-CFA1CCA57442}" srcOrd="2" destOrd="0" presId="urn:microsoft.com/office/officeart/2005/8/layout/lProcess2"/>
    <dgm:cxn modelId="{E09CE3DD-1A3E-4D7A-8D02-75EDE870DD29}" type="presParOf" srcId="{51288686-012E-497C-AA23-CFA1CCA57442}" destId="{D876CD57-D8B0-4B1D-8A27-4B504FE0CFD4}" srcOrd="0" destOrd="0" presId="urn:microsoft.com/office/officeart/2005/8/layout/lProcess2"/>
    <dgm:cxn modelId="{74F7B8D7-D1E3-4561-93EF-FF9712C205DD}" type="presParOf" srcId="{51288686-012E-497C-AA23-CFA1CCA57442}" destId="{753AE736-51A9-4ACF-85CA-A535BD91B08A}" srcOrd="1" destOrd="0" presId="urn:microsoft.com/office/officeart/2005/8/layout/lProcess2"/>
    <dgm:cxn modelId="{56898C8E-CBB4-464E-A05A-A938E6EF7C6F}" type="presParOf" srcId="{51288686-012E-497C-AA23-CFA1CCA57442}" destId="{2037BDEE-75EB-46C8-AD3A-65B225526994}" srcOrd="2" destOrd="0" presId="urn:microsoft.com/office/officeart/2005/8/layout/lProcess2"/>
    <dgm:cxn modelId="{7474C88F-B077-4E52-9389-DB71FE1EE583}" type="presParOf" srcId="{2037BDEE-75EB-46C8-AD3A-65B225526994}" destId="{051F6D2A-97B8-4664-A450-ADDEC308F567}" srcOrd="0" destOrd="0" presId="urn:microsoft.com/office/officeart/2005/8/layout/lProcess2"/>
    <dgm:cxn modelId="{D51C9842-0333-42F3-B1B8-70BB34EF5298}" type="presParOf" srcId="{051F6D2A-97B8-4664-A450-ADDEC308F567}" destId="{212315B0-941C-424E-9FB8-A723AE83E221}" srcOrd="0" destOrd="0" presId="urn:microsoft.com/office/officeart/2005/8/layout/lProcess2"/>
    <dgm:cxn modelId="{D41932D7-DB46-4904-88C2-4968B0EE258B}" type="presParOf" srcId="{B8929512-66CE-4E69-82E8-652F86CC7F13}" destId="{A06D310C-D4D5-42FB-BF30-8EB821EF41B8}" srcOrd="3" destOrd="0" presId="urn:microsoft.com/office/officeart/2005/8/layout/lProcess2"/>
    <dgm:cxn modelId="{AC37D594-B731-481B-B6FC-DF8BB7CC3EEF}" type="presParOf" srcId="{B8929512-66CE-4E69-82E8-652F86CC7F13}" destId="{72FABE35-4F33-4B5B-B72B-CE129740AEE7}" srcOrd="4" destOrd="0" presId="urn:microsoft.com/office/officeart/2005/8/layout/lProcess2"/>
    <dgm:cxn modelId="{20205CCD-3134-441A-BEAF-7C5A6E3D5EC9}" type="presParOf" srcId="{72FABE35-4F33-4B5B-B72B-CE129740AEE7}" destId="{3D118472-EB36-44B0-9CAB-89E96EDD8635}" srcOrd="0" destOrd="0" presId="urn:microsoft.com/office/officeart/2005/8/layout/lProcess2"/>
    <dgm:cxn modelId="{BCB07279-88EC-40FB-BCB3-BF071DDA10B8}" type="presParOf" srcId="{72FABE35-4F33-4B5B-B72B-CE129740AEE7}" destId="{D4961126-1C1B-4F88-A93F-D46D2428CFA2}" srcOrd="1" destOrd="0" presId="urn:microsoft.com/office/officeart/2005/8/layout/lProcess2"/>
    <dgm:cxn modelId="{134B4711-562A-4E32-92F8-7638FD2C4840}" type="presParOf" srcId="{72FABE35-4F33-4B5B-B72B-CE129740AEE7}" destId="{5B693B72-B78F-4290-A233-520D95F4748A}" srcOrd="2" destOrd="0" presId="urn:microsoft.com/office/officeart/2005/8/layout/lProcess2"/>
    <dgm:cxn modelId="{5A6E1D6A-410F-44A8-8D1F-830954F79DCD}" type="presParOf" srcId="{5B693B72-B78F-4290-A233-520D95F4748A}" destId="{3DB0FDFE-0615-4995-85DF-314DBB0DEE15}" srcOrd="0" destOrd="0" presId="urn:microsoft.com/office/officeart/2005/8/layout/lProcess2"/>
    <dgm:cxn modelId="{EC0504A7-74B3-4A45-A806-56DC9387496F}" type="presParOf" srcId="{3DB0FDFE-0615-4995-85DF-314DBB0DEE15}" destId="{522A87F0-0F3E-418E-844F-50D37BC18AE4}" srcOrd="0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22FDB8-4E52-4F24-924C-55B39B5EEF83}">
      <dsp:nvSpPr>
        <dsp:cNvPr id="0" name=""/>
        <dsp:cNvSpPr/>
      </dsp:nvSpPr>
      <dsp:spPr>
        <a:xfrm>
          <a:off x="964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50M</a:t>
          </a:r>
          <a:endParaRPr lang="fr-FR" sz="5400" kern="1200" dirty="0">
            <a:latin typeface="Arial Black" panose="020B0A04020102020204" pitchFamily="34" charset="0"/>
          </a:endParaRPr>
        </a:p>
      </dsp:txBody>
      <dsp:txXfrm>
        <a:off x="964" y="0"/>
        <a:ext cx="2507184" cy="940174"/>
      </dsp:txXfrm>
    </dsp:sp>
    <dsp:sp modelId="{332FF867-5FFB-469C-995E-0CBE678B8048}">
      <dsp:nvSpPr>
        <dsp:cNvPr id="0" name=""/>
        <dsp:cNvSpPr/>
      </dsp:nvSpPr>
      <dsp:spPr>
        <a:xfrm>
          <a:off x="251682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Nombre de guitare estimé dans le monde</a:t>
          </a:r>
        </a:p>
      </dsp:txBody>
      <dsp:txXfrm>
        <a:off x="293858" y="1280868"/>
        <a:ext cx="1921395" cy="1355654"/>
      </dsp:txXfrm>
    </dsp:sp>
    <dsp:sp modelId="{D876CD57-D8B0-4B1D-8A27-4B504FE0CFD4}">
      <dsp:nvSpPr>
        <dsp:cNvPr id="0" name=""/>
        <dsp:cNvSpPr/>
      </dsp:nvSpPr>
      <dsp:spPr>
        <a:xfrm>
          <a:off x="2696188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10,3B</a:t>
          </a:r>
        </a:p>
      </dsp:txBody>
      <dsp:txXfrm>
        <a:off x="2696188" y="0"/>
        <a:ext cx="2507184" cy="940174"/>
      </dsp:txXfrm>
    </dsp:sp>
    <dsp:sp modelId="{212315B0-941C-424E-9FB8-A723AE83E221}">
      <dsp:nvSpPr>
        <dsp:cNvPr id="0" name=""/>
        <dsp:cNvSpPr/>
      </dsp:nvSpPr>
      <dsp:spPr>
        <a:xfrm>
          <a:off x="2946906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Valeur du marché de la guitare en 2024</a:t>
          </a:r>
        </a:p>
      </dsp:txBody>
      <dsp:txXfrm>
        <a:off x="2989082" y="1280868"/>
        <a:ext cx="1921395" cy="1355654"/>
      </dsp:txXfrm>
    </dsp:sp>
    <dsp:sp modelId="{3D118472-EB36-44B0-9CAB-89E96EDD8635}">
      <dsp:nvSpPr>
        <dsp:cNvPr id="0" name=""/>
        <dsp:cNvSpPr/>
      </dsp:nvSpPr>
      <dsp:spPr>
        <a:xfrm>
          <a:off x="5391411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48%</a:t>
          </a:r>
        </a:p>
      </dsp:txBody>
      <dsp:txXfrm>
        <a:off x="5391411" y="0"/>
        <a:ext cx="2507184" cy="940174"/>
      </dsp:txXfrm>
    </dsp:sp>
    <dsp:sp modelId="{522A87F0-0F3E-418E-844F-50D37BC18AE4}">
      <dsp:nvSpPr>
        <dsp:cNvPr id="0" name=""/>
        <dsp:cNvSpPr/>
      </dsp:nvSpPr>
      <dsp:spPr>
        <a:xfrm>
          <a:off x="5642130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Part de marché des guitares électriques </a:t>
          </a:r>
        </a:p>
      </dsp:txBody>
      <dsp:txXfrm>
        <a:off x="5684306" y="1280868"/>
        <a:ext cx="1921395" cy="13556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07/03/2026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376C9-2125-A9B2-8374-6EE283455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BEBB7-C6A9-F035-C798-5E939F3A4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D1DC4-D857-6ABF-3DDC-E4E7A0922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1B737E-2622-AA4F-316B-3548DE8623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26285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D5DC8-F1D2-F48F-5144-29C93AD3F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3ED31-35E2-A213-E2DC-4297676221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80960C-93AA-3EA5-8A9A-E9404EC97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C1EA0-8E19-54B2-AF8F-8662106079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00956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5D8-B5ED-3A5C-25AA-355EA5002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B50A7-9125-FF61-C35A-0BAAB7787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5A70C6-EF27-F3BA-F99C-2D1A0396C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5F1CD-8CD2-A36F-E4D6-6DC1E0CE9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1832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5F695-4E49-870A-29E7-C511751B6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D64BC5-1BB3-FFE7-EC85-E200E94427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5F961D-1039-9AE2-52D5-0A1669232B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10549-939F-B010-DB99-3739C13F25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96906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1A336-7D3A-EAE6-9F30-4197D11A6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56105-101D-4ABB-45A9-D39435CAD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8C566F-8BBA-5FAB-C7D8-8B782678D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6955B-7625-293A-C6C0-9FA48F69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3525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41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TIPE 39662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TIPE 39662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12" Type="http://schemas.openxmlformats.org/officeDocument/2006/relationships/image" Target="../media/image8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11" Type="http://schemas.openxmlformats.org/officeDocument/2006/relationships/image" Target="../media/image7.png"/><Relationship Id="rId5" Type="http://schemas.openxmlformats.org/officeDocument/2006/relationships/diagramColors" Target="../diagrams/colors1.xml"/><Relationship Id="rId10" Type="http://schemas.openxmlformats.org/officeDocument/2006/relationships/image" Target="../media/image6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1.png"/><Relationship Id="rId3" Type="http://schemas.microsoft.com/office/2007/relationships/hdphoto" Target="../media/hdphoto2.wdp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Relationship Id="rId11" Type="http://schemas.openxmlformats.org/officeDocument/2006/relationships/image" Target="../media/image25.png"/><Relationship Id="rId10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microsoft.com/office/2007/relationships/hdphoto" Target="../media/hdphoto3.wdp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microsoft.com/office/2007/relationships/hdphoto" Target="../media/hdphoto4.wdp"/><Relationship Id="rId18" Type="http://schemas.openxmlformats.org/officeDocument/2006/relationships/image" Target="../media/image43.svg"/><Relationship Id="rId3" Type="http://schemas.openxmlformats.org/officeDocument/2006/relationships/image" Target="../media/image28.png"/><Relationship Id="rId7" Type="http://schemas.openxmlformats.org/officeDocument/2006/relationships/image" Target="../media/image39.png"/><Relationship Id="rId12" Type="http://schemas.openxmlformats.org/officeDocument/2006/relationships/image" Target="../media/image32.png"/><Relationship Id="rId17" Type="http://schemas.openxmlformats.org/officeDocument/2006/relationships/image" Target="../media/image42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7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11" Type="http://schemas.openxmlformats.org/officeDocument/2006/relationships/image" Target="../media/image16.png"/><Relationship Id="rId15" Type="http://schemas.openxmlformats.org/officeDocument/2006/relationships/image" Target="../media/image36.png"/><Relationship Id="rId10" Type="http://schemas.openxmlformats.org/officeDocument/2006/relationships/image" Target="../media/image15.png"/><Relationship Id="rId4" Type="http://schemas.openxmlformats.org/officeDocument/2006/relationships/image" Target="../media/image30.png"/><Relationship Id="rId9" Type="http://schemas.openxmlformats.org/officeDocument/2006/relationships/image" Target="../media/image41.png"/><Relationship Id="rId14" Type="http://schemas.openxmlformats.org/officeDocument/2006/relationships/image" Target="../media/image33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5.png"/><Relationship Id="rId4" Type="http://schemas.openxmlformats.org/officeDocument/2006/relationships/image" Target="../media/image33.jpe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0.png"/><Relationship Id="rId7" Type="http://schemas.openxmlformats.org/officeDocument/2006/relationships/image" Target="../media/image48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7.png"/><Relationship Id="rId5" Type="http://schemas.openxmlformats.org/officeDocument/2006/relationships/image" Target="../media/image460.png"/><Relationship Id="rId4" Type="http://schemas.openxmlformats.org/officeDocument/2006/relationships/image" Target="../media/image45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50.png"/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1.xml"/><Relationship Id="rId11" Type="http://schemas.microsoft.com/office/2007/relationships/hdphoto" Target="../media/hdphoto6.wdp"/><Relationship Id="rId10" Type="http://schemas.openxmlformats.org/officeDocument/2006/relationships/image" Target="../media/image51.png"/><Relationship Id="rId4" Type="http://schemas.microsoft.com/office/2007/relationships/hdphoto" Target="../media/hdphoto5.wdp"/><Relationship Id="rId9" Type="http://schemas.openxmlformats.org/officeDocument/2006/relationships/image" Target="../media/image6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jpeg"/><Relationship Id="rId4" Type="http://schemas.openxmlformats.org/officeDocument/2006/relationships/image" Target="../media/image37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jpeg"/><Relationship Id="rId3" Type="http://schemas.openxmlformats.org/officeDocument/2006/relationships/image" Target="../media/image36.png"/><Relationship Id="rId7" Type="http://schemas.openxmlformats.org/officeDocument/2006/relationships/image" Target="../media/image53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svg"/><Relationship Id="rId5" Type="http://schemas.openxmlformats.org/officeDocument/2006/relationships/image" Target="../media/image42.png"/><Relationship Id="rId4" Type="http://schemas.openxmlformats.org/officeDocument/2006/relationships/image" Target="../media/image37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690.png"/><Relationship Id="rId7" Type="http://schemas.openxmlformats.org/officeDocument/2006/relationships/image" Target="../media/image22.png"/><Relationship Id="rId12" Type="http://schemas.openxmlformats.org/officeDocument/2006/relationships/image" Target="../media/image5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microsoft.com/office/2007/relationships/hdphoto" Target="../media/hdphoto7.wdp"/><Relationship Id="rId11" Type="http://schemas.openxmlformats.org/officeDocument/2006/relationships/image" Target="../media/image70.png"/><Relationship Id="rId5" Type="http://schemas.openxmlformats.org/officeDocument/2006/relationships/image" Target="../media/image55.png"/><Relationship Id="rId10" Type="http://schemas.openxmlformats.org/officeDocument/2006/relationships/image" Target="../media/image69.png"/><Relationship Id="rId4" Type="http://schemas.openxmlformats.org/officeDocument/2006/relationships/image" Target="../media/image77.png"/><Relationship Id="rId9" Type="http://schemas.microsoft.com/office/2007/relationships/hdphoto" Target="../media/hdphoto1.wdp"/><Relationship Id="rId14" Type="http://schemas.openxmlformats.org/officeDocument/2006/relationships/image" Target="../media/image33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6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64.png"/><Relationship Id="rId5" Type="http://schemas.openxmlformats.org/officeDocument/2006/relationships/image" Target="../media/image62.png"/><Relationship Id="rId4" Type="http://schemas.openxmlformats.org/officeDocument/2006/relationships/image" Target="../media/image58.png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jpeg"/><Relationship Id="rId5" Type="http://schemas.openxmlformats.org/officeDocument/2006/relationships/image" Target="../media/image750.png"/><Relationship Id="rId4" Type="http://schemas.openxmlformats.org/officeDocument/2006/relationships/image" Target="../media/image6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svg"/><Relationship Id="rId5" Type="http://schemas.openxmlformats.org/officeDocument/2006/relationships/image" Target="../media/image36.png"/><Relationship Id="rId4" Type="http://schemas.openxmlformats.org/officeDocument/2006/relationships/image" Target="../media/image6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svg"/><Relationship Id="rId5" Type="http://schemas.openxmlformats.org/officeDocument/2006/relationships/image" Target="../media/image42.png"/><Relationship Id="rId4" Type="http://schemas.openxmlformats.org/officeDocument/2006/relationships/image" Target="../media/image37.sv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ymourduncan.com/blog/latest-updates/seymour-w-duncans-interview-with-seth-lover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96.png"/><Relationship Id="rId7" Type="http://schemas.openxmlformats.org/officeDocument/2006/relationships/image" Target="../media/image300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7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80.png"/><Relationship Id="rId4" Type="http://schemas.openxmlformats.org/officeDocument/2006/relationships/image" Target="../media/image9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0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png"/><Relationship Id="rId3" Type="http://schemas.openxmlformats.org/officeDocument/2006/relationships/image" Target="../media/image79.png"/><Relationship Id="rId7" Type="http://schemas.openxmlformats.org/officeDocument/2006/relationships/image" Target="../media/image114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3.png"/><Relationship Id="rId5" Type="http://schemas.openxmlformats.org/officeDocument/2006/relationships/image" Target="../media/image103.png"/><Relationship Id="rId10" Type="http://schemas.openxmlformats.org/officeDocument/2006/relationships/image" Target="../media/image117.png"/><Relationship Id="rId4" Type="http://schemas.openxmlformats.org/officeDocument/2006/relationships/image" Target="../media/image111.png"/><Relationship Id="rId9" Type="http://schemas.openxmlformats.org/officeDocument/2006/relationships/image" Target="../media/image11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jpe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microsoft.com/office/2007/relationships/hdphoto" Target="../media/hdphoto10.wdp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5.png"/><Relationship Id="rId5" Type="http://schemas.microsoft.com/office/2007/relationships/hdphoto" Target="../media/hdphoto11.wdp"/><Relationship Id="rId4" Type="http://schemas.openxmlformats.org/officeDocument/2006/relationships/image" Target="../media/image8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5AC26-A7A2-65B6-7B29-11EC07A68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latin typeface="Arial Black" panose="020B0A04020102020204" pitchFamily="34" charset="0"/>
              </a:rPr>
              <a:t>Guitare électrique</a:t>
            </a:r>
            <a:endParaRPr lang="fr-F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140984-6D77-4428-740A-A1707BD7F50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fr-FR" dirty="0"/>
              <a:t>Etude de l’influence du type de bobinage dans le micro</a:t>
            </a:r>
          </a:p>
        </p:txBody>
      </p:sp>
      <p:pic>
        <p:nvPicPr>
          <p:cNvPr id="8" name="Picture 2" descr="Guitare, La Musique, Guitare Électrique">
            <a:extLst>
              <a:ext uri="{FF2B5EF4-FFF2-40B4-BE49-F238E27FC236}">
                <a16:creationId xmlns:a16="http://schemas.microsoft.com/office/drawing/2014/main" id="{89657AC2-F3D9-A8C8-AAAD-B6D3F242C614}"/>
              </a:ext>
            </a:extLst>
          </p:cNvPr>
          <p:cNvPicPr>
            <a:picLocks noGrp="1" noChangeAspect="1" noChangeArrowheads="1"/>
          </p:cNvPicPr>
          <p:nvPr>
            <p:ph type="pic"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72" b="9672"/>
          <a:stretch>
            <a:fillRect/>
          </a:stretch>
        </p:blipFill>
        <p:spPr bwMode="auto">
          <a:xfrm>
            <a:off x="0" y="0"/>
            <a:ext cx="9144000" cy="4914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6366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66559-264F-60FB-1D37-320CA1D94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1EE70EB-793F-4DE4-5CD3-06C1970A54E3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03404F2-95E1-6C3C-2AC8-4C3EA8AF8028}"/>
              </a:ext>
            </a:extLst>
          </p:cNvPr>
          <p:cNvSpPr/>
          <p:nvPr/>
        </p:nvSpPr>
        <p:spPr>
          <a:xfrm>
            <a:off x="622219" y="50899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67685325-6DB0-D00D-F7AE-FBD7499B9A9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50177681"/>
              </p:ext>
            </p:extLst>
          </p:nvPr>
        </p:nvGraphicFramePr>
        <p:xfrm>
          <a:off x="622219" y="1557243"/>
          <a:ext cx="7899561" cy="3133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5" name="Graphic 14" descr="Bank with solid fill">
            <a:extLst>
              <a:ext uri="{FF2B5EF4-FFF2-40B4-BE49-F238E27FC236}">
                <a16:creationId xmlns:a16="http://schemas.microsoft.com/office/drawing/2014/main" id="{0A05600E-BBED-713B-0765-F9FC4C8B4F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11043" y="4687846"/>
            <a:ext cx="914400" cy="914400"/>
          </a:xfrm>
          <a:prstGeom prst="rect">
            <a:avLst/>
          </a:prstGeom>
        </p:spPr>
      </p:pic>
      <p:pic>
        <p:nvPicPr>
          <p:cNvPr id="19" name="Graphic 18" descr="Earth globe: Africa and Europe with solid fill">
            <a:extLst>
              <a:ext uri="{FF2B5EF4-FFF2-40B4-BE49-F238E27FC236}">
                <a16:creationId xmlns:a16="http://schemas.microsoft.com/office/drawing/2014/main" id="{18E70CB9-42FE-B71F-A1C8-24CE93E3324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76203" y="4735221"/>
            <a:ext cx="914400" cy="914400"/>
          </a:xfrm>
          <a:prstGeom prst="rect">
            <a:avLst/>
          </a:prstGeom>
        </p:spPr>
      </p:pic>
      <p:pic>
        <p:nvPicPr>
          <p:cNvPr id="21" name="Graphic 20" descr="Music note with solid fill">
            <a:extLst>
              <a:ext uri="{FF2B5EF4-FFF2-40B4-BE49-F238E27FC236}">
                <a16:creationId xmlns:a16="http://schemas.microsoft.com/office/drawing/2014/main" id="{84DFF8B1-F884-2B2A-7E80-9BC9C2825C2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53397" y="4729977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C7AD5E-8D0B-A100-8BC7-8968AFC40EF4}"/>
              </a:ext>
            </a:extLst>
          </p:cNvPr>
          <p:cNvSpPr txBox="1"/>
          <p:nvPr/>
        </p:nvSpPr>
        <p:spPr>
          <a:xfrm>
            <a:off x="5921829" y="6071016"/>
            <a:ext cx="32815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[1] </a:t>
            </a:r>
            <a:r>
              <a:rPr lang="en-GB" sz="1100" dirty="0" err="1"/>
              <a:t>WiseGuy</a:t>
            </a:r>
            <a:r>
              <a:rPr lang="en-GB" sz="1100" dirty="0"/>
              <a:t> Research Consultants</a:t>
            </a:r>
            <a:endParaRPr lang="fr-FR" sz="11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E21CB03-8FB3-DCCC-1E6A-468CBF66A0C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2DEB56B-5E6F-7F53-5602-DC58EDC1646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5B19474D-95C6-FB1A-CC9F-918E0FC5501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12551F-BBF9-4810-F2AF-2838FCD61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01EA654-5847-FC21-5C05-227A415BD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2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E13F58-63AC-F0D3-5446-33ECFA46D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2988565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04F0-B502-65BC-6A09-35CFB45E3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9BCC782-0D3B-CED9-60B9-795B1EBEEAEE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6CF84F-B284-FFE6-89D6-BC064CAF24E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8BD08EE-D283-DD4F-BD91-A527520D3F09}"/>
              </a:ext>
            </a:extLst>
          </p:cNvPr>
          <p:cNvGrpSpPr/>
          <p:nvPr/>
        </p:nvGrpSpPr>
        <p:grpSpPr>
          <a:xfrm>
            <a:off x="-43440" y="924437"/>
            <a:ext cx="9223365" cy="3939301"/>
            <a:chOff x="-143123" y="1695451"/>
            <a:chExt cx="9223365" cy="389376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AD59C-BE3D-5354-10F1-5FB60C9BA5F8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93765"/>
              <a:chOff x="1006751" y="1255937"/>
              <a:chExt cx="6952009" cy="3872654"/>
            </a:xfrm>
          </p:grpSpPr>
          <p:pic>
            <p:nvPicPr>
              <p:cNvPr id="16" name="Picture 15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8671EF1F-85A1-8978-42ED-6DC100D8EC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1026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CC805345-A78D-D399-DA6C-BFFD053F56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EE11A188-CC0E-DA89-77CB-1A851E9A6CC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76318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31" name="Picture 8" descr="Sound PNG Transparent Images">
              <a:extLst>
                <a:ext uri="{FF2B5EF4-FFF2-40B4-BE49-F238E27FC236}">
                  <a16:creationId xmlns:a16="http://schemas.microsoft.com/office/drawing/2014/main" id="{C5A23D53-5DDB-D416-A41A-F727728A50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4464" y="2449034"/>
              <a:ext cx="2325778" cy="23257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27FF2A-9CB1-1AF7-C7B2-1DA1B28400B9}"/>
              </a:ext>
            </a:extLst>
          </p:cNvPr>
          <p:cNvGrpSpPr/>
          <p:nvPr/>
        </p:nvGrpSpPr>
        <p:grpSpPr>
          <a:xfrm>
            <a:off x="421651" y="5064229"/>
            <a:ext cx="8293184" cy="739359"/>
            <a:chOff x="385745" y="5494993"/>
            <a:chExt cx="8293184" cy="739359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24A1EF4-71C5-AFEC-F51C-54253E6418D7}"/>
                </a:ext>
              </a:extLst>
            </p:cNvPr>
            <p:cNvGrpSpPr/>
            <p:nvPr/>
          </p:nvGrpSpPr>
          <p:grpSpPr>
            <a:xfrm>
              <a:off x="385745" y="5495226"/>
              <a:ext cx="8293184" cy="739126"/>
              <a:chOff x="385745" y="5495226"/>
              <a:chExt cx="8293184" cy="739126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4F9E293-216E-15DD-4F6F-A29FF3E6E51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02C0AC77-D285-65B0-D66E-4E098D9D4641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1E0D4AE5-9607-4DB4-BE36-56A5094F4DD2}"/>
                    </a:ext>
                  </a:extLst>
                </p:cNvPr>
                <p:cNvCxnSpPr>
                  <a:cxnSpLocks/>
                  <a:stCxn id="29" idx="3"/>
                  <a:endCxn id="12" idx="1"/>
                </p:cNvCxnSpPr>
                <p:nvPr/>
              </p:nvCxnSpPr>
              <p:spPr>
                <a:xfrm>
                  <a:off x="5467171" y="3428768"/>
                  <a:ext cx="572727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C0C996A-BF1C-90EE-8498-2E1A93560CCF}"/>
                    </a:ext>
                  </a:extLst>
                </p:cNvPr>
                <p:cNvCxnSpPr>
                  <a:cxnSpLocks/>
                  <a:endCxn id="29" idx="1"/>
                </p:cNvCxnSpPr>
                <p:nvPr/>
              </p:nvCxnSpPr>
              <p:spPr>
                <a:xfrm flipV="1">
                  <a:off x="1833334" y="3428768"/>
                  <a:ext cx="572726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Arrow Connector 18">
                  <a:extLst>
                    <a:ext uri="{FF2B5EF4-FFF2-40B4-BE49-F238E27FC236}">
                      <a16:creationId xmlns:a16="http://schemas.microsoft.com/office/drawing/2014/main" id="{B2A0A7D1-8E1F-6D54-6F03-9C163D4121DE}"/>
                    </a:ext>
                  </a:extLst>
                </p:cNvPr>
                <p:cNvCxnSpPr>
                  <a:cxnSpLocks/>
                  <a:stCxn id="12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259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67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83574FC-33E4-37D5-8403-057A812BEBA3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96A4DF-AA46-B362-6EF6-93AC149BD5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</p:grp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B3F6E7F-9ED7-799A-C6AD-763658746D8C}"/>
                </a:ext>
              </a:extLst>
            </p:cNvPr>
            <p:cNvSpPr/>
            <p:nvPr/>
          </p:nvSpPr>
          <p:spPr>
            <a:xfrm>
              <a:off x="1854515" y="5494993"/>
              <a:ext cx="3061111" cy="73912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</a:rPr>
                <a:t>Micro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E09AD39-0921-EB4A-1080-583A356887F2}"/>
              </a:ext>
            </a:extLst>
          </p:cNvPr>
          <p:cNvSpPr txBox="1"/>
          <p:nvPr/>
        </p:nvSpPr>
        <p:spPr>
          <a:xfrm>
            <a:off x="4915627" y="6071016"/>
            <a:ext cx="42877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[2] </a:t>
            </a:r>
            <a:r>
              <a:rPr lang="en-GB" sz="1100" dirty="0"/>
              <a:t>Matthew W. Hill, Sorbonne Université Presse</a:t>
            </a:r>
            <a:endParaRPr lang="fr-FR" sz="1100" dirty="0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28417795-70F9-02E7-96CE-574852CA0F0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b="1" dirty="0"/>
              <a:t>Introduction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97FF5D9-EF18-24AF-8AB4-7DAB59DDE23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354CFB6A-7BE4-336E-497B-88F584AC08BE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4" name="Footer Placeholder 2">
              <a:extLst>
                <a:ext uri="{FF2B5EF4-FFF2-40B4-BE49-F238E27FC236}">
                  <a16:creationId xmlns:a16="http://schemas.microsoft.com/office/drawing/2014/main" id="{81FB907C-1F88-1B14-226E-07CDAD186F1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B61853-FCE9-DA8F-F77F-DBFD494B4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2C788D-44E6-8ECF-EEA2-99508EA86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3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5FF95-1FEB-A5EE-FCFC-F7BB71FD9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4283144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B5C65-7A37-1B90-FBC8-8C517E9FE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B411610-91CC-1D3E-B007-8E0F6F5EEE2B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A5B9C0-C73A-6300-0522-20EE954AE8F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08FB3C2F-F634-79DF-634E-4FB985FD79C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b="1" dirty="0"/>
              <a:t>Introduction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DAE2E80-E912-D97C-8D4D-D8FA1169D84C}"/>
              </a:ext>
            </a:extLst>
          </p:cNvPr>
          <p:cNvGrpSpPr/>
          <p:nvPr/>
        </p:nvGrpSpPr>
        <p:grpSpPr>
          <a:xfrm>
            <a:off x="330200" y="978128"/>
            <a:ext cx="8498627" cy="4901743"/>
            <a:chOff x="330200" y="1423280"/>
            <a:chExt cx="8498627" cy="4901743"/>
          </a:xfrm>
        </p:grpSpPr>
        <p:pic>
          <p:nvPicPr>
            <p:cNvPr id="6" name="Picture 5" descr="Guitar Pickup Market By Region">
              <a:extLst>
                <a:ext uri="{FF2B5EF4-FFF2-40B4-BE49-F238E27FC236}">
                  <a16:creationId xmlns:a16="http://schemas.microsoft.com/office/drawing/2014/main" id="{6DA00D97-DD6A-62D3-2FEF-6FDA183FC4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01" t="1" r="88" b="1662"/>
            <a:stretch>
              <a:fillRect/>
            </a:stretch>
          </p:blipFill>
          <p:spPr>
            <a:xfrm>
              <a:off x="330200" y="1423280"/>
              <a:ext cx="8498627" cy="4696847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2E4591E-213D-DD3D-F756-86FF1B6789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94285" y="5785023"/>
              <a:ext cx="766733" cy="5400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66935B24-D3D4-E1C7-7221-E3E13E203B9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697" y="5785023"/>
              <a:ext cx="766313" cy="540000"/>
            </a:xfrm>
            <a:prstGeom prst="rect">
              <a:avLst/>
            </a:prstGeom>
          </p:spPr>
        </p:pic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65A42A2-4676-292B-E960-C64B3D3DE5C5}"/>
                </a:ext>
              </a:extLst>
            </p:cNvPr>
            <p:cNvSpPr/>
            <p:nvPr/>
          </p:nvSpPr>
          <p:spPr>
            <a:xfrm>
              <a:off x="1119987" y="3792511"/>
              <a:ext cx="2627554" cy="1796705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23B1C9B-ECF9-F287-89FF-67656642FDEC}"/>
                </a:ext>
              </a:extLst>
            </p:cNvPr>
            <p:cNvSpPr txBox="1"/>
            <p:nvPr/>
          </p:nvSpPr>
          <p:spPr>
            <a:xfrm>
              <a:off x="1985724" y="3452852"/>
              <a:ext cx="7859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>
                  <a:solidFill>
                    <a:srgbClr val="C00000"/>
                  </a:solidFill>
                  <a:latin typeface="Arial Black" panose="020B0A04020102020204" pitchFamily="34" charset="0"/>
                </a:rPr>
                <a:t>60%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5538530-AEDA-8079-4FC7-7FE95B066120}"/>
              </a:ext>
            </a:extLst>
          </p:cNvPr>
          <p:cNvSpPr txBox="1"/>
          <p:nvPr/>
        </p:nvSpPr>
        <p:spPr>
          <a:xfrm>
            <a:off x="1323303" y="4636845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23.9%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ED38844-6458-856C-27C9-4A869A89F20A}"/>
              </a:ext>
            </a:extLst>
          </p:cNvPr>
          <p:cNvSpPr txBox="1"/>
          <p:nvPr/>
        </p:nvSpPr>
        <p:spPr>
          <a:xfrm>
            <a:off x="4427185" y="300770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18.2%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1E00042-FA40-4722-DEE9-BCC43CF6F914}"/>
              </a:ext>
            </a:extLst>
          </p:cNvPr>
          <p:cNvSpPr txBox="1"/>
          <p:nvPr/>
        </p:nvSpPr>
        <p:spPr>
          <a:xfrm>
            <a:off x="5919010" y="2526212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13.1%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681727A-1BF8-121E-D477-3D1C7E718221}"/>
              </a:ext>
            </a:extLst>
          </p:cNvPr>
          <p:cNvSpPr txBox="1"/>
          <p:nvPr/>
        </p:nvSpPr>
        <p:spPr>
          <a:xfrm>
            <a:off x="7475333" y="221595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8.7%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E582498-A12E-C1F5-F376-6C09D43F7F49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FE9E1E-C8F4-E203-5640-8217B20F502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8" name="Footer Placeholder 2">
              <a:extLst>
                <a:ext uri="{FF2B5EF4-FFF2-40B4-BE49-F238E27FC236}">
                  <a16:creationId xmlns:a16="http://schemas.microsoft.com/office/drawing/2014/main" id="{4468C78C-C5D3-2CC7-D96D-98F1E6CC8C4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24C715-1FC7-1020-3096-E8C89B6EA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EFDD7F-F23C-5AC2-E58E-7CF345CAA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4</a:t>
            </a:fld>
            <a:endParaRPr lang="fr-F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E2C755-F442-740C-3610-5B4E39BBF131}"/>
              </a:ext>
            </a:extLst>
          </p:cNvPr>
          <p:cNvSpPr txBox="1"/>
          <p:nvPr/>
        </p:nvSpPr>
        <p:spPr>
          <a:xfrm>
            <a:off x="5921829" y="6071016"/>
            <a:ext cx="32815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[1] </a:t>
            </a:r>
            <a:r>
              <a:rPr lang="en-GB" sz="1100" dirty="0" err="1"/>
              <a:t>WiseGuy</a:t>
            </a:r>
            <a:r>
              <a:rPr lang="en-GB" sz="1100" dirty="0"/>
              <a:t> Research Consultants</a:t>
            </a:r>
            <a:endParaRPr lang="fr-FR" sz="1100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4749FD6-7341-29D8-2EFF-027559DD1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3183775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ABA01-5E57-F9AD-7FB1-9B31B40EB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7ABC560-5331-C119-99E8-E7E487C7F79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360A34-3C0D-7ED1-37AC-A59777E64D3C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CCBCFC-B5B7-AE0C-CD83-2301C046DD2B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7756C83-7AA3-F936-101B-DF3BB74A0CF5}"/>
              </a:ext>
            </a:extLst>
          </p:cNvPr>
          <p:cNvGrpSpPr/>
          <p:nvPr/>
        </p:nvGrpSpPr>
        <p:grpSpPr>
          <a:xfrm>
            <a:off x="642999" y="1268784"/>
            <a:ext cx="7940613" cy="4679896"/>
            <a:chOff x="2391413" y="1278005"/>
            <a:chExt cx="7940613" cy="4679896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E1B0F9D-8566-0C35-DA3D-12B83B1D5D8F}"/>
                </a:ext>
              </a:extLst>
            </p:cNvPr>
            <p:cNvGrpSpPr/>
            <p:nvPr/>
          </p:nvGrpSpPr>
          <p:grpSpPr>
            <a:xfrm>
              <a:off x="4257048" y="1278005"/>
              <a:ext cx="4556752" cy="4679896"/>
              <a:chOff x="5128260" y="2555821"/>
              <a:chExt cx="3281103" cy="2838917"/>
            </a:xfrm>
          </p:grpSpPr>
          <p:pic>
            <p:nvPicPr>
              <p:cNvPr id="10" name="Picture 9" descr="A blue and white drawing of a square and a rectangle&#10;&#10;AI-generated content may be incorrect.">
                <a:extLst>
                  <a:ext uri="{FF2B5EF4-FFF2-40B4-BE49-F238E27FC236}">
                    <a16:creationId xmlns:a16="http://schemas.microsoft.com/office/drawing/2014/main" id="{35B1D760-66A7-4EF2-06F7-CEB0F74054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17161" r="12491"/>
              <a:stretch>
                <a:fillRect/>
              </a:stretch>
            </p:blipFill>
            <p:spPr>
              <a:xfrm>
                <a:off x="5128260" y="2555821"/>
                <a:ext cx="3281103" cy="2838917"/>
              </a:xfrm>
              <a:prstGeom prst="rect">
                <a:avLst/>
              </a:prstGeom>
            </p:spPr>
          </p:pic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6B4602-42B8-CD9D-7B5A-B72982226E4D}"/>
                  </a:ext>
                </a:extLst>
              </p:cNvPr>
              <p:cNvSpPr/>
              <p:nvPr/>
            </p:nvSpPr>
            <p:spPr>
              <a:xfrm>
                <a:off x="6606541" y="3415664"/>
                <a:ext cx="308610" cy="26987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1029" name="Picture 1028">
                <a:extLst>
                  <a:ext uri="{FF2B5EF4-FFF2-40B4-BE49-F238E27FC236}">
                    <a16:creationId xmlns:a16="http://schemas.microsoft.com/office/drawing/2014/main" id="{BEE47B49-AC29-0A5B-BE91-5834088C24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ackgroundRemoval t="32494" b="70953" l="13960" r="44675"/>
                        </a14:imgEffect>
                        <a14:imgEffect>
                          <a14:brightnessContrast bright="40000" contrast="-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20" t="27687" r="51486" b="24239"/>
              <a:stretch>
                <a:fillRect/>
              </a:stretch>
            </p:blipFill>
            <p:spPr>
              <a:xfrm>
                <a:off x="5513338" y="3130807"/>
                <a:ext cx="2568446" cy="1693612"/>
              </a:xfrm>
              <a:prstGeom prst="rect">
                <a:avLst/>
              </a:prstGeom>
            </p:spPr>
          </p:pic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30357CB-6D07-11C5-8EC3-85C6EB5CB4BF}"/>
                  </a:ext>
                </a:extLst>
              </p:cNvPr>
              <p:cNvSpPr/>
              <p:nvPr/>
            </p:nvSpPr>
            <p:spPr>
              <a:xfrm>
                <a:off x="6704837" y="3200415"/>
                <a:ext cx="103688" cy="87353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1E53688-28E3-395D-70F6-E50EF0BE10AB}"/>
                </a:ext>
              </a:extLst>
            </p:cNvPr>
            <p:cNvSpPr txBox="1"/>
            <p:nvPr/>
          </p:nvSpPr>
          <p:spPr>
            <a:xfrm flipH="1">
              <a:off x="2391413" y="2759586"/>
              <a:ext cx="1453534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  <p:cxnSp>
          <p:nvCxnSpPr>
            <p:cNvPr id="15" name="Connector: Elbow 14">
              <a:extLst>
                <a:ext uri="{FF2B5EF4-FFF2-40B4-BE49-F238E27FC236}">
                  <a16:creationId xmlns:a16="http://schemas.microsoft.com/office/drawing/2014/main" id="{F181BAC7-2F05-D532-04C6-1C065A8CDC42}"/>
                </a:ext>
              </a:extLst>
            </p:cNvPr>
            <p:cNvCxnSpPr>
              <a:cxnSpLocks/>
              <a:stCxn id="14" idx="0"/>
              <a:endCxn id="12" idx="2"/>
            </p:cNvCxnSpPr>
            <p:nvPr/>
          </p:nvCxnSpPr>
          <p:spPr>
            <a:xfrm rot="5400000" flipH="1" flipV="1">
              <a:off x="4608888" y="921898"/>
              <a:ext cx="346981" cy="3328397"/>
            </a:xfrm>
            <a:prstGeom prst="bentConnector2">
              <a:avLst/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9750372-0D76-1A6A-DD9B-C7FF226BC376}"/>
                </a:ext>
              </a:extLst>
            </p:cNvPr>
            <p:cNvSpPr txBox="1"/>
            <p:nvPr/>
          </p:nvSpPr>
          <p:spPr>
            <a:xfrm flipH="1">
              <a:off x="8878492" y="3017369"/>
              <a:ext cx="1453534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Bobine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5CDBB6C-E453-637C-7462-FBC874B60003}"/>
                </a:ext>
              </a:extLst>
            </p:cNvPr>
            <p:cNvSpPr txBox="1"/>
            <p:nvPr/>
          </p:nvSpPr>
          <p:spPr>
            <a:xfrm flipH="1">
              <a:off x="2391413" y="4386908"/>
              <a:ext cx="1453534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Aimant permanent</a:t>
              </a:r>
            </a:p>
          </p:txBody>
        </p:sp>
        <p:cxnSp>
          <p:nvCxnSpPr>
            <p:cNvPr id="28" name="Connector: Elbow 27">
              <a:extLst>
                <a:ext uri="{FF2B5EF4-FFF2-40B4-BE49-F238E27FC236}">
                  <a16:creationId xmlns:a16="http://schemas.microsoft.com/office/drawing/2014/main" id="{11FCA9BF-D568-7FEF-8F3A-CC03ABDECFCE}"/>
                </a:ext>
              </a:extLst>
            </p:cNvPr>
            <p:cNvCxnSpPr>
              <a:cxnSpLocks/>
              <a:stCxn id="20" idx="2"/>
            </p:cNvCxnSpPr>
            <p:nvPr/>
          </p:nvCxnSpPr>
          <p:spPr>
            <a:xfrm rot="5400000">
              <a:off x="8071816" y="2588985"/>
              <a:ext cx="828060" cy="2238827"/>
            </a:xfrm>
            <a:prstGeom prst="bentConnector2">
              <a:avLst/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BD422936-A5EF-FA57-44E3-7B65B2489857}"/>
                </a:ext>
              </a:extLst>
            </p:cNvPr>
            <p:cNvCxnSpPr>
              <a:cxnSpLocks/>
              <a:stCxn id="22" idx="0"/>
            </p:cNvCxnSpPr>
            <p:nvPr/>
          </p:nvCxnSpPr>
          <p:spPr>
            <a:xfrm rot="5400000" flipH="1" flipV="1">
              <a:off x="4369573" y="2309905"/>
              <a:ext cx="825611" cy="3328397"/>
            </a:xfrm>
            <a:prstGeom prst="bentConnector2">
              <a:avLst/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Picture 2" descr="Free femm 4.2 software download (Windows)">
            <a:extLst>
              <a:ext uri="{FF2B5EF4-FFF2-40B4-BE49-F238E27FC236}">
                <a16:creationId xmlns:a16="http://schemas.microsoft.com/office/drawing/2014/main" id="{7E23C437-0ABF-7719-0798-576ADE154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8368BD-720D-61CB-9C35-FD2F182B225B}"/>
              </a:ext>
            </a:extLst>
          </p:cNvPr>
          <p:cNvSpPr txBox="1"/>
          <p:nvPr/>
        </p:nvSpPr>
        <p:spPr>
          <a:xfrm>
            <a:off x="5500915" y="6071016"/>
            <a:ext cx="37025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[4] </a:t>
            </a:r>
            <a:r>
              <a:rPr lang="en-GB" sz="1100" dirty="0"/>
              <a:t>S. W. Duncan, "Interview With Seth Lover"</a:t>
            </a:r>
            <a:endParaRPr lang="fr-FR" sz="11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8EFCE6-1325-4661-AA72-4FFBB63CEFF5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Micro SingleCoil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4AF7F45-52A3-9483-9C58-D4A5D32B0F49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3EF40E8-F99F-B462-8250-77A4C4061D8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48" name="Footer Placeholder 2">
              <a:extLst>
                <a:ext uri="{FF2B5EF4-FFF2-40B4-BE49-F238E27FC236}">
                  <a16:creationId xmlns:a16="http://schemas.microsoft.com/office/drawing/2014/main" id="{19F03FE6-1C4E-947B-FA91-0A23A23336D8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B4D5B1-9014-DA13-332D-861F4AAD1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B34638-6074-D45A-FE23-B349F2FD6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10DB0-A6E5-9C62-A429-F39200613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2527761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E5CDC-E18A-6821-CC67-B07651DBB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8092A65-490B-4AC0-8393-01D12A337A0D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637ED1-A8A1-92A6-E436-7B0AE35C232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E39AF3-B671-1A96-D11D-9164EFD8F565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E07AC0-394D-84B1-8162-3042EECBDF45}"/>
              </a:ext>
            </a:extLst>
          </p:cNvPr>
          <p:cNvSpPr/>
          <p:nvPr/>
        </p:nvSpPr>
        <p:spPr>
          <a:xfrm>
            <a:off x="622219" y="1351909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35D5EF-60B2-6FAD-3936-D1828DDA27A4}"/>
              </a:ext>
            </a:extLst>
          </p:cNvPr>
          <p:cNvSpPr/>
          <p:nvPr/>
        </p:nvSpPr>
        <p:spPr>
          <a:xfrm>
            <a:off x="642999" y="1720375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DAA9F8-0DCE-F3A1-2774-4F4BB52CB5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622219" y="954461"/>
            <a:ext cx="7984008" cy="4849713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786814AB-8380-0640-C9A3-B61B1F954501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CCC6DF1-F332-A203-EE77-C772AC9C18B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97DD3AD4-78A0-831B-7B26-AF4449B0D39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DA0D0A-9CE4-B35F-DED9-B8F9D2909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F870BD-6B82-F67A-AD38-326141A32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6</a:t>
            </a:fld>
            <a:endParaRPr lang="fr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170900-36E2-535F-E2A2-C1BB77EB8900}"/>
              </a:ext>
            </a:extLst>
          </p:cNvPr>
          <p:cNvSpPr txBox="1"/>
          <p:nvPr/>
        </p:nvSpPr>
        <p:spPr>
          <a:xfrm>
            <a:off x="5500915" y="6071016"/>
            <a:ext cx="37025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[4] </a:t>
            </a:r>
            <a:r>
              <a:rPr lang="en-GB" sz="1100" dirty="0"/>
              <a:t>S. W. Duncan, "Interview With Seth Lover"</a:t>
            </a:r>
            <a:endParaRPr lang="fr-FR" sz="1100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BCE46BE-99A1-C396-1439-D5023E5B2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1919527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B3F0E-84CD-C391-808C-60FB199D9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CA72259-54E2-49A4-C520-ECE0702321F5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67775C-D727-1789-6DAC-ED5112DC6709}"/>
              </a:ext>
            </a:extLst>
          </p:cNvPr>
          <p:cNvSpPr/>
          <p:nvPr/>
        </p:nvSpPr>
        <p:spPr>
          <a:xfrm>
            <a:off x="640098" y="1353566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B783AE6-51CF-96D4-FF4F-76A91E4D70CC}"/>
              </a:ext>
            </a:extLst>
          </p:cNvPr>
          <p:cNvSpPr/>
          <p:nvPr/>
        </p:nvSpPr>
        <p:spPr>
          <a:xfrm>
            <a:off x="5953149" y="2713650"/>
            <a:ext cx="428593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E9966DA-65A5-0089-96C5-341C4C44043D}"/>
              </a:ext>
            </a:extLst>
          </p:cNvPr>
          <p:cNvSpPr/>
          <p:nvPr/>
        </p:nvSpPr>
        <p:spPr>
          <a:xfrm>
            <a:off x="7250271" y="2713650"/>
            <a:ext cx="247651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52B7CE4-DCA4-58A6-9A88-29EF0568BDAF}"/>
              </a:ext>
            </a:extLst>
          </p:cNvPr>
          <p:cNvSpPr/>
          <p:nvPr/>
        </p:nvSpPr>
        <p:spPr>
          <a:xfrm>
            <a:off x="5419725" y="2891036"/>
            <a:ext cx="468895" cy="12009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9C2055B-F368-6E9D-0494-ABBA449BB687}"/>
              </a:ext>
            </a:extLst>
          </p:cNvPr>
          <p:cNvGrpSpPr>
            <a:grpSpLocks noChangeAspect="1"/>
          </p:cNvGrpSpPr>
          <p:nvPr/>
        </p:nvGrpSpPr>
        <p:grpSpPr>
          <a:xfrm>
            <a:off x="1592129" y="498613"/>
            <a:ext cx="5952228" cy="5446688"/>
            <a:chOff x="4572000" y="1105567"/>
            <a:chExt cx="4303537" cy="3938025"/>
          </a:xfrm>
        </p:grpSpPr>
        <p:pic>
          <p:nvPicPr>
            <p:cNvPr id="22" name="Picture 21" descr="A drawing of a computer&#10;&#10;AI-generated content may be incorrect.">
              <a:extLst>
                <a:ext uri="{FF2B5EF4-FFF2-40B4-BE49-F238E27FC236}">
                  <a16:creationId xmlns:a16="http://schemas.microsoft.com/office/drawing/2014/main" id="{D940559A-4517-B76C-7191-DBF90D784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2000" y="1105567"/>
              <a:ext cx="4303537" cy="3938025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4ACEF00-6939-5D0B-A13E-4FE798F62E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76" t="6786" r="5431" b="11456"/>
            <a:stretch>
              <a:fillRect/>
            </a:stretch>
          </p:blipFill>
          <p:spPr>
            <a:xfrm>
              <a:off x="5043879" y="2370603"/>
              <a:ext cx="3400522" cy="2092725"/>
            </a:xfrm>
            <a:prstGeom prst="rect">
              <a:avLst/>
            </a:prstGeom>
          </p:spPr>
        </p:pic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A070375-38D7-0425-E55D-0B48FE1180FC}"/>
                </a:ext>
              </a:extLst>
            </p:cNvPr>
            <p:cNvSpPr/>
            <p:nvPr/>
          </p:nvSpPr>
          <p:spPr>
            <a:xfrm>
              <a:off x="4589145" y="2237711"/>
              <a:ext cx="4276317" cy="788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13" name="Picture 2" descr="Free femm 4.2 software download (Windows)">
            <a:extLst>
              <a:ext uri="{FF2B5EF4-FFF2-40B4-BE49-F238E27FC236}">
                <a16:creationId xmlns:a16="http://schemas.microsoft.com/office/drawing/2014/main" id="{3FA0ADC1-9B0B-00B1-E104-3F4417610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92B4F244-6F4C-3EAA-965E-76F8DAA7B14C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Micro Humbucker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E593F41-6F39-361E-0A62-C3B67BE71D93}"/>
              </a:ext>
            </a:extLst>
          </p:cNvPr>
          <p:cNvSpPr txBox="1"/>
          <p:nvPr/>
        </p:nvSpPr>
        <p:spPr>
          <a:xfrm flipH="1">
            <a:off x="720997" y="1477266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FF77FEB0-F50B-87D1-B05A-F03C82BDF92D}"/>
              </a:ext>
            </a:extLst>
          </p:cNvPr>
          <p:cNvCxnSpPr>
            <a:cxnSpLocks/>
            <a:stCxn id="37" idx="2"/>
            <a:endCxn id="33" idx="1"/>
          </p:cNvCxnSpPr>
          <p:nvPr/>
        </p:nvCxnSpPr>
        <p:spPr>
          <a:xfrm rot="16200000" flipH="1">
            <a:off x="1349442" y="1852587"/>
            <a:ext cx="364722" cy="168078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ABADA61-5B9D-A516-A70E-04D7AA645191}"/>
              </a:ext>
            </a:extLst>
          </p:cNvPr>
          <p:cNvSpPr txBox="1"/>
          <p:nvPr/>
        </p:nvSpPr>
        <p:spPr>
          <a:xfrm flipH="1">
            <a:off x="640098" y="4387077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 permanent</a:t>
            </a:r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01CFDA93-F6CC-0567-B5D1-51470F715D93}"/>
              </a:ext>
            </a:extLst>
          </p:cNvPr>
          <p:cNvCxnSpPr>
            <a:cxnSpLocks/>
            <a:stCxn id="40" idx="0"/>
          </p:cNvCxnSpPr>
          <p:nvPr/>
        </p:nvCxnSpPr>
        <p:spPr>
          <a:xfrm rot="5400000" flipH="1" flipV="1">
            <a:off x="1582011" y="2313309"/>
            <a:ext cx="1858622" cy="2288915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BAF1B7B9-1C45-C088-4CB0-28717C74BDF2}"/>
              </a:ext>
            </a:extLst>
          </p:cNvPr>
          <p:cNvCxnSpPr>
            <a:cxnSpLocks/>
            <a:stCxn id="40" idx="0"/>
          </p:cNvCxnSpPr>
          <p:nvPr/>
        </p:nvCxnSpPr>
        <p:spPr>
          <a:xfrm rot="5400000" flipH="1" flipV="1">
            <a:off x="2540139" y="1540377"/>
            <a:ext cx="1673427" cy="4019975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F467D2B5-392A-FE74-4310-84CCCF4527BB}"/>
              </a:ext>
            </a:extLst>
          </p:cNvPr>
          <p:cNvSpPr txBox="1"/>
          <p:nvPr/>
        </p:nvSpPr>
        <p:spPr>
          <a:xfrm flipH="1">
            <a:off x="7150275" y="337339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279DD24F-CDD7-E624-5F20-C27C82B2FBB1}"/>
              </a:ext>
            </a:extLst>
          </p:cNvPr>
          <p:cNvCxnSpPr>
            <a:cxnSpLocks/>
            <a:stCxn id="50" idx="2"/>
          </p:cNvCxnSpPr>
          <p:nvPr/>
        </p:nvCxnSpPr>
        <p:spPr>
          <a:xfrm rot="5400000">
            <a:off x="6916081" y="2926612"/>
            <a:ext cx="237183" cy="1684741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B78FAB7A-9FB1-C9C0-4840-E3A7DD272F73}"/>
              </a:ext>
            </a:extLst>
          </p:cNvPr>
          <p:cNvCxnSpPr>
            <a:cxnSpLocks/>
            <a:stCxn id="50" idx="2"/>
          </p:cNvCxnSpPr>
          <p:nvPr/>
        </p:nvCxnSpPr>
        <p:spPr>
          <a:xfrm rot="5400000">
            <a:off x="5821500" y="2189183"/>
            <a:ext cx="594335" cy="3516750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58" name="Group 57">
            <a:extLst>
              <a:ext uri="{FF2B5EF4-FFF2-40B4-BE49-F238E27FC236}">
                <a16:creationId xmlns:a16="http://schemas.microsoft.com/office/drawing/2014/main" id="{45A6B271-E2D8-B11C-AC3A-41C087E067C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116B81DE-CE67-4B5A-3895-DD224A2F4D3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60" name="Footer Placeholder 2">
              <a:extLst>
                <a:ext uri="{FF2B5EF4-FFF2-40B4-BE49-F238E27FC236}">
                  <a16:creationId xmlns:a16="http://schemas.microsoft.com/office/drawing/2014/main" id="{ED27BAC7-A23D-18ED-EB0C-C289ED77629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65FFD95-280A-DA7B-3174-834A58BBF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FD8EAC-A94D-5864-A51D-DA1B2D800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7</a:t>
            </a:fld>
            <a:endParaRPr lang="fr-F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A031E5-F817-247E-643D-F0D1019CEEBD}"/>
              </a:ext>
            </a:extLst>
          </p:cNvPr>
          <p:cNvSpPr txBox="1"/>
          <p:nvPr/>
        </p:nvSpPr>
        <p:spPr>
          <a:xfrm>
            <a:off x="5500915" y="6071016"/>
            <a:ext cx="37025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[4] </a:t>
            </a:r>
            <a:r>
              <a:rPr lang="en-GB" sz="1100" dirty="0"/>
              <a:t>S. W. Duncan, "Interview With Seth Lover"</a:t>
            </a:r>
            <a:endParaRPr lang="fr-FR" sz="1100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190AA6-1EE8-EF08-E227-88553644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1680864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9327" y="1666552"/>
            <a:ext cx="7425344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Dans quelle mesure </a:t>
            </a:r>
            <a:r>
              <a:rPr lang="fr-FR" sz="2000" b="1" dirty="0"/>
              <a:t>l'ajout d'une seconde bobine 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permet-il </a:t>
            </a:r>
            <a:r>
              <a:rPr lang="fr-FR" sz="2000" b="1" dirty="0"/>
              <a:t>d'éliminer les parasites </a:t>
            </a:r>
            <a:r>
              <a:rPr lang="fr-FR" sz="2000" dirty="0"/>
              <a:t>?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Comment cela impacte-t-il </a:t>
            </a:r>
            <a:r>
              <a:rPr lang="fr-FR" sz="2000" b="1" dirty="0"/>
              <a:t>la richesse du son </a:t>
            </a:r>
            <a:r>
              <a:rPr lang="fr-FR" sz="2000" dirty="0"/>
              <a:t>?</a:t>
            </a:r>
            <a:endParaRPr kumimoji="0" lang="fr-FR" altLang="fr-FR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40011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sz="2000" dirty="0"/>
              <a:t>SingleCoil</a:t>
            </a:r>
            <a:endParaRPr lang="fr-FR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40011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sz="2000" dirty="0"/>
              <a:t>Humbucker</a:t>
            </a:r>
            <a:endParaRPr lang="fr-FR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B92DDB-5107-9492-084E-A032449469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2067480" y="3425036"/>
            <a:ext cx="1260000" cy="103733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0E83BBAA-0E05-C329-303D-8623CD619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5860681" y="3425036"/>
            <a:ext cx="1260000" cy="10117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DA54D667-7FF4-5DE5-D4F2-5DD4D34EB195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DCE21C3-ED50-B7AE-90AC-B6FCFAE27E9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4" name="Footer Placeholder 2">
              <a:extLst>
                <a:ext uri="{FF2B5EF4-FFF2-40B4-BE49-F238E27FC236}">
                  <a16:creationId xmlns:a16="http://schemas.microsoft.com/office/drawing/2014/main" id="{6E8EBF37-F330-4467-BC2C-030BB6539C50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7C153F-C755-6198-D31A-B9D25FF85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249BD8-C437-40BF-45D0-53F846A30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8</a:t>
            </a:fld>
            <a:endParaRPr lang="fr-FR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93CD084-34B4-D32A-A321-EF55172C9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D390230-A66D-FF4E-9E42-551EEE657AEA}"/>
              </a:ext>
            </a:extLst>
          </p:cNvPr>
          <p:cNvGrpSpPr/>
          <p:nvPr/>
        </p:nvGrpSpPr>
        <p:grpSpPr>
          <a:xfrm>
            <a:off x="0" y="6395093"/>
            <a:ext cx="9144000" cy="479397"/>
            <a:chOff x="0" y="-4624"/>
            <a:chExt cx="9144000" cy="457200"/>
          </a:xfrm>
          <a:solidFill>
            <a:srgbClr val="629DD1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15BB4F3-3902-D98E-74DA-57C1499BEC6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9A28375B-D627-740F-A1A9-88BD72733650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89143811-CC85-6876-FEDB-53C2F3122FDE}"/>
              </a:ext>
            </a:extLst>
          </p:cNvPr>
          <p:cNvSpPr txBox="1">
            <a:spLocks/>
          </p:cNvSpPr>
          <p:nvPr/>
        </p:nvSpPr>
        <p:spPr>
          <a:xfrm>
            <a:off x="15096" y="6335178"/>
            <a:ext cx="9144000" cy="63096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78086C-4327-4CCE-3575-B965AEB07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2800" dirty="0">
                <a:latin typeface="Arial Black" panose="020B0A04020102020204" pitchFamily="34" charset="0"/>
              </a:rPr>
              <a:t>SOMMAIRE</a:t>
            </a:r>
            <a:endParaRPr lang="fr-FR" sz="2400" dirty="0">
              <a:latin typeface="Arial Black" panose="020B0A040201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906377-3E17-25EE-9ED4-4AD5B2ACC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  <a:latin typeface="Arial Black" panose="020B0A04020102020204" pitchFamily="34" charset="0"/>
              </a:rPr>
              <a:t>I. Filtrage électrique interne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A. Théorie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B. Expérimentation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C. Résultats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lang="fr-FR" dirty="0">
              <a:solidFill>
                <a:schemeClr val="tx1"/>
              </a:solidFill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  <a:latin typeface="Arial Black" panose="020B0A04020102020204" pitchFamily="34" charset="0"/>
              </a:rPr>
              <a:t>II. Induction et filtrage spatial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A. Théorie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B. Expérimentation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C. Résultats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lang="fr-FR" dirty="0">
              <a:solidFill>
                <a:schemeClr val="tx1"/>
              </a:solidFill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  <a:latin typeface="Arial Black" panose="020B0A04020102020204" pitchFamily="34" charset="0"/>
              </a:rPr>
              <a:t>III. Réduction du bourdonnement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A. Théorie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B. Expérimentation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fr-FR" dirty="0">
                <a:solidFill>
                  <a:schemeClr val="tx1"/>
                </a:solidFill>
              </a:rPr>
              <a:t>C. Résultats</a:t>
            </a:r>
          </a:p>
          <a:p>
            <a:endParaRPr lang="fr-F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3DB849-6BE7-4318-417B-F68D54419C3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fr-FR" dirty="0">
              <a:solidFill>
                <a:schemeClr val="tx1"/>
              </a:solidFill>
            </a:endParaRPr>
          </a:p>
          <a:p>
            <a:r>
              <a:rPr lang="fr-FR" dirty="0">
                <a:solidFill>
                  <a:schemeClr val="tx1"/>
                </a:solidFill>
              </a:rPr>
              <a:t>Comparaison des différents montages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EA2F07-0D60-CE99-61C5-8E3DEFE30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A99897-62DB-08AE-9FAC-894D10DF4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>
                <a:solidFill>
                  <a:schemeClr val="bg1"/>
                </a:solidFill>
              </a:rPr>
              <a:t>9</a:t>
            </a:fld>
            <a:endParaRPr lang="fr-FR" dirty="0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11B6D2B-D51B-778B-D85B-5262F118BA2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7DA164-4E2F-3F43-7D4B-04F38B9080C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6483E35D-B97E-442E-7EAA-361348BD5A8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4BA831D4-708C-E15C-792A-6B3F67FF8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32658079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A67A1-DA61-144F-362B-2D83140EA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2800" dirty="0">
                <a:latin typeface="Arial Black" panose="020B0A04020102020204" pitchFamily="34" charset="0"/>
              </a:rPr>
              <a:t>THEORIE</a:t>
            </a:r>
            <a:endParaRPr lang="fr-FR" sz="2800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8490F7B-B856-2072-2D20-4EF3D42D68CB}"/>
              </a:ext>
            </a:extLst>
          </p:cNvPr>
          <p:cNvGrpSpPr/>
          <p:nvPr/>
        </p:nvGrpSpPr>
        <p:grpSpPr>
          <a:xfrm>
            <a:off x="3353556" y="999394"/>
            <a:ext cx="5447544" cy="3869802"/>
            <a:chOff x="1054903" y="1363393"/>
            <a:chExt cx="4626939" cy="36000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2821C979-ECD0-3B5D-D02D-3E8F869F4181}"/>
                </a:ext>
              </a:extLst>
            </p:cNvPr>
            <p:cNvGrpSpPr/>
            <p:nvPr/>
          </p:nvGrpSpPr>
          <p:grpSpPr>
            <a:xfrm>
              <a:off x="1054903" y="1363393"/>
              <a:ext cx="4626939" cy="3600000"/>
              <a:chOff x="1054904" y="1200155"/>
              <a:chExt cx="4927617" cy="3601072"/>
            </a:xfrm>
          </p:grpSpPr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D2E38B82-AC76-3902-9777-E5D3B147BDAB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biLevel thresh="75000"/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054904" y="1200155"/>
                <a:ext cx="4927617" cy="360107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CF4F3A-C925-7A21-2466-B1435898CB49}"/>
                  </a:ext>
                </a:extLst>
              </p:cNvPr>
              <p:cNvSpPr/>
              <p:nvPr/>
            </p:nvSpPr>
            <p:spPr>
              <a:xfrm>
                <a:off x="1486014" y="210415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E4F847F-324E-3AF9-DD8B-2A3D7ED31C67}"/>
                  </a:ext>
                </a:extLst>
              </p:cNvPr>
              <p:cNvSpPr/>
              <p:nvPr/>
            </p:nvSpPr>
            <p:spPr>
              <a:xfrm>
                <a:off x="2555070" y="303342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247A821B-7C32-C11F-4EC7-61104E0F3F8C}"/>
                  </a:ext>
                </a:extLst>
              </p:cNvPr>
              <p:cNvSpPr/>
              <p:nvPr/>
            </p:nvSpPr>
            <p:spPr>
              <a:xfrm>
                <a:off x="3715970" y="3073533"/>
                <a:ext cx="703406" cy="2401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B7F0EF69-3F70-4282-5858-C1DC1CF8BB0F}"/>
                  </a:ext>
                </a:extLst>
              </p:cNvPr>
              <p:cNvSpPr/>
              <p:nvPr/>
            </p:nvSpPr>
            <p:spPr>
              <a:xfrm>
                <a:off x="5397029" y="3091033"/>
                <a:ext cx="527521" cy="20117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F270AF5-99F9-928C-BD3A-A92043EA0E41}"/>
                  </a:ext>
                </a:extLst>
              </p:cNvPr>
              <p:cNvSpPr/>
              <p:nvPr/>
            </p:nvSpPr>
            <p:spPr>
              <a:xfrm>
                <a:off x="1468417" y="3119201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8844546-C4A9-7120-AC2B-8F99517EE9EC}"/>
                </a:ext>
              </a:extLst>
            </p:cNvPr>
            <p:cNvCxnSpPr/>
            <p:nvPr/>
          </p:nvCxnSpPr>
          <p:spPr>
            <a:xfrm flipV="1">
              <a:off x="1601848" y="3920464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B787BD7A-8E88-7B68-9FD7-163E690E3BB8}"/>
                    </a:ext>
                  </a:extLst>
                </p:cNvPr>
                <p:cNvSpPr txBox="1"/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5769" t="-3333" r="-15385" b="-4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293186A7-E3C8-3A1D-64E4-8B61491CF22A}"/>
                </a:ext>
              </a:extLst>
            </p:cNvPr>
            <p:cNvCxnSpPr/>
            <p:nvPr/>
          </p:nvCxnSpPr>
          <p:spPr>
            <a:xfrm flipV="1">
              <a:off x="4752281" y="2872673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4B4FB649-0208-E2CF-1D98-78328F1FBE1A}"/>
                    </a:ext>
                  </a:extLst>
                </p:cNvPr>
                <p:cNvSpPr txBox="1"/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BEA564-E231-D34A-1E71-EDA0435E74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5660" r="-13208" b="-4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90F3B32-0968-D622-89B1-D5CDEEBE7A7F}"/>
                  </a:ext>
                </a:extLst>
              </p:cNvPr>
              <p:cNvSpPr txBox="1"/>
              <p:nvPr/>
            </p:nvSpPr>
            <p:spPr>
              <a:xfrm>
                <a:off x="3353556" y="4961363"/>
                <a:ext cx="5447544" cy="770596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 + 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+ </m:t>
                              </m:r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+ 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LC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90F3B32-0968-D622-89B1-D5CDEEBE7A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3556" y="4961363"/>
                <a:ext cx="5447544" cy="77059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543558B9-6EAE-48A6-1620-C265526DFD24}"/>
              </a:ext>
            </a:extLst>
          </p:cNvPr>
          <p:cNvSpPr txBox="1"/>
          <p:nvPr/>
        </p:nvSpPr>
        <p:spPr>
          <a:xfrm>
            <a:off x="3353556" y="5761933"/>
            <a:ext cx="49063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u="sng" dirty="0"/>
              <a:t>Interprétation :</a:t>
            </a:r>
            <a:r>
              <a:rPr lang="fr-FR" sz="1600" b="1" dirty="0"/>
              <a:t> </a:t>
            </a:r>
            <a:r>
              <a:rPr lang="fr-FR" sz="1600" dirty="0"/>
              <a:t>Filtrage </a:t>
            </a:r>
            <a:r>
              <a:rPr lang="fr-FR" sz="1600" u="sng" dirty="0"/>
              <a:t>passe bas</a:t>
            </a:r>
            <a:r>
              <a:rPr lang="fr-FR" sz="1600" dirty="0"/>
              <a:t> 2</a:t>
            </a:r>
            <a:r>
              <a:rPr lang="fr-FR" sz="1600" baseline="30000" dirty="0"/>
              <a:t>nd</a:t>
            </a:r>
            <a:r>
              <a:rPr lang="fr-FR" sz="1600" dirty="0"/>
              <a:t> Ordre</a:t>
            </a:r>
          </a:p>
        </p:txBody>
      </p:sp>
      <p:pic>
        <p:nvPicPr>
          <p:cNvPr id="26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0297559E-EA70-1DE4-7979-69EF1A6DEC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5100" y="509985"/>
            <a:ext cx="43200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733C6F4-992F-BB99-62FF-4D4162E5BD31}"/>
              </a:ext>
            </a:extLst>
          </p:cNvPr>
          <p:cNvSpPr txBox="1"/>
          <p:nvPr/>
        </p:nvSpPr>
        <p:spPr>
          <a:xfrm>
            <a:off x="6241143" y="6071016"/>
            <a:ext cx="29622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[5] </a:t>
            </a:r>
            <a:r>
              <a:rPr lang="en-GB" sz="1100" dirty="0"/>
              <a:t>Dan Carson, University of Illinois</a:t>
            </a:r>
            <a:endParaRPr lang="fr-FR" sz="110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CEFF3E8-2258-46FE-09B5-C11C3E7F473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E1865FE-B460-15DA-A157-F58E3236E708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3" name="Footer Placeholder 2">
              <a:extLst>
                <a:ext uri="{FF2B5EF4-FFF2-40B4-BE49-F238E27FC236}">
                  <a16:creationId xmlns:a16="http://schemas.microsoft.com/office/drawing/2014/main" id="{3E606650-1E4A-F03E-0DD6-D8BD67A4E91E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16DF2492-FBFF-25AC-E08E-48DF96784C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9103636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grpSp>
        <p:nvGrpSpPr>
          <p:cNvPr id="35" name="Group 34">
            <a:extLst>
              <a:ext uri="{FF2B5EF4-FFF2-40B4-BE49-F238E27FC236}">
                <a16:creationId xmlns:a16="http://schemas.microsoft.com/office/drawing/2014/main" id="{AC6D9136-2E81-692E-7DBD-8FB26ED19DAB}"/>
              </a:ext>
            </a:extLst>
          </p:cNvPr>
          <p:cNvGrpSpPr/>
          <p:nvPr/>
        </p:nvGrpSpPr>
        <p:grpSpPr>
          <a:xfrm>
            <a:off x="0" y="6395093"/>
            <a:ext cx="9144000" cy="479397"/>
            <a:chOff x="0" y="-4624"/>
            <a:chExt cx="9144000" cy="457200"/>
          </a:xfrm>
          <a:solidFill>
            <a:srgbClr val="629DD1"/>
          </a:solidFill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B9AE222-747A-973A-ECFE-AC3724C4AAF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7" name="Footer Placeholder 2">
              <a:extLst>
                <a:ext uri="{FF2B5EF4-FFF2-40B4-BE49-F238E27FC236}">
                  <a16:creationId xmlns:a16="http://schemas.microsoft.com/office/drawing/2014/main" id="{41C0BE7A-FF24-20AD-5591-BCADFC32DC9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C4BAEF-33D1-6188-9AE8-8A5542988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E0DE8A-741F-526E-9186-3E8ACB1C1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>
                <a:solidFill>
                  <a:schemeClr val="bg1"/>
                </a:solidFill>
              </a:rPr>
              <a:t>10</a:t>
            </a:fld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41" name="Footer Placeholder 2">
            <a:extLst>
              <a:ext uri="{FF2B5EF4-FFF2-40B4-BE49-F238E27FC236}">
                <a16:creationId xmlns:a16="http://schemas.microsoft.com/office/drawing/2014/main" id="{01A560DB-8ED3-218F-79C6-A6A579F5103A}"/>
              </a:ext>
            </a:extLst>
          </p:cNvPr>
          <p:cNvSpPr txBox="1">
            <a:spLocks/>
          </p:cNvSpPr>
          <p:nvPr/>
        </p:nvSpPr>
        <p:spPr>
          <a:xfrm>
            <a:off x="15096" y="6335178"/>
            <a:ext cx="9144000" cy="63096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457B1FA-16C6-9796-D924-6382EF215E5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fr-FR" b="1" u="sng" dirty="0">
                <a:solidFill>
                  <a:schemeClr val="tx1"/>
                </a:solidFill>
              </a:rPr>
              <a:t>Hypothèses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>
                <a:solidFill>
                  <a:schemeClr val="tx1"/>
                </a:solidFill>
              </a:rPr>
              <a:t>Symétrie parfaite de bobinage</a:t>
            </a:r>
          </a:p>
          <a:p>
            <a:r>
              <a:rPr lang="fr-FR" b="1" u="sng" dirty="0">
                <a:solidFill>
                  <a:schemeClr val="tx1"/>
                </a:solidFill>
              </a:rPr>
              <a:t>Conséquences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tx1"/>
                </a:solidFill>
              </a:rPr>
              <a:t>Schéma équivalent identique peu importe le montage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7D1A44-CCE9-562E-F295-243ACA209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34319944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095B-CBBF-28A8-4ECB-2036D2BA3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C319EB6-D050-8DBB-4112-2E3F1B093E1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2BC0D67-2425-4D0E-3776-899C928CB41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5C8F3993-2355-171A-9FBE-F8EA50A5C35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A3C174FD-251E-6617-96DC-59EDC4D1886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AC0E1E9-9630-1795-4D01-63EDE489C412}"/>
                  </a:ext>
                </a:extLst>
              </p:cNvPr>
              <p:cNvSpPr/>
              <p:nvPr/>
            </p:nvSpPr>
            <p:spPr>
              <a:xfrm>
                <a:off x="5321656" y="1210777"/>
                <a:ext cx="3617103" cy="4906153"/>
              </a:xfrm>
              <a:prstGeom prst="rect">
                <a:avLst/>
              </a:prstGeom>
              <a:noFill/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Protocole</a:t>
                </a:r>
              </a:p>
              <a:p>
                <a:endParaRPr lang="fr-FR" sz="1600" b="1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Objectif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Déterminer l’impédance du micro en fonction de la fréquence</a:t>
                </a: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Méthode 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Pont diviseur de tension : </a:t>
                </a:r>
                <a14:m>
                  <m:oMath xmlns:m="http://schemas.openxmlformats.org/officeDocument/2006/math"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den>
                    </m:f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𝐺𝐵𝐹</m:t>
                        </m:r>
                      </m:sub>
                    </m:sSub>
                  </m:oMath>
                </a14:m>
                <a:endParaRPr lang="fr-FR" sz="1600" i="1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endParaRPr lang="fr-FR" sz="16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endParaRPr lang="fr-FR" sz="16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endParaRPr lang="fr-FR" sz="16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endParaRPr lang="fr-FR" sz="16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endParaRPr lang="fr-FR" sz="16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endParaRPr lang="fr-FR" sz="16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endParaRPr lang="fr-FR" sz="160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 = </m:t>
                      </m:r>
                      <m:r>
                        <m:rPr>
                          <m:sty m:val="p"/>
                        </m:rP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GBF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</m:den>
                      </m:f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−1)</m:t>
                      </m:r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0" i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 </a:t>
                </a:r>
              </a:p>
              <a:p>
                <a:endParaRPr lang="fr-FR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AC0E1E9-9630-1795-4D01-63EDE489C41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1656" y="1210777"/>
                <a:ext cx="3617103" cy="4906153"/>
              </a:xfrm>
              <a:prstGeom prst="rect">
                <a:avLst/>
              </a:prstGeom>
              <a:blipFill>
                <a:blip r:embed="rId2"/>
                <a:stretch>
                  <a:fillRect l="-501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00ABA615-8D40-69B1-317C-00A345AF13E9}"/>
              </a:ext>
            </a:extLst>
          </p:cNvPr>
          <p:cNvGrpSpPr/>
          <p:nvPr/>
        </p:nvGrpSpPr>
        <p:grpSpPr>
          <a:xfrm>
            <a:off x="5699430" y="3429000"/>
            <a:ext cx="2861554" cy="1929984"/>
            <a:chOff x="2104420" y="1905000"/>
            <a:chExt cx="4277322" cy="33627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B6BB29C-4C7A-C471-B9C0-8AB1B56F5D9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biLevel thresh="50000"/>
            </a:blip>
            <a:stretch>
              <a:fillRect/>
            </a:stretch>
          </p:blipFill>
          <p:spPr>
            <a:xfrm>
              <a:off x="2104420" y="1905000"/>
              <a:ext cx="4277322" cy="3362794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806F93D-7797-CC53-D4A9-199C192B191A}"/>
                </a:ext>
              </a:extLst>
            </p:cNvPr>
            <p:cNvSpPr/>
            <p:nvPr/>
          </p:nvSpPr>
          <p:spPr>
            <a:xfrm>
              <a:off x="3916553" y="4642606"/>
              <a:ext cx="849818" cy="38062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326CE66-0479-6172-EAA5-302AF3EEB546}"/>
                </a:ext>
              </a:extLst>
            </p:cNvPr>
            <p:cNvSpPr txBox="1"/>
            <p:nvPr/>
          </p:nvSpPr>
          <p:spPr>
            <a:xfrm>
              <a:off x="3756771" y="4309385"/>
              <a:ext cx="1169381" cy="4290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>
                  <a:latin typeface="Arial Black" panose="020B0A04020102020204" pitchFamily="34" charset="0"/>
                </a:rPr>
                <a:t>MICRO</a:t>
              </a:r>
              <a:endParaRPr lang="fr-FR" sz="1050" dirty="0">
                <a:latin typeface="Arial Black" panose="020B0A04020102020204" pitchFamily="34" charset="0"/>
              </a:endParaRPr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52AEC967-8D24-240D-CD5A-34AE81CE6951}"/>
                </a:ext>
              </a:extLst>
            </p:cNvPr>
            <p:cNvSpPr/>
            <p:nvPr/>
          </p:nvSpPr>
          <p:spPr>
            <a:xfrm>
              <a:off x="2971013" y="2256020"/>
              <a:ext cx="374754" cy="134911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5FCE015-0DE4-4491-5078-0E8C4E18ACBD}"/>
                </a:ext>
              </a:extLst>
            </p:cNvPr>
            <p:cNvCxnSpPr>
              <a:cxnSpLocks/>
              <a:endCxn id="21" idx="3"/>
            </p:cNvCxnSpPr>
            <p:nvPr/>
          </p:nvCxnSpPr>
          <p:spPr>
            <a:xfrm flipV="1">
              <a:off x="3158390" y="2390931"/>
              <a:ext cx="0" cy="16748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A3A675C6-213A-E88E-59F1-7172A68963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9" b="79"/>
          <a:stretch/>
        </p:blipFill>
        <p:spPr>
          <a:xfrm>
            <a:off x="281944" y="1210777"/>
            <a:ext cx="4913871" cy="4906153"/>
          </a:xfrm>
          <a:prstGeom prst="rect">
            <a:avLst/>
          </a:prstGeom>
          <a:effectLst>
            <a:softEdge rad="31750"/>
          </a:effectLst>
        </p:spPr>
      </p:pic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56465D4B-F265-C435-89C6-9EE669732A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723164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CADA8AD9-A980-D884-9F53-A96F804F319D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C1FCDA5-B890-01D2-182A-1078351C6549}"/>
              </a:ext>
            </a:extLst>
          </p:cNvPr>
          <p:cNvCxnSpPr>
            <a:cxnSpLocks/>
          </p:cNvCxnSpPr>
          <p:nvPr/>
        </p:nvCxnSpPr>
        <p:spPr>
          <a:xfrm>
            <a:off x="7812038" y="4178695"/>
            <a:ext cx="0" cy="460905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7951B3F-B71F-04C5-033D-571EB537A86C}"/>
              </a:ext>
            </a:extLst>
          </p:cNvPr>
          <p:cNvCxnSpPr>
            <a:cxnSpLocks/>
          </p:cNvCxnSpPr>
          <p:nvPr/>
        </p:nvCxnSpPr>
        <p:spPr>
          <a:xfrm>
            <a:off x="6689384" y="4178695"/>
            <a:ext cx="0" cy="497078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C6A192F-C9E6-3913-92C8-47D4FEEEB3D1}"/>
                  </a:ext>
                </a:extLst>
              </p:cNvPr>
              <p:cNvSpPr txBox="1"/>
              <p:nvPr/>
            </p:nvSpPr>
            <p:spPr>
              <a:xfrm>
                <a:off x="6726162" y="4296629"/>
                <a:ext cx="37119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38903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38903A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38903A"/>
                              </a:solidFill>
                              <a:latin typeface="Cambria Math" panose="02040503050406030204" pitchFamily="18" charset="0"/>
                            </a:rPr>
                            <m:t>𝐺𝐵𝐹</m:t>
                          </m:r>
                        </m:sub>
                      </m:sSub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C6A192F-C9E6-3913-92C8-47D4FEEEB3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6162" y="4296629"/>
                <a:ext cx="371192" cy="184666"/>
              </a:xfrm>
              <a:prstGeom prst="rect">
                <a:avLst/>
              </a:prstGeom>
              <a:blipFill>
                <a:blip r:embed="rId6"/>
                <a:stretch>
                  <a:fillRect l="-8197" b="-1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3535FFE-8824-B77E-5FAB-A54BB03B2785}"/>
                  </a:ext>
                </a:extLst>
              </p:cNvPr>
              <p:cNvSpPr txBox="1"/>
              <p:nvPr/>
            </p:nvSpPr>
            <p:spPr>
              <a:xfrm>
                <a:off x="7599570" y="4305720"/>
                <a:ext cx="15209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3535FFE-8824-B77E-5FAB-A54BB03B27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9570" y="4305720"/>
                <a:ext cx="152093" cy="184666"/>
              </a:xfrm>
              <a:prstGeom prst="rect">
                <a:avLst/>
              </a:prstGeom>
              <a:blipFill>
                <a:blip r:embed="rId7"/>
                <a:stretch>
                  <a:fillRect l="-20000" r="-20000" b="-645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6DA4ED38-3F05-55E4-ED59-58ECFFBA2298}"/>
              </a:ext>
            </a:extLst>
          </p:cNvPr>
          <p:cNvSpPr/>
          <p:nvPr/>
        </p:nvSpPr>
        <p:spPr>
          <a:xfrm>
            <a:off x="2006462" y="5800737"/>
            <a:ext cx="1224992" cy="232854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Humbucker //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D5C2715-4E42-FA5B-654D-9747CF5FD4F0}"/>
              </a:ext>
            </a:extLst>
          </p:cNvPr>
          <p:cNvSpPr/>
          <p:nvPr/>
        </p:nvSpPr>
        <p:spPr>
          <a:xfrm>
            <a:off x="841383" y="5804713"/>
            <a:ext cx="1105167" cy="236830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SingleCoil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468A20-34D5-A069-9DC5-CF87DA8D02B4}"/>
              </a:ext>
            </a:extLst>
          </p:cNvPr>
          <p:cNvSpPr/>
          <p:nvPr/>
        </p:nvSpPr>
        <p:spPr>
          <a:xfrm>
            <a:off x="3291367" y="5800737"/>
            <a:ext cx="1224992" cy="232854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Humbucker --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E34C252-6974-3EF4-899D-0952F1FCADB1}"/>
              </a:ext>
            </a:extLst>
          </p:cNvPr>
          <p:cNvSpPr/>
          <p:nvPr/>
        </p:nvSpPr>
        <p:spPr>
          <a:xfrm>
            <a:off x="575968" y="2158154"/>
            <a:ext cx="530829" cy="254009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latin typeface="Arial Black" panose="020B0A04020102020204" pitchFamily="34" charset="0"/>
              </a:rPr>
              <a:t>GBF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502883-4ADD-59E9-EC8D-076BAF9CDD5F}"/>
              </a:ext>
            </a:extLst>
          </p:cNvPr>
          <p:cNvSpPr/>
          <p:nvPr/>
        </p:nvSpPr>
        <p:spPr>
          <a:xfrm>
            <a:off x="4607931" y="3301006"/>
            <a:ext cx="563985" cy="224750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dirty="0">
                <a:latin typeface="Arial Black" panose="020B0A04020102020204" pitchFamily="34" charset="0"/>
              </a:rPr>
              <a:t>R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C797E74-7A34-2C69-3753-AF7FFB05A8D0}"/>
              </a:ext>
            </a:extLst>
          </p:cNvPr>
          <p:cNvCxnSpPr>
            <a:cxnSpLocks/>
          </p:cNvCxnSpPr>
          <p:nvPr/>
        </p:nvCxnSpPr>
        <p:spPr>
          <a:xfrm>
            <a:off x="822960" y="5179695"/>
            <a:ext cx="4328160" cy="38928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729FC77F-1088-9609-75BE-F71B0ABBF560}"/>
              </a:ext>
            </a:extLst>
          </p:cNvPr>
          <p:cNvSpPr/>
          <p:nvPr/>
        </p:nvSpPr>
        <p:spPr>
          <a:xfrm>
            <a:off x="3198993" y="1583055"/>
            <a:ext cx="1373007" cy="232506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latin typeface="Arial Black" panose="020B0A04020102020204" pitchFamily="34" charset="0"/>
              </a:rPr>
              <a:t>Oscilloscope</a:t>
            </a:r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A94EEE7-A6D4-9C12-C17D-3011F3620DB2}"/>
              </a:ext>
            </a:extLst>
          </p:cNvPr>
          <p:cNvCxnSpPr>
            <a:cxnSpLocks/>
            <a:stCxn id="27" idx="1"/>
          </p:cNvCxnSpPr>
          <p:nvPr/>
        </p:nvCxnSpPr>
        <p:spPr>
          <a:xfrm rot="10800000" flipV="1">
            <a:off x="2882265" y="1699307"/>
            <a:ext cx="316728" cy="173305"/>
          </a:xfrm>
          <a:prstGeom prst="bentConnector3">
            <a:avLst>
              <a:gd name="adj1" fmla="val 101124"/>
            </a:avLst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2894128-1CD2-68C3-51EA-677C374DD7BE}"/>
              </a:ext>
            </a:extLst>
          </p:cNvPr>
          <p:cNvCxnSpPr>
            <a:cxnSpLocks/>
            <a:stCxn id="18" idx="3"/>
          </p:cNvCxnSpPr>
          <p:nvPr/>
        </p:nvCxnSpPr>
        <p:spPr>
          <a:xfrm>
            <a:off x="1106797" y="2285159"/>
            <a:ext cx="287169" cy="174622"/>
          </a:xfrm>
          <a:prstGeom prst="bentConnector3">
            <a:avLst>
              <a:gd name="adj1" fmla="val 99753"/>
            </a:avLst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BCD795CE-C17B-8143-0B6D-604D6D299D4D}"/>
              </a:ext>
            </a:extLst>
          </p:cNvPr>
          <p:cNvCxnSpPr>
            <a:cxnSpLocks/>
            <a:stCxn id="19" idx="2"/>
          </p:cNvCxnSpPr>
          <p:nvPr/>
        </p:nvCxnSpPr>
        <p:spPr>
          <a:xfrm rot="5400000">
            <a:off x="4407269" y="3273293"/>
            <a:ext cx="230192" cy="735119"/>
          </a:xfrm>
          <a:prstGeom prst="bentConnector2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D5F1AED8-A973-35EC-9070-69EC4F8AA8D1}"/>
              </a:ext>
            </a:extLst>
          </p:cNvPr>
          <p:cNvCxnSpPr>
            <a:cxnSpLocks/>
            <a:stCxn id="17" idx="0"/>
          </p:cNvCxnSpPr>
          <p:nvPr/>
        </p:nvCxnSpPr>
        <p:spPr>
          <a:xfrm rot="16200000" flipV="1">
            <a:off x="3516262" y="5413135"/>
            <a:ext cx="379038" cy="396165"/>
          </a:xfrm>
          <a:prstGeom prst="bentConnector2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DB1771D3-1A92-AE3F-8642-44D9E34AD6E5}"/>
              </a:ext>
            </a:extLst>
          </p:cNvPr>
          <p:cNvCxnSpPr>
            <a:cxnSpLocks/>
            <a:stCxn id="12" idx="0"/>
          </p:cNvCxnSpPr>
          <p:nvPr/>
        </p:nvCxnSpPr>
        <p:spPr>
          <a:xfrm rot="5400000" flipH="1" flipV="1">
            <a:off x="1453373" y="5377465"/>
            <a:ext cx="367843" cy="486654"/>
          </a:xfrm>
          <a:prstGeom prst="bentConnector2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C431C73B-4CC1-0252-E2C1-697332D8B31E}"/>
              </a:ext>
            </a:extLst>
          </p:cNvPr>
          <p:cNvCxnSpPr>
            <a:cxnSpLocks/>
          </p:cNvCxnSpPr>
          <p:nvPr/>
        </p:nvCxnSpPr>
        <p:spPr>
          <a:xfrm flipV="1">
            <a:off x="2613213" y="5613400"/>
            <a:ext cx="0" cy="187337"/>
          </a:xfrm>
          <a:prstGeom prst="straightConnector1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0A638B-D00C-84A5-7F3F-9DEF548B3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7EE031-77FD-6F23-06E2-AF073EBDA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11</a:t>
            </a:fld>
            <a:endParaRPr lang="fr-FR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4FF317D-0E3D-2149-FF14-7FB5BF57A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1808984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018B5-54AA-3079-566C-736CFE787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5CE00B-FC79-81FF-86A6-285CABA510BD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9DDD954-4CB1-5C4D-D33E-CFAF6AFEA11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/>
              <p:nvPr/>
            </p:nvSpPr>
            <p:spPr>
              <a:xfrm>
                <a:off x="5467122" y="1035070"/>
                <a:ext cx="3499013" cy="2283357"/>
              </a:xfrm>
              <a:prstGeom prst="rect">
                <a:avLst/>
              </a:prstGeom>
              <a:ln w="38100">
                <a:solidFill>
                  <a:srgbClr val="4A66AC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Méthode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u="sng" dirty="0">
                    <a:solidFill>
                      <a:schemeClr val="tx1"/>
                    </a:solidFill>
                  </a:rPr>
                  <a:t>Déterminer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u="sng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u="sng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u="sng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fr-FR" sz="1400" b="1" u="sng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Observer la résistance en CC avec un Ohmmètre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u="sng" dirty="0">
                    <a:solidFill>
                      <a:schemeClr val="tx1"/>
                    </a:solidFill>
                  </a:rPr>
                  <a:t>Determiner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u="sng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fr-FR" sz="1400" b="1" u="sng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u="sng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sz="1400" b="1" u="sng" dirty="0">
                    <a:solidFill>
                      <a:schemeClr val="tx1"/>
                    </a:solidFill>
                  </a:rPr>
                  <a:t>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u="sng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u="sng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u="sng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fr-FR" sz="1400" b="1" u="sng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Approximation numérique via un algorithme d’optimisation numérique basé sur les </a:t>
                </a:r>
                <a:r>
                  <a:rPr lang="fr-FR" sz="1400" b="1" dirty="0">
                    <a:solidFill>
                      <a:schemeClr val="tx1"/>
                    </a:solidFill>
                  </a:rPr>
                  <a:t>moindres carrés.</a:t>
                </a:r>
                <a:endParaRPr lang="fr-FR" sz="1400" u="sng" dirty="0"/>
              </a:p>
            </p:txBody>
          </p:sp>
        </mc:Choice>
        <mc:Fallback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7122" y="1035070"/>
                <a:ext cx="3499013" cy="2283357"/>
              </a:xfrm>
              <a:prstGeom prst="rect">
                <a:avLst/>
              </a:prstGeom>
              <a:blipFill>
                <a:blip r:embed="rId3"/>
                <a:stretch>
                  <a:fillRect r="-345" b="-263"/>
                </a:stretch>
              </a:blipFill>
              <a:ln w="38100">
                <a:solidFill>
                  <a:srgbClr val="4A66AC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AA0507F6-1CAF-6D7E-A062-151372E24A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6176" y="1035070"/>
            <a:ext cx="5009745" cy="4090879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631B521F-AFDC-D9C5-028E-C5CB3D8FDF4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794F355-A446-D356-7486-C332C08027A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8D546518-E475-76BF-FDD7-AAAC59D808E5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3CF6CC7-C2A9-D2EB-0FC4-A98DAEFFDC33}"/>
              </a:ext>
            </a:extLst>
          </p:cNvPr>
          <p:cNvSpPr/>
          <p:nvPr/>
        </p:nvSpPr>
        <p:spPr>
          <a:xfrm>
            <a:off x="5467124" y="3437083"/>
            <a:ext cx="3499012" cy="2815095"/>
          </a:xfrm>
          <a:prstGeom prst="rect">
            <a:avLst/>
          </a:prstGeom>
          <a:ln w="38100">
            <a:noFill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Mesures</a:t>
            </a:r>
            <a:endParaRPr lang="fr-FR" sz="1400" b="1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DB194F1-0075-78A8-D900-8165D3AE9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6111403"/>
              </p:ext>
            </p:extLst>
          </p:nvPr>
        </p:nvGraphicFramePr>
        <p:xfrm>
          <a:off x="5566510" y="3818066"/>
          <a:ext cx="3323180" cy="2335395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830795">
                  <a:extLst>
                    <a:ext uri="{9D8B030D-6E8A-4147-A177-3AD203B41FA5}">
                      <a16:colId xmlns:a16="http://schemas.microsoft.com/office/drawing/2014/main" val="887859225"/>
                    </a:ext>
                  </a:extLst>
                </a:gridCol>
                <a:gridCol w="830795">
                  <a:extLst>
                    <a:ext uri="{9D8B030D-6E8A-4147-A177-3AD203B41FA5}">
                      <a16:colId xmlns:a16="http://schemas.microsoft.com/office/drawing/2014/main" val="2798946589"/>
                    </a:ext>
                  </a:extLst>
                </a:gridCol>
                <a:gridCol w="830795">
                  <a:extLst>
                    <a:ext uri="{9D8B030D-6E8A-4147-A177-3AD203B41FA5}">
                      <a16:colId xmlns:a16="http://schemas.microsoft.com/office/drawing/2014/main" val="3812795422"/>
                    </a:ext>
                  </a:extLst>
                </a:gridCol>
                <a:gridCol w="830795">
                  <a:extLst>
                    <a:ext uri="{9D8B030D-6E8A-4147-A177-3AD203B41FA5}">
                      <a16:colId xmlns:a16="http://schemas.microsoft.com/office/drawing/2014/main" val="3496875843"/>
                    </a:ext>
                  </a:extLst>
                </a:gridCol>
              </a:tblGrid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9147041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5,26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4,52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15,10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385096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2,43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1,77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4,71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4796117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2633905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499,6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351,1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i="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1069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942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/>
              <p:nvPr/>
            </p:nvSpPr>
            <p:spPr>
              <a:xfrm>
                <a:off x="5583832" y="4352383"/>
                <a:ext cx="797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4352383"/>
                <a:ext cx="797654" cy="276999"/>
              </a:xfrm>
              <a:prstGeom prst="rect">
                <a:avLst/>
              </a:prstGeom>
              <a:blipFill>
                <a:blip r:embed="rId6"/>
                <a:stretch>
                  <a:fillRect l="-6107" t="-2222" r="-9924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/>
              <p:nvPr/>
            </p:nvSpPr>
            <p:spPr>
              <a:xfrm>
                <a:off x="5583832" y="4848950"/>
                <a:ext cx="5578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4848950"/>
                <a:ext cx="557845" cy="276999"/>
              </a:xfrm>
              <a:prstGeom prst="rect">
                <a:avLst/>
              </a:prstGeom>
              <a:blipFill>
                <a:blip r:embed="rId7"/>
                <a:stretch>
                  <a:fillRect l="-8791" r="-14286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/>
              <p:nvPr/>
            </p:nvSpPr>
            <p:spPr>
              <a:xfrm>
                <a:off x="5583832" y="5292326"/>
                <a:ext cx="6572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pF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5292326"/>
                <a:ext cx="657231" cy="276999"/>
              </a:xfrm>
              <a:prstGeom prst="rect">
                <a:avLst/>
              </a:prstGeom>
              <a:blipFill>
                <a:blip r:embed="rId8"/>
                <a:stretch>
                  <a:fillRect l="-7407" r="-11111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/>
              <p:nvPr/>
            </p:nvSpPr>
            <p:spPr>
              <a:xfrm>
                <a:off x="5583832" y="5766140"/>
                <a:ext cx="821700" cy="3016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2" y="5766140"/>
                <a:ext cx="821700" cy="301686"/>
              </a:xfrm>
              <a:prstGeom prst="rect">
                <a:avLst/>
              </a:prstGeom>
              <a:blipFill>
                <a:blip r:embed="rId9"/>
                <a:stretch>
                  <a:fillRect l="-5926" t="-2041" r="-9630" b="-2857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4EAD3AE-C225-14EF-269F-5B5AE150E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6545223" y="3805438"/>
            <a:ext cx="568459" cy="468000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>
            <a:extLst>
              <a:ext uri="{FF2B5EF4-FFF2-40B4-BE49-F238E27FC236}">
                <a16:creationId xmlns:a16="http://schemas.microsoft.com/office/drawing/2014/main" id="{605931B4-D82E-5BAF-958F-6B5A64B607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7375954" y="3809801"/>
            <a:ext cx="582811" cy="4680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53AA4B7E-24CD-8B97-FE91-5DC5ED0AA7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1458519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36" name="TextBox 35">
            <a:extLst>
              <a:ext uri="{FF2B5EF4-FFF2-40B4-BE49-F238E27FC236}">
                <a16:creationId xmlns:a16="http://schemas.microsoft.com/office/drawing/2014/main" id="{E2EEDFEB-AFAA-C6BE-4F6C-51B78A0870E6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4AE11E-94DD-BEBA-B1D0-26ABBE2E489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7734" b="94964" l="9577" r="89978">
                        <a14:foregroundMark x1="58463" y1="9353" x2="66036" y2="7014"/>
                        <a14:foregroundMark x1="66036" y1="7014" x2="71715" y2="7734"/>
                        <a14:foregroundMark x1="71715" y1="7734" x2="62695" y2="8813"/>
                        <a14:foregroundMark x1="74833" y1="40827" x2="76503" y2="42446"/>
                        <a14:foregroundMark x1="64143" y1="47302" x2="64143" y2="47302"/>
                        <a14:foregroundMark x1="55457" y1="52698" x2="55457" y2="52698"/>
                        <a14:foregroundMark x1="45323" y1="59532" x2="45323" y2="59532"/>
                        <a14:foregroundMark x1="34187" y1="65108" x2="34187" y2="65108"/>
                        <a14:foregroundMark x1="22717" y1="70324" x2="22717" y2="70324"/>
                        <a14:foregroundMark x1="9688" y1="69604" x2="10802" y2="81475"/>
                        <a14:foregroundMark x1="10802" y1="81475" x2="13252" y2="82914"/>
                        <a14:foregroundMark x1="21604" y1="90468" x2="30178" y2="86511"/>
                        <a14:foregroundMark x1="22829" y1="94964" x2="22829" y2="94964"/>
                        <a14:foregroundMark x1="73942" y1="43165" x2="73942" y2="43165"/>
                      </a14:backgroundRemoval>
                    </a14:imgEffect>
                  </a14:imgLayer>
                </a14:imgProps>
              </a:ext>
            </a:extLst>
          </a:blip>
          <a:srcRect l="6039" t="3464" r="11427" b="863"/>
          <a:stretch>
            <a:fillRect/>
          </a:stretch>
        </p:blipFill>
        <p:spPr>
          <a:xfrm>
            <a:off x="8191781" y="3818066"/>
            <a:ext cx="601890" cy="432000"/>
          </a:xfrm>
          <a:prstGeom prst="rect">
            <a:avLst/>
          </a:prstGeom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BBCE65E-32DD-5E3F-FB43-54F4439767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4" y="483864"/>
            <a:ext cx="506135" cy="50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2F54AAF-1F00-4A5D-972C-B8793ABDB31E}"/>
              </a:ext>
            </a:extLst>
          </p:cNvPr>
          <p:cNvSpPr txBox="1"/>
          <p:nvPr/>
        </p:nvSpPr>
        <p:spPr>
          <a:xfrm>
            <a:off x="326176" y="5185866"/>
            <a:ext cx="500974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Interprétation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2 bobinages </a:t>
            </a:r>
            <a:r>
              <a:rPr lang="fr-FR" dirty="0">
                <a:sym typeface="Wingdings" panose="05000000000000000000" pitchFamily="2" charset="2"/>
              </a:rPr>
              <a:t> Impédance plus élevée</a:t>
            </a: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Asymétrie de bobinage</a:t>
            </a:r>
          </a:p>
        </p:txBody>
      </p:sp>
      <p:pic>
        <p:nvPicPr>
          <p:cNvPr id="15" name="Graphic 14" descr="Checkmark with solid fill">
            <a:extLst>
              <a:ext uri="{FF2B5EF4-FFF2-40B4-BE49-F238E27FC236}">
                <a16:creationId xmlns:a16="http://schemas.microsoft.com/office/drawing/2014/main" id="{6204F57F-45A3-24F7-32B6-4E0969C18E1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03625" y="5472770"/>
            <a:ext cx="249848" cy="252000"/>
          </a:xfrm>
          <a:prstGeom prst="rect">
            <a:avLst/>
          </a:prstGeom>
        </p:spPr>
      </p:pic>
      <p:pic>
        <p:nvPicPr>
          <p:cNvPr id="17" name="Graphic 16" descr="Close with solid fill">
            <a:extLst>
              <a:ext uri="{FF2B5EF4-FFF2-40B4-BE49-F238E27FC236}">
                <a16:creationId xmlns:a16="http://schemas.microsoft.com/office/drawing/2014/main" id="{2E988774-876E-FEBA-5D3B-E86B1CBD1AD3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81137" y="5790983"/>
            <a:ext cx="249848" cy="252000"/>
          </a:xfrm>
          <a:prstGeom prst="rect">
            <a:avLst/>
          </a:prstGeom>
        </p:spPr>
      </p:pic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D0EFF090-BF0A-0471-2711-EC67DE0CE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E7EF7E69-2F0C-02F0-76C1-D4D39DDC0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12</a:t>
            </a:fld>
            <a:endParaRPr lang="fr-FR"/>
          </a:p>
        </p:txBody>
      </p:sp>
      <p:sp>
        <p:nvSpPr>
          <p:cNvPr id="25" name="Footer Placeholder 24">
            <a:extLst>
              <a:ext uri="{FF2B5EF4-FFF2-40B4-BE49-F238E27FC236}">
                <a16:creationId xmlns:a16="http://schemas.microsoft.com/office/drawing/2014/main" id="{A2C3CE1E-2176-A2FA-66DD-2825EA602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312338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E2422-0593-98CE-0BC1-D9A0BE050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A3D31D4-FFA1-BFF2-889B-9A83090A38E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14C417-DC8B-4AF3-19BA-C40CB025B1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87" b="1585"/>
          <a:stretch>
            <a:fillRect/>
          </a:stretch>
        </p:blipFill>
        <p:spPr>
          <a:xfrm>
            <a:off x="927108" y="987864"/>
            <a:ext cx="7289783" cy="4320000"/>
          </a:xfrm>
          <a:prstGeom prst="rect">
            <a:avLst/>
          </a:prstGeom>
        </p:spPr>
      </p:pic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AC3C3F02-BE4B-C00D-8113-255A41FE1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4" y="483864"/>
            <a:ext cx="506135" cy="50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6E554F1-44BD-8B7F-91BB-367D7780CA1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7EA3527-CBE4-BB1E-8E8A-8B21A1F88B1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291E480-CEFE-D580-938C-FDAA725FDA6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Footer Placeholder 2">
              <a:extLst>
                <a:ext uri="{FF2B5EF4-FFF2-40B4-BE49-F238E27FC236}">
                  <a16:creationId xmlns:a16="http://schemas.microsoft.com/office/drawing/2014/main" id="{024BCF65-762C-3EB5-9AA3-CD664A82060E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9E9BC71-3A20-546E-95A4-02C1584F64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3488886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BB9F34FD-89CC-63DB-50E1-5A91FD67A29F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2999D8F-5B32-DA14-93D6-5EBB9D1420D7}"/>
                  </a:ext>
                </a:extLst>
              </p:cNvPr>
              <p:cNvSpPr txBox="1"/>
              <p:nvPr/>
            </p:nvSpPr>
            <p:spPr>
              <a:xfrm>
                <a:off x="2939425" y="5782347"/>
                <a:ext cx="1288892" cy="276999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2999D8F-5B32-DA14-93D6-5EBB9D1420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9425" y="5782347"/>
                <a:ext cx="1288892" cy="276999"/>
              </a:xfrm>
              <a:prstGeom prst="rect">
                <a:avLst/>
              </a:prstGeom>
              <a:blipFill>
                <a:blip r:embed="rId5"/>
                <a:stretch>
                  <a:fillRect r="-930" b="-31250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40F15115-6003-EC7E-DAC7-C2810368AF60}"/>
              </a:ext>
            </a:extLst>
          </p:cNvPr>
          <p:cNvSpPr txBox="1"/>
          <p:nvPr/>
        </p:nvSpPr>
        <p:spPr>
          <a:xfrm>
            <a:off x="326176" y="5185866"/>
            <a:ext cx="500974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Interprétation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Humbucker </a:t>
            </a:r>
            <a:r>
              <a:rPr lang="fr-FR" dirty="0">
                <a:sym typeface="Wingdings" panose="05000000000000000000" pitchFamily="2" charset="2"/>
              </a:rPr>
              <a:t> Gain plat  Son ‘’brut’’</a:t>
            </a:r>
            <a:endParaRPr lang="fr-F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En basse fréquence : 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37137A-2DF8-0791-F8A8-F30EA22E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47AE3D-E6A9-AC57-724E-BF308F603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13</a:t>
            </a:fld>
            <a:endParaRPr lang="fr-FR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78B1C69-CA78-8148-C0E7-1AAEB429E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24151950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30CE5C55-9AB2-04E9-BBA6-03FF3272A551}"/>
              </a:ext>
            </a:extLst>
          </p:cNvPr>
          <p:cNvGrpSpPr/>
          <p:nvPr/>
        </p:nvGrpSpPr>
        <p:grpSpPr>
          <a:xfrm>
            <a:off x="0" y="6395093"/>
            <a:ext cx="9144000" cy="479397"/>
            <a:chOff x="0" y="-4624"/>
            <a:chExt cx="9144000" cy="457200"/>
          </a:xfrm>
          <a:solidFill>
            <a:srgbClr val="629DD1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D27D75C-5344-E3EC-39F3-8D58FBA9B7EE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1" name="Footer Placeholder 2">
              <a:extLst>
                <a:ext uri="{FF2B5EF4-FFF2-40B4-BE49-F238E27FC236}">
                  <a16:creationId xmlns:a16="http://schemas.microsoft.com/office/drawing/2014/main" id="{16041891-CE0D-3879-5B8D-27146EDFEF3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2" name="Footer Placeholder 2">
            <a:extLst>
              <a:ext uri="{FF2B5EF4-FFF2-40B4-BE49-F238E27FC236}">
                <a16:creationId xmlns:a16="http://schemas.microsoft.com/office/drawing/2014/main" id="{76A4ECD2-33B5-D1E7-5EF4-C6DA96EA2F4F}"/>
              </a:ext>
            </a:extLst>
          </p:cNvPr>
          <p:cNvSpPr txBox="1">
            <a:spLocks/>
          </p:cNvSpPr>
          <p:nvPr/>
        </p:nvSpPr>
        <p:spPr>
          <a:xfrm>
            <a:off x="15096" y="6335178"/>
            <a:ext cx="9144000" cy="63096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2B4A86-A818-1533-4DB1-351711E7D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2400" dirty="0">
                <a:latin typeface="Arial Black" panose="020B0A04020102020204" pitchFamily="34" charset="0"/>
              </a:rPr>
              <a:t>THEORIE</a:t>
            </a:r>
            <a:endParaRPr lang="fr-FR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B5975782-C655-C957-C569-F74F73371E27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/>
            <p:txBody>
              <a:bodyPr/>
              <a:lstStyle/>
              <a:p>
                <a:r>
                  <a:rPr lang="fr-FR" b="1" u="sng" dirty="0">
                    <a:solidFill>
                      <a:schemeClr val="tx1"/>
                    </a:solidFill>
                  </a:rPr>
                  <a:t>Hypothèses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olidFill>
                      <a:schemeClr val="tx1"/>
                    </a:solidFill>
                  </a:rPr>
                  <a:t>Onde stationnaire dans le plan </a:t>
                </a:r>
                <a14:m>
                  <m:oMath xmlns:m="http://schemas.openxmlformats.org/officeDocument/2006/math"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olidFill>
                      <a:schemeClr val="tx1"/>
                    </a:solidFill>
                  </a:rPr>
                  <a:t>Micros ponctuels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olidFill>
                      <a:schemeClr val="tx1"/>
                    </a:solidFill>
                  </a:rPr>
                  <a:t>Induction mutuelle négligée</a:t>
                </a:r>
                <a:endParaRPr lang="fr-FR" b="1" u="sng" dirty="0">
                  <a:solidFill>
                    <a:schemeClr val="tx1"/>
                  </a:solidFill>
                </a:endParaRPr>
              </a:p>
              <a:p>
                <a:endParaRPr lang="fr-FR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B5975782-C655-C957-C569-F74F73371E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blipFill>
                <a:blip r:embed="rId2"/>
                <a:stretch>
                  <a:fillRect l="-1015" t="-90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DC8B4A-0584-4F8B-DFD9-05C2433FF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9F433-6621-249E-DB5A-ABAC0D5D7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>
                <a:solidFill>
                  <a:schemeClr val="bg1"/>
                </a:solidFill>
              </a:rPr>
              <a:t>14</a:t>
            </a:fld>
            <a:endParaRPr lang="fr-FR" dirty="0">
              <a:solidFill>
                <a:schemeClr val="bg1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135E5EA-5257-8009-CB80-E87EAA0C9BF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FD91D72-8DB8-2258-3BE8-FE34292F162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E0E53B9E-73CA-B9B1-6344-1D59FDAF1178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D07D917-3339-E3B7-477E-23D900F038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6615384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EF650D1-F3C1-F23F-294B-A4FA3D5759A8}"/>
                  </a:ext>
                </a:extLst>
              </p:cNvPr>
              <p:cNvSpPr txBox="1"/>
              <p:nvPr/>
            </p:nvSpPr>
            <p:spPr>
              <a:xfrm>
                <a:off x="3303791" y="2186203"/>
                <a:ext cx="5585897" cy="32099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600" dirty="0"/>
                  <a:t>L’équation d’onde de la corde est régie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𝑐𝑜𝑠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𝑛𝐹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600" dirty="0"/>
              </a:p>
              <a:p>
                <a:r>
                  <a:rPr lang="fr-FR" sz="1600" dirty="0"/>
                  <a:t>Or la corde est plongée dans le champ de l’aimant, elle crée donc un </a:t>
                </a:r>
                <a:r>
                  <a:rPr lang="fr-FR" sz="1600" b="1" dirty="0"/>
                  <a:t>champ induit </a:t>
                </a:r>
                <a:r>
                  <a:rPr lang="fr-FR" sz="16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e>
                      </m:acc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1600" i="1" dirty="0">
                  <a:latin typeface="+mj-lt"/>
                  <a:ea typeface="Cambria Math" panose="02040503050406030204" pitchFamily="18" charset="0"/>
                </a:endParaRPr>
              </a:p>
              <a:p>
                <a:endParaRPr lang="fr-FR" sz="600" i="1" dirty="0">
                  <a:latin typeface="+mj-lt"/>
                  <a:ea typeface="Cambria Math" panose="02040503050406030204" pitchFamily="18" charset="0"/>
                </a:endParaRPr>
              </a:p>
              <a:p>
                <a:r>
                  <a:rPr lang="fr-FR" sz="1600" dirty="0"/>
                  <a:t>Ainsi le flux à travers le micro est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𝛷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𝑉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1600" dirty="0"/>
              </a:p>
              <a:p>
                <a:endParaRPr lang="fr-FR" sz="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l-GR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𝛷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𝛷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EF650D1-F3C1-F23F-294B-A4FA3D5759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791" y="2186203"/>
                <a:ext cx="5585897" cy="3209981"/>
              </a:xfrm>
              <a:prstGeom prst="rect">
                <a:avLst/>
              </a:prstGeom>
              <a:blipFill>
                <a:blip r:embed="rId3"/>
                <a:stretch>
                  <a:fillRect l="-655" t="-119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2C11811-C13B-27C8-6B7E-F74894C60B61}"/>
                  </a:ext>
                </a:extLst>
              </p:cNvPr>
              <p:cNvSpPr txBox="1"/>
              <p:nvPr/>
            </p:nvSpPr>
            <p:spPr>
              <a:xfrm>
                <a:off x="3348084" y="5411562"/>
                <a:ext cx="5497310" cy="628698"/>
              </a:xfrm>
              <a:prstGeom prst="rect">
                <a:avLst/>
              </a:prstGeom>
              <a:noFill/>
              <a:ln w="12700"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4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sSub>
                                <m:sSubPr>
                                  <m:ctrlPr>
                                    <a:rPr lang="fr-FR" sz="140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d>
                                <m:dPr>
                                  <m:ctrlPr>
                                    <a:rPr lang="fr-FR" sz="140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40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</m:den>
                          </m:f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4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40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den>
                          </m:f>
                          <m:f>
                            <m:fPr>
                              <m:ctrlPr>
                                <a:rPr lang="fr-FR" sz="14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sz="140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den>
                          </m:f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nary>
                        <m:naryPr>
                          <m:chr m:val="∑"/>
                          <m:supHide m:val="on"/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400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400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400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400" b="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400" b="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400" b="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𝑛𝐹𝑡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fr-FR" sz="14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2C11811-C13B-27C8-6B7E-F74894C60B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8084" y="5411562"/>
                <a:ext cx="5497310" cy="6286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38251A6-C3EA-2C6F-4787-81CA4A4D8980}"/>
                  </a:ext>
                </a:extLst>
              </p:cNvPr>
              <p:cNvSpPr txBox="1"/>
              <p:nvPr/>
            </p:nvSpPr>
            <p:spPr>
              <a:xfrm>
                <a:off x="450772" y="5484254"/>
                <a:ext cx="1624559" cy="277127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1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1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1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r>
                            <a:rPr lang="fr-FR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𝑛𝐹</m:t>
                          </m:r>
                          <m:r>
                            <m:rPr>
                              <m:sty m:val="p"/>
                            </m:rPr>
                            <a:rPr lang="fr-FR" sz="11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  <m:r>
                        <m:rPr>
                          <m:nor/>
                        </m:rPr>
                        <a:rPr lang="fr-FR" sz="1100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sz="11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38251A6-C3EA-2C6F-4787-81CA4A4D89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772" y="5484254"/>
                <a:ext cx="1624559" cy="27712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8885D3A-AB9C-FDDE-C382-4D0F62B07516}"/>
                  </a:ext>
                </a:extLst>
              </p:cNvPr>
              <p:cNvSpPr txBox="1"/>
              <p:nvPr/>
            </p:nvSpPr>
            <p:spPr>
              <a:xfrm>
                <a:off x="449826" y="5830854"/>
                <a:ext cx="2374067" cy="276101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1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1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1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1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1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1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1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1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8885D3A-AB9C-FDDE-C382-4D0F62B07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826" y="5830854"/>
                <a:ext cx="2374067" cy="2761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FC0F3C1-7512-A531-7F2E-7C4620C32A04}"/>
                  </a:ext>
                </a:extLst>
              </p:cNvPr>
              <p:cNvSpPr txBox="1"/>
              <p:nvPr/>
            </p:nvSpPr>
            <p:spPr>
              <a:xfrm>
                <a:off x="450772" y="4937643"/>
                <a:ext cx="1993984" cy="47904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i="1"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1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1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1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1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FC0F3C1-7512-A531-7F2E-7C4620C32A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772" y="4937643"/>
                <a:ext cx="1993984" cy="47904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>
            <a:extLst>
              <a:ext uri="{FF2B5EF4-FFF2-40B4-BE49-F238E27FC236}">
                <a16:creationId xmlns:a16="http://schemas.microsoft.com/office/drawing/2014/main" id="{8C61F48C-FA28-1913-951F-BD02399BE3A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8084" y="576941"/>
            <a:ext cx="5497310" cy="154775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FB02EB5-601B-5D4F-F670-F963712B9DCC}"/>
              </a:ext>
            </a:extLst>
          </p:cNvPr>
          <p:cNvSpPr txBox="1"/>
          <p:nvPr/>
        </p:nvSpPr>
        <p:spPr>
          <a:xfrm>
            <a:off x="5747657" y="6071016"/>
            <a:ext cx="34557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[6] </a:t>
            </a:r>
            <a:r>
              <a:rPr lang="en-GB" sz="1100" dirty="0"/>
              <a:t>B. </a:t>
            </a:r>
            <a:r>
              <a:rPr lang="en-GB" sz="1100" dirty="0" err="1"/>
              <a:t>d’Andréa</a:t>
            </a:r>
            <a:r>
              <a:rPr lang="en-GB" sz="1100" dirty="0"/>
              <a:t>-Novel, Presse des Mines</a:t>
            </a:r>
            <a:endParaRPr lang="fr-FR" sz="110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0C720B-33DC-E8F2-3DE4-BF11DF6687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7422950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5DC96-7D6B-022A-BC8C-33392430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8BD061B-D33F-5C6C-7159-62D2EA49DA0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E49283F-B7C2-323C-E9F5-655766F58916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9B218E2D-41F2-8DB6-FF3F-307297FEA32F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9359E262-01D9-BF02-4695-E9718D933A6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Footer Placeholder 2">
            <a:extLst>
              <a:ext uri="{FF2B5EF4-FFF2-40B4-BE49-F238E27FC236}">
                <a16:creationId xmlns:a16="http://schemas.microsoft.com/office/drawing/2014/main" id="{6CEAFEBB-B7D7-A979-765E-DCADAB67C2C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8DF5559-6C9D-3A8E-C3E0-F4F5AC89DB3C}"/>
              </a:ext>
            </a:extLst>
          </p:cNvPr>
          <p:cNvGrpSpPr/>
          <p:nvPr/>
        </p:nvGrpSpPr>
        <p:grpSpPr>
          <a:xfrm>
            <a:off x="5362238" y="1143139"/>
            <a:ext cx="3452207" cy="4920381"/>
            <a:chOff x="6429026" y="1318510"/>
            <a:chExt cx="2513036" cy="37798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D1CDCC24-52FC-A6FC-AF35-DBBA86C51873}"/>
                    </a:ext>
                  </a:extLst>
                </p:cNvPr>
                <p:cNvSpPr/>
                <p:nvPr/>
              </p:nvSpPr>
              <p:spPr>
                <a:xfrm>
                  <a:off x="6457016" y="1318510"/>
                  <a:ext cx="2485046" cy="3779800"/>
                </a:xfrm>
                <a:prstGeom prst="rect">
                  <a:avLst/>
                </a:prstGeom>
                <a:ln w="38100">
                  <a:solidFill>
                    <a:schemeClr val="accent6"/>
                  </a:solidFill>
                </a:ln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fr-FR" sz="1600" b="1" dirty="0">
                      <a:solidFill>
                        <a:schemeClr val="tx1"/>
                      </a:solidFill>
                    </a:rPr>
                    <a:t>Protocole</a:t>
                  </a: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fr-FR" sz="1600" dirty="0">
                      <a:solidFill>
                        <a:schemeClr val="tx1"/>
                      </a:solidFill>
                    </a:rPr>
                    <a:t>Excitation de la corde ‘’à la main’’ à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fr-FR" sz="1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𝟑𝟎</m:t>
                      </m:r>
                    </m:oMath>
                  </a14:m>
                  <a:r>
                    <a:rPr lang="fr-FR" sz="1600" b="1" dirty="0">
                      <a:solidFill>
                        <a:schemeClr val="tx1"/>
                      </a:solidFill>
                    </a:rPr>
                    <a:t> cm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fr-FR" sz="1600" dirty="0">
                      <a:solidFill>
                        <a:schemeClr val="tx1"/>
                      </a:solidFill>
                    </a:rPr>
                    <a:t>Relevé de la tension aux bornes la résistance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𝑎𝑚𝑝</m:t>
                          </m:r>
                        </m:sub>
                      </m:sSub>
                    </m:oMath>
                  </a14:m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fr-FR" sz="1600" dirty="0">
                      <a:solidFill>
                        <a:schemeClr val="tx1"/>
                      </a:solidFill>
                    </a:rPr>
                    <a:t>Fréquence fondamentale: </a:t>
                  </a:r>
                  <a14:m>
                    <m:oMath xmlns:m="http://schemas.openxmlformats.org/officeDocument/2006/math"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𝟖𝟎</m:t>
                      </m:r>
                    </m:oMath>
                  </a14:m>
                  <a:r>
                    <a:rPr lang="fr-FR" sz="1600" b="1" dirty="0">
                      <a:solidFill>
                        <a:schemeClr val="tx1"/>
                      </a:solidFill>
                    </a:rPr>
                    <a:t> Hz </a:t>
                  </a:r>
                  <a:r>
                    <a:rPr lang="fr-FR" sz="1600" dirty="0">
                      <a:solidFill>
                        <a:schemeClr val="tx1"/>
                      </a:solidFill>
                      <a:sym typeface="Wingdings" panose="05000000000000000000" pitchFamily="2" charset="2"/>
                    </a:rPr>
                    <a:t> </a:t>
                  </a:r>
                  <a14:m>
                    <m:oMath xmlns:m="http://schemas.openxmlformats.org/officeDocument/2006/math"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𝑢</m:t>
                      </m:r>
                      <m:d>
                        <m:d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d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𝑡</m:t>
                          </m:r>
                        </m:e>
                      </m:d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=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𝑒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(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𝑡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)</m:t>
                      </m:r>
                    </m:oMath>
                  </a14:m>
                  <a:endParaRPr lang="fr-FR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D1CDCC24-52FC-A6FC-AF35-DBBA86C518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57016" y="1318510"/>
                  <a:ext cx="2485046" cy="3779800"/>
                </a:xfrm>
                <a:prstGeom prst="rect">
                  <a:avLst/>
                </a:prstGeom>
                <a:blipFill>
                  <a:blip r:embed="rId2"/>
                  <a:stretch>
                    <a:fillRect l="-177" r="-1237"/>
                  </a:stretch>
                </a:blipFill>
                <a:ln w="3810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A23E68A-A65C-A12E-753D-45B38F124E8F}"/>
                </a:ext>
              </a:extLst>
            </p:cNvPr>
            <p:cNvSpPr/>
            <p:nvPr/>
          </p:nvSpPr>
          <p:spPr>
            <a:xfrm rot="16200000">
              <a:off x="6269362" y="4195744"/>
              <a:ext cx="1312065" cy="4571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77392EF7-E69A-FBBE-FF61-674BDCF2226A}"/>
                </a:ext>
              </a:extLst>
            </p:cNvPr>
            <p:cNvGrpSpPr/>
            <p:nvPr/>
          </p:nvGrpSpPr>
          <p:grpSpPr>
            <a:xfrm>
              <a:off x="7114959" y="3562570"/>
              <a:ext cx="1800921" cy="1110504"/>
              <a:chOff x="7133777" y="3809995"/>
              <a:chExt cx="1683780" cy="761469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CAD72CAD-7612-3CF0-D4E3-C46A4DFF08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7989763" y="3876498"/>
                <a:ext cx="827794" cy="690115"/>
              </a:xfrm>
              <a:prstGeom prst="rect">
                <a:avLst/>
              </a:prstGeom>
            </p:spPr>
          </p:pic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52AD20C-FA20-6811-A6D9-40C43C57256C}"/>
                  </a:ext>
                </a:extLst>
              </p:cNvPr>
              <p:cNvSpPr/>
              <p:nvPr/>
            </p:nvSpPr>
            <p:spPr>
              <a:xfrm>
                <a:off x="7133777" y="3881349"/>
                <a:ext cx="179882" cy="690115"/>
              </a:xfrm>
              <a:prstGeom prst="rect">
                <a:avLst/>
              </a:prstGeom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14" name="Connector: Elbow 13">
                <a:extLst>
                  <a:ext uri="{FF2B5EF4-FFF2-40B4-BE49-F238E27FC236}">
                    <a16:creationId xmlns:a16="http://schemas.microsoft.com/office/drawing/2014/main" id="{BA47D6C8-36D4-44AD-CA04-1DB90FF0D34A}"/>
                  </a:ext>
                </a:extLst>
              </p:cNvPr>
              <p:cNvCxnSpPr>
                <a:cxnSpLocks/>
                <a:endCxn id="10" idx="2"/>
              </p:cNvCxnSpPr>
              <p:nvPr/>
            </p:nvCxnSpPr>
            <p:spPr>
              <a:xfrm rot="10800000" flipV="1">
                <a:off x="7223719" y="4453242"/>
                <a:ext cx="935397" cy="118221"/>
              </a:xfrm>
              <a:prstGeom prst="bentConnector4">
                <a:avLst>
                  <a:gd name="adj1" fmla="val 388"/>
                  <a:gd name="adj2" fmla="val 293367"/>
                </a:avLst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Connector: Elbow 19">
                <a:extLst>
                  <a:ext uri="{FF2B5EF4-FFF2-40B4-BE49-F238E27FC236}">
                    <a16:creationId xmlns:a16="http://schemas.microsoft.com/office/drawing/2014/main" id="{7D855CD3-8716-F3D8-180F-1F7F063076E1}"/>
                  </a:ext>
                </a:extLst>
              </p:cNvPr>
              <p:cNvCxnSpPr>
                <a:cxnSpLocks/>
                <a:endCxn id="10" idx="0"/>
              </p:cNvCxnSpPr>
              <p:nvPr/>
            </p:nvCxnSpPr>
            <p:spPr>
              <a:xfrm rot="10800000" flipV="1">
                <a:off x="7223718" y="3809995"/>
                <a:ext cx="925872" cy="71353"/>
              </a:xfrm>
              <a:prstGeom prst="bentConnector2">
                <a:avLst/>
              </a:prstGeom>
              <a:ln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800744D9-C28C-C8A8-7738-98A2945790F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49590" y="3810000"/>
                <a:ext cx="0" cy="185575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6ECB0DE-2F92-E777-710D-46FE392347D3}"/>
                  </a:ext>
                </a:extLst>
              </p:cNvPr>
              <p:cNvSpPr txBox="1"/>
              <p:nvPr/>
            </p:nvSpPr>
            <p:spPr>
              <a:xfrm>
                <a:off x="7215489" y="3860089"/>
                <a:ext cx="60743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100" b="1" dirty="0"/>
                  <a:t>Micro</a:t>
                </a:r>
                <a:endParaRPr lang="fr-FR" b="1" dirty="0"/>
              </a:p>
            </p:txBody>
          </p: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9AF6A25-32DF-F6FA-62E8-D619AC7C340C}"/>
                </a:ext>
              </a:extLst>
            </p:cNvPr>
            <p:cNvSpPr txBox="1"/>
            <p:nvPr/>
          </p:nvSpPr>
          <p:spPr>
            <a:xfrm>
              <a:off x="6429026" y="3345405"/>
              <a:ext cx="607436" cy="2364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400" b="1" dirty="0">
                  <a:latin typeface="Arial Black" panose="020B0A04020102020204" pitchFamily="34" charset="0"/>
                </a:rPr>
                <a:t>Corde</a:t>
              </a:r>
              <a:endParaRPr lang="fr-FR" sz="2400" b="1" dirty="0">
                <a:latin typeface="Arial Black" panose="020B0A04020102020204" pitchFamily="34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447045F-3CC6-9ECE-B003-4ABC5359256F}"/>
                </a:ext>
              </a:extLst>
            </p:cNvPr>
            <p:cNvCxnSpPr/>
            <p:nvPr/>
          </p:nvCxnSpPr>
          <p:spPr>
            <a:xfrm flipV="1">
              <a:off x="7388051" y="3926343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1FAE08B2-6F4F-B387-66ED-7ABA96619EA9}"/>
                    </a:ext>
                  </a:extLst>
                </p:cNvPr>
                <p:cNvSpPr txBox="1"/>
                <p:nvPr/>
              </p:nvSpPr>
              <p:spPr>
                <a:xfrm>
                  <a:off x="7392712" y="4017150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1FAE08B2-6F4F-B387-66ED-7ABA96619E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2712" y="4017150"/>
                  <a:ext cx="316562" cy="184666"/>
                </a:xfrm>
                <a:prstGeom prst="rect">
                  <a:avLst/>
                </a:prstGeom>
                <a:blipFill>
                  <a:blip r:embed="rId8"/>
                  <a:stretch>
                    <a:fillRect t="-3125" r="-4839" b="-3125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A05B622C-2AE6-B718-55A0-799064579779}"/>
                </a:ext>
              </a:extLst>
            </p:cNvPr>
            <p:cNvCxnSpPr/>
            <p:nvPr/>
          </p:nvCxnSpPr>
          <p:spPr>
            <a:xfrm flipV="1">
              <a:off x="8030496" y="3899852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879757A-F1CA-727B-3EAE-68CAA7284482}"/>
                    </a:ext>
                  </a:extLst>
                </p:cNvPr>
                <p:cNvSpPr txBox="1"/>
                <p:nvPr/>
              </p:nvSpPr>
              <p:spPr>
                <a:xfrm>
                  <a:off x="7727026" y="4220013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879757A-F1CA-727B-3EAE-68CAA7284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7026" y="4220013"/>
                  <a:ext cx="316562" cy="184666"/>
                </a:xfrm>
                <a:prstGeom prst="rect">
                  <a:avLst/>
                </a:prstGeom>
                <a:blipFill>
                  <a:blip r:embed="rId9"/>
                  <a:stretch>
                    <a:fillRect r="-6452" b="-3030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72D21AB-CEBC-E2AC-7001-EB1450AFE9C3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5607F5F5-C920-E8BE-F59C-FEDACBD8F753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5340835-A145-5373-DEB1-EFF2B2EE052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colorTemperature colorTemp="47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581" b="3828"/>
          <a:stretch>
            <a:fillRect/>
          </a:stretch>
        </p:blipFill>
        <p:spPr>
          <a:xfrm>
            <a:off x="281944" y="1128398"/>
            <a:ext cx="4913871" cy="4935123"/>
          </a:xfrm>
          <a:prstGeom prst="rect">
            <a:avLst/>
          </a:prstGeom>
          <a:effectLst>
            <a:softEdge rad="31750"/>
          </a:effec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C4625F1-930A-19C2-391C-C0CFF4AB4944}"/>
              </a:ext>
            </a:extLst>
          </p:cNvPr>
          <p:cNvSpPr/>
          <p:nvPr/>
        </p:nvSpPr>
        <p:spPr>
          <a:xfrm>
            <a:off x="1894037" y="5988112"/>
            <a:ext cx="1224992" cy="232854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Humbucker //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AD9445-BE9C-973C-C972-8AFE4B8EAE0E}"/>
              </a:ext>
            </a:extLst>
          </p:cNvPr>
          <p:cNvSpPr/>
          <p:nvPr/>
        </p:nvSpPr>
        <p:spPr>
          <a:xfrm>
            <a:off x="728958" y="5992088"/>
            <a:ext cx="1105167" cy="236830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SingleCoil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AC70B2-4DA2-8485-1575-BEAEC25927E8}"/>
              </a:ext>
            </a:extLst>
          </p:cNvPr>
          <p:cNvSpPr/>
          <p:nvPr/>
        </p:nvSpPr>
        <p:spPr>
          <a:xfrm>
            <a:off x="3178942" y="5988112"/>
            <a:ext cx="1224992" cy="232854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Humbucker --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9EA8B41-DBF9-4BAE-EC12-9787ED3EBFD4}"/>
              </a:ext>
            </a:extLst>
          </p:cNvPr>
          <p:cNvSpPr/>
          <p:nvPr/>
        </p:nvSpPr>
        <p:spPr>
          <a:xfrm>
            <a:off x="1099811" y="2332703"/>
            <a:ext cx="332845" cy="236830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A8C5315-833A-1227-2102-F393794B1434}"/>
              </a:ext>
            </a:extLst>
          </p:cNvPr>
          <p:cNvSpPr/>
          <p:nvPr/>
        </p:nvSpPr>
        <p:spPr>
          <a:xfrm>
            <a:off x="881348" y="1255662"/>
            <a:ext cx="1132831" cy="294614"/>
          </a:xfrm>
          <a:prstGeom prst="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Oscilloscope</a:t>
            </a: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8A10E743-00B2-81C7-931B-E99DB5826837}"/>
              </a:ext>
            </a:extLst>
          </p:cNvPr>
          <p:cNvCxnSpPr>
            <a:cxnSpLocks/>
          </p:cNvCxnSpPr>
          <p:nvPr/>
        </p:nvCxnSpPr>
        <p:spPr>
          <a:xfrm flipV="1">
            <a:off x="1447763" y="5732146"/>
            <a:ext cx="566415" cy="255966"/>
          </a:xfrm>
          <a:prstGeom prst="bentConnector3">
            <a:avLst>
              <a:gd name="adj1" fmla="val 3251"/>
            </a:avLst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5D0FAE8A-3688-F2A8-6B0A-E9E30236C8B8}"/>
              </a:ext>
            </a:extLst>
          </p:cNvPr>
          <p:cNvCxnSpPr>
            <a:cxnSpLocks/>
          </p:cNvCxnSpPr>
          <p:nvPr/>
        </p:nvCxnSpPr>
        <p:spPr>
          <a:xfrm rot="10800000">
            <a:off x="3178942" y="5775962"/>
            <a:ext cx="429129" cy="212151"/>
          </a:xfrm>
          <a:prstGeom prst="bentConnector3">
            <a:avLst>
              <a:gd name="adj1" fmla="val 4276"/>
            </a:avLst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32DA095-581E-E30B-B879-F49B0A2527DD}"/>
              </a:ext>
            </a:extLst>
          </p:cNvPr>
          <p:cNvCxnSpPr>
            <a:cxnSpLocks/>
          </p:cNvCxnSpPr>
          <p:nvPr/>
        </p:nvCxnSpPr>
        <p:spPr>
          <a:xfrm flipV="1">
            <a:off x="2506533" y="5892165"/>
            <a:ext cx="0" cy="90232"/>
          </a:xfrm>
          <a:prstGeom prst="straightConnector1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2BAC65E0-95E4-0252-3042-A8AE9170EA26}"/>
              </a:ext>
            </a:extLst>
          </p:cNvPr>
          <p:cNvCxnSpPr>
            <a:cxnSpLocks/>
            <a:stCxn id="12" idx="2"/>
          </p:cNvCxnSpPr>
          <p:nvPr/>
        </p:nvCxnSpPr>
        <p:spPr>
          <a:xfrm rot="16200000" flipH="1">
            <a:off x="1245336" y="2590430"/>
            <a:ext cx="425295" cy="383499"/>
          </a:xfrm>
          <a:prstGeom prst="bentConnector3">
            <a:avLst>
              <a:gd name="adj1" fmla="val 99720"/>
            </a:avLst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ACA56CDB-24E7-CD5E-78EB-1C02851331F6}"/>
              </a:ext>
            </a:extLst>
          </p:cNvPr>
          <p:cNvCxnSpPr>
            <a:cxnSpLocks/>
            <a:stCxn id="15" idx="2"/>
          </p:cNvCxnSpPr>
          <p:nvPr/>
        </p:nvCxnSpPr>
        <p:spPr>
          <a:xfrm rot="16200000" flipH="1">
            <a:off x="1676612" y="1321427"/>
            <a:ext cx="238820" cy="696517"/>
          </a:xfrm>
          <a:prstGeom prst="bentConnector2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8F56B911-BB28-4CBE-3881-6EC2093BF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B531C4F9-751B-C2CA-C0B5-D64F24A8A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15</a:t>
            </a:fld>
            <a:endParaRPr lang="fr-FR"/>
          </a:p>
        </p:txBody>
      </p:sp>
      <p:sp>
        <p:nvSpPr>
          <p:cNvPr id="22" name="Footer Placeholder 21">
            <a:extLst>
              <a:ext uri="{FF2B5EF4-FFF2-40B4-BE49-F238E27FC236}">
                <a16:creationId xmlns:a16="http://schemas.microsoft.com/office/drawing/2014/main" id="{982A5C74-26D9-E102-B27C-C61F193EC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25968350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035FA2-0849-EE37-8E55-ACA53FD9E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22868C4-DB3A-74AE-F5AF-3C9D3FF01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16</a:t>
            </a:fld>
            <a:endParaRPr lang="fr-FR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CCB08A6-75F3-C217-089B-94DA3EE536F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7A11090-9E47-E883-0F29-75609AC1E27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5A8CAB53-01B8-7DD4-BABD-161C3B42FE77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41275786-D732-C86E-A0A5-73007B97129D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14" name="Picture 13">
            <a:extLst>
              <a:ext uri="{FF2B5EF4-FFF2-40B4-BE49-F238E27FC236}">
                <a16:creationId xmlns:a16="http://schemas.microsoft.com/office/drawing/2014/main" id="{8917C206-7D8F-F87C-A464-C28158F2699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4188" y="1353832"/>
            <a:ext cx="3600000" cy="27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971E75F-9259-7FAA-45E5-54846152DA8A}"/>
              </a:ext>
            </a:extLst>
          </p:cNvPr>
          <p:cNvSpPr txBox="1"/>
          <p:nvPr/>
        </p:nvSpPr>
        <p:spPr>
          <a:xfrm>
            <a:off x="684188" y="4192323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14D5F30-39B8-D7CA-2411-76B79449E82F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68689D5-7739-1F04-4F60-D85D6E886DA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52555" y="1353832"/>
            <a:ext cx="3600000" cy="27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CAD8DFC-CCA3-143E-1C3A-755E2E49D659}"/>
              </a:ext>
            </a:extLst>
          </p:cNvPr>
          <p:cNvSpPr txBox="1"/>
          <p:nvPr/>
        </p:nvSpPr>
        <p:spPr>
          <a:xfrm>
            <a:off x="4852555" y="4192323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7FF45C3-90C5-9469-D8F3-C1850AE4F92C}"/>
              </a:ext>
            </a:extLst>
          </p:cNvPr>
          <p:cNvGrpSpPr/>
          <p:nvPr/>
        </p:nvGrpSpPr>
        <p:grpSpPr>
          <a:xfrm>
            <a:off x="517169" y="4995194"/>
            <a:ext cx="8372519" cy="923330"/>
            <a:chOff x="349675" y="2989072"/>
            <a:chExt cx="8444650" cy="92333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BABFBD4-0070-EF04-AA46-1FCDEC8DDE48}"/>
                </a:ext>
              </a:extLst>
            </p:cNvPr>
            <p:cNvSpPr txBox="1"/>
            <p:nvPr/>
          </p:nvSpPr>
          <p:spPr>
            <a:xfrm>
              <a:off x="349675" y="2989072"/>
              <a:ext cx="844465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u="sng" dirty="0"/>
                <a:t>Interprétation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Mode 1, 2 et 4 prépondérant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Peu d’écart entre théorie et expérimentation</a:t>
              </a:r>
            </a:p>
          </p:txBody>
        </p:sp>
        <p:pic>
          <p:nvPicPr>
            <p:cNvPr id="21" name="Graphic 20" descr="Checkmark with solid fill">
              <a:extLst>
                <a:ext uri="{FF2B5EF4-FFF2-40B4-BE49-F238E27FC236}">
                  <a16:creationId xmlns:a16="http://schemas.microsoft.com/office/drawing/2014/main" id="{84281898-53E7-A2C7-9D8C-471F478F63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30920" y="3279082"/>
              <a:ext cx="252000" cy="252000"/>
            </a:xfrm>
            <a:prstGeom prst="rect">
              <a:avLst/>
            </a:prstGeom>
          </p:spPr>
        </p:pic>
      </p:grpSp>
      <p:pic>
        <p:nvPicPr>
          <p:cNvPr id="23" name="Picture 2" descr="Python Logo PNG Transparent – Brands Logos">
            <a:extLst>
              <a:ext uri="{FF2B5EF4-FFF2-40B4-BE49-F238E27FC236}">
                <a16:creationId xmlns:a16="http://schemas.microsoft.com/office/drawing/2014/main" id="{4659EE4F-696D-8924-E0BA-E5B57DB90F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4" y="483864"/>
            <a:ext cx="506135" cy="50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Graphic 23" descr="Checkmark with solid fill">
            <a:extLst>
              <a:ext uri="{FF2B5EF4-FFF2-40B4-BE49-F238E27FC236}">
                <a16:creationId xmlns:a16="http://schemas.microsoft.com/office/drawing/2014/main" id="{F3984D21-B868-8580-4884-7F89C8B8FF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7720" y="5544461"/>
            <a:ext cx="249848" cy="252000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A624D57-F4C1-F5D8-3CC9-E0209DB59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35672008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B0776-6070-B8A2-6D9F-E5C0B68D5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80AC9B-8262-9B48-47CD-FC997E4B8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3E661D-2BCF-30F3-029D-01CD935FE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17</a:t>
            </a:fld>
            <a:endParaRPr lang="fr-FR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3B99880-11E0-A7BA-ED53-2BF29D230E7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CBDBE29-3737-3A36-9F03-6A308E78064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168428B4-D9A1-DA21-A141-7F89B05F1DB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4F2930B1-4A95-E68A-8A1D-D58526BD413B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248B76FD-83F9-D901-8613-89C5E15BC613}"/>
              </a:ext>
            </a:extLst>
          </p:cNvPr>
          <p:cNvSpPr txBox="1"/>
          <p:nvPr/>
        </p:nvSpPr>
        <p:spPr>
          <a:xfrm>
            <a:off x="684188" y="4192323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0915E01-3D8E-AD6E-1781-B87D6D66F882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E945C2-8573-AF3E-59F7-260717363768}"/>
              </a:ext>
            </a:extLst>
          </p:cNvPr>
          <p:cNvSpPr txBox="1"/>
          <p:nvPr/>
        </p:nvSpPr>
        <p:spPr>
          <a:xfrm>
            <a:off x="4852555" y="4192323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C80B0DA-DA4B-C4C2-B8FC-8EF30229C7A4}"/>
              </a:ext>
            </a:extLst>
          </p:cNvPr>
          <p:cNvGrpSpPr/>
          <p:nvPr/>
        </p:nvGrpSpPr>
        <p:grpSpPr>
          <a:xfrm>
            <a:off x="517169" y="4995194"/>
            <a:ext cx="8372519" cy="1037463"/>
            <a:chOff x="349675" y="2989072"/>
            <a:chExt cx="8444650" cy="10374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EAA375BB-908B-CDC8-C2F3-92B13B57CD23}"/>
                    </a:ext>
                  </a:extLst>
                </p:cNvPr>
                <p:cNvSpPr txBox="1"/>
                <p:nvPr/>
              </p:nvSpPr>
              <p:spPr>
                <a:xfrm>
                  <a:off x="349675" y="2989072"/>
                  <a:ext cx="8444650" cy="10374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b="1" u="sng" dirty="0"/>
                    <a:t>Interprétation</a:t>
                  </a:r>
                </a:p>
                <a:p>
                  <a:pPr marL="285750" indent="-285750">
                    <a:buFont typeface="Wingdings" panose="05000000000000000000" pitchFamily="2" charset="2"/>
                    <a:buChar char="q"/>
                  </a:pPr>
                  <a:r>
                    <a:rPr lang="fr-FR" dirty="0"/>
                    <a:t>Décroissance en </a:t>
                  </a:r>
                  <a14:m>
                    <m:oMath xmlns:m="http://schemas.openxmlformats.org/officeDocument/2006/math">
                      <m:f>
                        <m:f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a14:m>
                  <a:endParaRPr lang="fr-FR" dirty="0"/>
                </a:p>
                <a:p>
                  <a:pPr marL="285750" indent="-285750">
                    <a:buFont typeface="Wingdings" panose="05000000000000000000" pitchFamily="2" charset="2"/>
                    <a:buChar char="q"/>
                  </a:pPr>
                  <a:r>
                    <a:rPr lang="fr-FR" dirty="0"/>
                    <a:t>Atténuation du 4</a:t>
                  </a:r>
                  <a:r>
                    <a:rPr lang="fr-FR" baseline="30000" dirty="0"/>
                    <a:t>e</a:t>
                  </a:r>
                  <a:r>
                    <a:rPr lang="fr-FR" dirty="0"/>
                    <a:t> mode à </a:t>
                  </a:r>
                  <a14:m>
                    <m:oMath xmlns:m="http://schemas.openxmlformats.org/officeDocument/2006/math">
                      <m:r>
                        <a:rPr lang="fr-FR" i="1" dirty="0" smtClean="0">
                          <a:latin typeface="Cambria Math" panose="02040503050406030204" pitchFamily="18" charset="0"/>
                        </a:rPr>
                        <m:t>320</m:t>
                      </m:r>
                      <m:r>
                        <a:rPr lang="fr-FR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i="1" dirty="0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fr-FR" i="1" dirty="0">
                          <a:latin typeface="Cambria Math" panose="02040503050406030204" pitchFamily="18" charset="0"/>
                        </a:rPr>
                        <m:t>𝑧</m:t>
                      </m:r>
                    </m:oMath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EAA375BB-908B-CDC8-C2F3-92B13B57CD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9675" y="2989072"/>
                  <a:ext cx="8444650" cy="1037463"/>
                </a:xfrm>
                <a:prstGeom prst="rect">
                  <a:avLst/>
                </a:prstGeom>
                <a:blipFill>
                  <a:blip r:embed="rId2"/>
                  <a:stretch>
                    <a:fillRect l="-655" t="-2924" b="-818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1" name="Graphic 20" descr="Checkmark with solid fill">
              <a:extLst>
                <a:ext uri="{FF2B5EF4-FFF2-40B4-BE49-F238E27FC236}">
                  <a16:creationId xmlns:a16="http://schemas.microsoft.com/office/drawing/2014/main" id="{81E05692-E7C5-8FFE-C963-46E2A2A451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30920" y="3322624"/>
              <a:ext cx="252000" cy="252000"/>
            </a:xfrm>
            <a:prstGeom prst="rect">
              <a:avLst/>
            </a:prstGeom>
          </p:spPr>
        </p:pic>
        <p:pic>
          <p:nvPicPr>
            <p:cNvPr id="22" name="Graphic 21" descr="Close with solid fill">
              <a:extLst>
                <a:ext uri="{FF2B5EF4-FFF2-40B4-BE49-F238E27FC236}">
                  <a16:creationId xmlns:a16="http://schemas.microsoft.com/office/drawing/2014/main" id="{75289432-563C-54A6-E9C5-582AFC3D5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08237" y="3686751"/>
              <a:ext cx="252000" cy="252000"/>
            </a:xfrm>
            <a:prstGeom prst="rect">
              <a:avLst/>
            </a:prstGeom>
          </p:spPr>
        </p:pic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67808224-2508-9BA3-D991-EBF7227E4F02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4188" y="1347900"/>
            <a:ext cx="3600000" cy="27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F724F2B-55A8-1671-2BCB-A985FCCD1456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52555" y="1347900"/>
            <a:ext cx="3600000" cy="27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2" descr="Python Logo PNG Transparent – Brands Logos">
            <a:extLst>
              <a:ext uri="{FF2B5EF4-FFF2-40B4-BE49-F238E27FC236}">
                <a16:creationId xmlns:a16="http://schemas.microsoft.com/office/drawing/2014/main" id="{CC63BD1C-C325-C63C-2C81-B86C715D7A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4" y="483864"/>
            <a:ext cx="506135" cy="50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9E6CA2-8879-E8E8-EC0B-E3AF58AA1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23899856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3BAE8-7762-46B2-E907-AD7099361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1E5EDFB-C840-65AB-C6E3-90FB7CB6E4A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B845F26-B0CA-A491-4DA1-1F594CFBD876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82433090-BC1B-2216-FF85-994BBF3E9F7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97EB2398-EFF8-C9A2-49F0-95D4E4A8CC35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/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du gain d’atténuation relatif :</a:t>
                </a:r>
              </a:p>
              <a:p>
                <a:endParaRPr lang="fr-FR" sz="1400" b="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/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35B40429-E66D-936A-8895-1DC0AF6D287B}"/>
              </a:ext>
            </a:extLst>
          </p:cNvPr>
          <p:cNvGrpSpPr/>
          <p:nvPr/>
        </p:nvGrpSpPr>
        <p:grpSpPr>
          <a:xfrm>
            <a:off x="5681666" y="2163818"/>
            <a:ext cx="3269985" cy="3993142"/>
            <a:chOff x="6114891" y="2389099"/>
            <a:chExt cx="2721663" cy="357316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AE1FC82B-F70C-8D5D-E171-A36BE02D4021}"/>
                </a:ext>
              </a:extLst>
            </p:cNvPr>
            <p:cNvGrpSpPr/>
            <p:nvPr/>
          </p:nvGrpSpPr>
          <p:grpSpPr>
            <a:xfrm>
              <a:off x="6114891" y="2389099"/>
              <a:ext cx="2721663" cy="3573164"/>
              <a:chOff x="5958063" y="2389099"/>
              <a:chExt cx="2878491" cy="3573164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CA3093A-8816-005B-D928-3B44B655C8E2}"/>
                  </a:ext>
                </a:extLst>
              </p:cNvPr>
              <p:cNvSpPr/>
              <p:nvPr/>
            </p:nvSpPr>
            <p:spPr>
              <a:xfrm>
                <a:off x="5958063" y="2389099"/>
                <a:ext cx="2878491" cy="3573164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Nœuds de vibration :</a:t>
                </a: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Filtrage en peigne spatial :</a:t>
                </a: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3C3E0C0-FBAB-DC78-5B15-476675A966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3236" b="4515"/>
              <a:stretch>
                <a:fillRect/>
              </a:stretch>
            </p:blipFill>
            <p:spPr>
              <a:xfrm>
                <a:off x="6477938" y="4604155"/>
                <a:ext cx="1798321" cy="377538"/>
              </a:xfrm>
              <a:prstGeom prst="rect">
                <a:avLst/>
              </a:prstGeom>
            </p:spPr>
          </p:pic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C40B446E-9BC2-8E92-5207-9220276E30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276" t="6786" r="5431" b="11456"/>
              <a:stretch>
                <a:fillRect/>
              </a:stretch>
            </p:blipFill>
            <p:spPr>
              <a:xfrm>
                <a:off x="6988242" y="5064642"/>
                <a:ext cx="793915" cy="525312"/>
              </a:xfrm>
              <a:prstGeom prst="rect">
                <a:avLst/>
              </a:prstGeom>
            </p:spPr>
          </p:pic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021575B3-C3E7-D035-FD8D-5A909416EA0A}"/>
                  </a:ext>
                </a:extLst>
              </p:cNvPr>
              <p:cNvGrpSpPr/>
              <p:nvPr/>
            </p:nvGrpSpPr>
            <p:grpSpPr>
              <a:xfrm>
                <a:off x="6100686" y="2976560"/>
                <a:ext cx="2593244" cy="1059640"/>
                <a:chOff x="6082122" y="3612551"/>
                <a:chExt cx="2593242" cy="1010417"/>
              </a:xfrm>
            </p:grpSpPr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BB147258-36F6-4862-BCFA-8C34DAA43AD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rightnessContrast bright="40000" contrast="40000"/>
                          </a14:imgEffect>
                        </a14:imgLayer>
                      </a14:imgProps>
                    </a:ext>
                  </a:extLst>
                </a:blip>
                <a:srcRect l="3726" t="8959" r="3236" b="4515"/>
                <a:stretch>
                  <a:fillRect/>
                </a:stretch>
              </p:blipFill>
              <p:spPr>
                <a:xfrm>
                  <a:off x="6467476" y="3612551"/>
                  <a:ext cx="1798320" cy="360000"/>
                </a:xfrm>
                <a:prstGeom prst="rect">
                  <a:avLst/>
                </a:prstGeom>
              </p:spPr>
            </p:pic>
            <p:pic>
              <p:nvPicPr>
                <p:cNvPr id="49" name="Picture 48">
                  <a:extLst>
                    <a:ext uri="{FF2B5EF4-FFF2-40B4-BE49-F238E27FC236}">
                      <a16:creationId xmlns:a16="http://schemas.microsoft.com/office/drawing/2014/main" id="{6A19C6E1-1347-2947-0051-4E4B5CAD305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BEBA8EAE-BF5A-486C-A8C5-ECC9F3942E4B}">
                      <a14:imgProps xmlns:a14="http://schemas.microsoft.com/office/drawing/2010/main">
                        <a14:imgLayer r:embed="rId9">
                          <a14:imgEffect>
                            <a14:backgroundRemoval t="32494" b="70953" l="13960" r="44675"/>
                          </a14:imgEffect>
                          <a14:imgEffect>
                            <a14:brightnessContrast bright="40000"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0120" t="27687" r="51486" b="24239"/>
                <a:stretch>
                  <a:fillRect/>
                </a:stretch>
              </p:blipFill>
              <p:spPr>
                <a:xfrm>
                  <a:off x="6920250" y="3866659"/>
                  <a:ext cx="932157" cy="756309"/>
                </a:xfrm>
                <a:prstGeom prst="rect">
                  <a:avLst/>
                </a:prstGeom>
              </p:spPr>
            </p:pic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BD459B7B-7876-DECC-7C5D-6EF7F711F3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370935" y="3612551"/>
                  <a:ext cx="0" cy="863841"/>
                </a:xfrm>
                <a:prstGeom prst="line">
                  <a:avLst/>
                </a:prstGeom>
                <a:ln w="12700" cap="flat" cmpd="sng" algn="ctr">
                  <a:solidFill>
                    <a:srgbClr val="C00000"/>
                  </a:solidFill>
                  <a:prstDash val="sys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pic>
              <p:nvPicPr>
                <p:cNvPr id="51" name="Picture 50">
                  <a:extLst>
                    <a:ext uri="{FF2B5EF4-FFF2-40B4-BE49-F238E27FC236}">
                      <a16:creationId xmlns:a16="http://schemas.microsoft.com/office/drawing/2014/main" id="{69C823F4-FBD6-6BF7-DDFC-373F3F49B1D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rightnessContrast bright="40000" contrast="40000"/>
                          </a14:imgEffect>
                        </a14:imgLayer>
                      </a14:imgProps>
                    </a:ext>
                  </a:extLst>
                </a:blip>
                <a:srcRect l="76827" t="8959" r="3236" b="4515"/>
                <a:stretch>
                  <a:fillRect/>
                </a:stretch>
              </p:blipFill>
              <p:spPr>
                <a:xfrm>
                  <a:off x="6082122" y="3612551"/>
                  <a:ext cx="385354" cy="360000"/>
                </a:xfrm>
                <a:prstGeom prst="rect">
                  <a:avLst/>
                </a:prstGeom>
              </p:spPr>
            </p:pic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849EE9B9-324D-BB3C-541F-721FD32B50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rightnessContrast bright="40000" contrast="40000"/>
                          </a14:imgEffect>
                        </a14:imgLayer>
                      </a14:imgProps>
                    </a:ext>
                  </a:extLst>
                </a:blip>
                <a:srcRect l="3726" t="8959" r="75085" b="4515"/>
                <a:stretch>
                  <a:fillRect/>
                </a:stretch>
              </p:blipFill>
              <p:spPr>
                <a:xfrm>
                  <a:off x="8265796" y="3612551"/>
                  <a:ext cx="409568" cy="360000"/>
                </a:xfrm>
                <a:prstGeom prst="rect">
                  <a:avLst/>
                </a:prstGeom>
              </p:spPr>
            </p:pic>
          </p:grp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65BA09B4-C52E-B87A-CF04-8232C165DF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42582" y="4874895"/>
                <a:ext cx="0" cy="696047"/>
              </a:xfrm>
              <a:prstGeom prst="line">
                <a:avLst/>
              </a:prstGeom>
              <a:ln w="12700" cap="flat" cmpd="sng" algn="ctr">
                <a:solidFill>
                  <a:srgbClr val="C00000"/>
                </a:solidFill>
                <a:prstDash val="sys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EB93E4C2-FBE4-4065-9278-90914A6ECE3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21982" y="4703445"/>
                <a:ext cx="0" cy="867498"/>
              </a:xfrm>
              <a:prstGeom prst="line">
                <a:avLst/>
              </a:prstGeom>
              <a:ln w="12700" cap="flat" cmpd="sng" algn="ctr">
                <a:solidFill>
                  <a:srgbClr val="C00000"/>
                </a:solidFill>
                <a:prstDash val="sys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E06407F-AE7F-3BBE-2F75-7730253F21E7}"/>
                    </a:ext>
                  </a:extLst>
                </p:cNvPr>
                <p:cNvSpPr txBox="1"/>
                <p:nvPr/>
              </p:nvSpPr>
              <p:spPr>
                <a:xfrm>
                  <a:off x="6591942" y="3940434"/>
                  <a:ext cx="1748389" cy="24052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05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sSub>
                              <m:sSubPr>
                                <m:ctrlPr>
                                  <a:rPr lang="fr-FR" sz="105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1050" b="0" i="1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1050" b="0" i="1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sub>
                            </m:sSub>
                          </m:sub>
                        </m:sSub>
                        <m:r>
                          <a:rPr lang="fr-FR" sz="1050" i="1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fr-FR" sz="105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fr-FR" sz="105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el-GR" sz="105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  <m:sSub>
                              <m:sSub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fr-FR" sz="105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fr-FR" sz="105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5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fr-FR" sz="105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func>
                      </m:oMath>
                    </m:oMathPara>
                  </a14:m>
                  <a:endParaRPr lang="fr-FR" sz="105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E06407F-AE7F-3BBE-2F75-7730253F21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1942" y="3940434"/>
                  <a:ext cx="1748389" cy="240522"/>
                </a:xfrm>
                <a:prstGeom prst="rect">
                  <a:avLst/>
                </a:prstGeom>
                <a:blipFill>
                  <a:blip r:embed="rId10"/>
                  <a:stretch>
                    <a:fillRect b="-227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E1CAC20F-EC26-B5B1-7233-C097D272BB96}"/>
                    </a:ext>
                  </a:extLst>
                </p:cNvPr>
                <p:cNvSpPr txBox="1"/>
                <p:nvPr/>
              </p:nvSpPr>
              <p:spPr>
                <a:xfrm>
                  <a:off x="6240422" y="5556492"/>
                  <a:ext cx="2470599" cy="23960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05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sSub>
                              <m:sSubPr>
                                <m:ctrlPr>
                                  <a:rPr lang="fr-FR" sz="105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1050" b="0" i="1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105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</m:sSub>
                        <m:r>
                          <a:rPr lang="fr-FR" sz="1050" i="1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fr-FR" sz="105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fr-FR" sz="105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el-GR" sz="105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  <m:sSub>
                              <m:sSub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fr-FR" sz="105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fr-FR" sz="105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fr-FR" sz="105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5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fr-FR" sz="105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unc>
                              <m:func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05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sz="105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fr-FR" sz="105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5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fr-FR" sz="105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fr-FR" sz="1050" i="1">
                                    <a:latin typeface="Cambria Math" panose="02040503050406030204" pitchFamily="18" charset="0"/>
                                  </a:rPr>
                                  <m:t>))</m:t>
                                </m:r>
                              </m:e>
                            </m:func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func>
                      </m:oMath>
                    </m:oMathPara>
                  </a14:m>
                  <a:endParaRPr lang="fr-FR" sz="105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E1CAC20F-EC26-B5B1-7233-C097D272BB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40422" y="5556492"/>
                  <a:ext cx="2470599" cy="239604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3" name="Footer Placeholder 2">
            <a:extLst>
              <a:ext uri="{FF2B5EF4-FFF2-40B4-BE49-F238E27FC236}">
                <a16:creationId xmlns:a16="http://schemas.microsoft.com/office/drawing/2014/main" id="{4BCE2257-F05E-832B-4E41-697261064FA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CC05A3D-32B8-82F3-42AF-E20F9F7CEB70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A56DC6A4-DDE0-128B-1A21-EBE107893AF8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76EC09A-1CE2-C57C-EA75-CE25A5404F6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128398"/>
            <a:ext cx="5175257" cy="4997658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A31065C-A20A-A288-0085-D396B6CE6BAB}"/>
              </a:ext>
            </a:extLst>
          </p:cNvPr>
          <p:cNvCxnSpPr>
            <a:cxnSpLocks/>
          </p:cNvCxnSpPr>
          <p:nvPr/>
        </p:nvCxnSpPr>
        <p:spPr>
          <a:xfrm>
            <a:off x="3063584" y="3377565"/>
            <a:ext cx="0" cy="1449268"/>
          </a:xfrm>
          <a:prstGeom prst="line">
            <a:avLst/>
          </a:prstGeom>
          <a:ln w="28575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2AC77C0-992D-6FEB-50E1-07C49D290036}"/>
                  </a:ext>
                </a:extLst>
              </p:cNvPr>
              <p:cNvSpPr txBox="1"/>
              <p:nvPr/>
            </p:nvSpPr>
            <p:spPr>
              <a:xfrm>
                <a:off x="3078704" y="4611570"/>
                <a:ext cx="49532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fr-FR" sz="12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𝟑𝟐𝟎</m:t>
                    </m:r>
                    <m:r>
                      <a:rPr lang="fr-FR" sz="12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b="1" dirty="0">
                    <a:solidFill>
                      <a:srgbClr val="C00000"/>
                    </a:solidFill>
                  </a:rPr>
                  <a:t>Hz</a:t>
                </a: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2AC77C0-992D-6FEB-50E1-07C49D2900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8704" y="4611570"/>
                <a:ext cx="495328" cy="184666"/>
              </a:xfrm>
              <a:prstGeom prst="rect">
                <a:avLst/>
              </a:prstGeom>
              <a:blipFill>
                <a:blip r:embed="rId13"/>
                <a:stretch>
                  <a:fillRect l="-11111" t="-29032" r="-19753" b="-4516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2" descr="Python Logo PNG Transparent – Brands Logos">
            <a:extLst>
              <a:ext uri="{FF2B5EF4-FFF2-40B4-BE49-F238E27FC236}">
                <a16:creationId xmlns:a16="http://schemas.microsoft.com/office/drawing/2014/main" id="{FAF7CBEB-0067-C932-A2A5-C8DC59CC89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4" y="483864"/>
            <a:ext cx="506135" cy="50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AE1A2621-99DB-BABC-D8E3-49A97B682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A376A005-3A40-9A53-1790-346BE22F93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18</a:t>
            </a:fld>
            <a:endParaRPr lang="fr-FR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CC0FE738-C281-1177-AD0D-5BE611618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5848409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951BE-DC89-1531-EC6E-EF373AD65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EFA5A69-4ADE-0A85-B85F-F117819EFF54}"/>
                  </a:ext>
                </a:extLst>
              </p:cNvPr>
              <p:cNvSpPr txBox="1"/>
              <p:nvPr/>
            </p:nvSpPr>
            <p:spPr>
              <a:xfrm>
                <a:off x="3303791" y="1850111"/>
                <a:ext cx="5585897" cy="35487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600" dirty="0"/>
                  <a:t>On considère un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600" dirty="0"/>
              </a:p>
              <a:p>
                <a:r>
                  <a:rPr lang="fr-FR" sz="1600" b="1" u="sng" dirty="0"/>
                  <a:t>Pour un micro SingleCoil :</a:t>
                </a:r>
              </a:p>
              <a:p>
                <a:r>
                  <a:rPr lang="fr-FR" sz="1600" dirty="0"/>
                  <a:t>On place le micro tel que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sz="1600" i="1">
                        <a:latin typeface="Cambria Math" panose="02040503050406030204" pitchFamily="18" charset="0"/>
                      </a:rPr>
                      <m:t>′=0</m:t>
                    </m:r>
                  </m:oMath>
                </a14:m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(0, 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b="1" u="sng" dirty="0"/>
                  <a:t>Pour un micro Humbucker :</a:t>
                </a:r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/>
                  <a:t>Montage série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ⅇ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𝐻𝑠</m:t>
                        </m:r>
                      </m:sub>
                    </m:sSub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fr-FR" sz="1600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/>
                  <a:t>Montage parallèle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𝐻𝑝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EFA5A69-4ADE-0A85-B85F-F117819EFF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791" y="1850111"/>
                <a:ext cx="5585897" cy="3548792"/>
              </a:xfrm>
              <a:prstGeom prst="rect">
                <a:avLst/>
              </a:prstGeom>
              <a:blipFill>
                <a:blip r:embed="rId2"/>
                <a:stretch>
                  <a:fillRect l="-655" t="-51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626D5441-F7C5-80F8-00AB-D1887F85EB3D}"/>
              </a:ext>
            </a:extLst>
          </p:cNvPr>
          <p:cNvGrpSpPr/>
          <p:nvPr/>
        </p:nvGrpSpPr>
        <p:grpSpPr>
          <a:xfrm>
            <a:off x="0" y="6395093"/>
            <a:ext cx="9144000" cy="479397"/>
            <a:chOff x="0" y="-4624"/>
            <a:chExt cx="9144000" cy="457200"/>
          </a:xfrm>
          <a:solidFill>
            <a:srgbClr val="629DD1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09E84C9-68CB-907E-5467-644C750197FE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1" name="Footer Placeholder 2">
              <a:extLst>
                <a:ext uri="{FF2B5EF4-FFF2-40B4-BE49-F238E27FC236}">
                  <a16:creationId xmlns:a16="http://schemas.microsoft.com/office/drawing/2014/main" id="{9BB2E0DE-AE44-2645-298B-0071500DA0E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2" name="Footer Placeholder 2">
            <a:extLst>
              <a:ext uri="{FF2B5EF4-FFF2-40B4-BE49-F238E27FC236}">
                <a16:creationId xmlns:a16="http://schemas.microsoft.com/office/drawing/2014/main" id="{D256A7E3-90FC-3D29-1355-E4360E2C6F11}"/>
              </a:ext>
            </a:extLst>
          </p:cNvPr>
          <p:cNvSpPr txBox="1">
            <a:spLocks/>
          </p:cNvSpPr>
          <p:nvPr/>
        </p:nvSpPr>
        <p:spPr>
          <a:xfrm>
            <a:off x="15096" y="6335178"/>
            <a:ext cx="9144000" cy="63096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9DAE30-FDE1-9D08-1084-73C2A26E7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2000" dirty="0">
                <a:latin typeface="Arial Black" panose="020B0A04020102020204" pitchFamily="34" charset="0"/>
              </a:rPr>
              <a:t>THEORIE</a:t>
            </a:r>
            <a:endParaRPr lang="fr-FR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0EB732A1-8498-ED1B-638B-26F88547B04B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/>
            <p:txBody>
              <a:bodyPr/>
              <a:lstStyle/>
              <a:p>
                <a:endParaRPr lang="fr-FR" dirty="0"/>
              </a:p>
              <a:p>
                <a:r>
                  <a:rPr lang="fr-FR" b="1" u="sng" dirty="0">
                    <a:solidFill>
                      <a:schemeClr val="tx1"/>
                    </a:solidFill>
                  </a:rPr>
                  <a:t>Hypothèses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olidFill>
                      <a:schemeClr val="tx1"/>
                    </a:solidFill>
                  </a:rPr>
                  <a:t>Gradient magnétique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400" dirty="0">
                    <a:solidFill>
                      <a:schemeClr val="tx1"/>
                    </a:solidFill>
                  </a:rPr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olidFill>
                      <a:schemeClr val="tx1"/>
                    </a:solidFill>
                  </a:rPr>
                  <a:t>Micros ponctuels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olidFill>
                      <a:schemeClr val="tx1"/>
                    </a:solidFill>
                  </a:rPr>
                  <a:t>Induction mutuelle négligée</a:t>
                </a:r>
              </a:p>
              <a:p>
                <a:endParaRPr lang="fr-FR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0EB732A1-8498-ED1B-638B-26F88547B0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blipFill>
                <a:blip r:embed="rId3"/>
                <a:stretch>
                  <a:fillRect l="-101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31A4AA-683C-9A93-32AB-142876913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B2ECDD-A751-0C72-0F9B-9E0268332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>
                <a:solidFill>
                  <a:schemeClr val="bg1"/>
                </a:solidFill>
              </a:rPr>
              <a:t>19</a:t>
            </a:fld>
            <a:endParaRPr lang="fr-FR" dirty="0">
              <a:solidFill>
                <a:schemeClr val="bg1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7F8E63B-9F83-A7E2-0305-24C1966AE6E6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AC9D2DC-732A-8320-0119-9CCE9BC10F0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42EDB493-EBE2-C0CA-4AD5-4C47038D9F8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49C3F5B-4205-2B3D-7D52-21439A7C6E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015810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23" name="Picture 22">
            <a:extLst>
              <a:ext uri="{FF2B5EF4-FFF2-40B4-BE49-F238E27FC236}">
                <a16:creationId xmlns:a16="http://schemas.microsoft.com/office/drawing/2014/main" id="{A93BDE62-4EC4-A8F9-E579-E1D63E9C355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129" b="64958"/>
          <a:stretch>
            <a:fillRect/>
          </a:stretch>
        </p:blipFill>
        <p:spPr>
          <a:xfrm>
            <a:off x="3303790" y="593134"/>
            <a:ext cx="2944610" cy="108470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3840F5A-AD85-41F7-50A5-0FA8682BF4C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365" t="37722" r="-1" b="737"/>
          <a:stretch>
            <a:fillRect/>
          </a:stretch>
        </p:blipFill>
        <p:spPr>
          <a:xfrm>
            <a:off x="6088742" y="566334"/>
            <a:ext cx="2800945" cy="128050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B637A96-B54C-26FC-7E3A-8C4ECCAE0C9B}"/>
                  </a:ext>
                </a:extLst>
              </p:cNvPr>
              <p:cNvSpPr txBox="1"/>
              <p:nvPr/>
            </p:nvSpPr>
            <p:spPr>
              <a:xfrm>
                <a:off x="4826757" y="3534744"/>
                <a:ext cx="2523969" cy="338554"/>
              </a:xfrm>
              <a:prstGeom prst="rect">
                <a:avLst/>
              </a:prstGeom>
              <a:noFill/>
              <a:ln w="12700"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B637A96-B54C-26FC-7E3A-8C4ECCAE0C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757" y="3534744"/>
                <a:ext cx="2523969" cy="338554"/>
              </a:xfrm>
              <a:prstGeom prst="rect">
                <a:avLst/>
              </a:prstGeom>
              <a:blipFill>
                <a:blip r:embed="rId5"/>
                <a:stretch>
                  <a:fillRect b="-10526"/>
                </a:stretch>
              </a:blipFill>
              <a:ln w="127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D6A62A6-84FB-CCE4-E39A-3CF3D437F6D3}"/>
                  </a:ext>
                </a:extLst>
              </p:cNvPr>
              <p:cNvSpPr txBox="1"/>
              <p:nvPr/>
            </p:nvSpPr>
            <p:spPr>
              <a:xfrm>
                <a:off x="4735330" y="5216715"/>
                <a:ext cx="3026139" cy="338554"/>
              </a:xfrm>
              <a:prstGeom prst="rect">
                <a:avLst/>
              </a:prstGeom>
              <a:noFill/>
              <a:ln w="12700"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D6A62A6-84FB-CCE4-E39A-3CF3D437F6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5330" y="5216715"/>
                <a:ext cx="3026139" cy="338554"/>
              </a:xfrm>
              <a:prstGeom prst="rect">
                <a:avLst/>
              </a:prstGeom>
              <a:blipFill>
                <a:blip r:embed="rId6"/>
                <a:stretch>
                  <a:fillRect b="-10526"/>
                </a:stretch>
              </a:blipFill>
              <a:ln w="127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B89713C-EC85-403E-732E-2955D28B31CC}"/>
                  </a:ext>
                </a:extLst>
              </p:cNvPr>
              <p:cNvSpPr txBox="1"/>
              <p:nvPr/>
            </p:nvSpPr>
            <p:spPr>
              <a:xfrm>
                <a:off x="4672105" y="5647490"/>
                <a:ext cx="3152587" cy="553357"/>
              </a:xfrm>
              <a:prstGeom prst="rect">
                <a:avLst/>
              </a:prstGeom>
              <a:noFill/>
              <a:ln w="12700"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f>
                                <m:fPr>
                                  <m:ctrlPr>
                                    <a:rPr lang="fr-FR" sz="160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B89713C-EC85-403E-732E-2955D28B31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2105" y="5647490"/>
                <a:ext cx="3152587" cy="55335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5CC5112-6FAA-596D-0A9E-E7F71586A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21915948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EF325D95-66BD-B16D-478C-A16E375CA2B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D4633CA-79B5-8626-5F5C-961A97B305C7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4D548465-9274-10EF-DF9E-7E195D565F1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BE267BF-F8C8-7B9F-086E-2829E24D70E2}"/>
              </a:ext>
            </a:extLst>
          </p:cNvPr>
          <p:cNvGrpSpPr/>
          <p:nvPr/>
        </p:nvGrpSpPr>
        <p:grpSpPr>
          <a:xfrm>
            <a:off x="376131" y="1128398"/>
            <a:ext cx="7320105" cy="5123781"/>
            <a:chOff x="1088521" y="1146180"/>
            <a:chExt cx="6758213" cy="493491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325D940-13FD-EE6E-C1BF-2EAC1C5E3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4700"/>
                      </a14:imgEffect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27" b="5227"/>
            <a:stretch/>
          </p:blipFill>
          <p:spPr>
            <a:xfrm rot="16200000">
              <a:off x="2190128" y="306547"/>
              <a:ext cx="2942282" cy="4621547"/>
            </a:xfrm>
            <a:prstGeom prst="rect">
              <a:avLst/>
            </a:prstGeom>
            <a:ln w="28575">
              <a:noFill/>
            </a:ln>
            <a:effectLst>
              <a:softEdge rad="31750"/>
            </a:effectLst>
          </p:spPr>
        </p:pic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C1537CB8-8F77-3361-FCF5-324906ABEE21}"/>
                </a:ext>
              </a:extLst>
            </p:cNvPr>
            <p:cNvGrpSpPr/>
            <p:nvPr/>
          </p:nvGrpSpPr>
          <p:grpSpPr>
            <a:xfrm flipH="1">
              <a:off x="1433732" y="4360802"/>
              <a:ext cx="6413002" cy="1720288"/>
              <a:chOff x="1440953" y="2466429"/>
              <a:chExt cx="6262094" cy="1720288"/>
            </a:xfrm>
          </p:grpSpPr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485931D7-3E78-6020-17E4-F6EE0BB401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 rot="16140000">
                <a:off x="4210262" y="693933"/>
                <a:ext cx="723475" cy="6262094"/>
              </a:xfrm>
              <a:prstGeom prst="rect">
                <a:avLst/>
              </a:prstGeom>
            </p:spPr>
          </p:pic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749D53FD-1AA2-3F26-4A50-75DD1D2E5A33}"/>
                  </a:ext>
                </a:extLst>
              </p:cNvPr>
              <p:cNvSpPr txBox="1"/>
              <p:nvPr/>
            </p:nvSpPr>
            <p:spPr>
              <a:xfrm>
                <a:off x="4052454" y="2466429"/>
                <a:ext cx="633157" cy="27699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Corde</a:t>
                </a:r>
              </a:p>
            </p:txBody>
          </p:sp>
        </p:grp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3EE8BFC5-F2AA-D1A3-380C-6809D26261A6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rot="5400000" flipH="1" flipV="1">
              <a:off x="1274767" y="3531748"/>
              <a:ext cx="1167611" cy="256417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1729105-5D1B-BD47-7B86-BF65201E2C22}"/>
                </a:ext>
              </a:extLst>
            </p:cNvPr>
            <p:cNvSpPr txBox="1"/>
            <p:nvPr/>
          </p:nvSpPr>
          <p:spPr>
            <a:xfrm flipH="1">
              <a:off x="2525532" y="4255954"/>
              <a:ext cx="1387055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Humbucker</a:t>
              </a:r>
            </a:p>
          </p:txBody>
        </p: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3736A5C1-091B-7125-5BE6-37A8B606888F}"/>
                </a:ext>
              </a:extLst>
            </p:cNvPr>
            <p:cNvCxnSpPr>
              <a:cxnSpLocks/>
              <a:stCxn id="23" idx="2"/>
            </p:cNvCxnSpPr>
            <p:nvPr/>
          </p:nvCxnSpPr>
          <p:spPr>
            <a:xfrm rot="16200000" flipH="1">
              <a:off x="1724074" y="4527051"/>
              <a:ext cx="1036591" cy="1024010"/>
            </a:xfrm>
            <a:prstGeom prst="bentConnector3">
              <a:avLst>
                <a:gd name="adj1" fmla="val 19616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: Elbow 57">
              <a:extLst>
                <a:ext uri="{FF2B5EF4-FFF2-40B4-BE49-F238E27FC236}">
                  <a16:creationId xmlns:a16="http://schemas.microsoft.com/office/drawing/2014/main" id="{9A269F26-F8FB-BD35-8D1C-147049D4D4C3}"/>
                </a:ext>
              </a:extLst>
            </p:cNvPr>
            <p:cNvCxnSpPr>
              <a:cxnSpLocks/>
              <a:stCxn id="24" idx="2"/>
            </p:cNvCxnSpPr>
            <p:nvPr/>
          </p:nvCxnSpPr>
          <p:spPr>
            <a:xfrm rot="5400000">
              <a:off x="2678638" y="4956566"/>
              <a:ext cx="964034" cy="116808"/>
            </a:xfrm>
            <a:prstGeom prst="bentConnector3">
              <a:avLst>
                <a:gd name="adj1" fmla="val 20491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: Elbow 60">
              <a:extLst>
                <a:ext uri="{FF2B5EF4-FFF2-40B4-BE49-F238E27FC236}">
                  <a16:creationId xmlns:a16="http://schemas.microsoft.com/office/drawing/2014/main" id="{CD4B400A-45D8-1178-C9C6-D74658FD0F2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rot="16200000" flipV="1">
              <a:off x="2166435" y="3203329"/>
              <a:ext cx="1167611" cy="937638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nector: Elbow 140">
              <a:extLst>
                <a:ext uri="{FF2B5EF4-FFF2-40B4-BE49-F238E27FC236}">
                  <a16:creationId xmlns:a16="http://schemas.microsoft.com/office/drawing/2014/main" id="{2B74BC81-0396-58E2-4F5F-25A19BB7D6D7}"/>
                </a:ext>
              </a:extLst>
            </p:cNvPr>
            <p:cNvCxnSpPr>
              <a:cxnSpLocks/>
              <a:stCxn id="161" idx="2"/>
            </p:cNvCxnSpPr>
            <p:nvPr/>
          </p:nvCxnSpPr>
          <p:spPr>
            <a:xfrm rot="5400000">
              <a:off x="3978664" y="4933548"/>
              <a:ext cx="1165175" cy="573681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nector: Elbow 145">
              <a:extLst>
                <a:ext uri="{FF2B5EF4-FFF2-40B4-BE49-F238E27FC236}">
                  <a16:creationId xmlns:a16="http://schemas.microsoft.com/office/drawing/2014/main" id="{4427088E-AEAA-CC36-74E4-446F94028ABB}"/>
                </a:ext>
              </a:extLst>
            </p:cNvPr>
            <p:cNvCxnSpPr>
              <a:cxnSpLocks/>
              <a:stCxn id="161" idx="0"/>
            </p:cNvCxnSpPr>
            <p:nvPr/>
          </p:nvCxnSpPr>
          <p:spPr>
            <a:xfrm rot="16200000" flipV="1">
              <a:off x="3888275" y="3400986"/>
              <a:ext cx="1295657" cy="623976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2AC37F92-0300-2194-BBFA-28D6CCCBFC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04620" y="3077337"/>
              <a:ext cx="4509001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E98F84A-A707-90F0-135B-B3D6DB647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51685" y="5819775"/>
              <a:ext cx="537365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B7AF251-442D-D41A-2407-64D8B6581262}"/>
                </a:ext>
              </a:extLst>
            </p:cNvPr>
            <p:cNvSpPr txBox="1"/>
            <p:nvPr/>
          </p:nvSpPr>
          <p:spPr>
            <a:xfrm flipH="1">
              <a:off x="1088521" y="4243762"/>
              <a:ext cx="128368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SingleCoil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1EF4D00-8389-C68B-63A5-8B73E75ADB55}"/>
              </a:ext>
            </a:extLst>
          </p:cNvPr>
          <p:cNvGrpSpPr/>
          <p:nvPr/>
        </p:nvGrpSpPr>
        <p:grpSpPr>
          <a:xfrm>
            <a:off x="5836466" y="1122202"/>
            <a:ext cx="3053221" cy="4234657"/>
            <a:chOff x="6451777" y="1536488"/>
            <a:chExt cx="2485046" cy="39197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DAA78053-9B3F-8A75-512E-06D3655B0586}"/>
                    </a:ext>
                  </a:extLst>
                </p:cNvPr>
                <p:cNvSpPr/>
                <p:nvPr/>
              </p:nvSpPr>
              <p:spPr>
                <a:xfrm>
                  <a:off x="6451777" y="1536488"/>
                  <a:ext cx="2485046" cy="3919700"/>
                </a:xfrm>
                <a:prstGeom prst="rect">
                  <a:avLst/>
                </a:prstGeom>
                <a:ln w="38100">
                  <a:solidFill>
                    <a:schemeClr val="accent6"/>
                  </a:solidFill>
                </a:ln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fr-FR" sz="1600" b="1" dirty="0">
                      <a:solidFill>
                        <a:schemeClr val="tx1"/>
                      </a:solidFill>
                    </a:rPr>
                    <a:t>Protocole</a:t>
                  </a:r>
                </a:p>
                <a:p>
                  <a:endParaRPr lang="fr-FR" sz="1600" b="1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fr-FR" sz="1600" dirty="0">
                      <a:solidFill>
                        <a:schemeClr val="tx1"/>
                      </a:solidFill>
                    </a:rPr>
                    <a:t>Utilisation de Bobine Helmholtz pour contrôler le champ parasite :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200" dirty="0">
                    <a:solidFill>
                      <a:srgbClr val="C00000"/>
                    </a:solidFill>
                    <a:latin typeface="Cambria Math" panose="02040503050406030204" pitchFamily="18" charset="0"/>
                  </a:endParaRPr>
                </a:p>
                <a:p>
                  <a:endParaRPr lang="fr-FR" sz="1200" dirty="0">
                    <a:solidFill>
                      <a:srgbClr val="C00000"/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4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d>
                          <m:d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sz="1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num>
                                  <m:den>
                                    <m: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f>
                              <m:fPr>
                                <m:ctrlP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num>
                              <m:den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p>
                        </m:sSup>
                        <m:f>
                          <m:f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fr-FR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400" dirty="0">
                    <a:solidFill>
                      <a:srgbClr val="C00000"/>
                    </a:solidFill>
                  </a:endParaRPr>
                </a:p>
                <a:p>
                  <a:endParaRPr lang="fr-FR" sz="1600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DAA78053-9B3F-8A75-512E-06D3655B058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51777" y="1536488"/>
                  <a:ext cx="2485046" cy="3919700"/>
                </a:xfrm>
                <a:prstGeom prst="rect">
                  <a:avLst/>
                </a:prstGeom>
                <a:blipFill>
                  <a:blip r:embed="rId5"/>
                  <a:stretch>
                    <a:fillRect l="-197"/>
                  </a:stretch>
                </a:blipFill>
                <a:ln w="3810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2" name="Picture 2" descr="Bobine de Helmholtz sur socle : PAM067370">
              <a:extLst>
                <a:ext uri="{FF2B5EF4-FFF2-40B4-BE49-F238E27FC236}">
                  <a16:creationId xmlns:a16="http://schemas.microsoft.com/office/drawing/2014/main" id="{97F9CA38-454F-5EAF-74D4-E7E8E328C6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87409" y="2918502"/>
              <a:ext cx="2227030" cy="1474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55ABC91-EC81-CF51-B80D-BF081ACF70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9897809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ECEBE25E-EC36-DF12-19EF-138C3E8BD4F5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E5BCA913-E8F4-FEC2-85B5-1EE56140E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D51021FC-250C-02AB-B6BC-21B4D6AD4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20</a:t>
            </a:fld>
            <a:endParaRPr lang="fr-FR"/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0D275B26-53D5-1DA5-3076-7CA2265F7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C4A58-8101-0347-5534-2CC0B78C5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17DD52A-165D-5CB3-4007-6367DF829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0FEBD4-4E2A-C771-5191-C07A022CD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21</a:t>
            </a:fld>
            <a:endParaRPr lang="fr-FR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1D19F69-D63B-DFB4-1AFA-7382C22E9A58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60F9C94-F700-71CA-AB92-31DDF1A08248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CE4DB8B4-9C68-FD03-31EE-22C4FBAB3E0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EC59FBF6-64FD-5C73-8792-3185BFCF6571}"/>
              </a:ext>
            </a:extLst>
          </p:cNvPr>
          <p:cNvSpPr txBox="1"/>
          <p:nvPr/>
        </p:nvSpPr>
        <p:spPr>
          <a:xfrm>
            <a:off x="684188" y="4192323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4B6C7B-04A0-BBCA-C2FF-751B341552B5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144FF52-67AF-89F9-29F6-CFC74A6B511A}"/>
              </a:ext>
            </a:extLst>
          </p:cNvPr>
          <p:cNvSpPr txBox="1"/>
          <p:nvPr/>
        </p:nvSpPr>
        <p:spPr>
          <a:xfrm>
            <a:off x="4852555" y="4192323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pic>
        <p:nvPicPr>
          <p:cNvPr id="4" name="Picture 2" descr="Python Logo PNG Transparent – Brands Logos">
            <a:extLst>
              <a:ext uri="{FF2B5EF4-FFF2-40B4-BE49-F238E27FC236}">
                <a16:creationId xmlns:a16="http://schemas.microsoft.com/office/drawing/2014/main" id="{17020D3E-43B0-5FB8-A263-177CF60BB3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4" y="483864"/>
            <a:ext cx="506135" cy="50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3C74C84-2A49-D542-5893-CCB0CC0B2AD8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61152EF-630E-5C4D-9745-C58A3E46C21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4188" y="1349568"/>
            <a:ext cx="3600000" cy="269833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7669D03-1207-3A15-D219-AFC8739A350B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52555" y="1349568"/>
            <a:ext cx="3600000" cy="2698332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964730D3-DAE6-8136-5F67-39E41D596F2A}"/>
              </a:ext>
            </a:extLst>
          </p:cNvPr>
          <p:cNvGrpSpPr/>
          <p:nvPr/>
        </p:nvGrpSpPr>
        <p:grpSpPr>
          <a:xfrm>
            <a:off x="445038" y="5206305"/>
            <a:ext cx="8372519" cy="923330"/>
            <a:chOff x="349675" y="2989072"/>
            <a:chExt cx="8444650" cy="923330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F16C07C-1B62-8C03-3F4C-04DB8D08828C}"/>
                </a:ext>
              </a:extLst>
            </p:cNvPr>
            <p:cNvSpPr txBox="1"/>
            <p:nvPr/>
          </p:nvSpPr>
          <p:spPr>
            <a:xfrm>
              <a:off x="349675" y="2989072"/>
              <a:ext cx="844465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u="sng" dirty="0"/>
                <a:t>Interprétation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Sensibilité accrue du SingleCoil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Reduction efficace du bourdonnement</a:t>
              </a:r>
            </a:p>
          </p:txBody>
        </p:sp>
        <p:pic>
          <p:nvPicPr>
            <p:cNvPr id="23" name="Graphic 22" descr="Checkmark with solid fill">
              <a:extLst>
                <a:ext uri="{FF2B5EF4-FFF2-40B4-BE49-F238E27FC236}">
                  <a16:creationId xmlns:a16="http://schemas.microsoft.com/office/drawing/2014/main" id="{B5897F42-78CC-E7D6-9712-80A327E8DB7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30920" y="3551700"/>
              <a:ext cx="252000" cy="252000"/>
            </a:xfrm>
            <a:prstGeom prst="rect">
              <a:avLst/>
            </a:prstGeom>
          </p:spPr>
        </p:pic>
        <p:pic>
          <p:nvPicPr>
            <p:cNvPr id="24" name="Graphic 23" descr="Checkmark with solid fill">
              <a:extLst>
                <a:ext uri="{FF2B5EF4-FFF2-40B4-BE49-F238E27FC236}">
                  <a16:creationId xmlns:a16="http://schemas.microsoft.com/office/drawing/2014/main" id="{F3C9A945-751B-F55D-2892-281066E7123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30920" y="3259246"/>
              <a:ext cx="252000" cy="252000"/>
            </a:xfrm>
            <a:prstGeom prst="rect">
              <a:avLst/>
            </a:prstGeom>
          </p:spPr>
        </p:pic>
      </p:grpSp>
      <p:sp>
        <p:nvSpPr>
          <p:cNvPr id="25" name="Footer Placeholder 24">
            <a:extLst>
              <a:ext uri="{FF2B5EF4-FFF2-40B4-BE49-F238E27FC236}">
                <a16:creationId xmlns:a16="http://schemas.microsoft.com/office/drawing/2014/main" id="{2221A313-8CA7-2B72-E0C0-B034A6706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5686336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1FDCA-BB39-EE18-BB35-2E0E1E4D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8515866-5F05-8C01-076C-078FAEECE57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E3100D-75AB-378E-9842-ED0F296E89C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6" name="Footer Placeholder 2">
              <a:extLst>
                <a:ext uri="{FF2B5EF4-FFF2-40B4-BE49-F238E27FC236}">
                  <a16:creationId xmlns:a16="http://schemas.microsoft.com/office/drawing/2014/main" id="{45037E6E-E4E2-AC9B-1CB9-6307187141E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58D75C07-2267-97C9-DF3E-D3ABD94902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639CD3E-4169-1389-4E27-DA0661374473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759499-4633-7F7C-612F-2C1B14CA0C63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A2A4C42-E8E3-0A32-60A1-2B34526A12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128398"/>
            <a:ext cx="5175257" cy="502856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3034487-F93D-3D84-24EC-21435744B9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178006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6F6E40A-A2E8-4225-2918-CE1F7288954B}"/>
                  </a:ext>
                </a:extLst>
              </p:cNvPr>
              <p:cNvSpPr/>
              <p:nvPr/>
            </p:nvSpPr>
            <p:spPr>
              <a:xfrm>
                <a:off x="5681666" y="2163818"/>
                <a:ext cx="3208020" cy="3993142"/>
              </a:xfrm>
              <a:prstGeom prst="rect">
                <a:avLst/>
              </a:prstGeom>
              <a:ln w="38100">
                <a:noFill/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Mesures</a:t>
                </a:r>
              </a:p>
              <a:p>
                <a:pPr algn="ctr"/>
                <a:endParaRPr lang="fr-FR" sz="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Théoriquement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1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6</m:t>
                    </m:r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2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200" b="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𝐻𝑝</m:t>
                        </m:r>
                      </m:sub>
                    </m:sSub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</m:t>
                    </m:r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02 </m:t>
                    </m:r>
                    <m:r>
                      <m:rPr>
                        <m:nor/>
                      </m:rPr>
                      <a:rPr lang="fr-FR" sz="12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𝐻𝑝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=37 </m:t>
                      </m:r>
                      <m:r>
                        <m:rPr>
                          <m:nor/>
                        </m:rPr>
                        <a:rPr lang="fr-FR" sz="16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endParaRPr lang="fr-FR" sz="600" dirty="0">
                  <a:solidFill>
                    <a:srgbClr val="C00000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Expérimentalement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1,</m:t>
                    </m:r>
                    <m:r>
                      <m:rPr>
                        <m:nor/>
                      </m:rPr>
                      <a:rPr lang="fr-FR" sz="12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48 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mV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𝐻𝑝</m:t>
                        </m:r>
                      </m:sub>
                    </m:sSub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0,62</m:t>
                    </m:r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2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2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𝑀𝑅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𝐻𝑝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6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6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fr-FR" sz="16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𝑒𝑥𝑝</m:t>
                                      </m:r>
                                    </m:sub>
                                  </m:sSub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fr-FR" sz="16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6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fr-FR" sz="16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  <m:sub>
                                  <m:r>
                                    <a:rPr lang="fr-FR" sz="16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𝑒𝑥𝑝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7,6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6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/>
                <a:endParaRPr lang="fr-FR" sz="600" dirty="0">
                  <a:solidFill>
                    <a:srgbClr val="C00000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Ecarts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=7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9,4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pPr/>
                <a:endParaRPr lang="fr-FR" sz="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Causes :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>
                    <a:solidFill>
                      <a:schemeClr val="tx1"/>
                    </a:solidFill>
                  </a:rPr>
                  <a:t>Asymétrie de bobinage</a:t>
                </a:r>
              </a:p>
              <a:p>
                <a:pPr/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6F6E40A-A2E8-4225-2918-CE1F728895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2163818"/>
                <a:ext cx="3208020" cy="3993142"/>
              </a:xfrm>
              <a:prstGeom prst="rect">
                <a:avLst/>
              </a:prstGeom>
              <a:blipFill>
                <a:blip r:embed="rId5"/>
                <a:stretch>
                  <a:fillRect l="-951" t="-458" b="-305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AFFEE1F-3D02-090A-479D-90A16735DDAF}"/>
                  </a:ext>
                </a:extLst>
              </p:cNvPr>
              <p:cNvSpPr/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ln w="38100">
                <a:solidFill>
                  <a:srgbClr val="4A66AC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de la sensibilité aux champs extérieurs :</a:t>
                </a:r>
                <a:endParaRPr lang="fr-FR" sz="1400" b="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 =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|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AFFEE1F-3D02-090A-479D-90A16735DD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4A66AC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8A4355-9F53-EC56-1C7E-FC7FB883A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6E4002-AA4B-6CDA-E4E7-352C08E77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22</a:t>
            </a:fld>
            <a:endParaRPr lang="fr-FR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3A21404-EC4C-8456-3B1E-A8B200D81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8857701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19A9E-1C8C-7508-4A99-E9E72DA06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2C03496-86C2-E1C4-476E-BF55D507C24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CONCLUSION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500E49-9BB6-266A-A15B-45A7A7E94780}"/>
              </a:ext>
            </a:extLst>
          </p:cNvPr>
          <p:cNvSpPr/>
          <p:nvPr/>
        </p:nvSpPr>
        <p:spPr>
          <a:xfrm>
            <a:off x="326443" y="419481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329CF280-6AA1-02B9-5766-0A88FFF47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9328" y="1181389"/>
            <a:ext cx="7425344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1600" dirty="0"/>
              <a:t>Dans quelle mesure </a:t>
            </a:r>
            <a:r>
              <a:rPr lang="fr-FR" sz="1600" b="1" dirty="0"/>
              <a:t>l'ajout d'une seconde bobine 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1600" dirty="0"/>
              <a:t>permet-il </a:t>
            </a:r>
            <a:r>
              <a:rPr lang="fr-FR" sz="1600" b="1" dirty="0"/>
              <a:t>d'éliminer les parasites </a:t>
            </a:r>
            <a:r>
              <a:rPr lang="fr-FR" sz="1600" dirty="0"/>
              <a:t>?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1600" dirty="0"/>
              <a:t>Comment cela impacte-t-il </a:t>
            </a:r>
            <a:r>
              <a:rPr lang="fr-FR" sz="1600" b="1" dirty="0"/>
              <a:t>la richesse du son </a:t>
            </a:r>
            <a:r>
              <a:rPr lang="fr-FR" sz="1600" dirty="0"/>
              <a:t>?</a:t>
            </a:r>
            <a:endParaRPr kumimoji="0" lang="fr-FR" altLang="fr-FR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5DCA8F8-D862-BC8C-AF76-12EA5860996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79A5BE-F8B6-F182-EAE5-5A74F73561AD}"/>
              </a:ext>
            </a:extLst>
          </p:cNvPr>
          <p:cNvSpPr txBox="1"/>
          <p:nvPr/>
        </p:nvSpPr>
        <p:spPr>
          <a:xfrm>
            <a:off x="720826" y="772958"/>
            <a:ext cx="77023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Arial Black" panose="020B0A04020102020204" pitchFamily="34" charset="0"/>
              </a:rPr>
              <a:t>Problématique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153EAE-61C2-F213-92AF-9F717B075800}"/>
              </a:ext>
            </a:extLst>
          </p:cNvPr>
          <p:cNvSpPr txBox="1"/>
          <p:nvPr/>
        </p:nvSpPr>
        <p:spPr>
          <a:xfrm>
            <a:off x="720825" y="2388402"/>
            <a:ext cx="77023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Arial Black" panose="020B0A04020102020204" pitchFamily="34" charset="0"/>
              </a:rPr>
              <a:t>Conclusion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6297959-A9E0-C237-3E10-5F1C61755A38}"/>
              </a:ext>
            </a:extLst>
          </p:cNvPr>
          <p:cNvGrpSpPr/>
          <p:nvPr/>
        </p:nvGrpSpPr>
        <p:grpSpPr>
          <a:xfrm>
            <a:off x="349675" y="2989072"/>
            <a:ext cx="8444650" cy="2862322"/>
            <a:chOff x="349675" y="2989072"/>
            <a:chExt cx="8444650" cy="286232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066C661-B607-061A-A9F8-3C818C718700}"/>
                </a:ext>
              </a:extLst>
            </p:cNvPr>
            <p:cNvSpPr txBox="1"/>
            <p:nvPr/>
          </p:nvSpPr>
          <p:spPr>
            <a:xfrm>
              <a:off x="349675" y="2989072"/>
              <a:ext cx="8444650" cy="28623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u="sng" dirty="0"/>
                <a:t>Micro Singlecoil :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Sensible aux champs extérieurs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Spectre riche dans les hautes fréquences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endParaRPr lang="fr-FR" dirty="0"/>
            </a:p>
            <a:p>
              <a:r>
                <a:rPr lang="fr-FR" b="1" u="sng" dirty="0"/>
                <a:t>Micro Humbucker :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Reduction efficace du bourdonnement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fr-FR" dirty="0"/>
                <a:t>Filtrage spatial accru qui atténue certaines harmoniques</a:t>
              </a:r>
            </a:p>
            <a:p>
              <a:pPr marL="285750" indent="-285750">
                <a:buFont typeface="Wingdings" panose="05000000000000000000" pitchFamily="2" charset="2"/>
                <a:buChar char="q"/>
              </a:pPr>
              <a:endParaRPr lang="fr-FR" dirty="0"/>
            </a:p>
            <a:p>
              <a:r>
                <a:rPr lang="fr-FR" b="1" u="sng" dirty="0"/>
                <a:t>Donc :</a:t>
              </a:r>
            </a:p>
            <a:p>
              <a:r>
                <a:rPr lang="fr-FR" dirty="0"/>
                <a:t>Nécessité de faire des </a:t>
              </a:r>
              <a:r>
                <a:rPr lang="fr-FR" u="sng" dirty="0">
                  <a:solidFill>
                    <a:srgbClr val="C00000"/>
                  </a:solidFill>
                </a:rPr>
                <a:t>compromis</a:t>
              </a:r>
            </a:p>
          </p:txBody>
        </p:sp>
        <p:pic>
          <p:nvPicPr>
            <p:cNvPr id="17" name="Graphic 16" descr="Checkmark with solid fill">
              <a:extLst>
                <a:ext uri="{FF2B5EF4-FFF2-40B4-BE49-F238E27FC236}">
                  <a16:creationId xmlns:a16="http://schemas.microsoft.com/office/drawing/2014/main" id="{5012B3B3-5B7E-B87A-8C7E-CE9EC85084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30920" y="3551700"/>
              <a:ext cx="252000" cy="252000"/>
            </a:xfrm>
            <a:prstGeom prst="rect">
              <a:avLst/>
            </a:prstGeom>
          </p:spPr>
        </p:pic>
        <p:pic>
          <p:nvPicPr>
            <p:cNvPr id="19" name="Graphic 18" descr="Checkmark with solid fill">
              <a:extLst>
                <a:ext uri="{FF2B5EF4-FFF2-40B4-BE49-F238E27FC236}">
                  <a16:creationId xmlns:a16="http://schemas.microsoft.com/office/drawing/2014/main" id="{2F3153A6-DA11-EE61-3CA2-F2B46B137E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30920" y="4377858"/>
              <a:ext cx="252000" cy="252000"/>
            </a:xfrm>
            <a:prstGeom prst="rect">
              <a:avLst/>
            </a:prstGeom>
          </p:spPr>
        </p:pic>
        <p:pic>
          <p:nvPicPr>
            <p:cNvPr id="21" name="Graphic 20" descr="Close with solid fill">
              <a:extLst>
                <a:ext uri="{FF2B5EF4-FFF2-40B4-BE49-F238E27FC236}">
                  <a16:creationId xmlns:a16="http://schemas.microsoft.com/office/drawing/2014/main" id="{24AE6B43-99B1-097D-E732-FBC3A25B7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13775" y="3317129"/>
              <a:ext cx="252000" cy="252000"/>
            </a:xfrm>
            <a:prstGeom prst="rect">
              <a:avLst/>
            </a:prstGeom>
          </p:spPr>
        </p:pic>
        <p:pic>
          <p:nvPicPr>
            <p:cNvPr id="23" name="Graphic 22" descr="Close with solid fill">
              <a:extLst>
                <a:ext uri="{FF2B5EF4-FFF2-40B4-BE49-F238E27FC236}">
                  <a16:creationId xmlns:a16="http://schemas.microsoft.com/office/drawing/2014/main" id="{4E04D3B4-BD96-EA47-260F-84C021B0D37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13775" y="4690634"/>
              <a:ext cx="252000" cy="252000"/>
            </a:xfrm>
            <a:prstGeom prst="rect">
              <a:avLst/>
            </a:prstGeom>
          </p:spPr>
        </p:pic>
      </p:grpSp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A46C94FB-A564-9E66-0F6B-64A3364C6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871C730E-590F-035A-C8A6-D783011A5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23</a:t>
            </a:fld>
            <a:endParaRPr lang="fr-FR"/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E3D7A7C2-019E-6211-A4E7-A0F5C7505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34681875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96DEC9D-D575-DBBD-0410-59D2ED433045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DCCB68E-E8C2-CC4C-3A75-B5BA7F6D35A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solidFill>
              <a:srgbClr val="4A66AC"/>
            </a:solidFill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Footer Placeholder 2">
              <a:extLst>
                <a:ext uri="{FF2B5EF4-FFF2-40B4-BE49-F238E27FC236}">
                  <a16:creationId xmlns:a16="http://schemas.microsoft.com/office/drawing/2014/main" id="{CF93ABBD-287B-55E3-11A3-68FE11A2765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1F750C-911D-65AC-5250-EA8EDE55DF5D}"/>
              </a:ext>
            </a:extLst>
          </p:cNvPr>
          <p:cNvSpPr txBox="1"/>
          <p:nvPr/>
        </p:nvSpPr>
        <p:spPr>
          <a:xfrm>
            <a:off x="326443" y="1384451"/>
            <a:ext cx="849111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Annexe 1 :</a:t>
            </a:r>
            <a:r>
              <a:rPr lang="fr-FR" dirty="0"/>
              <a:t> Références bibliographiques et sources. </a:t>
            </a:r>
          </a:p>
          <a:p>
            <a:r>
              <a:rPr lang="fr-FR" b="1" dirty="0"/>
              <a:t>Annexe 2 :</a:t>
            </a:r>
            <a:r>
              <a:rPr lang="fr-FR" dirty="0"/>
              <a:t> Remerciements. </a:t>
            </a:r>
          </a:p>
          <a:p>
            <a:r>
              <a:rPr lang="fr-FR" b="1" dirty="0"/>
              <a:t>Annexe 3 :</a:t>
            </a:r>
            <a:r>
              <a:rPr lang="fr-FR" dirty="0"/>
              <a:t> Notations et valeur numérique. </a:t>
            </a:r>
          </a:p>
          <a:p>
            <a:r>
              <a:rPr lang="fr-FR" b="1" dirty="0"/>
              <a:t>Annexe 4 :</a:t>
            </a:r>
            <a:r>
              <a:rPr lang="fr-FR" dirty="0"/>
              <a:t> Modélisation de l'induction par la corde. </a:t>
            </a:r>
          </a:p>
          <a:p>
            <a:r>
              <a:rPr lang="fr-FR" b="1" dirty="0"/>
              <a:t>Annexe 5 :</a:t>
            </a:r>
            <a:r>
              <a:rPr lang="fr-FR" dirty="0"/>
              <a:t> Théorie de la réjection du champ parasite. </a:t>
            </a:r>
          </a:p>
          <a:p>
            <a:r>
              <a:rPr lang="fr-FR" b="1" dirty="0"/>
              <a:t>Annexe 6 :</a:t>
            </a:r>
            <a:r>
              <a:rPr lang="fr-FR" dirty="0"/>
              <a:t> Méthodes de traitement numérique et filtrage. </a:t>
            </a:r>
          </a:p>
          <a:p>
            <a:r>
              <a:rPr lang="fr-FR" b="1" dirty="0"/>
              <a:t>Annexe 7 :</a:t>
            </a:r>
            <a:r>
              <a:rPr lang="fr-FR" dirty="0"/>
              <a:t> Algorithme de Levenberg-Marquardt. </a:t>
            </a:r>
          </a:p>
          <a:p>
            <a:r>
              <a:rPr lang="fr-FR" b="1" dirty="0"/>
              <a:t>Annexe 8 :</a:t>
            </a:r>
            <a:r>
              <a:rPr lang="fr-FR" dirty="0"/>
              <a:t> Analyse des échecs et difficultés rencontrées.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E49A0A-51A0-296B-A228-0C95E4C21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78B9A8-F364-664D-6AB6-09D29B8D1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24</a:t>
            </a:fld>
            <a:endParaRPr lang="fr-FR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7B18BD4-8B0C-2661-3D31-7CBB2D059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8393826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1:</a:t>
            </a:r>
            <a:r>
              <a:rPr lang="fr-FR" sz="2000" dirty="0">
                <a:latin typeface="Arial Black" panose="020B0A04020102020204" pitchFamily="34" charset="0"/>
              </a:rPr>
              <a:t> Références bibliographiques et sources.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26443" y="1372472"/>
            <a:ext cx="849111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[1] </a:t>
            </a:r>
            <a:r>
              <a:rPr lang="en-GB" sz="1600" dirty="0" err="1"/>
              <a:t>WiseGuy</a:t>
            </a:r>
            <a:r>
              <a:rPr lang="en-GB" sz="1600" dirty="0"/>
              <a:t> Research Consultants, "Global Electric Guitar Pickup Market Research Report 2024," Pune, India, 2024.</a:t>
            </a:r>
          </a:p>
          <a:p>
            <a:endParaRPr lang="en-GB" sz="1600" dirty="0"/>
          </a:p>
          <a:p>
            <a:r>
              <a:rPr lang="en-GB" sz="1600" b="1" dirty="0"/>
              <a:t>[2] </a:t>
            </a:r>
            <a:r>
              <a:rPr lang="en-GB" sz="1600" dirty="0"/>
              <a:t>Matthew W. Hill, "The hidden history of the electric guitar", in Quand la </a:t>
            </a:r>
            <a:r>
              <a:rPr lang="en-GB" sz="1600" dirty="0" err="1"/>
              <a:t>guitare</a:t>
            </a:r>
            <a:r>
              <a:rPr lang="en-GB" sz="1600" dirty="0"/>
              <a:t> [s']</a:t>
            </a:r>
            <a:r>
              <a:rPr lang="en-GB" sz="1600" dirty="0" err="1"/>
              <a:t>électrise</a:t>
            </a:r>
            <a:r>
              <a:rPr lang="en-GB" sz="1600" dirty="0"/>
              <a:t> !, Benoît Navarret et al. (dir.), Sorbonne Université Presses, pp. 33-61, 2022.</a:t>
            </a:r>
          </a:p>
          <a:p>
            <a:endParaRPr lang="en-GB" sz="1600" dirty="0"/>
          </a:p>
          <a:p>
            <a:r>
              <a:rPr lang="en-GB" sz="1600" b="1" dirty="0"/>
              <a:t>[3] </a:t>
            </a:r>
            <a:r>
              <a:rPr lang="en-GB" sz="1600" dirty="0"/>
              <a:t>N. G. Horton &amp; T. R. Moore : </a:t>
            </a:r>
            <a:r>
              <a:rPr lang="en-GB" sz="1600" dirty="0" err="1"/>
              <a:t>Modeling</a:t>
            </a:r>
            <a:r>
              <a:rPr lang="en-GB" sz="1600" dirty="0"/>
              <a:t> the magnetic pickup of an electric guitar :</a:t>
            </a:r>
          </a:p>
          <a:p>
            <a:r>
              <a:rPr lang="en-GB" sz="1600" dirty="0"/>
              <a:t>American Journal of Physics, vol. 77, no. 2, pp. 144–150, 2009, </a:t>
            </a:r>
            <a:r>
              <a:rPr lang="en-GB" sz="1600" dirty="0" err="1"/>
              <a:t>doi</a:t>
            </a:r>
            <a:r>
              <a:rPr lang="en-GB" sz="1600" dirty="0"/>
              <a:t>: 10.1119/1.2990663</a:t>
            </a:r>
          </a:p>
          <a:p>
            <a:endParaRPr lang="en-GB" sz="1600" dirty="0"/>
          </a:p>
          <a:p>
            <a:r>
              <a:rPr lang="en-GB" sz="1600" b="1" dirty="0"/>
              <a:t>[4] </a:t>
            </a:r>
            <a:r>
              <a:rPr lang="en-GB" sz="1600" dirty="0"/>
              <a:t>S. W. Duncan, "Interview With Seth Lover", Seymour Duncan.  [En </a:t>
            </a:r>
            <a:r>
              <a:rPr lang="en-GB" sz="1600" dirty="0" err="1"/>
              <a:t>ligne</a:t>
            </a:r>
            <a:r>
              <a:rPr lang="en-GB" sz="1600" dirty="0"/>
              <a:t>]. Disponible sur: </a:t>
            </a:r>
            <a:r>
              <a:rPr lang="en-GB" sz="1600" dirty="0">
                <a:hlinkClick r:id="rId3"/>
              </a:rPr>
              <a:t>https://www.seymourduncan.com/blog/latest-updates/seymour-w-duncans-interview-with-seth-lover</a:t>
            </a:r>
            <a:endParaRPr lang="en-GB" sz="1600" dirty="0"/>
          </a:p>
          <a:p>
            <a:endParaRPr lang="en-GB" sz="1600" dirty="0"/>
          </a:p>
          <a:p>
            <a:r>
              <a:rPr lang="en-GB" sz="1600" b="1" dirty="0"/>
              <a:t>[5] </a:t>
            </a:r>
            <a:r>
              <a:rPr lang="en-GB" sz="1600" dirty="0"/>
              <a:t>Dan Carson, "Investigation of the Electromagnetic Properties of Electric Guitar Pickups", University of Illinois at Urbana-Champaign, Physics Senior Thesis, 2009.</a:t>
            </a:r>
          </a:p>
          <a:p>
            <a:endParaRPr lang="en-GB" sz="1600" dirty="0"/>
          </a:p>
          <a:p>
            <a:r>
              <a:rPr lang="en-GB" sz="1600" b="1" dirty="0"/>
              <a:t>[6] </a:t>
            </a:r>
            <a:r>
              <a:rPr lang="en-GB" sz="1600" dirty="0"/>
              <a:t>B. </a:t>
            </a:r>
            <a:r>
              <a:rPr lang="en-GB" sz="1600" dirty="0" err="1"/>
              <a:t>d’Andréa</a:t>
            </a:r>
            <a:r>
              <a:rPr lang="en-GB" sz="1600" dirty="0"/>
              <a:t>-Novel, B. Fabre, et P. Jouvelot, </a:t>
            </a:r>
            <a:r>
              <a:rPr lang="en-GB" sz="1600" dirty="0" err="1"/>
              <a:t>Acoustique</a:t>
            </a:r>
            <a:r>
              <a:rPr lang="en-GB" sz="1600" dirty="0"/>
              <a:t> Informatique </a:t>
            </a:r>
            <a:r>
              <a:rPr lang="en-GB" sz="1600" dirty="0" err="1"/>
              <a:t>MusiquE</a:t>
            </a:r>
            <a:r>
              <a:rPr lang="en-GB" sz="1600" dirty="0"/>
              <a:t> : </a:t>
            </a:r>
            <a:r>
              <a:rPr lang="en-GB" sz="1600" dirty="0" err="1"/>
              <a:t>Outils</a:t>
            </a:r>
            <a:r>
              <a:rPr lang="en-GB" sz="1600" dirty="0"/>
              <a:t> </a:t>
            </a:r>
            <a:r>
              <a:rPr lang="en-GB" sz="1600" dirty="0" err="1"/>
              <a:t>scientifiques</a:t>
            </a:r>
            <a:r>
              <a:rPr lang="en-GB" sz="1600" dirty="0"/>
              <a:t> pour la musique. Paris, France : Presses des Mines, 2010, </a:t>
            </a:r>
            <a:r>
              <a:rPr lang="en-GB" sz="1600" dirty="0" err="1"/>
              <a:t>ch.</a:t>
            </a:r>
            <a:r>
              <a:rPr lang="en-GB" sz="1600" dirty="0"/>
              <a:t> 4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9D43332-F8BD-6E2C-04A6-7CBD2C448375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4935E0A-86AC-9436-7A04-23BB4DCFB95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A2E238EA-0333-80E5-6A4E-C1DD63F93CF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4A605A-39EA-E26C-D82F-B7364DE60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0E22E2-DDBE-522E-B78B-EC5B57DB4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E3630A-974D-CC9B-8200-E45D9FB53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2 :</a:t>
            </a:r>
            <a:r>
              <a:rPr lang="fr-FR" sz="2000" dirty="0">
                <a:latin typeface="Arial Black" panose="020B0A04020102020204" pitchFamily="34" charset="0"/>
              </a:rPr>
              <a:t> Remerciements.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1744980" y="1390254"/>
            <a:ext cx="70725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Art Music Store</a:t>
            </a:r>
            <a:r>
              <a:rPr lang="fr-FR" sz="1600" dirty="0"/>
              <a:t>,</a:t>
            </a:r>
            <a:r>
              <a:rPr lang="fr-FR" sz="1600" b="1" dirty="0"/>
              <a:t> </a:t>
            </a:r>
            <a:r>
              <a:rPr lang="fr-FR" sz="16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Menuiserie Paradis</a:t>
            </a:r>
            <a:r>
              <a:rPr lang="fr-FR" sz="16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</p:txBody>
      </p:sp>
      <p:pic>
        <p:nvPicPr>
          <p:cNvPr id="2050" name="Picture 2" descr="Les Boutiques | Art Rock Music Store, Magasin de Musique à Crolles et à ...">
            <a:extLst>
              <a:ext uri="{FF2B5EF4-FFF2-40B4-BE49-F238E27FC236}">
                <a16:creationId xmlns:a16="http://schemas.microsoft.com/office/drawing/2014/main" id="{6B5FA1A0-A21F-2704-4B07-98DC048FD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440" y="1344216"/>
            <a:ext cx="1239000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4" descr="Menuiserie Jérôme Paradis | Brézins">
            <a:extLst>
              <a:ext uri="{FF2B5EF4-FFF2-40B4-BE49-F238E27FC236}">
                <a16:creationId xmlns:a16="http://schemas.microsoft.com/office/drawing/2014/main" id="{60E6E8E9-ADE0-B962-617A-584376023B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5C5BC96-6601-01EF-A1A8-0CDE5F128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63" y="2750010"/>
            <a:ext cx="1346717" cy="126000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C4D4207A-2DE2-DDB4-499E-645E1E9A06B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B5F7D3D-AE97-12D7-592B-541818FBB0F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AC5D0688-E328-E5A7-E5DA-893DDDB0F237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87E407-76F0-D6C5-8034-9CC863A39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EC641D-A17A-C5F9-9CFD-E2BA34315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FBFB0E-A51D-1139-7503-E1B893283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2C47B-CF41-2900-27D1-46C22C904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BD09EDA-BBC9-C23C-F784-E5E302DC689C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3 :</a:t>
            </a:r>
            <a:r>
              <a:rPr lang="fr-FR" sz="2000" dirty="0">
                <a:latin typeface="Arial Black" panose="020B0A04020102020204" pitchFamily="34" charset="0"/>
              </a:rPr>
              <a:t> Notations et valeur numérique.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88B616-4201-AC96-BA95-677E016CA99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05887BE-C0C6-26B1-F07D-A7C065B7F1E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A33D505-1E0C-2999-0AA5-428C61C7DBB8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D87F4FDF-66F9-8742-498D-DAA32629EAA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D1144795-AC8B-21B2-6726-CE3D16CE573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92731092"/>
                  </p:ext>
                </p:extLst>
              </p:nvPr>
            </p:nvGraphicFramePr>
            <p:xfrm>
              <a:off x="345437" y="4827261"/>
              <a:ext cx="4217064" cy="1440000"/>
            </p:xfrm>
            <a:graphic>
              <a:graphicData uri="http://schemas.openxmlformats.org/drawingml/2006/table">
                <a:tbl>
                  <a:tblPr/>
                  <a:tblGrid>
                    <a:gridCol w="685916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790997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25921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14230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000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3,5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-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Perméabilité relative de l'Alnico 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35289684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𝜒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100 (ODG)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-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Susceptibilité magnétique de la corde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000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sz="1000" b="0" i="1" smtClean="0">
                                      <a:latin typeface="Cambria Math" panose="02040503050406030204" pitchFamily="18" charset="0"/>
                                    </a:rPr>
                                    <m:t>−8</m:t>
                                  </m:r>
                                </m:sup>
                              </m:sSup>
                            </m:oMath>
                          </a14:m>
                          <a:r>
                            <a:rPr lang="fr-FR" sz="1000" dirty="0"/>
                            <a:t> (ODG)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p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Volume de la portion de la corde active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D1144795-AC8B-21B2-6726-CE3D16CE573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92731092"/>
                  </p:ext>
                </p:extLst>
              </p:nvPr>
            </p:nvGraphicFramePr>
            <p:xfrm>
              <a:off x="345437" y="4827261"/>
              <a:ext cx="4217064" cy="1440000"/>
            </p:xfrm>
            <a:graphic>
              <a:graphicData uri="http://schemas.openxmlformats.org/drawingml/2006/table">
                <a:tbl>
                  <a:tblPr/>
                  <a:tblGrid>
                    <a:gridCol w="685916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790997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25921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14230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000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t="-103390" r="-514159" b="-2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3,5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-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Perméabilité relative de l'Alnico 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35289684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t="-200000" r="-51415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100 (ODG)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-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Susceptibilité magnétique de la corde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305085" r="-514159" b="-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86923" t="-305085" r="-346923" b="-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47143" t="-305085" r="-544286" b="-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Volume de la portion de la corde active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3B381818-6C77-AF12-22D8-30F5A4EA623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80229"/>
                  </p:ext>
                </p:extLst>
              </p:nvPr>
            </p:nvGraphicFramePr>
            <p:xfrm>
              <a:off x="345439" y="1507861"/>
              <a:ext cx="4217062" cy="2880000"/>
            </p:xfrm>
            <a:graphic>
              <a:graphicData uri="http://schemas.openxmlformats.org/drawingml/2006/table">
                <a:tbl>
                  <a:tblPr/>
                  <a:tblGrid>
                    <a:gridCol w="685916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790996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25920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14230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000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0,105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du micro (SingleCoil)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𝐻𝑃</m:t>
                                    </m:r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</m:oMath>
                            </m:oMathPara>
                          </a14:m>
                          <a:endParaRPr lang="fr-FR" sz="1000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𝐻𝑃</m:t>
                                    </m:r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0,147, 0,165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b="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du micro (Humbucker parallèle)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𝐻𝑆</m:t>
                                    </m:r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</m:oMath>
                            </m:oMathPara>
                          </a14:m>
                          <a:endParaRPr lang="fr-FR" sz="1000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𝐻𝑆</m:t>
                                    </m:r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0,202, 0,220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du micro (Humbucker série)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85710569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0,85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Longueur vibrante de la corde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83586442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0,300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de l'origine de la perturbation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35740474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0,105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𝑚𝑚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Amplitude initiale de la perturbation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78196520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80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Fréquence fondamentale de vibration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7509288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3B381818-6C77-AF12-22D8-30F5A4EA623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80229"/>
                  </p:ext>
                </p:extLst>
              </p:nvPr>
            </p:nvGraphicFramePr>
            <p:xfrm>
              <a:off x="345439" y="1507861"/>
              <a:ext cx="4217062" cy="2880000"/>
            </p:xfrm>
            <a:graphic>
              <a:graphicData uri="http://schemas.openxmlformats.org/drawingml/2006/table">
                <a:tbl>
                  <a:tblPr/>
                  <a:tblGrid>
                    <a:gridCol w="685916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790996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25920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14230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000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101695" r="-514159" b="-6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0,105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347143" t="-101695" r="-544286" b="-6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du micro (SingleCoil)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201695" r="-514159" b="-5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0,147, 0,165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347143" t="-201695" r="-544286" b="-5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du micro (Humbucker parallèle)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296667" r="-514159" b="-39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0,202, 0,220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347143" t="-296667" r="-544286" b="-39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du micro (Humbucker série)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85710569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403390" r="-514159" b="-30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0,85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347143" t="-403390" r="-544286" b="-30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Longueur vibrante de la corde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83586442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503390" r="-514159" b="-20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0,300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347143" t="-503390" r="-544286" b="-20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Position de l'origine de la perturbation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35740474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t="-603390" r="-514159" b="-10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0,105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3"/>
                          <a:stretch>
                            <a:fillRect l="-347143" t="-603390" r="-544286" b="-10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Amplitude initiale de la perturbation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78196520"/>
                      </a:ext>
                    </a:extLst>
                  </a:tr>
                  <a:tr h="360000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703390" r="-514159" b="-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80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47143" t="-703390" r="-544286" b="-16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Fréquence fondamentale de vibration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7509288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9" name="Table 18">
                <a:extLst>
                  <a:ext uri="{FF2B5EF4-FFF2-40B4-BE49-F238E27FC236}">
                    <a16:creationId xmlns:a16="http://schemas.microsoft.com/office/drawing/2014/main" id="{CF42D4E8-367B-CD6E-4006-68B064BCF4A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39652139"/>
                  </p:ext>
                </p:extLst>
              </p:nvPr>
            </p:nvGraphicFramePr>
            <p:xfrm>
              <a:off x="4671437" y="1507861"/>
              <a:ext cx="4324145" cy="1089627"/>
            </p:xfrm>
            <a:graphic>
              <a:graphicData uri="http://schemas.openxmlformats.org/drawingml/2006/table">
                <a:tbl>
                  <a:tblPr/>
                  <a:tblGrid>
                    <a:gridCol w="703333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811082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36736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72994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3209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95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000" dirty="0"/>
                            <a:t>-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Nombre de spire d’une bobine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000" dirty="0"/>
                            <a:t>0,06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Rayon des bobines de Helmholtz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9" name="Table 18">
                <a:extLst>
                  <a:ext uri="{FF2B5EF4-FFF2-40B4-BE49-F238E27FC236}">
                    <a16:creationId xmlns:a16="http://schemas.microsoft.com/office/drawing/2014/main" id="{CF42D4E8-367B-CD6E-4006-68B064BCF4A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39652139"/>
                  </p:ext>
                </p:extLst>
              </p:nvPr>
            </p:nvGraphicFramePr>
            <p:xfrm>
              <a:off x="4671437" y="1507861"/>
              <a:ext cx="4324145" cy="1089627"/>
            </p:xfrm>
            <a:graphic>
              <a:graphicData uri="http://schemas.openxmlformats.org/drawingml/2006/table">
                <a:tbl>
                  <a:tblPr/>
                  <a:tblGrid>
                    <a:gridCol w="703333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811082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36736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72994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3209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t="-101667" r="-518261" b="-10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95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000" dirty="0"/>
                            <a:t>-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Nombre de spire d’une bobine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t="-201667" r="-518261" b="-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000" dirty="0"/>
                            <a:t>0,06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50704" t="-201667" r="-550704" b="-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Rayon des bobines de Helmholtz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0" name="Rectangle 19">
            <a:extLst>
              <a:ext uri="{FF2B5EF4-FFF2-40B4-BE49-F238E27FC236}">
                <a16:creationId xmlns:a16="http://schemas.microsoft.com/office/drawing/2014/main" id="{4A0FDFD4-ACE1-C723-796E-51848408BDB8}"/>
              </a:ext>
            </a:extLst>
          </p:cNvPr>
          <p:cNvSpPr/>
          <p:nvPr/>
        </p:nvSpPr>
        <p:spPr>
          <a:xfrm>
            <a:off x="345439" y="1174612"/>
            <a:ext cx="4031962" cy="280107"/>
          </a:xfrm>
          <a:prstGeom prst="rect">
            <a:avLst/>
          </a:prstGeom>
          <a:ln w="38100"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numCol="2" rtlCol="0" anchor="t"/>
          <a:lstStyle/>
          <a:p>
            <a:endParaRPr lang="fr-FR" sz="1400" b="1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5CD883-82BD-74FC-0CCA-5B43225FB89A}"/>
              </a:ext>
            </a:extLst>
          </p:cNvPr>
          <p:cNvSpPr txBox="1"/>
          <p:nvPr/>
        </p:nvSpPr>
        <p:spPr>
          <a:xfrm>
            <a:off x="326443" y="1142736"/>
            <a:ext cx="43621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accent3">
                    <a:lumMod val="50000"/>
                  </a:schemeClr>
                </a:solidFill>
              </a:rPr>
              <a:t>Paramètres mécanique (induction)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D94D2AE-FBCD-6DCC-33D2-D0CB6D758659}"/>
              </a:ext>
            </a:extLst>
          </p:cNvPr>
          <p:cNvSpPr txBox="1"/>
          <p:nvPr/>
        </p:nvSpPr>
        <p:spPr>
          <a:xfrm>
            <a:off x="326442" y="4460763"/>
            <a:ext cx="43621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accent3">
                    <a:lumMod val="50000"/>
                  </a:schemeClr>
                </a:solidFill>
              </a:rPr>
              <a:t>Paramètres magnétique (induction)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8A2E43-0000-4799-8C98-5CF5D3C0AA82}"/>
              </a:ext>
            </a:extLst>
          </p:cNvPr>
          <p:cNvSpPr txBox="1"/>
          <p:nvPr/>
        </p:nvSpPr>
        <p:spPr>
          <a:xfrm>
            <a:off x="4671437" y="1122601"/>
            <a:ext cx="43621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accent3">
                    <a:lumMod val="50000"/>
                  </a:schemeClr>
                </a:solidFill>
              </a:rPr>
              <a:t>Paramètres mécanique (parasite)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4" name="Table 23">
                <a:extLst>
                  <a:ext uri="{FF2B5EF4-FFF2-40B4-BE49-F238E27FC236}">
                    <a16:creationId xmlns:a16="http://schemas.microsoft.com/office/drawing/2014/main" id="{CB49C052-18CA-D0C9-14A7-3BDB164A18B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33473610"/>
                  </p:ext>
                </p:extLst>
              </p:nvPr>
            </p:nvGraphicFramePr>
            <p:xfrm>
              <a:off x="4778519" y="3118385"/>
              <a:ext cx="4217064" cy="1089627"/>
            </p:xfrm>
            <a:graphic>
              <a:graphicData uri="http://schemas.openxmlformats.org/drawingml/2006/table">
                <a:tbl>
                  <a:tblPr/>
                  <a:tblGrid>
                    <a:gridCol w="685916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790997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25921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14230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3209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1 (ODG)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p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Gradient du champ magnétique parasite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fr-FR" sz="1000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000" dirty="0"/>
                            <a:t>50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000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sz="1000" dirty="0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Fréquence du champ magnétique parasite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4" name="Table 23">
                <a:extLst>
                  <a:ext uri="{FF2B5EF4-FFF2-40B4-BE49-F238E27FC236}">
                    <a16:creationId xmlns:a16="http://schemas.microsoft.com/office/drawing/2014/main" id="{CB49C052-18CA-D0C9-14A7-3BDB164A18B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33473610"/>
                  </p:ext>
                </p:extLst>
              </p:nvPr>
            </p:nvGraphicFramePr>
            <p:xfrm>
              <a:off x="4778519" y="3118385"/>
              <a:ext cx="4217064" cy="1089627"/>
            </p:xfrm>
            <a:graphic>
              <a:graphicData uri="http://schemas.openxmlformats.org/drawingml/2006/table">
                <a:tbl>
                  <a:tblPr/>
                  <a:tblGrid>
                    <a:gridCol w="685916">
                      <a:extLst>
                        <a:ext uri="{9D8B030D-6E8A-4147-A177-3AD203B41FA5}">
                          <a16:colId xmlns:a16="http://schemas.microsoft.com/office/drawing/2014/main" val="1593414590"/>
                        </a:ext>
                      </a:extLst>
                    </a:gridCol>
                    <a:gridCol w="790997">
                      <a:extLst>
                        <a:ext uri="{9D8B030D-6E8A-4147-A177-3AD203B41FA5}">
                          <a16:colId xmlns:a16="http://schemas.microsoft.com/office/drawing/2014/main" val="2720004451"/>
                        </a:ext>
                      </a:extLst>
                    </a:gridCol>
                    <a:gridCol w="425921">
                      <a:extLst>
                        <a:ext uri="{9D8B030D-6E8A-4147-A177-3AD203B41FA5}">
                          <a16:colId xmlns:a16="http://schemas.microsoft.com/office/drawing/2014/main" val="161282379"/>
                        </a:ext>
                      </a:extLst>
                    </a:gridCol>
                    <a:gridCol w="2314230">
                      <a:extLst>
                        <a:ext uri="{9D8B030D-6E8A-4147-A177-3AD203B41FA5}">
                          <a16:colId xmlns:a16="http://schemas.microsoft.com/office/drawing/2014/main" val="1526808663"/>
                        </a:ext>
                      </a:extLst>
                    </a:gridCol>
                  </a:tblGrid>
                  <a:tr h="363209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Notation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Valeur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Unité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b="1" dirty="0"/>
                            <a:t>Description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36538467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5"/>
                          <a:stretch>
                            <a:fillRect t="-101667" r="-514159" b="-1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fr-FR" sz="1000" dirty="0"/>
                            <a:t>1 (ODG)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5"/>
                          <a:stretch>
                            <a:fillRect l="-347143" t="-101667" r="-544286" b="-1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Gradient du champ magnétique parasite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03249128"/>
                      </a:ext>
                    </a:extLst>
                  </a:tr>
                  <a:tr h="363209"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t="-201667" r="-514159" b="-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000" dirty="0"/>
                            <a:t>50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347143" t="-201667" r="-544286" b="-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000" dirty="0"/>
                            <a:t>Fréquence du champ magnétique parasite</a:t>
                          </a:r>
                        </a:p>
                      </a:txBody>
                      <a:tcPr marL="30246" marR="30246" marT="15123" marB="15123" anchor="ctr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2522643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C245918D-E210-1F1E-4EC5-A7B43F3E7B84}"/>
              </a:ext>
            </a:extLst>
          </p:cNvPr>
          <p:cNvSpPr txBox="1"/>
          <p:nvPr/>
        </p:nvSpPr>
        <p:spPr>
          <a:xfrm>
            <a:off x="4778519" y="2733125"/>
            <a:ext cx="43621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accent3">
                    <a:lumMod val="50000"/>
                  </a:schemeClr>
                </a:solidFill>
              </a:rPr>
              <a:t>Paramètres magnétiques (parasite)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20EF1A-1F6F-9525-65C0-C1F7BBBB7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C264E8-99DE-751E-410A-E95A048EA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27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6E79A1-0201-53D7-0BB4-C20241C7F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38370365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4 :</a:t>
            </a:r>
            <a:r>
              <a:rPr lang="fr-FR" sz="2000" dirty="0">
                <a:latin typeface="Arial Black" panose="020B0A04020102020204" pitchFamily="34" charset="0"/>
              </a:rPr>
              <a:t> Modélisation de l'induction par la corde.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156412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b="1" u="sng" dirty="0"/>
                  <a:t>Vibration de la corde :</a:t>
                </a:r>
                <a:endParaRPr lang="fr-FR" sz="1200" dirty="0"/>
              </a:p>
              <a:p>
                <a:r>
                  <a:rPr lang="fr-FR" sz="1200" dirty="0"/>
                  <a:t>L’étude de la corde est basée sur l’équation d’Alembert,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z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avec une force de pincement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z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note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r>
                  <a:rPr lang="fr-FR" sz="1200" dirty="0"/>
                  <a:t>.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𝐹𝑛𝑡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156412"/>
              </a:xfrm>
              <a:prstGeom prst="rect">
                <a:avLst/>
              </a:prstGeom>
              <a:blipFill>
                <a:blip r:embed="rId2"/>
                <a:stretch>
                  <a:fillRect t="-118" b="-1974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0692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b="1" u="sng" dirty="0"/>
                  <a:t>Induction :</a:t>
                </a:r>
                <a:endParaRPr lang="fr-FR" sz="1200" dirty="0"/>
              </a:p>
              <a:p>
                <a:r>
                  <a:rPr lang="fr-FR" sz="1200" dirty="0"/>
                  <a:t>De plus, une portion de la corde de volume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fr-FR" sz="1200" dirty="0"/>
                  <a:t> et de susceptibilité magnétique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𝜒</m:t>
                    </m:r>
                  </m:oMath>
                </a14:m>
                <a:r>
                  <a:rPr lang="fr-FR" sz="1200" dirty="0"/>
                  <a:t> est plongé dans le champ du micro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acc>
                  </m:oMath>
                </a14:m>
                <a:r>
                  <a:rPr lang="fr-FR" sz="1200" dirty="0"/>
                  <a:t>. Donc elle acquiert un moment magnétique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acc>
                        </m:num>
                        <m:den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La corde créée donc un champ magnétique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e>
                      </m:acc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num>
                        <m:den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 le flux traversant le bobinage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spires est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nary>
                        <m:naryPr>
                          <m:chr m:val="∯"/>
                          <m:limLoc m:val="undOvr"/>
                          <m:subHide m:val="on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𝑑𝑆</m:t>
                              </m:r>
                            </m:e>
                          </m:acc>
                        </m:e>
                      </m:nary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1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sSub>
                                <m:sSub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d>
                                    <m:dPr>
                                      <m:ctrlPr>
                                        <a:rPr lang="fr-FR" sz="11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d>
                            </m:num>
                            <m:den>
                              <m:sSup>
                                <m:sSup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</m:den>
                          </m:f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den>
                          </m:f>
                          <m:f>
                            <m:f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func>
                        <m:func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1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𝑛𝐹𝑡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=2</m:t>
                    </m:r>
                    <m:r>
                      <a:rPr lang="fr-F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fr-F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𝑛𝐹</m:t>
                    </m:r>
                    <m:func>
                      <m:func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069208"/>
              </a:xfrm>
              <a:prstGeom prst="rect">
                <a:avLst/>
              </a:prstGeom>
              <a:blipFill>
                <a:blip r:embed="rId3"/>
                <a:stretch>
                  <a:fillRect t="-24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FA777B76-EF7C-8876-1D5D-D609496C95D8}"/>
              </a:ext>
            </a:extLst>
          </p:cNvPr>
          <p:cNvGrpSpPr/>
          <p:nvPr/>
        </p:nvGrpSpPr>
        <p:grpSpPr>
          <a:xfrm>
            <a:off x="3035508" y="2887635"/>
            <a:ext cx="1623736" cy="676275"/>
            <a:chOff x="3501390" y="2752725"/>
            <a:chExt cx="1157854" cy="67627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A38606B-02D3-FB4F-4E84-A06CC752B21A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E7E64599-1C52-9F19-E75C-1C83054A94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98173CE4-32B0-FCB4-0133-B7F7F801D647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230515D-0CF5-C54C-6696-F26CC43280DD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241828B-5116-7216-6B5A-F400AF0BB812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1FB3372-8A72-8A3C-4185-141A249DDF65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10714" r="-3571" b="-2272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51B331E-825D-7998-84BB-C2CEA27EFC7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AA243EF-8D9A-619D-753B-253FFACAA14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E96EF237-2867-B9B6-4D1E-4353B4EF70F7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0A2407-C86B-F9A7-56CD-2554B091F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C2C0DA-DD5C-6D0D-2BEF-1CAD83031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28</a:t>
            </a:fld>
            <a:endParaRPr lang="fr-FR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804519D-51B6-4C5E-B301-3F47D06C1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297628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5 :</a:t>
            </a:r>
            <a:r>
              <a:rPr lang="fr-FR" sz="2000" dirty="0">
                <a:latin typeface="Arial Black" panose="020B0A04020102020204" pitchFamily="34" charset="0"/>
              </a:rPr>
              <a:t> Théorie de la réjection du champ parasite.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296946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b="1" u="sng" dirty="0"/>
                  <a:t>Définition :</a:t>
                </a:r>
                <a:endParaRPr lang="fr-FR" sz="1200" dirty="0"/>
              </a:p>
              <a:p>
                <a:r>
                  <a:rPr lang="fr-FR" sz="1200" dirty="0"/>
                  <a:t>On appellera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fr-FR" sz="1200" dirty="0"/>
                  <a:t> le signal utile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fr-FR" sz="1200" dirty="0"/>
                  <a:t> le signal parasite. ON définit le </a:t>
                </a:r>
                <a:r>
                  <a:rPr lang="fr-FR" sz="1200" u="sng" dirty="0"/>
                  <a:t>Taux de Rejection de Mode Commun</a:t>
                </a:r>
                <a:endParaRPr lang="fr-FR" sz="1200" b="1" u="sng" dirty="0"/>
              </a:p>
              <a:p>
                <a:endParaRPr lang="fr-FR" sz="1200" b="1" u="sng" dirty="0"/>
              </a:p>
              <a:p>
                <a:r>
                  <a:rPr lang="fr-FR" sz="1200" b="1" u="sng" dirty="0"/>
                  <a:t>Modèle du champ parasite :</a:t>
                </a:r>
                <a:endParaRPr lang="fr-FR" sz="1200" dirty="0"/>
              </a:p>
              <a:p>
                <a:r>
                  <a:rPr lang="fr-FR" sz="1200" dirty="0"/>
                  <a:t>On étudie un champ parasite d’amplitude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, de pulsation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sz="1200" dirty="0"/>
                  <a:t> et de gradient </a:t>
                </a:r>
                <a14:m>
                  <m:oMath xmlns:m="http://schemas.openxmlformats.org/officeDocument/2006/math">
                    <m:r>
                      <a:rPr lang="fr-FR" sz="12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 régie par l’équation: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′,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 on a le flux à travers une surface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fr-FR" sz="1200" dirty="0"/>
                  <a:t> est: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 b="0" i="0" smtClean="0">
                          <a:latin typeface="Cambria Math" panose="02040503050406030204" pitchFamily="18" charset="0"/>
                        </a:rPr>
                        <m:t>Φ</m:t>
                      </m:r>
                      <m:r>
                        <a:rPr lang="fr-FR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1200" b="0" i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fr-FR" sz="1200" b="0" i="0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fr-FR" sz="1200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∯"/>
                          <m:limLoc m:val="undOvr"/>
                          <m:subHide m:val="on"/>
                          <m:supHide m:val="on"/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𝑑𝑆</m:t>
                              </m:r>
                            </m:e>
                          </m:acc>
                        </m:e>
                      </m:nary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sSup>
                        <m:sSup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une bobine composée de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b="1" u="sng" dirty="0"/>
                  <a:t>Pour un micro SingleCoil :</a:t>
                </a:r>
              </a:p>
              <a:p>
                <a:r>
                  <a:rPr lang="fr-FR" sz="1200" dirty="0"/>
                  <a:t>On place le micro à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FR" sz="1200" dirty="0"/>
                  <a:t>, 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296946"/>
              </a:xfrm>
              <a:prstGeom prst="rect">
                <a:avLst/>
              </a:prstGeom>
              <a:blipFill>
                <a:blip r:embed="rId3"/>
                <a:stretch>
                  <a:fillRect t="-14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43937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b="1" u="sng" dirty="0"/>
                  <a:t>Pour un micro Humbucker série :</a:t>
                </a:r>
              </a:p>
              <a:p>
                <a:r>
                  <a:rPr lang="fr-FR" sz="12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Le micro est composé de deux bobine espacées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sz="1200" dirty="0"/>
                  <a:t> à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)+(−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Φ</m:t>
                              </m:r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 −</m:t>
                          </m:r>
                          <m:f>
                            <m:f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num>
                            <m:den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𝐻𝑠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=20</m:t>
                    </m:r>
                    <m:func>
                      <m:func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𝐻𝑠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1200" dirty="0"/>
                  <a:t> </a:t>
                </a:r>
                <a14:m>
                  <m:oMath xmlns:m="http://schemas.openxmlformats.org/officeDocument/2006/math">
                    <m:r>
                      <a:rPr lang="fr-FR" sz="12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20</m:t>
                    </m:r>
                    <m:func>
                      <m:func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sz="1200" b="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b="1" u="sng" dirty="0"/>
                  <a:t>Pour un micro Humbucker parallèle :</a:t>
                </a:r>
              </a:p>
              <a:p>
                <a:r>
                  <a:rPr lang="fr-FR" sz="12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𝐻𝑝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De même, sous les mêmes notations,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fr-FR" sz="14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=20</m:t>
                    </m:r>
                    <m:func>
                      <m:func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1200" dirty="0"/>
                  <a:t> </a:t>
                </a:r>
                <a14:m>
                  <m:oMath xmlns:m="http://schemas.openxmlformats.org/officeDocument/2006/math"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20</m:t>
                    </m:r>
                    <m:func>
                      <m:func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4393767"/>
              </a:xfrm>
              <a:prstGeom prst="rect">
                <a:avLst/>
              </a:prstGeom>
              <a:blipFill>
                <a:blip r:embed="rId4"/>
                <a:stretch>
                  <a:fillRect t="-2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4C135CFF-9836-7C54-0BFE-C55DA8EA6DF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B27E62F-509A-33EE-39F7-CF12A8D1868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9F154D45-8B11-2E2C-A9CF-70E8DE66B2B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E597473-163C-2448-B7A8-744EB33FD861}"/>
                  </a:ext>
                </a:extLst>
              </p:cNvPr>
              <p:cNvSpPr txBox="1"/>
              <p:nvPr/>
            </p:nvSpPr>
            <p:spPr>
              <a:xfrm>
                <a:off x="563660" y="5664788"/>
                <a:ext cx="8191168" cy="523220"/>
              </a:xfrm>
              <a:prstGeom prst="rect">
                <a:avLst/>
              </a:prstGeom>
              <a:ln w="28575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400" dirty="0"/>
                  <a:t>On a une annulation totale du bruit si et seulement 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sz="1400" dirty="0"/>
                  <a:t> est petit. En pratique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=0.018 </m:t>
                    </m:r>
                  </m:oMath>
                </a14:m>
                <a:r>
                  <a:rPr lang="fr-FR" sz="1400" dirty="0"/>
                  <a:t>mètre.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400" dirty="0"/>
                  <a:t>Si les deux Humbucker sont identiques, peu importe le montage, le CMRR est identique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E597473-163C-2448-B7A8-744EB33FD8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660" y="5664788"/>
                <a:ext cx="8191168" cy="523220"/>
              </a:xfrm>
              <a:prstGeom prst="rect">
                <a:avLst/>
              </a:prstGeom>
              <a:blipFill>
                <a:blip r:embed="rId5"/>
                <a:stretch>
                  <a:fillRect b="-7692"/>
                </a:stretch>
              </a:blipFill>
              <a:ln w="28575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692343-56BA-21CF-A5F9-300910282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358F73-EEB6-C7D6-8851-7C258C527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29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16B05F-F041-5835-3954-BD9D11DDD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7108C-A3BE-9F30-5F6D-AE6C160ED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E06A84A3-244C-E4E5-16D2-E0D81E52023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9AD8E1-E315-A065-149E-7D95BAB5C66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98F16D-9EEC-BD13-9BA6-4441C8EDBF7E}"/>
              </a:ext>
            </a:extLst>
          </p:cNvPr>
          <p:cNvSpPr txBox="1"/>
          <p:nvPr/>
        </p:nvSpPr>
        <p:spPr>
          <a:xfrm>
            <a:off x="345439" y="721360"/>
            <a:ext cx="849111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6 :</a:t>
            </a:r>
            <a:r>
              <a:rPr lang="fr-FR" sz="2000" dirty="0">
                <a:latin typeface="Arial Black" panose="020B0A04020102020204" pitchFamily="34" charset="0"/>
              </a:rPr>
              <a:t> Méthodes de traitement numérique et filtrage.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FEFF123-A369-3024-2D63-5BC511850FC0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passer de données bruitées non exploitables a des données exploitables?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160F269-E440-1BF8-F93A-BDF8772DA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39804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par Moyenne Mobile </a:t>
                </a:r>
                <a:r>
                  <a:rPr lang="fr-FR" sz="1400" dirty="0">
                    <a:sym typeface="Wingdings" panose="05000000000000000000" pitchFamily="2" charset="2"/>
                  </a:rPr>
                  <a:t>Chaque point est la moyenne des 50 précédents et 50 suivants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Risque de ‘’raboter’’ les pics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Aucun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numérique passe-bas</a:t>
                </a:r>
              </a:p>
              <a:p>
                <a:r>
                  <a:rPr lang="fr-FR" sz="1400" b="0" dirty="0">
                    <a:sym typeface="Wingdings" panose="05000000000000000000" pitchFamily="2" charset="2"/>
                  </a:rPr>
                  <a:t>Méthode d’Euler 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H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p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) = 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</m:t>
                          </m:r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 + </m:t>
                          </m:r>
                          <m:r>
                            <m:rPr>
                              <m:sty m:val="p"/>
                            </m:r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τp</m:t>
                          </m:r>
                        </m:den>
                      </m:f>
                    </m:oMath>
                  </m:oMathPara>
                </a14:m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Preserve l’allure globale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Introduit 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3980449"/>
              </a:xfrm>
              <a:prstGeom prst="rect">
                <a:avLst/>
              </a:prstGeom>
              <a:blipFill>
                <a:blip r:embed="rId3"/>
                <a:stretch>
                  <a:fillRect l="-633" t="-30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4EA012CD-4A4F-5077-ED00-68E3057666A1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79DF584-9CF7-B861-2268-C9DD0FDE375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9E59D5D1-9929-41AC-1C69-EDEF90D47D4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D1896C-AC65-64BB-7C08-6B7C16677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F068BC-BDCB-377D-F333-E30A971D7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30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9B6FA9-743F-8037-A7E0-47BBD167F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280029440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D22C5B-8D73-CCE6-C1F4-7842FE0B8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7D9F10B-2163-F771-FC03-D7518738EB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79F3FB8-1FB5-8F1E-C164-C844ECA3D0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B39E1-B87E-8759-1895-1DEFEB3BB07E}"/>
              </a:ext>
            </a:extLst>
          </p:cNvPr>
          <p:cNvSpPr txBox="1"/>
          <p:nvPr/>
        </p:nvSpPr>
        <p:spPr>
          <a:xfrm>
            <a:off x="345439" y="721360"/>
            <a:ext cx="849111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7 :</a:t>
            </a:r>
            <a:r>
              <a:rPr lang="fr-FR" sz="2000" dirty="0">
                <a:latin typeface="Arial Black" panose="020B0A04020102020204" pitchFamily="34" charset="0"/>
              </a:rPr>
              <a:t> Algorithme de Levenberg-Marquardt.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C72904-EEDC-1E60-1DCE-9D51B9D703C6}"/>
                  </a:ext>
                </a:extLst>
              </p:cNvPr>
              <p:cNvSpPr txBox="1"/>
              <p:nvPr/>
            </p:nvSpPr>
            <p:spPr>
              <a:xfrm>
                <a:off x="4584727" y="1127661"/>
                <a:ext cx="4264554" cy="51367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sz="1600" u="sng" dirty="0"/>
                  <a:t>Comment déterminer les valeurs des caractéristiques électriques des micros ?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b="1" u="sng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Principe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Variante de l’algorithme des moindres carrés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b="1" u="sng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Combine 2 méthodes :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Descente de gradient</a:t>
                </a:r>
                <a:r>
                  <a:rPr lang="fr-FR" altLang="fr-FR" sz="1400" dirty="0"/>
                  <a:t> : Utilisée loin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Stabilité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Méthode de Gauss-Newton</a:t>
                </a:r>
                <a:r>
                  <a:rPr lang="fr-FR" altLang="fr-FR" sz="1400" dirty="0"/>
                  <a:t> : Utilisée proche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rapidité</a:t>
                </a: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Fonctionnement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fr-FR" altLang="fr-FR" sz="1400" b="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1" i="1" smtClean="0">
                        <a:latin typeface="Cambria Math" panose="02040503050406030204" pitchFamily="18" charset="0"/>
                      </a:rPr>
                      <m:t>J</m:t>
                    </m:r>
                  </m:oMath>
                </a14:m>
                <a:r>
                  <a:rPr lang="fr-FR" altLang="fr-FR" sz="1400" dirty="0"/>
                  <a:t> : Matrice Jacobienne 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r>
                  <a:rPr lang="fr-FR" altLang="fr-FR" sz="1400" dirty="0"/>
                  <a:t> : Vecteur résidus : image de l’erreur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fr-FR" altLang="fr-FR" sz="1400" dirty="0"/>
                  <a:t> : Taux d’apprentissage variable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ϵ</m:t>
                    </m:r>
                    <m:r>
                      <a:rPr lang="fr-FR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↘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Gauss Newton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ϵ</m:t>
                    </m:r>
                    <m:r>
                      <a:rPr lang="fr-FR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↗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Descente de Gradient 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C72904-EEDC-1E60-1DCE-9D51B9D70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4727" y="1127661"/>
                <a:ext cx="4264554" cy="5136791"/>
              </a:xfrm>
              <a:prstGeom prst="rect">
                <a:avLst/>
              </a:prstGeom>
              <a:blipFill>
                <a:blip r:embed="rId2"/>
                <a:stretch>
                  <a:fillRect l="-714" t="-3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3A0C246C-3384-6CE8-D081-A3B270E39908}"/>
              </a:ext>
            </a:extLst>
          </p:cNvPr>
          <p:cNvGrpSpPr/>
          <p:nvPr/>
        </p:nvGrpSpPr>
        <p:grpSpPr>
          <a:xfrm>
            <a:off x="345440" y="1121469"/>
            <a:ext cx="4144114" cy="5136791"/>
            <a:chOff x="345440" y="1587720"/>
            <a:chExt cx="3617103" cy="442890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C7B3D5-E778-E53F-4C95-9EB24A7DBC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5440" y="1587720"/>
              <a:ext cx="3617103" cy="442890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9CF46D6-4EF4-F232-FD91-E6FB90382318}"/>
                    </a:ext>
                  </a:extLst>
                </p:cNvPr>
                <p:cNvSpPr txBox="1"/>
                <p:nvPr/>
              </p:nvSpPr>
              <p:spPr>
                <a:xfrm>
                  <a:off x="1643131" y="2224466"/>
                  <a:ext cx="1021719" cy="19454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  <m:t>p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fr-FR" sz="400" b="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 0.01</m:t>
                        </m:r>
                      </m:oMath>
                    </m:oMathPara>
                  </a14:m>
                  <a:endParaRPr lang="fr-FR" sz="400" b="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 </m:t>
                        </m:r>
                        <m:sSup>
                          <m:sSupPr>
                            <m:ctrlP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−7</m:t>
                            </m:r>
                          </m:sup>
                        </m:sSup>
                      </m:oMath>
                    </m:oMathPara>
                  </a14:m>
                  <a:endParaRPr lang="fr-FR" sz="4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9CF46D6-4EF4-F232-FD91-E6FB903823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43131" y="2224466"/>
                  <a:ext cx="1021719" cy="194540"/>
                </a:xfrm>
                <a:prstGeom prst="rect">
                  <a:avLst/>
                </a:prstGeom>
                <a:blipFill>
                  <a:blip r:embed="rId4"/>
                  <a:stretch>
                    <a:fillRect b="-312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14E73D5-40E1-FA40-17C0-BCA99FA1C91C}"/>
                    </a:ext>
                  </a:extLst>
                </p:cNvPr>
                <p:cNvSpPr txBox="1"/>
                <p:nvPr/>
              </p:nvSpPr>
              <p:spPr>
                <a:xfrm>
                  <a:off x="1655444" y="3282458"/>
                  <a:ext cx="1021719" cy="166018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:r>
                    <a:rPr lang="fr-FR" sz="400" dirty="0"/>
                    <a:t>Calcul de la descente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400" b="0" i="1" smtClean="0">
                          <a:latin typeface="Cambria Math" panose="02040503050406030204" pitchFamily="18" charset="0"/>
                        </a:rPr>
                        <m:t>δ</m:t>
                      </m:r>
                    </m:oMath>
                  </a14:m>
                  <a:r>
                    <a:rPr lang="fr-FR" sz="400" dirty="0"/>
                    <a:t> avec :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m:rPr>
                                    <m:sty m:val="p"/>
                                  </m:rP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p>
                            <m: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α</m:t>
                            </m:r>
                            <m: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d>
                        <m:r>
                          <a:rPr lang="fr-FR" altLang="fr-FR" sz="400" i="1" dirty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fr-FR" altLang="fr-FR" sz="400" i="1" dirty="0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J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a:rPr lang="fr-FR" altLang="fr-FR" sz="400" i="1" dirty="0"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fr-FR" altLang="fr-FR" sz="400" dirty="0"/>
                </a:p>
                <a:p>
                  <a:pPr algn="ctr"/>
                  <a:endParaRPr lang="fr-FR" sz="4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14E73D5-40E1-FA40-17C0-BCA99FA1C9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5444" y="3282458"/>
                  <a:ext cx="1021719" cy="166018"/>
                </a:xfrm>
                <a:prstGeom prst="rect">
                  <a:avLst/>
                </a:prstGeom>
                <a:blipFill>
                  <a:blip r:embed="rId5"/>
                  <a:stretch>
                    <a:fillRect t="-937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1B9F17A-A7C1-8129-26C5-CCE20D05D2F8}"/>
                    </a:ext>
                  </a:extLst>
                </p:cNvPr>
                <p:cNvSpPr txBox="1"/>
                <p:nvPr/>
              </p:nvSpPr>
              <p:spPr>
                <a:xfrm>
                  <a:off x="1655445" y="3793974"/>
                  <a:ext cx="1021719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  <a:p>
                  <a:pPr algn="ctr"/>
                  <a:r>
                    <a:rPr lang="fr-FR" sz="400" dirty="0"/>
                    <a:t>Calcul du nouveau coût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400" b="0" i="1" dirty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400" b="0" i="1" dirty="0" smtClean="0">
                              <a:latin typeface="Cambria Math" panose="02040503050406030204" pitchFamily="18" charset="0"/>
                            </a:rPr>
                            <m:t>new</m:t>
                          </m:r>
                        </m:sub>
                      </m:sSub>
                    </m:oMath>
                  </a14:m>
                  <a:endParaRPr lang="fr-FR" sz="4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1B9F17A-A7C1-8129-26C5-CCE20D05D2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5445" y="3793974"/>
                  <a:ext cx="1021719" cy="123111"/>
                </a:xfrm>
                <a:prstGeom prst="rect">
                  <a:avLst/>
                </a:prstGeom>
                <a:blipFill>
                  <a:blip r:embed="rId6"/>
                  <a:stretch>
                    <a:fillRect b="-2381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1EB7C6A-82BF-6C18-30B1-C4455754628B}"/>
                    </a:ext>
                  </a:extLst>
                </p:cNvPr>
                <p:cNvSpPr txBox="1"/>
                <p:nvPr/>
              </p:nvSpPr>
              <p:spPr>
                <a:xfrm>
                  <a:off x="1770064" y="4267912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&lt; </m:t>
                        </m:r>
                        <m:r>
                          <m:rPr>
                            <m:sty m:val="p"/>
                          </m:rP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S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1EB7C6A-82BF-6C18-30B1-C445575462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0064" y="4267912"/>
                  <a:ext cx="792480" cy="61555"/>
                </a:xfrm>
                <a:prstGeom prst="rect">
                  <a:avLst/>
                </a:prstGeom>
                <a:blipFill>
                  <a:blip r:embed="rId7"/>
                  <a:stretch>
                    <a:fillRect b="-3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6B82192-B64C-FB73-EDE5-4E4226E3663C}"/>
                    </a:ext>
                  </a:extLst>
                </p:cNvPr>
                <p:cNvSpPr txBox="1"/>
                <p:nvPr/>
              </p:nvSpPr>
              <p:spPr>
                <a:xfrm>
                  <a:off x="822961" y="4818364"/>
                  <a:ext cx="792480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</m:oMath>
                    </m:oMathPara>
                  </a14:m>
                  <a:endParaRPr lang="fr-FR" sz="40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/ 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6B82192-B64C-FB73-EDE5-4E4226E366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961" y="4818364"/>
                  <a:ext cx="792480" cy="123111"/>
                </a:xfrm>
                <a:prstGeom prst="rect">
                  <a:avLst/>
                </a:prstGeom>
                <a:blipFill>
                  <a:blip r:embed="rId8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35FB794-C1DA-068F-4A78-56EE092FA55F}"/>
                    </a:ext>
                  </a:extLst>
                </p:cNvPr>
                <p:cNvSpPr txBox="1"/>
                <p:nvPr/>
              </p:nvSpPr>
              <p:spPr>
                <a:xfrm>
                  <a:off x="2716531" y="4852144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35FB794-C1DA-068F-4A78-56EE092FA5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16531" y="4852144"/>
                  <a:ext cx="792480" cy="6155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85D38D-5906-CE92-16D5-20B4131E9EAF}"/>
                    </a:ext>
                  </a:extLst>
                </p:cNvPr>
                <p:cNvSpPr txBox="1"/>
                <p:nvPr/>
              </p:nvSpPr>
              <p:spPr>
                <a:xfrm>
                  <a:off x="822961" y="5301827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i="1" dirty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&lt; </m:t>
                        </m:r>
                        <m:r>
                          <m:rPr>
                            <m:sty m:val="p"/>
                          </m:rP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ϵ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85D38D-5906-CE92-16D5-20B4131E9E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961" y="5301827"/>
                  <a:ext cx="792480" cy="61555"/>
                </a:xfrm>
                <a:prstGeom prst="rect">
                  <a:avLst/>
                </a:prstGeom>
                <a:blipFill>
                  <a:blip r:embed="rId10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1E15DCC-C532-6C84-21FE-198EF6A3869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293FA2D-845E-3E47-013D-1745D6C5C34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F8F13FDA-57A2-A33C-17C0-BF32E05AA34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EDD2F4-E77C-25A5-7094-7F3E5421A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17C221-4EBB-B754-6D50-CA302D561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31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A39E5A-CB2D-FAE2-094C-0422750E2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91325337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3032B-5CBA-D58B-6BE3-2ED288DB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D7F8ED1-3EF2-8A6F-4CB4-0CF972E8B4D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3105C7-994D-34E1-D1CE-ED0E36ED91C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09C9AA1-328D-AAD8-510E-EFF1E2B2A387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déterminer les valeurs des caractéristiques électriques des micros 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0023245-9CE3-A4CE-BCE1-4AF643DD4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5537C42-FFED-9697-1F46-86E067148514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45220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Le calcul des résidus se fait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i="1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2, 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...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wn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wn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Le calcul du coût se fait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altLang="fr-FR" sz="1400" b="0" i="1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fr-FR" altLang="fr-FR" sz="1400" b="0" i="1" smtClean="0">
                          <a:latin typeface="Cambria Math" panose="02040503050406030204" pitchFamily="18" charset="0"/>
                        </a:rPr>
                        <m:t> = 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  <m:e>
                          <m:sSubSup>
                            <m:sSubSupPr>
                              <m:ctrl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  <m:sup>
                              <m: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i="1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Avec :</a:t>
                </a:r>
              </a:p>
              <a:p>
                <a:pPr algn="ctr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1">
                        <a:latin typeface="Cambria Math" panose="02040503050406030204" pitchFamily="18" charset="0"/>
                      </a:rPr>
                      <m:t>J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den>
                              </m:f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2)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...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ωn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</m:eqArr>
                            </m:e>
                            <m:e>
                              <m:eqArr>
                                <m:eqArr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2)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...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ωn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</m:eqArr>
                            </m:e>
                          </m:mr>
                        </m:m>
                        <m:eqArr>
                          <m:eqArrPr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2)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r>
                              <a:rPr lang="fr-FR" sz="1400" i="1">
                                <a:latin typeface="Cambria Math" panose="02040503050406030204" pitchFamily="18" charset="0"/>
                              </a:rPr>
                              <m:t>...</m:t>
                            </m:r>
                          </m:e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ωn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</m:eqArr>
                      </m:e>
                    </m:d>
                  </m:oMath>
                </a14:m>
                <a:endParaRPr lang="fr-FR" altLang="fr-FR" sz="1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5537C42-FFED-9697-1F46-86E067148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4522072"/>
              </a:xfrm>
              <a:prstGeom prst="rect">
                <a:avLst/>
              </a:prstGeom>
              <a:blipFill>
                <a:blip r:embed="rId3"/>
                <a:stretch>
                  <a:fillRect l="-633" t="-270" r="-2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25A23E38-AFFC-1314-34D8-5F474D741D9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194ED3C-0189-70F2-3340-35139884ACB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AD4961CD-E048-EDA5-4913-3A2CD9E86F6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8A788DD-EA1A-EA9F-38E6-52FFF6B6EB98}"/>
              </a:ext>
            </a:extLst>
          </p:cNvPr>
          <p:cNvSpPr txBox="1"/>
          <p:nvPr/>
        </p:nvSpPr>
        <p:spPr>
          <a:xfrm>
            <a:off x="345439" y="721360"/>
            <a:ext cx="849111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7 :</a:t>
            </a:r>
            <a:r>
              <a:rPr lang="fr-FR" sz="2000" dirty="0">
                <a:latin typeface="Arial Black" panose="020B0A04020102020204" pitchFamily="34" charset="0"/>
              </a:rPr>
              <a:t> Algorithme de Levenberg-Marquardt.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050684-55AE-30B3-6EA6-ACE246C3C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4C4158-AE8F-B96A-19AA-65BB42512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32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5A15F5-E718-DC1B-82DA-0E9D49D7A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35581720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C1AB9-AA17-A289-4177-5B57B838A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0EEE6E3-6825-09CC-8862-418DD007C63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05990FB-38EB-5B30-B3B4-746837CB7A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1DE8E9-33F3-561B-57C9-2E08CDBD205D}"/>
              </a:ext>
            </a:extLst>
          </p:cNvPr>
          <p:cNvSpPr txBox="1"/>
          <p:nvPr/>
        </p:nvSpPr>
        <p:spPr>
          <a:xfrm>
            <a:off x="345440" y="721360"/>
            <a:ext cx="8626172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8 :</a:t>
            </a:r>
            <a:r>
              <a:rPr lang="fr-FR" sz="2000" dirty="0">
                <a:latin typeface="Arial Black" panose="020B0A04020102020204" pitchFamily="34" charset="0"/>
              </a:rPr>
              <a:t> Analyse des échecs et difficultés rencontrées.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EAE53AF-2DFC-2830-AB17-39F8A9CFCD3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3" t="21864" r="1" b="35960"/>
          <a:stretch>
            <a:fillRect/>
          </a:stretch>
        </p:blipFill>
        <p:spPr>
          <a:xfrm>
            <a:off x="345440" y="1220122"/>
            <a:ext cx="8626173" cy="4852222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7CF1BFFB-993D-B165-6DEA-A362856BAE78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C24DCD0-D770-6EEC-A98D-F0CAB5B4CAB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5180DDD7-F016-DA17-C609-C7473F9858D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66F482-7CE7-8509-6D95-51F11BB55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E367C2-D1F9-F179-2522-1319337F8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33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0AA350-68D0-F903-69F4-2B53C0EEB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17445800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6F1A6-7284-DDB9-89E2-31D242A16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3AD740C7-6183-2A85-C9EE-E8A2AE58902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0915BC-9847-71E7-29FD-55679B3E5BA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259B488-EBE7-4249-E492-60486C906D2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500" b="12500"/>
          <a:stretch>
            <a:fillRect/>
          </a:stretch>
        </p:blipFill>
        <p:spPr>
          <a:xfrm>
            <a:off x="345439" y="1390254"/>
            <a:ext cx="8472117" cy="4765566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2882774D-4E1C-DAB6-0335-8D40E09BBD1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5AA2265-51F0-27F3-BB79-D4CFB818BDD8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9363F4C3-D089-5724-B3D9-349343B259F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70782AE-74D3-0F0B-3667-FBE7C228BE64}"/>
              </a:ext>
            </a:extLst>
          </p:cNvPr>
          <p:cNvSpPr txBox="1"/>
          <p:nvPr/>
        </p:nvSpPr>
        <p:spPr>
          <a:xfrm>
            <a:off x="345440" y="721360"/>
            <a:ext cx="8626172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8 :</a:t>
            </a:r>
            <a:r>
              <a:rPr lang="fr-FR" sz="2000" dirty="0">
                <a:latin typeface="Arial Black" panose="020B0A04020102020204" pitchFamily="34" charset="0"/>
              </a:rPr>
              <a:t> Analyse des échecs et difficultés rencontrées.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164E6C-B55D-DF40-A88D-C505A0658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05E25-7A45-B3A2-F925-5A3FEC1AB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34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1FE1E5-76CD-C1BE-3624-1818D0A4A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34106834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C127E-D68A-C4C9-C086-9738F9D58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3FFEE79-B6D9-7DF1-77AC-A2F39E7FB47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3E4F10-BA31-FD17-A59D-7CAA4E9049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D5C8C20-B7ED-6551-4D0E-60F6CE1EF6A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217269F-89D7-F4AD-528B-4C77B6A952C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D4433DFC-2955-CE03-9169-35729454E67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E4D36202-B3E5-243C-14C2-48434A7DE7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66000"/>
                    </a14:imgEffect>
                  </a14:imgLayer>
                </a14:imgProps>
              </a:ext>
            </a:extLst>
          </a:blip>
          <a:srcRect l="19282" r="1566" b="8689"/>
          <a:stretch>
            <a:fillRect/>
          </a:stretch>
        </p:blipFill>
        <p:spPr>
          <a:xfrm rot="16200000">
            <a:off x="2548484" y="118160"/>
            <a:ext cx="4047032" cy="659122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4A7F794-6E33-A78A-72E0-E236243901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200000"/>
                    </a14:imgEffect>
                    <a14:imgEffect>
                      <a14:brightnessContrast contrast="20000"/>
                    </a14:imgEffect>
                  </a14:imgLayer>
                </a14:imgProps>
              </a:ext>
            </a:extLst>
          </a:blip>
          <a:srcRect l="14914" t="11121" r="5635" b="30934"/>
          <a:stretch>
            <a:fillRect/>
          </a:stretch>
        </p:blipFill>
        <p:spPr>
          <a:xfrm>
            <a:off x="5973557" y="4628840"/>
            <a:ext cx="2844000" cy="155693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42B486F-873B-1C92-486F-11C77678697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3810" t="15900" r="12423" b="27097"/>
          <a:stretch>
            <a:fillRect/>
          </a:stretch>
        </p:blipFill>
        <p:spPr>
          <a:xfrm>
            <a:off x="514606" y="4628840"/>
            <a:ext cx="2880000" cy="15330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EF5D67B-65B9-DD8F-74B1-81A310AE71D3}"/>
              </a:ext>
            </a:extLst>
          </p:cNvPr>
          <p:cNvSpPr/>
          <p:nvPr/>
        </p:nvSpPr>
        <p:spPr>
          <a:xfrm>
            <a:off x="1379095" y="1466054"/>
            <a:ext cx="1499017" cy="134545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8D180F4-F1E8-39AD-1FE1-134753F82E8C}"/>
              </a:ext>
            </a:extLst>
          </p:cNvPr>
          <p:cNvSpPr txBox="1"/>
          <p:nvPr/>
        </p:nvSpPr>
        <p:spPr>
          <a:xfrm>
            <a:off x="345440" y="721360"/>
            <a:ext cx="8626172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8 :</a:t>
            </a:r>
            <a:r>
              <a:rPr lang="fr-FR" sz="2000" dirty="0">
                <a:latin typeface="Arial Black" panose="020B0A04020102020204" pitchFamily="34" charset="0"/>
              </a:rPr>
              <a:t> Analyse des échecs et difficultés rencontrées.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C3DF99-7669-2863-A6C8-AC7C73BAA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F04435B-7AFC-842E-20BC-A9DA954C4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35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7C8A0D-90FE-540A-ED6A-722FEACD5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1029642075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2674</Words>
  <Application>Microsoft Office PowerPoint</Application>
  <PresentationFormat>On-screen Show (4:3)</PresentationFormat>
  <Paragraphs>704</Paragraphs>
  <Slides>35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Arial Black</vt:lpstr>
      <vt:lpstr>Calibri</vt:lpstr>
      <vt:lpstr>Cambria Math</vt:lpstr>
      <vt:lpstr>Wingdings</vt:lpstr>
      <vt:lpstr>Retrospect</vt:lpstr>
      <vt:lpstr>Guitare électrique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SOMMAIRE</vt:lpstr>
      <vt:lpstr>THEORIE</vt:lpstr>
      <vt:lpstr>PowerPoint Presentation</vt:lpstr>
      <vt:lpstr>PowerPoint Presentation</vt:lpstr>
      <vt:lpstr>PowerPoint Presentation</vt:lpstr>
      <vt:lpstr>THEORIE</vt:lpstr>
      <vt:lpstr>PowerPoint Presentation</vt:lpstr>
      <vt:lpstr>PowerPoint Presentation</vt:lpstr>
      <vt:lpstr>PowerPoint Presentation</vt:lpstr>
      <vt:lpstr>PowerPoint Presentation</vt:lpstr>
      <vt:lpstr>THEORIE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760</cp:revision>
  <dcterms:created xsi:type="dcterms:W3CDTF">2025-06-09T15:35:56Z</dcterms:created>
  <dcterms:modified xsi:type="dcterms:W3CDTF">2026-03-07T22:38:47Z</dcterms:modified>
</cp:coreProperties>
</file>