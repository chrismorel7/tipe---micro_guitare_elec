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7" r:id="rId1"/>
  </p:sldMasterIdLst>
  <p:notesMasterIdLst>
    <p:notesMasterId r:id="rId27"/>
  </p:notesMasterIdLst>
  <p:sldIdLst>
    <p:sldId id="256" r:id="rId2"/>
    <p:sldId id="265" r:id="rId3"/>
    <p:sldId id="278" r:id="rId4"/>
    <p:sldId id="289" r:id="rId5"/>
    <p:sldId id="295" r:id="rId6"/>
    <p:sldId id="281" r:id="rId7"/>
    <p:sldId id="297" r:id="rId8"/>
    <p:sldId id="298" r:id="rId9"/>
    <p:sldId id="301" r:id="rId10"/>
    <p:sldId id="311" r:id="rId11"/>
    <p:sldId id="285" r:id="rId12"/>
    <p:sldId id="303" r:id="rId13"/>
    <p:sldId id="271" r:id="rId14"/>
    <p:sldId id="302" r:id="rId15"/>
    <p:sldId id="272" r:id="rId16"/>
    <p:sldId id="277" r:id="rId17"/>
    <p:sldId id="304" r:id="rId18"/>
    <p:sldId id="305" r:id="rId19"/>
    <p:sldId id="275" r:id="rId20"/>
    <p:sldId id="306" r:id="rId21"/>
    <p:sldId id="307" r:id="rId22"/>
    <p:sldId id="308" r:id="rId23"/>
    <p:sldId id="309" r:id="rId24"/>
    <p:sldId id="310" r:id="rId25"/>
    <p:sldId id="312" r:id="rId2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C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591" autoAdjust="0"/>
    <p:restoredTop sz="94660"/>
  </p:normalViewPr>
  <p:slideViewPr>
    <p:cSldViewPr snapToGrid="0">
      <p:cViewPr varScale="1">
        <p:scale>
          <a:sx n="96" d="100"/>
          <a:sy n="96" d="100"/>
        </p:scale>
        <p:origin x="1205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6E8646E-8D3C-430C-BFA9-96BAF70313EA}" type="datetimeFigureOut">
              <a:rPr lang="fr-FR" smtClean="0"/>
              <a:t>03/11/2025</a:t>
            </a:fld>
            <a:endParaRPr lang="fr-F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329F9D8-59C4-4910-A7AD-28D3BB517C72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158940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1254726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Micro assimilé filtre coupe bande </a:t>
            </a:r>
            <a:r>
              <a:rPr lang="fr-FR" dirty="0" err="1"/>
              <a:t>fc</a:t>
            </a:r>
            <a:r>
              <a:rPr lang="fr-FR" dirty="0"/>
              <a:t> environ 4800Hz. MAIS plus la résistance de l’ampli </a:t>
            </a:r>
            <a:r>
              <a:rPr lang="fr-FR" dirty="0" err="1"/>
              <a:t>Ramp</a:t>
            </a:r>
            <a:r>
              <a:rPr lang="fr-FR" dirty="0"/>
              <a:t> est grande, plus la perte est négligeable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7895008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1 : Equation de mouvement de la corde</a:t>
            </a:r>
          </a:p>
          <a:p>
            <a:r>
              <a:rPr lang="fr-FR" dirty="0"/>
              <a:t>2 : Idée Maquette</a:t>
            </a:r>
          </a:p>
          <a:p>
            <a:endParaRPr lang="fr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13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3356196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2382" y="6400800"/>
            <a:ext cx="9141619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8" name="Rectangle 7"/>
          <p:cNvSpPr/>
          <p:nvPr/>
        </p:nvSpPr>
        <p:spPr>
          <a:xfrm>
            <a:off x="12" y="6334316"/>
            <a:ext cx="9141619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22960" y="758952"/>
            <a:ext cx="75438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25038" y="4455621"/>
            <a:ext cx="75438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7C724F-4508-4890-B18E-3F5BB1B02F24}" type="datetimeFigureOut">
              <a:rPr lang="fr-FR" smtClean="0"/>
              <a:t>03/11/2025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  <p:cxnSp>
        <p:nvCxnSpPr>
          <p:cNvPr id="9" name="Straight Connector 8"/>
          <p:cNvCxnSpPr/>
          <p:nvPr/>
        </p:nvCxnSpPr>
        <p:spPr>
          <a:xfrm>
            <a:off x="905744" y="4343400"/>
            <a:ext cx="740664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996889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7C724F-4508-4890-B18E-3F5BB1B02F24}" type="datetimeFigureOut">
              <a:rPr lang="fr-FR" smtClean="0"/>
              <a:t>03/11/2025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522484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2382" y="6400800"/>
            <a:ext cx="9141619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8" name="Rectangle 7"/>
          <p:cNvSpPr/>
          <p:nvPr/>
        </p:nvSpPr>
        <p:spPr>
          <a:xfrm>
            <a:off x="12" y="6334316"/>
            <a:ext cx="9141619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758952"/>
            <a:ext cx="75438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2960" y="4453128"/>
            <a:ext cx="75438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7C724F-4508-4890-B18E-3F5BB1B02F24}" type="datetimeFigureOut">
              <a:rPr lang="fr-FR" smtClean="0"/>
              <a:t>03/11/2025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  <p:cxnSp>
        <p:nvCxnSpPr>
          <p:cNvPr id="9" name="Straight Connector 8"/>
          <p:cNvCxnSpPr/>
          <p:nvPr/>
        </p:nvCxnSpPr>
        <p:spPr>
          <a:xfrm>
            <a:off x="905744" y="4343400"/>
            <a:ext cx="740664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200188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822960" y="286604"/>
            <a:ext cx="75438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22960" y="1845734"/>
            <a:ext cx="370332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63440" y="1845736"/>
            <a:ext cx="3703320" cy="402335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7C724F-4508-4890-B18E-3F5BB1B02F24}" type="datetimeFigureOut">
              <a:rPr lang="fr-FR" smtClean="0"/>
              <a:t>03/11/2025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697287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822960" y="286604"/>
            <a:ext cx="75438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2960" y="1846052"/>
            <a:ext cx="370332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22960" y="2582334"/>
            <a:ext cx="3703320" cy="32867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63440" y="1846052"/>
            <a:ext cx="370332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63440" y="2582334"/>
            <a:ext cx="3703320" cy="32867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7C724F-4508-4890-B18E-3F5BB1B02F24}" type="datetimeFigureOut">
              <a:rPr lang="fr-FR" smtClean="0"/>
              <a:t>03/11/2025</a:t>
            </a:fld>
            <a:endParaRPr lang="fr-F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57571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7C724F-4508-4890-B18E-3F5BB1B02F24}" type="datetimeFigureOut">
              <a:rPr lang="fr-FR" smtClean="0"/>
              <a:t>03/11/2025</a:t>
            </a:fld>
            <a:endParaRPr lang="fr-F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332317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2382" y="6400800"/>
            <a:ext cx="9141619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6" name="Rectangle 5"/>
          <p:cNvSpPr/>
          <p:nvPr/>
        </p:nvSpPr>
        <p:spPr>
          <a:xfrm>
            <a:off x="12" y="6334316"/>
            <a:ext cx="9141619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7C724F-4508-4890-B18E-3F5BB1B02F24}" type="datetimeFigureOut">
              <a:rPr lang="fr-FR" smtClean="0"/>
              <a:t>03/11/2025</a:t>
            </a:fld>
            <a:endParaRPr lang="fr-F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fr-F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910952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3" y="0"/>
            <a:ext cx="3038093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9" name="Rectangle 8"/>
          <p:cNvSpPr/>
          <p:nvPr/>
        </p:nvSpPr>
        <p:spPr>
          <a:xfrm>
            <a:off x="3030053" y="0"/>
            <a:ext cx="48006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2900" y="594359"/>
            <a:ext cx="24003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460237" y="731520"/>
            <a:ext cx="5009393" cy="5257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42900" y="2926080"/>
            <a:ext cx="24003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349134" y="6459786"/>
            <a:ext cx="1963883" cy="365125"/>
          </a:xfrm>
        </p:spPr>
        <p:txBody>
          <a:bodyPr/>
          <a:lstStyle>
            <a:lvl1pPr algn="l">
              <a:defRPr/>
            </a:lvl1pPr>
          </a:lstStyle>
          <a:p>
            <a:fld id="{1C7C724F-4508-4890-B18E-3F5BB1B02F24}" type="datetimeFigureOut">
              <a:rPr lang="fr-FR" smtClean="0"/>
              <a:t>03/11/2025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600450" y="6459786"/>
            <a:ext cx="348615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242983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9141619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9" name="Rectangle 8"/>
          <p:cNvSpPr/>
          <p:nvPr/>
        </p:nvSpPr>
        <p:spPr>
          <a:xfrm>
            <a:off x="12" y="4915076"/>
            <a:ext cx="9141619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5074920"/>
            <a:ext cx="7589520" cy="822960"/>
          </a:xfrm>
        </p:spPr>
        <p:txBody>
          <a:bodyPr tIns="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2" y="0"/>
            <a:ext cx="9143989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22959" y="5907024"/>
            <a:ext cx="7589520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7C724F-4508-4890-B18E-3F5BB1B02F24}" type="datetimeFigureOut">
              <a:rPr lang="fr-FR" smtClean="0"/>
              <a:t>03/11/2025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155730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7C724F-4508-4890-B18E-3F5BB1B02F24}" type="datetimeFigureOut">
              <a:rPr lang="fr-FR" smtClean="0"/>
              <a:t>03/11/2025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2132280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2382" y="6400800"/>
            <a:ext cx="9141619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8" name="Rectangle 7"/>
          <p:cNvSpPr/>
          <p:nvPr/>
        </p:nvSpPr>
        <p:spPr>
          <a:xfrm>
            <a:off x="12" y="6334316"/>
            <a:ext cx="9141619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414779"/>
            <a:ext cx="1971675" cy="575742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414779"/>
            <a:ext cx="5800725" cy="5757420"/>
          </a:xfrm>
        </p:spPr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7C724F-4508-4890-B18E-3F5BB1B02F24}" type="datetimeFigureOut">
              <a:rPr lang="fr-FR" smtClean="0"/>
              <a:t>03/11/2025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6522586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6400800"/>
            <a:ext cx="9144001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9" name="Rectangle 8"/>
          <p:cNvSpPr/>
          <p:nvPr/>
        </p:nvSpPr>
        <p:spPr>
          <a:xfrm>
            <a:off x="0" y="6334315"/>
            <a:ext cx="9144001" cy="6599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22960" y="286604"/>
            <a:ext cx="75438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2959" y="1845734"/>
            <a:ext cx="7543801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22961" y="6459786"/>
            <a:ext cx="18542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1C7C724F-4508-4890-B18E-3F5BB1B02F24}" type="datetimeFigureOut">
              <a:rPr lang="fr-FR" smtClean="0"/>
              <a:t>03/11/2025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764639" y="6459786"/>
            <a:ext cx="36171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425344" y="6459786"/>
            <a:ext cx="9840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  <p:cxnSp>
        <p:nvCxnSpPr>
          <p:cNvPr id="10" name="Straight Connector 9"/>
          <p:cNvCxnSpPr/>
          <p:nvPr/>
        </p:nvCxnSpPr>
        <p:spPr>
          <a:xfrm>
            <a:off x="895149" y="1737845"/>
            <a:ext cx="74752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879120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8" r:id="rId1"/>
    <p:sldLayoutId id="2147483709" r:id="rId2"/>
    <p:sldLayoutId id="2147483710" r:id="rId3"/>
    <p:sldLayoutId id="2147483711" r:id="rId4"/>
    <p:sldLayoutId id="2147483712" r:id="rId5"/>
    <p:sldLayoutId id="2147483713" r:id="rId6"/>
    <p:sldLayoutId id="2147483714" r:id="rId7"/>
    <p:sldLayoutId id="2147483715" r:id="rId8"/>
    <p:sldLayoutId id="2147483716" r:id="rId9"/>
    <p:sldLayoutId id="2147483717" r:id="rId10"/>
    <p:sldLayoutId id="2147483718" r:id="rId11"/>
  </p:sldLayoutIdLst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microsoft.com/office/2007/relationships/hdphoto" Target="../media/hdphoto2.wdp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microsoft.com/office/2007/relationships/hdphoto" Target="../media/hdphoto1.wdp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3.jpeg"/><Relationship Id="rId7" Type="http://schemas.microsoft.com/office/2007/relationships/hdphoto" Target="../media/hdphoto4.wdp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11" Type="http://schemas.openxmlformats.org/officeDocument/2006/relationships/image" Target="../media/image12.png"/><Relationship Id="rId5" Type="http://schemas.microsoft.com/office/2007/relationships/hdphoto" Target="../media/hdphoto3.wdp"/><Relationship Id="rId10" Type="http://schemas.openxmlformats.org/officeDocument/2006/relationships/image" Target="../media/image11.png"/><Relationship Id="rId4" Type="http://schemas.openxmlformats.org/officeDocument/2006/relationships/image" Target="../media/image7.png"/><Relationship Id="rId9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0.png"/><Relationship Id="rId7" Type="http://schemas.openxmlformats.org/officeDocument/2006/relationships/image" Target="../media/image13.png"/><Relationship Id="rId12" Type="http://schemas.openxmlformats.org/officeDocument/2006/relationships/image" Target="../media/image17.png"/><Relationship Id="rId2" Type="http://schemas.openxmlformats.org/officeDocument/2006/relationships/image" Target="../media/image12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jpeg"/><Relationship Id="rId11" Type="http://schemas.openxmlformats.org/officeDocument/2006/relationships/image" Target="../media/image16.png"/><Relationship Id="rId5" Type="http://schemas.openxmlformats.org/officeDocument/2006/relationships/image" Target="../media/image14.png"/><Relationship Id="rId10" Type="http://schemas.openxmlformats.org/officeDocument/2006/relationships/image" Target="../media/image15.png"/><Relationship Id="rId9" Type="http://schemas.openxmlformats.org/officeDocument/2006/relationships/image" Target="../media/image141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41.png"/><Relationship Id="rId7" Type="http://schemas.openxmlformats.org/officeDocument/2006/relationships/image" Target="../media/image3.jpe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0.png"/><Relationship Id="rId5" Type="http://schemas.openxmlformats.org/officeDocument/2006/relationships/image" Target="../media/image160.png"/><Relationship Id="rId10" Type="http://schemas.openxmlformats.org/officeDocument/2006/relationships/image" Target="../media/image17.png"/><Relationship Id="rId4" Type="http://schemas.openxmlformats.org/officeDocument/2006/relationships/image" Target="../media/image18.png"/><Relationship Id="rId9" Type="http://schemas.openxmlformats.org/officeDocument/2006/relationships/image" Target="../media/image1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5.sv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5.sv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1.png"/><Relationship Id="rId7" Type="http://schemas.openxmlformats.org/officeDocument/2006/relationships/image" Target="../media/image30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image" Target="../media/image271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1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0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3" Type="http://schemas.openxmlformats.org/officeDocument/2006/relationships/image" Target="../media/image270.png"/><Relationship Id="rId7" Type="http://schemas.openxmlformats.org/officeDocument/2006/relationships/image" Target="../media/image300.png"/><Relationship Id="rId2" Type="http://schemas.openxmlformats.org/officeDocument/2006/relationships/image" Target="../media/image26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90.png"/><Relationship Id="rId5" Type="http://schemas.openxmlformats.org/officeDocument/2006/relationships/image" Target="../media/image280.png"/><Relationship Id="rId4" Type="http://schemas.openxmlformats.org/officeDocument/2006/relationships/image" Target="../media/image13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3" Type="http://schemas.openxmlformats.org/officeDocument/2006/relationships/image" Target="../media/image32.png"/><Relationship Id="rId7" Type="http://schemas.openxmlformats.org/officeDocument/2006/relationships/image" Target="../media/image300.png"/><Relationship Id="rId2" Type="http://schemas.openxmlformats.org/officeDocument/2006/relationships/image" Target="../media/image26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90.png"/><Relationship Id="rId5" Type="http://schemas.openxmlformats.org/officeDocument/2006/relationships/image" Target="../media/image280.png"/><Relationship Id="rId4" Type="http://schemas.openxmlformats.org/officeDocument/2006/relationships/image" Target="../media/image13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0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28A121F9-7273-1CF4-F60D-E01BEEB3AF96}"/>
              </a:ext>
            </a:extLst>
          </p:cNvPr>
          <p:cNvSpPr/>
          <p:nvPr/>
        </p:nvSpPr>
        <p:spPr>
          <a:xfrm>
            <a:off x="628649" y="262383"/>
            <a:ext cx="7886701" cy="775252"/>
          </a:xfrm>
          <a:prstGeom prst="rect">
            <a:avLst/>
          </a:prstGeom>
          <a:ln w="3810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FR" sz="1350" dirty="0">
                <a:latin typeface="Arial Black" panose="020B0A04020102020204" pitchFamily="34" charset="0"/>
              </a:rPr>
              <a:t>Loi d’induction de Faraday : Le fonctionnement d’une guitare électrique</a:t>
            </a:r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5CA91E38-0C9E-C7FB-9A24-FA98AC9C86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F859C1-8EE1-4062-8A80-955144FCA279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11FCC0EF-4B1B-F41C-656B-2BE699CDE1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A305C624-2E1B-C39E-B3B4-807FF6A6BE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1</a:t>
            </a:fld>
            <a:endParaRPr lang="fr-FR"/>
          </a:p>
        </p:txBody>
      </p:sp>
      <p:pic>
        <p:nvPicPr>
          <p:cNvPr id="1026" name="Picture 2" descr="Guitare, La Musique, Guitare Électrique">
            <a:extLst>
              <a:ext uri="{FF2B5EF4-FFF2-40B4-BE49-F238E27FC236}">
                <a16:creationId xmlns:a16="http://schemas.microsoft.com/office/drawing/2014/main" id="{0098F414-3793-7E07-8CE1-A5A56D7C258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801" b="423"/>
          <a:stretch>
            <a:fillRect/>
          </a:stretch>
        </p:blipFill>
        <p:spPr bwMode="auto">
          <a:xfrm>
            <a:off x="628662" y="1210868"/>
            <a:ext cx="7886688" cy="48241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278787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7FAE0E-A710-B751-21D5-1465D95606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23CE604F-6BFC-79C1-4FC3-CA1EA5356F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F859C1-8EE1-4062-8A80-955144FCA279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7C9A119C-A152-8451-8BAD-3058A8833C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7BA6762A-3000-D56B-00BC-9C877DB757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2</a:t>
            </a:fld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91B7045-CF40-0E65-A5C7-9FB0BF30525B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A0A1813A-2397-9FF3-55B4-A7083DA4BF3A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43AB908-2C09-A846-F7C5-107A095B6297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>
                <a:latin typeface="+mj-lt"/>
              </a:rPr>
              <a:t>Problématique</a:t>
            </a:r>
          </a:p>
        </p:txBody>
      </p:sp>
      <p:sp>
        <p:nvSpPr>
          <p:cNvPr id="15" name="Rectangle 2">
            <a:extLst>
              <a:ext uri="{FF2B5EF4-FFF2-40B4-BE49-F238E27FC236}">
                <a16:creationId xmlns:a16="http://schemas.microsoft.com/office/drawing/2014/main" id="{896A7184-965A-9FF1-E334-6E9025994184}"/>
              </a:ext>
            </a:extLst>
          </p:cNvPr>
          <p:cNvSpPr>
            <a:spLocks noChangeArrowheads="1"/>
          </p:cNvSpPr>
          <p:nvPr/>
        </p:nvSpPr>
        <p:spPr bwMode="auto">
          <a:xfrm>
            <a:off x="984019" y="2253924"/>
            <a:ext cx="7425344" cy="70788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algn="ctr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sz="2000" dirty="0"/>
              <a:t>Comment </a:t>
            </a:r>
            <a:r>
              <a:rPr lang="fr-FR" sz="2000" b="1" dirty="0"/>
              <a:t>le type de micro </a:t>
            </a:r>
            <a:r>
              <a:rPr lang="fr-FR" sz="2000" dirty="0"/>
              <a:t>influence-t-il le </a:t>
            </a:r>
            <a:r>
              <a:rPr lang="fr-FR" sz="2000" b="1" dirty="0"/>
              <a:t>timbre</a:t>
            </a:r>
            <a:r>
              <a:rPr lang="fr-FR" sz="2000" dirty="0"/>
              <a:t> et </a:t>
            </a:r>
            <a:r>
              <a:rPr lang="fr-FR" sz="2000" b="1" dirty="0"/>
              <a:t>l’amplitude</a:t>
            </a:r>
            <a:r>
              <a:rPr lang="fr-FR" sz="2000" dirty="0"/>
              <a:t> du </a:t>
            </a:r>
            <a:r>
              <a:rPr lang="fr-FR" sz="2000" b="1" dirty="0"/>
              <a:t>son</a:t>
            </a:r>
            <a:r>
              <a:rPr lang="fr-FR" sz="2000" dirty="0"/>
              <a:t> d’une guitare électrique ?</a:t>
            </a:r>
            <a:endParaRPr kumimoji="0" lang="fr-FR" altLang="fr-FR" sz="20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B4EE9D4-1D4E-E6DD-563B-928B9E769F11}"/>
              </a:ext>
            </a:extLst>
          </p:cNvPr>
          <p:cNvSpPr txBox="1"/>
          <p:nvPr/>
        </p:nvSpPr>
        <p:spPr>
          <a:xfrm>
            <a:off x="822961" y="4436823"/>
            <a:ext cx="3749039" cy="646331"/>
          </a:xfrm>
          <a:prstGeom prst="rect">
            <a:avLst/>
          </a:prstGeom>
          <a:noFill/>
        </p:spPr>
        <p:txBody>
          <a:bodyPr wrap="square" numCol="1" rtlCol="0">
            <a:spAutoFit/>
          </a:bodyPr>
          <a:lstStyle/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fr-FR" dirty="0"/>
              <a:t>SingleCoil </a:t>
            </a:r>
          </a:p>
          <a:p>
            <a:pPr algn="ctr"/>
            <a:r>
              <a:rPr lang="fr-FR" dirty="0"/>
              <a:t>(ou simple bobinage)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97F5EE0-EFED-C507-DAB9-15D261AF6049}"/>
              </a:ext>
            </a:extLst>
          </p:cNvPr>
          <p:cNvSpPr txBox="1"/>
          <p:nvPr/>
        </p:nvSpPr>
        <p:spPr>
          <a:xfrm>
            <a:off x="4572000" y="4436823"/>
            <a:ext cx="3837363" cy="646331"/>
          </a:xfrm>
          <a:prstGeom prst="rect">
            <a:avLst/>
          </a:prstGeom>
          <a:noFill/>
        </p:spPr>
        <p:txBody>
          <a:bodyPr wrap="square" numCol="1" rtlCol="0">
            <a:spAutoFit/>
          </a:bodyPr>
          <a:lstStyle/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fr-FR" dirty="0"/>
              <a:t>Humbucker </a:t>
            </a:r>
          </a:p>
          <a:p>
            <a:pPr algn="ctr"/>
            <a:r>
              <a:rPr lang="fr-FR" dirty="0"/>
              <a:t>(ou double bobinage)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13DBB3E-CACA-593E-E545-39E8047A68D3}"/>
              </a:ext>
            </a:extLst>
          </p:cNvPr>
          <p:cNvSpPr txBox="1"/>
          <p:nvPr/>
        </p:nvSpPr>
        <p:spPr>
          <a:xfrm>
            <a:off x="2802834" y="3896190"/>
            <a:ext cx="35383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b="1" dirty="0"/>
              <a:t>Types de micro :</a:t>
            </a:r>
          </a:p>
        </p:txBody>
      </p:sp>
    </p:spTree>
    <p:extLst>
      <p:ext uri="{BB962C8B-B14F-4D97-AF65-F5344CB8AC3E}">
        <p14:creationId xmlns:p14="http://schemas.microsoft.com/office/powerpoint/2010/main" val="14240463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4EB8DB-462A-9B19-1F31-BB4FD26B1F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A94FB20C-02CF-35BD-3AB9-670C42C7A9C6}"/>
              </a:ext>
            </a:extLst>
          </p:cNvPr>
          <p:cNvSpPr/>
          <p:nvPr/>
        </p:nvSpPr>
        <p:spPr>
          <a:xfrm>
            <a:off x="322686" y="4268850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FEDDED1E-275F-6831-62E9-95476B043F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F859C1-8EE1-4062-8A80-955144FCA279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7C1D5E31-18D5-EFA4-FF70-9C214035B4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7916D650-4C5C-541D-6925-FDAE466CBF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3</a:t>
            </a:fld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488C05C-557A-D965-1B57-D283BF34BE59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0018A027-1E36-7A49-BFE5-C63B39A43736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EAD89E9-806A-4E89-859A-696AFF1D31BF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>
                <a:latin typeface="+mj-lt"/>
              </a:rPr>
              <a:t>Comment fonctionne une guitare électrique ? </a:t>
            </a:r>
            <a:r>
              <a:rPr lang="fr-FR" sz="1000" i="1" dirty="0"/>
              <a:t>cf. [1]</a:t>
            </a:r>
            <a:endParaRPr lang="fr-FR" sz="2000" b="1" dirty="0">
              <a:latin typeface="+mj-lt"/>
            </a:endParaRP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592E8534-760B-A9A0-98A4-5631C1A1EEAC}"/>
              </a:ext>
            </a:extLst>
          </p:cNvPr>
          <p:cNvGrpSpPr/>
          <p:nvPr/>
        </p:nvGrpSpPr>
        <p:grpSpPr>
          <a:xfrm>
            <a:off x="406695" y="1450258"/>
            <a:ext cx="4437385" cy="3965686"/>
            <a:chOff x="-34756" y="1586102"/>
            <a:chExt cx="4437385" cy="3965686"/>
          </a:xfrm>
        </p:grpSpPr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4E26F642-1EDB-D9D0-339B-2432C09158E6}"/>
                </a:ext>
              </a:extLst>
            </p:cNvPr>
            <p:cNvGrpSpPr/>
            <p:nvPr/>
          </p:nvGrpSpPr>
          <p:grpSpPr>
            <a:xfrm>
              <a:off x="-34756" y="1586102"/>
              <a:ext cx="4437385" cy="3960146"/>
              <a:chOff x="-34756" y="1586102"/>
              <a:chExt cx="4437385" cy="3960146"/>
            </a:xfrm>
          </p:grpSpPr>
          <p:pic>
            <p:nvPicPr>
              <p:cNvPr id="11" name="Picture 2" descr="5 Best Humbuckers: Gear Guide to Amazing Pickups | Equipboard®">
                <a:extLst>
                  <a:ext uri="{FF2B5EF4-FFF2-40B4-BE49-F238E27FC236}">
                    <a16:creationId xmlns:a16="http://schemas.microsoft.com/office/drawing/2014/main" id="{EF933A2A-B5DF-0F82-4FC8-301F3207B13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52666" t="-7130" r="-141" b="-876"/>
              <a:stretch>
                <a:fillRect/>
              </a:stretch>
            </p:blipFill>
            <p:spPr bwMode="auto">
              <a:xfrm>
                <a:off x="2743124" y="4230934"/>
                <a:ext cx="1637990" cy="1315314"/>
              </a:xfrm>
              <a:prstGeom prst="ellipse">
                <a:avLst/>
              </a:prstGeom>
              <a:ln w="63500" cap="rnd">
                <a:solidFill>
                  <a:srgbClr val="333333"/>
                </a:solidFill>
              </a:ln>
              <a:effectLst>
                <a:outerShdw blurRad="381000" dist="292100" dir="5400000" sx="-80000" sy="-18000" rotWithShape="0">
                  <a:srgbClr val="000000">
                    <a:alpha val="22000"/>
                  </a:srgbClr>
                </a:outerShdw>
              </a:effectLst>
              <a:scene3d>
                <a:camera prst="orthographicFront"/>
                <a:lightRig rig="contrasting" dir="t">
                  <a:rot lat="0" lon="0" rev="3000000"/>
                </a:lightRig>
              </a:scene3d>
              <a:sp3d contourW="7620">
                <a:bevelT w="95250" h="31750"/>
                <a:contourClr>
                  <a:srgbClr val="333333"/>
                </a:contourClr>
              </a:sp3d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26" name="Picture 2" descr="5 Best Humbuckers: Gear Guide to Amazing Pickups | Equipboard®">
                <a:extLst>
                  <a:ext uri="{FF2B5EF4-FFF2-40B4-BE49-F238E27FC236}">
                    <a16:creationId xmlns:a16="http://schemas.microsoft.com/office/drawing/2014/main" id="{D101A5E5-BA4D-16F2-BED9-3954FE2B9AF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183" t="-8093" r="50325" b="-7437"/>
              <a:stretch>
                <a:fillRect/>
              </a:stretch>
            </p:blipFill>
            <p:spPr bwMode="auto">
              <a:xfrm>
                <a:off x="2764639" y="2136281"/>
                <a:ext cx="1637990" cy="1406367"/>
              </a:xfrm>
              <a:prstGeom prst="ellipse">
                <a:avLst/>
              </a:prstGeom>
              <a:ln w="63500" cap="rnd">
                <a:solidFill>
                  <a:srgbClr val="333333"/>
                </a:solidFill>
              </a:ln>
              <a:effectLst>
                <a:outerShdw blurRad="381000" dist="292100" dir="5400000" sx="-80000" sy="-18000" rotWithShape="0">
                  <a:srgbClr val="000000">
                    <a:alpha val="22000"/>
                  </a:srgbClr>
                </a:outerShdw>
              </a:effectLst>
              <a:scene3d>
                <a:camera prst="orthographicFront"/>
                <a:lightRig rig="contrasting" dir="t">
                  <a:rot lat="0" lon="0" rev="3000000"/>
                </a:lightRig>
              </a:scene3d>
              <a:sp3d contourW="7620">
                <a:bevelT w="95250" h="31750"/>
                <a:contourClr>
                  <a:srgbClr val="333333"/>
                </a:contourClr>
              </a:sp3d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32" name="Picture 8">
                <a:extLst>
                  <a:ext uri="{FF2B5EF4-FFF2-40B4-BE49-F238E27FC236}">
                    <a16:creationId xmlns:a16="http://schemas.microsoft.com/office/drawing/2014/main" id="{A86E6CB6-2C7D-D59A-DF2C-EA03047A1D2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rot="20587223">
                <a:off x="-34756" y="1586102"/>
                <a:ext cx="3569635" cy="356963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cxnSp>
            <p:nvCxnSpPr>
              <p:cNvPr id="13" name="Connector: Curved 12">
                <a:extLst>
                  <a:ext uri="{FF2B5EF4-FFF2-40B4-BE49-F238E27FC236}">
                    <a16:creationId xmlns:a16="http://schemas.microsoft.com/office/drawing/2014/main" id="{9CC502A0-585D-65D8-BE79-3175E05CA03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447764" y="2873204"/>
                <a:ext cx="1316875" cy="1241596"/>
              </a:xfrm>
              <a:prstGeom prst="curvedConnector3">
                <a:avLst>
                  <a:gd name="adj1" fmla="val 50000"/>
                </a:avLst>
              </a:prstGeom>
              <a:ln>
                <a:tailEnd type="triangle"/>
              </a:ln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7" name="Connector: Curved 16">
                <a:extLst>
                  <a:ext uri="{FF2B5EF4-FFF2-40B4-BE49-F238E27FC236}">
                    <a16:creationId xmlns:a16="http://schemas.microsoft.com/office/drawing/2014/main" id="{8EFCF990-1181-93F4-481C-E26808409BF1}"/>
                  </a:ext>
                </a:extLst>
              </p:cNvPr>
              <p:cNvCxnSpPr>
                <a:cxnSpLocks/>
                <a:endCxn id="11" idx="2"/>
              </p:cNvCxnSpPr>
              <p:nvPr/>
            </p:nvCxnSpPr>
            <p:spPr>
              <a:xfrm>
                <a:off x="1210381" y="4529667"/>
                <a:ext cx="1532743" cy="358924"/>
              </a:xfrm>
              <a:prstGeom prst="curvedConnector3">
                <a:avLst>
                  <a:gd name="adj1" fmla="val 50000"/>
                </a:avLst>
              </a:prstGeom>
              <a:ln>
                <a:tailEnd type="triangle"/>
              </a:ln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3B270C04-EA57-651F-EDDD-A94BAC32E88F}"/>
                </a:ext>
              </a:extLst>
            </p:cNvPr>
            <p:cNvSpPr/>
            <p:nvPr/>
          </p:nvSpPr>
          <p:spPr>
            <a:xfrm>
              <a:off x="3052943" y="3223152"/>
              <a:ext cx="1018352" cy="10801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900" b="1" dirty="0">
                  <a:solidFill>
                    <a:schemeClr val="tx1"/>
                  </a:solidFill>
                </a:rPr>
                <a:t>Micro Simple Bobinage</a:t>
              </a: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5071E06E-24A1-72B4-FDB8-7EF1C91610E7}"/>
                </a:ext>
              </a:extLst>
            </p:cNvPr>
            <p:cNvSpPr txBox="1"/>
            <p:nvPr/>
          </p:nvSpPr>
          <p:spPr>
            <a:xfrm>
              <a:off x="115978" y="5305567"/>
              <a:ext cx="2049943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1000" dirty="0"/>
                <a:t>Source image : Ibanez.com</a:t>
              </a:r>
            </a:p>
          </p:txBody>
        </p:sp>
      </p:grpSp>
      <p:pic>
        <p:nvPicPr>
          <p:cNvPr id="29" name="Picture 28">
            <a:extLst>
              <a:ext uri="{FF2B5EF4-FFF2-40B4-BE49-F238E27FC236}">
                <a16:creationId xmlns:a16="http://schemas.microsoft.com/office/drawing/2014/main" id="{C117D65C-7CC4-2723-3268-C42CB747B75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sharpenSoften amount="50000"/>
                    </a14:imgEffect>
                    <a14:imgEffect>
                      <a14:saturation sat="2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41265" y="3761948"/>
            <a:ext cx="3580049" cy="2374692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37F389BB-5765-5057-0E2A-5287D0B3676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sharpenSoften amount="50000"/>
                    </a14:imgEffect>
                    <a14:imgEffect>
                      <a14:saturation sat="2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93666" y="1068388"/>
            <a:ext cx="3275246" cy="24855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628052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2D7A07-07D0-A1CB-8899-D355F4D513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A11288E9-B3DA-B302-03ED-BB1A2F90FFD7}"/>
              </a:ext>
            </a:extLst>
          </p:cNvPr>
          <p:cNvSpPr/>
          <p:nvPr/>
        </p:nvSpPr>
        <p:spPr>
          <a:xfrm>
            <a:off x="449950" y="424704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246577B6-6057-D7AE-7D40-C0DB523A1AB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60795297"/>
              </p:ext>
            </p:extLst>
          </p:nvPr>
        </p:nvGraphicFramePr>
        <p:xfrm>
          <a:off x="449950" y="1397000"/>
          <a:ext cx="4122050" cy="4159732"/>
        </p:xfrm>
        <a:graphic>
          <a:graphicData uri="http://schemas.openxmlformats.org/drawingml/2006/table">
            <a:tbl>
              <a:tblPr firstRow="1" bandRow="1"/>
              <a:tblGrid>
                <a:gridCol w="2072270">
                  <a:extLst>
                    <a:ext uri="{9D8B030D-6E8A-4147-A177-3AD203B41FA5}">
                      <a16:colId xmlns:a16="http://schemas.microsoft.com/office/drawing/2014/main" val="1626750321"/>
                    </a:ext>
                  </a:extLst>
                </a:gridCol>
                <a:gridCol w="2049780">
                  <a:extLst>
                    <a:ext uri="{9D8B030D-6E8A-4147-A177-3AD203B41FA5}">
                      <a16:colId xmlns:a16="http://schemas.microsoft.com/office/drawing/2014/main" val="3959665702"/>
                    </a:ext>
                  </a:extLst>
                </a:gridCol>
              </a:tblGrid>
              <a:tr h="2079866"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382850818"/>
                  </a:ext>
                </a:extLst>
              </a:tr>
              <a:tr h="2079866"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860353045"/>
                  </a:ext>
                </a:extLst>
              </a:tr>
            </a:tbl>
          </a:graphicData>
        </a:graphic>
      </p:graphicFrame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72B04609-9011-75C1-428E-AEC92A9E85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F859C1-8EE1-4062-8A80-955144FCA279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5B394A24-A5ED-B4AB-743F-176B4BC52E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EB4F0ABD-A3FF-3FA4-1508-CB40B0A888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4</a:t>
            </a:fld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964F6E0-59C6-5FA8-3FF9-66A6EBA747DE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1C3D19D7-7B78-6C3C-DB0D-BD75D8D009BD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A0D9AE2-CD0C-5DD6-009A-C7A8EDFFA33D}"/>
              </a:ext>
            </a:extLst>
          </p:cNvPr>
          <p:cNvSpPr txBox="1"/>
          <p:nvPr/>
        </p:nvSpPr>
        <p:spPr>
          <a:xfrm>
            <a:off x="345439" y="721360"/>
            <a:ext cx="8603121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>
                <a:latin typeface="+mj-lt"/>
              </a:rPr>
              <a:t>Modélisation : Schéma électrique équivalent </a:t>
            </a:r>
            <a:r>
              <a:rPr lang="fr-FR" sz="1000" i="1" dirty="0"/>
              <a:t>cf. [2]</a:t>
            </a:r>
            <a:endParaRPr lang="fr-FR" sz="2000" b="1" dirty="0">
              <a:latin typeface="+mj-lt"/>
            </a:endParaRPr>
          </a:p>
        </p:txBody>
      </p:sp>
      <p:pic>
        <p:nvPicPr>
          <p:cNvPr id="17" name="Picture 2" descr="5 Best Humbuckers: Gear Guide to Amazing Pickups | Equipboard®">
            <a:extLst>
              <a:ext uri="{FF2B5EF4-FFF2-40B4-BE49-F238E27FC236}">
                <a16:creationId xmlns:a16="http://schemas.microsoft.com/office/drawing/2014/main" id="{56DD3104-026C-3288-625E-3BE3270D2D2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83" t="-8093" r="50325" b="-7437"/>
          <a:stretch>
            <a:fillRect/>
          </a:stretch>
        </p:blipFill>
        <p:spPr bwMode="auto">
          <a:xfrm>
            <a:off x="733701" y="1888380"/>
            <a:ext cx="1546490" cy="1158075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C5B2EB7E-9F06-B1BC-4FA0-FDE9EFB3D13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40000" contrast="40000"/>
                    </a14:imgEffect>
                  </a14:imgLayer>
                </a14:imgProps>
              </a:ext>
            </a:extLst>
          </a:blip>
          <a:srcRect l="904"/>
          <a:stretch>
            <a:fillRect/>
          </a:stretch>
        </p:blipFill>
        <p:spPr>
          <a:xfrm>
            <a:off x="2764639" y="1460911"/>
            <a:ext cx="1723885" cy="1968405"/>
          </a:xfrm>
          <a:prstGeom prst="rect">
            <a:avLst/>
          </a:prstGeom>
        </p:spPr>
      </p:pic>
      <p:pic>
        <p:nvPicPr>
          <p:cNvPr id="11" name="Picture 2" descr="5 Best Humbuckers: Gear Guide to Amazing Pickups | Equipboard®">
            <a:extLst>
              <a:ext uri="{FF2B5EF4-FFF2-40B4-BE49-F238E27FC236}">
                <a16:creationId xmlns:a16="http://schemas.microsoft.com/office/drawing/2014/main" id="{57044795-B5D5-6F21-32C2-10AD5E46D7A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666" t="-7130" r="-141" b="-876"/>
          <a:stretch>
            <a:fillRect/>
          </a:stretch>
        </p:blipFill>
        <p:spPr bwMode="auto">
          <a:xfrm>
            <a:off x="733701" y="3832677"/>
            <a:ext cx="1546490" cy="1217694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2FC7DE1E-590A-AE5F-9184-B5DB7DD3D85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rightnessContrast bright="40000" contrast="40000"/>
                    </a14:imgEffect>
                  </a14:imgLayer>
                </a14:imgProps>
              </a:ext>
            </a:extLst>
          </a:blip>
          <a:srcRect l="611"/>
          <a:stretch>
            <a:fillRect/>
          </a:stretch>
        </p:blipFill>
        <p:spPr>
          <a:xfrm>
            <a:off x="2563942" y="3599295"/>
            <a:ext cx="1937551" cy="1797794"/>
          </a:xfrm>
          <a:prstGeom prst="rect">
            <a:avLst/>
          </a:prstGeom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C400735B-3429-D74B-B914-FE6A013D94BE}"/>
              </a:ext>
            </a:extLst>
          </p:cNvPr>
          <p:cNvGrpSpPr/>
          <p:nvPr/>
        </p:nvGrpSpPr>
        <p:grpSpPr>
          <a:xfrm>
            <a:off x="5094967" y="4939979"/>
            <a:ext cx="3846097" cy="338554"/>
            <a:chOff x="4855751" y="4417981"/>
            <a:chExt cx="3846097" cy="338554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1237119B-1DF1-C2FC-F71B-79302244948A}"/>
                </a:ext>
              </a:extLst>
            </p:cNvPr>
            <p:cNvSpPr txBox="1"/>
            <p:nvPr/>
          </p:nvSpPr>
          <p:spPr>
            <a:xfrm>
              <a:off x="4855751" y="4417981"/>
              <a:ext cx="3846097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600" dirty="0"/>
                <a:t>Ainsi on fera l’hypothèse : 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DEBB517F-560A-DA35-F53F-D72908A2CC59}"/>
                    </a:ext>
                  </a:extLst>
                </p:cNvPr>
                <p:cNvSpPr txBox="1"/>
                <p:nvPr/>
              </p:nvSpPr>
              <p:spPr>
                <a:xfrm>
                  <a:off x="7425344" y="4433151"/>
                  <a:ext cx="1174489" cy="276999"/>
                </a:xfrm>
                <a:prstGeom prst="rect">
                  <a:avLst/>
                </a:prstGeom>
                <a:ln w="19050">
                  <a:solidFill>
                    <a:srgbClr val="C00000"/>
                  </a:solidFill>
                </a:ln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  <m:d>
                          <m:dPr>
                            <m:ctrlPr>
                              <a:rPr lang="fr-FR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  <m:r>
                          <a:rPr lang="fr-FR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fr-FR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fr-FR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fr-FR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fr-FR" dirty="0">
                    <a:solidFill>
                      <a:srgbClr val="C00000"/>
                    </a:solidFill>
                  </a:endParaRPr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DEBB517F-560A-DA35-F53F-D72908A2CC5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25344" y="4433151"/>
                  <a:ext cx="1174489" cy="276999"/>
                </a:xfrm>
                <a:prstGeom prst="rect">
                  <a:avLst/>
                </a:prstGeom>
                <a:blipFill>
                  <a:blip r:embed="rId8"/>
                  <a:stretch>
                    <a:fillRect l="-1531" r="-5102" b="-31250"/>
                  </a:stretch>
                </a:blipFill>
                <a:ln w="19050">
                  <a:solidFill>
                    <a:srgbClr val="C00000"/>
                  </a:solidFill>
                </a:ln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294CF1AC-DF2F-FA91-9E80-3DF00A7ACDC7}"/>
                  </a:ext>
                </a:extLst>
              </p:cNvPr>
              <p:cNvSpPr/>
              <p:nvPr/>
            </p:nvSpPr>
            <p:spPr>
              <a:xfrm>
                <a:off x="5110262" y="5382267"/>
                <a:ext cx="3838298" cy="837655"/>
              </a:xfrm>
              <a:prstGeom prst="rect">
                <a:avLst/>
              </a:prstGeom>
              <a:ln w="38100"/>
            </p:spPr>
            <p:style>
              <a:lnRef idx="2">
                <a:schemeClr val="accent4"/>
              </a:lnRef>
              <a:fillRef idx="1">
                <a:schemeClr val="lt1"/>
              </a:fillRef>
              <a:effectRef idx="0">
                <a:schemeClr val="accent4"/>
              </a:effectRef>
              <a:fontRef idx="minor">
                <a:schemeClr val="dk1"/>
              </a:fontRef>
            </p:style>
            <p:txBody>
              <a:bodyPr numCol="1" rtlCol="0" anchor="ctr"/>
              <a:lstStyle/>
              <a:p>
                <a:r>
                  <a:rPr lang="fr-FR" sz="1200" b="1" dirty="0"/>
                  <a:t>Notations :</a:t>
                </a:r>
              </a:p>
              <a:p>
                <a:endParaRPr lang="fr-FR" sz="1200" b="1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𝑒</m:t>
                    </m:r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fr-FR" sz="1200" dirty="0"/>
                  <a:t>: FEM totale dans le micro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sz="1200" b="0" i="0" smtClean="0">
                        <a:latin typeface="Cambria Math" panose="02040503050406030204" pitchFamily="18" charset="0"/>
                      </a:rPr>
                      <m:t>s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fr-FR" sz="1200" dirty="0"/>
                  <a:t>: Tension de sortie du micro</a:t>
                </a:r>
              </a:p>
            </p:txBody>
          </p:sp>
        </mc:Choice>
        <mc:Fallback xmlns=""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294CF1AC-DF2F-FA91-9E80-3DF00A7ACDC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10262" y="5382267"/>
                <a:ext cx="3838298" cy="837655"/>
              </a:xfrm>
              <a:prstGeom prst="rect">
                <a:avLst/>
              </a:prstGeom>
              <a:blipFill>
                <a:blip r:embed="rId9"/>
                <a:stretch>
                  <a:fillRect b="-2098"/>
                </a:stretch>
              </a:blipFill>
              <a:ln w="38100"/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7" name="Picture 26">
            <a:extLst>
              <a:ext uri="{FF2B5EF4-FFF2-40B4-BE49-F238E27FC236}">
                <a16:creationId xmlns:a16="http://schemas.microsoft.com/office/drawing/2014/main" id="{3E0B518A-F126-423A-04A5-83BB611A4A6B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326"/>
          <a:stretch>
            <a:fillRect/>
          </a:stretch>
        </p:blipFill>
        <p:spPr>
          <a:xfrm>
            <a:off x="4695507" y="1397000"/>
            <a:ext cx="4006341" cy="284472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9EFF250A-2E63-B51D-D63B-013A63FA0AFC}"/>
                  </a:ext>
                </a:extLst>
              </p:cNvPr>
              <p:cNvSpPr txBox="1"/>
              <p:nvPr/>
            </p:nvSpPr>
            <p:spPr>
              <a:xfrm>
                <a:off x="5094966" y="4272247"/>
                <a:ext cx="3846097" cy="49391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FR" sz="1600" dirty="0"/>
                  <a:t>On observe 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sz="1600" b="0" i="1" smtClean="0">
                        <a:latin typeface="Cambria Math" panose="02040503050406030204" pitchFamily="18" charset="0"/>
                      </a:rPr>
                      <m:t>= </m:t>
                    </m:r>
                    <m:f>
                      <m:fPr>
                        <m:ctrlPr>
                          <a:rPr lang="fr-FR" sz="16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fr-FR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  <m:rad>
                          <m:radPr>
                            <m:degHide m:val="on"/>
                            <m:ctrlPr>
                              <a:rPr lang="fr-FR" sz="16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sSub>
                              <m:sSubPr>
                                <m:ctrlPr>
                                  <a:rPr lang="fr-FR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𝐿</m:t>
                                </m:r>
                              </m:e>
                              <m:sub>
                                <m:r>
                                  <a:rPr lang="fr-FR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𝑚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fr-FR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𝐶</m:t>
                                </m:r>
                              </m:e>
                              <m:sub>
                                <m:r>
                                  <a:rPr lang="fr-FR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𝑚</m:t>
                                </m:r>
                              </m:sub>
                            </m:sSub>
                          </m:e>
                        </m:rad>
                      </m:den>
                    </m:f>
                    <m:r>
                      <a:rPr lang="fr-FR" sz="1600" b="0" i="1" smtClean="0">
                        <a:latin typeface="Cambria Math" panose="02040503050406030204" pitchFamily="18" charset="0"/>
                      </a:rPr>
                      <m:t>=4755 </m:t>
                    </m:r>
                  </m:oMath>
                </a14:m>
                <a:r>
                  <a:rPr lang="fr-FR" sz="1600" dirty="0"/>
                  <a:t>Hz</a:t>
                </a: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9EFF250A-2E63-B51D-D63B-013A63FA0A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94966" y="4272247"/>
                <a:ext cx="3846097" cy="493918"/>
              </a:xfrm>
              <a:prstGeom prst="rect">
                <a:avLst/>
              </a:prstGeom>
              <a:blipFill>
                <a:blip r:embed="rId11"/>
                <a:stretch>
                  <a:fillRect l="-951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9892570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C1A1FD-A6FC-C7C2-DE37-662B2CD31B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A855E5BE-58A7-022E-6167-8A7B7F9B025C}"/>
              </a:ext>
            </a:extLst>
          </p:cNvPr>
          <p:cNvSpPr txBox="1"/>
          <p:nvPr/>
        </p:nvSpPr>
        <p:spPr>
          <a:xfrm>
            <a:off x="473803" y="5624506"/>
            <a:ext cx="9739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Avec :</a:t>
            </a:r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7E3A72F7-049B-A3CC-1B2E-02529849B4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F859C1-8EE1-4062-8A80-955144FCA279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BD52B121-9E62-729F-B3D5-86BB1018D8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613D1EFD-9144-A6ED-4EF0-340A2FFA44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5</a:t>
            </a:fld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A028266-1353-9D29-9412-6AFD6644D1A2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ABADD112-3E65-EB14-379D-D522541DFA3F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586FB64-1820-E8EA-22F7-D3261EDD1A9D}"/>
              </a:ext>
            </a:extLst>
          </p:cNvPr>
          <p:cNvSpPr txBox="1"/>
          <p:nvPr/>
        </p:nvSpPr>
        <p:spPr>
          <a:xfrm>
            <a:off x="345439" y="721360"/>
            <a:ext cx="8603121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>
                <a:latin typeface="+mj-lt"/>
              </a:rPr>
              <a:t>Modélisation : Force électromotrice FEM du micro </a:t>
            </a:r>
            <a:r>
              <a:rPr lang="fr-FR" sz="1000" i="1" dirty="0"/>
              <a:t>cf. [3]</a:t>
            </a:r>
            <a:r>
              <a:rPr lang="fr-FR" sz="1000" b="1" dirty="0">
                <a:latin typeface="+mj-lt"/>
              </a:rPr>
              <a:t> </a:t>
            </a:r>
            <a:endParaRPr lang="fr-FR" sz="2000" b="1" dirty="0">
              <a:latin typeface="+mj-lt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D469900-7C91-746A-DF9C-76998DDDDC23}"/>
              </a:ext>
            </a:extLst>
          </p:cNvPr>
          <p:cNvSpPr/>
          <p:nvPr/>
        </p:nvSpPr>
        <p:spPr>
          <a:xfrm>
            <a:off x="449950" y="424704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E938429-08DD-9D34-7052-F2B1EFB35D6A}"/>
              </a:ext>
            </a:extLst>
          </p:cNvPr>
          <p:cNvSpPr/>
          <p:nvPr/>
        </p:nvSpPr>
        <p:spPr>
          <a:xfrm>
            <a:off x="462440" y="1303261"/>
            <a:ext cx="4496905" cy="1376329"/>
          </a:xfrm>
          <a:prstGeom prst="rect">
            <a:avLst/>
          </a:prstGeom>
          <a:ln w="38100"/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fr-FR" sz="1600" b="1" dirty="0"/>
              <a:t>Hypothèses :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dirty="0"/>
              <a:t>Vibration de la corde : Onde stationnaire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dirty="0"/>
              <a:t>Champs Magnétique de la corde Uniforme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dirty="0"/>
              <a:t>Tension de sortie semblable à la fem totale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04FFBD4-8ECC-17F0-456E-3092458D7F36}"/>
              </a:ext>
            </a:extLst>
          </p:cNvPr>
          <p:cNvSpPr txBox="1"/>
          <p:nvPr/>
        </p:nvSpPr>
        <p:spPr>
          <a:xfrm>
            <a:off x="462440" y="4840431"/>
            <a:ext cx="32871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On a donc 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19D75804-48F9-1952-9D77-3AA86B746162}"/>
                  </a:ext>
                </a:extLst>
              </p:cNvPr>
              <p:cNvSpPr/>
              <p:nvPr/>
            </p:nvSpPr>
            <p:spPr>
              <a:xfrm>
                <a:off x="449950" y="2811320"/>
                <a:ext cx="8498610" cy="1720924"/>
              </a:xfrm>
              <a:prstGeom prst="rect">
                <a:avLst/>
              </a:prstGeom>
              <a:ln w="38100"/>
            </p:spPr>
            <p:style>
              <a:lnRef idx="2">
                <a:schemeClr val="accent4"/>
              </a:lnRef>
              <a:fillRef idx="1">
                <a:schemeClr val="lt1"/>
              </a:fillRef>
              <a:effectRef idx="0">
                <a:schemeClr val="accent4"/>
              </a:effectRef>
              <a:fontRef idx="minor">
                <a:schemeClr val="dk1"/>
              </a:fontRef>
            </p:style>
            <p:txBody>
              <a:bodyPr numCol="2" rtlCol="0" anchor="ctr"/>
              <a:lstStyle/>
              <a:p>
                <a:r>
                  <a:rPr lang="fr-FR" sz="1600" b="1" dirty="0"/>
                  <a:t>Notations :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 smtClean="0">
                        <a:latin typeface="Cambria Math" panose="02040503050406030204" pitchFamily="18" charset="0"/>
                      </a:rPr>
                      <m:t>𝑒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F.E.M. dans le micro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sz="1500" b="0" i="0" smtClean="0">
                        <a:latin typeface="Cambria Math" panose="02040503050406030204" pitchFamily="18" charset="0"/>
                      </a:rPr>
                      <m:t>s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Tension de sortie du micro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</a:rPr>
                      <m:t>𝑁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Nombre de spire du micro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</a:rPr>
                      <m:t>𝑆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Surface du micro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f>
                      <m:fPr>
                        <m:ctrlPr>
                          <a:rPr lang="fr-FR" sz="15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500" i="1">
                            <a:latin typeface="Cambria Math" panose="02040503050406030204" pitchFamily="18" charset="0"/>
                          </a:rPr>
                          <m:t>𝑑𝐵</m:t>
                        </m:r>
                      </m:num>
                      <m:den>
                        <m:r>
                          <a:rPr lang="fr-FR" sz="1500" i="1">
                            <a:latin typeface="Cambria Math" panose="02040503050406030204" pitchFamily="18" charset="0"/>
                          </a:rPr>
                          <m:t>𝑑𝑦</m:t>
                        </m:r>
                      </m:den>
                    </m:f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Gradient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</a:rPr>
                      <m:t>𝐴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Amplitude de vibration de la corde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</a:rPr>
                      <m:t>𝐿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Longueur de la corde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Masse linéique de la corde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</a:rPr>
                      <m:t>𝑇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Tension de la corde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5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5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5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Position de la source de la vibration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5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5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Position du micro</a:t>
                </a:r>
              </a:p>
            </p:txBody>
          </p:sp>
        </mc:Choice>
        <mc:Fallback xmlns=""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19D75804-48F9-1952-9D77-3AA86B74616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9950" y="2811320"/>
                <a:ext cx="8498610" cy="1720924"/>
              </a:xfrm>
              <a:prstGeom prst="rect">
                <a:avLst/>
              </a:prstGeom>
              <a:blipFill>
                <a:blip r:embed="rId2"/>
                <a:stretch>
                  <a:fillRect l="-214"/>
                </a:stretch>
              </a:blipFill>
              <a:ln w="38100"/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ED6AA2C2-FEF5-1C9F-ACB5-B77E215F9864}"/>
                  </a:ext>
                </a:extLst>
              </p:cNvPr>
              <p:cNvSpPr/>
              <p:nvPr/>
            </p:nvSpPr>
            <p:spPr>
              <a:xfrm>
                <a:off x="5098473" y="1298671"/>
                <a:ext cx="3842591" cy="1380920"/>
              </a:xfrm>
              <a:prstGeom prst="rect">
                <a:avLst/>
              </a:prstGeom>
              <a:ln w="38100">
                <a:solidFill>
                  <a:schemeClr val="accent6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lang="fr-FR" sz="1600" b="1" dirty="0"/>
                  <a:t>Lois et principes :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600" dirty="0"/>
                  <a:t>Loi d’induction de Faraday :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6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𝒆</m:t>
                      </m:r>
                      <m:r>
                        <a:rPr lang="fr-FR" sz="16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6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𝑵</m:t>
                      </m:r>
                      <m:f>
                        <m:fPr>
                          <m:ctrlPr>
                            <a:rPr lang="fr-FR" sz="16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6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𝒅</m:t>
                          </m:r>
                          <m:sSub>
                            <m:sSubPr>
                              <m:ctrlPr>
                                <a:rPr lang="fr-FR" sz="1600" b="1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600" b="1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𝝓</m:t>
                              </m:r>
                            </m:e>
                            <m:sub>
                              <m:r>
                                <a:rPr lang="fr-FR" sz="1600" b="1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𝑩</m:t>
                              </m:r>
                            </m:sub>
                          </m:sSub>
                        </m:num>
                        <m:den>
                          <m:r>
                            <a:rPr lang="fr-FR" sz="16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𝒅𝒕</m:t>
                          </m:r>
                        </m:den>
                      </m:f>
                    </m:oMath>
                  </m:oMathPara>
                </a14:m>
                <a:endParaRPr lang="fr-FR" sz="1600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ED6AA2C2-FEF5-1C9F-ACB5-B77E215F986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98473" y="1298671"/>
                <a:ext cx="3842591" cy="1380920"/>
              </a:xfrm>
              <a:prstGeom prst="rect">
                <a:avLst/>
              </a:prstGeom>
              <a:blipFill>
                <a:blip r:embed="rId3"/>
                <a:stretch>
                  <a:fillRect l="-314"/>
                </a:stretch>
              </a:blipFill>
              <a:ln w="38100">
                <a:solidFill>
                  <a:schemeClr val="accent6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1D32275D-B666-AD1E-6020-ABBAE6A2C0FD}"/>
                  </a:ext>
                </a:extLst>
              </p:cNvPr>
              <p:cNvSpPr txBox="1"/>
              <p:nvPr/>
            </p:nvSpPr>
            <p:spPr>
              <a:xfrm>
                <a:off x="1938313" y="4663973"/>
                <a:ext cx="3508525" cy="672172"/>
              </a:xfrm>
              <a:prstGeom prst="rect">
                <a:avLst/>
              </a:prstGeom>
              <a:ln w="19050">
                <a:solidFill>
                  <a:srgbClr val="C00000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 b="0" i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s</m:t>
                      </m:r>
                      <m:d>
                        <m:dPr>
                          <m:ctrlP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sSub>
                                <m:sSubPr>
                                  <m:ctrlPr>
                                    <a:rPr lang="fr-FR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fr-FR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(2</m:t>
                              </m:r>
                              <m:r>
                                <a:rPr lang="fr-FR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fr-FR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fr-FR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) </m:t>
                              </m:r>
                            </m:e>
                          </m:func>
                          <m: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fr-FR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1D32275D-B666-AD1E-6020-ABBAE6A2C0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38313" y="4663973"/>
                <a:ext cx="3508525" cy="67217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 w="19050"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3" name="Picture 2" descr="5 Best Humbuckers: Gear Guide to Amazing Pickups | Equipboard®">
            <a:extLst>
              <a:ext uri="{FF2B5EF4-FFF2-40B4-BE49-F238E27FC236}">
                <a16:creationId xmlns:a16="http://schemas.microsoft.com/office/drawing/2014/main" id="{548E630A-12F5-32F1-CC8A-2622DB0C99B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83" t="-8093" r="50325" b="-7437"/>
          <a:stretch>
            <a:fillRect/>
          </a:stretch>
        </p:blipFill>
        <p:spPr bwMode="auto">
          <a:xfrm>
            <a:off x="8041625" y="584646"/>
            <a:ext cx="899439" cy="673537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1" name="Group 20">
            <a:extLst>
              <a:ext uri="{FF2B5EF4-FFF2-40B4-BE49-F238E27FC236}">
                <a16:creationId xmlns:a16="http://schemas.microsoft.com/office/drawing/2014/main" id="{2CF629CA-DDF5-5C23-1162-F3F0C74C233A}"/>
              </a:ext>
            </a:extLst>
          </p:cNvPr>
          <p:cNvGrpSpPr/>
          <p:nvPr/>
        </p:nvGrpSpPr>
        <p:grpSpPr>
          <a:xfrm>
            <a:off x="6381742" y="4607133"/>
            <a:ext cx="2559322" cy="779089"/>
            <a:chOff x="500933" y="4427234"/>
            <a:chExt cx="4020249" cy="1409897"/>
          </a:xfrm>
        </p:grpSpPr>
        <p:pic>
          <p:nvPicPr>
            <p:cNvPr id="22" name="Picture 21">
              <a:extLst>
                <a:ext uri="{FF2B5EF4-FFF2-40B4-BE49-F238E27FC236}">
                  <a16:creationId xmlns:a16="http://schemas.microsoft.com/office/drawing/2014/main" id="{2C1AEE0C-A67A-1330-96A5-6065DC1AB8B9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500933" y="4427234"/>
              <a:ext cx="4020249" cy="1409897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8FB0AD10-B999-2905-1B3A-F6ADE2E9CDE6}"/>
                    </a:ext>
                  </a:extLst>
                </p:cNvPr>
                <p:cNvSpPr txBox="1"/>
                <p:nvPr/>
              </p:nvSpPr>
              <p:spPr>
                <a:xfrm>
                  <a:off x="1554367" y="5573503"/>
                  <a:ext cx="195695" cy="184666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8FB0AD10-B999-2905-1B3A-F6ADE2E9CDE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54367" y="5573503"/>
                  <a:ext cx="195695" cy="184666"/>
                </a:xfrm>
                <a:prstGeom prst="rect">
                  <a:avLst/>
                </a:prstGeom>
                <a:blipFill>
                  <a:blip r:embed="rId9"/>
                  <a:stretch>
                    <a:fillRect l="-35000" r="-45000" b="-118750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7133AE80-0E4F-B0C2-86DD-BF163C681537}"/>
                  </a:ext>
                </a:extLst>
              </p:cNvPr>
              <p:cNvSpPr txBox="1"/>
              <p:nvPr/>
            </p:nvSpPr>
            <p:spPr>
              <a:xfrm>
                <a:off x="2316039" y="5432818"/>
                <a:ext cx="2379468" cy="75270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400" i="1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𝐴</m:t>
                          </m:r>
                          <m:func>
                            <m:funcPr>
                              <m:ctrlPr>
                                <a:rPr lang="fr-FR" sz="14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4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</m:num>
                        <m:den>
                          <m:f>
                            <m:fPr>
                              <m:ctrlPr>
                                <a:rPr lang="fr-FR" sz="14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den>
                          </m:f>
                          <m:d>
                            <m:dPr>
                              <m:ctrlPr>
                                <a:rPr lang="fr-FR" sz="1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1 − </m:t>
                              </m:r>
                              <m:f>
                                <m:fPr>
                                  <m:ctrl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num>
                                <m:den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d>
                          <m:sSup>
                            <m:sSupPr>
                              <m:ctrlPr>
                                <a:rPr lang="fr-FR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p>
                              <m:r>
                                <a:rPr lang="fr-FR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fr-FR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  <m:r>
                            <a:rPr lang="fr-FR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²</m:t>
                          </m:r>
                        </m:den>
                      </m:f>
                    </m:oMath>
                  </m:oMathPara>
                </a14:m>
                <a:endParaRPr lang="fr-FR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7133AE80-0E4F-B0C2-86DD-BF163C6815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16039" y="5432818"/>
                <a:ext cx="2379468" cy="752707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088D5ABB-BB13-05D1-3C4D-3FBE5898CB5E}"/>
                  </a:ext>
                </a:extLst>
              </p:cNvPr>
              <p:cNvSpPr txBox="1"/>
              <p:nvPr/>
            </p:nvSpPr>
            <p:spPr>
              <a:xfrm>
                <a:off x="4550126" y="5573575"/>
                <a:ext cx="3111070" cy="47333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fr-FR" sz="1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fr-FR" sz="1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a:rPr lang="fr-FR" sz="14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m:rPr>
                              <m:sty m:val="p"/>
                            </m:rPr>
                            <a:rPr lang="el-GR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π</m:t>
                          </m:r>
                          <m:sSub>
                            <m:sSubPr>
                              <m:ctrlPr>
                                <a:rPr lang="fr-FR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a:rPr lang="fr-FR" sz="14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fr-FR" sz="1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fr-FR" sz="1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e>
                          </m:d>
                          <m:r>
                            <a:rPr lang="fr-FR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func>
                    </m:oMath>
                  </m:oMathPara>
                </a14:m>
                <a:endParaRPr lang="fr-FR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088D5ABB-BB13-05D1-3C4D-3FBE5898CB5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50126" y="5573575"/>
                <a:ext cx="3111070" cy="473335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BE447B67-2FAC-0F5A-5AF0-9FF27C011D40}"/>
                  </a:ext>
                </a:extLst>
              </p:cNvPr>
              <p:cNvSpPr txBox="1"/>
              <p:nvPr/>
            </p:nvSpPr>
            <p:spPr>
              <a:xfrm>
                <a:off x="1262963" y="5512603"/>
                <a:ext cx="1094650" cy="59452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400" i="1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ad>
                            <m:radPr>
                              <m:degHide m:val="on"/>
                              <m:ctrlP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</m:rad>
                        </m:num>
                        <m:den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  <m:rad>
                            <m:radPr>
                              <m:degHide m:val="on"/>
                              <m:ctrlP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fr-FR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BE447B67-2FAC-0F5A-5AF0-9FF27C011D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62963" y="5512603"/>
                <a:ext cx="1094650" cy="594522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374570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F9010F-DF56-9432-02C2-D32A273677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>
            <a:extLst>
              <a:ext uri="{FF2B5EF4-FFF2-40B4-BE49-F238E27FC236}">
                <a16:creationId xmlns:a16="http://schemas.microsoft.com/office/drawing/2014/main" id="{CBF2B52F-25EC-86A1-1982-155B9932D89D}"/>
              </a:ext>
            </a:extLst>
          </p:cNvPr>
          <p:cNvGrpSpPr/>
          <p:nvPr/>
        </p:nvGrpSpPr>
        <p:grpSpPr>
          <a:xfrm>
            <a:off x="6381742" y="4607133"/>
            <a:ext cx="2559322" cy="779089"/>
            <a:chOff x="500933" y="4427234"/>
            <a:chExt cx="4020249" cy="1409897"/>
          </a:xfrm>
        </p:grpSpPr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5D64B9D5-3565-3841-03E8-FE52034EEEF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00933" y="4427234"/>
              <a:ext cx="4020249" cy="1409897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1D62C09A-D914-3D01-F179-A659E59888E8}"/>
                    </a:ext>
                  </a:extLst>
                </p:cNvPr>
                <p:cNvSpPr txBox="1"/>
                <p:nvPr/>
              </p:nvSpPr>
              <p:spPr>
                <a:xfrm>
                  <a:off x="1554367" y="5573503"/>
                  <a:ext cx="195695" cy="184666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1D62C09A-D914-3D01-F179-A659E59888E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54367" y="5573503"/>
                  <a:ext cx="195695" cy="184666"/>
                </a:xfrm>
                <a:prstGeom prst="rect">
                  <a:avLst/>
                </a:prstGeom>
                <a:blipFill>
                  <a:blip r:embed="rId3"/>
                  <a:stretch>
                    <a:fillRect l="-35000" r="-45000" b="-118750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2D9F0C0B-1CCE-1701-4564-9070DD87E7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F859C1-8EE1-4062-8A80-955144FCA279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06F42ED7-BDC4-FA14-71AC-33563D8EFD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2576DF31-6CF8-BA8E-5EFA-8E5389ACB7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6</a:t>
            </a:fld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12B99EE-5C41-4EA9-BB98-7ED5E47D8DC0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DADF3B29-6309-63E4-DAC0-4D3C3D7A4D79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7A1B16E-6C41-9660-8DE9-A37A0AB7E175}"/>
              </a:ext>
            </a:extLst>
          </p:cNvPr>
          <p:cNvSpPr txBox="1"/>
          <p:nvPr/>
        </p:nvSpPr>
        <p:spPr>
          <a:xfrm>
            <a:off x="345439" y="721360"/>
            <a:ext cx="8603121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Modélisation : Force électromotrice FEM du micro </a:t>
            </a:r>
            <a:r>
              <a:rPr lang="fr-FR" sz="1000" i="1" dirty="0"/>
              <a:t>cf. [3]</a:t>
            </a:r>
            <a:endParaRPr lang="fr-FR" sz="2000" b="1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1760DBF-34A0-70F3-18A5-EAC899830298}"/>
              </a:ext>
            </a:extLst>
          </p:cNvPr>
          <p:cNvSpPr/>
          <p:nvPr/>
        </p:nvSpPr>
        <p:spPr>
          <a:xfrm>
            <a:off x="449950" y="424704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D0F6DBD-695B-4189-F38D-DDC03E7AACDF}"/>
              </a:ext>
            </a:extLst>
          </p:cNvPr>
          <p:cNvSpPr/>
          <p:nvPr/>
        </p:nvSpPr>
        <p:spPr>
          <a:xfrm>
            <a:off x="462440" y="1303261"/>
            <a:ext cx="4496905" cy="1376329"/>
          </a:xfrm>
          <a:prstGeom prst="rect">
            <a:avLst/>
          </a:prstGeom>
          <a:ln w="38100"/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fr-FR" sz="1600" b="1" dirty="0"/>
              <a:t>Hypothèses :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dirty="0"/>
              <a:t>Vibration de la corde : Onde stationnaire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dirty="0"/>
              <a:t>Champs Magnétique de la corde Uniforme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dirty="0"/>
              <a:t>Tension de sortie semblable à la fem totale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907D3140-8ECA-CFC1-FF10-11A7070E2C1E}"/>
              </a:ext>
            </a:extLst>
          </p:cNvPr>
          <p:cNvSpPr txBox="1"/>
          <p:nvPr/>
        </p:nvSpPr>
        <p:spPr>
          <a:xfrm>
            <a:off x="462440" y="4840431"/>
            <a:ext cx="32871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On a donc 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6A9F52FB-8CC9-7E9F-BC07-904E55692F48}"/>
                  </a:ext>
                </a:extLst>
              </p:cNvPr>
              <p:cNvSpPr txBox="1"/>
              <p:nvPr/>
            </p:nvSpPr>
            <p:spPr>
              <a:xfrm>
                <a:off x="1960158" y="4663973"/>
                <a:ext cx="3508525" cy="672172"/>
              </a:xfrm>
              <a:prstGeom prst="rect">
                <a:avLst/>
              </a:prstGeom>
              <a:ln w="19050">
                <a:solidFill>
                  <a:srgbClr val="C00000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s</m:t>
                      </m:r>
                      <m:d>
                        <m:dPr>
                          <m:ctrlP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sSub>
                                <m:sSubPr>
                                  <m:ctrlPr>
                                    <a:rPr lang="fr-FR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fr-FR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(2</m:t>
                              </m:r>
                              <m:r>
                                <a:rPr lang="fr-FR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fr-FR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fr-FR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) </m:t>
                              </m:r>
                            </m:e>
                          </m:func>
                          <m: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fr-FR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6A9F52FB-8CC9-7E9F-BC07-904E55692F4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60158" y="4663973"/>
                <a:ext cx="3508525" cy="67217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 w="19050"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D6A25780-A78E-0C68-4708-9ED7CF9A05B6}"/>
                  </a:ext>
                </a:extLst>
              </p:cNvPr>
              <p:cNvSpPr/>
              <p:nvPr/>
            </p:nvSpPr>
            <p:spPr>
              <a:xfrm>
                <a:off x="449950" y="2811320"/>
                <a:ext cx="8498610" cy="1720924"/>
              </a:xfrm>
              <a:prstGeom prst="rect">
                <a:avLst/>
              </a:prstGeom>
              <a:ln w="38100"/>
            </p:spPr>
            <p:style>
              <a:lnRef idx="2">
                <a:schemeClr val="accent4"/>
              </a:lnRef>
              <a:fillRef idx="1">
                <a:schemeClr val="lt1"/>
              </a:fillRef>
              <a:effectRef idx="0">
                <a:schemeClr val="accent4"/>
              </a:effectRef>
              <a:fontRef idx="minor">
                <a:schemeClr val="dk1"/>
              </a:fontRef>
            </p:style>
            <p:txBody>
              <a:bodyPr numCol="2" rtlCol="0" anchor="ctr"/>
              <a:lstStyle/>
              <a:p>
                <a:r>
                  <a:rPr lang="fr-FR" sz="1600" b="1" dirty="0"/>
                  <a:t>Notations :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 smtClean="0">
                        <a:latin typeface="Cambria Math" panose="02040503050406030204" pitchFamily="18" charset="0"/>
                      </a:rPr>
                      <m:t>𝑒</m:t>
                    </m:r>
                    <m:r>
                      <a:rPr lang="fr-FR" sz="150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F.E.M. dans le micro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Tension de sortie micro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</a:rPr>
                      <m:t>𝑁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Nombre de spire du micro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</a:rPr>
                      <m:t>𝑆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Surface du micro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f>
                      <m:fPr>
                        <m:ctrlPr>
                          <a:rPr lang="fr-FR" sz="15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500" i="1">
                            <a:latin typeface="Cambria Math" panose="02040503050406030204" pitchFamily="18" charset="0"/>
                          </a:rPr>
                          <m:t>𝑑𝐵</m:t>
                        </m:r>
                      </m:num>
                      <m:den>
                        <m:r>
                          <a:rPr lang="fr-FR" sz="1500" i="1">
                            <a:latin typeface="Cambria Math" panose="02040503050406030204" pitchFamily="18" charset="0"/>
                          </a:rPr>
                          <m:t>𝑑𝑦</m:t>
                        </m:r>
                      </m:den>
                    </m:f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Gradient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</a:rPr>
                      <m:t>𝐴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Amplitude de vibration de la corde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</a:rPr>
                      <m:t>𝐿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Longueur de la corde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Masse linéique de la corde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</a:rPr>
                      <m:t>𝑇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Tension de la corde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5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5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5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Position de la source de la vibration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5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5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Position du 1</a:t>
                </a:r>
                <a:r>
                  <a:rPr lang="fr-FR" sz="1500" baseline="30000" dirty="0"/>
                  <a:t>er</a:t>
                </a:r>
                <a:r>
                  <a:rPr lang="fr-FR" sz="1500" dirty="0"/>
                  <a:t> bobinage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5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5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Position du 2</a:t>
                </a:r>
                <a:r>
                  <a:rPr lang="fr-FR" sz="1500" baseline="30000" dirty="0"/>
                  <a:t>nd</a:t>
                </a:r>
                <a:r>
                  <a:rPr lang="fr-FR" sz="1500" dirty="0"/>
                  <a:t> bobinage</a:t>
                </a:r>
              </a:p>
            </p:txBody>
          </p:sp>
        </mc:Choice>
        <mc:Fallback xmlns=""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D6A25780-A78E-0C68-4708-9ED7CF9A05B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9950" y="2811320"/>
                <a:ext cx="8498610" cy="1720924"/>
              </a:xfrm>
              <a:prstGeom prst="rect">
                <a:avLst/>
              </a:prstGeom>
              <a:blipFill>
                <a:blip r:embed="rId5"/>
                <a:stretch>
                  <a:fillRect l="-214" b="-2083"/>
                </a:stretch>
              </a:blipFill>
              <a:ln w="38100"/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8C94340E-38F0-066F-1B5E-DC334FAA03BB}"/>
                  </a:ext>
                </a:extLst>
              </p:cNvPr>
              <p:cNvSpPr/>
              <p:nvPr/>
            </p:nvSpPr>
            <p:spPr>
              <a:xfrm>
                <a:off x="5098473" y="1298671"/>
                <a:ext cx="3842591" cy="1380920"/>
              </a:xfrm>
              <a:prstGeom prst="rect">
                <a:avLst/>
              </a:prstGeom>
              <a:ln w="38100">
                <a:solidFill>
                  <a:schemeClr val="accent6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lang="fr-FR" sz="1600" b="1" dirty="0"/>
                  <a:t>Lois et principes :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600" dirty="0"/>
                  <a:t>Loi d’induction de Faraday :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6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𝒆</m:t>
                      </m:r>
                      <m:r>
                        <a:rPr lang="fr-FR" sz="16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6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𝑵</m:t>
                      </m:r>
                      <m:f>
                        <m:fPr>
                          <m:ctrlPr>
                            <a:rPr lang="fr-FR" sz="16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6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𝒅</m:t>
                          </m:r>
                          <m:sSub>
                            <m:sSubPr>
                              <m:ctrlPr>
                                <a:rPr lang="fr-FR" sz="1600" b="1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600" b="1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𝝓</m:t>
                              </m:r>
                            </m:e>
                            <m:sub>
                              <m:r>
                                <a:rPr lang="fr-FR" sz="1600" b="1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𝑩</m:t>
                              </m:r>
                            </m:sub>
                          </m:sSub>
                        </m:num>
                        <m:den>
                          <m:r>
                            <a:rPr lang="fr-FR" sz="16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𝒅𝒕</m:t>
                          </m:r>
                        </m:den>
                      </m:f>
                    </m:oMath>
                  </m:oMathPara>
                </a14:m>
                <a:endParaRPr lang="fr-FR" sz="1600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8C94340E-38F0-066F-1B5E-DC334FAA03B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98473" y="1298671"/>
                <a:ext cx="3842591" cy="1380920"/>
              </a:xfrm>
              <a:prstGeom prst="rect">
                <a:avLst/>
              </a:prstGeom>
              <a:blipFill>
                <a:blip r:embed="rId6"/>
                <a:stretch>
                  <a:fillRect l="-314"/>
                </a:stretch>
              </a:blipFill>
              <a:ln w="38100">
                <a:solidFill>
                  <a:schemeClr val="accent6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Box 9">
            <a:extLst>
              <a:ext uri="{FF2B5EF4-FFF2-40B4-BE49-F238E27FC236}">
                <a16:creationId xmlns:a16="http://schemas.microsoft.com/office/drawing/2014/main" id="{9F03902F-5230-DAFD-040F-91D8B468A007}"/>
              </a:ext>
            </a:extLst>
          </p:cNvPr>
          <p:cNvSpPr txBox="1"/>
          <p:nvPr/>
        </p:nvSpPr>
        <p:spPr>
          <a:xfrm>
            <a:off x="449950" y="5624506"/>
            <a:ext cx="32871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Avec :</a:t>
            </a:r>
          </a:p>
        </p:txBody>
      </p:sp>
      <p:pic>
        <p:nvPicPr>
          <p:cNvPr id="11" name="Picture 2" descr="5 Best Humbuckers: Gear Guide to Amazing Pickups | Equipboard®">
            <a:extLst>
              <a:ext uri="{FF2B5EF4-FFF2-40B4-BE49-F238E27FC236}">
                <a16:creationId xmlns:a16="http://schemas.microsoft.com/office/drawing/2014/main" id="{53979BD0-56F0-2C0D-9A37-AD6D904E5BD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666" t="-7130" r="-141" b="-876"/>
          <a:stretch>
            <a:fillRect/>
          </a:stretch>
        </p:blipFill>
        <p:spPr bwMode="auto">
          <a:xfrm>
            <a:off x="8101701" y="558793"/>
            <a:ext cx="839363" cy="674013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AAE6162E-05C8-0C1E-19EC-515BA5DC556B}"/>
                  </a:ext>
                </a:extLst>
              </p:cNvPr>
              <p:cNvSpPr txBox="1"/>
              <p:nvPr/>
            </p:nvSpPr>
            <p:spPr>
              <a:xfrm>
                <a:off x="2316039" y="5432818"/>
                <a:ext cx="2379468" cy="75270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400" i="1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𝐴</m:t>
                          </m:r>
                          <m:func>
                            <m:funcPr>
                              <m:ctrlPr>
                                <a:rPr lang="fr-FR" sz="14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4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</m:num>
                        <m:den>
                          <m:f>
                            <m:fPr>
                              <m:ctrlPr>
                                <a:rPr lang="fr-FR" sz="14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den>
                          </m:f>
                          <m:d>
                            <m:dPr>
                              <m:ctrlPr>
                                <a:rPr lang="fr-FR" sz="1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1 − </m:t>
                              </m:r>
                              <m:f>
                                <m:fPr>
                                  <m:ctrl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num>
                                <m:den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d>
                          <m:sSup>
                            <m:sSupPr>
                              <m:ctrlPr>
                                <a:rPr lang="fr-FR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p>
                              <m:r>
                                <a:rPr lang="fr-FR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fr-FR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  <m:r>
                            <a:rPr lang="fr-FR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²</m:t>
                          </m:r>
                        </m:den>
                      </m:f>
                    </m:oMath>
                  </m:oMathPara>
                </a14:m>
                <a:endParaRPr lang="fr-FR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AAE6162E-05C8-0C1E-19EC-515BA5DC55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16039" y="5432818"/>
                <a:ext cx="2379468" cy="75270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7D6B9BAC-E8A2-23E0-E979-ED68A07489D3}"/>
                  </a:ext>
                </a:extLst>
              </p:cNvPr>
              <p:cNvSpPr txBox="1"/>
              <p:nvPr/>
            </p:nvSpPr>
            <p:spPr>
              <a:xfrm>
                <a:off x="4550126" y="5573575"/>
                <a:ext cx="3111070" cy="47333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fr-FR" sz="1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fr-FR" sz="1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a:rPr lang="fr-FR" sz="14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m:rPr>
                              <m:sty m:val="p"/>
                            </m:rPr>
                            <a:rPr lang="el-GR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π</m:t>
                          </m:r>
                          <m:sSub>
                            <m:sSubPr>
                              <m:ctrlPr>
                                <a:rPr lang="fr-FR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fr-FR" sz="14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m:rPr>
                              <m:sty m:val="p"/>
                            </m:rPr>
                            <a:rPr lang="fr-FR" sz="14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fr-FR" sz="1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fr-FR" sz="1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  <m:r>
                            <a:rPr lang="fr-FR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func>
                            <m:funcPr>
                              <m:ctrlPr>
                                <a:rPr lang="fr-FR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400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fr-FR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))</m:t>
                              </m:r>
                            </m:e>
                          </m:func>
                          <m:r>
                            <a:rPr lang="fr-FR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func>
                    </m:oMath>
                  </m:oMathPara>
                </a14:m>
                <a:endParaRPr lang="fr-FR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7D6B9BAC-E8A2-23E0-E979-ED68A07489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50126" y="5573575"/>
                <a:ext cx="3111070" cy="473335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ABD3F0E5-E075-F41B-58E4-F75CD96D24E4}"/>
                  </a:ext>
                </a:extLst>
              </p:cNvPr>
              <p:cNvSpPr txBox="1"/>
              <p:nvPr/>
            </p:nvSpPr>
            <p:spPr>
              <a:xfrm>
                <a:off x="1262963" y="5512603"/>
                <a:ext cx="1094650" cy="59452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400" i="1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ad>
                            <m:radPr>
                              <m:degHide m:val="on"/>
                              <m:ctrlP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</m:rad>
                        </m:num>
                        <m:den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  <m:rad>
                            <m:radPr>
                              <m:degHide m:val="on"/>
                              <m:ctrlP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fr-FR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ABD3F0E5-E075-F41B-58E4-F75CD96D24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62963" y="5512603"/>
                <a:ext cx="1094650" cy="594522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0778726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EF6789-59FF-E98B-2D7A-EBFD30DD3D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01E4409E-BB69-4F05-6959-05D93C0C0B56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0DD9EB35-CDF2-F204-61ED-05869E8CC0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F859C1-8EE1-4062-8A80-955144FCA279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40B72086-A9D3-5116-8808-12F97B9B03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8C7556C1-23EF-8984-6FB4-443D96D8B9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7</a:t>
            </a:fld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7A26979-A461-22EA-6FB4-E3B3CD3EA870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A2E6AD15-042F-0495-9070-FD814AE938F1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204D8CA-1D55-AAC7-9336-A28353BB32A3}"/>
              </a:ext>
            </a:extLst>
          </p:cNvPr>
          <p:cNvSpPr txBox="1"/>
          <p:nvPr/>
        </p:nvSpPr>
        <p:spPr>
          <a:xfrm>
            <a:off x="345439" y="721360"/>
            <a:ext cx="8063923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Modélisation : Comparaison des micros</a:t>
            </a:r>
          </a:p>
        </p:txBody>
      </p:sp>
      <p:pic>
        <p:nvPicPr>
          <p:cNvPr id="8194" name="Picture 2" descr="Python Logo PNG Transparent – Brands Logos">
            <a:extLst>
              <a:ext uri="{FF2B5EF4-FFF2-40B4-BE49-F238E27FC236}">
                <a16:creationId xmlns:a16="http://schemas.microsoft.com/office/drawing/2014/main" id="{2A3B655F-4B4E-D5F2-9497-C1A6F9AC2E7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84584" y="599276"/>
            <a:ext cx="729039" cy="7259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F1299243-B977-7C36-755B-17DA59A1FB3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4435" y="1142995"/>
            <a:ext cx="5486411" cy="4572009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30646073-17FF-0865-43FA-5D4154632D2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622" t="9050" r="35733" b="15377"/>
          <a:stretch>
            <a:fillRect/>
          </a:stretch>
        </p:blipFill>
        <p:spPr>
          <a:xfrm>
            <a:off x="6484584" y="3915004"/>
            <a:ext cx="1800000" cy="1800000"/>
          </a:xfrm>
          <a:prstGeom prst="rect">
            <a:avLst/>
          </a:prstGeom>
          <a:ln w="38100" cap="sq">
            <a:solidFill>
              <a:srgbClr val="000000"/>
            </a:solidFill>
            <a:miter lim="800000"/>
          </a:ln>
          <a:effectLst>
            <a:outerShdw blurRad="57150" dist="50800" dir="2700000" algn="tl" rotWithShape="0">
              <a:srgbClr val="000000">
                <a:alpha val="40000"/>
              </a:srgbClr>
            </a:outerShdw>
          </a:effectLst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B825D287-A038-C682-34C3-045C19CF5CF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116" t="10927" r="35870" b="15443"/>
          <a:stretch>
            <a:fillRect/>
          </a:stretch>
        </p:blipFill>
        <p:spPr>
          <a:xfrm>
            <a:off x="6484584" y="1390254"/>
            <a:ext cx="1800000" cy="1800000"/>
          </a:xfrm>
          <a:prstGeom prst="rect">
            <a:avLst/>
          </a:prstGeom>
          <a:ln w="38100" cap="sq">
            <a:solidFill>
              <a:srgbClr val="000000"/>
            </a:solidFill>
            <a:miter lim="800000"/>
          </a:ln>
          <a:effectLst>
            <a:outerShdw blurRad="57150" dist="50800" dir="2700000" algn="tl" rotWithShape="0">
              <a:srgbClr val="000000">
                <a:alpha val="40000"/>
              </a:srgbClr>
            </a:outerShdw>
          </a:effectLst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C57B18AB-7581-5E60-7446-58AA5F41399C}"/>
              </a:ext>
            </a:extLst>
          </p:cNvPr>
          <p:cNvSpPr txBox="1"/>
          <p:nvPr/>
        </p:nvSpPr>
        <p:spPr>
          <a:xfrm>
            <a:off x="5285779" y="3383352"/>
            <a:ext cx="1653872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600" dirty="0"/>
              <a:t>Champ Parasite</a:t>
            </a:r>
          </a:p>
        </p:txBody>
      </p:sp>
      <p:cxnSp>
        <p:nvCxnSpPr>
          <p:cNvPr id="25" name="Connector: Curved 24">
            <a:extLst>
              <a:ext uri="{FF2B5EF4-FFF2-40B4-BE49-F238E27FC236}">
                <a16:creationId xmlns:a16="http://schemas.microsoft.com/office/drawing/2014/main" id="{5BB33DB7-7AA2-E232-24A7-9C4016C67B9F}"/>
              </a:ext>
            </a:extLst>
          </p:cNvPr>
          <p:cNvCxnSpPr>
            <a:cxnSpLocks/>
            <a:stCxn id="18" idx="1"/>
            <a:endCxn id="23" idx="0"/>
          </p:cNvCxnSpPr>
          <p:nvPr/>
        </p:nvCxnSpPr>
        <p:spPr>
          <a:xfrm rot="10800000" flipV="1">
            <a:off x="6112716" y="2290254"/>
            <a:ext cx="371869" cy="1093098"/>
          </a:xfrm>
          <a:prstGeom prst="curvedConnector2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Connector: Curved 25">
            <a:extLst>
              <a:ext uri="{FF2B5EF4-FFF2-40B4-BE49-F238E27FC236}">
                <a16:creationId xmlns:a16="http://schemas.microsoft.com/office/drawing/2014/main" id="{A807D5F6-2DF7-0611-96D1-33B56DCB6524}"/>
              </a:ext>
            </a:extLst>
          </p:cNvPr>
          <p:cNvCxnSpPr>
            <a:cxnSpLocks/>
            <a:stCxn id="23" idx="2"/>
            <a:endCxn id="15" idx="1"/>
          </p:cNvCxnSpPr>
          <p:nvPr/>
        </p:nvCxnSpPr>
        <p:spPr>
          <a:xfrm rot="16200000" flipH="1">
            <a:off x="5752100" y="4082520"/>
            <a:ext cx="1093098" cy="371869"/>
          </a:xfrm>
          <a:prstGeom prst="curvedConnector2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5154479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609104-889E-FEED-38F6-C3620D7422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BDF59EE9-5541-3C35-D9F3-4286FB3CB3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F859C1-8EE1-4062-8A80-955144FCA279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8456BA52-60DE-BBCD-33A6-948F7C0B31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4D1A7DA8-31DF-35B6-F503-F848EFFAAC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8</a:t>
            </a:fld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A81309A-E7A7-6863-5C96-5E4ED1E2F76B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B6180FF7-3A39-B8EC-A752-BDE9EB41E268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67EF125-1D42-4832-0684-544004348805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Expérimentation </a:t>
            </a:r>
            <a:r>
              <a:rPr lang="fr-FR" sz="1000" i="1" dirty="0"/>
              <a:t>cf. [4], [5]</a:t>
            </a:r>
            <a:endParaRPr lang="fr-FR" sz="2000" b="1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39B12CB-DF61-CDB0-E7B9-3D2385D235CC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39B89B2-1B31-E264-13DF-C63CCFCF8423}"/>
              </a:ext>
            </a:extLst>
          </p:cNvPr>
          <p:cNvSpPr txBox="1"/>
          <p:nvPr/>
        </p:nvSpPr>
        <p:spPr>
          <a:xfrm>
            <a:off x="345440" y="4565413"/>
            <a:ext cx="8478303" cy="1477328"/>
          </a:xfrm>
          <a:prstGeom prst="rect">
            <a:avLst/>
          </a:prstGeom>
          <a:ln w="38100">
            <a:solidFill>
              <a:schemeClr val="accent3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 numCol="3" rtlCol="0">
            <a:spAutoFit/>
          </a:bodyPr>
          <a:lstStyle/>
          <a:p>
            <a:r>
              <a:rPr lang="fr-FR" b="1" dirty="0"/>
              <a:t>Paramètres variables :</a:t>
            </a:r>
          </a:p>
          <a:p>
            <a:endParaRPr lang="fr-FR" b="1" dirty="0"/>
          </a:p>
          <a:p>
            <a:pPr marL="285750" indent="-285750">
              <a:buFont typeface="Wingdings" panose="05000000000000000000" pitchFamily="2" charset="2"/>
              <a:buChar char="à"/>
            </a:pPr>
            <a:r>
              <a:rPr lang="fr-FR" dirty="0">
                <a:sym typeface="Wingdings" panose="05000000000000000000" pitchFamily="2" charset="2"/>
              </a:rPr>
              <a:t>Type de micro utilisé</a:t>
            </a:r>
          </a:p>
          <a:p>
            <a:pPr marL="285750" indent="-285750">
              <a:buFont typeface="Wingdings" panose="05000000000000000000" pitchFamily="2" charset="2"/>
              <a:buChar char="à"/>
            </a:pPr>
            <a:endParaRPr lang="fr-FR" dirty="0">
              <a:sym typeface="Wingdings" panose="05000000000000000000" pitchFamily="2" charset="2"/>
            </a:endParaRPr>
          </a:p>
          <a:p>
            <a:endParaRPr lang="fr-FR" dirty="0">
              <a:sym typeface="Wingdings" panose="05000000000000000000" pitchFamily="2" charset="2"/>
            </a:endParaRPr>
          </a:p>
          <a:p>
            <a:endParaRPr lang="fr-FR" dirty="0">
              <a:sym typeface="Wingdings" panose="05000000000000000000" pitchFamily="2" charset="2"/>
            </a:endParaRPr>
          </a:p>
          <a:p>
            <a:endParaRPr lang="fr-FR" dirty="0">
              <a:sym typeface="Wingdings" panose="05000000000000000000" pitchFamily="2" charset="2"/>
            </a:endParaRPr>
          </a:p>
          <a:p>
            <a:pPr marL="285750" indent="-285750">
              <a:buFont typeface="Wingdings" panose="05000000000000000000" pitchFamily="2" charset="2"/>
              <a:buChar char="à"/>
            </a:pPr>
            <a:r>
              <a:rPr lang="fr-FR" dirty="0">
                <a:sym typeface="Wingdings" panose="05000000000000000000" pitchFamily="2" charset="2"/>
              </a:rPr>
              <a:t>Intensité &amp; Fréquence du champ parasite</a:t>
            </a:r>
          </a:p>
          <a:p>
            <a:pPr marL="285750" indent="-285750">
              <a:buFont typeface="Wingdings" panose="05000000000000000000" pitchFamily="2" charset="2"/>
              <a:buChar char="à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à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à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à"/>
            </a:pPr>
            <a:r>
              <a:rPr lang="fr-FR" dirty="0"/>
              <a:t>Tension de la corde (Note jouée)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F4B47CDC-1B76-BC91-7731-95B6DDAED5B8}"/>
              </a:ext>
            </a:extLst>
          </p:cNvPr>
          <p:cNvGrpSpPr/>
          <p:nvPr/>
        </p:nvGrpSpPr>
        <p:grpSpPr>
          <a:xfrm>
            <a:off x="492975" y="1259649"/>
            <a:ext cx="7975162" cy="2927068"/>
            <a:chOff x="492975" y="1259649"/>
            <a:chExt cx="7975162" cy="2927068"/>
          </a:xfrm>
        </p:grpSpPr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A8D5A20B-B049-2879-C37F-CAC15A6A672B}"/>
                </a:ext>
              </a:extLst>
            </p:cNvPr>
            <p:cNvCxnSpPr>
              <a:cxnSpLocks/>
            </p:cNvCxnSpPr>
            <p:nvPr/>
          </p:nvCxnSpPr>
          <p:spPr>
            <a:xfrm>
              <a:off x="5398701" y="2432915"/>
              <a:ext cx="1" cy="357860"/>
            </a:xfrm>
            <a:prstGeom prst="line">
              <a:avLst/>
            </a:prstGeom>
            <a:ln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Straight Connector 105">
              <a:extLst>
                <a:ext uri="{FF2B5EF4-FFF2-40B4-BE49-F238E27FC236}">
                  <a16:creationId xmlns:a16="http://schemas.microsoft.com/office/drawing/2014/main" id="{B119D559-C6E2-BA2F-449E-816D84158164}"/>
                </a:ext>
              </a:extLst>
            </p:cNvPr>
            <p:cNvCxnSpPr>
              <a:cxnSpLocks/>
            </p:cNvCxnSpPr>
            <p:nvPr/>
          </p:nvCxnSpPr>
          <p:spPr>
            <a:xfrm>
              <a:off x="5147721" y="2427245"/>
              <a:ext cx="3154" cy="484102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1F498DA7-3338-5409-5681-101EDFAF0052}"/>
                </a:ext>
              </a:extLst>
            </p:cNvPr>
            <p:cNvSpPr/>
            <p:nvPr/>
          </p:nvSpPr>
          <p:spPr>
            <a:xfrm>
              <a:off x="5060930" y="1617120"/>
              <a:ext cx="2287034" cy="819519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4ED359E7-849E-BD8C-61EE-C0140C4ACCE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 rot="16140000">
              <a:off x="4210262" y="693933"/>
              <a:ext cx="723475" cy="6262094"/>
            </a:xfrm>
            <a:prstGeom prst="rect">
              <a:avLst/>
            </a:prstGeom>
          </p:spPr>
        </p:pic>
        <p:cxnSp>
          <p:nvCxnSpPr>
            <p:cNvPr id="74" name="Straight Connector 73">
              <a:extLst>
                <a:ext uri="{FF2B5EF4-FFF2-40B4-BE49-F238E27FC236}">
                  <a16:creationId xmlns:a16="http://schemas.microsoft.com/office/drawing/2014/main" id="{A8033BC9-9F5E-C3E2-1B06-02C39D176A13}"/>
                </a:ext>
              </a:extLst>
            </p:cNvPr>
            <p:cNvCxnSpPr>
              <a:cxnSpLocks/>
            </p:cNvCxnSpPr>
            <p:nvPr/>
          </p:nvCxnSpPr>
          <p:spPr>
            <a:xfrm>
              <a:off x="6190251" y="2858141"/>
              <a:ext cx="0" cy="685117"/>
            </a:xfrm>
            <a:prstGeom prst="line">
              <a:avLst/>
            </a:prstGeom>
            <a:ln>
              <a:solidFill>
                <a:srgbClr val="0070C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D15C2591-2043-BF16-CB74-7452B5776708}"/>
                </a:ext>
              </a:extLst>
            </p:cNvPr>
            <p:cNvSpPr/>
            <p:nvPr/>
          </p:nvSpPr>
          <p:spPr>
            <a:xfrm>
              <a:off x="5060930" y="1778081"/>
              <a:ext cx="2287034" cy="532392"/>
            </a:xfrm>
            <a:custGeom>
              <a:avLst/>
              <a:gdLst>
                <a:gd name="connsiteX0" fmla="*/ 0 w 1875580"/>
                <a:gd name="connsiteY0" fmla="*/ 477163 h 477163"/>
                <a:gd name="connsiteX1" fmla="*/ 198782 w 1875580"/>
                <a:gd name="connsiteY1" fmla="*/ 23939 h 477163"/>
                <a:gd name="connsiteX2" fmla="*/ 421419 w 1875580"/>
                <a:gd name="connsiteY2" fmla="*/ 405601 h 477163"/>
                <a:gd name="connsiteX3" fmla="*/ 588396 w 1875580"/>
                <a:gd name="connsiteY3" fmla="*/ 8036 h 477163"/>
                <a:gd name="connsiteX4" fmla="*/ 779228 w 1875580"/>
                <a:gd name="connsiteY4" fmla="*/ 373796 h 477163"/>
                <a:gd name="connsiteX5" fmla="*/ 930302 w 1875580"/>
                <a:gd name="connsiteY5" fmla="*/ 85 h 477163"/>
                <a:gd name="connsiteX6" fmla="*/ 1160890 w 1875580"/>
                <a:gd name="connsiteY6" fmla="*/ 413553 h 477163"/>
                <a:gd name="connsiteX7" fmla="*/ 1264257 w 1875580"/>
                <a:gd name="connsiteY7" fmla="*/ 8036 h 477163"/>
                <a:gd name="connsiteX8" fmla="*/ 1478942 w 1875580"/>
                <a:gd name="connsiteY8" fmla="*/ 389699 h 477163"/>
                <a:gd name="connsiteX9" fmla="*/ 1574358 w 1875580"/>
                <a:gd name="connsiteY9" fmla="*/ 8036 h 477163"/>
                <a:gd name="connsiteX10" fmla="*/ 1741335 w 1875580"/>
                <a:gd name="connsiteY10" fmla="*/ 373796 h 477163"/>
                <a:gd name="connsiteX11" fmla="*/ 1852654 w 1875580"/>
                <a:gd name="connsiteY11" fmla="*/ 206819 h 4771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875580" h="477163">
                  <a:moveTo>
                    <a:pt x="0" y="477163"/>
                  </a:moveTo>
                  <a:cubicBezTo>
                    <a:pt x="64273" y="256514"/>
                    <a:pt x="128546" y="35866"/>
                    <a:pt x="198782" y="23939"/>
                  </a:cubicBezTo>
                  <a:cubicBezTo>
                    <a:pt x="269018" y="12012"/>
                    <a:pt x="356483" y="408251"/>
                    <a:pt x="421419" y="405601"/>
                  </a:cubicBezTo>
                  <a:cubicBezTo>
                    <a:pt x="486355" y="402950"/>
                    <a:pt x="528761" y="13337"/>
                    <a:pt x="588396" y="8036"/>
                  </a:cubicBezTo>
                  <a:cubicBezTo>
                    <a:pt x="648031" y="2735"/>
                    <a:pt x="722244" y="375121"/>
                    <a:pt x="779228" y="373796"/>
                  </a:cubicBezTo>
                  <a:cubicBezTo>
                    <a:pt x="836212" y="372471"/>
                    <a:pt x="866692" y="-6541"/>
                    <a:pt x="930302" y="85"/>
                  </a:cubicBezTo>
                  <a:cubicBezTo>
                    <a:pt x="993912" y="6711"/>
                    <a:pt x="1105231" y="412228"/>
                    <a:pt x="1160890" y="413553"/>
                  </a:cubicBezTo>
                  <a:cubicBezTo>
                    <a:pt x="1216549" y="414878"/>
                    <a:pt x="1211248" y="12012"/>
                    <a:pt x="1264257" y="8036"/>
                  </a:cubicBezTo>
                  <a:cubicBezTo>
                    <a:pt x="1317266" y="4060"/>
                    <a:pt x="1427259" y="389699"/>
                    <a:pt x="1478942" y="389699"/>
                  </a:cubicBezTo>
                  <a:cubicBezTo>
                    <a:pt x="1530625" y="389699"/>
                    <a:pt x="1530626" y="10686"/>
                    <a:pt x="1574358" y="8036"/>
                  </a:cubicBezTo>
                  <a:cubicBezTo>
                    <a:pt x="1618090" y="5386"/>
                    <a:pt x="1694952" y="340665"/>
                    <a:pt x="1741335" y="373796"/>
                  </a:cubicBezTo>
                  <a:cubicBezTo>
                    <a:pt x="1787718" y="406927"/>
                    <a:pt x="1930842" y="164412"/>
                    <a:pt x="1852654" y="206819"/>
                  </a:cubicBezTo>
                </a:path>
              </a:pathLst>
            </a:cu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19" name="Graphic 18" descr="Laptop with solid fill">
              <a:extLst>
                <a:ext uri="{FF2B5EF4-FFF2-40B4-BE49-F238E27FC236}">
                  <a16:creationId xmlns:a16="http://schemas.microsoft.com/office/drawing/2014/main" id="{9BCDF8A8-7F99-8FE8-7BF1-C7A885BD715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880735" y="1522571"/>
              <a:ext cx="1135578" cy="1020236"/>
            </a:xfrm>
            <a:prstGeom prst="rect">
              <a:avLst/>
            </a:prstGeom>
          </p:spPr>
        </p:pic>
        <p:cxnSp>
          <p:nvCxnSpPr>
            <p:cNvPr id="103" name="Straight Connector 102">
              <a:extLst>
                <a:ext uri="{FF2B5EF4-FFF2-40B4-BE49-F238E27FC236}">
                  <a16:creationId xmlns:a16="http://schemas.microsoft.com/office/drawing/2014/main" id="{16C49802-C0CE-B8D9-AD7F-9896EB2DC0D8}"/>
                </a:ext>
              </a:extLst>
            </p:cNvPr>
            <p:cNvCxnSpPr>
              <a:cxnSpLocks/>
            </p:cNvCxnSpPr>
            <p:nvPr/>
          </p:nvCxnSpPr>
          <p:spPr>
            <a:xfrm>
              <a:off x="6273799" y="2913035"/>
              <a:ext cx="0" cy="63022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3F249FEC-4DC7-E7B1-3BB0-5E512CD709F8}"/>
                </a:ext>
              </a:extLst>
            </p:cNvPr>
            <p:cNvSpPr/>
            <p:nvPr/>
          </p:nvSpPr>
          <p:spPr>
            <a:xfrm>
              <a:off x="3384385" y="2026879"/>
              <a:ext cx="328056" cy="295158"/>
            </a:xfrm>
            <a:prstGeom prst="rect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8F74190D-EDC1-FC59-7AFE-028F03D1C459}"/>
                </a:ext>
              </a:extLst>
            </p:cNvPr>
            <p:cNvCxnSpPr>
              <a:stCxn id="20" idx="3"/>
            </p:cNvCxnSpPr>
            <p:nvPr/>
          </p:nvCxnSpPr>
          <p:spPr>
            <a:xfrm flipV="1">
              <a:off x="3712441" y="2174458"/>
              <a:ext cx="542554" cy="1"/>
            </a:xfrm>
            <a:prstGeom prst="line">
              <a:avLst/>
            </a:prstGeom>
            <a:ln>
              <a:solidFill>
                <a:srgbClr val="0070C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Straight Connector 66">
              <a:extLst>
                <a:ext uri="{FF2B5EF4-FFF2-40B4-BE49-F238E27FC236}">
                  <a16:creationId xmlns:a16="http://schemas.microsoft.com/office/drawing/2014/main" id="{FC5F835B-5BF8-5BF0-AEB2-FF7AF0A5327C}"/>
                </a:ext>
              </a:extLst>
            </p:cNvPr>
            <p:cNvCxnSpPr>
              <a:cxnSpLocks/>
            </p:cNvCxnSpPr>
            <p:nvPr/>
          </p:nvCxnSpPr>
          <p:spPr>
            <a:xfrm>
              <a:off x="4254995" y="2174458"/>
              <a:ext cx="0" cy="668805"/>
            </a:xfrm>
            <a:prstGeom prst="line">
              <a:avLst/>
            </a:prstGeom>
            <a:ln>
              <a:solidFill>
                <a:srgbClr val="0070C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F6162052-4E00-A39D-4D71-FAAE73C7123A}"/>
                </a:ext>
              </a:extLst>
            </p:cNvPr>
            <p:cNvCxnSpPr>
              <a:cxnSpLocks/>
            </p:cNvCxnSpPr>
            <p:nvPr/>
          </p:nvCxnSpPr>
          <p:spPr>
            <a:xfrm>
              <a:off x="4254995" y="2843263"/>
              <a:ext cx="1935257" cy="22946"/>
            </a:xfrm>
            <a:prstGeom prst="line">
              <a:avLst/>
            </a:prstGeom>
            <a:ln>
              <a:solidFill>
                <a:srgbClr val="0070C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Straight Connector 79">
              <a:extLst>
                <a:ext uri="{FF2B5EF4-FFF2-40B4-BE49-F238E27FC236}">
                  <a16:creationId xmlns:a16="http://schemas.microsoft.com/office/drawing/2014/main" id="{902494E8-39D4-CDA4-FA5E-D322184DCC1A}"/>
                </a:ext>
              </a:extLst>
            </p:cNvPr>
            <p:cNvCxnSpPr>
              <a:cxnSpLocks/>
            </p:cNvCxnSpPr>
            <p:nvPr/>
          </p:nvCxnSpPr>
          <p:spPr>
            <a:xfrm>
              <a:off x="5233699" y="2436639"/>
              <a:ext cx="0" cy="418097"/>
            </a:xfrm>
            <a:prstGeom prst="line">
              <a:avLst/>
            </a:prstGeom>
            <a:ln>
              <a:solidFill>
                <a:srgbClr val="0070C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Straight Connector 82">
              <a:extLst>
                <a:ext uri="{FF2B5EF4-FFF2-40B4-BE49-F238E27FC236}">
                  <a16:creationId xmlns:a16="http://schemas.microsoft.com/office/drawing/2014/main" id="{3FFBDF89-1E85-7858-3857-95316B055C8D}"/>
                </a:ext>
              </a:extLst>
            </p:cNvPr>
            <p:cNvCxnSpPr>
              <a:cxnSpLocks/>
            </p:cNvCxnSpPr>
            <p:nvPr/>
          </p:nvCxnSpPr>
          <p:spPr>
            <a:xfrm>
              <a:off x="3712441" y="2115458"/>
              <a:ext cx="635650" cy="0"/>
            </a:xfrm>
            <a:prstGeom prst="line">
              <a:avLst/>
            </a:prstGeom>
            <a:ln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Straight Connector 84">
              <a:extLst>
                <a:ext uri="{FF2B5EF4-FFF2-40B4-BE49-F238E27FC236}">
                  <a16:creationId xmlns:a16="http://schemas.microsoft.com/office/drawing/2014/main" id="{57960931-404D-C970-FA3A-E573D2742DF7}"/>
                </a:ext>
              </a:extLst>
            </p:cNvPr>
            <p:cNvCxnSpPr>
              <a:cxnSpLocks/>
            </p:cNvCxnSpPr>
            <p:nvPr/>
          </p:nvCxnSpPr>
          <p:spPr>
            <a:xfrm>
              <a:off x="6439448" y="2802356"/>
              <a:ext cx="0" cy="748970"/>
            </a:xfrm>
            <a:prstGeom prst="line">
              <a:avLst/>
            </a:prstGeom>
            <a:ln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C9121BD0-04BE-0472-5174-2D2B3AF73D8C}"/>
                </a:ext>
              </a:extLst>
            </p:cNvPr>
            <p:cNvCxnSpPr>
              <a:cxnSpLocks/>
            </p:cNvCxnSpPr>
            <p:nvPr/>
          </p:nvCxnSpPr>
          <p:spPr>
            <a:xfrm>
              <a:off x="4348092" y="2115458"/>
              <a:ext cx="0" cy="663738"/>
            </a:xfrm>
            <a:prstGeom prst="line">
              <a:avLst/>
            </a:prstGeom>
            <a:ln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Straight Connector 88">
              <a:extLst>
                <a:ext uri="{FF2B5EF4-FFF2-40B4-BE49-F238E27FC236}">
                  <a16:creationId xmlns:a16="http://schemas.microsoft.com/office/drawing/2014/main" id="{5253BEC2-243B-01FE-1C2F-EA6E1851A799}"/>
                </a:ext>
              </a:extLst>
            </p:cNvPr>
            <p:cNvCxnSpPr>
              <a:cxnSpLocks/>
            </p:cNvCxnSpPr>
            <p:nvPr/>
          </p:nvCxnSpPr>
          <p:spPr>
            <a:xfrm>
              <a:off x="4348091" y="2779197"/>
              <a:ext cx="2101221" cy="23160"/>
            </a:xfrm>
            <a:prstGeom prst="line">
              <a:avLst/>
            </a:prstGeom>
            <a:ln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Straight Connector 94">
              <a:extLst>
                <a:ext uri="{FF2B5EF4-FFF2-40B4-BE49-F238E27FC236}">
                  <a16:creationId xmlns:a16="http://schemas.microsoft.com/office/drawing/2014/main" id="{0D40CC0E-7C6E-4436-BCF7-36F35FBDC27D}"/>
                </a:ext>
              </a:extLst>
            </p:cNvPr>
            <p:cNvCxnSpPr>
              <a:cxnSpLocks/>
            </p:cNvCxnSpPr>
            <p:nvPr/>
          </p:nvCxnSpPr>
          <p:spPr>
            <a:xfrm>
              <a:off x="3712441" y="2233457"/>
              <a:ext cx="438459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" name="Straight Connector 96">
              <a:extLst>
                <a:ext uri="{FF2B5EF4-FFF2-40B4-BE49-F238E27FC236}">
                  <a16:creationId xmlns:a16="http://schemas.microsoft.com/office/drawing/2014/main" id="{21E8292C-D33F-C603-6C6A-181728421FE5}"/>
                </a:ext>
              </a:extLst>
            </p:cNvPr>
            <p:cNvCxnSpPr>
              <a:cxnSpLocks/>
            </p:cNvCxnSpPr>
            <p:nvPr/>
          </p:nvCxnSpPr>
          <p:spPr>
            <a:xfrm>
              <a:off x="4150900" y="2233457"/>
              <a:ext cx="0" cy="67997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Straight Connector 99">
              <a:extLst>
                <a:ext uri="{FF2B5EF4-FFF2-40B4-BE49-F238E27FC236}">
                  <a16:creationId xmlns:a16="http://schemas.microsoft.com/office/drawing/2014/main" id="{A9F1AB57-8C60-ECC6-BC6A-53120F3E2CAD}"/>
                </a:ext>
              </a:extLst>
            </p:cNvPr>
            <p:cNvCxnSpPr>
              <a:cxnSpLocks/>
            </p:cNvCxnSpPr>
            <p:nvPr/>
          </p:nvCxnSpPr>
          <p:spPr>
            <a:xfrm>
              <a:off x="4157533" y="2901954"/>
              <a:ext cx="2116266" cy="18787"/>
            </a:xfrm>
            <a:prstGeom prst="line">
              <a:avLst/>
            </a:prstGeom>
            <a:ln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9" name="Straight Connector 108">
              <a:extLst>
                <a:ext uri="{FF2B5EF4-FFF2-40B4-BE49-F238E27FC236}">
                  <a16:creationId xmlns:a16="http://schemas.microsoft.com/office/drawing/2014/main" id="{F150104C-0626-A8EC-9C02-A84F715983B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83779" y="2284984"/>
              <a:ext cx="400607" cy="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11" name="TextBox 110">
              <a:extLst>
                <a:ext uri="{FF2B5EF4-FFF2-40B4-BE49-F238E27FC236}">
                  <a16:creationId xmlns:a16="http://schemas.microsoft.com/office/drawing/2014/main" id="{BE19A105-E66C-8954-82F4-D3612B63C69F}"/>
                </a:ext>
              </a:extLst>
            </p:cNvPr>
            <p:cNvSpPr txBox="1"/>
            <p:nvPr/>
          </p:nvSpPr>
          <p:spPr>
            <a:xfrm>
              <a:off x="2200917" y="2364090"/>
              <a:ext cx="494729" cy="29189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1100" dirty="0"/>
                <a:t>PC</a:t>
              </a:r>
            </a:p>
          </p:txBody>
        </p: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E224F511-B992-A9BE-5C02-6DC13F1AC8BC}"/>
                </a:ext>
              </a:extLst>
            </p:cNvPr>
            <p:cNvSpPr txBox="1"/>
            <p:nvPr/>
          </p:nvSpPr>
          <p:spPr>
            <a:xfrm>
              <a:off x="2810234" y="1710494"/>
              <a:ext cx="1649660" cy="3090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fr-FR" sz="1200" dirty="0"/>
                <a:t>Carte acquisition</a:t>
              </a:r>
            </a:p>
          </p:txBody>
        </p:sp>
        <p:sp>
          <p:nvSpPr>
            <p:cNvPr id="114" name="TextBox 113">
              <a:extLst>
                <a:ext uri="{FF2B5EF4-FFF2-40B4-BE49-F238E27FC236}">
                  <a16:creationId xmlns:a16="http://schemas.microsoft.com/office/drawing/2014/main" id="{2D008927-9DF2-9DB5-BE45-1FAF44624EC6}"/>
                </a:ext>
              </a:extLst>
            </p:cNvPr>
            <p:cNvSpPr txBox="1"/>
            <p:nvPr/>
          </p:nvSpPr>
          <p:spPr>
            <a:xfrm>
              <a:off x="5339452" y="1259649"/>
              <a:ext cx="1649660" cy="3090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fr-FR" sz="1200" dirty="0"/>
                <a:t>Oscilloscope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6CB59CC3-6CE0-0CFB-3BC1-D9CC8EF26893}"/>
                </a:ext>
              </a:extLst>
            </p:cNvPr>
            <p:cNvSpPr txBox="1"/>
            <p:nvPr/>
          </p:nvSpPr>
          <p:spPr>
            <a:xfrm>
              <a:off x="7412937" y="3221774"/>
              <a:ext cx="1049654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fr-FR" sz="1200" dirty="0"/>
                <a:t>Bloc Vibrato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6773D432-B5CD-F70F-2425-FB14F234EF97}"/>
                </a:ext>
              </a:extLst>
            </p:cNvPr>
            <p:cNvSpPr txBox="1"/>
            <p:nvPr/>
          </p:nvSpPr>
          <p:spPr>
            <a:xfrm>
              <a:off x="7171997" y="2945096"/>
              <a:ext cx="1296140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fr-FR" sz="1200" dirty="0"/>
                <a:t>Micro SingleCoil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EF02E2F6-7461-C568-DF59-D7E040D83DD7}"/>
                </a:ext>
              </a:extLst>
            </p:cNvPr>
            <p:cNvSpPr txBox="1"/>
            <p:nvPr/>
          </p:nvSpPr>
          <p:spPr>
            <a:xfrm>
              <a:off x="492975" y="3022345"/>
              <a:ext cx="942141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fr-FR" sz="1200" dirty="0"/>
                <a:t>Mécanique</a:t>
              </a:r>
            </a:p>
          </p:txBody>
        </p:sp>
        <p:cxnSp>
          <p:nvCxnSpPr>
            <p:cNvPr id="23" name="Connector: Elbow 22">
              <a:extLst>
                <a:ext uri="{FF2B5EF4-FFF2-40B4-BE49-F238E27FC236}">
                  <a16:creationId xmlns:a16="http://schemas.microsoft.com/office/drawing/2014/main" id="{4FF988A3-4B06-6E2E-639F-64E1F6F38285}"/>
                </a:ext>
              </a:extLst>
            </p:cNvPr>
            <p:cNvCxnSpPr>
              <a:cxnSpLocks/>
              <a:stCxn id="21" idx="2"/>
            </p:cNvCxnSpPr>
            <p:nvPr/>
          </p:nvCxnSpPr>
          <p:spPr>
            <a:xfrm rot="16200000" flipH="1">
              <a:off x="939847" y="3323543"/>
              <a:ext cx="685116" cy="636718"/>
            </a:xfrm>
            <a:prstGeom prst="bentConnector3">
              <a:avLst>
                <a:gd name="adj1" fmla="val 99905"/>
              </a:avLst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5" name="Connector: Elbow 34">
              <a:extLst>
                <a:ext uri="{FF2B5EF4-FFF2-40B4-BE49-F238E27FC236}">
                  <a16:creationId xmlns:a16="http://schemas.microsoft.com/office/drawing/2014/main" id="{50CFC299-348E-F330-9452-E7ABBDC72C03}"/>
                </a:ext>
              </a:extLst>
            </p:cNvPr>
            <p:cNvCxnSpPr>
              <a:cxnSpLocks/>
              <a:stCxn id="14" idx="1"/>
            </p:cNvCxnSpPr>
            <p:nvPr/>
          </p:nvCxnSpPr>
          <p:spPr>
            <a:xfrm rot="10800000" flipV="1">
              <a:off x="6468437" y="3083596"/>
              <a:ext cx="703561" cy="671912"/>
            </a:xfrm>
            <a:prstGeom prst="bentConnector3">
              <a:avLst>
                <a:gd name="adj1" fmla="val 50000"/>
              </a:avLst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3" name="Connector: Elbow 42">
              <a:extLst>
                <a:ext uri="{FF2B5EF4-FFF2-40B4-BE49-F238E27FC236}">
                  <a16:creationId xmlns:a16="http://schemas.microsoft.com/office/drawing/2014/main" id="{6BFEC6A8-37CA-DDB2-34B3-EAC758DD7C81}"/>
                </a:ext>
              </a:extLst>
            </p:cNvPr>
            <p:cNvCxnSpPr>
              <a:cxnSpLocks/>
              <a:stCxn id="13" idx="1"/>
            </p:cNvCxnSpPr>
            <p:nvPr/>
          </p:nvCxnSpPr>
          <p:spPr>
            <a:xfrm rot="10800000" flipV="1">
              <a:off x="7046595" y="3360274"/>
              <a:ext cx="366342" cy="247808"/>
            </a:xfrm>
            <a:prstGeom prst="bentConnector3">
              <a:avLst>
                <a:gd name="adj1" fmla="val 99921"/>
              </a:avLst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3A70D80F-2229-FD27-3AD5-7187F59B005E}"/>
                </a:ext>
              </a:extLst>
            </p:cNvPr>
            <p:cNvSpPr txBox="1"/>
            <p:nvPr/>
          </p:nvSpPr>
          <p:spPr>
            <a:xfrm>
              <a:off x="2915256" y="3215499"/>
              <a:ext cx="633157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fr-FR" sz="1200" dirty="0"/>
                <a:t>Corde</a:t>
              </a:r>
            </a:p>
          </p:txBody>
        </p:sp>
        <p:cxnSp>
          <p:nvCxnSpPr>
            <p:cNvPr id="53" name="Connector: Elbow 52">
              <a:extLst>
                <a:ext uri="{FF2B5EF4-FFF2-40B4-BE49-F238E27FC236}">
                  <a16:creationId xmlns:a16="http://schemas.microsoft.com/office/drawing/2014/main" id="{A5361A9F-4CAF-2A70-9164-246E5EDA2109}"/>
                </a:ext>
              </a:extLst>
            </p:cNvPr>
            <p:cNvCxnSpPr>
              <a:cxnSpLocks/>
              <a:stCxn id="52" idx="3"/>
            </p:cNvCxnSpPr>
            <p:nvPr/>
          </p:nvCxnSpPr>
          <p:spPr>
            <a:xfrm>
              <a:off x="3548413" y="3353999"/>
              <a:ext cx="274743" cy="555544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0843E1A7-D5D9-9271-804D-43BF5EF7399A}"/>
                </a:ext>
              </a:extLst>
            </p:cNvPr>
            <p:cNvSpPr txBox="1"/>
            <p:nvPr/>
          </p:nvSpPr>
          <p:spPr>
            <a:xfrm>
              <a:off x="4645725" y="3092763"/>
              <a:ext cx="1653952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fr-FR" sz="1200" dirty="0"/>
                <a:t>Micro Humbucker</a:t>
              </a:r>
            </a:p>
          </p:txBody>
        </p:sp>
        <p:cxnSp>
          <p:nvCxnSpPr>
            <p:cNvPr id="58" name="Connector: Elbow 57">
              <a:extLst>
                <a:ext uri="{FF2B5EF4-FFF2-40B4-BE49-F238E27FC236}">
                  <a16:creationId xmlns:a16="http://schemas.microsoft.com/office/drawing/2014/main" id="{125C70E4-D44E-FE81-2FAC-CF8D1C57ACEE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5567470" y="3274992"/>
              <a:ext cx="345520" cy="535059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39743252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584765-5894-8CC8-303C-ADAA4CFFF1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395038D2-4793-2D6D-E7EE-AED98E6D03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F859C1-8EE1-4062-8A80-955144FCA279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C88CB7A3-A7AC-6F87-1DC2-8DC7EC063F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F36ECDC7-487F-939D-7A92-84F22DFE3A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9</a:t>
            </a:fld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5D3E981-369E-684E-83B4-2FEA29A4EAD6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3A457BAC-AC8C-5010-1E29-5509087D2B47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DB99E34-6928-D6A4-E886-C3C70D4D9284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AB6632F-9154-9B58-7CAA-95E7E6ABA2C7}"/>
              </a:ext>
            </a:extLst>
          </p:cNvPr>
          <p:cNvSpPr txBox="1"/>
          <p:nvPr/>
        </p:nvSpPr>
        <p:spPr>
          <a:xfrm>
            <a:off x="345440" y="4565413"/>
            <a:ext cx="8478303" cy="1477328"/>
          </a:xfrm>
          <a:prstGeom prst="rect">
            <a:avLst/>
          </a:prstGeom>
          <a:ln w="38100">
            <a:solidFill>
              <a:schemeClr val="accent3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 numCol="3" rtlCol="0">
            <a:spAutoFit/>
          </a:bodyPr>
          <a:lstStyle/>
          <a:p>
            <a:r>
              <a:rPr lang="fr-FR" b="1" dirty="0"/>
              <a:t>Paramètres variables :</a:t>
            </a:r>
          </a:p>
          <a:p>
            <a:endParaRPr lang="fr-FR" b="1" dirty="0"/>
          </a:p>
          <a:p>
            <a:pPr marL="285750" indent="-285750">
              <a:buFont typeface="Wingdings" panose="05000000000000000000" pitchFamily="2" charset="2"/>
              <a:buChar char="à"/>
            </a:pPr>
            <a:r>
              <a:rPr lang="fr-FR" dirty="0">
                <a:sym typeface="Wingdings" panose="05000000000000000000" pitchFamily="2" charset="2"/>
              </a:rPr>
              <a:t>Type de micro utilisé</a:t>
            </a:r>
          </a:p>
          <a:p>
            <a:pPr marL="285750" indent="-285750">
              <a:buFont typeface="Wingdings" panose="05000000000000000000" pitchFamily="2" charset="2"/>
              <a:buChar char="à"/>
            </a:pPr>
            <a:endParaRPr lang="fr-FR" dirty="0">
              <a:sym typeface="Wingdings" panose="05000000000000000000" pitchFamily="2" charset="2"/>
            </a:endParaRPr>
          </a:p>
          <a:p>
            <a:endParaRPr lang="fr-FR" dirty="0">
              <a:sym typeface="Wingdings" panose="05000000000000000000" pitchFamily="2" charset="2"/>
            </a:endParaRPr>
          </a:p>
          <a:p>
            <a:endParaRPr lang="fr-FR" dirty="0">
              <a:sym typeface="Wingdings" panose="05000000000000000000" pitchFamily="2" charset="2"/>
            </a:endParaRPr>
          </a:p>
          <a:p>
            <a:endParaRPr lang="fr-FR" dirty="0">
              <a:sym typeface="Wingdings" panose="05000000000000000000" pitchFamily="2" charset="2"/>
            </a:endParaRPr>
          </a:p>
          <a:p>
            <a:pPr marL="285750" indent="-285750">
              <a:buFont typeface="Wingdings" panose="05000000000000000000" pitchFamily="2" charset="2"/>
              <a:buChar char="à"/>
            </a:pPr>
            <a:r>
              <a:rPr lang="fr-FR" dirty="0">
                <a:sym typeface="Wingdings" panose="05000000000000000000" pitchFamily="2" charset="2"/>
              </a:rPr>
              <a:t>Intensité &amp; Fréquence du champ parasite</a:t>
            </a:r>
          </a:p>
          <a:p>
            <a:pPr marL="285750" indent="-285750">
              <a:buFont typeface="Wingdings" panose="05000000000000000000" pitchFamily="2" charset="2"/>
              <a:buChar char="à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à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à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à"/>
            </a:pPr>
            <a:r>
              <a:rPr lang="fr-FR" dirty="0"/>
              <a:t>Tension de la corde (Note jouée)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C3B017C7-5AE3-67C5-4B52-7D07DDBBB4E9}"/>
              </a:ext>
            </a:extLst>
          </p:cNvPr>
          <p:cNvGrpSpPr/>
          <p:nvPr/>
        </p:nvGrpSpPr>
        <p:grpSpPr>
          <a:xfrm>
            <a:off x="492975" y="1259649"/>
            <a:ext cx="8049369" cy="3239359"/>
            <a:chOff x="492975" y="1259649"/>
            <a:chExt cx="8049369" cy="3239359"/>
          </a:xfrm>
        </p:grpSpPr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0D44BAF1-ED95-2AE0-4741-B870742D63AE}"/>
                </a:ext>
              </a:extLst>
            </p:cNvPr>
            <p:cNvCxnSpPr>
              <a:cxnSpLocks/>
            </p:cNvCxnSpPr>
            <p:nvPr/>
          </p:nvCxnSpPr>
          <p:spPr>
            <a:xfrm>
              <a:off x="5398701" y="2432915"/>
              <a:ext cx="1" cy="357860"/>
            </a:xfrm>
            <a:prstGeom prst="line">
              <a:avLst/>
            </a:prstGeom>
            <a:ln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Straight Connector 105">
              <a:extLst>
                <a:ext uri="{FF2B5EF4-FFF2-40B4-BE49-F238E27FC236}">
                  <a16:creationId xmlns:a16="http://schemas.microsoft.com/office/drawing/2014/main" id="{A4445B1F-7F4B-929D-852E-C4CC735F867F}"/>
                </a:ext>
              </a:extLst>
            </p:cNvPr>
            <p:cNvCxnSpPr>
              <a:cxnSpLocks/>
            </p:cNvCxnSpPr>
            <p:nvPr/>
          </p:nvCxnSpPr>
          <p:spPr>
            <a:xfrm>
              <a:off x="5147721" y="2427245"/>
              <a:ext cx="3154" cy="484102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366108D0-AB28-C372-C33F-9BCB677A77B2}"/>
                </a:ext>
              </a:extLst>
            </p:cNvPr>
            <p:cNvSpPr/>
            <p:nvPr/>
          </p:nvSpPr>
          <p:spPr>
            <a:xfrm>
              <a:off x="5060930" y="1617120"/>
              <a:ext cx="2287034" cy="819519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9DC01244-87DC-5E3F-2B64-F23428E952D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 rot="16140000">
              <a:off x="4210262" y="693933"/>
              <a:ext cx="723475" cy="6262094"/>
            </a:xfrm>
            <a:prstGeom prst="rect">
              <a:avLst/>
            </a:prstGeom>
          </p:spPr>
        </p:pic>
        <p:cxnSp>
          <p:nvCxnSpPr>
            <p:cNvPr id="74" name="Straight Connector 73">
              <a:extLst>
                <a:ext uri="{FF2B5EF4-FFF2-40B4-BE49-F238E27FC236}">
                  <a16:creationId xmlns:a16="http://schemas.microsoft.com/office/drawing/2014/main" id="{EBE8B673-200E-195A-00C5-D9D0A66639C7}"/>
                </a:ext>
              </a:extLst>
            </p:cNvPr>
            <p:cNvCxnSpPr>
              <a:cxnSpLocks/>
            </p:cNvCxnSpPr>
            <p:nvPr/>
          </p:nvCxnSpPr>
          <p:spPr>
            <a:xfrm>
              <a:off x="6190251" y="2858141"/>
              <a:ext cx="0" cy="685117"/>
            </a:xfrm>
            <a:prstGeom prst="line">
              <a:avLst/>
            </a:prstGeom>
            <a:ln>
              <a:solidFill>
                <a:srgbClr val="0070C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D09ED06E-50AB-DDEF-5598-DA325C1F6FF7}"/>
                </a:ext>
              </a:extLst>
            </p:cNvPr>
            <p:cNvSpPr/>
            <p:nvPr/>
          </p:nvSpPr>
          <p:spPr>
            <a:xfrm>
              <a:off x="5060930" y="1778081"/>
              <a:ext cx="2287034" cy="532392"/>
            </a:xfrm>
            <a:custGeom>
              <a:avLst/>
              <a:gdLst>
                <a:gd name="connsiteX0" fmla="*/ 0 w 1875580"/>
                <a:gd name="connsiteY0" fmla="*/ 477163 h 477163"/>
                <a:gd name="connsiteX1" fmla="*/ 198782 w 1875580"/>
                <a:gd name="connsiteY1" fmla="*/ 23939 h 477163"/>
                <a:gd name="connsiteX2" fmla="*/ 421419 w 1875580"/>
                <a:gd name="connsiteY2" fmla="*/ 405601 h 477163"/>
                <a:gd name="connsiteX3" fmla="*/ 588396 w 1875580"/>
                <a:gd name="connsiteY3" fmla="*/ 8036 h 477163"/>
                <a:gd name="connsiteX4" fmla="*/ 779228 w 1875580"/>
                <a:gd name="connsiteY4" fmla="*/ 373796 h 477163"/>
                <a:gd name="connsiteX5" fmla="*/ 930302 w 1875580"/>
                <a:gd name="connsiteY5" fmla="*/ 85 h 477163"/>
                <a:gd name="connsiteX6" fmla="*/ 1160890 w 1875580"/>
                <a:gd name="connsiteY6" fmla="*/ 413553 h 477163"/>
                <a:gd name="connsiteX7" fmla="*/ 1264257 w 1875580"/>
                <a:gd name="connsiteY7" fmla="*/ 8036 h 477163"/>
                <a:gd name="connsiteX8" fmla="*/ 1478942 w 1875580"/>
                <a:gd name="connsiteY8" fmla="*/ 389699 h 477163"/>
                <a:gd name="connsiteX9" fmla="*/ 1574358 w 1875580"/>
                <a:gd name="connsiteY9" fmla="*/ 8036 h 477163"/>
                <a:gd name="connsiteX10" fmla="*/ 1741335 w 1875580"/>
                <a:gd name="connsiteY10" fmla="*/ 373796 h 477163"/>
                <a:gd name="connsiteX11" fmla="*/ 1852654 w 1875580"/>
                <a:gd name="connsiteY11" fmla="*/ 206819 h 4771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875580" h="477163">
                  <a:moveTo>
                    <a:pt x="0" y="477163"/>
                  </a:moveTo>
                  <a:cubicBezTo>
                    <a:pt x="64273" y="256514"/>
                    <a:pt x="128546" y="35866"/>
                    <a:pt x="198782" y="23939"/>
                  </a:cubicBezTo>
                  <a:cubicBezTo>
                    <a:pt x="269018" y="12012"/>
                    <a:pt x="356483" y="408251"/>
                    <a:pt x="421419" y="405601"/>
                  </a:cubicBezTo>
                  <a:cubicBezTo>
                    <a:pt x="486355" y="402950"/>
                    <a:pt x="528761" y="13337"/>
                    <a:pt x="588396" y="8036"/>
                  </a:cubicBezTo>
                  <a:cubicBezTo>
                    <a:pt x="648031" y="2735"/>
                    <a:pt x="722244" y="375121"/>
                    <a:pt x="779228" y="373796"/>
                  </a:cubicBezTo>
                  <a:cubicBezTo>
                    <a:pt x="836212" y="372471"/>
                    <a:pt x="866692" y="-6541"/>
                    <a:pt x="930302" y="85"/>
                  </a:cubicBezTo>
                  <a:cubicBezTo>
                    <a:pt x="993912" y="6711"/>
                    <a:pt x="1105231" y="412228"/>
                    <a:pt x="1160890" y="413553"/>
                  </a:cubicBezTo>
                  <a:cubicBezTo>
                    <a:pt x="1216549" y="414878"/>
                    <a:pt x="1211248" y="12012"/>
                    <a:pt x="1264257" y="8036"/>
                  </a:cubicBezTo>
                  <a:cubicBezTo>
                    <a:pt x="1317266" y="4060"/>
                    <a:pt x="1427259" y="389699"/>
                    <a:pt x="1478942" y="389699"/>
                  </a:cubicBezTo>
                  <a:cubicBezTo>
                    <a:pt x="1530625" y="389699"/>
                    <a:pt x="1530626" y="10686"/>
                    <a:pt x="1574358" y="8036"/>
                  </a:cubicBezTo>
                  <a:cubicBezTo>
                    <a:pt x="1618090" y="5386"/>
                    <a:pt x="1694952" y="340665"/>
                    <a:pt x="1741335" y="373796"/>
                  </a:cubicBezTo>
                  <a:cubicBezTo>
                    <a:pt x="1787718" y="406927"/>
                    <a:pt x="1930842" y="164412"/>
                    <a:pt x="1852654" y="206819"/>
                  </a:cubicBezTo>
                </a:path>
              </a:pathLst>
            </a:cu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19" name="Graphic 18" descr="Laptop with solid fill">
              <a:extLst>
                <a:ext uri="{FF2B5EF4-FFF2-40B4-BE49-F238E27FC236}">
                  <a16:creationId xmlns:a16="http://schemas.microsoft.com/office/drawing/2014/main" id="{0DF6654C-CBD1-6556-BA18-1C940905A8B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880735" y="1522571"/>
              <a:ext cx="1135578" cy="1020236"/>
            </a:xfrm>
            <a:prstGeom prst="rect">
              <a:avLst/>
            </a:prstGeom>
          </p:spPr>
        </p:pic>
        <p:cxnSp>
          <p:nvCxnSpPr>
            <p:cNvPr id="103" name="Straight Connector 102">
              <a:extLst>
                <a:ext uri="{FF2B5EF4-FFF2-40B4-BE49-F238E27FC236}">
                  <a16:creationId xmlns:a16="http://schemas.microsoft.com/office/drawing/2014/main" id="{072E5EAA-1B3C-7A1C-9FB4-B2AD7EFC4C17}"/>
                </a:ext>
              </a:extLst>
            </p:cNvPr>
            <p:cNvCxnSpPr>
              <a:cxnSpLocks/>
            </p:cNvCxnSpPr>
            <p:nvPr/>
          </p:nvCxnSpPr>
          <p:spPr>
            <a:xfrm>
              <a:off x="6273799" y="2913035"/>
              <a:ext cx="0" cy="63022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F0D4DC10-63A3-469D-A94C-9EB8972FFC5F}"/>
                </a:ext>
              </a:extLst>
            </p:cNvPr>
            <p:cNvSpPr/>
            <p:nvPr/>
          </p:nvSpPr>
          <p:spPr>
            <a:xfrm>
              <a:off x="3384385" y="2026879"/>
              <a:ext cx="328056" cy="295158"/>
            </a:xfrm>
            <a:prstGeom prst="rect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2BD2D331-7B78-3629-00BA-6645A6147AD7}"/>
                </a:ext>
              </a:extLst>
            </p:cNvPr>
            <p:cNvCxnSpPr>
              <a:stCxn id="20" idx="3"/>
            </p:cNvCxnSpPr>
            <p:nvPr/>
          </p:nvCxnSpPr>
          <p:spPr>
            <a:xfrm flipV="1">
              <a:off x="3712441" y="2174458"/>
              <a:ext cx="542554" cy="1"/>
            </a:xfrm>
            <a:prstGeom prst="line">
              <a:avLst/>
            </a:prstGeom>
            <a:ln>
              <a:solidFill>
                <a:srgbClr val="0070C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Straight Connector 66">
              <a:extLst>
                <a:ext uri="{FF2B5EF4-FFF2-40B4-BE49-F238E27FC236}">
                  <a16:creationId xmlns:a16="http://schemas.microsoft.com/office/drawing/2014/main" id="{3150FDC8-5870-0CF1-51FF-C401CA483F06}"/>
                </a:ext>
              </a:extLst>
            </p:cNvPr>
            <p:cNvCxnSpPr>
              <a:cxnSpLocks/>
            </p:cNvCxnSpPr>
            <p:nvPr/>
          </p:nvCxnSpPr>
          <p:spPr>
            <a:xfrm>
              <a:off x="4254995" y="2174458"/>
              <a:ext cx="0" cy="668805"/>
            </a:xfrm>
            <a:prstGeom prst="line">
              <a:avLst/>
            </a:prstGeom>
            <a:ln>
              <a:solidFill>
                <a:srgbClr val="0070C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0CC16D5E-221F-21C3-AC59-8DBA8031A23F}"/>
                </a:ext>
              </a:extLst>
            </p:cNvPr>
            <p:cNvCxnSpPr>
              <a:cxnSpLocks/>
            </p:cNvCxnSpPr>
            <p:nvPr/>
          </p:nvCxnSpPr>
          <p:spPr>
            <a:xfrm>
              <a:off x="4254995" y="2843263"/>
              <a:ext cx="1935257" cy="22946"/>
            </a:xfrm>
            <a:prstGeom prst="line">
              <a:avLst/>
            </a:prstGeom>
            <a:ln>
              <a:solidFill>
                <a:srgbClr val="0070C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Straight Connector 79">
              <a:extLst>
                <a:ext uri="{FF2B5EF4-FFF2-40B4-BE49-F238E27FC236}">
                  <a16:creationId xmlns:a16="http://schemas.microsoft.com/office/drawing/2014/main" id="{B55B7405-4DF4-095B-0FA9-B3EFE7557045}"/>
                </a:ext>
              </a:extLst>
            </p:cNvPr>
            <p:cNvCxnSpPr>
              <a:cxnSpLocks/>
            </p:cNvCxnSpPr>
            <p:nvPr/>
          </p:nvCxnSpPr>
          <p:spPr>
            <a:xfrm>
              <a:off x="5233699" y="2436639"/>
              <a:ext cx="0" cy="418097"/>
            </a:xfrm>
            <a:prstGeom prst="line">
              <a:avLst/>
            </a:prstGeom>
            <a:ln>
              <a:solidFill>
                <a:srgbClr val="0070C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Straight Connector 82">
              <a:extLst>
                <a:ext uri="{FF2B5EF4-FFF2-40B4-BE49-F238E27FC236}">
                  <a16:creationId xmlns:a16="http://schemas.microsoft.com/office/drawing/2014/main" id="{C9D3C339-9B9C-280D-0F40-EC917F044496}"/>
                </a:ext>
              </a:extLst>
            </p:cNvPr>
            <p:cNvCxnSpPr>
              <a:cxnSpLocks/>
            </p:cNvCxnSpPr>
            <p:nvPr/>
          </p:nvCxnSpPr>
          <p:spPr>
            <a:xfrm>
              <a:off x="3712441" y="2115458"/>
              <a:ext cx="635650" cy="0"/>
            </a:xfrm>
            <a:prstGeom prst="line">
              <a:avLst/>
            </a:prstGeom>
            <a:ln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Straight Connector 84">
              <a:extLst>
                <a:ext uri="{FF2B5EF4-FFF2-40B4-BE49-F238E27FC236}">
                  <a16:creationId xmlns:a16="http://schemas.microsoft.com/office/drawing/2014/main" id="{01486EB0-0D0B-8958-5905-68AA13DE42F8}"/>
                </a:ext>
              </a:extLst>
            </p:cNvPr>
            <p:cNvCxnSpPr>
              <a:cxnSpLocks/>
            </p:cNvCxnSpPr>
            <p:nvPr/>
          </p:nvCxnSpPr>
          <p:spPr>
            <a:xfrm>
              <a:off x="6439448" y="2802356"/>
              <a:ext cx="0" cy="748970"/>
            </a:xfrm>
            <a:prstGeom prst="line">
              <a:avLst/>
            </a:prstGeom>
            <a:ln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40756577-0321-22B1-E4B5-C73A623AC834}"/>
                </a:ext>
              </a:extLst>
            </p:cNvPr>
            <p:cNvCxnSpPr>
              <a:cxnSpLocks/>
            </p:cNvCxnSpPr>
            <p:nvPr/>
          </p:nvCxnSpPr>
          <p:spPr>
            <a:xfrm>
              <a:off x="4348092" y="2115458"/>
              <a:ext cx="0" cy="663738"/>
            </a:xfrm>
            <a:prstGeom prst="line">
              <a:avLst/>
            </a:prstGeom>
            <a:ln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Straight Connector 88">
              <a:extLst>
                <a:ext uri="{FF2B5EF4-FFF2-40B4-BE49-F238E27FC236}">
                  <a16:creationId xmlns:a16="http://schemas.microsoft.com/office/drawing/2014/main" id="{E40798BB-6454-B514-907C-F098EC49B74C}"/>
                </a:ext>
              </a:extLst>
            </p:cNvPr>
            <p:cNvCxnSpPr>
              <a:cxnSpLocks/>
            </p:cNvCxnSpPr>
            <p:nvPr/>
          </p:nvCxnSpPr>
          <p:spPr>
            <a:xfrm>
              <a:off x="4348091" y="2779197"/>
              <a:ext cx="2101221" cy="23160"/>
            </a:xfrm>
            <a:prstGeom prst="line">
              <a:avLst/>
            </a:prstGeom>
            <a:ln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Straight Connector 94">
              <a:extLst>
                <a:ext uri="{FF2B5EF4-FFF2-40B4-BE49-F238E27FC236}">
                  <a16:creationId xmlns:a16="http://schemas.microsoft.com/office/drawing/2014/main" id="{FA500742-0E21-0B1F-4139-36DD2315F908}"/>
                </a:ext>
              </a:extLst>
            </p:cNvPr>
            <p:cNvCxnSpPr>
              <a:cxnSpLocks/>
            </p:cNvCxnSpPr>
            <p:nvPr/>
          </p:nvCxnSpPr>
          <p:spPr>
            <a:xfrm>
              <a:off x="3712441" y="2233457"/>
              <a:ext cx="438459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" name="Straight Connector 96">
              <a:extLst>
                <a:ext uri="{FF2B5EF4-FFF2-40B4-BE49-F238E27FC236}">
                  <a16:creationId xmlns:a16="http://schemas.microsoft.com/office/drawing/2014/main" id="{12042ED1-D8A5-D6CA-9ABA-81BC0AA78046}"/>
                </a:ext>
              </a:extLst>
            </p:cNvPr>
            <p:cNvCxnSpPr>
              <a:cxnSpLocks/>
            </p:cNvCxnSpPr>
            <p:nvPr/>
          </p:nvCxnSpPr>
          <p:spPr>
            <a:xfrm>
              <a:off x="4150900" y="2233457"/>
              <a:ext cx="0" cy="67997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Straight Connector 99">
              <a:extLst>
                <a:ext uri="{FF2B5EF4-FFF2-40B4-BE49-F238E27FC236}">
                  <a16:creationId xmlns:a16="http://schemas.microsoft.com/office/drawing/2014/main" id="{1638109D-4F19-E80F-1BE5-BE320C4AD93B}"/>
                </a:ext>
              </a:extLst>
            </p:cNvPr>
            <p:cNvCxnSpPr>
              <a:cxnSpLocks/>
            </p:cNvCxnSpPr>
            <p:nvPr/>
          </p:nvCxnSpPr>
          <p:spPr>
            <a:xfrm>
              <a:off x="4157533" y="2901954"/>
              <a:ext cx="2116266" cy="18787"/>
            </a:xfrm>
            <a:prstGeom prst="line">
              <a:avLst/>
            </a:prstGeom>
            <a:ln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9" name="Straight Connector 108">
              <a:extLst>
                <a:ext uri="{FF2B5EF4-FFF2-40B4-BE49-F238E27FC236}">
                  <a16:creationId xmlns:a16="http://schemas.microsoft.com/office/drawing/2014/main" id="{2B7CE8E2-BE27-EA7C-786B-A2D3BEF526C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83779" y="2284984"/>
              <a:ext cx="400607" cy="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11" name="TextBox 110">
              <a:extLst>
                <a:ext uri="{FF2B5EF4-FFF2-40B4-BE49-F238E27FC236}">
                  <a16:creationId xmlns:a16="http://schemas.microsoft.com/office/drawing/2014/main" id="{421AFEC0-C15F-EDAF-D3CD-E9CA1803B3EE}"/>
                </a:ext>
              </a:extLst>
            </p:cNvPr>
            <p:cNvSpPr txBox="1"/>
            <p:nvPr/>
          </p:nvSpPr>
          <p:spPr>
            <a:xfrm>
              <a:off x="2200917" y="2364090"/>
              <a:ext cx="494729" cy="29189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1100" dirty="0"/>
                <a:t>PC</a:t>
              </a:r>
            </a:p>
          </p:txBody>
        </p: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07AC3D74-1B99-2A9F-0F70-7334A5E5A4AF}"/>
                </a:ext>
              </a:extLst>
            </p:cNvPr>
            <p:cNvSpPr txBox="1"/>
            <p:nvPr/>
          </p:nvSpPr>
          <p:spPr>
            <a:xfrm>
              <a:off x="2810234" y="1710494"/>
              <a:ext cx="1649660" cy="3090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fr-FR" sz="1200" dirty="0"/>
                <a:t>Carte acquisition</a:t>
              </a:r>
            </a:p>
          </p:txBody>
        </p:sp>
        <p:sp>
          <p:nvSpPr>
            <p:cNvPr id="114" name="TextBox 113">
              <a:extLst>
                <a:ext uri="{FF2B5EF4-FFF2-40B4-BE49-F238E27FC236}">
                  <a16:creationId xmlns:a16="http://schemas.microsoft.com/office/drawing/2014/main" id="{25B617B6-1494-C294-9287-9D5835E5AF15}"/>
                </a:ext>
              </a:extLst>
            </p:cNvPr>
            <p:cNvSpPr txBox="1"/>
            <p:nvPr/>
          </p:nvSpPr>
          <p:spPr>
            <a:xfrm>
              <a:off x="5339452" y="1259649"/>
              <a:ext cx="1649660" cy="3090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fr-FR" sz="1200" dirty="0"/>
                <a:t>Oscilloscope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98E96F94-DE17-9425-E478-BB63E0DEBD99}"/>
                </a:ext>
              </a:extLst>
            </p:cNvPr>
            <p:cNvSpPr txBox="1"/>
            <p:nvPr/>
          </p:nvSpPr>
          <p:spPr>
            <a:xfrm>
              <a:off x="7412937" y="3221774"/>
              <a:ext cx="1049654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fr-FR" sz="1200" dirty="0"/>
                <a:t>Bloc Vibrato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459BD377-5E1F-20F0-E82D-B1869232C333}"/>
                </a:ext>
              </a:extLst>
            </p:cNvPr>
            <p:cNvSpPr txBox="1"/>
            <p:nvPr/>
          </p:nvSpPr>
          <p:spPr>
            <a:xfrm>
              <a:off x="7171997" y="2945096"/>
              <a:ext cx="1296140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fr-FR" sz="1200" dirty="0"/>
                <a:t>Micro SingleCoil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083555BA-3574-E5E2-1D96-6BBF3F582FBC}"/>
                </a:ext>
              </a:extLst>
            </p:cNvPr>
            <p:cNvSpPr txBox="1"/>
            <p:nvPr/>
          </p:nvSpPr>
          <p:spPr>
            <a:xfrm>
              <a:off x="4645725" y="3092763"/>
              <a:ext cx="1653952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fr-FR" sz="1200" dirty="0"/>
                <a:t>Micro Humbucker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D1A318D3-D710-4EC3-037E-0E73F9189039}"/>
                </a:ext>
              </a:extLst>
            </p:cNvPr>
            <p:cNvSpPr txBox="1"/>
            <p:nvPr/>
          </p:nvSpPr>
          <p:spPr>
            <a:xfrm>
              <a:off x="492975" y="3022345"/>
              <a:ext cx="942141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fr-FR" sz="1200" dirty="0"/>
                <a:t>Mécanique</a:t>
              </a:r>
            </a:p>
          </p:txBody>
        </p:sp>
        <p:cxnSp>
          <p:nvCxnSpPr>
            <p:cNvPr id="23" name="Connector: Elbow 22">
              <a:extLst>
                <a:ext uri="{FF2B5EF4-FFF2-40B4-BE49-F238E27FC236}">
                  <a16:creationId xmlns:a16="http://schemas.microsoft.com/office/drawing/2014/main" id="{3BA8D0EA-EC8E-3F19-6246-1D42CDD73009}"/>
                </a:ext>
              </a:extLst>
            </p:cNvPr>
            <p:cNvCxnSpPr>
              <a:cxnSpLocks/>
              <a:stCxn id="21" idx="2"/>
            </p:cNvCxnSpPr>
            <p:nvPr/>
          </p:nvCxnSpPr>
          <p:spPr>
            <a:xfrm rot="16200000" flipH="1">
              <a:off x="939847" y="3323543"/>
              <a:ext cx="685116" cy="636718"/>
            </a:xfrm>
            <a:prstGeom prst="bentConnector3">
              <a:avLst>
                <a:gd name="adj1" fmla="val 99905"/>
              </a:avLst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1" name="Connector: Elbow 30">
              <a:extLst>
                <a:ext uri="{FF2B5EF4-FFF2-40B4-BE49-F238E27FC236}">
                  <a16:creationId xmlns:a16="http://schemas.microsoft.com/office/drawing/2014/main" id="{C274247C-D906-9B23-21F1-2EE1985F6860}"/>
                </a:ext>
              </a:extLst>
            </p:cNvPr>
            <p:cNvCxnSpPr>
              <a:cxnSpLocks/>
              <a:stCxn id="18" idx="2"/>
            </p:cNvCxnSpPr>
            <p:nvPr/>
          </p:nvCxnSpPr>
          <p:spPr>
            <a:xfrm rot="16200000" flipH="1">
              <a:off x="5567470" y="3274992"/>
              <a:ext cx="345520" cy="535059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5" name="Connector: Elbow 34">
              <a:extLst>
                <a:ext uri="{FF2B5EF4-FFF2-40B4-BE49-F238E27FC236}">
                  <a16:creationId xmlns:a16="http://schemas.microsoft.com/office/drawing/2014/main" id="{AA86542A-3169-7113-A44E-D9FAC6B6848A}"/>
                </a:ext>
              </a:extLst>
            </p:cNvPr>
            <p:cNvCxnSpPr>
              <a:cxnSpLocks/>
              <a:stCxn id="14" idx="1"/>
            </p:cNvCxnSpPr>
            <p:nvPr/>
          </p:nvCxnSpPr>
          <p:spPr>
            <a:xfrm rot="10800000" flipV="1">
              <a:off x="6468437" y="3083596"/>
              <a:ext cx="703561" cy="671912"/>
            </a:xfrm>
            <a:prstGeom prst="bentConnector3">
              <a:avLst>
                <a:gd name="adj1" fmla="val 50000"/>
              </a:avLst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3" name="Connector: Elbow 42">
              <a:extLst>
                <a:ext uri="{FF2B5EF4-FFF2-40B4-BE49-F238E27FC236}">
                  <a16:creationId xmlns:a16="http://schemas.microsoft.com/office/drawing/2014/main" id="{7C26DD00-4B34-7016-6AC6-71FB94B52CCF}"/>
                </a:ext>
              </a:extLst>
            </p:cNvPr>
            <p:cNvCxnSpPr>
              <a:cxnSpLocks/>
              <a:stCxn id="13" idx="1"/>
            </p:cNvCxnSpPr>
            <p:nvPr/>
          </p:nvCxnSpPr>
          <p:spPr>
            <a:xfrm rot="10800000" flipV="1">
              <a:off x="7046595" y="3360274"/>
              <a:ext cx="366342" cy="247808"/>
            </a:xfrm>
            <a:prstGeom prst="bentConnector3">
              <a:avLst>
                <a:gd name="adj1" fmla="val 99921"/>
              </a:avLst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73E6ED65-3FC3-90CA-31FD-2B16EA3FB47B}"/>
                </a:ext>
              </a:extLst>
            </p:cNvPr>
            <p:cNvSpPr txBox="1"/>
            <p:nvPr/>
          </p:nvSpPr>
          <p:spPr>
            <a:xfrm>
              <a:off x="2915256" y="3215499"/>
              <a:ext cx="633157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fr-FR" sz="1200" dirty="0"/>
                <a:t>Corde</a:t>
              </a:r>
            </a:p>
          </p:txBody>
        </p:sp>
        <p:cxnSp>
          <p:nvCxnSpPr>
            <p:cNvPr id="53" name="Connector: Elbow 52">
              <a:extLst>
                <a:ext uri="{FF2B5EF4-FFF2-40B4-BE49-F238E27FC236}">
                  <a16:creationId xmlns:a16="http://schemas.microsoft.com/office/drawing/2014/main" id="{5C4601E3-24F9-A62F-BE91-52F3A7AA8ABC}"/>
                </a:ext>
              </a:extLst>
            </p:cNvPr>
            <p:cNvCxnSpPr>
              <a:cxnSpLocks/>
              <a:stCxn id="52" idx="3"/>
            </p:cNvCxnSpPr>
            <p:nvPr/>
          </p:nvCxnSpPr>
          <p:spPr>
            <a:xfrm>
              <a:off x="3548413" y="3353999"/>
              <a:ext cx="274743" cy="555544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9A72E36D-D58A-2C4E-5157-8C5E862E339F}"/>
                </a:ext>
              </a:extLst>
            </p:cNvPr>
            <p:cNvGrpSpPr/>
            <p:nvPr/>
          </p:nvGrpSpPr>
          <p:grpSpPr>
            <a:xfrm>
              <a:off x="4778695" y="3501662"/>
              <a:ext cx="2135121" cy="629737"/>
              <a:chOff x="5078985" y="3438238"/>
              <a:chExt cx="2135121" cy="629737"/>
            </a:xfrm>
          </p:grpSpPr>
          <p:grpSp>
            <p:nvGrpSpPr>
              <p:cNvPr id="27" name="Group 26">
                <a:extLst>
                  <a:ext uri="{FF2B5EF4-FFF2-40B4-BE49-F238E27FC236}">
                    <a16:creationId xmlns:a16="http://schemas.microsoft.com/office/drawing/2014/main" id="{BA20091A-6EF5-C33A-4F95-0F78B87AD696}"/>
                  </a:ext>
                </a:extLst>
              </p:cNvPr>
              <p:cNvGrpSpPr/>
              <p:nvPr/>
            </p:nvGrpSpPr>
            <p:grpSpPr>
              <a:xfrm>
                <a:off x="5124704" y="3442378"/>
                <a:ext cx="2048256" cy="625597"/>
                <a:chOff x="5205984" y="3429000"/>
                <a:chExt cx="2048256" cy="625597"/>
              </a:xfrm>
            </p:grpSpPr>
            <p:sp>
              <p:nvSpPr>
                <p:cNvPr id="30" name="Rectangle 29">
                  <a:extLst>
                    <a:ext uri="{FF2B5EF4-FFF2-40B4-BE49-F238E27FC236}">
                      <a16:creationId xmlns:a16="http://schemas.microsoft.com/office/drawing/2014/main" id="{1D5641F9-42A6-2E4C-5D2B-D7A32DF0A9CE}"/>
                    </a:ext>
                  </a:extLst>
                </p:cNvPr>
                <p:cNvSpPr/>
                <p:nvPr/>
              </p:nvSpPr>
              <p:spPr>
                <a:xfrm>
                  <a:off x="5205984" y="3429000"/>
                  <a:ext cx="2048256" cy="625597"/>
                </a:xfrm>
                <a:prstGeom prst="rect">
                  <a:avLst/>
                </a:prstGeom>
                <a:noFill/>
                <a:ln>
                  <a:solidFill>
                    <a:srgbClr val="CC66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fr-FR"/>
                </a:p>
              </p:txBody>
            </p:sp>
            <p:cxnSp>
              <p:nvCxnSpPr>
                <p:cNvPr id="32" name="Straight Connector 31">
                  <a:extLst>
                    <a:ext uri="{FF2B5EF4-FFF2-40B4-BE49-F238E27FC236}">
                      <a16:creationId xmlns:a16="http://schemas.microsoft.com/office/drawing/2014/main" id="{57BCA6D6-FA50-EFA5-4B75-CAFA4DAFA90B}"/>
                    </a:ext>
                  </a:extLst>
                </p:cNvPr>
                <p:cNvCxnSpPr/>
                <p:nvPr/>
              </p:nvCxnSpPr>
              <p:spPr>
                <a:xfrm>
                  <a:off x="5266944" y="3429000"/>
                  <a:ext cx="0" cy="625597"/>
                </a:xfrm>
                <a:prstGeom prst="line">
                  <a:avLst/>
                </a:prstGeom>
                <a:ln>
                  <a:solidFill>
                    <a:srgbClr val="CC66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3" name="Straight Connector 32">
                  <a:extLst>
                    <a:ext uri="{FF2B5EF4-FFF2-40B4-BE49-F238E27FC236}">
                      <a16:creationId xmlns:a16="http://schemas.microsoft.com/office/drawing/2014/main" id="{ABB44C34-2501-5A10-4D85-F1320D220AB0}"/>
                    </a:ext>
                  </a:extLst>
                </p:cNvPr>
                <p:cNvCxnSpPr/>
                <p:nvPr/>
              </p:nvCxnSpPr>
              <p:spPr>
                <a:xfrm>
                  <a:off x="5335524" y="3429000"/>
                  <a:ext cx="0" cy="625597"/>
                </a:xfrm>
                <a:prstGeom prst="line">
                  <a:avLst/>
                </a:prstGeom>
                <a:ln>
                  <a:solidFill>
                    <a:srgbClr val="CC66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4" name="Straight Connector 33">
                  <a:extLst>
                    <a:ext uri="{FF2B5EF4-FFF2-40B4-BE49-F238E27FC236}">
                      <a16:creationId xmlns:a16="http://schemas.microsoft.com/office/drawing/2014/main" id="{A8718BAD-4933-19D1-2602-8C1E8D28BDC7}"/>
                    </a:ext>
                  </a:extLst>
                </p:cNvPr>
                <p:cNvCxnSpPr/>
                <p:nvPr/>
              </p:nvCxnSpPr>
              <p:spPr>
                <a:xfrm>
                  <a:off x="5404104" y="3429000"/>
                  <a:ext cx="0" cy="625597"/>
                </a:xfrm>
                <a:prstGeom prst="line">
                  <a:avLst/>
                </a:prstGeom>
                <a:ln>
                  <a:solidFill>
                    <a:srgbClr val="CC66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6" name="Straight Connector 35">
                  <a:extLst>
                    <a:ext uri="{FF2B5EF4-FFF2-40B4-BE49-F238E27FC236}">
                      <a16:creationId xmlns:a16="http://schemas.microsoft.com/office/drawing/2014/main" id="{C5E5B4F9-1682-621C-8932-0D82AA051B04}"/>
                    </a:ext>
                  </a:extLst>
                </p:cNvPr>
                <p:cNvCxnSpPr/>
                <p:nvPr/>
              </p:nvCxnSpPr>
              <p:spPr>
                <a:xfrm>
                  <a:off x="5472684" y="3429000"/>
                  <a:ext cx="0" cy="625597"/>
                </a:xfrm>
                <a:prstGeom prst="line">
                  <a:avLst/>
                </a:prstGeom>
                <a:ln>
                  <a:solidFill>
                    <a:srgbClr val="CC66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7" name="Straight Connector 36">
                  <a:extLst>
                    <a:ext uri="{FF2B5EF4-FFF2-40B4-BE49-F238E27FC236}">
                      <a16:creationId xmlns:a16="http://schemas.microsoft.com/office/drawing/2014/main" id="{D1FC2046-A10A-A239-837E-B3C1448C4739}"/>
                    </a:ext>
                  </a:extLst>
                </p:cNvPr>
                <p:cNvCxnSpPr/>
                <p:nvPr/>
              </p:nvCxnSpPr>
              <p:spPr>
                <a:xfrm>
                  <a:off x="5541264" y="3429000"/>
                  <a:ext cx="0" cy="625597"/>
                </a:xfrm>
                <a:prstGeom prst="line">
                  <a:avLst/>
                </a:prstGeom>
                <a:ln>
                  <a:solidFill>
                    <a:srgbClr val="CC66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8" name="Straight Connector 37">
                  <a:extLst>
                    <a:ext uri="{FF2B5EF4-FFF2-40B4-BE49-F238E27FC236}">
                      <a16:creationId xmlns:a16="http://schemas.microsoft.com/office/drawing/2014/main" id="{9545EB58-6B3E-ADE6-5D07-FFAEC90D6B41}"/>
                    </a:ext>
                  </a:extLst>
                </p:cNvPr>
                <p:cNvCxnSpPr/>
                <p:nvPr/>
              </p:nvCxnSpPr>
              <p:spPr>
                <a:xfrm>
                  <a:off x="5609844" y="3429000"/>
                  <a:ext cx="0" cy="625597"/>
                </a:xfrm>
                <a:prstGeom prst="line">
                  <a:avLst/>
                </a:prstGeom>
                <a:ln>
                  <a:solidFill>
                    <a:srgbClr val="CC66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9" name="Straight Connector 38">
                  <a:extLst>
                    <a:ext uri="{FF2B5EF4-FFF2-40B4-BE49-F238E27FC236}">
                      <a16:creationId xmlns:a16="http://schemas.microsoft.com/office/drawing/2014/main" id="{A34E0D56-FEC1-ACF2-6516-1C56632D26C4}"/>
                    </a:ext>
                  </a:extLst>
                </p:cNvPr>
                <p:cNvCxnSpPr/>
                <p:nvPr/>
              </p:nvCxnSpPr>
              <p:spPr>
                <a:xfrm>
                  <a:off x="5678424" y="3429000"/>
                  <a:ext cx="0" cy="625597"/>
                </a:xfrm>
                <a:prstGeom prst="line">
                  <a:avLst/>
                </a:prstGeom>
                <a:ln>
                  <a:solidFill>
                    <a:srgbClr val="CC66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0" name="Straight Connector 39">
                  <a:extLst>
                    <a:ext uri="{FF2B5EF4-FFF2-40B4-BE49-F238E27FC236}">
                      <a16:creationId xmlns:a16="http://schemas.microsoft.com/office/drawing/2014/main" id="{C0082EA4-1935-7DF2-7139-8589A77F029C}"/>
                    </a:ext>
                  </a:extLst>
                </p:cNvPr>
                <p:cNvCxnSpPr/>
                <p:nvPr/>
              </p:nvCxnSpPr>
              <p:spPr>
                <a:xfrm>
                  <a:off x="5747004" y="3429000"/>
                  <a:ext cx="0" cy="625597"/>
                </a:xfrm>
                <a:prstGeom prst="line">
                  <a:avLst/>
                </a:prstGeom>
                <a:ln>
                  <a:solidFill>
                    <a:srgbClr val="CC66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1" name="Straight Connector 40">
                  <a:extLst>
                    <a:ext uri="{FF2B5EF4-FFF2-40B4-BE49-F238E27FC236}">
                      <a16:creationId xmlns:a16="http://schemas.microsoft.com/office/drawing/2014/main" id="{EC1C035C-E55E-713D-3674-18CC91ABD1EA}"/>
                    </a:ext>
                  </a:extLst>
                </p:cNvPr>
                <p:cNvCxnSpPr/>
                <p:nvPr/>
              </p:nvCxnSpPr>
              <p:spPr>
                <a:xfrm>
                  <a:off x="5815584" y="3429000"/>
                  <a:ext cx="0" cy="625597"/>
                </a:xfrm>
                <a:prstGeom prst="line">
                  <a:avLst/>
                </a:prstGeom>
                <a:ln>
                  <a:solidFill>
                    <a:srgbClr val="CC66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2" name="Straight Connector 41">
                  <a:extLst>
                    <a:ext uri="{FF2B5EF4-FFF2-40B4-BE49-F238E27FC236}">
                      <a16:creationId xmlns:a16="http://schemas.microsoft.com/office/drawing/2014/main" id="{A75AFDAB-11D3-08B6-CDF8-705FD8EE15CB}"/>
                    </a:ext>
                  </a:extLst>
                </p:cNvPr>
                <p:cNvCxnSpPr/>
                <p:nvPr/>
              </p:nvCxnSpPr>
              <p:spPr>
                <a:xfrm>
                  <a:off x="5884164" y="3429000"/>
                  <a:ext cx="0" cy="625597"/>
                </a:xfrm>
                <a:prstGeom prst="line">
                  <a:avLst/>
                </a:prstGeom>
                <a:ln>
                  <a:solidFill>
                    <a:srgbClr val="CC66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4" name="Straight Connector 43">
                  <a:extLst>
                    <a:ext uri="{FF2B5EF4-FFF2-40B4-BE49-F238E27FC236}">
                      <a16:creationId xmlns:a16="http://schemas.microsoft.com/office/drawing/2014/main" id="{152A6491-E4D7-3AE3-F625-BF1B3662247B}"/>
                    </a:ext>
                  </a:extLst>
                </p:cNvPr>
                <p:cNvCxnSpPr/>
                <p:nvPr/>
              </p:nvCxnSpPr>
              <p:spPr>
                <a:xfrm>
                  <a:off x="5952744" y="3429000"/>
                  <a:ext cx="0" cy="625597"/>
                </a:xfrm>
                <a:prstGeom prst="line">
                  <a:avLst/>
                </a:prstGeom>
                <a:ln>
                  <a:solidFill>
                    <a:srgbClr val="CC66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5" name="Straight Connector 44">
                  <a:extLst>
                    <a:ext uri="{FF2B5EF4-FFF2-40B4-BE49-F238E27FC236}">
                      <a16:creationId xmlns:a16="http://schemas.microsoft.com/office/drawing/2014/main" id="{DFA71BBA-56FD-D6F5-8C2E-C9B38C947427}"/>
                    </a:ext>
                  </a:extLst>
                </p:cNvPr>
                <p:cNvCxnSpPr/>
                <p:nvPr/>
              </p:nvCxnSpPr>
              <p:spPr>
                <a:xfrm>
                  <a:off x="6021324" y="3429000"/>
                  <a:ext cx="0" cy="625597"/>
                </a:xfrm>
                <a:prstGeom prst="line">
                  <a:avLst/>
                </a:prstGeom>
                <a:ln>
                  <a:solidFill>
                    <a:srgbClr val="CC66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6" name="Straight Connector 45">
                  <a:extLst>
                    <a:ext uri="{FF2B5EF4-FFF2-40B4-BE49-F238E27FC236}">
                      <a16:creationId xmlns:a16="http://schemas.microsoft.com/office/drawing/2014/main" id="{2CB8FEA4-281B-31C7-3CC4-59CB3161D44E}"/>
                    </a:ext>
                  </a:extLst>
                </p:cNvPr>
                <p:cNvCxnSpPr/>
                <p:nvPr/>
              </p:nvCxnSpPr>
              <p:spPr>
                <a:xfrm>
                  <a:off x="6089904" y="3429000"/>
                  <a:ext cx="0" cy="625597"/>
                </a:xfrm>
                <a:prstGeom prst="line">
                  <a:avLst/>
                </a:prstGeom>
                <a:ln>
                  <a:solidFill>
                    <a:srgbClr val="CC66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7" name="Straight Connector 46">
                  <a:extLst>
                    <a:ext uri="{FF2B5EF4-FFF2-40B4-BE49-F238E27FC236}">
                      <a16:creationId xmlns:a16="http://schemas.microsoft.com/office/drawing/2014/main" id="{EB90DCCC-197F-EF67-8290-90442B465B6C}"/>
                    </a:ext>
                  </a:extLst>
                </p:cNvPr>
                <p:cNvCxnSpPr/>
                <p:nvPr/>
              </p:nvCxnSpPr>
              <p:spPr>
                <a:xfrm>
                  <a:off x="6158484" y="3429000"/>
                  <a:ext cx="0" cy="625597"/>
                </a:xfrm>
                <a:prstGeom prst="line">
                  <a:avLst/>
                </a:prstGeom>
                <a:ln>
                  <a:solidFill>
                    <a:srgbClr val="CC66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8" name="Straight Connector 47">
                  <a:extLst>
                    <a:ext uri="{FF2B5EF4-FFF2-40B4-BE49-F238E27FC236}">
                      <a16:creationId xmlns:a16="http://schemas.microsoft.com/office/drawing/2014/main" id="{E87DEE52-196E-B69B-36CC-77B215C5C301}"/>
                    </a:ext>
                  </a:extLst>
                </p:cNvPr>
                <p:cNvCxnSpPr/>
                <p:nvPr/>
              </p:nvCxnSpPr>
              <p:spPr>
                <a:xfrm>
                  <a:off x="6227064" y="3429000"/>
                  <a:ext cx="0" cy="625597"/>
                </a:xfrm>
                <a:prstGeom prst="line">
                  <a:avLst/>
                </a:prstGeom>
                <a:ln>
                  <a:solidFill>
                    <a:srgbClr val="CC66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9" name="Straight Connector 48">
                  <a:extLst>
                    <a:ext uri="{FF2B5EF4-FFF2-40B4-BE49-F238E27FC236}">
                      <a16:creationId xmlns:a16="http://schemas.microsoft.com/office/drawing/2014/main" id="{F9296B7A-D2A4-D503-79C6-C0E64498F45F}"/>
                    </a:ext>
                  </a:extLst>
                </p:cNvPr>
                <p:cNvCxnSpPr/>
                <p:nvPr/>
              </p:nvCxnSpPr>
              <p:spPr>
                <a:xfrm>
                  <a:off x="6295644" y="3429000"/>
                  <a:ext cx="0" cy="625597"/>
                </a:xfrm>
                <a:prstGeom prst="line">
                  <a:avLst/>
                </a:prstGeom>
                <a:ln>
                  <a:solidFill>
                    <a:srgbClr val="CC66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0" name="Straight Connector 49">
                  <a:extLst>
                    <a:ext uri="{FF2B5EF4-FFF2-40B4-BE49-F238E27FC236}">
                      <a16:creationId xmlns:a16="http://schemas.microsoft.com/office/drawing/2014/main" id="{95273B0C-F241-C902-A950-29BCE45AB6E9}"/>
                    </a:ext>
                  </a:extLst>
                </p:cNvPr>
                <p:cNvCxnSpPr/>
                <p:nvPr/>
              </p:nvCxnSpPr>
              <p:spPr>
                <a:xfrm>
                  <a:off x="6364224" y="3429000"/>
                  <a:ext cx="0" cy="625597"/>
                </a:xfrm>
                <a:prstGeom prst="line">
                  <a:avLst/>
                </a:prstGeom>
                <a:ln>
                  <a:solidFill>
                    <a:srgbClr val="CC66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1" name="Straight Connector 50">
                  <a:extLst>
                    <a:ext uri="{FF2B5EF4-FFF2-40B4-BE49-F238E27FC236}">
                      <a16:creationId xmlns:a16="http://schemas.microsoft.com/office/drawing/2014/main" id="{ED61A98E-A6BF-314A-05F2-FDFFDC51B34A}"/>
                    </a:ext>
                  </a:extLst>
                </p:cNvPr>
                <p:cNvCxnSpPr/>
                <p:nvPr/>
              </p:nvCxnSpPr>
              <p:spPr>
                <a:xfrm>
                  <a:off x="6432804" y="3429000"/>
                  <a:ext cx="0" cy="625597"/>
                </a:xfrm>
                <a:prstGeom prst="line">
                  <a:avLst/>
                </a:prstGeom>
                <a:ln>
                  <a:solidFill>
                    <a:srgbClr val="CC66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4" name="Straight Connector 53">
                  <a:extLst>
                    <a:ext uri="{FF2B5EF4-FFF2-40B4-BE49-F238E27FC236}">
                      <a16:creationId xmlns:a16="http://schemas.microsoft.com/office/drawing/2014/main" id="{D495FD4F-D8FF-48A8-5F8E-E5E6DA59F281}"/>
                    </a:ext>
                  </a:extLst>
                </p:cNvPr>
                <p:cNvCxnSpPr/>
                <p:nvPr/>
              </p:nvCxnSpPr>
              <p:spPr>
                <a:xfrm>
                  <a:off x="6501384" y="3429000"/>
                  <a:ext cx="0" cy="625597"/>
                </a:xfrm>
                <a:prstGeom prst="line">
                  <a:avLst/>
                </a:prstGeom>
                <a:ln>
                  <a:solidFill>
                    <a:srgbClr val="CC66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5" name="Straight Connector 54">
                  <a:extLst>
                    <a:ext uri="{FF2B5EF4-FFF2-40B4-BE49-F238E27FC236}">
                      <a16:creationId xmlns:a16="http://schemas.microsoft.com/office/drawing/2014/main" id="{E946B897-4B27-9830-EAD8-894B33710AF4}"/>
                    </a:ext>
                  </a:extLst>
                </p:cNvPr>
                <p:cNvCxnSpPr/>
                <p:nvPr/>
              </p:nvCxnSpPr>
              <p:spPr>
                <a:xfrm>
                  <a:off x="6569964" y="3429000"/>
                  <a:ext cx="0" cy="625597"/>
                </a:xfrm>
                <a:prstGeom prst="line">
                  <a:avLst/>
                </a:prstGeom>
                <a:ln>
                  <a:solidFill>
                    <a:srgbClr val="CC66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6" name="Straight Connector 55">
                  <a:extLst>
                    <a:ext uri="{FF2B5EF4-FFF2-40B4-BE49-F238E27FC236}">
                      <a16:creationId xmlns:a16="http://schemas.microsoft.com/office/drawing/2014/main" id="{2B3B631C-3DC2-7F5F-A7D2-98C6FB8A216C}"/>
                    </a:ext>
                  </a:extLst>
                </p:cNvPr>
                <p:cNvCxnSpPr/>
                <p:nvPr/>
              </p:nvCxnSpPr>
              <p:spPr>
                <a:xfrm>
                  <a:off x="6638544" y="3429000"/>
                  <a:ext cx="0" cy="625597"/>
                </a:xfrm>
                <a:prstGeom prst="line">
                  <a:avLst/>
                </a:prstGeom>
                <a:ln>
                  <a:solidFill>
                    <a:srgbClr val="CC66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7" name="Straight Connector 56">
                  <a:extLst>
                    <a:ext uri="{FF2B5EF4-FFF2-40B4-BE49-F238E27FC236}">
                      <a16:creationId xmlns:a16="http://schemas.microsoft.com/office/drawing/2014/main" id="{A77017C1-FBC9-0B24-8E96-E3ED9C5FD252}"/>
                    </a:ext>
                  </a:extLst>
                </p:cNvPr>
                <p:cNvCxnSpPr/>
                <p:nvPr/>
              </p:nvCxnSpPr>
              <p:spPr>
                <a:xfrm>
                  <a:off x="6707124" y="3429000"/>
                  <a:ext cx="0" cy="625597"/>
                </a:xfrm>
                <a:prstGeom prst="line">
                  <a:avLst/>
                </a:prstGeom>
                <a:ln>
                  <a:solidFill>
                    <a:srgbClr val="CC66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8" name="Straight Connector 57">
                  <a:extLst>
                    <a:ext uri="{FF2B5EF4-FFF2-40B4-BE49-F238E27FC236}">
                      <a16:creationId xmlns:a16="http://schemas.microsoft.com/office/drawing/2014/main" id="{1AB3D7CC-0305-D1DF-248B-896469D9D308}"/>
                    </a:ext>
                  </a:extLst>
                </p:cNvPr>
                <p:cNvCxnSpPr/>
                <p:nvPr/>
              </p:nvCxnSpPr>
              <p:spPr>
                <a:xfrm>
                  <a:off x="6775704" y="3429000"/>
                  <a:ext cx="0" cy="625597"/>
                </a:xfrm>
                <a:prstGeom prst="line">
                  <a:avLst/>
                </a:prstGeom>
                <a:ln>
                  <a:solidFill>
                    <a:srgbClr val="CC66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9" name="Straight Connector 58">
                  <a:extLst>
                    <a:ext uri="{FF2B5EF4-FFF2-40B4-BE49-F238E27FC236}">
                      <a16:creationId xmlns:a16="http://schemas.microsoft.com/office/drawing/2014/main" id="{497B74A8-C0A9-5ECA-0608-C5BD1B68E181}"/>
                    </a:ext>
                  </a:extLst>
                </p:cNvPr>
                <p:cNvCxnSpPr/>
                <p:nvPr/>
              </p:nvCxnSpPr>
              <p:spPr>
                <a:xfrm>
                  <a:off x="6844284" y="3429000"/>
                  <a:ext cx="0" cy="625597"/>
                </a:xfrm>
                <a:prstGeom prst="line">
                  <a:avLst/>
                </a:prstGeom>
                <a:ln>
                  <a:solidFill>
                    <a:srgbClr val="CC66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0" name="Straight Connector 59">
                  <a:extLst>
                    <a:ext uri="{FF2B5EF4-FFF2-40B4-BE49-F238E27FC236}">
                      <a16:creationId xmlns:a16="http://schemas.microsoft.com/office/drawing/2014/main" id="{802F808E-0E0C-04CA-EF72-B66A3F57A46A}"/>
                    </a:ext>
                  </a:extLst>
                </p:cNvPr>
                <p:cNvCxnSpPr/>
                <p:nvPr/>
              </p:nvCxnSpPr>
              <p:spPr>
                <a:xfrm>
                  <a:off x="6912864" y="3429000"/>
                  <a:ext cx="0" cy="625597"/>
                </a:xfrm>
                <a:prstGeom prst="line">
                  <a:avLst/>
                </a:prstGeom>
                <a:ln>
                  <a:solidFill>
                    <a:srgbClr val="CC66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1" name="Straight Connector 60">
                  <a:extLst>
                    <a:ext uri="{FF2B5EF4-FFF2-40B4-BE49-F238E27FC236}">
                      <a16:creationId xmlns:a16="http://schemas.microsoft.com/office/drawing/2014/main" id="{5A5C3CB3-9D59-26D5-E456-480C6441B435}"/>
                    </a:ext>
                  </a:extLst>
                </p:cNvPr>
                <p:cNvCxnSpPr/>
                <p:nvPr/>
              </p:nvCxnSpPr>
              <p:spPr>
                <a:xfrm>
                  <a:off x="6981444" y="3429000"/>
                  <a:ext cx="0" cy="625597"/>
                </a:xfrm>
                <a:prstGeom prst="line">
                  <a:avLst/>
                </a:prstGeom>
                <a:ln>
                  <a:solidFill>
                    <a:srgbClr val="CC66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2" name="Straight Connector 61">
                  <a:extLst>
                    <a:ext uri="{FF2B5EF4-FFF2-40B4-BE49-F238E27FC236}">
                      <a16:creationId xmlns:a16="http://schemas.microsoft.com/office/drawing/2014/main" id="{629026B8-0C84-795A-579D-34DE3065D072}"/>
                    </a:ext>
                  </a:extLst>
                </p:cNvPr>
                <p:cNvCxnSpPr/>
                <p:nvPr/>
              </p:nvCxnSpPr>
              <p:spPr>
                <a:xfrm>
                  <a:off x="7050024" y="3429000"/>
                  <a:ext cx="0" cy="625597"/>
                </a:xfrm>
                <a:prstGeom prst="line">
                  <a:avLst/>
                </a:prstGeom>
                <a:ln>
                  <a:solidFill>
                    <a:srgbClr val="CC66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3" name="Straight Connector 62">
                  <a:extLst>
                    <a:ext uri="{FF2B5EF4-FFF2-40B4-BE49-F238E27FC236}">
                      <a16:creationId xmlns:a16="http://schemas.microsoft.com/office/drawing/2014/main" id="{121D27E3-AA11-F47D-AD64-D347D1A06A22}"/>
                    </a:ext>
                  </a:extLst>
                </p:cNvPr>
                <p:cNvCxnSpPr/>
                <p:nvPr/>
              </p:nvCxnSpPr>
              <p:spPr>
                <a:xfrm>
                  <a:off x="7118604" y="3429000"/>
                  <a:ext cx="0" cy="625597"/>
                </a:xfrm>
                <a:prstGeom prst="line">
                  <a:avLst/>
                </a:prstGeom>
                <a:ln>
                  <a:solidFill>
                    <a:srgbClr val="CC66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4" name="Straight Connector 63">
                  <a:extLst>
                    <a:ext uri="{FF2B5EF4-FFF2-40B4-BE49-F238E27FC236}">
                      <a16:creationId xmlns:a16="http://schemas.microsoft.com/office/drawing/2014/main" id="{1C1DA948-BE52-D302-FCD3-6861CAA51B59}"/>
                    </a:ext>
                  </a:extLst>
                </p:cNvPr>
                <p:cNvCxnSpPr/>
                <p:nvPr/>
              </p:nvCxnSpPr>
              <p:spPr>
                <a:xfrm>
                  <a:off x="7187184" y="3429000"/>
                  <a:ext cx="0" cy="625597"/>
                </a:xfrm>
                <a:prstGeom prst="line">
                  <a:avLst/>
                </a:prstGeom>
                <a:ln>
                  <a:solidFill>
                    <a:srgbClr val="CC66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28" name="Oval 27">
                <a:extLst>
                  <a:ext uri="{FF2B5EF4-FFF2-40B4-BE49-F238E27FC236}">
                    <a16:creationId xmlns:a16="http://schemas.microsoft.com/office/drawing/2014/main" id="{415404AF-8EEE-2A2D-AEE0-E2FF969232E3}"/>
                  </a:ext>
                </a:extLst>
              </p:cNvPr>
              <p:cNvSpPr/>
              <p:nvPr/>
            </p:nvSpPr>
            <p:spPr>
              <a:xfrm>
                <a:off x="5078985" y="3442378"/>
                <a:ext cx="45719" cy="625596"/>
              </a:xfrm>
              <a:prstGeom prst="ellipse">
                <a:avLst/>
              </a:prstGeom>
              <a:noFill/>
              <a:ln>
                <a:solidFill>
                  <a:srgbClr val="CC66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29" name="Oval 28">
                <a:extLst>
                  <a:ext uri="{FF2B5EF4-FFF2-40B4-BE49-F238E27FC236}">
                    <a16:creationId xmlns:a16="http://schemas.microsoft.com/office/drawing/2014/main" id="{0080355E-C4E7-5A7F-5B28-2AD79FE35BD1}"/>
                  </a:ext>
                </a:extLst>
              </p:cNvPr>
              <p:cNvSpPr/>
              <p:nvPr/>
            </p:nvSpPr>
            <p:spPr>
              <a:xfrm>
                <a:off x="7168387" y="3438238"/>
                <a:ext cx="45719" cy="625596"/>
              </a:xfrm>
              <a:prstGeom prst="ellipse">
                <a:avLst/>
              </a:prstGeom>
              <a:noFill/>
              <a:ln>
                <a:solidFill>
                  <a:srgbClr val="CC66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7D8F0541-B0BA-087C-E4D1-2B08EE802126}"/>
                </a:ext>
              </a:extLst>
            </p:cNvPr>
            <p:cNvSpPr/>
            <p:nvPr/>
          </p:nvSpPr>
          <p:spPr>
            <a:xfrm>
              <a:off x="8002344" y="3959008"/>
              <a:ext cx="540000" cy="540000"/>
            </a:xfrm>
            <a:prstGeom prst="ellipse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fr-FR" sz="700" b="1" dirty="0"/>
                <a:t>GBF</a:t>
              </a:r>
            </a:p>
          </p:txBody>
        </p: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96F2A4EF-9A7B-297A-7010-1AFC3F346D8D}"/>
                </a:ext>
              </a:extLst>
            </p:cNvPr>
            <p:cNvCxnSpPr>
              <a:cxnSpLocks/>
              <a:stCxn id="12" idx="2"/>
            </p:cNvCxnSpPr>
            <p:nvPr/>
          </p:nvCxnSpPr>
          <p:spPr>
            <a:xfrm flipH="1" flipV="1">
              <a:off x="6805614" y="4223154"/>
              <a:ext cx="1196730" cy="5854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AF4BA373-66AB-2FA5-AECF-1552E6700C65}"/>
                </a:ext>
              </a:extLst>
            </p:cNvPr>
            <p:cNvCxnSpPr>
              <a:cxnSpLocks/>
            </p:cNvCxnSpPr>
            <p:nvPr/>
          </p:nvCxnSpPr>
          <p:spPr>
            <a:xfrm>
              <a:off x="4824414" y="4269578"/>
              <a:ext cx="3176873" cy="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7" name="Straight Connector 76">
              <a:extLst>
                <a:ext uri="{FF2B5EF4-FFF2-40B4-BE49-F238E27FC236}">
                  <a16:creationId xmlns:a16="http://schemas.microsoft.com/office/drawing/2014/main" id="{4EBA7383-320D-3F62-6B39-857E0B6C5672}"/>
                </a:ext>
              </a:extLst>
            </p:cNvPr>
            <p:cNvCxnSpPr>
              <a:cxnSpLocks/>
            </p:cNvCxnSpPr>
            <p:nvPr/>
          </p:nvCxnSpPr>
          <p:spPr>
            <a:xfrm>
              <a:off x="6805614" y="4135147"/>
              <a:ext cx="0" cy="88007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7" name="Straight Connector 86">
              <a:extLst>
                <a:ext uri="{FF2B5EF4-FFF2-40B4-BE49-F238E27FC236}">
                  <a16:creationId xmlns:a16="http://schemas.microsoft.com/office/drawing/2014/main" id="{CEA523CD-D1A1-73C7-58D9-454F5C9856B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824414" y="4135146"/>
              <a:ext cx="0" cy="134432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94" name="TextBox 93">
              <a:extLst>
                <a:ext uri="{FF2B5EF4-FFF2-40B4-BE49-F238E27FC236}">
                  <a16:creationId xmlns:a16="http://schemas.microsoft.com/office/drawing/2014/main" id="{50440993-1AF9-653B-32E9-C0229A64D937}"/>
                </a:ext>
              </a:extLst>
            </p:cNvPr>
            <p:cNvSpPr txBox="1"/>
            <p:nvPr/>
          </p:nvSpPr>
          <p:spPr>
            <a:xfrm>
              <a:off x="3661157" y="2986131"/>
              <a:ext cx="942141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fr-FR" sz="1200" dirty="0"/>
                <a:t>Solénoïde</a:t>
              </a:r>
            </a:p>
          </p:txBody>
        </p:sp>
        <p:cxnSp>
          <p:nvCxnSpPr>
            <p:cNvPr id="96" name="Connector: Elbow 95">
              <a:extLst>
                <a:ext uri="{FF2B5EF4-FFF2-40B4-BE49-F238E27FC236}">
                  <a16:creationId xmlns:a16="http://schemas.microsoft.com/office/drawing/2014/main" id="{79EAF782-C496-FE9F-24AB-1DBC5C6352DB}"/>
                </a:ext>
              </a:extLst>
            </p:cNvPr>
            <p:cNvCxnSpPr>
              <a:cxnSpLocks/>
              <a:stCxn id="94" idx="2"/>
              <a:endCxn id="28" idx="0"/>
            </p:cNvCxnSpPr>
            <p:nvPr/>
          </p:nvCxnSpPr>
          <p:spPr>
            <a:xfrm rot="16200000" flipH="1">
              <a:off x="4345555" y="3049802"/>
              <a:ext cx="242672" cy="669327"/>
            </a:xfrm>
            <a:prstGeom prst="bentConnector3">
              <a:avLst>
                <a:gd name="adj1" fmla="val 101287"/>
              </a:avLst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DBCB1884-E8AE-E280-F4D7-10D20688CC98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Expérimentation </a:t>
            </a:r>
            <a:r>
              <a:rPr lang="fr-FR" sz="1000" i="1" dirty="0"/>
              <a:t>cf. [4], [5]</a:t>
            </a:r>
            <a:endParaRPr lang="fr-FR" sz="2000" b="1" dirty="0"/>
          </a:p>
        </p:txBody>
      </p:sp>
    </p:spTree>
    <p:extLst>
      <p:ext uri="{BB962C8B-B14F-4D97-AF65-F5344CB8AC3E}">
        <p14:creationId xmlns:p14="http://schemas.microsoft.com/office/powerpoint/2010/main" val="349225240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F87C1C-A9E7-26DD-5A78-3FADD678EB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48DA6C4D-4525-E18F-9555-CAEE2FF050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F859C1-8EE1-4062-8A80-955144FCA279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E066EC66-9FAC-8589-387E-B4B8FD13E3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5F3027C7-92F3-E063-932E-3B94F56CAF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10</a:t>
            </a:fld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FD9A809-BAA5-C2C3-A094-88CF56D19A09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530EEE73-BB7D-C4D0-738A-79B41E9FA3C4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83C9C9A-6414-9E44-333A-AA367358FB3C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1E4C63B-D2E6-7A26-7BC5-409FA36680C2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Expérimentation </a:t>
            </a:r>
            <a:r>
              <a:rPr lang="fr-FR" sz="1000" i="1" dirty="0"/>
              <a:t>cf. [4], [5]</a:t>
            </a:r>
            <a:endParaRPr lang="fr-FR" sz="2000" b="1" dirty="0"/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ABAD1879-C817-63AA-6631-18CA1361426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90002" y="718898"/>
            <a:ext cx="4027555" cy="1623768"/>
          </a:xfrm>
          <a:prstGeom prst="rect">
            <a:avLst/>
          </a:prstGeom>
        </p:spPr>
      </p:pic>
      <p:sp>
        <p:nvSpPr>
          <p:cNvPr id="65" name="TextBox 64">
            <a:extLst>
              <a:ext uri="{FF2B5EF4-FFF2-40B4-BE49-F238E27FC236}">
                <a16:creationId xmlns:a16="http://schemas.microsoft.com/office/drawing/2014/main" id="{1D9E6B13-6A5D-2DAE-9C77-B81DD77F1C63}"/>
              </a:ext>
            </a:extLst>
          </p:cNvPr>
          <p:cNvSpPr txBox="1"/>
          <p:nvPr/>
        </p:nvSpPr>
        <p:spPr>
          <a:xfrm>
            <a:off x="345440" y="1315849"/>
            <a:ext cx="400855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u="sng" dirty="0"/>
              <a:t>Comment contrôler l’intensité et la fréquence du champ parasite 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8" name="Rectangle 67">
                <a:extLst>
                  <a:ext uri="{FF2B5EF4-FFF2-40B4-BE49-F238E27FC236}">
                    <a16:creationId xmlns:a16="http://schemas.microsoft.com/office/drawing/2014/main" id="{5ECEDDEF-3F87-ABFA-D021-6B452B66BBAE}"/>
                  </a:ext>
                </a:extLst>
              </p:cNvPr>
              <p:cNvSpPr/>
              <p:nvPr/>
            </p:nvSpPr>
            <p:spPr>
              <a:xfrm>
                <a:off x="345439" y="4375217"/>
                <a:ext cx="5208692" cy="1649231"/>
              </a:xfrm>
              <a:prstGeom prst="rect">
                <a:avLst/>
              </a:prstGeom>
              <a:ln w="38100">
                <a:solidFill>
                  <a:schemeClr val="accent6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lang="fr-FR" sz="1600" b="1" dirty="0"/>
                  <a:t>Lois et principes :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600" dirty="0"/>
                  <a:t>Théorème d’Ampère :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6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𝑩</m:t>
                      </m:r>
                      <m:r>
                        <a:rPr lang="fr-FR" sz="16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sSub>
                        <m:sSubPr>
                          <m:ctrlPr>
                            <a:rPr lang="fr-FR" sz="16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6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𝝁</m:t>
                          </m:r>
                        </m:e>
                        <m:sub>
                          <m:r>
                            <a:rPr lang="fr-FR" sz="16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𝟎</m:t>
                          </m:r>
                        </m:sub>
                      </m:sSub>
                      <m:r>
                        <a:rPr lang="fr-FR" sz="16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𝒏𝑰</m:t>
                      </m:r>
                      <m:r>
                        <a:rPr lang="fr-FR" sz="16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fr-FR" sz="16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𝒕</m:t>
                      </m:r>
                      <m:r>
                        <a:rPr lang="fr-FR" sz="16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600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8" name="Rectangle 67">
                <a:extLst>
                  <a:ext uri="{FF2B5EF4-FFF2-40B4-BE49-F238E27FC236}">
                    <a16:creationId xmlns:a16="http://schemas.microsoft.com/office/drawing/2014/main" id="{5ECEDDEF-3F87-ABFA-D021-6B452B66BBA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5439" y="4375217"/>
                <a:ext cx="5208692" cy="1649231"/>
              </a:xfrm>
              <a:prstGeom prst="rect">
                <a:avLst/>
              </a:prstGeom>
              <a:blipFill>
                <a:blip r:embed="rId3"/>
                <a:stretch>
                  <a:fillRect l="-349"/>
                </a:stretch>
              </a:blipFill>
              <a:ln w="38100">
                <a:solidFill>
                  <a:schemeClr val="accent6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8562C425-904A-2A3C-3B12-5EF4B04D2F2B}"/>
                  </a:ext>
                </a:extLst>
              </p:cNvPr>
              <p:cNvSpPr/>
              <p:nvPr/>
            </p:nvSpPr>
            <p:spPr>
              <a:xfrm>
                <a:off x="345439" y="2368129"/>
                <a:ext cx="5208693" cy="1803400"/>
              </a:xfrm>
              <a:prstGeom prst="rect">
                <a:avLst/>
              </a:prstGeom>
              <a:ln w="38100"/>
            </p:spPr>
            <p:style>
              <a:lnRef idx="2">
                <a:schemeClr val="accent4"/>
              </a:lnRef>
              <a:fillRef idx="1">
                <a:schemeClr val="lt1"/>
              </a:fillRef>
              <a:effectRef idx="0">
                <a:schemeClr val="accent4"/>
              </a:effectRef>
              <a:fontRef idx="minor">
                <a:schemeClr val="dk1"/>
              </a:fontRef>
            </p:style>
            <p:txBody>
              <a:bodyPr numCol="1" rtlCol="0" anchor="ctr"/>
              <a:lstStyle/>
              <a:p>
                <a:r>
                  <a:rPr lang="fr-FR" sz="1600" b="1" dirty="0"/>
                  <a:t>Notations :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5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𝐺𝐵𝐹</m:t>
                        </m:r>
                      </m:sub>
                    </m:sSub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Amplitude du signal électrique généré par le GBF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Fréquence du signal électrique généré par le GBF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Nombre de spire du Solénoïde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b="0" i="1" smtClean="0">
                        <a:latin typeface="Cambria Math" panose="02040503050406030204" pitchFamily="18" charset="0"/>
                      </a:rPr>
                      <m:t>𝐿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Inductance du Solénoïde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5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5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fr-FR" sz="15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Permittivité du vide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</a:rPr>
                      <m:t>𝐵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fr-FR" sz="1500" dirty="0"/>
                  <a:t>: Champ magnétique généré par le Solénoïde</a:t>
                </a:r>
              </a:p>
            </p:txBody>
          </p:sp>
        </mc:Choice>
        <mc:Fallback xmlns=""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8562C425-904A-2A3C-3B12-5EF4B04D2F2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5439" y="2368129"/>
                <a:ext cx="5208693" cy="1803400"/>
              </a:xfrm>
              <a:prstGeom prst="rect">
                <a:avLst/>
              </a:prstGeom>
              <a:blipFill>
                <a:blip r:embed="rId4"/>
                <a:stretch>
                  <a:fillRect l="-349" b="-331"/>
                </a:stretch>
              </a:blipFill>
              <a:ln w="38100"/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2" name="TextBox 71">
            <a:extLst>
              <a:ext uri="{FF2B5EF4-FFF2-40B4-BE49-F238E27FC236}">
                <a16:creationId xmlns:a16="http://schemas.microsoft.com/office/drawing/2014/main" id="{D5EE7BFD-22A9-C42D-D83F-4ED3539508EB}"/>
              </a:ext>
            </a:extLst>
          </p:cNvPr>
          <p:cNvSpPr txBox="1"/>
          <p:nvPr/>
        </p:nvSpPr>
        <p:spPr>
          <a:xfrm>
            <a:off x="5910424" y="4494038"/>
            <a:ext cx="282056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dirty="0"/>
              <a:t>Avec le Théorème d’Ampère, on obtient alors la relation :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3218BB12-3DFF-14DE-54E5-3D8FFFF54153}"/>
                  </a:ext>
                </a:extLst>
              </p:cNvPr>
              <p:cNvSpPr txBox="1"/>
              <p:nvPr/>
            </p:nvSpPr>
            <p:spPr>
              <a:xfrm>
                <a:off x="5956223" y="5145617"/>
                <a:ext cx="2938240" cy="567143"/>
              </a:xfrm>
              <a:prstGeom prst="rect">
                <a:avLst/>
              </a:prstGeom>
              <a:ln w="19050">
                <a:solidFill>
                  <a:srgbClr val="C00000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 b="0" i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B</m:t>
                      </m:r>
                      <m:d>
                        <m:dPr>
                          <m:ctrlP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=−</m:t>
                      </m:r>
                      <m:sSub>
                        <m:sSubPr>
                          <m:ctrlP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𝑛</m:t>
                      </m:r>
                      <m:f>
                        <m:fPr>
                          <m:ctrlP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𝑈</m:t>
                              </m:r>
                            </m:e>
                            <m:sub>
                              <m: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𝐺𝐵𝐹</m:t>
                              </m:r>
                            </m:sub>
                          </m:sSub>
                        </m:num>
                        <m:den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𝑓𝐿</m:t>
                          </m:r>
                        </m:den>
                      </m:f>
                      <m:func>
                        <m:funcPr>
                          <m:ctrlP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b="0" i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(2</m:t>
                          </m:r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𝑓𝑡</m:t>
                          </m:r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3218BB12-3DFF-14DE-54E5-3D8FFFF541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56223" y="5145617"/>
                <a:ext cx="2938240" cy="567143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 w="19050"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ABF8E582-4EAC-8C67-F875-BE10AAAA0350}"/>
                  </a:ext>
                </a:extLst>
              </p:cNvPr>
              <p:cNvSpPr txBox="1"/>
              <p:nvPr/>
            </p:nvSpPr>
            <p:spPr>
              <a:xfrm>
                <a:off x="6172817" y="2855748"/>
                <a:ext cx="2387379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800" b="0" i="1" smtClean="0">
                          <a:latin typeface="Cambria Math" panose="02040503050406030204" pitchFamily="18" charset="0"/>
                        </a:rPr>
                        <m:t>𝑢</m:t>
                      </m:r>
                      <m:d>
                        <m:dPr>
                          <m:ctrlPr>
                            <a:rPr lang="fr-FR" sz="1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8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func>
                        <m:funcPr>
                          <m:ctrlPr>
                            <a:rPr lang="fr-FR" sz="18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800" b="0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800" b="0" i="1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8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8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ABF8E582-4EAC-8C67-F875-BE10AAAA03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72817" y="2855748"/>
                <a:ext cx="2387379" cy="369332"/>
              </a:xfrm>
              <a:prstGeom prst="rect">
                <a:avLst/>
              </a:prstGeom>
              <a:blipFill>
                <a:blip r:embed="rId6"/>
                <a:stretch>
                  <a:fillRect b="-14754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869341FB-75B3-A274-F364-7E99C8B4857A}"/>
                  </a:ext>
                </a:extLst>
              </p:cNvPr>
              <p:cNvSpPr txBox="1"/>
              <p:nvPr/>
            </p:nvSpPr>
            <p:spPr>
              <a:xfrm>
                <a:off x="5907886" y="3949599"/>
                <a:ext cx="2649772" cy="45179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𝑖</m:t>
                      </m:r>
                      <m:d>
                        <m:dPr>
                          <m:ctrlPr>
                            <a:rPr lang="fr-FR" sz="18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8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800" i="1">
                          <a:latin typeface="Cambria Math" panose="02040503050406030204" pitchFamily="18" charset="0"/>
                        </a:rPr>
                        <m:t>=</m:t>
                      </m:r>
                      <m:box>
                        <m:boxPr>
                          <m:ctrlPr>
                            <a:rPr lang="fr-FR" sz="1800" i="1">
                              <a:latin typeface="Cambria Math" panose="02040503050406030204" pitchFamily="18" charset="0"/>
                            </a:rPr>
                          </m:ctrlPr>
                        </m:boxPr>
                        <m:e>
                          <m:argPr>
                            <m:argSz m:val="-1"/>
                          </m:argPr>
                          <m:f>
                            <m:fPr>
                              <m:ctrlPr>
                                <a:rPr lang="fr-FR" sz="18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1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800" i="1">
                                      <a:latin typeface="Cambria Math" panose="02040503050406030204" pitchFamily="18" charset="0"/>
                                    </a:rPr>
                                    <m:t>𝑈</m:t>
                                  </m:r>
                                </m:e>
                                <m:sub>
                                  <m:r>
                                    <a:rPr lang="fr-FR" sz="18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fr-FR" sz="18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fr-FR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r>
                                <a:rPr lang="fr-FR" sz="18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  <m:sSub>
                                <m:sSubPr>
                                  <m:ctrlPr>
                                    <a:rPr lang="fr-FR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800" b="0" i="1" smtClean="0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fr-FR" sz="1800" b="0" i="1" smtClean="0"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sub>
                              </m:sSub>
                            </m:den>
                          </m:f>
                        </m:e>
                      </m:box>
                      <m:func>
                        <m:funcPr>
                          <m:ctrlPr>
                            <a:rPr lang="fr-FR" sz="180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800" i="0" smtClean="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800" b="0" i="1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8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869341FB-75B3-A274-F364-7E99C8B485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07886" y="3949599"/>
                <a:ext cx="2649772" cy="451790"/>
              </a:xfrm>
              <a:prstGeom prst="rect">
                <a:avLst/>
              </a:prstGeom>
              <a:blipFill>
                <a:blip r:embed="rId7"/>
                <a:stretch>
                  <a:fillRect b="-6757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7A20D67A-ABBB-0F42-5126-090B491D5C6A}"/>
              </a:ext>
            </a:extLst>
          </p:cNvPr>
          <p:cNvSpPr txBox="1"/>
          <p:nvPr/>
        </p:nvSpPr>
        <p:spPr>
          <a:xfrm>
            <a:off x="5956224" y="2455967"/>
            <a:ext cx="282056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dirty="0"/>
              <a:t>Le GBF délivre une tension :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7682485-A8DF-8912-5129-AE9F97A8E14E}"/>
              </a:ext>
            </a:extLst>
          </p:cNvPr>
          <p:cNvSpPr txBox="1"/>
          <p:nvPr/>
        </p:nvSpPr>
        <p:spPr>
          <a:xfrm>
            <a:off x="5956223" y="3300686"/>
            <a:ext cx="282056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dirty="0"/>
              <a:t>Ainsi l’intensité dans le Solénoïde est : </a:t>
            </a:r>
          </a:p>
        </p:txBody>
      </p:sp>
    </p:spTree>
    <p:extLst>
      <p:ext uri="{BB962C8B-B14F-4D97-AF65-F5344CB8AC3E}">
        <p14:creationId xmlns:p14="http://schemas.microsoft.com/office/powerpoint/2010/main" val="182286975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D92842E-33D7-43D3-4A8A-6B3D6EB081C3}"/>
              </a:ext>
            </a:extLst>
          </p:cNvPr>
          <p:cNvSpPr/>
          <p:nvPr/>
        </p:nvSpPr>
        <p:spPr>
          <a:xfrm>
            <a:off x="-63611" y="-33793"/>
            <a:ext cx="9271221" cy="6925586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4800" b="1" dirty="0"/>
              <a:t>FIN</a:t>
            </a:r>
          </a:p>
        </p:txBody>
      </p:sp>
    </p:spTree>
    <p:extLst>
      <p:ext uri="{BB962C8B-B14F-4D97-AF65-F5344CB8AC3E}">
        <p14:creationId xmlns:p14="http://schemas.microsoft.com/office/powerpoint/2010/main" val="425971105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C267F8-102B-ED7B-0DE1-585BD24C6A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A574C88C-C846-3D06-3760-839BCCE4D2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F859C1-8EE1-4062-8A80-955144FCA279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0A71A85B-44A7-312F-DA38-FF2BAFF29A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667D19BA-9241-DDAC-50D0-86F96248AB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12</a:t>
            </a:fld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DCCB68E-E8C2-CC4C-3A75-B5BA7F6D35AA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CF93ABBD-287B-55E3-11A3-68FE11A27659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BCBD774-13EC-37E7-5421-E3BB7AFFF9C5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Annexes : Sommaire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86C8F2F-1A54-CCBE-AAF5-AE4AD2305328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34F1C7E-5DAA-15EF-C04B-EF6B2C9D445E}"/>
              </a:ext>
            </a:extLst>
          </p:cNvPr>
          <p:cNvSpPr txBox="1"/>
          <p:nvPr/>
        </p:nvSpPr>
        <p:spPr>
          <a:xfrm>
            <a:off x="345440" y="1390254"/>
            <a:ext cx="8472118" cy="47705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SzPct val="110000"/>
              <a:buFont typeface="+mj-lt"/>
              <a:buAutoNum type="arabicPeriod"/>
            </a:pPr>
            <a:r>
              <a:rPr lang="fr-FR" sz="1600" dirty="0"/>
              <a:t>Sources et Bibliographie</a:t>
            </a:r>
          </a:p>
          <a:p>
            <a:pPr marL="342900" indent="-342900">
              <a:buSzPct val="110000"/>
              <a:buFont typeface="+mj-lt"/>
              <a:buAutoNum type="arabicPeriod"/>
            </a:pPr>
            <a:r>
              <a:rPr lang="fr-FR" sz="1600" dirty="0"/>
              <a:t>Remerciements</a:t>
            </a:r>
          </a:p>
          <a:p>
            <a:pPr marL="342900" indent="-342900">
              <a:buSzPct val="110000"/>
              <a:buFont typeface="+mj-lt"/>
              <a:buAutoNum type="arabicPeriod"/>
            </a:pPr>
            <a:r>
              <a:rPr lang="fr-FR" sz="1600" dirty="0"/>
              <a:t>Loi d’induction de Faraday</a:t>
            </a:r>
          </a:p>
          <a:p>
            <a:pPr marL="342900" indent="-342900">
              <a:buSzPct val="110000"/>
              <a:buFont typeface="+mj-lt"/>
              <a:buAutoNum type="arabicPeriod"/>
            </a:pPr>
            <a:r>
              <a:rPr lang="fr-FR" sz="1600" dirty="0"/>
              <a:t>Démonstration du modèle Théorique </a:t>
            </a:r>
          </a:p>
          <a:p>
            <a:pPr marL="800100" lvl="1" indent="-342900">
              <a:buSzPct val="110000"/>
              <a:buFont typeface="+mj-lt"/>
              <a:buAutoNum type="arabicPeriod"/>
            </a:pPr>
            <a:r>
              <a:rPr lang="fr-FR" sz="1600" dirty="0"/>
              <a:t>Micro SingleCoil excité par une corde</a:t>
            </a:r>
          </a:p>
          <a:p>
            <a:pPr marL="800100" lvl="1" indent="-342900">
              <a:buSzPct val="110000"/>
              <a:buFont typeface="+mj-lt"/>
              <a:buAutoNum type="arabicPeriod"/>
            </a:pPr>
            <a:r>
              <a:rPr lang="fr-FR" sz="1600" dirty="0"/>
              <a:t>Micro Humbucker excité par une corde</a:t>
            </a:r>
          </a:p>
          <a:p>
            <a:pPr marL="800100" lvl="1" indent="-342900">
              <a:buSzPct val="110000"/>
              <a:buFont typeface="+mj-lt"/>
              <a:buAutoNum type="arabicPeriod"/>
            </a:pPr>
            <a:r>
              <a:rPr lang="fr-FR" sz="1600" dirty="0"/>
              <a:t>Micro SingleCoil &amp; Humbucker excité par un Champ Parasite</a:t>
            </a:r>
          </a:p>
          <a:p>
            <a:pPr marL="342900" indent="-342900">
              <a:buSzPct val="110000"/>
              <a:buFont typeface="+mj-lt"/>
              <a:buAutoNum type="arabicPeriod"/>
            </a:pPr>
            <a:r>
              <a:rPr lang="fr-FR" sz="1600" dirty="0"/>
              <a:t>Python</a:t>
            </a:r>
          </a:p>
          <a:p>
            <a:pPr marL="800100" lvl="1" indent="-342900">
              <a:buSzPct val="110000"/>
              <a:buFont typeface="+mj-lt"/>
              <a:buAutoNum type="arabicPeriod"/>
            </a:pPr>
            <a:r>
              <a:rPr lang="fr-FR" sz="1600" dirty="0"/>
              <a:t>Réponse fréquentielle, Diagramme de Bode</a:t>
            </a:r>
          </a:p>
          <a:p>
            <a:pPr marL="800100" lvl="1" indent="-342900">
              <a:buSzPct val="110000"/>
              <a:buFont typeface="+mj-lt"/>
              <a:buAutoNum type="arabicPeriod"/>
            </a:pPr>
            <a:r>
              <a:rPr lang="fr-FR" sz="1600" dirty="0"/>
              <a:t>Modèle Théorique</a:t>
            </a:r>
          </a:p>
          <a:p>
            <a:pPr marL="1257300" lvl="2" indent="-342900">
              <a:buSzPct val="110000"/>
              <a:buFont typeface="+mj-lt"/>
              <a:buAutoNum type="arabicPeriod"/>
            </a:pPr>
            <a:r>
              <a:rPr lang="fr-FR" sz="1600" dirty="0"/>
              <a:t>Initialisation</a:t>
            </a:r>
          </a:p>
          <a:p>
            <a:pPr marL="1257300" lvl="2" indent="-342900">
              <a:buSzPct val="110000"/>
              <a:buFont typeface="+mj-lt"/>
              <a:buAutoNum type="arabicPeriod"/>
            </a:pPr>
            <a:r>
              <a:rPr lang="fr-FR" sz="1600" dirty="0"/>
              <a:t>Fonctions</a:t>
            </a:r>
          </a:p>
          <a:p>
            <a:pPr marL="1257300" lvl="2" indent="-342900">
              <a:buSzPct val="110000"/>
              <a:buFont typeface="+mj-lt"/>
              <a:buAutoNum type="arabicPeriod"/>
            </a:pPr>
            <a:r>
              <a:rPr lang="fr-FR" sz="1600" dirty="0"/>
              <a:t>Appel des fonctions</a:t>
            </a:r>
          </a:p>
          <a:p>
            <a:pPr marL="1257300" lvl="2" indent="-342900">
              <a:buSzPct val="110000"/>
              <a:buFont typeface="+mj-lt"/>
              <a:buAutoNum type="arabicPeriod"/>
            </a:pPr>
            <a:r>
              <a:rPr lang="fr-FR" sz="1600" dirty="0"/>
              <a:t>FFT</a:t>
            </a:r>
          </a:p>
          <a:p>
            <a:pPr marL="1257300" lvl="2" indent="-342900">
              <a:buSzPct val="110000"/>
              <a:buFont typeface="+mj-lt"/>
              <a:buAutoNum type="arabicPeriod"/>
            </a:pPr>
            <a:r>
              <a:rPr lang="fr-FR" sz="1600" dirty="0"/>
              <a:t>Réponse temporelle</a:t>
            </a:r>
          </a:p>
          <a:p>
            <a:pPr marL="342900" indent="-342900">
              <a:buSzPct val="110000"/>
              <a:buFont typeface="+mj-lt"/>
              <a:buAutoNum type="arabicPeriod"/>
            </a:pPr>
            <a:r>
              <a:rPr lang="fr-FR" sz="1600" dirty="0"/>
              <a:t>Expérimentation</a:t>
            </a:r>
          </a:p>
          <a:p>
            <a:pPr marL="800100" lvl="1" indent="-342900">
              <a:buSzPct val="110000"/>
              <a:buFont typeface="+mj-lt"/>
              <a:buAutoNum type="arabicPeriod"/>
            </a:pPr>
            <a:r>
              <a:rPr lang="fr-FR" sz="1600" dirty="0"/>
              <a:t>Dimensionnement</a:t>
            </a:r>
          </a:p>
          <a:p>
            <a:pPr marL="342900" indent="-342900">
              <a:buSzPct val="110000"/>
              <a:buFont typeface="+mj-lt"/>
              <a:buAutoNum type="arabicPeriod"/>
            </a:pPr>
            <a:endParaRPr lang="fr-FR" sz="1600" dirty="0"/>
          </a:p>
          <a:p>
            <a:pPr>
              <a:buSzPct val="110000"/>
            </a:pPr>
            <a:endParaRPr lang="fr-FR" sz="1600" dirty="0"/>
          </a:p>
        </p:txBody>
      </p:sp>
    </p:spTree>
    <p:extLst>
      <p:ext uri="{BB962C8B-B14F-4D97-AF65-F5344CB8AC3E}">
        <p14:creationId xmlns:p14="http://schemas.microsoft.com/office/powerpoint/2010/main" val="408669709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A6FC30-AAA2-E5BB-32E0-683CC058E9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7C011195-2549-BCE2-65E7-95D97701B4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F859C1-8EE1-4062-8A80-955144FCA279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1D27B990-34B8-0612-B00F-135A3864A2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ADCD4202-BEB8-74F4-5148-FD85D148CC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13</a:t>
            </a:fld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16465F9-2328-58C8-82DC-3D4C33494CAC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F6118C6D-1578-28CB-51EF-9F9921702B38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F27CD10-7EEF-021B-45BD-839A366C0544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1 : Sources &amp; Bibliographie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B2768E8-3415-4446-BB84-549A102258DE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4FE077D-2C94-B4B1-D675-115CAB645DBB}"/>
              </a:ext>
            </a:extLst>
          </p:cNvPr>
          <p:cNvSpPr txBox="1"/>
          <p:nvPr/>
        </p:nvSpPr>
        <p:spPr>
          <a:xfrm>
            <a:off x="345439" y="1254482"/>
            <a:ext cx="8491113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b="1" dirty="0"/>
              <a:t>[1]</a:t>
            </a:r>
            <a:r>
              <a:rPr lang="fr-FR" sz="1200" dirty="0"/>
              <a:t> Matthew Hill. “The hidden history of the electric guitar.” Benoît Navarret, Marc Battier, Philippe Bruguière, Philippe Gonin. ‘’Quand la guitare [s’]électrise!’’, Sorbonne Université Presses, pp.33-61, 2022.</a:t>
            </a:r>
          </a:p>
          <a:p>
            <a:endParaRPr lang="fr-FR" sz="1200" b="1" dirty="0"/>
          </a:p>
          <a:p>
            <a:r>
              <a:rPr lang="fr-FR" sz="1200" b="1" dirty="0"/>
              <a:t>[2]</a:t>
            </a:r>
            <a:r>
              <a:rPr lang="fr-FR" sz="1200" dirty="0"/>
              <a:t> Rickenbacker, “Rickenbacker Legacy”, Rickenbacker, </a:t>
            </a:r>
            <a:br>
              <a:rPr lang="fr-FR" sz="1200" dirty="0"/>
            </a:br>
            <a:r>
              <a:rPr lang="fr-FR" sz="1200" dirty="0"/>
              <a:t>[En ligne]. Disponible sur : https://www.rickenbacker.com/legacy/ </a:t>
            </a:r>
          </a:p>
          <a:p>
            <a:endParaRPr lang="fr-FR" sz="1200" b="1" dirty="0"/>
          </a:p>
          <a:p>
            <a:r>
              <a:rPr lang="fr-FR" sz="1200" b="1" dirty="0"/>
              <a:t>[3]</a:t>
            </a:r>
            <a:r>
              <a:rPr lang="fr-FR" sz="1200" dirty="0"/>
              <a:t> S. W. Duncan, "Interview </a:t>
            </a:r>
            <a:r>
              <a:rPr lang="fr-FR" sz="1200" dirty="0" err="1"/>
              <a:t>With</a:t>
            </a:r>
            <a:r>
              <a:rPr lang="fr-FR" sz="1200" dirty="0"/>
              <a:t> Seth Lover," Seymour Duncan, </a:t>
            </a:r>
            <a:br>
              <a:rPr lang="fr-FR" sz="1200" dirty="0"/>
            </a:br>
            <a:r>
              <a:rPr lang="fr-FR" sz="1200" dirty="0"/>
              <a:t>[En ligne]. Disponible sur : https://www.seymourduncan.com/blog/latest-updates/seymour-w-duncans-interview-with-seth-lover</a:t>
            </a:r>
          </a:p>
          <a:p>
            <a:endParaRPr lang="fr-FR" sz="1200" b="1" dirty="0"/>
          </a:p>
          <a:p>
            <a:r>
              <a:rPr lang="fr-FR" sz="1200" b="1" dirty="0"/>
              <a:t>[4]</a:t>
            </a:r>
            <a:r>
              <a:rPr lang="fr-FR" sz="1200" dirty="0"/>
              <a:t> Larry, ‘’How to </a:t>
            </a:r>
            <a:r>
              <a:rPr lang="fr-FR" sz="1200" dirty="0" err="1"/>
              <a:t>prevent</a:t>
            </a:r>
            <a:r>
              <a:rPr lang="fr-FR" sz="1200" dirty="0"/>
              <a:t> </a:t>
            </a:r>
            <a:r>
              <a:rPr lang="fr-FR" sz="1200" dirty="0" err="1"/>
              <a:t>humming</a:t>
            </a:r>
            <a:r>
              <a:rPr lang="fr-FR" sz="1200" dirty="0"/>
              <a:t> and noise in a guitar </a:t>
            </a:r>
            <a:r>
              <a:rPr lang="fr-FR" sz="1200" dirty="0" err="1"/>
              <a:t>amp</a:t>
            </a:r>
            <a:r>
              <a:rPr lang="fr-FR" sz="1200" dirty="0"/>
              <a:t>’’, Thomann, </a:t>
            </a:r>
            <a:br>
              <a:rPr lang="fr-FR" sz="1200" dirty="0"/>
            </a:br>
            <a:r>
              <a:rPr lang="fr-FR" sz="1200" dirty="0"/>
              <a:t>[En ligne]. Disponible sur : https://www.thomann.de/blog/en/learn/how-to-prevent-humming-and-noise-in-a-guitar-amp/</a:t>
            </a:r>
          </a:p>
          <a:p>
            <a:endParaRPr lang="en-GB" sz="1200" b="1" dirty="0"/>
          </a:p>
          <a:p>
            <a:r>
              <a:rPr lang="en-GB" sz="1200" b="1" dirty="0"/>
              <a:t>[5]</a:t>
            </a:r>
            <a:r>
              <a:rPr lang="en-GB" sz="1200" dirty="0"/>
              <a:t> Dan Carson. ‘’ Investigation of the Electromagnetic Properties of Electric Guitar Pickups”. University of Illinois at Urbana-Champaign. USA. 2009</a:t>
            </a:r>
            <a:endParaRPr lang="fr-FR" sz="1200" dirty="0"/>
          </a:p>
          <a:p>
            <a:endParaRPr lang="en-GB" sz="1200" b="1" dirty="0"/>
          </a:p>
          <a:p>
            <a:r>
              <a:rPr lang="en-GB" sz="1200" b="1" dirty="0"/>
              <a:t>[6] </a:t>
            </a:r>
            <a:r>
              <a:rPr lang="en-GB" sz="1200" dirty="0"/>
              <a:t>P. Perov, W. Johnson, and N. Perova-Mello, "The physics of guitar string vibrations," </a:t>
            </a:r>
            <a:r>
              <a:rPr lang="en-GB" sz="1200" i="1" dirty="0"/>
              <a:t>American Journal of Physics</a:t>
            </a:r>
            <a:r>
              <a:rPr lang="en-GB" sz="1200" dirty="0"/>
              <a:t>, vol. 84, no. 1, pp. 38–43, Jan. 2016.</a:t>
            </a:r>
            <a:endParaRPr lang="fr-FR" sz="1200" dirty="0"/>
          </a:p>
        </p:txBody>
      </p:sp>
    </p:spTree>
    <p:extLst>
      <p:ext uri="{BB962C8B-B14F-4D97-AF65-F5344CB8AC3E}">
        <p14:creationId xmlns:p14="http://schemas.microsoft.com/office/powerpoint/2010/main" val="363090163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33E6D5-1701-3BEE-B0A5-E256A3A64A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29093611-3561-6AFC-8B29-235BE2B591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F859C1-8EE1-4062-8A80-955144FCA279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70E37560-868B-C35D-2C79-FD3A41EA03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81EE7CF6-6544-6E25-5056-82E2102279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14</a:t>
            </a:fld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63023A3-599A-FB7A-D703-1D211D7CCED0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6650CE6B-EA61-AA9D-5CD4-B098290A02BC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5FE578E-E842-899B-459C-15B4BA0F22E9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2 : Remerciements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599E44F-1F36-18D2-50B8-92E3C5465C7A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2AD91B2-998A-B850-BFB6-9B10EF3C3C36}"/>
              </a:ext>
            </a:extLst>
          </p:cNvPr>
          <p:cNvSpPr txBox="1"/>
          <p:nvPr/>
        </p:nvSpPr>
        <p:spPr>
          <a:xfrm>
            <a:off x="345440" y="1390254"/>
            <a:ext cx="847211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1200" b="1" dirty="0"/>
              <a:t>Art Music Store</a:t>
            </a:r>
            <a:r>
              <a:rPr lang="fr-FR" sz="1200" dirty="0"/>
              <a:t>,</a:t>
            </a:r>
            <a:r>
              <a:rPr lang="fr-FR" sz="1200" b="1" dirty="0"/>
              <a:t> </a:t>
            </a:r>
            <a:r>
              <a:rPr lang="fr-FR" sz="1200" dirty="0"/>
              <a:t>3800, Grenoble, Place Victor Hugo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1200" b="1" dirty="0"/>
              <a:t>Menuiserie Paradis</a:t>
            </a:r>
            <a:r>
              <a:rPr lang="fr-FR" sz="1200" dirty="0"/>
              <a:t>, 38590, Brézins, Rue des Caillères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fr-FR" sz="1200" dirty="0"/>
          </a:p>
        </p:txBody>
      </p:sp>
    </p:spTree>
    <p:extLst>
      <p:ext uri="{BB962C8B-B14F-4D97-AF65-F5344CB8AC3E}">
        <p14:creationId xmlns:p14="http://schemas.microsoft.com/office/powerpoint/2010/main" val="219024037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B7EEA9-F7B8-9D5F-AC77-42444A77EC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10697540-CBC1-7307-57A5-D4FD6B78E0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F859C1-8EE1-4062-8A80-955144FCA279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12AD455C-4E0F-8C44-FB73-C500A0B30A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CCE99780-CA7B-47C1-ABE2-119498B515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15</a:t>
            </a:fld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C3A568D-A22D-99BA-EE74-88DC5BA37997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F5695410-0F63-6315-9F97-C9017F7BE1F2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944EA3F-0ED5-07EF-A5BD-494C702F369B}"/>
              </a:ext>
            </a:extLst>
          </p:cNvPr>
          <p:cNvSpPr txBox="1"/>
          <p:nvPr/>
        </p:nvSpPr>
        <p:spPr>
          <a:xfrm>
            <a:off x="345440" y="721360"/>
            <a:ext cx="6827520" cy="369332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b="1" dirty="0"/>
              <a:t>3 : Loi d’induction de Faraday 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CCF56A8-C29C-5426-89FC-284E560D8A86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40E1D4B-FF0A-ADB0-43F0-458577E9DE7F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29029F39-5C02-3985-AF5F-A28D263A7881}"/>
              </a:ext>
            </a:extLst>
          </p:cNvPr>
          <p:cNvGrpSpPr/>
          <p:nvPr/>
        </p:nvGrpSpPr>
        <p:grpSpPr>
          <a:xfrm rot="10800000">
            <a:off x="-736802" y="1802750"/>
            <a:ext cx="4973727" cy="2925771"/>
            <a:chOff x="4696904" y="1390254"/>
            <a:chExt cx="4973727" cy="2925771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D3A4741D-B170-2F09-583D-545C54E14DE0}"/>
                </a:ext>
              </a:extLst>
            </p:cNvPr>
            <p:cNvGrpSpPr/>
            <p:nvPr/>
          </p:nvGrpSpPr>
          <p:grpSpPr>
            <a:xfrm>
              <a:off x="5907188" y="1390254"/>
              <a:ext cx="2527760" cy="2925771"/>
              <a:chOff x="5907188" y="1390254"/>
              <a:chExt cx="2527760" cy="2925771"/>
            </a:xfrm>
          </p:grpSpPr>
          <p:grpSp>
            <p:nvGrpSpPr>
              <p:cNvPr id="26" name="Group 25">
                <a:extLst>
                  <a:ext uri="{FF2B5EF4-FFF2-40B4-BE49-F238E27FC236}">
                    <a16:creationId xmlns:a16="http://schemas.microsoft.com/office/drawing/2014/main" id="{821CFDF9-4291-8D12-74B3-B173DE76F8DE}"/>
                  </a:ext>
                </a:extLst>
              </p:cNvPr>
              <p:cNvGrpSpPr/>
              <p:nvPr/>
            </p:nvGrpSpPr>
            <p:grpSpPr>
              <a:xfrm rot="16200000">
                <a:off x="6409476" y="1925906"/>
                <a:ext cx="1526968" cy="455664"/>
                <a:chOff x="1549400" y="1947332"/>
                <a:chExt cx="2430478" cy="455664"/>
              </a:xfrm>
            </p:grpSpPr>
            <p:sp>
              <p:nvSpPr>
                <p:cNvPr id="42" name="Rectangle 41">
                  <a:extLst>
                    <a:ext uri="{FF2B5EF4-FFF2-40B4-BE49-F238E27FC236}">
                      <a16:creationId xmlns:a16="http://schemas.microsoft.com/office/drawing/2014/main" id="{1109894D-0C13-D7BC-0A38-126F9177B79E}"/>
                    </a:ext>
                  </a:extLst>
                </p:cNvPr>
                <p:cNvSpPr/>
                <p:nvPr/>
              </p:nvSpPr>
              <p:spPr>
                <a:xfrm>
                  <a:off x="1549400" y="1947333"/>
                  <a:ext cx="1215239" cy="455663"/>
                </a:xfrm>
                <a:prstGeom prst="rect">
                  <a:avLst/>
                </a:prstGeom>
                <a:solidFill>
                  <a:srgbClr val="C00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dirty="0"/>
                    <a:t>N</a:t>
                  </a:r>
                </a:p>
              </p:txBody>
            </p:sp>
            <p:sp>
              <p:nvSpPr>
                <p:cNvPr id="43" name="Rectangle 42">
                  <a:extLst>
                    <a:ext uri="{FF2B5EF4-FFF2-40B4-BE49-F238E27FC236}">
                      <a16:creationId xmlns:a16="http://schemas.microsoft.com/office/drawing/2014/main" id="{CA38F9B1-D91D-1218-899D-63801034424A}"/>
                    </a:ext>
                  </a:extLst>
                </p:cNvPr>
                <p:cNvSpPr/>
                <p:nvPr/>
              </p:nvSpPr>
              <p:spPr>
                <a:xfrm>
                  <a:off x="2764639" y="1947332"/>
                  <a:ext cx="1215239" cy="455663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dirty="0"/>
                    <a:t>S</a:t>
                  </a:r>
                </a:p>
              </p:txBody>
            </p:sp>
          </p:grpSp>
          <p:sp>
            <p:nvSpPr>
              <p:cNvPr id="27" name="Oval 26">
                <a:extLst>
                  <a:ext uri="{FF2B5EF4-FFF2-40B4-BE49-F238E27FC236}">
                    <a16:creationId xmlns:a16="http://schemas.microsoft.com/office/drawing/2014/main" id="{FEFA7991-B1FD-4D9F-E2A8-E8EE349CA2DE}"/>
                  </a:ext>
                </a:extLst>
              </p:cNvPr>
              <p:cNvSpPr/>
              <p:nvPr/>
            </p:nvSpPr>
            <p:spPr>
              <a:xfrm>
                <a:off x="5991859" y="3157260"/>
                <a:ext cx="2362200" cy="524933"/>
              </a:xfrm>
              <a:prstGeom prst="ellipse">
                <a:avLst/>
              </a:prstGeom>
              <a:solidFill>
                <a:schemeClr val="bg1"/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28" name="Arc 27">
                <a:extLst>
                  <a:ext uri="{FF2B5EF4-FFF2-40B4-BE49-F238E27FC236}">
                    <a16:creationId xmlns:a16="http://schemas.microsoft.com/office/drawing/2014/main" id="{F4AE618D-44F2-E55D-1043-667FB8FBF8FA}"/>
                  </a:ext>
                </a:extLst>
              </p:cNvPr>
              <p:cNvSpPr/>
              <p:nvPr/>
            </p:nvSpPr>
            <p:spPr>
              <a:xfrm rot="5400000">
                <a:off x="5166741" y="2301751"/>
                <a:ext cx="2672806" cy="1191911"/>
              </a:xfrm>
              <a:prstGeom prst="arc">
                <a:avLst>
                  <a:gd name="adj1" fmla="val 16315962"/>
                  <a:gd name="adj2" fmla="val 21273773"/>
                </a:avLst>
              </a:prstGeom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29" name="Arc 28">
                <a:extLst>
                  <a:ext uri="{FF2B5EF4-FFF2-40B4-BE49-F238E27FC236}">
                    <a16:creationId xmlns:a16="http://schemas.microsoft.com/office/drawing/2014/main" id="{9572B0B0-2176-7203-972E-1EA06FB2A7CD}"/>
                  </a:ext>
                </a:extLst>
              </p:cNvPr>
              <p:cNvSpPr/>
              <p:nvPr/>
            </p:nvSpPr>
            <p:spPr>
              <a:xfrm rot="5400000" flipV="1">
                <a:off x="6501124" y="2298382"/>
                <a:ext cx="2675737" cy="1191910"/>
              </a:xfrm>
              <a:prstGeom prst="arc">
                <a:avLst>
                  <a:gd name="adj1" fmla="val 16315962"/>
                  <a:gd name="adj2" fmla="val 21273773"/>
                </a:avLst>
              </a:prstGeom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FDDF69DD-1E42-2112-9BF5-84E28D6B5F92}"/>
                  </a:ext>
                </a:extLst>
              </p:cNvPr>
              <p:cNvCxnSpPr>
                <a:cxnSpLocks/>
                <a:stCxn id="42" idx="1"/>
              </p:cNvCxnSpPr>
              <p:nvPr/>
            </p:nvCxnSpPr>
            <p:spPr>
              <a:xfrm rot="10800000" flipH="1" flipV="1">
                <a:off x="7172960" y="2917222"/>
                <a:ext cx="19314" cy="1398803"/>
              </a:xfrm>
              <a:prstGeom prst="line">
                <a:avLst/>
              </a:prstGeom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31" name="Straight Connector 30">
                <a:extLst>
                  <a:ext uri="{FF2B5EF4-FFF2-40B4-BE49-F238E27FC236}">
                    <a16:creationId xmlns:a16="http://schemas.microsoft.com/office/drawing/2014/main" id="{17205DBE-459C-B395-3584-9F4722AB65C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126281" y="3485290"/>
                <a:ext cx="55137" cy="59410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32" name="Straight Connector 31">
                <a:extLst>
                  <a:ext uri="{FF2B5EF4-FFF2-40B4-BE49-F238E27FC236}">
                    <a16:creationId xmlns:a16="http://schemas.microsoft.com/office/drawing/2014/main" id="{E82847AF-498C-DF5E-BDE4-017FDB6B1D11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178365" y="3475292"/>
                <a:ext cx="53817" cy="69408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33" name="Straight Connector 32">
                <a:extLst>
                  <a:ext uri="{FF2B5EF4-FFF2-40B4-BE49-F238E27FC236}">
                    <a16:creationId xmlns:a16="http://schemas.microsoft.com/office/drawing/2014/main" id="{E5F6D1BD-9F89-FCC2-B040-CD22C7FB6A1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982350" y="3419726"/>
                <a:ext cx="55137" cy="59410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34" name="Straight Connector 33">
                <a:extLst>
                  <a:ext uri="{FF2B5EF4-FFF2-40B4-BE49-F238E27FC236}">
                    <a16:creationId xmlns:a16="http://schemas.microsoft.com/office/drawing/2014/main" id="{E150BE16-5E9F-407A-16A7-6130EBF540C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037753" y="3414727"/>
                <a:ext cx="53817" cy="69408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35" name="Straight Connector 34">
                <a:extLst>
                  <a:ext uri="{FF2B5EF4-FFF2-40B4-BE49-F238E27FC236}">
                    <a16:creationId xmlns:a16="http://schemas.microsoft.com/office/drawing/2014/main" id="{1CA8DA61-3CB2-1EF9-0F7D-89B45934CB9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306598" y="3414727"/>
                <a:ext cx="53817" cy="69408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36" name="Straight Connector 35">
                <a:extLst>
                  <a:ext uri="{FF2B5EF4-FFF2-40B4-BE49-F238E27FC236}">
                    <a16:creationId xmlns:a16="http://schemas.microsoft.com/office/drawing/2014/main" id="{BB967B8D-E992-37D1-73EF-496B4779BDF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427808" y="3354064"/>
                <a:ext cx="53817" cy="69408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37" name="Straight Connector 36">
                <a:extLst>
                  <a:ext uri="{FF2B5EF4-FFF2-40B4-BE49-F238E27FC236}">
                    <a16:creationId xmlns:a16="http://schemas.microsoft.com/office/drawing/2014/main" id="{E3B2475F-F2A5-6B66-44F9-7385BA187E37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920913" y="3365322"/>
                <a:ext cx="53817" cy="69408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38" name="Straight Connector 37">
                <a:extLst>
                  <a:ext uri="{FF2B5EF4-FFF2-40B4-BE49-F238E27FC236}">
                    <a16:creationId xmlns:a16="http://schemas.microsoft.com/office/drawing/2014/main" id="{863F86B7-F05C-00CA-4D2F-CC9B3737F5F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871355" y="3375320"/>
                <a:ext cx="55137" cy="59410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39" name="Straight Connector 38">
                <a:extLst>
                  <a:ext uri="{FF2B5EF4-FFF2-40B4-BE49-F238E27FC236}">
                    <a16:creationId xmlns:a16="http://schemas.microsoft.com/office/drawing/2014/main" id="{C4675CC6-5BA0-23F3-5EA6-AB7ADCC4033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257773" y="3431062"/>
                <a:ext cx="55137" cy="59410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40" name="Straight Connector 39">
                <a:extLst>
                  <a:ext uri="{FF2B5EF4-FFF2-40B4-BE49-F238E27FC236}">
                    <a16:creationId xmlns:a16="http://schemas.microsoft.com/office/drawing/2014/main" id="{8D39CC67-64C7-AF1A-9F7A-208E6F904B8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374797" y="3378283"/>
                <a:ext cx="55137" cy="59410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1" name="TextBox 40">
                    <a:extLst>
                      <a:ext uri="{FF2B5EF4-FFF2-40B4-BE49-F238E27FC236}">
                        <a16:creationId xmlns:a16="http://schemas.microsoft.com/office/drawing/2014/main" id="{C9386F2B-937C-216F-8A7D-DB7A20EB35C8}"/>
                      </a:ext>
                    </a:extLst>
                  </p:cNvPr>
                  <p:cNvSpPr txBox="1"/>
                  <p:nvPr/>
                </p:nvSpPr>
                <p:spPr>
                  <a:xfrm rot="10800000">
                    <a:off x="8025141" y="3698653"/>
                    <a:ext cx="222625" cy="310598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acc>
                            <m:accPr>
                              <m:chr m:val="⃗"/>
                              <m:ctrlPr>
                                <a:rPr lang="fr-FR" i="1" smtClean="0">
                                  <a:solidFill>
                                    <a:schemeClr val="accent5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fr-FR" i="0" smtClean="0">
                                  <a:solidFill>
                                    <a:schemeClr val="accent5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</m:acc>
                        </m:oMath>
                      </m:oMathPara>
                    </a14:m>
                    <a:endParaRPr lang="fr-FR" b="0" dirty="0">
                      <a:solidFill>
                        <a:schemeClr val="accent5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027" name="TextBox 1026">
                    <a:extLst>
                      <a:ext uri="{FF2B5EF4-FFF2-40B4-BE49-F238E27FC236}">
                        <a16:creationId xmlns:a16="http://schemas.microsoft.com/office/drawing/2014/main" id="{38FD531E-F5DC-BB2B-7744-9747DCF9AB9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rot="10800000">
                    <a:off x="8025141" y="3698653"/>
                    <a:ext cx="222625" cy="310598"/>
                  </a:xfrm>
                  <a:prstGeom prst="rect">
                    <a:avLst/>
                  </a:prstGeom>
                  <a:blipFill>
                    <a:blip r:embed="rId2"/>
                    <a:stretch>
                      <a:fillRect l="-25000" r="-19444" b="-9804"/>
                    </a:stretch>
                  </a:blipFill>
                </p:spPr>
                <p:txBody>
                  <a:bodyPr/>
                  <a:lstStyle/>
                  <a:p>
                    <a:r>
                      <a:rPr lang="fr-F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24" name="Arc 23">
              <a:extLst>
                <a:ext uri="{FF2B5EF4-FFF2-40B4-BE49-F238E27FC236}">
                  <a16:creationId xmlns:a16="http://schemas.microsoft.com/office/drawing/2014/main" id="{5D0BAF00-F5A2-ADBD-073E-C00978D6471C}"/>
                </a:ext>
              </a:extLst>
            </p:cNvPr>
            <p:cNvSpPr/>
            <p:nvPr/>
          </p:nvSpPr>
          <p:spPr>
            <a:xfrm rot="5400000">
              <a:off x="4612238" y="1705432"/>
              <a:ext cx="2509909" cy="2340577"/>
            </a:xfrm>
            <a:prstGeom prst="arc">
              <a:avLst>
                <a:gd name="adj1" fmla="val 16315962"/>
                <a:gd name="adj2" fmla="val 21273773"/>
              </a:avLst>
            </a:prstGeom>
          </p:spPr>
          <p:style>
            <a:lnRef idx="2">
              <a:schemeClr val="accent5"/>
            </a:lnRef>
            <a:fillRef idx="0">
              <a:schemeClr val="accent5"/>
            </a:fillRef>
            <a:effectRef idx="1">
              <a:schemeClr val="accent5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5" name="Arc 24">
              <a:extLst>
                <a:ext uri="{FF2B5EF4-FFF2-40B4-BE49-F238E27FC236}">
                  <a16:creationId xmlns:a16="http://schemas.microsoft.com/office/drawing/2014/main" id="{29A901C5-9433-402F-B6E7-920E3568775F}"/>
                </a:ext>
              </a:extLst>
            </p:cNvPr>
            <p:cNvSpPr/>
            <p:nvPr/>
          </p:nvSpPr>
          <p:spPr>
            <a:xfrm rot="5400000" flipV="1">
              <a:off x="7234576" y="1694620"/>
              <a:ext cx="2509909" cy="2362201"/>
            </a:xfrm>
            <a:prstGeom prst="arc">
              <a:avLst>
                <a:gd name="adj1" fmla="val 16315962"/>
                <a:gd name="adj2" fmla="val 21273773"/>
              </a:avLst>
            </a:prstGeom>
          </p:spPr>
          <p:style>
            <a:lnRef idx="2">
              <a:schemeClr val="accent5"/>
            </a:lnRef>
            <a:fillRef idx="0">
              <a:schemeClr val="accent5"/>
            </a:fillRef>
            <a:effectRef idx="1">
              <a:schemeClr val="accent5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E6809D01-A231-5948-E676-FC31A5CC2883}"/>
                  </a:ext>
                </a:extLst>
              </p:cNvPr>
              <p:cNvSpPr txBox="1"/>
              <p:nvPr/>
            </p:nvSpPr>
            <p:spPr>
              <a:xfrm>
                <a:off x="6802056" y="4611352"/>
                <a:ext cx="1329690" cy="525913"/>
              </a:xfrm>
              <a:prstGeom prst="rect">
                <a:avLst/>
              </a:prstGeom>
              <a:noFill/>
              <a:ln w="19050">
                <a:solidFill>
                  <a:srgbClr val="C0000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r>
                        <a:rPr lang="fr-FR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</m:t>
                      </m:r>
                      <m:f>
                        <m:fPr>
                          <m:ctrlP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num>
                        <m:den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</m:oMath>
                  </m:oMathPara>
                </a14:m>
                <a:endParaRPr lang="fr-FR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E6809D01-A231-5948-E676-FC31A5CC28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02056" y="4611352"/>
                <a:ext cx="1329690" cy="52591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19050"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5" name="Group 44">
            <a:extLst>
              <a:ext uri="{FF2B5EF4-FFF2-40B4-BE49-F238E27FC236}">
                <a16:creationId xmlns:a16="http://schemas.microsoft.com/office/drawing/2014/main" id="{E6379458-06A2-8BE6-84DA-CDDF9B5A55A1}"/>
              </a:ext>
            </a:extLst>
          </p:cNvPr>
          <p:cNvGrpSpPr/>
          <p:nvPr/>
        </p:nvGrpSpPr>
        <p:grpSpPr>
          <a:xfrm rot="10800000">
            <a:off x="2222427" y="1802749"/>
            <a:ext cx="4744887" cy="2939324"/>
            <a:chOff x="4696904" y="1390254"/>
            <a:chExt cx="4973727" cy="3336602"/>
          </a:xfrm>
        </p:grpSpPr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466DA6C7-65F1-7B57-BA30-F55D1109FDA7}"/>
                </a:ext>
              </a:extLst>
            </p:cNvPr>
            <p:cNvGrpSpPr/>
            <p:nvPr/>
          </p:nvGrpSpPr>
          <p:grpSpPr>
            <a:xfrm>
              <a:off x="5837879" y="1390254"/>
              <a:ext cx="2597068" cy="3336602"/>
              <a:chOff x="5837879" y="1390254"/>
              <a:chExt cx="2597068" cy="3336602"/>
            </a:xfrm>
          </p:grpSpPr>
          <p:grpSp>
            <p:nvGrpSpPr>
              <p:cNvPr id="49" name="Group 48">
                <a:extLst>
                  <a:ext uri="{FF2B5EF4-FFF2-40B4-BE49-F238E27FC236}">
                    <a16:creationId xmlns:a16="http://schemas.microsoft.com/office/drawing/2014/main" id="{C5A41D1F-96FD-ABAF-2D61-59961D5F60C8}"/>
                  </a:ext>
                </a:extLst>
              </p:cNvPr>
              <p:cNvGrpSpPr/>
              <p:nvPr/>
            </p:nvGrpSpPr>
            <p:grpSpPr>
              <a:xfrm rot="16200000">
                <a:off x="6409476" y="1925906"/>
                <a:ext cx="1526968" cy="455664"/>
                <a:chOff x="1549400" y="1947332"/>
                <a:chExt cx="2430478" cy="455664"/>
              </a:xfrm>
            </p:grpSpPr>
            <p:sp>
              <p:nvSpPr>
                <p:cNvPr id="68" name="Rectangle 67">
                  <a:extLst>
                    <a:ext uri="{FF2B5EF4-FFF2-40B4-BE49-F238E27FC236}">
                      <a16:creationId xmlns:a16="http://schemas.microsoft.com/office/drawing/2014/main" id="{A4AB24D2-E5CC-651D-CBD4-6E4E03DBFC19}"/>
                    </a:ext>
                  </a:extLst>
                </p:cNvPr>
                <p:cNvSpPr/>
                <p:nvPr/>
              </p:nvSpPr>
              <p:spPr>
                <a:xfrm>
                  <a:off x="1549400" y="1947333"/>
                  <a:ext cx="1215239" cy="455663"/>
                </a:xfrm>
                <a:prstGeom prst="rect">
                  <a:avLst/>
                </a:prstGeom>
                <a:solidFill>
                  <a:srgbClr val="C00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dirty="0"/>
                    <a:t>N</a:t>
                  </a:r>
                </a:p>
              </p:txBody>
            </p:sp>
            <p:sp>
              <p:nvSpPr>
                <p:cNvPr id="69" name="Rectangle 68">
                  <a:extLst>
                    <a:ext uri="{FF2B5EF4-FFF2-40B4-BE49-F238E27FC236}">
                      <a16:creationId xmlns:a16="http://schemas.microsoft.com/office/drawing/2014/main" id="{402E2B5F-45EC-5E56-4C43-1E1AD9649537}"/>
                    </a:ext>
                  </a:extLst>
                </p:cNvPr>
                <p:cNvSpPr/>
                <p:nvPr/>
              </p:nvSpPr>
              <p:spPr>
                <a:xfrm>
                  <a:off x="2764639" y="1947332"/>
                  <a:ext cx="1215239" cy="455663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dirty="0"/>
                    <a:t>S</a:t>
                  </a:r>
                </a:p>
              </p:txBody>
            </p:sp>
          </p:grpSp>
          <p:sp>
            <p:nvSpPr>
              <p:cNvPr id="50" name="Oval 49">
                <a:extLst>
                  <a:ext uri="{FF2B5EF4-FFF2-40B4-BE49-F238E27FC236}">
                    <a16:creationId xmlns:a16="http://schemas.microsoft.com/office/drawing/2014/main" id="{9AB23C8A-12E2-A70F-DA1F-5F7A290E69D8}"/>
                  </a:ext>
                </a:extLst>
              </p:cNvPr>
              <p:cNvSpPr/>
              <p:nvPr/>
            </p:nvSpPr>
            <p:spPr>
              <a:xfrm>
                <a:off x="5974194" y="4064200"/>
                <a:ext cx="2362200" cy="524933"/>
              </a:xfrm>
              <a:prstGeom prst="ellipse">
                <a:avLst/>
              </a:prstGeom>
              <a:solidFill>
                <a:schemeClr val="bg1"/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51" name="Arc 50">
                <a:extLst>
                  <a:ext uri="{FF2B5EF4-FFF2-40B4-BE49-F238E27FC236}">
                    <a16:creationId xmlns:a16="http://schemas.microsoft.com/office/drawing/2014/main" id="{18C1FC13-5AA2-560D-DD00-4E43B2CA7F47}"/>
                  </a:ext>
                </a:extLst>
              </p:cNvPr>
              <p:cNvSpPr/>
              <p:nvPr/>
            </p:nvSpPr>
            <p:spPr>
              <a:xfrm rot="5400000">
                <a:off x="5128641" y="2300660"/>
                <a:ext cx="2749012" cy="1191911"/>
              </a:xfrm>
              <a:prstGeom prst="arc">
                <a:avLst>
                  <a:gd name="adj1" fmla="val 16315962"/>
                  <a:gd name="adj2" fmla="val 21273773"/>
                </a:avLst>
              </a:prstGeom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52" name="Arc 51">
                <a:extLst>
                  <a:ext uri="{FF2B5EF4-FFF2-40B4-BE49-F238E27FC236}">
                    <a16:creationId xmlns:a16="http://schemas.microsoft.com/office/drawing/2014/main" id="{B2322817-EDBD-2DC7-B5B5-7D90D12FBA8A}"/>
                  </a:ext>
                </a:extLst>
              </p:cNvPr>
              <p:cNvSpPr/>
              <p:nvPr/>
            </p:nvSpPr>
            <p:spPr>
              <a:xfrm rot="5400000" flipV="1">
                <a:off x="6480374" y="2301307"/>
                <a:ext cx="2717236" cy="1191910"/>
              </a:xfrm>
              <a:prstGeom prst="arc">
                <a:avLst>
                  <a:gd name="adj1" fmla="val 16315962"/>
                  <a:gd name="adj2" fmla="val 21273773"/>
                </a:avLst>
              </a:prstGeom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cxnSp>
            <p:nvCxnSpPr>
              <p:cNvPr id="53" name="Straight Connector 52">
                <a:extLst>
                  <a:ext uri="{FF2B5EF4-FFF2-40B4-BE49-F238E27FC236}">
                    <a16:creationId xmlns:a16="http://schemas.microsoft.com/office/drawing/2014/main" id="{7D2797B2-7C00-FB64-3F35-4B733C60B4BC}"/>
                  </a:ext>
                </a:extLst>
              </p:cNvPr>
              <p:cNvCxnSpPr>
                <a:cxnSpLocks/>
                <a:stCxn id="68" idx="1"/>
              </p:cNvCxnSpPr>
              <p:nvPr/>
            </p:nvCxnSpPr>
            <p:spPr>
              <a:xfrm rot="10800000" flipH="1" flipV="1">
                <a:off x="7172960" y="2917222"/>
                <a:ext cx="842" cy="1475009"/>
              </a:xfrm>
              <a:prstGeom prst="line">
                <a:avLst/>
              </a:prstGeom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D1967282-0FD1-2B99-0A9F-12EB732A8BA6}"/>
                  </a:ext>
                </a:extLst>
              </p:cNvPr>
              <p:cNvSpPr txBox="1"/>
              <p:nvPr/>
            </p:nvSpPr>
            <p:spPr>
              <a:xfrm rot="10800000">
                <a:off x="5837879" y="4357524"/>
                <a:ext cx="272631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FR" b="1" dirty="0">
                    <a:solidFill>
                      <a:srgbClr val="C00000"/>
                    </a:solidFill>
                  </a:rPr>
                  <a:t>i</a:t>
                </a:r>
              </a:p>
            </p:txBody>
          </p:sp>
          <p:cxnSp>
            <p:nvCxnSpPr>
              <p:cNvPr id="55" name="Straight Connector 54">
                <a:extLst>
                  <a:ext uri="{FF2B5EF4-FFF2-40B4-BE49-F238E27FC236}">
                    <a16:creationId xmlns:a16="http://schemas.microsoft.com/office/drawing/2014/main" id="{A0C68269-9448-F8FA-F1B2-4684A925FF31}"/>
                  </a:ext>
                </a:extLst>
              </p:cNvPr>
              <p:cNvCxnSpPr>
                <a:cxnSpLocks/>
                <a:endCxn id="50" idx="3"/>
              </p:cNvCxnSpPr>
              <p:nvPr/>
            </p:nvCxnSpPr>
            <p:spPr>
              <a:xfrm flipV="1">
                <a:off x="6154535" y="4512258"/>
                <a:ext cx="165595" cy="37229"/>
              </a:xfrm>
              <a:prstGeom prst="line">
                <a:avLst/>
              </a:prstGeom>
              <a:ln w="19050">
                <a:solidFill>
                  <a:srgbClr val="C0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6" name="Straight Connector 55">
                <a:extLst>
                  <a:ext uri="{FF2B5EF4-FFF2-40B4-BE49-F238E27FC236}">
                    <a16:creationId xmlns:a16="http://schemas.microsoft.com/office/drawing/2014/main" id="{ACF4A742-FFB2-EA95-12B9-60EED3BA4CBC}"/>
                  </a:ext>
                </a:extLst>
              </p:cNvPr>
              <p:cNvCxnSpPr>
                <a:cxnSpLocks/>
                <a:stCxn id="50" idx="3"/>
              </p:cNvCxnSpPr>
              <p:nvPr/>
            </p:nvCxnSpPr>
            <p:spPr>
              <a:xfrm flipH="1" flipV="1">
                <a:off x="6256062" y="4392230"/>
                <a:ext cx="64068" cy="120028"/>
              </a:xfrm>
              <a:prstGeom prst="line">
                <a:avLst/>
              </a:prstGeom>
              <a:ln w="19050">
                <a:solidFill>
                  <a:srgbClr val="C0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7" name="Straight Connector 56">
                <a:extLst>
                  <a:ext uri="{FF2B5EF4-FFF2-40B4-BE49-F238E27FC236}">
                    <a16:creationId xmlns:a16="http://schemas.microsoft.com/office/drawing/2014/main" id="{0D6708DB-8DD5-1664-B357-BD630BD0EB0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126281" y="3485290"/>
                <a:ext cx="55137" cy="59410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58" name="Straight Connector 57">
                <a:extLst>
                  <a:ext uri="{FF2B5EF4-FFF2-40B4-BE49-F238E27FC236}">
                    <a16:creationId xmlns:a16="http://schemas.microsoft.com/office/drawing/2014/main" id="{C897620C-1260-B939-E21B-D5059235416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178365" y="3475292"/>
                <a:ext cx="53817" cy="69408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59" name="Straight Connector 58">
                <a:extLst>
                  <a:ext uri="{FF2B5EF4-FFF2-40B4-BE49-F238E27FC236}">
                    <a16:creationId xmlns:a16="http://schemas.microsoft.com/office/drawing/2014/main" id="{72E4FD29-97F3-8025-A398-8E33D4BBBAB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982350" y="3419726"/>
                <a:ext cx="55137" cy="59410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60" name="Straight Connector 59">
                <a:extLst>
                  <a:ext uri="{FF2B5EF4-FFF2-40B4-BE49-F238E27FC236}">
                    <a16:creationId xmlns:a16="http://schemas.microsoft.com/office/drawing/2014/main" id="{EB34D579-0D90-49AF-EB49-36B656F65C9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037753" y="3414727"/>
                <a:ext cx="53817" cy="69408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61" name="Straight Connector 60">
                <a:extLst>
                  <a:ext uri="{FF2B5EF4-FFF2-40B4-BE49-F238E27FC236}">
                    <a16:creationId xmlns:a16="http://schemas.microsoft.com/office/drawing/2014/main" id="{AF05426E-36B0-A234-10C7-460D1B0BA4D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306598" y="3414727"/>
                <a:ext cx="53817" cy="69408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62" name="Straight Connector 61">
                <a:extLst>
                  <a:ext uri="{FF2B5EF4-FFF2-40B4-BE49-F238E27FC236}">
                    <a16:creationId xmlns:a16="http://schemas.microsoft.com/office/drawing/2014/main" id="{B4FAABA4-1527-1FDF-36E6-8CC489C59C9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427808" y="3354064"/>
                <a:ext cx="53817" cy="69408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63" name="Straight Connector 62">
                <a:extLst>
                  <a:ext uri="{FF2B5EF4-FFF2-40B4-BE49-F238E27FC236}">
                    <a16:creationId xmlns:a16="http://schemas.microsoft.com/office/drawing/2014/main" id="{200C5091-6592-C43E-7830-CB28A68888D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920913" y="3365322"/>
                <a:ext cx="53817" cy="69408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64" name="Straight Connector 63">
                <a:extLst>
                  <a:ext uri="{FF2B5EF4-FFF2-40B4-BE49-F238E27FC236}">
                    <a16:creationId xmlns:a16="http://schemas.microsoft.com/office/drawing/2014/main" id="{E2932CA7-7A48-C6E0-39CC-B8239231896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871355" y="3375320"/>
                <a:ext cx="55137" cy="59410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65" name="Straight Connector 64">
                <a:extLst>
                  <a:ext uri="{FF2B5EF4-FFF2-40B4-BE49-F238E27FC236}">
                    <a16:creationId xmlns:a16="http://schemas.microsoft.com/office/drawing/2014/main" id="{97D9F166-CCCC-C2E3-61BC-825383407EB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257773" y="3431062"/>
                <a:ext cx="55137" cy="59410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66" name="Straight Connector 65">
                <a:extLst>
                  <a:ext uri="{FF2B5EF4-FFF2-40B4-BE49-F238E27FC236}">
                    <a16:creationId xmlns:a16="http://schemas.microsoft.com/office/drawing/2014/main" id="{4E4DA187-A8B1-5C37-3CB8-F84175BF780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374797" y="3378283"/>
                <a:ext cx="55137" cy="59410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7" name="TextBox 66">
                    <a:extLst>
                      <a:ext uri="{FF2B5EF4-FFF2-40B4-BE49-F238E27FC236}">
                        <a16:creationId xmlns:a16="http://schemas.microsoft.com/office/drawing/2014/main" id="{F74C7FF2-F223-3375-DFB5-85944DE2C6A7}"/>
                      </a:ext>
                    </a:extLst>
                  </p:cNvPr>
                  <p:cNvSpPr txBox="1"/>
                  <p:nvPr/>
                </p:nvSpPr>
                <p:spPr>
                  <a:xfrm rot="10800000">
                    <a:off x="8025141" y="3698653"/>
                    <a:ext cx="222625" cy="310598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acc>
                            <m:accPr>
                              <m:chr m:val="⃗"/>
                              <m:ctrlPr>
                                <a:rPr lang="fr-FR" i="1" smtClean="0">
                                  <a:solidFill>
                                    <a:schemeClr val="accent5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fr-FR" i="0" smtClean="0">
                                  <a:solidFill>
                                    <a:schemeClr val="accent5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</m:acc>
                        </m:oMath>
                      </m:oMathPara>
                    </a14:m>
                    <a:endParaRPr lang="fr-FR" b="0" dirty="0">
                      <a:solidFill>
                        <a:schemeClr val="accent5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056" name="TextBox 1055">
                    <a:extLst>
                      <a:ext uri="{FF2B5EF4-FFF2-40B4-BE49-F238E27FC236}">
                        <a16:creationId xmlns:a16="http://schemas.microsoft.com/office/drawing/2014/main" id="{F7E63660-0DD0-CEC0-8FAF-7979B946592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rot="10800000">
                    <a:off x="8025141" y="3698653"/>
                    <a:ext cx="222625" cy="310598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l="-25714" r="-22857" b="-24444"/>
                    </a:stretch>
                  </a:blipFill>
                </p:spPr>
                <p:txBody>
                  <a:bodyPr/>
                  <a:lstStyle/>
                  <a:p>
                    <a:r>
                      <a:rPr lang="fr-F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47" name="Arc 46">
              <a:extLst>
                <a:ext uri="{FF2B5EF4-FFF2-40B4-BE49-F238E27FC236}">
                  <a16:creationId xmlns:a16="http://schemas.microsoft.com/office/drawing/2014/main" id="{BC829507-AA5C-C0B3-B29F-46A9EA5EBA49}"/>
                </a:ext>
              </a:extLst>
            </p:cNvPr>
            <p:cNvSpPr/>
            <p:nvPr/>
          </p:nvSpPr>
          <p:spPr>
            <a:xfrm rot="5400000">
              <a:off x="4612238" y="1705432"/>
              <a:ext cx="2509909" cy="2340577"/>
            </a:xfrm>
            <a:prstGeom prst="arc">
              <a:avLst>
                <a:gd name="adj1" fmla="val 16315962"/>
                <a:gd name="adj2" fmla="val 21273773"/>
              </a:avLst>
            </a:prstGeom>
          </p:spPr>
          <p:style>
            <a:lnRef idx="2">
              <a:schemeClr val="accent5"/>
            </a:lnRef>
            <a:fillRef idx="0">
              <a:schemeClr val="accent5"/>
            </a:fillRef>
            <a:effectRef idx="1">
              <a:schemeClr val="accent5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48" name="Arc 47">
              <a:extLst>
                <a:ext uri="{FF2B5EF4-FFF2-40B4-BE49-F238E27FC236}">
                  <a16:creationId xmlns:a16="http://schemas.microsoft.com/office/drawing/2014/main" id="{F6686F3D-53BD-B64B-E53B-5C8C11606DED}"/>
                </a:ext>
              </a:extLst>
            </p:cNvPr>
            <p:cNvSpPr/>
            <p:nvPr/>
          </p:nvSpPr>
          <p:spPr>
            <a:xfrm rot="5400000" flipV="1">
              <a:off x="7234576" y="1694620"/>
              <a:ext cx="2509909" cy="2362201"/>
            </a:xfrm>
            <a:prstGeom prst="arc">
              <a:avLst>
                <a:gd name="adj1" fmla="val 16315962"/>
                <a:gd name="adj2" fmla="val 21273773"/>
              </a:avLst>
            </a:prstGeom>
          </p:spPr>
          <p:style>
            <a:lnRef idx="2">
              <a:schemeClr val="accent5"/>
            </a:lnRef>
            <a:fillRef idx="0">
              <a:schemeClr val="accent5"/>
            </a:fillRef>
            <a:effectRef idx="1">
              <a:schemeClr val="accent5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CEAE1717-2D77-09AF-B9F7-AFBE8B19269C}"/>
              </a:ext>
            </a:extLst>
          </p:cNvPr>
          <p:cNvCxnSpPr/>
          <p:nvPr/>
        </p:nvCxnSpPr>
        <p:spPr>
          <a:xfrm>
            <a:off x="2710866" y="4268850"/>
            <a:ext cx="868960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1" name="TextBox 70">
            <a:extLst>
              <a:ext uri="{FF2B5EF4-FFF2-40B4-BE49-F238E27FC236}">
                <a16:creationId xmlns:a16="http://schemas.microsoft.com/office/drawing/2014/main" id="{6B13798B-711E-BD04-CAB9-6C762668F066}"/>
              </a:ext>
            </a:extLst>
          </p:cNvPr>
          <p:cNvSpPr txBox="1"/>
          <p:nvPr/>
        </p:nvSpPr>
        <p:spPr>
          <a:xfrm>
            <a:off x="6116245" y="1648429"/>
            <a:ext cx="2701312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600" dirty="0"/>
              <a:t>Dans un circuit fermé conducteur, une variation de flux magnétique entraine la formation d’un courant induit</a:t>
            </a:r>
          </a:p>
          <a:p>
            <a:pPr algn="ctr"/>
            <a:endParaRPr lang="fr-FR" sz="1600" dirty="0"/>
          </a:p>
          <a:p>
            <a:pPr algn="ctr"/>
            <a:endParaRPr lang="fr-FR" sz="1600" dirty="0"/>
          </a:p>
          <a:p>
            <a:pPr algn="ctr"/>
            <a:r>
              <a:rPr lang="fr-FR" sz="1600" dirty="0"/>
              <a:t>L’effet de la F.E.M induite est tel qu’il s’oppose à la variation de flux</a:t>
            </a:r>
          </a:p>
        </p:txBody>
      </p:sp>
    </p:spTree>
    <p:extLst>
      <p:ext uri="{BB962C8B-B14F-4D97-AF65-F5344CB8AC3E}">
        <p14:creationId xmlns:p14="http://schemas.microsoft.com/office/powerpoint/2010/main" val="301013653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55F2D0-380E-9F8B-EAB7-F239559D30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410E9A24-B484-295A-C630-F6DE6A33EC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F859C1-8EE1-4062-8A80-955144FCA279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97083A4E-2E4A-99E1-8563-6734096B4F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7A39197A-E1E0-DE57-ABEA-CF1EC73633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16</a:t>
            </a:fld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2889EBA-FB81-9346-F14B-289AA14F6937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822B8513-685B-5D00-3E76-767B4A734F71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7BE10D5-B238-9259-C2A5-819981B66C65}"/>
              </a:ext>
            </a:extLst>
          </p:cNvPr>
          <p:cNvSpPr txBox="1"/>
          <p:nvPr/>
        </p:nvSpPr>
        <p:spPr>
          <a:xfrm>
            <a:off x="345439" y="721360"/>
            <a:ext cx="8063923" cy="369332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b="1" dirty="0"/>
              <a:t>4.1 : Modèle Théorique (Micro Simple) </a:t>
            </a:r>
            <a:r>
              <a:rPr lang="fr-FR" sz="1000" i="1" dirty="0"/>
              <a:t>cf. [1] </a:t>
            </a:r>
            <a:endParaRPr lang="fr-FR" sz="2000" i="1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71D93A8-3068-FD13-67A6-BED55AE652CC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73D16238-4EA7-7517-C0A6-5F60945ECED6}"/>
                  </a:ext>
                </a:extLst>
              </p:cNvPr>
              <p:cNvSpPr txBox="1"/>
              <p:nvPr/>
            </p:nvSpPr>
            <p:spPr>
              <a:xfrm>
                <a:off x="500933" y="1232452"/>
                <a:ext cx="4121884" cy="5094985"/>
              </a:xfrm>
              <a:prstGeom prst="rect">
                <a:avLst/>
              </a:prstGeom>
              <a:noFill/>
            </p:spPr>
            <p:txBody>
              <a:bodyPr wrap="square" numCol="3" rtlCol="0">
                <a:spAutoFit/>
              </a:bodyPr>
              <a:lstStyle/>
              <a:p>
                <a:r>
                  <a:rPr lang="fr-FR" sz="1200" dirty="0"/>
                  <a:t>L’étude de la corde est basée sur l’équation des ondes, où la vitesse de propagation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fr-FR" sz="1200" dirty="0"/>
                  <a:t> est défini par la tension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fr-FR" sz="1200" dirty="0"/>
                  <a:t> et la masse linéique </a:t>
                </a:r>
                <a14:m>
                  <m:oMath xmlns:m="http://schemas.openxmlformats.org/officeDocument/2006/math">
                    <m:r>
                      <a:rPr lang="fr-FR" sz="12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</m:oMath>
                </a14:m>
                <a:endParaRPr lang="fr-FR" sz="1200" dirty="0"/>
              </a:p>
              <a:p>
                <a:pPr algn="ctr"/>
                <a14:m>
                  <m:oMath xmlns:m="http://schemas.openxmlformats.org/officeDocument/2006/math">
                    <m:f>
                      <m:fPr>
                        <m:ctrlPr>
                          <a:rPr lang="fr-FR" sz="12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  <m:r>
                          <a:rPr lang="fr-FR" sz="1200" i="1" smtClean="0">
                            <a:latin typeface="Cambria Math" panose="02040503050406030204" pitchFamily="18" charset="0"/>
                          </a:rPr>
                          <m:t>𝑦</m:t>
                        </m:r>
                      </m:num>
                      <m:den>
                        <m:r>
                          <a:rPr lang="fr-FR" sz="120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</m:den>
                    </m:f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</m:den>
                    </m:f>
                    <m:f>
                      <m:f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num>
                      <m:den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</m:den>
                    </m:f>
                  </m:oMath>
                </a14:m>
                <a:r>
                  <a:rPr lang="fr-FR" sz="1200" dirty="0"/>
                  <a:t>, avec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𝑣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= </m:t>
                    </m:r>
                    <m:rad>
                      <m:radPr>
                        <m:degHide m:val="on"/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/</m:t>
                        </m:r>
                        <m: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</m:rad>
                  </m:oMath>
                </a14:m>
                <a:endParaRPr lang="fr-FR" sz="1200" dirty="0"/>
              </a:p>
              <a:p>
                <a:pPr algn="ctr"/>
                <a:endParaRPr lang="fr-FR" sz="1200" dirty="0"/>
              </a:p>
              <a:p>
                <a:r>
                  <a:rPr lang="fr-FR" sz="1200" dirty="0"/>
                  <a:t>Pour une corde de longueur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r>
                  <a:rPr lang="fr-FR" sz="1200" dirty="0"/>
                  <a:t>, tiré à la position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fr-FR" sz="1200" dirty="0"/>
                  <a:t> d’une distance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fr-FR" sz="1200" dirty="0"/>
                  <a:t> on a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, 0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num>
                                <m:den>
                                  <m:sSub>
                                    <m:sSubPr>
                                      <m:ctrlP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,  0≤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num>
                                <m:den>
                                  <m:sSub>
                                    <m:sSubPr>
                                      <m:ctrlP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den>
                              </m:f>
                              <m:d>
                                <m:d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d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,  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Avec des conditions initiales telle que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, 0</m:t>
                        </m:r>
                      </m:e>
                    </m:d>
                  </m:oMath>
                </a14:m>
                <a:r>
                  <a:rPr lang="fr-FR" sz="1200" dirty="0"/>
                  <a:t> soit la forme initiale de la corde, on a alors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≥1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 b="0" i="0" smtClean="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func>
                          <m:func>
                            <m:func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 b="0" i="0" smtClean="0"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𝑣𝑡</m:t>
                                  </m:r>
                                </m:num>
                                <m:den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func>
                        </m:e>
                      </m:nary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Avec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fr-FR" sz="1200" dirty="0"/>
                  <a:t> l’amplitude de l’harmonique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fr-FR" sz="1200" dirty="0"/>
                  <a:t>-ème et peut être calculer par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den>
                      </m:f>
                      <m:nary>
                        <m:nary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, 0)</m:t>
                          </m:r>
                          <m:func>
                            <m:func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 b="0" i="0" smtClean="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func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𝑑𝑥</m:t>
                          </m:r>
                        </m:e>
                      </m:nary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Ainsi, on a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200" i="1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𝐴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den>
                      </m:f>
                      <m:nary>
                        <m:nary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fr-FR" sz="1200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sup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  <m:func>
                            <m:func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func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𝑑𝑥</m:t>
                          </m:r>
                        </m:e>
                      </m:nary>
                      <m:r>
                        <a:rPr lang="fr-FR" sz="1200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𝐴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nary>
                        <m:nary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brk m:alnAt="23"/>
                                </m:rP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m:rPr>
                                  <m:brk m:alnAt="23"/>
                                </m:rPr>
                                <a:rPr lang="fr-FR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sub>
                        <m:sup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)</m:t>
                          </m:r>
                          <m:func>
                            <m:func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𝑑𝑥</m:t>
                              </m:r>
                            </m:e>
                          </m:func>
                        </m:e>
                      </m:nary>
                    </m:oMath>
                  </m:oMathPara>
                </a14:m>
                <a:endParaRPr lang="fr-FR" sz="12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73D16238-4EA7-7517-C0A6-5F60945ECE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0933" y="1232452"/>
                <a:ext cx="4121884" cy="5094985"/>
              </a:xfrm>
              <a:prstGeom prst="rect">
                <a:avLst/>
              </a:prstGeom>
              <a:blipFill>
                <a:blip r:embed="rId2"/>
                <a:stretch>
                  <a:fillRect t="-120" r="-888" b="-1985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41C732B-CC1E-0649-36C3-A4BA70BB7FD2}"/>
                  </a:ext>
                </a:extLst>
              </p:cNvPr>
              <p:cNvSpPr txBox="1"/>
              <p:nvPr/>
            </p:nvSpPr>
            <p:spPr>
              <a:xfrm>
                <a:off x="4659244" y="1241682"/>
                <a:ext cx="4121885" cy="528458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fr-FR" sz="1200" dirty="0"/>
                  <a:t>D’où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𝐵𝑛</m:t>
                      </m:r>
                      <m:r>
                        <a:rPr lang="fr-FR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func>
                            <m:func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 b="0" i="0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sSub>
                                    <m:sSubPr>
                                      <m:ctrlPr>
                                        <a:rPr lang="fr-FR" sz="12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num>
                                <m:den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</m:num>
                        <m:den>
                          <m:f>
                            <m:f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den>
                          </m:f>
                          <m:d>
                            <m:d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1 −</m:t>
                              </m:r>
                              <m:f>
                                <m:f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fr-FR" sz="12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num>
                                <m:den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d>
                          <m:sSup>
                            <m:sSup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p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²</m:t>
                          </m:r>
                        </m:den>
                      </m:f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La FEM induite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ⅇ</m:t>
                    </m:r>
                    <m:d>
                      <m:dPr>
                        <m:ctrlPr>
                          <a:rPr lang="fr-FR" sz="1200" i="1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fr-FR" sz="1200" dirty="0"/>
                  <a:t> dans la bobine composée de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fr-FR" sz="1200" dirty="0"/>
                  <a:t> spire est régie par la </a:t>
                </a:r>
                <a:r>
                  <a:rPr lang="fr-FR" sz="1200" u="sng" dirty="0"/>
                  <a:t>Loi d’induction de Faraday</a:t>
                </a:r>
                <a:r>
                  <a:rPr lang="fr-FR" sz="1200" dirty="0"/>
                  <a:t>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ⅇ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𝑁</m:t>
                      </m:r>
                      <m:f>
                        <m:f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num>
                        <m:den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En supposant que la variation de flux est principalement due au déplacement de la corde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ⅇ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ⅆ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𝐵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ⅆ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𝑦</m:t>
                          </m:r>
                        </m:den>
                      </m:f>
                      <m:f>
                        <m:f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ⅆ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ⅆ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D’où la relation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[−</m:t>
                              </m:r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  <m:func>
                            <m:funcPr>
                              <m:ctrlP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ad>
                                    <m:radPr>
                                      <m:degHide m:val="on"/>
                                      <m:ctrlP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𝑇</m:t>
                                      </m:r>
                                    </m:e>
                                  </m:rad>
                                </m:num>
                                <m:den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  <m:rad>
                                    <m:radPr>
                                      <m:degHide m:val="on"/>
                                      <m:ctrlP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𝜇</m:t>
                                      </m:r>
                                    </m:e>
                                  </m:rad>
                                </m:den>
                              </m:f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  <m:f>
                                <m:fPr>
                                  <m:ctrlP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ad>
                                    <m:radPr>
                                      <m:degHide m:val="on"/>
                                      <m:ctrlP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𝑇</m:t>
                                      </m:r>
                                    </m:e>
                                  </m:rad>
                                </m:num>
                                <m:den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  <m:rad>
                                    <m:radPr>
                                      <m:degHide m:val="on"/>
                                      <m:ctrlP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𝜇</m:t>
                                      </m:r>
                                    </m:e>
                                  </m:rad>
                                </m:den>
                              </m:f>
                            </m:e>
                          </m:func>
                          <m: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fr-FR" sz="1200" dirty="0">
                  <a:solidFill>
                    <a:schemeClr val="tx1"/>
                  </a:solidFill>
                </a:endParaRPr>
              </a:p>
              <a:p>
                <a:endParaRPr lang="fr-FR" sz="1200" dirty="0"/>
              </a:p>
              <a:p>
                <a:r>
                  <a:rPr lang="fr-FR" sz="1200" dirty="0"/>
                  <a:t>On pose alors :</a:t>
                </a:r>
              </a:p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fr-FR" sz="12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sz="12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num>
                      <m:den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</m:den>
                    </m:f>
                    <m:rad>
                      <m:radPr>
                        <m:degHide m:val="on"/>
                        <m:ctrlPr>
                          <a:rPr lang="fr-FR" sz="12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f>
                          <m:fPr>
                            <m:ctrlPr>
                              <a:rPr lang="fr-FR" sz="120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num>
                          <m:den>
                            <m:r>
                              <a:rPr lang="fr-FR" sz="120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𝜇</m:t>
                            </m:r>
                          </m:den>
                        </m:f>
                      </m:e>
                    </m:rad>
                  </m:oMath>
                </a14:m>
                <a:r>
                  <a:rPr lang="fr-FR" sz="1200" dirty="0"/>
                  <a:t>   et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fr-FR" sz="12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fr-FR" sz="12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a:rPr lang="fr-FR" sz="1200" b="0" i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m:rPr>
                            <m:sty m:val="p"/>
                          </m:rPr>
                          <a:rPr lang="el-G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π</m:t>
                        </m:r>
                        <m:sSub>
                          <m:sSubPr>
                            <m:ctrlP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fr-FR" sz="1200" i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sin</m:t>
                        </m:r>
                      </m:fName>
                      <m:e>
                        <m:d>
                          <m:dPr>
                            <m:ctrlP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𝜋</m:t>
                                </m:r>
                              </m:num>
                              <m:den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𝐿</m:t>
                                </m:r>
                              </m:den>
                            </m:f>
                            <m:sSub>
                              <m:sSubPr>
                                <m:ctrlP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</m:sub>
                            </m:sSub>
                          </m:e>
                        </m:d>
                      </m:e>
                    </m:func>
                  </m:oMath>
                </a14:m>
                <a:endParaRPr lang="fr-FR" sz="1200" dirty="0"/>
              </a:p>
              <a:p>
                <a:r>
                  <a:rPr lang="fr-FR" sz="1200" dirty="0"/>
                  <a:t>Ainsi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) </m:t>
                              </m:r>
                            </m:e>
                          </m:func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fr-FR" sz="1200" dirty="0">
                  <a:solidFill>
                    <a:srgbClr val="C00000"/>
                  </a:solidFill>
                </a:endParaRPr>
              </a:p>
              <a:p>
                <a:endParaRPr lang="fr-FR" sz="1200" dirty="0"/>
              </a:p>
              <a:p>
                <a:endParaRPr lang="fr-FR" sz="12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41C732B-CC1E-0649-36C3-A4BA70BB7F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59244" y="1241682"/>
                <a:ext cx="4121885" cy="5284588"/>
              </a:xfrm>
              <a:prstGeom prst="rect">
                <a:avLst/>
              </a:prstGeom>
              <a:blipFill>
                <a:blip r:embed="rId3"/>
                <a:stretch>
                  <a:fillRect t="-231" b="-8881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8" name="Group 17">
            <a:extLst>
              <a:ext uri="{FF2B5EF4-FFF2-40B4-BE49-F238E27FC236}">
                <a16:creationId xmlns:a16="http://schemas.microsoft.com/office/drawing/2014/main" id="{5B259E3C-965D-2431-C9F5-3AB1F9C1D2C2}"/>
              </a:ext>
            </a:extLst>
          </p:cNvPr>
          <p:cNvGrpSpPr/>
          <p:nvPr/>
        </p:nvGrpSpPr>
        <p:grpSpPr>
          <a:xfrm>
            <a:off x="3501390" y="2752725"/>
            <a:ext cx="1157854" cy="676275"/>
            <a:chOff x="3501390" y="2752725"/>
            <a:chExt cx="1157854" cy="676275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91B36DA9-ED7C-EC02-93A6-63AC824984B7}"/>
                </a:ext>
              </a:extLst>
            </p:cNvPr>
            <p:cNvGrpSpPr/>
            <p:nvPr/>
          </p:nvGrpSpPr>
          <p:grpSpPr>
            <a:xfrm>
              <a:off x="3501390" y="2752725"/>
              <a:ext cx="1157854" cy="676275"/>
              <a:chOff x="500933" y="4948825"/>
              <a:chExt cx="4020249" cy="888306"/>
            </a:xfrm>
          </p:grpSpPr>
          <p:pic>
            <p:nvPicPr>
              <p:cNvPr id="4" name="Picture 3">
                <a:extLst>
                  <a:ext uri="{FF2B5EF4-FFF2-40B4-BE49-F238E27FC236}">
                    <a16:creationId xmlns:a16="http://schemas.microsoft.com/office/drawing/2014/main" id="{0F95B142-67A4-A817-F539-9E5FF083804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rcRect t="36995"/>
              <a:stretch>
                <a:fillRect/>
              </a:stretch>
            </p:blipFill>
            <p:spPr>
              <a:xfrm>
                <a:off x="500933" y="4948825"/>
                <a:ext cx="4020249" cy="888306"/>
              </a:xfrm>
              <a:prstGeom prst="rect">
                <a:avLst/>
              </a:prstGeom>
            </p:spPr>
          </p:pic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9C7D0EC3-584D-8431-D1DA-D93C4A505153}"/>
                      </a:ext>
                    </a:extLst>
                  </p:cNvPr>
                  <p:cNvSpPr txBox="1"/>
                  <p:nvPr/>
                </p:nvSpPr>
                <p:spPr>
                  <a:xfrm>
                    <a:off x="1468380" y="5558490"/>
                    <a:ext cx="502490" cy="181922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fr-FR" sz="9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9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9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fr-FR" sz="900" dirty="0"/>
                  </a:p>
                </p:txBody>
              </p:sp>
            </mc:Choice>
            <mc:Fallback xmlns="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9C7D0EC3-584D-8431-D1DA-D93C4A50515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468380" y="5558490"/>
                    <a:ext cx="502490" cy="18192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l="-8333" r="-8333" b="-22727"/>
                    </a:stretch>
                  </a:blipFill>
                </p:spPr>
                <p:txBody>
                  <a:bodyPr/>
                  <a:lstStyle/>
                  <a:p>
                    <a:r>
                      <a:rPr lang="fr-F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74C26A7E-419B-52FD-9313-920A0B9EB60F}"/>
                    </a:ext>
                  </a:extLst>
                </p:cNvPr>
                <p:cNvSpPr txBox="1"/>
                <p:nvPr/>
              </p:nvSpPr>
              <p:spPr>
                <a:xfrm>
                  <a:off x="3523934" y="3197818"/>
                  <a:ext cx="96180" cy="13849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9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oMath>
                    </m:oMathPara>
                  </a14:m>
                  <a:endParaRPr lang="fr-FR" sz="900" dirty="0"/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74C26A7E-419B-52FD-9313-920A0B9EB60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23934" y="3197818"/>
                  <a:ext cx="96180" cy="138499"/>
                </a:xfrm>
                <a:prstGeom prst="rect">
                  <a:avLst/>
                </a:prstGeom>
                <a:blipFill>
                  <a:blip r:embed="rId6"/>
                  <a:stretch>
                    <a:fillRect l="-25000" r="-31250" b="-13636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2689ED87-2FFF-F523-6E2D-418DD0CAF3C0}"/>
                    </a:ext>
                  </a:extLst>
                </p:cNvPr>
                <p:cNvSpPr txBox="1"/>
                <p:nvPr/>
              </p:nvSpPr>
              <p:spPr>
                <a:xfrm>
                  <a:off x="4524327" y="3210476"/>
                  <a:ext cx="95346" cy="13849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900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oMath>
                    </m:oMathPara>
                  </a14:m>
                  <a:endParaRPr lang="fr-FR" sz="900" dirty="0"/>
                </a:p>
              </p:txBody>
            </p:sp>
          </mc:Choice>
          <mc:Fallback xmlns="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2689ED87-2FFF-F523-6E2D-418DD0CAF3C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24327" y="3210476"/>
                  <a:ext cx="95346" cy="138499"/>
                </a:xfrm>
                <a:prstGeom prst="rect">
                  <a:avLst/>
                </a:prstGeom>
                <a:blipFill>
                  <a:blip r:embed="rId7"/>
                  <a:stretch>
                    <a:fillRect l="-25000" r="-25000" b="-13636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0B0D90AD-1569-2F6C-966E-E02113A5DBCD}"/>
                    </a:ext>
                  </a:extLst>
                </p:cNvPr>
                <p:cNvSpPr txBox="1"/>
                <p:nvPr/>
              </p:nvSpPr>
              <p:spPr>
                <a:xfrm>
                  <a:off x="3842855" y="2942945"/>
                  <a:ext cx="106952" cy="13849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900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oMath>
                    </m:oMathPara>
                  </a14:m>
                  <a:endParaRPr lang="fr-FR" sz="900" dirty="0"/>
                </a:p>
              </p:txBody>
            </p:sp>
          </mc:Choice>
          <mc:Fallback xmlns="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0B0D90AD-1569-2F6C-966E-E02113A5DBC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42855" y="2942945"/>
                  <a:ext cx="106952" cy="138499"/>
                </a:xfrm>
                <a:prstGeom prst="rect">
                  <a:avLst/>
                </a:prstGeom>
                <a:blipFill>
                  <a:blip r:embed="rId8"/>
                  <a:stretch>
                    <a:fillRect l="-22222" r="-22222" b="-13636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81669049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686607-AF33-333D-A48D-AA97A0210D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C512D3D3-39DC-2244-F3FD-49F86491CC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F859C1-8EE1-4062-8A80-955144FCA279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3FF81650-FA47-57FC-1660-8E146A13A5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96DDDF7F-2340-DA52-AD2C-73D63FC339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17</a:t>
            </a:fld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3A031C7-F8C9-3D51-FCA5-4FB45D9F8B4B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03C4E3F2-185F-33C0-706F-4AE175C96043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1331495-1EB2-6E55-EC77-D35C50372978}"/>
              </a:ext>
            </a:extLst>
          </p:cNvPr>
          <p:cNvSpPr txBox="1"/>
          <p:nvPr/>
        </p:nvSpPr>
        <p:spPr>
          <a:xfrm>
            <a:off x="345439" y="721360"/>
            <a:ext cx="8063923" cy="369332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b="1" dirty="0"/>
              <a:t>4.2 : Modèle Théorique (Micro Humbucker) </a:t>
            </a:r>
            <a:r>
              <a:rPr lang="fr-FR" sz="1000" i="1" dirty="0"/>
              <a:t>cf. Source [1] </a:t>
            </a:r>
            <a:endParaRPr lang="fr-FR" sz="2000" i="1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6420539-7C82-3DC3-D605-71C74034FA1D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5FEB867-7067-73B2-84AC-36D702654B12}"/>
                  </a:ext>
                </a:extLst>
              </p:cNvPr>
              <p:cNvSpPr txBox="1"/>
              <p:nvPr/>
            </p:nvSpPr>
            <p:spPr>
              <a:xfrm>
                <a:off x="500933" y="1232452"/>
                <a:ext cx="4121884" cy="5094985"/>
              </a:xfrm>
              <a:prstGeom prst="rect">
                <a:avLst/>
              </a:prstGeom>
              <a:noFill/>
            </p:spPr>
            <p:txBody>
              <a:bodyPr wrap="square" numCol="3" rtlCol="0">
                <a:spAutoFit/>
              </a:bodyPr>
              <a:lstStyle/>
              <a:p>
                <a:r>
                  <a:rPr lang="fr-FR" sz="1200" dirty="0"/>
                  <a:t>L’étude de la corde est basée sur l’équation des ondes, où la vitesse de propagation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fr-FR" sz="1200" dirty="0"/>
                  <a:t> est défini par la tension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fr-FR" sz="1200" dirty="0"/>
                  <a:t> et la masse linéique </a:t>
                </a:r>
                <a14:m>
                  <m:oMath xmlns:m="http://schemas.openxmlformats.org/officeDocument/2006/math">
                    <m:r>
                      <a:rPr lang="fr-FR" sz="12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</m:oMath>
                </a14:m>
                <a:endParaRPr lang="fr-FR" sz="1200" dirty="0"/>
              </a:p>
              <a:p>
                <a:pPr algn="ctr"/>
                <a14:m>
                  <m:oMath xmlns:m="http://schemas.openxmlformats.org/officeDocument/2006/math">
                    <m:f>
                      <m:fPr>
                        <m:ctrlPr>
                          <a:rPr lang="fr-FR" sz="12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  <m:r>
                          <a:rPr lang="fr-FR" sz="1200" i="1" smtClean="0">
                            <a:latin typeface="Cambria Math" panose="02040503050406030204" pitchFamily="18" charset="0"/>
                          </a:rPr>
                          <m:t>𝑦</m:t>
                        </m:r>
                      </m:num>
                      <m:den>
                        <m:r>
                          <a:rPr lang="fr-FR" sz="120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</m:den>
                    </m:f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</m:den>
                    </m:f>
                    <m:f>
                      <m:f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num>
                      <m:den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</m:den>
                    </m:f>
                  </m:oMath>
                </a14:m>
                <a:r>
                  <a:rPr lang="fr-FR" sz="1200" dirty="0"/>
                  <a:t>, avec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𝑣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= </m:t>
                    </m:r>
                    <m:rad>
                      <m:radPr>
                        <m:degHide m:val="on"/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/</m:t>
                        </m:r>
                        <m: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</m:rad>
                  </m:oMath>
                </a14:m>
                <a:endParaRPr lang="fr-FR" sz="1200" dirty="0"/>
              </a:p>
              <a:p>
                <a:pPr algn="ctr"/>
                <a:endParaRPr lang="fr-FR" sz="1200" dirty="0"/>
              </a:p>
              <a:p>
                <a:r>
                  <a:rPr lang="fr-FR" sz="1200" dirty="0"/>
                  <a:t>Pour une corde de longueur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r>
                  <a:rPr lang="fr-FR" sz="1200" dirty="0"/>
                  <a:t>, tiré à la position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fr-FR" sz="1200" dirty="0"/>
                  <a:t> d’une distance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fr-FR" sz="1200" dirty="0"/>
                  <a:t> on a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, 0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num>
                                <m:den>
                                  <m:sSub>
                                    <m:sSubPr>
                                      <m:ctrlP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,  0≤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num>
                                <m:den>
                                  <m:sSub>
                                    <m:sSubPr>
                                      <m:ctrlP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den>
                              </m:f>
                              <m:d>
                                <m:d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d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,  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Avec des conditions initiales telle que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, 0</m:t>
                        </m:r>
                      </m:e>
                    </m:d>
                  </m:oMath>
                </a14:m>
                <a:r>
                  <a:rPr lang="fr-FR" sz="1200" dirty="0"/>
                  <a:t> soit la forme initiale de la corde, on a alors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≥1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 b="0" i="0" smtClean="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func>
                          <m:func>
                            <m:func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 b="0" i="0" smtClean="0"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𝑣𝑡</m:t>
                                  </m:r>
                                </m:num>
                                <m:den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func>
                        </m:e>
                      </m:nary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Avec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fr-FR" sz="1200" dirty="0"/>
                  <a:t> l’amplitude de l’harmonique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fr-FR" sz="1200" dirty="0"/>
                  <a:t>-ème et peut être calculer par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den>
                      </m:f>
                      <m:nary>
                        <m:nary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, 0)</m:t>
                          </m:r>
                          <m:func>
                            <m:func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 b="0" i="0" smtClean="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func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𝑑𝑥</m:t>
                          </m:r>
                        </m:e>
                      </m:nary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Ainsi, on a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200" i="1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𝐴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den>
                      </m:f>
                      <m:nary>
                        <m:nary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fr-FR" sz="1200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sup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  <m:func>
                            <m:func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func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𝑑𝑥</m:t>
                          </m:r>
                        </m:e>
                      </m:nary>
                      <m:r>
                        <a:rPr lang="fr-FR" sz="1200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𝐴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nary>
                        <m:nary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brk m:alnAt="23"/>
                                </m:rP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m:rPr>
                                  <m:brk m:alnAt="23"/>
                                </m:rPr>
                                <a:rPr lang="fr-FR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sub>
                        <m:sup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)</m:t>
                          </m:r>
                          <m:func>
                            <m:func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𝑑𝑥</m:t>
                              </m:r>
                            </m:e>
                          </m:func>
                        </m:e>
                      </m:nary>
                    </m:oMath>
                  </m:oMathPara>
                </a14:m>
                <a:endParaRPr lang="fr-FR" sz="12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5FEB867-7067-73B2-84AC-36D702654B1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0933" y="1232452"/>
                <a:ext cx="4121884" cy="5094985"/>
              </a:xfrm>
              <a:prstGeom prst="rect">
                <a:avLst/>
              </a:prstGeom>
              <a:blipFill>
                <a:blip r:embed="rId2"/>
                <a:stretch>
                  <a:fillRect t="-120" r="-888" b="-1985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3D37F03F-A374-F037-922D-D02B8D7303BF}"/>
                  </a:ext>
                </a:extLst>
              </p:cNvPr>
              <p:cNvSpPr txBox="1"/>
              <p:nvPr/>
            </p:nvSpPr>
            <p:spPr>
              <a:xfrm>
                <a:off x="4659244" y="1241682"/>
                <a:ext cx="4121885" cy="523098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fr-FR" sz="1200" dirty="0"/>
                  <a:t>D’où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𝐵𝑛</m:t>
                      </m:r>
                      <m:r>
                        <a:rPr lang="fr-FR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func>
                            <m:func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 b="0" i="0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sSub>
                                    <m:sSubPr>
                                      <m:ctrlPr>
                                        <a:rPr lang="fr-FR" sz="12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num>
                                <m:den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</m:num>
                        <m:den>
                          <m:f>
                            <m:f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den>
                          </m:f>
                          <m:d>
                            <m:d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1 −</m:t>
                              </m:r>
                              <m:f>
                                <m:f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fr-FR" sz="12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num>
                                <m:den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d>
                          <m:sSup>
                            <m:sSup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p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²</m:t>
                          </m:r>
                        </m:den>
                      </m:f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La FEM induite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ⅇ</m:t>
                    </m:r>
                    <m:d>
                      <m:dPr>
                        <m:ctrlPr>
                          <a:rPr lang="fr-FR" sz="1200" i="1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fr-FR" sz="1200" dirty="0"/>
                  <a:t> dans la bobine composée de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fr-FR" sz="1200" dirty="0"/>
                  <a:t> spire est régie par la </a:t>
                </a:r>
                <a:r>
                  <a:rPr lang="fr-FR" sz="1200" u="sng" dirty="0"/>
                  <a:t>Loi d’induction de Faraday</a:t>
                </a:r>
                <a:r>
                  <a:rPr lang="fr-FR" sz="1200" dirty="0"/>
                  <a:t>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ⅇ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𝑁</m:t>
                      </m:r>
                      <m:f>
                        <m:f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num>
                        <m:den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En supposant que la variation de flux est principalement due au déplacement de la corde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r>
                        <a:rPr lang="fr-FR" sz="1200" i="1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ctrlPr>
                            <a:rPr lang="fr-FR" sz="12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 smtClean="0">
                              <a:latin typeface="Cambria Math" panose="02040503050406030204" pitchFamily="18" charset="0"/>
                            </a:rPr>
                            <m:t>𝑑𝑦</m:t>
                          </m:r>
                          <m:d>
                            <m:d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num>
                        <m:den>
                          <m:r>
                            <a:rPr lang="fr-FR" sz="120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𝑑𝑦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fr-FR" sz="1200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D’où la relation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05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0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0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05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05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0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0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0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fr-FR" sz="10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0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[−</m:t>
                              </m:r>
                              <m: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a:rPr lang="fr-FR" sz="105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m:rPr>
                                  <m:sty m:val="p"/>
                                </m:rPr>
                                <a:rPr lang="fr-FR" sz="105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  <m:r>
                            <a:rPr lang="fr-FR" sz="10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func>
                            <m:funcPr>
                              <m:ctrlP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func>
                                <m:funcPr>
                                  <m:ctrlP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fr-FR" sz="105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sin</m:t>
                                  </m:r>
                                </m:fName>
                                <m:e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f>
                                    <m:fPr>
                                      <m:ctrlP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  <m: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𝜋</m:t>
                                      </m:r>
                                    </m:num>
                                    <m:den>
                                      <m: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</m:den>
                                  </m:f>
                                  <m:sSub>
                                    <m:sSubPr>
                                      <m:ctrlP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))</m:t>
                                  </m:r>
                                </m:e>
                              </m:func>
                              <m:r>
                                <m:rPr>
                                  <m:sty m:val="p"/>
                                </m:rPr>
                                <a:rPr lang="fr-FR" sz="105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ad>
                                    <m:radPr>
                                      <m:degHide m:val="on"/>
                                      <m:ctrlP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𝑇</m:t>
                                      </m:r>
                                    </m:e>
                                  </m:rad>
                                </m:num>
                                <m:den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  <m:rad>
                                    <m:radPr>
                                      <m:degHide m:val="on"/>
                                      <m:ctrlP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𝜇</m:t>
                                      </m:r>
                                    </m:e>
                                  </m:rad>
                                </m:den>
                              </m:f>
                              <m: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  <m:f>
                                <m:fPr>
                                  <m:ctrlP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ad>
                                    <m:radPr>
                                      <m:degHide m:val="on"/>
                                      <m:ctrlP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𝑇</m:t>
                                      </m:r>
                                    </m:e>
                                  </m:rad>
                                </m:num>
                                <m:den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  <m:rad>
                                    <m:radPr>
                                      <m:degHide m:val="on"/>
                                      <m:ctrlP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𝜇</m:t>
                                      </m:r>
                                    </m:e>
                                  </m:rad>
                                </m:den>
                              </m:f>
                            </m:e>
                          </m:func>
                          <m:r>
                            <a:rPr lang="fr-FR" sz="10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fr-FR" sz="1050" dirty="0">
                  <a:solidFill>
                    <a:schemeClr val="tx1"/>
                  </a:solidFill>
                </a:endParaRPr>
              </a:p>
              <a:p>
                <a:endParaRPr lang="fr-FR" sz="1200" dirty="0"/>
              </a:p>
              <a:p>
                <a:r>
                  <a:rPr lang="fr-FR" sz="1200" dirty="0"/>
                  <a:t>On pose alors :</a:t>
                </a:r>
              </a:p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fr-FR" sz="12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sz="12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num>
                      <m:den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</m:den>
                    </m:f>
                    <m:rad>
                      <m:radPr>
                        <m:degHide m:val="on"/>
                        <m:ctrlPr>
                          <a:rPr lang="fr-FR" sz="12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f>
                          <m:fPr>
                            <m:ctrlPr>
                              <a:rPr lang="fr-FR" sz="120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num>
                          <m:den>
                            <m:r>
                              <a:rPr lang="fr-FR" sz="120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𝜇</m:t>
                            </m:r>
                          </m:den>
                        </m:f>
                      </m:e>
                    </m:rad>
                  </m:oMath>
                </a14:m>
                <a:r>
                  <a:rPr lang="fr-FR" sz="1200" dirty="0"/>
                  <a:t>   et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fr-FR" sz="12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fr-FR" sz="12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a:rPr lang="fr-FR" sz="1200" b="0" i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m:rPr>
                            <m:sty m:val="p"/>
                          </m:rPr>
                          <a:rPr lang="el-G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π</m:t>
                        </m:r>
                        <m:sSub>
                          <m:sSubPr>
                            <m:ctrlP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fr-FR" sz="1200" b="0" i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m:rPr>
                            <m:sty m:val="p"/>
                          </m:rPr>
                          <a:rPr lang="fr-FR" sz="1200" i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sin</m:t>
                        </m:r>
                      </m:fName>
                      <m:e>
                        <m:d>
                          <m:dPr>
                            <m:ctrlP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𝜋</m:t>
                                </m:r>
                              </m:num>
                              <m:den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𝐿</m:t>
                                </m:r>
                              </m:den>
                            </m:f>
                            <m:sSub>
                              <m:sSubPr>
                                <m:ctrlP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</m:d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func>
                          <m:funcPr>
                            <m:ctrlPr>
                              <a:rPr lang="fr-FR" sz="12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fr-FR" sz="120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sin</m:t>
                            </m:r>
                          </m:fName>
                          <m:e>
                            <m:d>
                              <m:dPr>
                                <m:ctrlPr>
                                  <a:rPr lang="fr-FR" sz="12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fr-FR" sz="12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fr-FR" sz="12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  <m:r>
                                      <a:rPr lang="fr-FR" sz="12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𝜋</m:t>
                                    </m:r>
                                  </m:num>
                                  <m:den>
                                    <m:r>
                                      <a:rPr lang="fr-FR" sz="12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𝐿</m:t>
                                    </m:r>
                                  </m:den>
                                </m:f>
                                <m:sSub>
                                  <m:sSubPr>
                                    <m:ctrlPr>
                                      <a:rPr lang="fr-FR" sz="12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12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fr-FR" sz="1200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</m:d>
                          </m:e>
                        </m:func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</m:oMath>
                </a14:m>
                <a:endParaRPr lang="fr-FR" sz="1200" dirty="0"/>
              </a:p>
              <a:p>
                <a:r>
                  <a:rPr lang="fr-FR" sz="1200" dirty="0"/>
                  <a:t>Ainsi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) </m:t>
                              </m:r>
                            </m:e>
                          </m:func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fr-FR" sz="1200" dirty="0">
                  <a:solidFill>
                    <a:srgbClr val="C00000"/>
                  </a:solidFill>
                </a:endParaRPr>
              </a:p>
              <a:p>
                <a:endParaRPr lang="fr-FR" sz="1200" dirty="0"/>
              </a:p>
              <a:p>
                <a:endParaRPr lang="fr-FR" sz="12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3D37F03F-A374-F037-922D-D02B8D7303B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59244" y="1241682"/>
                <a:ext cx="4121885" cy="5230984"/>
              </a:xfrm>
              <a:prstGeom prst="rect">
                <a:avLst/>
              </a:prstGeom>
              <a:blipFill>
                <a:blip r:embed="rId3"/>
                <a:stretch>
                  <a:fillRect t="-233" b="-9091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8" name="Group 17">
            <a:extLst>
              <a:ext uri="{FF2B5EF4-FFF2-40B4-BE49-F238E27FC236}">
                <a16:creationId xmlns:a16="http://schemas.microsoft.com/office/drawing/2014/main" id="{CED2B23B-FD4E-F970-C927-67D404F465DC}"/>
              </a:ext>
            </a:extLst>
          </p:cNvPr>
          <p:cNvGrpSpPr/>
          <p:nvPr/>
        </p:nvGrpSpPr>
        <p:grpSpPr>
          <a:xfrm>
            <a:off x="3501390" y="2752725"/>
            <a:ext cx="1157854" cy="676275"/>
            <a:chOff x="3501390" y="2752725"/>
            <a:chExt cx="1157854" cy="676275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E7CBA275-C1FE-59FE-DA04-1639C9AE8658}"/>
                </a:ext>
              </a:extLst>
            </p:cNvPr>
            <p:cNvGrpSpPr/>
            <p:nvPr/>
          </p:nvGrpSpPr>
          <p:grpSpPr>
            <a:xfrm>
              <a:off x="3501390" y="2752725"/>
              <a:ext cx="1157854" cy="676275"/>
              <a:chOff x="500933" y="4948825"/>
              <a:chExt cx="4020249" cy="888306"/>
            </a:xfrm>
          </p:grpSpPr>
          <p:pic>
            <p:nvPicPr>
              <p:cNvPr id="4" name="Picture 3">
                <a:extLst>
                  <a:ext uri="{FF2B5EF4-FFF2-40B4-BE49-F238E27FC236}">
                    <a16:creationId xmlns:a16="http://schemas.microsoft.com/office/drawing/2014/main" id="{92D01097-69F2-BF57-B64F-3F63F0C6CB8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rcRect t="36995"/>
              <a:stretch>
                <a:fillRect/>
              </a:stretch>
            </p:blipFill>
            <p:spPr>
              <a:xfrm>
                <a:off x="500933" y="4948825"/>
                <a:ext cx="4020249" cy="888306"/>
              </a:xfrm>
              <a:prstGeom prst="rect">
                <a:avLst/>
              </a:prstGeom>
            </p:spPr>
          </p:pic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51D8C1AD-927E-E0F4-A2AA-5E5DC0FF643A}"/>
                      </a:ext>
                    </a:extLst>
                  </p:cNvPr>
                  <p:cNvSpPr txBox="1"/>
                  <p:nvPr/>
                </p:nvSpPr>
                <p:spPr>
                  <a:xfrm>
                    <a:off x="1468380" y="5558490"/>
                    <a:ext cx="502490" cy="181922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fr-FR" sz="9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9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9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fr-FR" sz="900" dirty="0"/>
                  </a:p>
                </p:txBody>
              </p:sp>
            </mc:Choice>
            <mc:Fallback xmlns="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51D8C1AD-927E-E0F4-A2AA-5E5DC0FF643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468380" y="5558490"/>
                    <a:ext cx="502490" cy="18192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l="-8333" r="-8333" b="-22727"/>
                    </a:stretch>
                  </a:blipFill>
                </p:spPr>
                <p:txBody>
                  <a:bodyPr/>
                  <a:lstStyle/>
                  <a:p>
                    <a:r>
                      <a:rPr lang="fr-F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3EAB0F11-4E7C-6E77-8DD0-F78DBBCD9DF3}"/>
                    </a:ext>
                  </a:extLst>
                </p:cNvPr>
                <p:cNvSpPr txBox="1"/>
                <p:nvPr/>
              </p:nvSpPr>
              <p:spPr>
                <a:xfrm>
                  <a:off x="3523934" y="3197818"/>
                  <a:ext cx="96180" cy="13849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9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oMath>
                    </m:oMathPara>
                  </a14:m>
                  <a:endParaRPr lang="fr-FR" sz="900" dirty="0"/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3EAB0F11-4E7C-6E77-8DD0-F78DBBCD9DF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23934" y="3197818"/>
                  <a:ext cx="96180" cy="138499"/>
                </a:xfrm>
                <a:prstGeom prst="rect">
                  <a:avLst/>
                </a:prstGeom>
                <a:blipFill>
                  <a:blip r:embed="rId6"/>
                  <a:stretch>
                    <a:fillRect l="-25000" r="-31250" b="-13636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6A5513AB-DEF1-F4D1-2384-81A37857159D}"/>
                    </a:ext>
                  </a:extLst>
                </p:cNvPr>
                <p:cNvSpPr txBox="1"/>
                <p:nvPr/>
              </p:nvSpPr>
              <p:spPr>
                <a:xfrm>
                  <a:off x="4524327" y="3210476"/>
                  <a:ext cx="95346" cy="13849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900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oMath>
                    </m:oMathPara>
                  </a14:m>
                  <a:endParaRPr lang="fr-FR" sz="900" dirty="0"/>
                </a:p>
              </p:txBody>
            </p:sp>
          </mc:Choice>
          <mc:Fallback xmlns="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6A5513AB-DEF1-F4D1-2384-81A37857159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24327" y="3210476"/>
                  <a:ext cx="95346" cy="138499"/>
                </a:xfrm>
                <a:prstGeom prst="rect">
                  <a:avLst/>
                </a:prstGeom>
                <a:blipFill>
                  <a:blip r:embed="rId7"/>
                  <a:stretch>
                    <a:fillRect l="-25000" r="-25000" b="-13636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83688DE8-747B-D46B-AFAF-E5F6690A9EE9}"/>
                    </a:ext>
                  </a:extLst>
                </p:cNvPr>
                <p:cNvSpPr txBox="1"/>
                <p:nvPr/>
              </p:nvSpPr>
              <p:spPr>
                <a:xfrm>
                  <a:off x="3842855" y="2942945"/>
                  <a:ext cx="106952" cy="13849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900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oMath>
                    </m:oMathPara>
                  </a14:m>
                  <a:endParaRPr lang="fr-FR" sz="900" dirty="0"/>
                </a:p>
              </p:txBody>
            </p:sp>
          </mc:Choice>
          <mc:Fallback xmlns="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83688DE8-747B-D46B-AFAF-E5F6690A9EE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42855" y="2942945"/>
                  <a:ext cx="106952" cy="138499"/>
                </a:xfrm>
                <a:prstGeom prst="rect">
                  <a:avLst/>
                </a:prstGeom>
                <a:blipFill>
                  <a:blip r:embed="rId8"/>
                  <a:stretch>
                    <a:fillRect l="-22222" r="-22222" b="-13636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92854331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61B5F2-B144-CF76-1F8C-26C914CAC4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BBB62E9F-C416-8E56-1CDE-C3F6958EDA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F859C1-8EE1-4062-8A80-955144FCA279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04D4D643-B8B6-EFC0-6384-7CE3B90FBE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2DC783EB-893F-C311-8294-9AEF8605C6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18</a:t>
            </a:fld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B1EA3AD-E635-C8B5-91C8-B28A2A0C9F48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406A6A33-5483-E45A-C886-DB9DB0F3FCED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9670956-3195-813A-9090-176A89DD32F0}"/>
              </a:ext>
            </a:extLst>
          </p:cNvPr>
          <p:cNvSpPr txBox="1"/>
          <p:nvPr/>
        </p:nvSpPr>
        <p:spPr>
          <a:xfrm>
            <a:off x="345439" y="721360"/>
            <a:ext cx="8063923" cy="369332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b="1" dirty="0"/>
              <a:t>4.3 : Modèle Théorique (Action d’un champ parasite)</a:t>
            </a:r>
            <a:endParaRPr lang="fr-FR" sz="2000" i="1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0AB61CD-D09F-44E9-C03D-924382A1A1A6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11FD93F-1529-1340-D7CF-3872310E1811}"/>
                  </a:ext>
                </a:extLst>
              </p:cNvPr>
              <p:cNvSpPr txBox="1"/>
              <p:nvPr/>
            </p:nvSpPr>
            <p:spPr>
              <a:xfrm>
                <a:off x="500933" y="1232452"/>
                <a:ext cx="4121884" cy="4839658"/>
              </a:xfrm>
              <a:prstGeom prst="rect">
                <a:avLst/>
              </a:prstGeom>
              <a:noFill/>
            </p:spPr>
            <p:txBody>
              <a:bodyPr wrap="square" numCol="3" rtlCol="0">
                <a:spAutoFit/>
              </a:bodyPr>
              <a:lstStyle/>
              <a:p>
                <a:r>
                  <a:rPr lang="fr-FR" sz="1200" dirty="0"/>
                  <a:t>On étudie un champ parasite d’amplitude B0, de fréquence f et de gradient alpha régie par l’équation:</a:t>
                </a:r>
              </a:p>
              <a:p>
                <a:pPr algn="ctr"/>
                <a:endParaRPr lang="fr-FR" sz="1200" b="0" i="1" dirty="0"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𝐵</m:t>
                      </m:r>
                      <m:d>
                        <m:d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d>
                        <m:d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1+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func>
                        <m:funcPr>
                          <m:ctrlPr>
                            <a:rPr lang="fr-F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200" dirty="0"/>
              </a:p>
              <a:p>
                <a:pPr algn="ctr"/>
                <a:endParaRPr lang="fr-FR" sz="1200" dirty="0"/>
              </a:p>
              <a:p>
                <a:r>
                  <a:rPr lang="fr-FR" sz="1200" dirty="0"/>
                  <a:t>Ainsi on a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fr-FR" sz="12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fr-FR" sz="120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1+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fr-FR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2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sSub>
                        <m:sSubPr>
                          <m:ctrlPr>
                            <a:rPr lang="fr-F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func>
                        <m:funcPr>
                          <m:ctrlPr>
                            <a:rPr lang="fr-F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La FEM induite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ⅇ</m:t>
                    </m:r>
                    <m:d>
                      <m:dPr>
                        <m:ctrlPr>
                          <a:rPr lang="fr-FR" sz="1200" i="1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fr-FR" sz="1200" dirty="0"/>
                  <a:t> dans la bobine composée de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fr-FR" sz="1200" dirty="0"/>
                  <a:t> spire est régie par la </a:t>
                </a:r>
                <a:r>
                  <a:rPr lang="fr-FR" sz="1200" u="sng" dirty="0"/>
                  <a:t>Loi d’induction de Faraday</a:t>
                </a:r>
                <a:r>
                  <a:rPr lang="fr-FR" sz="1200" dirty="0"/>
                  <a:t>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ⅇ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𝑁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Pour un micro SingleCoil :</a:t>
                </a:r>
              </a:p>
              <a:p>
                <a:r>
                  <a:rPr lang="fr-FR" sz="1200" dirty="0"/>
                  <a:t>En supposant que la variation de flux est principalement due au champ parasite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fr-FR" sz="120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</m:oMath>
                  </m:oMathPara>
                </a14:m>
                <a:endParaRPr lang="fr-FR" sz="1200" dirty="0"/>
              </a:p>
              <a:p>
                <a:r>
                  <a:rPr lang="fr-FR" sz="1200" dirty="0"/>
                  <a:t>Ainsi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sSub>
                        <m:sSub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d>
                        <m:d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1+</m:t>
                          </m:r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</m:e>
                      </m:d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2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sSub>
                        <m:sSub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func>
                        <m:func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20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200" dirty="0">
                  <a:solidFill>
                    <a:srgbClr val="C00000"/>
                  </a:solidFill>
                </a:endParaRPr>
              </a:p>
              <a:p>
                <a:endParaRPr lang="fr-FR" sz="1200" dirty="0"/>
              </a:p>
              <a:p>
                <a:r>
                  <a:rPr lang="fr-FR" sz="1200" dirty="0"/>
                  <a:t>Pour un micro Humbucker :</a:t>
                </a:r>
              </a:p>
              <a:p>
                <a:r>
                  <a:rPr lang="fr-FR" sz="1200" dirty="0"/>
                  <a:t>Par Linéarité de la dérivée, on a alors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fr-FR" sz="12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11FD93F-1529-1340-D7CF-3872310E181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0933" y="1232452"/>
                <a:ext cx="4121884" cy="4839658"/>
              </a:xfrm>
              <a:prstGeom prst="rect">
                <a:avLst/>
              </a:prstGeom>
              <a:blipFill>
                <a:blip r:embed="rId2"/>
                <a:stretch>
                  <a:fillRect t="-12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C8BC1E68-2458-0314-1F31-1E6A6BB341F6}"/>
                  </a:ext>
                </a:extLst>
              </p:cNvPr>
              <p:cNvSpPr txBox="1"/>
              <p:nvPr/>
            </p:nvSpPr>
            <p:spPr>
              <a:xfrm>
                <a:off x="4659244" y="1241682"/>
                <a:ext cx="4121885" cy="306449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fr-FR" sz="1200" dirty="0"/>
                  <a:t>Le micro est composé de deux bobine à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fr-FR" sz="12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num>
                      <m:den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fr-FR" sz="1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200" dirty="0"/>
                  <a:t>spire câblée en opposition de phase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=−</m:t>
                      </m:r>
                      <m:f>
                        <m:fPr>
                          <m:ctrlPr>
                            <a:rPr lang="fr-FR" sz="12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num>
                        <m:den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fr-FR" sz="1200" i="1">
                          <a:latin typeface="Cambria Math" panose="02040503050406030204" pitchFamily="18" charset="0"/>
                        </a:rPr>
                        <m:t>𝑆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𝐵</m:t>
                          </m:r>
                          <m:d>
                            <m:d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1,</m:t>
                                  </m:r>
                                </m:sub>
                              </m:s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+(−</m:t>
                      </m:r>
                      <m:d>
                        <m:d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num>
                            <m:den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𝑆</m:t>
                          </m:r>
                          <m:f>
                            <m:f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  <m:d>
                                <m:d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  <m:r>
                                        <a:rPr lang="fr-FR" sz="1200" b="0" i="1" smtClean="0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</m:sub>
                                  </m:s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</m:num>
                            <m:den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den>
                          </m:f>
                        </m:e>
                      </m:d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C’est-à-dire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=−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𝐵</m:t>
                          </m:r>
                          <m:d>
                            <m:d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𝐵</m:t>
                          </m:r>
                          <m:d>
                            <m:d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D’où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sSub>
                        <m:sSub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sSub>
                        <m:sSub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func>
                        <m:func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20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  <m:r>
                        <a:rPr lang="fr-FR" sz="12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d>
                        <m:dPr>
                          <m:begChr m:val="|"/>
                          <m:endChr m:val="|"/>
                          <m:ctrlP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fr-FR" sz="1200" dirty="0">
                  <a:solidFill>
                    <a:srgbClr val="C00000"/>
                  </a:solidFill>
                </a:endParaRPr>
              </a:p>
              <a:p>
                <a:endParaRPr lang="fr-FR" sz="1200" dirty="0"/>
              </a:p>
              <a:p>
                <a:r>
                  <a:rPr lang="fr-FR" sz="1200" dirty="0"/>
                  <a:t>NB :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fr-FR" sz="1200" dirty="0"/>
                  <a:t>On a une annulation totale du bruit si et seulement si </a:t>
                </a:r>
                <a14:m>
                  <m:oMath xmlns:m="http://schemas.openxmlformats.org/officeDocument/2006/math">
                    <m:r>
                      <a:rPr lang="fr-FR" sz="12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fr-FR" sz="1200" dirty="0"/>
                  <a:t> est petit et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fr-FR" sz="1200" dirty="0"/>
                  <a:t> et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fr-FR" sz="1200" dirty="0"/>
                  <a:t> proche</a:t>
                </a: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C8BC1E68-2458-0314-1F31-1E6A6BB341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59244" y="1241682"/>
                <a:ext cx="4121885" cy="306449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5952069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B8AAD9-A422-7202-0B30-0D28B5E9C8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6D1B4FF1-9E06-8C21-3237-980566602C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F859C1-8EE1-4062-8A80-955144FCA279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D1FF31C7-6DE8-9F8E-C316-27342893D2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778E00E3-9107-F660-4465-7D796FF2A4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19</a:t>
            </a:fld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A6B6054-7546-BF4C-05E8-838799AD94F9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0D889E58-42C8-3971-7404-080199592D5B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8E322EC-5E0A-C386-1A8F-6C04DB50602F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5.1 : Réponse Fréquentielle, Diagramme de Bode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57FDBA9-87D9-FF36-0C64-B77D97DFCB74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AAFD8FB-4203-5C2E-4D6F-4259F8AF1F4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886" t="60247" r="6447" b="2716"/>
          <a:stretch>
            <a:fillRect/>
          </a:stretch>
        </p:blipFill>
        <p:spPr>
          <a:xfrm>
            <a:off x="4231677" y="1347671"/>
            <a:ext cx="3464559" cy="3331307"/>
          </a:xfrm>
          <a:prstGeom prst="rect">
            <a:avLst/>
          </a:prstGeom>
        </p:spPr>
      </p:pic>
      <p:pic>
        <p:nvPicPr>
          <p:cNvPr id="3" name="Picture 2" descr="Python Logo PNG Transparent – Brands Logos">
            <a:extLst>
              <a:ext uri="{FF2B5EF4-FFF2-40B4-BE49-F238E27FC236}">
                <a16:creationId xmlns:a16="http://schemas.microsoft.com/office/drawing/2014/main" id="{204532C9-1EF7-26FA-8D12-D5A9A163029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4090" y="617474"/>
            <a:ext cx="910546" cy="9067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3C749963-8865-1816-009C-0CABB6D7882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886" t="3209" r="6447" b="40000"/>
          <a:stretch>
            <a:fillRect/>
          </a:stretch>
        </p:blipFill>
        <p:spPr>
          <a:xfrm>
            <a:off x="345440" y="1121469"/>
            <a:ext cx="3464560" cy="51080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609551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5A8ED5-098F-9570-ACBB-50E36703E6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88C2D956-F966-AEF2-A241-8A64B547C183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43846F8-18FE-7C6A-76A8-741E4FC6CE8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46" t="5102" r="6085" b="6102"/>
          <a:stretch>
            <a:fillRect/>
          </a:stretch>
        </p:blipFill>
        <p:spPr>
          <a:xfrm>
            <a:off x="326443" y="1018602"/>
            <a:ext cx="4230077" cy="5118038"/>
          </a:xfrm>
          <a:prstGeom prst="rect">
            <a:avLst/>
          </a:prstGeom>
        </p:spPr>
      </p:pic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88F337AC-67EE-EE9F-8EEA-E34CDB7459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F859C1-8EE1-4062-8A80-955144FCA279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979EDBB6-2569-8CC7-2E3A-9DBB702C4B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5AF25C25-B363-4618-EBC2-4D4930A7FA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20</a:t>
            </a:fld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5368E95-18D2-6289-E9EB-39FA45A05413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AEC4A2D2-685C-87E5-E824-234E3CE0DD9D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114904E-75D1-4B5C-FFEA-D1D587744295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5.2.1 : Modèle Théorique (Initialisation)</a:t>
            </a:r>
          </a:p>
        </p:txBody>
      </p:sp>
      <p:pic>
        <p:nvPicPr>
          <p:cNvPr id="3" name="Picture 2" descr="Python Logo PNG Transparent – Brands Logos">
            <a:extLst>
              <a:ext uri="{FF2B5EF4-FFF2-40B4-BE49-F238E27FC236}">
                <a16:creationId xmlns:a16="http://schemas.microsoft.com/office/drawing/2014/main" id="{4A83DFF8-F0FD-FA36-AC9C-376370D3A2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4090" y="617474"/>
            <a:ext cx="910546" cy="9067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5735003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E23F56-6D1A-012E-0840-51E2961D1F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D21ABD7D-7909-F7E6-327C-22C936D770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F859C1-8EE1-4062-8A80-955144FCA279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AD8057DB-A890-35FD-BE54-B929F1FBCB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D7EF5319-1BBC-6FA6-9B28-6AE4EE4E89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21</a:t>
            </a:fld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9EA7EE6-6ED5-C3B5-06D5-DDE4D72DEFD9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A509A956-1EDE-8A91-05AC-6C6A89CAADF9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A9A9CC2-F54A-74ED-EF78-C0FDAC1823F1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5.2.2 : Modèle Théorique (Fonctions)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F51DC8C-2F05-DC95-710B-7ACF5BC334AA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3" name="Picture 2" descr="Python Logo PNG Transparent – Brands Logos">
            <a:extLst>
              <a:ext uri="{FF2B5EF4-FFF2-40B4-BE49-F238E27FC236}">
                <a16:creationId xmlns:a16="http://schemas.microsoft.com/office/drawing/2014/main" id="{1EEB7B0D-8F85-F90D-F830-E739D70D4F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4090" y="617474"/>
            <a:ext cx="910546" cy="9067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28AFFFBE-CB6F-21A6-282E-728B37DFD5B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745" t="5928" r="5745" b="7790"/>
          <a:stretch>
            <a:fillRect/>
          </a:stretch>
        </p:blipFill>
        <p:spPr>
          <a:xfrm>
            <a:off x="345440" y="1121471"/>
            <a:ext cx="4449197" cy="50608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315828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B293B7-83EF-C759-D713-7720613D2A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D45BA8A6-C306-B9A7-E8C7-8DE21A2E34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F859C1-8EE1-4062-8A80-955144FCA279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27ED4F2D-A1EA-57EA-FD48-1DF15F709C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44821DE5-01AE-C317-8481-DC9BB9C6DB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22</a:t>
            </a:fld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79147E7-34EA-CAB2-9065-587A16AC9910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7BC895C5-4F1B-048E-4B6C-7E439A1B3277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724B27F-1212-9E03-3094-0EE4BE422EDB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5.2.3 : Modèle Théorique (Appel des Fonctions)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B680B1F-EBF7-F346-714A-DE70738BCA4F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3" name="Picture 2" descr="Python Logo PNG Transparent – Brands Logos">
            <a:extLst>
              <a:ext uri="{FF2B5EF4-FFF2-40B4-BE49-F238E27FC236}">
                <a16:creationId xmlns:a16="http://schemas.microsoft.com/office/drawing/2014/main" id="{BA4C4A0F-96CA-E1B3-99B7-AFE420CACB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4090" y="617474"/>
            <a:ext cx="910546" cy="9067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F4D3557C-2ED0-8EFD-9235-98BC8630FD9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741" t="7270" r="6741" b="8518"/>
          <a:stretch>
            <a:fillRect/>
          </a:stretch>
        </p:blipFill>
        <p:spPr>
          <a:xfrm>
            <a:off x="345440" y="1070826"/>
            <a:ext cx="5620204" cy="51945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934848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578E55-0328-F4B0-A17D-BED52B53F2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90DF0711-0040-41B4-3A89-7B4B75A97B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F859C1-8EE1-4062-8A80-955144FCA279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73443A08-CB38-39EE-F965-164A8A422E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794DF264-97D3-6DFC-B316-BED4DA0AD6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23</a:t>
            </a:fld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424A3F5-C7A8-271E-97D8-81B4143785ED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CAC73F6F-0601-97D4-F519-6A47C21DB231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B33F4DE-0227-BE4E-1565-18A6CFBEC6FB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5.2.4 : Modèle Théorique (FFT)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7277FFB-8AF7-D472-BE53-8CF7BB169893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3" name="Picture 2" descr="Python Logo PNG Transparent – Brands Logos">
            <a:extLst>
              <a:ext uri="{FF2B5EF4-FFF2-40B4-BE49-F238E27FC236}">
                <a16:creationId xmlns:a16="http://schemas.microsoft.com/office/drawing/2014/main" id="{A9D7A4F6-4B6C-FEED-F754-DEB193E5849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4090" y="617474"/>
            <a:ext cx="910546" cy="9067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5A48AED5-099F-D34F-2AF3-8BC9362CCA8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096" t="4682" r="5568" b="7161"/>
          <a:stretch>
            <a:fillRect/>
          </a:stretch>
        </p:blipFill>
        <p:spPr>
          <a:xfrm>
            <a:off x="345440" y="1028493"/>
            <a:ext cx="4317555" cy="52791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771036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BBED92-A1AA-6697-2E70-5C51D1F5C5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3F18D14F-51CA-5C96-A864-DE3C18FD8B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F859C1-8EE1-4062-8A80-955144FCA279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B0986B93-385B-899F-8705-22FD215EA2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2831DBE4-7E7E-1EC9-D91C-337D4ED264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24</a:t>
            </a:fld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64DE755-DBCA-E4FF-E4AF-02D38DF125B3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F4FEFFEB-8768-5E46-43F4-FB0EAB30C3A4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A5EC40F-996F-C57F-87E7-2830A4FA6506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5.2.5 : Modèle Théorique (Affichage des Courbes)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1409239-756B-F1DC-3238-68546D8884B5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F85F0D8E-06F2-8ABF-D1D8-0C31EF3D3C2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514" t="61055" r="6559" b="5806"/>
          <a:stretch>
            <a:fillRect/>
          </a:stretch>
        </p:blipFill>
        <p:spPr>
          <a:xfrm>
            <a:off x="5167482" y="1324675"/>
            <a:ext cx="3650075" cy="2915860"/>
          </a:xfrm>
          <a:prstGeom prst="rect">
            <a:avLst/>
          </a:prstGeom>
        </p:spPr>
      </p:pic>
      <p:pic>
        <p:nvPicPr>
          <p:cNvPr id="3" name="Picture 2" descr="Python Logo PNG Transparent – Brands Logos">
            <a:extLst>
              <a:ext uri="{FF2B5EF4-FFF2-40B4-BE49-F238E27FC236}">
                <a16:creationId xmlns:a16="http://schemas.microsoft.com/office/drawing/2014/main" id="{81CB7D3F-A693-40F0-90A3-133C6C71516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4090" y="617474"/>
            <a:ext cx="910546" cy="9067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2F9E3DB4-BB7D-BE22-C6A0-237A0726793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514" t="3086" r="6559" b="38512"/>
          <a:stretch>
            <a:fillRect/>
          </a:stretch>
        </p:blipFill>
        <p:spPr>
          <a:xfrm>
            <a:off x="345440" y="1108696"/>
            <a:ext cx="3644769" cy="51312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528283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50F449-F12E-20C8-C0D1-634A3CB8BC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22ABB287-8726-E900-C580-068711EB80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F859C1-8EE1-4062-8A80-955144FCA279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6A79F1EC-C59B-2BC9-C9CA-8510A74093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A8D6DB69-B932-38DD-65FC-02CC12E35A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25</a:t>
            </a:fld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55469CF-57F9-C58F-E156-BA22C2D6F76F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D1C17A12-03C7-373B-4860-B9427BD2E3EA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4DE121C-455F-0535-DE45-4973F50C5F73}"/>
              </a:ext>
            </a:extLst>
          </p:cNvPr>
          <p:cNvSpPr txBox="1"/>
          <p:nvPr/>
        </p:nvSpPr>
        <p:spPr>
          <a:xfrm>
            <a:off x="345439" y="721360"/>
            <a:ext cx="8063923" cy="369332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b="1" dirty="0"/>
              <a:t>6.1 : Dimensionnement du champ Parasite</a:t>
            </a:r>
            <a:endParaRPr lang="fr-FR" sz="2000" i="1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BFAC69F-A984-5869-DBA0-BD5CC24ECB2C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A86B66E-47C6-441C-F4F4-3C3CF30499DF}"/>
                  </a:ext>
                </a:extLst>
              </p:cNvPr>
              <p:cNvSpPr txBox="1"/>
              <p:nvPr/>
            </p:nvSpPr>
            <p:spPr>
              <a:xfrm>
                <a:off x="500933" y="1232452"/>
                <a:ext cx="4121884" cy="4431726"/>
              </a:xfrm>
              <a:prstGeom prst="rect">
                <a:avLst/>
              </a:prstGeom>
              <a:noFill/>
            </p:spPr>
            <p:txBody>
              <a:bodyPr wrap="square" numCol="3" rtlCol="0">
                <a:spAutoFit/>
              </a:bodyPr>
              <a:lstStyle/>
              <a:p>
                <a:r>
                  <a:rPr lang="fr-FR" sz="1200" dirty="0"/>
                  <a:t>On considère un Solénoïde à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fr-FR" sz="1200" dirty="0"/>
                  <a:t> spires par mètre reliées à un GBF délivrant une tension sinusoïdale d’équation</a:t>
                </a:r>
              </a:p>
              <a:p>
                <a:pPr algn="ctr"/>
                <a:endParaRPr lang="fr-FR" sz="1200" b="0" i="1" dirty="0"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𝑢</m:t>
                      </m:r>
                      <m:d>
                        <m:d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func>
                        <m:func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200" b="0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200" dirty="0"/>
              </a:p>
              <a:p>
                <a:pPr algn="ctr"/>
                <a:endParaRPr lang="fr-FR" sz="1200" dirty="0"/>
              </a:p>
              <a:p>
                <a:r>
                  <a:rPr lang="fr-FR" sz="1200" dirty="0"/>
                  <a:t>Ainsi avec la Loi d’Ampère on a la relation : </a:t>
                </a:r>
              </a:p>
              <a:p>
                <a:endParaRPr lang="fr-FR" sz="1200" dirty="0"/>
              </a:p>
              <a:p>
                <a:pPr algn="ctr"/>
                <a14:m>
                  <m:oMath xmlns:m="http://schemas.openxmlformats.org/officeDocument/2006/math">
                    <m:r>
                      <a:rPr lang="fr-FR" sz="1200" i="1" smtClean="0">
                        <a:latin typeface="Cambria Math" panose="02040503050406030204" pitchFamily="18" charset="0"/>
                      </a:rPr>
                      <m:t>𝐵</m:t>
                    </m:r>
                    <m:d>
                      <m:d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= </m:t>
                    </m:r>
                    <m:sSub>
                      <m:sSubPr>
                        <m:ctrlP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sz="1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𝑛</m:t>
                    </m:r>
                    <m:r>
                      <a:rPr lang="fr-FR" sz="1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fr-FR" sz="1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𝑖</m:t>
                    </m:r>
                    <m:r>
                      <a:rPr lang="fr-FR" sz="1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fr-FR" sz="1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𝑡</m:t>
                    </m:r>
                    <m:r>
                      <a:rPr lang="fr-FR" sz="1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fr-FR" sz="1200" dirty="0"/>
                  <a:t>	(1)</a:t>
                </a:r>
              </a:p>
              <a:p>
                <a:endParaRPr lang="fr-FR" sz="1200" dirty="0"/>
              </a:p>
              <a:p>
                <a:r>
                  <a:rPr lang="fr-FR" sz="1200" dirty="0"/>
                  <a:t>Or, on peut calculer l’intensité traversant le Solénoïde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𝑢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𝐿</m:t>
                      </m:r>
                      <m:f>
                        <m:f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𝑑𝑖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</m:oMath>
                  </m:oMathPara>
                </a14:m>
                <a:endParaRPr lang="fr-FR" sz="12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⇔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𝑖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box>
                        <m:boxPr>
                          <m:ctrlPr>
                            <a:rPr lang="fr-FR" sz="1200" i="1" smtClean="0">
                              <a:latin typeface="Cambria Math" panose="02040503050406030204" pitchFamily="18" charset="0"/>
                            </a:rPr>
                          </m:ctrlPr>
                        </m:boxPr>
                        <m:e>
                          <m:argPr>
                            <m:argSz m:val="-1"/>
                          </m:argPr>
                          <m:f>
                            <m:fPr>
                              <m:ctrlPr>
                                <a:rPr lang="fr-FR" sz="120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den>
                          </m:f>
                        </m:e>
                      </m:box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fr-FR" sz="120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d>
                            <m:d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𝑑𝑡</m:t>
                          </m:r>
                        </m:e>
                      </m:nary>
                    </m:oMath>
                  </m:oMathPara>
                </a14:m>
                <a:endParaRPr lang="fr-FR" sz="12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⇔</m:t>
                      </m:r>
                      <m:r>
                        <a:rPr lang="fr-FR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𝑖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box>
                        <m:box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boxPr>
                        <m:e>
                          <m:argPr>
                            <m:argSz m:val="-1"/>
                          </m:argPr>
                          <m:f>
                            <m:f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𝑈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den>
                          </m:f>
                        </m:e>
                      </m:box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func>
                            <m:funcPr>
                              <m:ctrlPr>
                                <a:rPr lang="fr-FR" sz="120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 i="0" smtClean="0"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(2</m:t>
                              </m:r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sub>
                              </m:s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𝑑𝑡</m:t>
                          </m:r>
                        </m:e>
                      </m:nary>
                    </m:oMath>
                  </m:oMathPara>
                </a14:m>
                <a:endParaRPr lang="fr-FR" sz="12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⇔</m:t>
                      </m:r>
                      <m:r>
                        <a:rPr lang="fr-FR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𝑖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box>
                        <m:box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boxPr>
                        <m:e>
                          <m:argPr>
                            <m:argSz m:val="-1"/>
                          </m:argPr>
                          <m:f>
                            <m:f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𝑈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  <m:sSub>
                                <m:sSub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sub>
                              </m:sSub>
                            </m:den>
                          </m:f>
                        </m:e>
                      </m:box>
                      <m:func>
                        <m:funcPr>
                          <m:ctrlPr>
                            <a:rPr lang="fr-FR" sz="120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200" i="0" smtClean="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Ainsi on injecte dans (1) :</a:t>
                </a:r>
              </a:p>
              <a:p>
                <a:endParaRPr lang="fr-FR" sz="12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d>
                        <m:dPr>
                          <m:ctrlP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𝑈</m:t>
                              </m:r>
                            </m:e>
                            <m:sub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num>
                        <m:den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𝐿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den>
                      </m:f>
                      <m:func>
                        <m:funcPr>
                          <m:ctrlP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200" b="0" i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2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A86B66E-47C6-441C-F4F4-3C3CF30499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0933" y="1232452"/>
                <a:ext cx="4121884" cy="4431726"/>
              </a:xfrm>
              <a:prstGeom prst="rect">
                <a:avLst/>
              </a:prstGeom>
              <a:blipFill>
                <a:blip r:embed="rId2"/>
                <a:stretch>
                  <a:fillRect t="-138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8AB7894F-28BB-24A0-1546-72B7EE250F65}"/>
                  </a:ext>
                </a:extLst>
              </p:cNvPr>
              <p:cNvSpPr txBox="1"/>
              <p:nvPr/>
            </p:nvSpPr>
            <p:spPr>
              <a:xfrm>
                <a:off x="4695673" y="1232452"/>
                <a:ext cx="4121884" cy="2915735"/>
              </a:xfrm>
              <a:prstGeom prst="rect">
                <a:avLst/>
              </a:prstGeom>
              <a:noFill/>
            </p:spPr>
            <p:txBody>
              <a:bodyPr wrap="square" numCol="3" rtlCol="0">
                <a:spAutoFit/>
              </a:bodyPr>
              <a:lstStyle/>
              <a:p>
                <a:r>
                  <a:rPr lang="fr-FR" sz="1200" dirty="0"/>
                  <a:t>Maintenant, on peut donc poser :</a:t>
                </a:r>
              </a:p>
              <a:p>
                <a:pPr algn="ctr"/>
                <a:endParaRPr lang="fr-FR" sz="1200" b="0" i="1" dirty="0"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𝑈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num>
                        <m:den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fr-FR" sz="1200" dirty="0"/>
              </a:p>
              <a:p>
                <a:pPr algn="ctr"/>
                <a:endParaRPr lang="fr-FR" sz="1200" dirty="0"/>
              </a:p>
              <a:p>
                <a:r>
                  <a:rPr lang="fr-FR" sz="1200" dirty="0"/>
                  <a:t>Ainsi, en rajoutant le terme empirique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fr-FR" sz="1200" dirty="0"/>
                  <a:t> : </a:t>
                </a:r>
              </a:p>
              <a:p>
                <a:endParaRPr lang="fr-FR" sz="12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d>
                        <m:dPr>
                          <m:ctrlP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func>
                        <m:funcPr>
                          <m:ctrlP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200" b="0" i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sub>
                              </m:sSub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e>
                      </m:func>
                      <m:r>
                        <a:rPr lang="fr-FR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(1+</m:t>
                      </m:r>
                      <m:r>
                        <a:rPr lang="fr-FR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fr-FR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fr-FR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200" dirty="0">
                  <a:solidFill>
                    <a:srgbClr val="C00000"/>
                  </a:solidFill>
                </a:endParaRPr>
              </a:p>
              <a:p>
                <a:endParaRPr lang="fr-FR" sz="1200" dirty="0">
                  <a:solidFill>
                    <a:srgbClr val="C00000"/>
                  </a:solidFill>
                </a:endParaRPr>
              </a:p>
              <a:p>
                <a:r>
                  <a:rPr lang="fr-FR" sz="1200" dirty="0"/>
                  <a:t>On veut maintenant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−2</m:t>
                        </m:r>
                      </m:sup>
                    </m:sSup>
                  </m:oMath>
                </a14:m>
                <a:r>
                  <a:rPr lang="fr-FR" sz="1200" dirty="0"/>
                  <a:t>, ainsi on choisi arbitrairement :</a:t>
                </a:r>
              </a:p>
              <a:p>
                <a:endParaRPr lang="fr-FR" sz="1200" dirty="0"/>
              </a:p>
              <a:p>
                <a:pPr marL="171450" indent="-171450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nor/>
                      </m:rPr>
                      <a:rPr lang="fr-FR" sz="1200" b="0" i="0" smtClean="0">
                        <a:latin typeface="Cambria Math" panose="02040503050406030204" pitchFamily="18" charset="0"/>
                      </a:rPr>
                      <m:t>12 </m:t>
                    </m:r>
                    <m:r>
                      <m:rPr>
                        <m:nor/>
                      </m:rPr>
                      <a:rPr lang="fr-FR" sz="1200" b="0" i="0" smtClean="0">
                        <a:latin typeface="Cambria Math" panose="02040503050406030204" pitchFamily="18" charset="0"/>
                      </a:rPr>
                      <m:t>V</m:t>
                    </m:r>
                  </m:oMath>
                </a14:m>
                <a:endParaRPr lang="fr-FR" sz="1200" b="0" dirty="0"/>
              </a:p>
              <a:p>
                <a:pPr marL="171450" indent="-171450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20 000 </m:t>
                    </m:r>
                    <m:sSup>
                      <m:sSup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nor/>
                          </m:rPr>
                          <a:rPr lang="fr-FR" sz="1200" b="0" i="0" smtClean="0">
                            <a:latin typeface="Cambria Math" panose="02040503050406030204" pitchFamily="18" charset="0"/>
                          </a:rPr>
                          <m:t>m</m:t>
                        </m:r>
                      </m:e>
                      <m:sup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r>
                  <a:rPr lang="fr-FR" sz="1200" dirty="0"/>
                  <a:t> </a:t>
                </a:r>
              </a:p>
              <a:p>
                <a:pPr marL="171450" indent="-171450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𝐿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0,1 </m:t>
                    </m:r>
                    <m:r>
                      <m:rPr>
                        <m:nor/>
                      </m:rPr>
                      <a:rPr lang="fr-FR" sz="1200" b="0" i="0" smtClean="0">
                        <a:latin typeface="Cambria Math" panose="02040503050406030204" pitchFamily="18" charset="0"/>
                      </a:rPr>
                      <m:t>H</m:t>
                    </m:r>
                  </m:oMath>
                </a14:m>
                <a:endParaRPr lang="fr-FR" sz="12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8AB7894F-28BB-24A0-1546-72B7EE250F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95673" y="1232452"/>
                <a:ext cx="4121884" cy="2915735"/>
              </a:xfrm>
              <a:prstGeom prst="rect">
                <a:avLst/>
              </a:prstGeom>
              <a:blipFill>
                <a:blip r:embed="rId3"/>
                <a:stretch>
                  <a:fillRect t="-209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60044434"/>
      </p:ext>
    </p:extLst>
  </p:cSld>
  <p:clrMapOvr>
    <a:masterClrMapping/>
  </p:clrMapOvr>
</p:sld>
</file>

<file path=ppt/theme/theme1.xml><?xml version="1.0" encoding="utf-8"?>
<a:theme xmlns:a="http://schemas.openxmlformats.org/drawingml/2006/main" name="Retrospect">
  <a:themeElements>
    <a:clrScheme name="Blue Warm">
      <a:dk1>
        <a:sysClr val="windowText" lastClr="000000"/>
      </a:dk1>
      <a:lt1>
        <a:sysClr val="window" lastClr="FFFFFF"/>
      </a:lt1>
      <a:dk2>
        <a:srgbClr val="242852"/>
      </a:dk2>
      <a:lt2>
        <a:srgbClr val="ACCBF9"/>
      </a:lt2>
      <a:accent1>
        <a:srgbClr val="4A66AC"/>
      </a:accent1>
      <a:accent2>
        <a:srgbClr val="629DD1"/>
      </a:accent2>
      <a:accent3>
        <a:srgbClr val="297FD5"/>
      </a:accent3>
      <a:accent4>
        <a:srgbClr val="7F8FA9"/>
      </a:accent4>
      <a:accent5>
        <a:srgbClr val="5AA2AE"/>
      </a:accent5>
      <a:accent6>
        <a:srgbClr val="9D90A0"/>
      </a:accent6>
      <a:hlink>
        <a:srgbClr val="9454C3"/>
      </a:hlink>
      <a:folHlink>
        <a:srgbClr val="3EBBF0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0</TotalTime>
  <Words>2493</Words>
  <Application>Microsoft Office PowerPoint</Application>
  <PresentationFormat>On-screen Show (4:3)</PresentationFormat>
  <Paragraphs>424</Paragraphs>
  <Slides>25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31" baseType="lpstr">
      <vt:lpstr>Arial</vt:lpstr>
      <vt:lpstr>Arial Black</vt:lpstr>
      <vt:lpstr>Calibri</vt:lpstr>
      <vt:lpstr>Cambria Math</vt:lpstr>
      <vt:lpstr>Wingdings</vt:lpstr>
      <vt:lpstr>Retrospect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Christophe MOREL</dc:creator>
  <cp:lastModifiedBy>Christophe MOREL</cp:lastModifiedBy>
  <cp:revision>223</cp:revision>
  <dcterms:created xsi:type="dcterms:W3CDTF">2025-06-09T15:35:56Z</dcterms:created>
  <dcterms:modified xsi:type="dcterms:W3CDTF">2025-11-03T19:52:57Z</dcterms:modified>
</cp:coreProperties>
</file>