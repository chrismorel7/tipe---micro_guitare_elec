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7"/>
  </p:notesMasterIdLst>
  <p:sldIdLst>
    <p:sldId id="256" r:id="rId2"/>
    <p:sldId id="265" r:id="rId3"/>
    <p:sldId id="278" r:id="rId4"/>
    <p:sldId id="289" r:id="rId5"/>
    <p:sldId id="295" r:id="rId6"/>
    <p:sldId id="281" r:id="rId7"/>
    <p:sldId id="297" r:id="rId8"/>
    <p:sldId id="313" r:id="rId9"/>
    <p:sldId id="311" r:id="rId10"/>
    <p:sldId id="315" r:id="rId11"/>
    <p:sldId id="285" r:id="rId12"/>
    <p:sldId id="303" r:id="rId13"/>
    <p:sldId id="271" r:id="rId14"/>
    <p:sldId id="302" r:id="rId15"/>
    <p:sldId id="272" r:id="rId16"/>
    <p:sldId id="277" r:id="rId17"/>
    <p:sldId id="304" r:id="rId18"/>
    <p:sldId id="305" r:id="rId19"/>
    <p:sldId id="275" r:id="rId20"/>
    <p:sldId id="306" r:id="rId21"/>
    <p:sldId id="307" r:id="rId22"/>
    <p:sldId id="308" r:id="rId23"/>
    <p:sldId id="309" r:id="rId24"/>
    <p:sldId id="310" r:id="rId25"/>
    <p:sldId id="312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4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3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1.png"/><Relationship Id="rId7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3.jpeg"/><Relationship Id="rId10" Type="http://schemas.openxmlformats.org/officeDocument/2006/relationships/image" Target="../media/image33.png"/><Relationship Id="rId9" Type="http://schemas.openxmlformats.org/officeDocument/2006/relationships/image" Target="../media/image32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microsoft.com/office/2007/relationships/hdphoto" Target="../media/hdphoto5.wdp"/><Relationship Id="rId7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11" Type="http://schemas.openxmlformats.org/officeDocument/2006/relationships/image" Target="../media/image39.svg"/><Relationship Id="rId5" Type="http://schemas.openxmlformats.org/officeDocument/2006/relationships/image" Target="../media/image31.png"/><Relationship Id="rId10" Type="http://schemas.openxmlformats.org/officeDocument/2006/relationships/image" Target="../media/image38.png"/><Relationship Id="rId4" Type="http://schemas.openxmlformats.org/officeDocument/2006/relationships/image" Target="../media/image35.png"/><Relationship Id="rId9" Type="http://schemas.openxmlformats.org/officeDocument/2006/relationships/image" Target="../media/image14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117D65C-7CC4-2723-3268-C42CB747B7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65" y="3761948"/>
            <a:ext cx="3580049" cy="237469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7F389BB-5765-5057-0E2A-5287D0B367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666" y="1068388"/>
            <a:ext cx="3275246" cy="248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=4755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2088" r="12500" b="11288"/>
          <a:stretch>
            <a:fillRect/>
          </a:stretch>
        </p:blipFill>
        <p:spPr>
          <a:xfrm>
            <a:off x="6484584" y="4132580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9689" r="12500" b="10815"/>
          <a:stretch>
            <a:fillRect/>
          </a:stretch>
        </p:blipFill>
        <p:spPr>
          <a:xfrm>
            <a:off x="6484584" y="1564641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284640"/>
            <a:ext cx="371869" cy="1098711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33312" y="4101308"/>
            <a:ext cx="1130674" cy="37186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Montage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10" r="28000"/>
          <a:stretch>
            <a:fillRect/>
          </a:stretch>
        </p:blipFill>
        <p:spPr>
          <a:xfrm rot="5400000">
            <a:off x="3336154" y="628547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241673" y="3568131"/>
            <a:ext cx="8797190" cy="2512959"/>
            <a:chOff x="276877" y="1673758"/>
            <a:chExt cx="8590177" cy="2512959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435622"/>
              <a:ext cx="1238" cy="7678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12" y="2491842"/>
              <a:ext cx="0" cy="469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7737734" y="2253471"/>
              <a:ext cx="1129320" cy="47674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0" y="3075480"/>
              <a:ext cx="1" cy="467778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7" name="Graphic 136" descr="Laptop with solid fill">
              <a:extLst>
                <a:ext uri="{FF2B5EF4-FFF2-40B4-BE49-F238E27FC236}">
                  <a16:creationId xmlns:a16="http://schemas.microsoft.com/office/drawing/2014/main" id="{79B305CE-629B-98B7-421B-51DD5D142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35320" y="2310473"/>
              <a:ext cx="1135578" cy="1020236"/>
            </a:xfrm>
            <a:prstGeom prst="rect">
              <a:avLst/>
            </a:prstGeom>
          </p:spPr>
        </p:pic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CF6166E1-55B3-82A6-027C-BD79359D9375}"/>
                </a:ext>
              </a:extLst>
            </p:cNvPr>
            <p:cNvSpPr/>
            <p:nvPr/>
          </p:nvSpPr>
          <p:spPr>
            <a:xfrm>
              <a:off x="3372405" y="2927901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  <a:stCxn id="139" idx="3"/>
            </p:cNvCxnSpPr>
            <p:nvPr/>
          </p:nvCxnSpPr>
          <p:spPr>
            <a:xfrm>
              <a:off x="3700461" y="3075480"/>
              <a:ext cx="4601934" cy="2104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 flipH="1">
              <a:off x="8302395" y="2730213"/>
              <a:ext cx="0" cy="36631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3880" y="3201475"/>
              <a:ext cx="4682062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3700461" y="2961823"/>
              <a:ext cx="4521751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AC185E0-3895-49B5-69F3-576E14AAA351}"/>
                </a:ext>
              </a:extLst>
            </p:cNvPr>
            <p:cNvCxnSpPr>
              <a:cxnSpLocks/>
              <a:stCxn id="139" idx="1"/>
            </p:cNvCxnSpPr>
            <p:nvPr/>
          </p:nvCxnSpPr>
          <p:spPr>
            <a:xfrm flipH="1">
              <a:off x="2841714" y="3075480"/>
              <a:ext cx="53069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E0A235A3-1DD3-69E0-A93E-D490EAC68998}"/>
                </a:ext>
              </a:extLst>
            </p:cNvPr>
            <p:cNvSpPr txBox="1"/>
            <p:nvPr/>
          </p:nvSpPr>
          <p:spPr>
            <a:xfrm>
              <a:off x="2076228" y="2207578"/>
              <a:ext cx="453763" cy="2616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B3B3ADA7-B948-2104-7DE5-3E6A332C712D}"/>
                </a:ext>
              </a:extLst>
            </p:cNvPr>
            <p:cNvSpPr txBox="1"/>
            <p:nvPr/>
          </p:nvSpPr>
          <p:spPr>
            <a:xfrm>
              <a:off x="2890931" y="2438627"/>
              <a:ext cx="1291003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C19550B-C868-D23F-A849-C3A81B7D19F6}"/>
                </a:ext>
              </a:extLst>
            </p:cNvPr>
            <p:cNvSpPr txBox="1"/>
            <p:nvPr/>
          </p:nvSpPr>
          <p:spPr>
            <a:xfrm>
              <a:off x="276877" y="3062976"/>
              <a:ext cx="942141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158" name="Connector: Elbow 157">
              <a:extLst>
                <a:ext uri="{FF2B5EF4-FFF2-40B4-BE49-F238E27FC236}">
                  <a16:creationId xmlns:a16="http://schemas.microsoft.com/office/drawing/2014/main" id="{18D70CF5-02D8-B0D6-6C69-D686208FF3DF}"/>
                </a:ext>
              </a:extLst>
            </p:cNvPr>
            <p:cNvCxnSpPr>
              <a:cxnSpLocks/>
              <a:stCxn id="157" idx="2"/>
            </p:cNvCxnSpPr>
            <p:nvPr/>
          </p:nvCxnSpPr>
          <p:spPr>
            <a:xfrm rot="16200000" flipH="1">
              <a:off x="912189" y="3175733"/>
              <a:ext cx="530115" cy="858599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1008410" y="1673758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241672" y="2161710"/>
            <a:ext cx="1156536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2"/>
          </p:cNvCxnSpPr>
          <p:nvPr/>
        </p:nvCxnSpPr>
        <p:spPr>
          <a:xfrm rot="5400000" flipH="1" flipV="1">
            <a:off x="2927948" y="2309642"/>
            <a:ext cx="176907" cy="2337765"/>
          </a:xfrm>
          <a:prstGeom prst="bentConnector4">
            <a:avLst>
              <a:gd name="adj1" fmla="val -129220"/>
              <a:gd name="adj2" fmla="val 392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05677" y="328997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4E4437-19EA-66BF-BA5A-9EE6F1672D84}"/>
              </a:ext>
            </a:extLst>
          </p:cNvPr>
          <p:cNvSpPr txBox="1"/>
          <p:nvPr/>
        </p:nvSpPr>
        <p:spPr>
          <a:xfrm flipH="1">
            <a:off x="595630" y="2827750"/>
            <a:ext cx="1017089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Bloc Vibrato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0CF213E-008E-4A8D-6501-BDD398F5D32B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>
            <a:off x="-229984" y="3098063"/>
            <a:ext cx="1709278" cy="390570"/>
          </a:xfrm>
          <a:prstGeom prst="bentConnector3">
            <a:avLst>
              <a:gd name="adj1" fmla="val 1371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3D7372AD-B6DB-EDF0-672C-2C3172AF5ADF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 flipH="1" flipV="1">
            <a:off x="1650967" y="1242167"/>
            <a:ext cx="365515" cy="2027570"/>
          </a:xfrm>
          <a:prstGeom prst="bentConnector4">
            <a:avLst>
              <a:gd name="adj1" fmla="val -62542"/>
              <a:gd name="adj2" fmla="val 6426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D4737D24-5716-EBA7-B930-2476D73A35C3}"/>
              </a:ext>
            </a:extLst>
          </p:cNvPr>
          <p:cNvCxnSpPr>
            <a:cxnSpLocks/>
            <a:stCxn id="26" idx="2"/>
          </p:cNvCxnSpPr>
          <p:nvPr/>
        </p:nvCxnSpPr>
        <p:spPr>
          <a:xfrm rot="16200000" flipH="1">
            <a:off x="2368016" y="1840907"/>
            <a:ext cx="73450" cy="260113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F434FD5D-93F6-642D-A37C-351B8EAF0B65}"/>
              </a:ext>
            </a:extLst>
          </p:cNvPr>
          <p:cNvCxnSpPr>
            <a:cxnSpLocks/>
            <a:stCxn id="26" idx="2"/>
          </p:cNvCxnSpPr>
          <p:nvPr/>
        </p:nvCxnSpPr>
        <p:spPr>
          <a:xfrm rot="16200000" flipH="1">
            <a:off x="422265" y="3786658"/>
            <a:ext cx="2340950" cy="977132"/>
          </a:xfrm>
          <a:prstGeom prst="bentConnector3">
            <a:avLst>
              <a:gd name="adj1" fmla="val 3981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325767" y="4088730"/>
            <a:ext cx="1960625" cy="917119"/>
          </a:xfrm>
          <a:prstGeom prst="bentConnector3">
            <a:avLst>
              <a:gd name="adj1" fmla="val 1187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 flipH="1" flipV="1">
            <a:off x="3642795" y="3578854"/>
            <a:ext cx="701647" cy="905165"/>
          </a:xfrm>
          <a:prstGeom prst="bentConnector4">
            <a:avLst>
              <a:gd name="adj1" fmla="val -32580"/>
              <a:gd name="adj2" fmla="val 100095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6484423" y="4339284"/>
            <a:ext cx="1975225" cy="986917"/>
          </a:xfrm>
          <a:prstGeom prst="bentConnector3">
            <a:avLst>
              <a:gd name="adj1" fmla="val 7294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6747383" y="2627020"/>
            <a:ext cx="12700" cy="2436220"/>
          </a:xfrm>
          <a:prstGeom prst="bentConnector4">
            <a:avLst>
              <a:gd name="adj1" fmla="val 1200000"/>
              <a:gd name="adj2" fmla="val 2443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Permittivité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AEA15F-90E5-7E89-2B99-1E62239052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50"/>
                    </a14:imgEffect>
                    <a14:imgEffect>
                      <a14:brightnessContrast contrast="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36" y="2378273"/>
            <a:ext cx="3803452" cy="2880000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3175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819" y="2378273"/>
            <a:ext cx="3784945" cy="28387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C36FC19D-66E8-2448-5190-B6C0C4AB40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4259024-A7F2-48A1-4831-F42943EFB322}"/>
              </a:ext>
            </a:extLst>
          </p:cNvPr>
          <p:cNvSpPr txBox="1"/>
          <p:nvPr/>
        </p:nvSpPr>
        <p:spPr>
          <a:xfrm>
            <a:off x="859341" y="5633474"/>
            <a:ext cx="3361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Expérience avec champ parasite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Comprendre l’Origine des écart Th VS </a:t>
            </a:r>
            <a:r>
              <a:rPr lang="fr-FR" sz="1200" dirty="0" err="1"/>
              <a:t>Exp</a:t>
            </a:r>
            <a:endParaRPr lang="fr-FR" sz="1200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34312658-7780-93C5-4649-74867AA9F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902881"/>
              </p:ext>
            </p:extLst>
          </p:nvPr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BD4CE6ED-3933-6033-3C61-2E11FC402E1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D7137CF5-0677-230A-0BF6-28C8E9EEA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758276"/>
              </p:ext>
            </p:extLst>
          </p:nvPr>
        </p:nvGraphicFramePr>
        <p:xfrm>
          <a:off x="4739040" y="1145148"/>
          <a:ext cx="3545543" cy="908253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amplitude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Harmonique Différentes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DA843A0-347E-FF8C-9B9C-C631DD7F52F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A490BCE1-4DBF-98D0-CD8A-8FB86D8798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435742" y="5258273"/>
            <a:ext cx="3766439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Résultats Expérimentaux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Résultats Théorique</a:t>
            </a:r>
          </a:p>
        </p:txBody>
      </p:sp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2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blipFill>
                <a:blip r:embed="rId3"/>
                <a:stretch>
                  <a:fillRect t="-372" r="-592" b="-3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F449-F12E-20C8-C0D1-634A3CB8B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2ABB287-8726-E900-C580-068711EB8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A79F1EC-C59B-2BC9-C9CA-8510A7409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8D6DB69-B932-38DD-65FC-02CC12E3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5469CF-57F9-C58F-E156-BA22C2D6F76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C17A12-03C7-373B-4860-B9427BD2E3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E121C-455F-0535-DE45-4973F50C5F73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6.1 : Dimensionnement du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FAC69F-A984-5869-DBA0-BD5CC24ECB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considère un Solénoïde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 spires par mètre reliées à un GBF délivrant une tension sinusoïdale d’équation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avec la Loi d’Ampère on a la relation : </a:t>
                </a:r>
              </a:p>
              <a:p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200" dirty="0"/>
                  <a:t>	(1)</a:t>
                </a:r>
              </a:p>
              <a:p>
                <a:endParaRPr lang="fr-FR" sz="1200" dirty="0"/>
              </a:p>
              <a:p>
                <a:r>
                  <a:rPr lang="fr-FR" sz="1200" dirty="0"/>
                  <a:t>Or, on peut calculer l’intensité traversant le Solénoïde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unc>
                            <m:func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on injecte dans (1) :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blipFill>
                <a:blip r:embed="rId2"/>
                <a:stretch>
                  <a:fillRect t="-1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/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Maintenant, on peut donc poser 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Ainsi, en rajoutant le terme empirique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: 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>
                  <a:solidFill>
                    <a:srgbClr val="C00000"/>
                  </a:solidFill>
                </a:endParaRPr>
              </a:p>
              <a:p>
                <a:r>
                  <a:rPr lang="fr-FR" sz="1200" dirty="0"/>
                  <a:t>On veut maintenant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fr-FR" sz="1200" dirty="0"/>
                  <a:t>, ainsi on choisi arbitrairement :</a:t>
                </a:r>
              </a:p>
              <a:p>
                <a:endParaRPr lang="fr-FR" sz="120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12 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fr-FR" sz="1200" b="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20 000 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fr-FR" sz="1200" dirty="0"/>
                  <a:t> </a:t>
                </a:r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0,1 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blipFill>
                <a:blip r:embed="rId3"/>
                <a:stretch>
                  <a:fillRect t="-2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004443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2462</Words>
  <Application>Microsoft Office PowerPoint</Application>
  <PresentationFormat>On-screen Show (4:3)</PresentationFormat>
  <Paragraphs>404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245</cp:revision>
  <dcterms:created xsi:type="dcterms:W3CDTF">2025-06-09T15:35:56Z</dcterms:created>
  <dcterms:modified xsi:type="dcterms:W3CDTF">2025-11-13T12:16:44Z</dcterms:modified>
</cp:coreProperties>
</file>