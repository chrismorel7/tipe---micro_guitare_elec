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notesMasterIdLst>
    <p:notesMasterId r:id="rId22"/>
  </p:notesMasterIdLst>
  <p:sldIdLst>
    <p:sldId id="256" r:id="rId2"/>
    <p:sldId id="265" r:id="rId3"/>
    <p:sldId id="278" r:id="rId4"/>
    <p:sldId id="289" r:id="rId5"/>
    <p:sldId id="295" r:id="rId6"/>
    <p:sldId id="281" r:id="rId7"/>
    <p:sldId id="283" r:id="rId8"/>
    <p:sldId id="296" r:id="rId9"/>
    <p:sldId id="297" r:id="rId10"/>
    <p:sldId id="298" r:id="rId11"/>
    <p:sldId id="301" r:id="rId12"/>
    <p:sldId id="271" r:id="rId13"/>
    <p:sldId id="272" r:id="rId14"/>
    <p:sldId id="277" r:id="rId15"/>
    <p:sldId id="287" r:id="rId16"/>
    <p:sldId id="275" r:id="rId17"/>
    <p:sldId id="292" r:id="rId18"/>
    <p:sldId id="293" r:id="rId19"/>
    <p:sldId id="286" r:id="rId20"/>
    <p:sldId id="28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91" autoAdjust="0"/>
    <p:restoredTop sz="94660"/>
  </p:normalViewPr>
  <p:slideViewPr>
    <p:cSldViewPr snapToGrid="0">
      <p:cViewPr>
        <p:scale>
          <a:sx n="100" d="100"/>
          <a:sy n="100" d="100"/>
        </p:scale>
        <p:origin x="1085" y="-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E8646E-8D3C-430C-BFA9-96BAF70313EA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29F9D8-59C4-4910-A7AD-28D3BB517C7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89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2547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Micro assimilé filtre coupe bande </a:t>
            </a:r>
            <a:r>
              <a:rPr lang="fr-FR" dirty="0" err="1"/>
              <a:t>fc</a:t>
            </a:r>
            <a:r>
              <a:rPr lang="fr-FR" dirty="0"/>
              <a:t> environ 4800Hz. MAIS plus la résistance de l’ampli </a:t>
            </a:r>
            <a:r>
              <a:rPr lang="fr-FR" dirty="0" err="1"/>
              <a:t>Ramp</a:t>
            </a:r>
            <a:r>
              <a:rPr lang="fr-FR" dirty="0"/>
              <a:t> est grande, plus la perte est négligeable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29F9D8-59C4-4910-A7AD-28D3BB517C7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8950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9688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248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001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9728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575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3231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109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4298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557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132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22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C7C724F-4508-4890-B18E-3F5BB1B02F24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77F8A04-938D-4CBF-A3DC-6CB925B6FC34}" type="slidenum">
              <a:rPr lang="fr-FR" smtClean="0"/>
              <a:t>‹#›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912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jpeg"/><Relationship Id="rId7" Type="http://schemas.microsoft.com/office/2007/relationships/hdphoto" Target="../media/hdphoto2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0.png"/><Relationship Id="rId7" Type="http://schemas.openxmlformats.org/officeDocument/2006/relationships/image" Target="../media/image1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13.png"/><Relationship Id="rId10" Type="http://schemas.openxmlformats.org/officeDocument/2006/relationships/image" Target="../media/image15.png"/><Relationship Id="rId4" Type="http://schemas.openxmlformats.org/officeDocument/2006/relationships/image" Target="../media/image100.png"/><Relationship Id="rId9" Type="http://schemas.openxmlformats.org/officeDocument/2006/relationships/image" Target="../media/image14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eg"/><Relationship Id="rId3" Type="http://schemas.openxmlformats.org/officeDocument/2006/relationships/image" Target="../media/image141.png"/><Relationship Id="rId7" Type="http://schemas.openxmlformats.org/officeDocument/2006/relationships/image" Target="../media/image14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160.png"/><Relationship Id="rId10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15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ymourduncan.com/" TargetMode="External"/><Relationship Id="rId2" Type="http://schemas.openxmlformats.org/officeDocument/2006/relationships/hyperlink" Target="https://www.thomann.de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jensign.com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0.png"/><Relationship Id="rId4" Type="http://schemas.openxmlformats.org/officeDocument/2006/relationships/image" Target="../media/image2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1.png"/><Relationship Id="rId5" Type="http://schemas.openxmlformats.org/officeDocument/2006/relationships/image" Target="../media/image14.png"/><Relationship Id="rId4" Type="http://schemas.openxmlformats.org/officeDocument/2006/relationships/image" Target="../media/image2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A121F9-7273-1CF4-F60D-E01BEEB3AF96}"/>
              </a:ext>
            </a:extLst>
          </p:cNvPr>
          <p:cNvSpPr/>
          <p:nvPr/>
        </p:nvSpPr>
        <p:spPr>
          <a:xfrm>
            <a:off x="628649" y="262383"/>
            <a:ext cx="7886701" cy="77525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350" dirty="0">
                <a:latin typeface="Arial Black" panose="020B0A04020102020204" pitchFamily="34" charset="0"/>
              </a:rPr>
              <a:t>Loi d’induction de Faraday : Le fonctionnement d’une guitare électrique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5CA91E38-0C9E-C7FB-9A24-FA98AC9C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1FCC0EF-4B1B-F41C-656B-2BE699CD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305C624-2E1B-C39E-B3B4-807FF6A6B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</a:t>
            </a:fld>
            <a:endParaRPr lang="fr-FR"/>
          </a:p>
        </p:txBody>
      </p:sp>
      <p:pic>
        <p:nvPicPr>
          <p:cNvPr id="1026" name="Picture 2" descr="Guitare, La Musique, Guitare Électrique">
            <a:extLst>
              <a:ext uri="{FF2B5EF4-FFF2-40B4-BE49-F238E27FC236}">
                <a16:creationId xmlns:a16="http://schemas.microsoft.com/office/drawing/2014/main" id="{0098F414-3793-7E07-8CE1-A5A56D7C25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01" b="423"/>
          <a:stretch>
            <a:fillRect/>
          </a:stretch>
        </p:blipFill>
        <p:spPr bwMode="auto">
          <a:xfrm>
            <a:off x="628662" y="1210868"/>
            <a:ext cx="7886688" cy="4824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7878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AE0E-A710-B751-21D5-1465D956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3CE604F-6BFC-79C1-4FC3-CA1EA5356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C9A119C-A152-8451-8BAD-3058A883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A6762A-3000-D56B-00BC-9C877DB75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2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1B7045-CF40-0E65-A5C7-9FB0BF30525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0A1813A-2397-9FF3-55B4-A7083DA4BF3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3AB908-2C09-A846-F7C5-107A095B6297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Problématique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96A7184-965A-9FF1-E334-6E9025994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4019" y="2253924"/>
            <a:ext cx="742534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2000" dirty="0"/>
              <a:t>Comment </a:t>
            </a:r>
            <a:r>
              <a:rPr lang="fr-FR" sz="2000" b="1" dirty="0"/>
              <a:t>le type de micro </a:t>
            </a:r>
            <a:r>
              <a:rPr lang="fr-FR" sz="2000" dirty="0"/>
              <a:t>influence-t-il le </a:t>
            </a:r>
            <a:r>
              <a:rPr lang="fr-FR" sz="2000" b="1" dirty="0"/>
              <a:t>timbre</a:t>
            </a:r>
            <a:r>
              <a:rPr lang="fr-FR" sz="2000" dirty="0"/>
              <a:t> et </a:t>
            </a:r>
            <a:r>
              <a:rPr lang="fr-FR" sz="2000" b="1" dirty="0"/>
              <a:t>l’amplitude</a:t>
            </a:r>
            <a:r>
              <a:rPr lang="fr-FR" sz="2000" dirty="0"/>
              <a:t> du </a:t>
            </a:r>
            <a:r>
              <a:rPr lang="fr-FR" sz="2000" b="1" dirty="0"/>
              <a:t>son</a:t>
            </a:r>
            <a:r>
              <a:rPr lang="fr-FR" sz="2000" dirty="0"/>
              <a:t> d’une guitare électrique ?</a:t>
            </a:r>
            <a:endParaRPr kumimoji="0" lang="fr-FR" altLang="fr-FR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4EE9D4-1D4E-E6DD-563B-928B9E769F11}"/>
              </a:ext>
            </a:extLst>
          </p:cNvPr>
          <p:cNvSpPr txBox="1"/>
          <p:nvPr/>
        </p:nvSpPr>
        <p:spPr>
          <a:xfrm>
            <a:off x="822961" y="4436823"/>
            <a:ext cx="3749039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Single </a:t>
            </a:r>
            <a:r>
              <a:rPr lang="fr-FR" dirty="0" err="1"/>
              <a:t>Coil</a:t>
            </a:r>
            <a:r>
              <a:rPr lang="fr-FR" dirty="0"/>
              <a:t> </a:t>
            </a:r>
          </a:p>
          <a:p>
            <a:pPr algn="ctr"/>
            <a:r>
              <a:rPr lang="fr-FR" dirty="0"/>
              <a:t>(ou simple bobinage)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7F5EE0-EFED-C507-DAB9-15D261AF6049}"/>
              </a:ext>
            </a:extLst>
          </p:cNvPr>
          <p:cNvSpPr txBox="1"/>
          <p:nvPr/>
        </p:nvSpPr>
        <p:spPr>
          <a:xfrm>
            <a:off x="4572000" y="4436823"/>
            <a:ext cx="3837363" cy="64633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fr-FR" dirty="0"/>
              <a:t>Humbucker </a:t>
            </a:r>
          </a:p>
          <a:p>
            <a:pPr algn="ctr"/>
            <a:r>
              <a:rPr lang="fr-FR" dirty="0"/>
              <a:t>(ou double bobinage)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3DBB3E-CACA-593E-E545-39E8047A68D3}"/>
              </a:ext>
            </a:extLst>
          </p:cNvPr>
          <p:cNvSpPr txBox="1"/>
          <p:nvPr/>
        </p:nvSpPr>
        <p:spPr>
          <a:xfrm>
            <a:off x="2802834" y="3896190"/>
            <a:ext cx="3538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Types de micro :</a:t>
            </a:r>
          </a:p>
        </p:txBody>
      </p:sp>
    </p:spTree>
    <p:extLst>
      <p:ext uri="{BB962C8B-B14F-4D97-AF65-F5344CB8AC3E}">
        <p14:creationId xmlns:p14="http://schemas.microsoft.com/office/powerpoint/2010/main" val="1424046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B8DB-462A-9B19-1F31-BB4FD26B1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94FB20C-02CF-35BD-3AB9-670C42C7A9C6}"/>
              </a:ext>
            </a:extLst>
          </p:cNvPr>
          <p:cNvSpPr/>
          <p:nvPr/>
        </p:nvSpPr>
        <p:spPr>
          <a:xfrm>
            <a:off x="322686" y="4268850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FEDDED1E-275F-6831-62E9-95476B04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7C1D5E31-18D5-EFA4-FF70-9C214035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916D650-4C5C-541D-6925-FDAE466CB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3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88C05C-557A-D965-1B57-D283BF34BE5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018A027-1E36-7A49-BFE5-C63B39A43736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D89E9-806A-4E89-859A-696AFF1D31B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Comment fonctionne une guitare électrique 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2E8534-760B-A9A0-98A4-5631C1A1EEAC}"/>
              </a:ext>
            </a:extLst>
          </p:cNvPr>
          <p:cNvGrpSpPr/>
          <p:nvPr/>
        </p:nvGrpSpPr>
        <p:grpSpPr>
          <a:xfrm>
            <a:off x="406695" y="1450258"/>
            <a:ext cx="4737343" cy="4279165"/>
            <a:chOff x="-34756" y="1586102"/>
            <a:chExt cx="4737343" cy="427916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4E26F642-1EDB-D9D0-339B-2432C09158E6}"/>
                </a:ext>
              </a:extLst>
            </p:cNvPr>
            <p:cNvGrpSpPr/>
            <p:nvPr/>
          </p:nvGrpSpPr>
          <p:grpSpPr>
            <a:xfrm>
              <a:off x="-34756" y="1586102"/>
              <a:ext cx="4437385" cy="3960146"/>
              <a:chOff x="-34756" y="1586102"/>
              <a:chExt cx="4437385" cy="3960146"/>
            </a:xfrm>
          </p:grpSpPr>
          <p:pic>
            <p:nvPicPr>
              <p:cNvPr id="11" name="Picture 2" descr="5 Best Humbuckers: Gear Guide to Amazing Pickups | Equipboard®">
                <a:extLst>
                  <a:ext uri="{FF2B5EF4-FFF2-40B4-BE49-F238E27FC236}">
                    <a16:creationId xmlns:a16="http://schemas.microsoft.com/office/drawing/2014/main" id="{EF933A2A-B5DF-0F82-4FC8-301F3207B1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666" t="-7130" r="-141" b="-876"/>
              <a:stretch>
                <a:fillRect/>
              </a:stretch>
            </p:blipFill>
            <p:spPr bwMode="auto">
              <a:xfrm>
                <a:off x="2743124" y="4230934"/>
                <a:ext cx="1637990" cy="1315314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5 Best Humbuckers: Gear Guide to Amazing Pickups | Equipboard®">
                <a:extLst>
                  <a:ext uri="{FF2B5EF4-FFF2-40B4-BE49-F238E27FC236}">
                    <a16:creationId xmlns:a16="http://schemas.microsoft.com/office/drawing/2014/main" id="{D101A5E5-BA4D-16F2-BED9-3954FE2B9A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83" t="-8093" r="50325" b="-7437"/>
              <a:stretch>
                <a:fillRect/>
              </a:stretch>
            </p:blipFill>
            <p:spPr bwMode="auto">
              <a:xfrm>
                <a:off x="2764639" y="2136281"/>
                <a:ext cx="1637990" cy="1406367"/>
              </a:xfrm>
              <a:prstGeom prst="ellipse">
                <a:avLst/>
              </a:prstGeom>
              <a:ln w="63500" cap="rnd">
                <a:solidFill>
                  <a:srgbClr val="333333"/>
                </a:solidFill>
              </a:ln>
              <a:effectLst>
                <a:outerShdw blurRad="381000" dist="292100" dir="5400000" sx="-80000" sy="-18000" rotWithShape="0">
                  <a:srgbClr val="000000">
                    <a:alpha val="22000"/>
                  </a:srgbClr>
                </a:outerShdw>
              </a:effectLst>
              <a:scene3d>
                <a:camera prst="orthographicFront"/>
                <a:lightRig rig="contrasting" dir="t">
                  <a:rot lat="0" lon="0" rev="3000000"/>
                </a:lightRig>
              </a:scene3d>
              <a:sp3d contourW="7620">
                <a:bevelT w="95250" h="31750"/>
                <a:contourClr>
                  <a:srgbClr val="333333"/>
                </a:contourClr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A86E6CB6-2C7D-D59A-DF2C-EA03047A1D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20587223">
                <a:off x="-34756" y="1586102"/>
                <a:ext cx="3569635" cy="356963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3" name="Connector: Curved 12">
                <a:extLst>
                  <a:ext uri="{FF2B5EF4-FFF2-40B4-BE49-F238E27FC236}">
                    <a16:creationId xmlns:a16="http://schemas.microsoft.com/office/drawing/2014/main" id="{9CC502A0-585D-65D8-BE79-3175E05CA0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447764" y="2873204"/>
                <a:ext cx="1316875" cy="1241596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Connector: Curved 16">
                <a:extLst>
                  <a:ext uri="{FF2B5EF4-FFF2-40B4-BE49-F238E27FC236}">
                    <a16:creationId xmlns:a16="http://schemas.microsoft.com/office/drawing/2014/main" id="{8EFCF990-1181-93F4-481C-E26808409BF1}"/>
                  </a:ext>
                </a:extLst>
              </p:cNvPr>
              <p:cNvCxnSpPr>
                <a:cxnSpLocks/>
                <a:endCxn id="11" idx="2"/>
              </p:cNvCxnSpPr>
              <p:nvPr/>
            </p:nvCxnSpPr>
            <p:spPr>
              <a:xfrm>
                <a:off x="1210381" y="4529667"/>
                <a:ext cx="1532743" cy="358924"/>
              </a:xfrm>
              <a:prstGeom prst="curvedConnector3">
                <a:avLst>
                  <a:gd name="adj1" fmla="val 50000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270C04-EA57-651F-EDDD-A94BAC32E88F}"/>
                </a:ext>
              </a:extLst>
            </p:cNvPr>
            <p:cNvSpPr/>
            <p:nvPr/>
          </p:nvSpPr>
          <p:spPr>
            <a:xfrm>
              <a:off x="3052943" y="3223152"/>
              <a:ext cx="1018352" cy="1080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900" b="1" dirty="0">
                  <a:solidFill>
                    <a:schemeClr val="tx1"/>
                  </a:solidFill>
                </a:rPr>
                <a:t>Micro Simple Bobinage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071E06E-24A1-72B4-FDB8-7EF1C91610E7}"/>
                </a:ext>
              </a:extLst>
            </p:cNvPr>
            <p:cNvSpPr txBox="1"/>
            <p:nvPr/>
          </p:nvSpPr>
          <p:spPr>
            <a:xfrm>
              <a:off x="115978" y="5305567"/>
              <a:ext cx="204994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</a:rPr>
                <a:t>Source image : Ibanez.com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6107C41-0105-178A-FD27-7A8169B1D63D}"/>
                </a:ext>
              </a:extLst>
            </p:cNvPr>
            <p:cNvSpPr txBox="1"/>
            <p:nvPr/>
          </p:nvSpPr>
          <p:spPr>
            <a:xfrm>
              <a:off x="2421650" y="5588268"/>
              <a:ext cx="22809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200" dirty="0">
                  <a:solidFill>
                    <a:schemeClr val="bg1">
                      <a:lumMod val="50000"/>
                    </a:schemeClr>
                  </a:solidFill>
                </a:rPr>
                <a:t>Source image : zonagitar.net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1722B83-45F3-5744-53DC-A62D4D10B97F}"/>
              </a:ext>
            </a:extLst>
          </p:cNvPr>
          <p:cNvGrpSpPr/>
          <p:nvPr/>
        </p:nvGrpSpPr>
        <p:grpSpPr>
          <a:xfrm>
            <a:off x="5332797" y="1183684"/>
            <a:ext cx="3253774" cy="2467030"/>
            <a:chOff x="5667169" y="1186325"/>
            <a:chExt cx="3253774" cy="246703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31DA7C6-3177-5DAE-EA3B-CBADF68E40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67169" y="1244713"/>
              <a:ext cx="2880000" cy="2408642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DD1E2B4-4DC4-BFF8-BCFA-2B72083095DB}"/>
                </a:ext>
              </a:extLst>
            </p:cNvPr>
            <p:cNvSpPr txBox="1"/>
            <p:nvPr/>
          </p:nvSpPr>
          <p:spPr>
            <a:xfrm>
              <a:off x="7961130" y="1186325"/>
              <a:ext cx="776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Corde</a:t>
              </a:r>
              <a:endParaRPr lang="fr-FR" b="1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F622751-A6D0-42C3-28B3-F68D18C67F78}"/>
                </a:ext>
              </a:extLst>
            </p:cNvPr>
            <p:cNvSpPr txBox="1"/>
            <p:nvPr/>
          </p:nvSpPr>
          <p:spPr>
            <a:xfrm>
              <a:off x="7961130" y="1634635"/>
              <a:ext cx="8803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Aimant</a:t>
              </a:r>
              <a:endParaRPr lang="fr-FR" b="1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3DA263E-0590-99A6-59B0-5A7FFF31BF9B}"/>
                </a:ext>
              </a:extLst>
            </p:cNvPr>
            <p:cNvSpPr txBox="1"/>
            <p:nvPr/>
          </p:nvSpPr>
          <p:spPr>
            <a:xfrm>
              <a:off x="8042176" y="2534650"/>
              <a:ext cx="8787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Bobine</a:t>
              </a:r>
              <a:endParaRPr lang="fr-FR" b="1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8859890-BEA0-2A6D-B83D-F447B7BF2099}"/>
              </a:ext>
            </a:extLst>
          </p:cNvPr>
          <p:cNvGrpSpPr/>
          <p:nvPr/>
        </p:nvGrpSpPr>
        <p:grpSpPr>
          <a:xfrm>
            <a:off x="5030505" y="3629305"/>
            <a:ext cx="3556066" cy="2358182"/>
            <a:chOff x="5460435" y="3589841"/>
            <a:chExt cx="3556066" cy="2358182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B0AA049-23B8-B6FC-3C64-5926BB74B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60435" y="3668769"/>
              <a:ext cx="2880000" cy="2279254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41465CF-7C7E-9F23-FE0D-44E273ADDF05}"/>
                </a:ext>
              </a:extLst>
            </p:cNvPr>
            <p:cNvSpPr txBox="1"/>
            <p:nvPr/>
          </p:nvSpPr>
          <p:spPr>
            <a:xfrm>
              <a:off x="7917353" y="3589841"/>
              <a:ext cx="7761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Corde</a:t>
              </a:r>
              <a:endParaRPr lang="fr-FR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713B603-29FF-1082-A698-6D63F694086E}"/>
                </a:ext>
              </a:extLst>
            </p:cNvPr>
            <p:cNvSpPr txBox="1"/>
            <p:nvPr/>
          </p:nvSpPr>
          <p:spPr>
            <a:xfrm>
              <a:off x="8020906" y="4022548"/>
              <a:ext cx="8803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Aimant</a:t>
              </a:r>
              <a:endParaRPr lang="fr-FR" b="1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DF1D9EF-CD58-7C8B-9033-3D57E532EBBC}"/>
                </a:ext>
              </a:extLst>
            </p:cNvPr>
            <p:cNvSpPr txBox="1"/>
            <p:nvPr/>
          </p:nvSpPr>
          <p:spPr>
            <a:xfrm>
              <a:off x="8137734" y="4869662"/>
              <a:ext cx="8787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600" b="1" dirty="0"/>
                <a:t>Bobine</a:t>
              </a:r>
              <a:endParaRPr lang="fr-FR" b="1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81155CB-43FA-DD8B-DCA9-43F02CC7E1E4}"/>
              </a:ext>
            </a:extLst>
          </p:cNvPr>
          <p:cNvSpPr txBox="1"/>
          <p:nvPr/>
        </p:nvSpPr>
        <p:spPr>
          <a:xfrm>
            <a:off x="2914580" y="3457318"/>
            <a:ext cx="22809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>
                    <a:lumMod val="50000"/>
                  </a:schemeClr>
                </a:solidFill>
              </a:rPr>
              <a:t>Source image : zonagitar.net</a:t>
            </a:r>
          </a:p>
        </p:txBody>
      </p:sp>
    </p:spTree>
    <p:extLst>
      <p:ext uri="{BB962C8B-B14F-4D97-AF65-F5344CB8AC3E}">
        <p14:creationId xmlns:p14="http://schemas.microsoft.com/office/powerpoint/2010/main" val="3456280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D7A07-07D0-A1CB-8899-D355F4D51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11288E9-B3DA-B302-03ED-BB1A2F90FFD7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46577B6-6057-D7AE-7D40-C0DB523A1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0795297"/>
              </p:ext>
            </p:extLst>
          </p:nvPr>
        </p:nvGraphicFramePr>
        <p:xfrm>
          <a:off x="449950" y="1397000"/>
          <a:ext cx="4122050" cy="4159732"/>
        </p:xfrm>
        <a:graphic>
          <a:graphicData uri="http://schemas.openxmlformats.org/drawingml/2006/table">
            <a:tbl>
              <a:tblPr firstRow="1" bandRow="1"/>
              <a:tblGrid>
                <a:gridCol w="2072270">
                  <a:extLst>
                    <a:ext uri="{9D8B030D-6E8A-4147-A177-3AD203B41FA5}">
                      <a16:colId xmlns:a16="http://schemas.microsoft.com/office/drawing/2014/main" val="1626750321"/>
                    </a:ext>
                  </a:extLst>
                </a:gridCol>
                <a:gridCol w="2049780">
                  <a:extLst>
                    <a:ext uri="{9D8B030D-6E8A-4147-A177-3AD203B41FA5}">
                      <a16:colId xmlns:a16="http://schemas.microsoft.com/office/drawing/2014/main" val="3959665702"/>
                    </a:ext>
                  </a:extLst>
                </a:gridCol>
              </a:tblGrid>
              <a:tr h="207986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2850818"/>
                  </a:ext>
                </a:extLst>
              </a:tr>
              <a:tr h="2079866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0353045"/>
                  </a:ext>
                </a:extLst>
              </a:tr>
            </a:tbl>
          </a:graphicData>
        </a:graphic>
      </p:graphicFrame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2B04609-9011-75C1-428E-AEC92A9E8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B394A24-A5ED-B4AB-743F-176B4BC52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B4F0ABD-A3FF-3FA4-1508-CB40B0A8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4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64F6E0-59C6-5FA8-3FF9-66A6EBA747DE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1C3D19D7-7B78-6C3C-DB0D-BD75D8D009BD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0D9AE2-CD0C-5DD6-009A-C7A8EDFFA33D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Modélisation : Schéma électrique équivalent</a:t>
            </a:r>
          </a:p>
        </p:txBody>
      </p:sp>
      <p:pic>
        <p:nvPicPr>
          <p:cNvPr id="17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56DD3104-026C-3288-625E-3BE3270D2D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" t="-8093" r="50325" b="-7437"/>
          <a:stretch>
            <a:fillRect/>
          </a:stretch>
        </p:blipFill>
        <p:spPr bwMode="auto">
          <a:xfrm>
            <a:off x="733701" y="1888380"/>
            <a:ext cx="1546490" cy="11580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EE207542-9DA0-28A0-B390-D52D35F7089A}"/>
              </a:ext>
            </a:extLst>
          </p:cNvPr>
          <p:cNvSpPr txBox="1"/>
          <p:nvPr/>
        </p:nvSpPr>
        <p:spPr>
          <a:xfrm>
            <a:off x="449951" y="5642115"/>
            <a:ext cx="2057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solidFill>
                  <a:schemeClr val="bg1">
                    <a:lumMod val="50000"/>
                  </a:schemeClr>
                </a:solidFill>
              </a:rPr>
              <a:t>Source image : zonagitar.net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B2EB7E-9F06-B1BC-4FA0-FDE9EFB3D1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904"/>
          <a:stretch>
            <a:fillRect/>
          </a:stretch>
        </p:blipFill>
        <p:spPr>
          <a:xfrm>
            <a:off x="2764639" y="1460911"/>
            <a:ext cx="1723885" cy="1968405"/>
          </a:xfrm>
          <a:prstGeom prst="rect">
            <a:avLst/>
          </a:prstGeom>
        </p:spPr>
      </p:pic>
      <p:pic>
        <p:nvPicPr>
          <p:cNvPr id="11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57044795-B5D5-6F21-32C2-10AD5E46D7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66" t="-7130" r="-141" b="-876"/>
          <a:stretch>
            <a:fillRect/>
          </a:stretch>
        </p:blipFill>
        <p:spPr bwMode="auto">
          <a:xfrm>
            <a:off x="733701" y="3832677"/>
            <a:ext cx="1546490" cy="12176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FC7DE1E-590A-AE5F-9184-B5DB7DD3D8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611"/>
          <a:stretch>
            <a:fillRect/>
          </a:stretch>
        </p:blipFill>
        <p:spPr>
          <a:xfrm>
            <a:off x="2563942" y="3599295"/>
            <a:ext cx="1937551" cy="179779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237119B-1DF1-C2FC-F71B-79302244948A}"/>
              </a:ext>
            </a:extLst>
          </p:cNvPr>
          <p:cNvSpPr txBox="1"/>
          <p:nvPr/>
        </p:nvSpPr>
        <p:spPr>
          <a:xfrm>
            <a:off x="4855751" y="4417981"/>
            <a:ext cx="38460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Ainsi on fera l’hypothèse 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BB517F-560A-DA35-F53F-D72908A2CC59}"/>
                  </a:ext>
                </a:extLst>
              </p:cNvPr>
              <p:cNvSpPr txBox="1"/>
              <p:nvPr/>
            </p:nvSpPr>
            <p:spPr>
              <a:xfrm>
                <a:off x="7425344" y="4433151"/>
                <a:ext cx="1174489" cy="276999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EBB517F-560A-DA35-F53F-D72908A2C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5344" y="4433151"/>
                <a:ext cx="1174489" cy="276999"/>
              </a:xfrm>
              <a:prstGeom prst="rect">
                <a:avLst/>
              </a:prstGeom>
              <a:blipFill>
                <a:blip r:embed="rId8"/>
                <a:stretch>
                  <a:fillRect l="-1531" r="-5102" b="-28571"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94CF1AC-DF2F-FA91-9E80-3DF00A7ACDC7}"/>
                  </a:ext>
                </a:extLst>
              </p:cNvPr>
              <p:cNvSpPr/>
              <p:nvPr/>
            </p:nvSpPr>
            <p:spPr>
              <a:xfrm>
                <a:off x="4855751" y="4982341"/>
                <a:ext cx="3838298" cy="837655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1" rtlCol="0" anchor="ctr"/>
              <a:lstStyle/>
              <a:p>
                <a:r>
                  <a:rPr lang="fr-FR" sz="1200" b="1" dirty="0"/>
                  <a:t>Notations :</a:t>
                </a:r>
              </a:p>
              <a:p>
                <a:endParaRPr lang="fr-FR" sz="12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2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200" dirty="0"/>
                  <a:t>: FEM totale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2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i="1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fr-FR" sz="1200" dirty="0"/>
                  <a:t>: Tension de sortie du micro</a:t>
                </a: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94CF1AC-DF2F-FA91-9E80-3DF00A7ACD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5751" y="4982341"/>
                <a:ext cx="3838298" cy="837655"/>
              </a:xfrm>
              <a:prstGeom prst="rect">
                <a:avLst/>
              </a:prstGeom>
              <a:blipFill>
                <a:blip r:embed="rId9"/>
                <a:stretch>
                  <a:fillRect b="-2083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3E0B518A-F126-423A-04A5-83BB611A4A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6"/>
          <a:stretch>
            <a:fillRect/>
          </a:stretch>
        </p:blipFill>
        <p:spPr>
          <a:xfrm>
            <a:off x="4695507" y="1397000"/>
            <a:ext cx="4006341" cy="2844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2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A1FD-A6FC-C7C2-DE37-662B2CD3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855E5BE-58A7-022E-6167-8A7B7F9B025C}"/>
              </a:ext>
            </a:extLst>
          </p:cNvPr>
          <p:cNvSpPr txBox="1"/>
          <p:nvPr/>
        </p:nvSpPr>
        <p:spPr>
          <a:xfrm>
            <a:off x="473803" y="5624506"/>
            <a:ext cx="973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:</a:t>
            </a:r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E3A72F7-049B-A3CC-1B2E-02529849B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D52B121-9E62-729F-B3D5-86BB1018D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613D1EFD-9144-A6ED-4EF0-340A2FFA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5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028266-1353-9D29-9412-6AFD6644D1A2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BADD112-3E65-EB14-379D-D522541DFA3F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86FB64-1820-E8EA-22F7-D3261EDD1A9D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>
                <a:latin typeface="+mj-lt"/>
              </a:rPr>
              <a:t>Modélisation : Force électromotrice FEM du micro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469900-7C91-746A-DF9C-76998DDDDC23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938429-08DD-9D34-7052-F2B1EFB35D6A}"/>
              </a:ext>
            </a:extLst>
          </p:cNvPr>
          <p:cNvSpPr/>
          <p:nvPr/>
        </p:nvSpPr>
        <p:spPr>
          <a:xfrm>
            <a:off x="462440" y="1303261"/>
            <a:ext cx="4496905" cy="1376329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: Onde stationnaire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Champs Magnétique de la corde Uniforme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Tension de sortie semblable à la fem totale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4FFBD4-8ECC-17F0-456E-3092458D7F36}"/>
              </a:ext>
            </a:extLst>
          </p:cNvPr>
          <p:cNvSpPr txBox="1"/>
          <p:nvPr/>
        </p:nvSpPr>
        <p:spPr>
          <a:xfrm>
            <a:off x="462440" y="4840431"/>
            <a:ext cx="328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a donc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9D75804-48F9-1952-9D77-3AA86B746162}"/>
                  </a:ext>
                </a:extLst>
              </p:cNvPr>
              <p:cNvSpPr/>
              <p:nvPr/>
            </p:nvSpPr>
            <p:spPr>
              <a:xfrm>
                <a:off x="449950" y="2811320"/>
                <a:ext cx="8498610" cy="1720924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2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fr-FR" sz="1500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Tension de sortie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Gradient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Longueur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Masse linéique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Tension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de la source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micro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9D75804-48F9-1952-9D77-3AA86B7461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50" y="2811320"/>
                <a:ext cx="8498610" cy="1720924"/>
              </a:xfrm>
              <a:prstGeom prst="rect">
                <a:avLst/>
              </a:prstGeom>
              <a:blipFill>
                <a:blip r:embed="rId2"/>
                <a:stretch>
                  <a:fillRect l="-214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D6AA2C2-FEF5-1C9F-ACB5-B77E215F9864}"/>
                  </a:ext>
                </a:extLst>
              </p:cNvPr>
              <p:cNvSpPr/>
              <p:nvPr/>
            </p:nvSpPr>
            <p:spPr>
              <a:xfrm>
                <a:off x="5098473" y="1298671"/>
                <a:ext cx="3842591" cy="1380920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Lois et principes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Loi d’induction de Faraday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f>
                        <m:fPr>
                          <m:ctrlP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fr-FR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D6AA2C2-FEF5-1C9F-ACB5-B77E215F9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473" y="1298671"/>
                <a:ext cx="3842591" cy="1380920"/>
              </a:xfrm>
              <a:prstGeom prst="rect">
                <a:avLst/>
              </a:prstGeom>
              <a:blipFill>
                <a:blip r:embed="rId3"/>
                <a:stretch>
                  <a:fillRect l="-31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0F88A1-E4DF-4196-E16A-92C2C9FDD3A7}"/>
                  </a:ext>
                </a:extLst>
              </p:cNvPr>
              <p:cNvSpPr txBox="1"/>
              <p:nvPr/>
            </p:nvSpPr>
            <p:spPr>
              <a:xfrm>
                <a:off x="3574794" y="5432818"/>
                <a:ext cx="2379468" cy="752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0F88A1-E4DF-4196-E16A-92C2C9FDD3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794" y="5432818"/>
                <a:ext cx="2379468" cy="7527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32275D-B666-AD1E-6020-ABBAE6A2C0FD}"/>
                  </a:ext>
                </a:extLst>
              </p:cNvPr>
              <p:cNvSpPr txBox="1"/>
              <p:nvPr/>
            </p:nvSpPr>
            <p:spPr>
              <a:xfrm>
                <a:off x="1938313" y="4663973"/>
                <a:ext cx="4045018" cy="672172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D32275D-B666-AD1E-6020-ABBAE6A2C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313" y="4663973"/>
                <a:ext cx="4045018" cy="6721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548E630A-12F5-32F1-CC8A-2622DB0C99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3" t="-8093" r="50325" b="-7437"/>
          <a:stretch>
            <a:fillRect/>
          </a:stretch>
        </p:blipFill>
        <p:spPr bwMode="auto">
          <a:xfrm>
            <a:off x="8041625" y="584646"/>
            <a:ext cx="899439" cy="673537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695637-20E7-2963-CDD3-67AA3DA098E8}"/>
                  </a:ext>
                </a:extLst>
              </p:cNvPr>
              <p:cNvSpPr txBox="1"/>
              <p:nvPr/>
            </p:nvSpPr>
            <p:spPr>
              <a:xfrm>
                <a:off x="1325453" y="5511911"/>
                <a:ext cx="1982290" cy="594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sSub>
                            <m:sSub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>
                            <m:f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rad>
                            </m:den>
                          </m:f>
                        </m:e>
                      </m:func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4695637-20E7-2963-CDD3-67AA3DA09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5453" y="5511911"/>
                <a:ext cx="1982290" cy="59452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2CF629CA-DDF5-5C23-1162-F3F0C74C233A}"/>
              </a:ext>
            </a:extLst>
          </p:cNvPr>
          <p:cNvGrpSpPr/>
          <p:nvPr/>
        </p:nvGrpSpPr>
        <p:grpSpPr>
          <a:xfrm>
            <a:off x="6381742" y="4607133"/>
            <a:ext cx="2559322" cy="779089"/>
            <a:chOff x="500933" y="4427234"/>
            <a:chExt cx="4020249" cy="1409897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C1AEE0C-A67A-1330-96A5-6065DC1AB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00933" y="4427234"/>
              <a:ext cx="4020249" cy="14098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B0AD10-B999-2905-1B3A-F6ADE2E9CDE6}"/>
                    </a:ext>
                  </a:extLst>
                </p:cNvPr>
                <p:cNvSpPr txBox="1"/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FB0AD10-B999-2905-1B3A-F6ADE2E9CD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blipFill>
                  <a:blip r:embed="rId9"/>
                  <a:stretch>
                    <a:fillRect l="-35000" r="-45000" b="-11875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8CF9B9-B67D-8875-0408-FEA4A312EA4B}"/>
                  </a:ext>
                </a:extLst>
              </p:cNvPr>
              <p:cNvSpPr txBox="1"/>
              <p:nvPr/>
            </p:nvSpPr>
            <p:spPr>
              <a:xfrm>
                <a:off x="6096680" y="5432817"/>
                <a:ext cx="2379468" cy="594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ad>
                            <m:radPr>
                              <m:degHide m:val="on"/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rad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ad>
                            <m:radPr>
                              <m:degHide m:val="on"/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C8CF9B9-B67D-8875-0408-FEA4A312E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680" y="5432817"/>
                <a:ext cx="2379468" cy="5945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745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010F-DF56-9432-02C2-D32A27367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BF2B52F-25EC-86A1-1982-155B9932D89D}"/>
              </a:ext>
            </a:extLst>
          </p:cNvPr>
          <p:cNvGrpSpPr/>
          <p:nvPr/>
        </p:nvGrpSpPr>
        <p:grpSpPr>
          <a:xfrm>
            <a:off x="6381742" y="4607133"/>
            <a:ext cx="2559322" cy="779089"/>
            <a:chOff x="500933" y="4427234"/>
            <a:chExt cx="4020249" cy="1409897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D64B9D5-3565-3841-03E8-FE52034EEE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933" y="4427234"/>
              <a:ext cx="4020249" cy="14098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D62C09A-D914-3D01-F179-A659E59888E8}"/>
                    </a:ext>
                  </a:extLst>
                </p:cNvPr>
                <p:cNvSpPr txBox="1"/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D62C09A-D914-3D01-F179-A659E5988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blipFill>
                  <a:blip r:embed="rId3"/>
                  <a:stretch>
                    <a:fillRect l="-35000" r="-45000" b="-11875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D9F0C0B-1CCE-1701-4564-9070DD87E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6F42ED7-BDC4-FA14-71AC-33563D8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576DF31-6CF8-BA8E-5EFA-8E5389ACB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6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2B99EE-5C41-4EA9-BB98-7ED5E47D8DC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DADF3B29-6309-63E4-DAC0-4D3C3D7A4D79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1B16E-6C41-9660-8DE9-A37A0AB7E175}"/>
              </a:ext>
            </a:extLst>
          </p:cNvPr>
          <p:cNvSpPr txBox="1"/>
          <p:nvPr/>
        </p:nvSpPr>
        <p:spPr>
          <a:xfrm>
            <a:off x="345439" y="721360"/>
            <a:ext cx="8603121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Force électromotrice FEM du micro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760DBF-34A0-70F3-18A5-EAC899830298}"/>
              </a:ext>
            </a:extLst>
          </p:cNvPr>
          <p:cNvSpPr/>
          <p:nvPr/>
        </p:nvSpPr>
        <p:spPr>
          <a:xfrm>
            <a:off x="449950" y="424704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F6DBD-695B-4189-F38D-DDC03E7AACDF}"/>
              </a:ext>
            </a:extLst>
          </p:cNvPr>
          <p:cNvSpPr/>
          <p:nvPr/>
        </p:nvSpPr>
        <p:spPr>
          <a:xfrm>
            <a:off x="462440" y="1303261"/>
            <a:ext cx="4496905" cy="1376329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b="1" dirty="0"/>
              <a:t>Hypothèses 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Vibration de la corde : Onde stationnaire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Champs Magnétique de la corde Uniforme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Tension de sortie semblable à la fem totale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7D3140-8ECA-CFC1-FF10-11A7070E2C1E}"/>
              </a:ext>
            </a:extLst>
          </p:cNvPr>
          <p:cNvSpPr txBox="1"/>
          <p:nvPr/>
        </p:nvSpPr>
        <p:spPr>
          <a:xfrm>
            <a:off x="462440" y="4840431"/>
            <a:ext cx="328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On a donc 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A9F52FB-8CC9-7E9F-BC07-904E55692F48}"/>
                  </a:ext>
                </a:extLst>
              </p:cNvPr>
              <p:cNvSpPr txBox="1"/>
              <p:nvPr/>
            </p:nvSpPr>
            <p:spPr>
              <a:xfrm>
                <a:off x="1960158" y="4663973"/>
                <a:ext cx="4053802" cy="672172"/>
              </a:xfrm>
              <a:prstGeom prst="rect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A9F52FB-8CC9-7E9F-BC07-904E55692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0158" y="4663973"/>
                <a:ext cx="4053802" cy="6721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6A25780-A78E-0C68-4708-9ED7CF9A05B6}"/>
                  </a:ext>
                </a:extLst>
              </p:cNvPr>
              <p:cNvSpPr/>
              <p:nvPr/>
            </p:nvSpPr>
            <p:spPr>
              <a:xfrm>
                <a:off x="449950" y="2811320"/>
                <a:ext cx="8498610" cy="1720924"/>
              </a:xfrm>
              <a:prstGeom prst="rect">
                <a:avLst/>
              </a:prstGeom>
              <a:ln w="38100"/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numCol="2" rtlCol="0" anchor="ctr"/>
              <a:lstStyle/>
              <a:p>
                <a:r>
                  <a:rPr lang="fr-FR" sz="1600" b="1" dirty="0"/>
                  <a:t>Notations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 sz="15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F.E.M. dans le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Tension de sortie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Nombre de spire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Surface du micro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𝑑𝐵</m:t>
                        </m:r>
                      </m:num>
                      <m:den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𝑑𝑦</m:t>
                        </m:r>
                      </m:den>
                    </m:f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Gradient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Amplitude de vibration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Longueur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Masse linéique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fr-FR" sz="15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Tension de la corde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de la source de la vibration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1</a:t>
                </a:r>
                <a:r>
                  <a:rPr lang="fr-FR" sz="1500" baseline="30000" dirty="0"/>
                  <a:t>er</a:t>
                </a:r>
                <a:r>
                  <a:rPr lang="fr-FR" sz="1500" dirty="0"/>
                  <a:t> bobinage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5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500" dirty="0"/>
                  <a:t>: Position du 2</a:t>
                </a:r>
                <a:r>
                  <a:rPr lang="fr-FR" sz="1500" baseline="30000" dirty="0"/>
                  <a:t>nd</a:t>
                </a:r>
                <a:r>
                  <a:rPr lang="fr-FR" sz="1500" dirty="0"/>
                  <a:t> bobinage</a:t>
                </a:r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D6A25780-A78E-0C68-4708-9ED7CF9A0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50" y="2811320"/>
                <a:ext cx="8498610" cy="1720924"/>
              </a:xfrm>
              <a:prstGeom prst="rect">
                <a:avLst/>
              </a:prstGeom>
              <a:blipFill>
                <a:blip r:embed="rId5"/>
                <a:stretch>
                  <a:fillRect l="-214" b="-2083"/>
                </a:stretch>
              </a:blipFill>
              <a:ln w="38100"/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C94340E-38F0-066F-1B5E-DC334FAA03BB}"/>
                  </a:ext>
                </a:extLst>
              </p:cNvPr>
              <p:cNvSpPr/>
              <p:nvPr/>
            </p:nvSpPr>
            <p:spPr>
              <a:xfrm>
                <a:off x="5098473" y="1298671"/>
                <a:ext cx="3842591" cy="1380920"/>
              </a:xfrm>
              <a:prstGeom prst="rect">
                <a:avLst/>
              </a:prstGeom>
              <a:ln w="38100">
                <a:solidFill>
                  <a:schemeClr val="accent6"/>
                </a:solidFill>
              </a:ln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fr-FR" sz="1600" b="1" dirty="0"/>
                  <a:t>Lois et principes 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/>
                  <a:t>Loi d’induction de Faraday 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6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𝑵</m:t>
                      </m:r>
                      <m:f>
                        <m:fPr>
                          <m:ctrlP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b>
                            <m:sSubPr>
                              <m:ctrlP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fr-FR" sz="16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𝑩</m:t>
                              </m:r>
                            </m:sub>
                          </m:sSub>
                        </m:num>
                        <m:den>
                          <m:r>
                            <a:rPr lang="fr-FR" sz="16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𝒅𝒕</m:t>
                          </m:r>
                        </m:den>
                      </m:f>
                    </m:oMath>
                  </m:oMathPara>
                </a14:m>
                <a:endParaRPr lang="fr-FR" sz="16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C94340E-38F0-066F-1B5E-DC334FAA03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473" y="1298671"/>
                <a:ext cx="3842591" cy="1380920"/>
              </a:xfrm>
              <a:prstGeom prst="rect">
                <a:avLst/>
              </a:prstGeom>
              <a:blipFill>
                <a:blip r:embed="rId6"/>
                <a:stretch>
                  <a:fillRect l="-314"/>
                </a:stretch>
              </a:blipFill>
              <a:ln w="38100">
                <a:solidFill>
                  <a:schemeClr val="accent6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2D306D-3216-4C85-B874-8EA67DF9E853}"/>
                  </a:ext>
                </a:extLst>
              </p:cNvPr>
              <p:cNvSpPr txBox="1"/>
              <p:nvPr/>
            </p:nvSpPr>
            <p:spPr>
              <a:xfrm>
                <a:off x="4572000" y="5432818"/>
                <a:ext cx="2379468" cy="7527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40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</a:rPr>
                                <m:t>1 − </m:t>
                              </m:r>
                              <m:f>
                                <m:fPr>
                                  <m:ctrlP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4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D2D306D-3216-4C85-B874-8EA67DF9E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432818"/>
                <a:ext cx="2379468" cy="75270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F03902F-5230-DAFD-040F-91D8B468A007}"/>
              </a:ext>
            </a:extLst>
          </p:cNvPr>
          <p:cNvSpPr txBox="1"/>
          <p:nvPr/>
        </p:nvSpPr>
        <p:spPr>
          <a:xfrm>
            <a:off x="449950" y="5624506"/>
            <a:ext cx="32871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Avec :</a:t>
            </a:r>
          </a:p>
        </p:txBody>
      </p:sp>
      <p:pic>
        <p:nvPicPr>
          <p:cNvPr id="11" name="Picture 2" descr="5 Best Humbuckers: Gear Guide to Amazing Pickups | Equipboard®">
            <a:extLst>
              <a:ext uri="{FF2B5EF4-FFF2-40B4-BE49-F238E27FC236}">
                <a16:creationId xmlns:a16="http://schemas.microsoft.com/office/drawing/2014/main" id="{53979BD0-56F0-2C0D-9A37-AD6D904E5B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66" t="-7130" r="-141" b="-876"/>
          <a:stretch>
            <a:fillRect/>
          </a:stretch>
        </p:blipFill>
        <p:spPr bwMode="auto">
          <a:xfrm>
            <a:off x="8101701" y="558793"/>
            <a:ext cx="839363" cy="67401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D4695E-1632-F53E-514F-3D3E84FA92F3}"/>
                  </a:ext>
                </a:extLst>
              </p:cNvPr>
              <p:cNvSpPr txBox="1"/>
              <p:nvPr/>
            </p:nvSpPr>
            <p:spPr>
              <a:xfrm>
                <a:off x="1447764" y="5511911"/>
                <a:ext cx="3076873" cy="594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fr-FR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fr-FR" sz="1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fr-FR" sz="1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sSub>
                            <m:sSub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fr-FR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</m:func>
                          <m:f>
                            <m:fPr>
                              <m:ctrlP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fr-FR" sz="1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rad>
                            </m:den>
                          </m:f>
                        </m:e>
                      </m:func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3D4695E-1632-F53E-514F-3D3E84FA9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7764" y="5511911"/>
                <a:ext cx="3076873" cy="5945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CCDB66-F23A-FC24-7FB0-02266FD8FB58}"/>
                  </a:ext>
                </a:extLst>
              </p:cNvPr>
              <p:cNvSpPr txBox="1"/>
              <p:nvPr/>
            </p:nvSpPr>
            <p:spPr>
              <a:xfrm>
                <a:off x="6506502" y="5439262"/>
                <a:ext cx="2379468" cy="5945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400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ad>
                            <m:radPr>
                              <m:degHide m:val="on"/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rad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ad>
                            <m:radPr>
                              <m:degHide m:val="on"/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fr-FR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CCDB66-F23A-FC24-7FB0-02266FD8FB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502" y="5439262"/>
                <a:ext cx="2379468" cy="5945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7787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6DB72-DB08-FA1F-70A3-81C7AA4B1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B708A14-7AD8-F906-9428-55AA733330A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E02E3EBF-83CF-CDAB-6E81-3F5619A03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52C509BE-47CE-CB4E-000E-B6A2469EF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5E222B1-ADC7-D7FE-D74A-FE5F72B6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7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976040-3426-383D-7370-6C008C2818BA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79C7B5A-3DE1-8202-E607-0ABC8D3D8DE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E03D6B-CAB7-46D7-8378-CCB85960F286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Comparaison des micros (Corde seule)</a:t>
            </a:r>
          </a:p>
        </p:txBody>
      </p:sp>
      <p:pic>
        <p:nvPicPr>
          <p:cNvPr id="8194" name="Picture 2" descr="Python Logo PNG Transparent – Brands Logos">
            <a:extLst>
              <a:ext uri="{FF2B5EF4-FFF2-40B4-BE49-F238E27FC236}">
                <a16:creationId xmlns:a16="http://schemas.microsoft.com/office/drawing/2014/main" id="{84167BCF-6F35-D8AA-74C8-D3F4C965A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0DB4A8-59EC-8216-2D89-B4DF0C640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14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010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C545A-D149-E80D-15C9-5FE1F68B1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F700D01-327A-5AB2-E6FB-09B1F24738B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2940C8D6-C983-6464-4CC2-373E546D3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BED4395-4C4A-3DEC-4676-F46F06B1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D03759B-2FEA-F199-966D-F24779ABA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8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EE80DA-3061-594A-1544-4DAC935A60B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973874F8-92B7-C0B4-4E7A-E1A5E7F235BA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57C63-E5E7-E917-DE9E-1DE51C3EF0A8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Comparaison des micros (Champ parasite)</a:t>
            </a:r>
          </a:p>
        </p:txBody>
      </p:sp>
      <p:pic>
        <p:nvPicPr>
          <p:cNvPr id="8194" name="Picture 2" descr="Python Logo PNG Transparent – Brands Logos">
            <a:extLst>
              <a:ext uri="{FF2B5EF4-FFF2-40B4-BE49-F238E27FC236}">
                <a16:creationId xmlns:a16="http://schemas.microsoft.com/office/drawing/2014/main" id="{CA1CD7DA-6770-C48E-6DAA-ECBDB763F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3CB08E-CF23-B092-69E4-F392B405C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914" y="1234435"/>
            <a:ext cx="5852172" cy="438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40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F6789-59FF-E98B-2D7A-EBFD30DD3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1E4409E-BB69-4F05-6959-05D93C0C0B5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0DD9EB35-CDF2-F204-61ED-05869E8CC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0B72086-A9D3-5116-8808-12F97B9B0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8C7556C1-23EF-8984-6FB4-443D96D8B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9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A26979-A461-22EA-6FB4-E3B3CD3EA87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A2E6AD15-042F-0495-9070-FD814AE938F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04D8CA-1D55-AAC7-9336-A28353BB32A3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Modélisation : Comparaison des micros (Corde + parasite)</a:t>
            </a:r>
          </a:p>
        </p:txBody>
      </p:sp>
      <p:pic>
        <p:nvPicPr>
          <p:cNvPr id="8194" name="Picture 2" descr="Python Logo PNG Transparent – Brands Logos">
            <a:extLst>
              <a:ext uri="{FF2B5EF4-FFF2-40B4-BE49-F238E27FC236}">
                <a16:creationId xmlns:a16="http://schemas.microsoft.com/office/drawing/2014/main" id="{2A3B655F-4B4E-D5F2-9497-C1A6F9AC2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4584" y="599276"/>
            <a:ext cx="729039" cy="72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299243-B977-7C36-755B-17DA59A1F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35" y="1142995"/>
            <a:ext cx="5486411" cy="45720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646073-17FF-0865-43FA-5D4154632D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2" t="9050" r="35733" b="15377"/>
          <a:stretch>
            <a:fillRect/>
          </a:stretch>
        </p:blipFill>
        <p:spPr>
          <a:xfrm>
            <a:off x="6484584" y="3915004"/>
            <a:ext cx="1800000" cy="1800000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825D287-A038-C682-34C3-045C19CF5C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16" t="10927" r="35870" b="15443"/>
          <a:stretch>
            <a:fillRect/>
          </a:stretch>
        </p:blipFill>
        <p:spPr>
          <a:xfrm>
            <a:off x="6484584" y="1390254"/>
            <a:ext cx="1800000" cy="1800000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7B18AB-7581-5E60-7446-58AA5F41399C}"/>
              </a:ext>
            </a:extLst>
          </p:cNvPr>
          <p:cNvSpPr txBox="1"/>
          <p:nvPr/>
        </p:nvSpPr>
        <p:spPr>
          <a:xfrm>
            <a:off x="5285779" y="3383352"/>
            <a:ext cx="165387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Champ Parasite</a:t>
            </a:r>
          </a:p>
        </p:txBody>
      </p:sp>
      <p:cxnSp>
        <p:nvCxnSpPr>
          <p:cNvPr id="25" name="Connector: Curved 24">
            <a:extLst>
              <a:ext uri="{FF2B5EF4-FFF2-40B4-BE49-F238E27FC236}">
                <a16:creationId xmlns:a16="http://schemas.microsoft.com/office/drawing/2014/main" id="{5BB33DB7-7AA2-E232-24A7-9C4016C67B9F}"/>
              </a:ext>
            </a:extLst>
          </p:cNvPr>
          <p:cNvCxnSpPr>
            <a:cxnSpLocks/>
            <a:stCxn id="18" idx="1"/>
            <a:endCxn id="23" idx="0"/>
          </p:cNvCxnSpPr>
          <p:nvPr/>
        </p:nvCxnSpPr>
        <p:spPr>
          <a:xfrm rot="10800000" flipV="1">
            <a:off x="6112716" y="2290254"/>
            <a:ext cx="371869" cy="1093098"/>
          </a:xfrm>
          <a:prstGeom prst="curved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A807D5F6-2DF7-0611-96D1-33B56DCB6524}"/>
              </a:ext>
            </a:extLst>
          </p:cNvPr>
          <p:cNvCxnSpPr>
            <a:cxnSpLocks/>
            <a:stCxn id="23" idx="2"/>
            <a:endCxn id="15" idx="1"/>
          </p:cNvCxnSpPr>
          <p:nvPr/>
        </p:nvCxnSpPr>
        <p:spPr>
          <a:xfrm rot="16200000" flipH="1">
            <a:off x="5752100" y="4082520"/>
            <a:ext cx="1093098" cy="371869"/>
          </a:xfrm>
          <a:prstGeom prst="curved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1544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9104-889E-FEED-38F6-C3620D742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A8D5A20B-B049-2879-C37F-CAC15A6A672B}"/>
              </a:ext>
            </a:extLst>
          </p:cNvPr>
          <p:cNvCxnSpPr>
            <a:cxnSpLocks/>
          </p:cNvCxnSpPr>
          <p:nvPr/>
        </p:nvCxnSpPr>
        <p:spPr>
          <a:xfrm>
            <a:off x="5398701" y="2432915"/>
            <a:ext cx="1" cy="3578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B119D559-C6E2-BA2F-449E-816D84158164}"/>
              </a:ext>
            </a:extLst>
          </p:cNvPr>
          <p:cNvCxnSpPr>
            <a:cxnSpLocks/>
          </p:cNvCxnSpPr>
          <p:nvPr/>
        </p:nvCxnSpPr>
        <p:spPr>
          <a:xfrm>
            <a:off x="5147721" y="2427245"/>
            <a:ext cx="3154" cy="4841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F498DA7-3338-5409-5681-101EDFAF0052}"/>
              </a:ext>
            </a:extLst>
          </p:cNvPr>
          <p:cNvSpPr/>
          <p:nvPr/>
        </p:nvSpPr>
        <p:spPr>
          <a:xfrm>
            <a:off x="5060930" y="1617120"/>
            <a:ext cx="2287034" cy="8195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DF59EE9-5541-3C35-D9F3-4286FB3C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456BA52-60DE-BBCD-33A6-948F7C0B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D1A7DA8-31DF-35B6-F503-F848EFFAA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10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81309A-E7A7-6863-5C96-5E4ED1E2F76B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6180FF7-3A39-B8EC-A752-BDE9EB41E268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EF125-1D42-4832-0684-54400434880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Expérimentation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9B12CB-DF61-CDB0-E7B9-3D2385D235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B89B2-1B31-E264-13DF-C63CCFCF8423}"/>
              </a:ext>
            </a:extLst>
          </p:cNvPr>
          <p:cNvSpPr txBox="1"/>
          <p:nvPr/>
        </p:nvSpPr>
        <p:spPr>
          <a:xfrm>
            <a:off x="345440" y="4565413"/>
            <a:ext cx="8478303" cy="1477328"/>
          </a:xfrm>
          <a:prstGeom prst="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numCol="3" rtlCol="0">
            <a:spAutoFit/>
          </a:bodyPr>
          <a:lstStyle/>
          <a:p>
            <a:r>
              <a:rPr lang="fr-FR" b="1" dirty="0"/>
              <a:t>Paramètres variables :</a:t>
            </a:r>
          </a:p>
          <a:p>
            <a:endParaRPr lang="fr-F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Type de micro utilisé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Intensité &amp; Fréquence du champ parasite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/>
              <a:t>Tension de la corde (Note jouée)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ED359E7-849E-BD8C-61EE-C0140C4AC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140000">
            <a:off x="4210262" y="693933"/>
            <a:ext cx="723475" cy="6262094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8033BC9-9F5E-C3E2-1B06-02C39D176A13}"/>
              </a:ext>
            </a:extLst>
          </p:cNvPr>
          <p:cNvCxnSpPr>
            <a:cxnSpLocks/>
          </p:cNvCxnSpPr>
          <p:nvPr/>
        </p:nvCxnSpPr>
        <p:spPr>
          <a:xfrm>
            <a:off x="6190251" y="2858141"/>
            <a:ext cx="0" cy="68511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15C2591-2043-BF16-CB74-7452B5776708}"/>
              </a:ext>
            </a:extLst>
          </p:cNvPr>
          <p:cNvSpPr/>
          <p:nvPr/>
        </p:nvSpPr>
        <p:spPr>
          <a:xfrm>
            <a:off x="5060930" y="1778081"/>
            <a:ext cx="2287034" cy="532392"/>
          </a:xfrm>
          <a:custGeom>
            <a:avLst/>
            <a:gdLst>
              <a:gd name="connsiteX0" fmla="*/ 0 w 1875580"/>
              <a:gd name="connsiteY0" fmla="*/ 477163 h 477163"/>
              <a:gd name="connsiteX1" fmla="*/ 198782 w 1875580"/>
              <a:gd name="connsiteY1" fmla="*/ 23939 h 477163"/>
              <a:gd name="connsiteX2" fmla="*/ 421419 w 1875580"/>
              <a:gd name="connsiteY2" fmla="*/ 405601 h 477163"/>
              <a:gd name="connsiteX3" fmla="*/ 588396 w 1875580"/>
              <a:gd name="connsiteY3" fmla="*/ 8036 h 477163"/>
              <a:gd name="connsiteX4" fmla="*/ 779228 w 1875580"/>
              <a:gd name="connsiteY4" fmla="*/ 373796 h 477163"/>
              <a:gd name="connsiteX5" fmla="*/ 930302 w 1875580"/>
              <a:gd name="connsiteY5" fmla="*/ 85 h 477163"/>
              <a:gd name="connsiteX6" fmla="*/ 1160890 w 1875580"/>
              <a:gd name="connsiteY6" fmla="*/ 413553 h 477163"/>
              <a:gd name="connsiteX7" fmla="*/ 1264257 w 1875580"/>
              <a:gd name="connsiteY7" fmla="*/ 8036 h 477163"/>
              <a:gd name="connsiteX8" fmla="*/ 1478942 w 1875580"/>
              <a:gd name="connsiteY8" fmla="*/ 389699 h 477163"/>
              <a:gd name="connsiteX9" fmla="*/ 1574358 w 1875580"/>
              <a:gd name="connsiteY9" fmla="*/ 8036 h 477163"/>
              <a:gd name="connsiteX10" fmla="*/ 1741335 w 1875580"/>
              <a:gd name="connsiteY10" fmla="*/ 373796 h 477163"/>
              <a:gd name="connsiteX11" fmla="*/ 1852654 w 1875580"/>
              <a:gd name="connsiteY11" fmla="*/ 206819 h 477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75580" h="477163">
                <a:moveTo>
                  <a:pt x="0" y="477163"/>
                </a:moveTo>
                <a:cubicBezTo>
                  <a:pt x="64273" y="256514"/>
                  <a:pt x="128546" y="35866"/>
                  <a:pt x="198782" y="23939"/>
                </a:cubicBezTo>
                <a:cubicBezTo>
                  <a:pt x="269018" y="12012"/>
                  <a:pt x="356483" y="408251"/>
                  <a:pt x="421419" y="405601"/>
                </a:cubicBezTo>
                <a:cubicBezTo>
                  <a:pt x="486355" y="402950"/>
                  <a:pt x="528761" y="13337"/>
                  <a:pt x="588396" y="8036"/>
                </a:cubicBezTo>
                <a:cubicBezTo>
                  <a:pt x="648031" y="2735"/>
                  <a:pt x="722244" y="375121"/>
                  <a:pt x="779228" y="373796"/>
                </a:cubicBezTo>
                <a:cubicBezTo>
                  <a:pt x="836212" y="372471"/>
                  <a:pt x="866692" y="-6541"/>
                  <a:pt x="930302" y="85"/>
                </a:cubicBezTo>
                <a:cubicBezTo>
                  <a:pt x="993912" y="6711"/>
                  <a:pt x="1105231" y="412228"/>
                  <a:pt x="1160890" y="413553"/>
                </a:cubicBezTo>
                <a:cubicBezTo>
                  <a:pt x="1216549" y="414878"/>
                  <a:pt x="1211248" y="12012"/>
                  <a:pt x="1264257" y="8036"/>
                </a:cubicBezTo>
                <a:cubicBezTo>
                  <a:pt x="1317266" y="4060"/>
                  <a:pt x="1427259" y="389699"/>
                  <a:pt x="1478942" y="389699"/>
                </a:cubicBezTo>
                <a:cubicBezTo>
                  <a:pt x="1530625" y="389699"/>
                  <a:pt x="1530626" y="10686"/>
                  <a:pt x="1574358" y="8036"/>
                </a:cubicBezTo>
                <a:cubicBezTo>
                  <a:pt x="1618090" y="5386"/>
                  <a:pt x="1694952" y="340665"/>
                  <a:pt x="1741335" y="373796"/>
                </a:cubicBezTo>
                <a:cubicBezTo>
                  <a:pt x="1787718" y="406927"/>
                  <a:pt x="1930842" y="164412"/>
                  <a:pt x="1852654" y="206819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Graphic 18" descr="Laptop with solid fill">
            <a:extLst>
              <a:ext uri="{FF2B5EF4-FFF2-40B4-BE49-F238E27FC236}">
                <a16:creationId xmlns:a16="http://schemas.microsoft.com/office/drawing/2014/main" id="{9BCDF8A8-7F99-8FE8-7BF1-C7A885BD71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0735" y="1522571"/>
            <a:ext cx="1135578" cy="1020236"/>
          </a:xfrm>
          <a:prstGeom prst="rect">
            <a:avLst/>
          </a:prstGeom>
        </p:spPr>
      </p:pic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6C49802-C0CE-B8D9-AD7F-9896EB2DC0D8}"/>
              </a:ext>
            </a:extLst>
          </p:cNvPr>
          <p:cNvCxnSpPr>
            <a:cxnSpLocks/>
          </p:cNvCxnSpPr>
          <p:nvPr/>
        </p:nvCxnSpPr>
        <p:spPr>
          <a:xfrm>
            <a:off x="6273799" y="2913035"/>
            <a:ext cx="0" cy="6302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3F249FEC-4DC7-E7B1-3BB0-5E512CD709F8}"/>
              </a:ext>
            </a:extLst>
          </p:cNvPr>
          <p:cNvSpPr/>
          <p:nvPr/>
        </p:nvSpPr>
        <p:spPr>
          <a:xfrm>
            <a:off x="3384385" y="2026879"/>
            <a:ext cx="328056" cy="2951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F74190D-EDC1-FC59-7AFE-028F03D1C459}"/>
              </a:ext>
            </a:extLst>
          </p:cNvPr>
          <p:cNvCxnSpPr>
            <a:stCxn id="20" idx="3"/>
          </p:cNvCxnSpPr>
          <p:nvPr/>
        </p:nvCxnSpPr>
        <p:spPr>
          <a:xfrm flipV="1">
            <a:off x="3712441" y="2174458"/>
            <a:ext cx="542554" cy="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C5F835B-5BF8-5BF0-AEB2-FF7AF0A5327C}"/>
              </a:ext>
            </a:extLst>
          </p:cNvPr>
          <p:cNvCxnSpPr>
            <a:cxnSpLocks/>
          </p:cNvCxnSpPr>
          <p:nvPr/>
        </p:nvCxnSpPr>
        <p:spPr>
          <a:xfrm>
            <a:off x="4254995" y="2174458"/>
            <a:ext cx="0" cy="66880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F6162052-4E00-A39D-4D71-FAAE73C7123A}"/>
              </a:ext>
            </a:extLst>
          </p:cNvPr>
          <p:cNvCxnSpPr>
            <a:cxnSpLocks/>
          </p:cNvCxnSpPr>
          <p:nvPr/>
        </p:nvCxnSpPr>
        <p:spPr>
          <a:xfrm>
            <a:off x="4254995" y="2843263"/>
            <a:ext cx="1935257" cy="2294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902494E8-39D4-CDA4-FA5E-D322184DCC1A}"/>
              </a:ext>
            </a:extLst>
          </p:cNvPr>
          <p:cNvCxnSpPr>
            <a:cxnSpLocks/>
          </p:cNvCxnSpPr>
          <p:nvPr/>
        </p:nvCxnSpPr>
        <p:spPr>
          <a:xfrm>
            <a:off x="5233699" y="2436639"/>
            <a:ext cx="0" cy="41809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FFBDF89-1E85-7858-3857-95316B055C8D}"/>
              </a:ext>
            </a:extLst>
          </p:cNvPr>
          <p:cNvCxnSpPr>
            <a:cxnSpLocks/>
          </p:cNvCxnSpPr>
          <p:nvPr/>
        </p:nvCxnSpPr>
        <p:spPr>
          <a:xfrm>
            <a:off x="3712441" y="2115458"/>
            <a:ext cx="63565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7960931-404D-C970-FA3A-E573D2742DF7}"/>
              </a:ext>
            </a:extLst>
          </p:cNvPr>
          <p:cNvCxnSpPr>
            <a:cxnSpLocks/>
          </p:cNvCxnSpPr>
          <p:nvPr/>
        </p:nvCxnSpPr>
        <p:spPr>
          <a:xfrm>
            <a:off x="6439448" y="2802356"/>
            <a:ext cx="0" cy="74897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C9121BD0-04BE-0472-5174-2D2B3AF73D8C}"/>
              </a:ext>
            </a:extLst>
          </p:cNvPr>
          <p:cNvCxnSpPr>
            <a:cxnSpLocks/>
          </p:cNvCxnSpPr>
          <p:nvPr/>
        </p:nvCxnSpPr>
        <p:spPr>
          <a:xfrm>
            <a:off x="4348092" y="2115458"/>
            <a:ext cx="0" cy="66373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253BEC2-243B-01FE-1C2F-EA6E1851A799}"/>
              </a:ext>
            </a:extLst>
          </p:cNvPr>
          <p:cNvCxnSpPr>
            <a:cxnSpLocks/>
          </p:cNvCxnSpPr>
          <p:nvPr/>
        </p:nvCxnSpPr>
        <p:spPr>
          <a:xfrm>
            <a:off x="4348091" y="2779197"/>
            <a:ext cx="2101221" cy="231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0D40CC0E-7C6E-4436-BCF7-36F35FBDC27D}"/>
              </a:ext>
            </a:extLst>
          </p:cNvPr>
          <p:cNvCxnSpPr>
            <a:cxnSpLocks/>
          </p:cNvCxnSpPr>
          <p:nvPr/>
        </p:nvCxnSpPr>
        <p:spPr>
          <a:xfrm>
            <a:off x="3712441" y="2233457"/>
            <a:ext cx="4384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21E8292C-D33F-C603-6C6A-181728421FE5}"/>
              </a:ext>
            </a:extLst>
          </p:cNvPr>
          <p:cNvCxnSpPr>
            <a:cxnSpLocks/>
          </p:cNvCxnSpPr>
          <p:nvPr/>
        </p:nvCxnSpPr>
        <p:spPr>
          <a:xfrm>
            <a:off x="4150900" y="2233457"/>
            <a:ext cx="0" cy="6799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9F1AB57-8C60-ECC6-BC6A-53120F3E2CAD}"/>
              </a:ext>
            </a:extLst>
          </p:cNvPr>
          <p:cNvCxnSpPr>
            <a:cxnSpLocks/>
          </p:cNvCxnSpPr>
          <p:nvPr/>
        </p:nvCxnSpPr>
        <p:spPr>
          <a:xfrm>
            <a:off x="4157533" y="2901954"/>
            <a:ext cx="2116266" cy="1878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F150104C-0626-A8EC-9C02-A84F715983B8}"/>
              </a:ext>
            </a:extLst>
          </p:cNvPr>
          <p:cNvCxnSpPr>
            <a:cxnSpLocks/>
          </p:cNvCxnSpPr>
          <p:nvPr/>
        </p:nvCxnSpPr>
        <p:spPr>
          <a:xfrm flipH="1">
            <a:off x="2983779" y="2284984"/>
            <a:ext cx="4006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E19A105-E66C-8954-82F4-D3612B63C69F}"/>
              </a:ext>
            </a:extLst>
          </p:cNvPr>
          <p:cNvSpPr txBox="1"/>
          <p:nvPr/>
        </p:nvSpPr>
        <p:spPr>
          <a:xfrm>
            <a:off x="2200917" y="2364090"/>
            <a:ext cx="494729" cy="29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PC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224F511-B992-A9BE-5C02-6DC13F1AC8BC}"/>
              </a:ext>
            </a:extLst>
          </p:cNvPr>
          <p:cNvSpPr txBox="1"/>
          <p:nvPr/>
        </p:nvSpPr>
        <p:spPr>
          <a:xfrm>
            <a:off x="2810234" y="1710494"/>
            <a:ext cx="1649660" cy="30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Carte acquisition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D008927-9DF2-9DB5-BE45-1FAF44624EC6}"/>
              </a:ext>
            </a:extLst>
          </p:cNvPr>
          <p:cNvSpPr txBox="1"/>
          <p:nvPr/>
        </p:nvSpPr>
        <p:spPr>
          <a:xfrm>
            <a:off x="5339452" y="1259649"/>
            <a:ext cx="1649660" cy="30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Oscilloscope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B59CC3-6CE0-0CFB-3BC1-D9CC8EF26893}"/>
              </a:ext>
            </a:extLst>
          </p:cNvPr>
          <p:cNvSpPr txBox="1"/>
          <p:nvPr/>
        </p:nvSpPr>
        <p:spPr>
          <a:xfrm>
            <a:off x="7412937" y="3221774"/>
            <a:ext cx="10496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Bloc Vibrato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73D432-B5CD-F70F-2425-FB14F234EF97}"/>
              </a:ext>
            </a:extLst>
          </p:cNvPr>
          <p:cNvSpPr txBox="1"/>
          <p:nvPr/>
        </p:nvSpPr>
        <p:spPr>
          <a:xfrm>
            <a:off x="7171997" y="2945096"/>
            <a:ext cx="1296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Micro </a:t>
            </a:r>
            <a:r>
              <a:rPr lang="fr-FR" sz="1200" dirty="0" err="1"/>
              <a:t>SingleCoil</a:t>
            </a:r>
            <a:endParaRPr lang="fr-FR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02E2F6-7461-C568-DF59-D7E040D83DD7}"/>
              </a:ext>
            </a:extLst>
          </p:cNvPr>
          <p:cNvSpPr txBox="1"/>
          <p:nvPr/>
        </p:nvSpPr>
        <p:spPr>
          <a:xfrm>
            <a:off x="492975" y="3022345"/>
            <a:ext cx="94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Mécanique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4FF988A3-4B06-6E2E-639F-64E1F6F38285}"/>
              </a:ext>
            </a:extLst>
          </p:cNvPr>
          <p:cNvCxnSpPr>
            <a:cxnSpLocks/>
            <a:stCxn id="21" idx="2"/>
          </p:cNvCxnSpPr>
          <p:nvPr/>
        </p:nvCxnSpPr>
        <p:spPr>
          <a:xfrm rot="16200000" flipH="1">
            <a:off x="939847" y="3323543"/>
            <a:ext cx="685116" cy="636718"/>
          </a:xfrm>
          <a:prstGeom prst="bentConnector3">
            <a:avLst>
              <a:gd name="adj1" fmla="val 999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50CFC299-348E-F330-9452-E7ABBDC72C03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V="1">
            <a:off x="6468437" y="3083596"/>
            <a:ext cx="703561" cy="6719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6BFEC6A8-37CA-DDB2-34B3-EAC758DD7C81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7046595" y="3360274"/>
            <a:ext cx="366342" cy="247808"/>
          </a:xfrm>
          <a:prstGeom prst="bentConnector3">
            <a:avLst>
              <a:gd name="adj1" fmla="val 9992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A70D80F-2229-FD27-3AD5-7187F59B005E}"/>
              </a:ext>
            </a:extLst>
          </p:cNvPr>
          <p:cNvSpPr txBox="1"/>
          <p:nvPr/>
        </p:nvSpPr>
        <p:spPr>
          <a:xfrm>
            <a:off x="2915256" y="3215499"/>
            <a:ext cx="6331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A5361A9F-4CAF-2A70-9164-246E5EDA2109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3548413" y="3353999"/>
            <a:ext cx="274743" cy="5555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0843E1A7-D5D9-9271-804D-43BF5EF7399A}"/>
              </a:ext>
            </a:extLst>
          </p:cNvPr>
          <p:cNvSpPr txBox="1"/>
          <p:nvPr/>
        </p:nvSpPr>
        <p:spPr>
          <a:xfrm>
            <a:off x="4645725" y="3092763"/>
            <a:ext cx="1653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Micro Humbucker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25C70E4-D44E-FE81-2FAC-CF8D1C57AC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567470" y="3274992"/>
            <a:ext cx="345520" cy="5350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432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84765-5894-8CC8-303C-ADAA4CFF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0D44BAF1-ED95-2AE0-4741-B870742D63AE}"/>
              </a:ext>
            </a:extLst>
          </p:cNvPr>
          <p:cNvCxnSpPr>
            <a:cxnSpLocks/>
          </p:cNvCxnSpPr>
          <p:nvPr/>
        </p:nvCxnSpPr>
        <p:spPr>
          <a:xfrm>
            <a:off x="5398701" y="2432915"/>
            <a:ext cx="1" cy="3578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A4445B1F-7F4B-929D-852E-C4CC735F867F}"/>
              </a:ext>
            </a:extLst>
          </p:cNvPr>
          <p:cNvCxnSpPr>
            <a:cxnSpLocks/>
          </p:cNvCxnSpPr>
          <p:nvPr/>
        </p:nvCxnSpPr>
        <p:spPr>
          <a:xfrm>
            <a:off x="5147721" y="2427245"/>
            <a:ext cx="3154" cy="48410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66108D0-AB28-C372-C33F-9BCB677A77B2}"/>
              </a:ext>
            </a:extLst>
          </p:cNvPr>
          <p:cNvSpPr/>
          <p:nvPr/>
        </p:nvSpPr>
        <p:spPr>
          <a:xfrm>
            <a:off x="5060930" y="1617120"/>
            <a:ext cx="2287034" cy="8195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95038D2-4793-2D6D-E7EE-AED98E6D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C88CB7A3-A7AC-6F87-1DC2-8DC7EC063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36ECDC7-487F-939D-7A92-84F22DFE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11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D3E981-369E-684E-83B4-2FEA29A4EAD6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A457BAC-AC8C-5010-1E29-5509087D2B4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A2BFA9-FCC6-B783-50CC-7DE344DF6405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Expérimentation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B99E34-6928-D6A4-E886-C3C70D4D9284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6632F-9154-9B58-7CAA-95E7E6ABA2C7}"/>
              </a:ext>
            </a:extLst>
          </p:cNvPr>
          <p:cNvSpPr txBox="1"/>
          <p:nvPr/>
        </p:nvSpPr>
        <p:spPr>
          <a:xfrm>
            <a:off x="345440" y="4565413"/>
            <a:ext cx="8478303" cy="1477328"/>
          </a:xfrm>
          <a:prstGeom prst="rect">
            <a:avLst/>
          </a:prstGeom>
          <a:ln w="38100">
            <a:solidFill>
              <a:schemeClr val="accent3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numCol="3" rtlCol="0">
            <a:spAutoFit/>
          </a:bodyPr>
          <a:lstStyle/>
          <a:p>
            <a:r>
              <a:rPr lang="fr-FR" b="1" dirty="0"/>
              <a:t>Paramètres variables :</a:t>
            </a:r>
          </a:p>
          <a:p>
            <a:endParaRPr lang="fr-FR" b="1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Type de micro utilisé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endParaRPr lang="fr-FR" dirty="0">
              <a:sym typeface="Wingdings" panose="05000000000000000000" pitchFamily="2" charset="2"/>
            </a:endParaRPr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>
                <a:sym typeface="Wingdings" panose="05000000000000000000" pitchFamily="2" charset="2"/>
              </a:rPr>
              <a:t>Intensité &amp; Fréquence du champ parasite</a:t>
            </a:r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à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à"/>
            </a:pPr>
            <a:r>
              <a:rPr lang="fr-FR" dirty="0"/>
              <a:t>Tension de la corde (Note jouée)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C01244-87DC-5E3F-2B64-F23428E95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6140000">
            <a:off x="4210262" y="693933"/>
            <a:ext cx="723475" cy="6262094"/>
          </a:xfrm>
          <a:prstGeom prst="rect">
            <a:avLst/>
          </a:prstGeom>
        </p:spPr>
      </p:pic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EBE8B673-200E-195A-00C5-D9D0A66639C7}"/>
              </a:ext>
            </a:extLst>
          </p:cNvPr>
          <p:cNvCxnSpPr>
            <a:cxnSpLocks/>
          </p:cNvCxnSpPr>
          <p:nvPr/>
        </p:nvCxnSpPr>
        <p:spPr>
          <a:xfrm>
            <a:off x="6190251" y="2858141"/>
            <a:ext cx="0" cy="68511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09ED06E-50AB-DDEF-5598-DA325C1F6FF7}"/>
              </a:ext>
            </a:extLst>
          </p:cNvPr>
          <p:cNvSpPr/>
          <p:nvPr/>
        </p:nvSpPr>
        <p:spPr>
          <a:xfrm>
            <a:off x="5060930" y="1778081"/>
            <a:ext cx="2287034" cy="532392"/>
          </a:xfrm>
          <a:custGeom>
            <a:avLst/>
            <a:gdLst>
              <a:gd name="connsiteX0" fmla="*/ 0 w 1875580"/>
              <a:gd name="connsiteY0" fmla="*/ 477163 h 477163"/>
              <a:gd name="connsiteX1" fmla="*/ 198782 w 1875580"/>
              <a:gd name="connsiteY1" fmla="*/ 23939 h 477163"/>
              <a:gd name="connsiteX2" fmla="*/ 421419 w 1875580"/>
              <a:gd name="connsiteY2" fmla="*/ 405601 h 477163"/>
              <a:gd name="connsiteX3" fmla="*/ 588396 w 1875580"/>
              <a:gd name="connsiteY3" fmla="*/ 8036 h 477163"/>
              <a:gd name="connsiteX4" fmla="*/ 779228 w 1875580"/>
              <a:gd name="connsiteY4" fmla="*/ 373796 h 477163"/>
              <a:gd name="connsiteX5" fmla="*/ 930302 w 1875580"/>
              <a:gd name="connsiteY5" fmla="*/ 85 h 477163"/>
              <a:gd name="connsiteX6" fmla="*/ 1160890 w 1875580"/>
              <a:gd name="connsiteY6" fmla="*/ 413553 h 477163"/>
              <a:gd name="connsiteX7" fmla="*/ 1264257 w 1875580"/>
              <a:gd name="connsiteY7" fmla="*/ 8036 h 477163"/>
              <a:gd name="connsiteX8" fmla="*/ 1478942 w 1875580"/>
              <a:gd name="connsiteY8" fmla="*/ 389699 h 477163"/>
              <a:gd name="connsiteX9" fmla="*/ 1574358 w 1875580"/>
              <a:gd name="connsiteY9" fmla="*/ 8036 h 477163"/>
              <a:gd name="connsiteX10" fmla="*/ 1741335 w 1875580"/>
              <a:gd name="connsiteY10" fmla="*/ 373796 h 477163"/>
              <a:gd name="connsiteX11" fmla="*/ 1852654 w 1875580"/>
              <a:gd name="connsiteY11" fmla="*/ 206819 h 477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75580" h="477163">
                <a:moveTo>
                  <a:pt x="0" y="477163"/>
                </a:moveTo>
                <a:cubicBezTo>
                  <a:pt x="64273" y="256514"/>
                  <a:pt x="128546" y="35866"/>
                  <a:pt x="198782" y="23939"/>
                </a:cubicBezTo>
                <a:cubicBezTo>
                  <a:pt x="269018" y="12012"/>
                  <a:pt x="356483" y="408251"/>
                  <a:pt x="421419" y="405601"/>
                </a:cubicBezTo>
                <a:cubicBezTo>
                  <a:pt x="486355" y="402950"/>
                  <a:pt x="528761" y="13337"/>
                  <a:pt x="588396" y="8036"/>
                </a:cubicBezTo>
                <a:cubicBezTo>
                  <a:pt x="648031" y="2735"/>
                  <a:pt x="722244" y="375121"/>
                  <a:pt x="779228" y="373796"/>
                </a:cubicBezTo>
                <a:cubicBezTo>
                  <a:pt x="836212" y="372471"/>
                  <a:pt x="866692" y="-6541"/>
                  <a:pt x="930302" y="85"/>
                </a:cubicBezTo>
                <a:cubicBezTo>
                  <a:pt x="993912" y="6711"/>
                  <a:pt x="1105231" y="412228"/>
                  <a:pt x="1160890" y="413553"/>
                </a:cubicBezTo>
                <a:cubicBezTo>
                  <a:pt x="1216549" y="414878"/>
                  <a:pt x="1211248" y="12012"/>
                  <a:pt x="1264257" y="8036"/>
                </a:cubicBezTo>
                <a:cubicBezTo>
                  <a:pt x="1317266" y="4060"/>
                  <a:pt x="1427259" y="389699"/>
                  <a:pt x="1478942" y="389699"/>
                </a:cubicBezTo>
                <a:cubicBezTo>
                  <a:pt x="1530625" y="389699"/>
                  <a:pt x="1530626" y="10686"/>
                  <a:pt x="1574358" y="8036"/>
                </a:cubicBezTo>
                <a:cubicBezTo>
                  <a:pt x="1618090" y="5386"/>
                  <a:pt x="1694952" y="340665"/>
                  <a:pt x="1741335" y="373796"/>
                </a:cubicBezTo>
                <a:cubicBezTo>
                  <a:pt x="1787718" y="406927"/>
                  <a:pt x="1930842" y="164412"/>
                  <a:pt x="1852654" y="206819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Graphic 18" descr="Laptop with solid fill">
            <a:extLst>
              <a:ext uri="{FF2B5EF4-FFF2-40B4-BE49-F238E27FC236}">
                <a16:creationId xmlns:a16="http://schemas.microsoft.com/office/drawing/2014/main" id="{0DF6654C-CBD1-6556-BA18-1C940905A8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0735" y="1522571"/>
            <a:ext cx="1135578" cy="1020236"/>
          </a:xfrm>
          <a:prstGeom prst="rect">
            <a:avLst/>
          </a:prstGeom>
        </p:spPr>
      </p:pic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072E5EAA-1B3C-7A1C-9FB4-B2AD7EFC4C17}"/>
              </a:ext>
            </a:extLst>
          </p:cNvPr>
          <p:cNvCxnSpPr>
            <a:cxnSpLocks/>
          </p:cNvCxnSpPr>
          <p:nvPr/>
        </p:nvCxnSpPr>
        <p:spPr>
          <a:xfrm>
            <a:off x="6273799" y="2913035"/>
            <a:ext cx="0" cy="6302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F0D4DC10-63A3-469D-A94C-9EB8972FFC5F}"/>
              </a:ext>
            </a:extLst>
          </p:cNvPr>
          <p:cNvSpPr/>
          <p:nvPr/>
        </p:nvSpPr>
        <p:spPr>
          <a:xfrm>
            <a:off x="3384385" y="2026879"/>
            <a:ext cx="328056" cy="2951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BD2D331-7B78-3629-00BA-6645A6147AD7}"/>
              </a:ext>
            </a:extLst>
          </p:cNvPr>
          <p:cNvCxnSpPr>
            <a:stCxn id="20" idx="3"/>
          </p:cNvCxnSpPr>
          <p:nvPr/>
        </p:nvCxnSpPr>
        <p:spPr>
          <a:xfrm flipV="1">
            <a:off x="3712441" y="2174458"/>
            <a:ext cx="542554" cy="1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150FDC8-5870-0CF1-51FF-C401CA483F06}"/>
              </a:ext>
            </a:extLst>
          </p:cNvPr>
          <p:cNvCxnSpPr>
            <a:cxnSpLocks/>
          </p:cNvCxnSpPr>
          <p:nvPr/>
        </p:nvCxnSpPr>
        <p:spPr>
          <a:xfrm>
            <a:off x="4254995" y="2174458"/>
            <a:ext cx="0" cy="668805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0CC16D5E-221F-21C3-AC59-8DBA8031A23F}"/>
              </a:ext>
            </a:extLst>
          </p:cNvPr>
          <p:cNvCxnSpPr>
            <a:cxnSpLocks/>
          </p:cNvCxnSpPr>
          <p:nvPr/>
        </p:nvCxnSpPr>
        <p:spPr>
          <a:xfrm>
            <a:off x="4254995" y="2843263"/>
            <a:ext cx="1935257" cy="22946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B55B7405-4DF4-095B-0FA9-B3EFE7557045}"/>
              </a:ext>
            </a:extLst>
          </p:cNvPr>
          <p:cNvCxnSpPr>
            <a:cxnSpLocks/>
          </p:cNvCxnSpPr>
          <p:nvPr/>
        </p:nvCxnSpPr>
        <p:spPr>
          <a:xfrm>
            <a:off x="5233699" y="2436639"/>
            <a:ext cx="0" cy="418097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D3C339-9B9C-280D-0F40-EC917F044496}"/>
              </a:ext>
            </a:extLst>
          </p:cNvPr>
          <p:cNvCxnSpPr>
            <a:cxnSpLocks/>
          </p:cNvCxnSpPr>
          <p:nvPr/>
        </p:nvCxnSpPr>
        <p:spPr>
          <a:xfrm>
            <a:off x="3712441" y="2115458"/>
            <a:ext cx="63565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1486EB0-0D0B-8958-5905-68AA13DE42F8}"/>
              </a:ext>
            </a:extLst>
          </p:cNvPr>
          <p:cNvCxnSpPr>
            <a:cxnSpLocks/>
          </p:cNvCxnSpPr>
          <p:nvPr/>
        </p:nvCxnSpPr>
        <p:spPr>
          <a:xfrm>
            <a:off x="6439448" y="2802356"/>
            <a:ext cx="0" cy="74897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40756577-0321-22B1-E4B5-C73A623AC834}"/>
              </a:ext>
            </a:extLst>
          </p:cNvPr>
          <p:cNvCxnSpPr>
            <a:cxnSpLocks/>
          </p:cNvCxnSpPr>
          <p:nvPr/>
        </p:nvCxnSpPr>
        <p:spPr>
          <a:xfrm>
            <a:off x="4348092" y="2115458"/>
            <a:ext cx="0" cy="663738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E40798BB-6454-B514-907C-F098EC49B74C}"/>
              </a:ext>
            </a:extLst>
          </p:cNvPr>
          <p:cNvCxnSpPr>
            <a:cxnSpLocks/>
          </p:cNvCxnSpPr>
          <p:nvPr/>
        </p:nvCxnSpPr>
        <p:spPr>
          <a:xfrm>
            <a:off x="4348091" y="2779197"/>
            <a:ext cx="2101221" cy="2316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FA500742-0E21-0B1F-4139-36DD2315F908}"/>
              </a:ext>
            </a:extLst>
          </p:cNvPr>
          <p:cNvCxnSpPr>
            <a:cxnSpLocks/>
          </p:cNvCxnSpPr>
          <p:nvPr/>
        </p:nvCxnSpPr>
        <p:spPr>
          <a:xfrm>
            <a:off x="3712441" y="2233457"/>
            <a:ext cx="4384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12042ED1-D8A5-D6CA-9ABA-81BC0AA78046}"/>
              </a:ext>
            </a:extLst>
          </p:cNvPr>
          <p:cNvCxnSpPr>
            <a:cxnSpLocks/>
          </p:cNvCxnSpPr>
          <p:nvPr/>
        </p:nvCxnSpPr>
        <p:spPr>
          <a:xfrm>
            <a:off x="4150900" y="2233457"/>
            <a:ext cx="0" cy="6799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638109D-4F19-E80F-1BE5-BE320C4AD93B}"/>
              </a:ext>
            </a:extLst>
          </p:cNvPr>
          <p:cNvCxnSpPr>
            <a:cxnSpLocks/>
          </p:cNvCxnSpPr>
          <p:nvPr/>
        </p:nvCxnSpPr>
        <p:spPr>
          <a:xfrm>
            <a:off x="4157533" y="2901954"/>
            <a:ext cx="2116266" cy="1878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B7CE8E2-BE27-EA7C-786B-A2D3BEF526C2}"/>
              </a:ext>
            </a:extLst>
          </p:cNvPr>
          <p:cNvCxnSpPr>
            <a:cxnSpLocks/>
          </p:cNvCxnSpPr>
          <p:nvPr/>
        </p:nvCxnSpPr>
        <p:spPr>
          <a:xfrm flipH="1">
            <a:off x="2983779" y="2284984"/>
            <a:ext cx="4006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421AFEC0-C15F-EDAF-D3CD-E9CA1803B3EE}"/>
              </a:ext>
            </a:extLst>
          </p:cNvPr>
          <p:cNvSpPr txBox="1"/>
          <p:nvPr/>
        </p:nvSpPr>
        <p:spPr>
          <a:xfrm>
            <a:off x="2200917" y="2364090"/>
            <a:ext cx="494729" cy="29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/>
              <a:t>PC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7AC3D74-1B99-2A9F-0F70-7334A5E5A4AF}"/>
              </a:ext>
            </a:extLst>
          </p:cNvPr>
          <p:cNvSpPr txBox="1"/>
          <p:nvPr/>
        </p:nvSpPr>
        <p:spPr>
          <a:xfrm>
            <a:off x="2810234" y="1710494"/>
            <a:ext cx="1649660" cy="30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Carte acquisition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25B617B6-1494-C294-9287-9D5835E5AF15}"/>
              </a:ext>
            </a:extLst>
          </p:cNvPr>
          <p:cNvSpPr txBox="1"/>
          <p:nvPr/>
        </p:nvSpPr>
        <p:spPr>
          <a:xfrm>
            <a:off x="5339452" y="1259649"/>
            <a:ext cx="1649660" cy="309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Oscilloscope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E96F94-DE17-9425-E478-BB63E0DEBD99}"/>
              </a:ext>
            </a:extLst>
          </p:cNvPr>
          <p:cNvSpPr txBox="1"/>
          <p:nvPr/>
        </p:nvSpPr>
        <p:spPr>
          <a:xfrm>
            <a:off x="7412937" y="3221774"/>
            <a:ext cx="104965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Bloc Vibrato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9BD377-5E1F-20F0-E82D-B1869232C333}"/>
              </a:ext>
            </a:extLst>
          </p:cNvPr>
          <p:cNvSpPr txBox="1"/>
          <p:nvPr/>
        </p:nvSpPr>
        <p:spPr>
          <a:xfrm>
            <a:off x="7171997" y="2945096"/>
            <a:ext cx="12961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Micro </a:t>
            </a:r>
            <a:r>
              <a:rPr lang="fr-FR" sz="1200" dirty="0" err="1"/>
              <a:t>SingleCoil</a:t>
            </a:r>
            <a:endParaRPr lang="fr-FR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3555BA-3574-E5E2-1D96-6BBF3F582FBC}"/>
              </a:ext>
            </a:extLst>
          </p:cNvPr>
          <p:cNvSpPr txBox="1"/>
          <p:nvPr/>
        </p:nvSpPr>
        <p:spPr>
          <a:xfrm>
            <a:off x="4645725" y="3092763"/>
            <a:ext cx="1653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Micro Humbucker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A318D3-D710-4EC3-037E-0E73F9189039}"/>
              </a:ext>
            </a:extLst>
          </p:cNvPr>
          <p:cNvSpPr txBox="1"/>
          <p:nvPr/>
        </p:nvSpPr>
        <p:spPr>
          <a:xfrm>
            <a:off x="492975" y="3022345"/>
            <a:ext cx="94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Mécanique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BA8D0EA-EC8E-3F19-6246-1D42CDD73009}"/>
              </a:ext>
            </a:extLst>
          </p:cNvPr>
          <p:cNvCxnSpPr>
            <a:cxnSpLocks/>
            <a:stCxn id="21" idx="2"/>
          </p:cNvCxnSpPr>
          <p:nvPr/>
        </p:nvCxnSpPr>
        <p:spPr>
          <a:xfrm rot="16200000" flipH="1">
            <a:off x="939847" y="3323543"/>
            <a:ext cx="685116" cy="636718"/>
          </a:xfrm>
          <a:prstGeom prst="bentConnector3">
            <a:avLst>
              <a:gd name="adj1" fmla="val 99905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274247C-D906-9B23-21F1-2EE1985F6860}"/>
              </a:ext>
            </a:extLst>
          </p:cNvPr>
          <p:cNvCxnSpPr>
            <a:cxnSpLocks/>
            <a:stCxn id="18" idx="2"/>
          </p:cNvCxnSpPr>
          <p:nvPr/>
        </p:nvCxnSpPr>
        <p:spPr>
          <a:xfrm rot="16200000" flipH="1">
            <a:off x="5567470" y="3274992"/>
            <a:ext cx="345520" cy="53505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AA86542A-3169-7113-A44E-D9FAC6B6848A}"/>
              </a:ext>
            </a:extLst>
          </p:cNvPr>
          <p:cNvCxnSpPr>
            <a:cxnSpLocks/>
            <a:stCxn id="14" idx="1"/>
          </p:cNvCxnSpPr>
          <p:nvPr/>
        </p:nvCxnSpPr>
        <p:spPr>
          <a:xfrm rot="10800000" flipV="1">
            <a:off x="6468437" y="3083596"/>
            <a:ext cx="703561" cy="6719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7C26DD00-4B34-7016-6AC6-71FB94B52CCF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7046595" y="3360274"/>
            <a:ext cx="366342" cy="247808"/>
          </a:xfrm>
          <a:prstGeom prst="bentConnector3">
            <a:avLst>
              <a:gd name="adj1" fmla="val 9992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3E6ED65-3FC3-90CA-31FD-2B16EA3FB47B}"/>
              </a:ext>
            </a:extLst>
          </p:cNvPr>
          <p:cNvSpPr txBox="1"/>
          <p:nvPr/>
        </p:nvSpPr>
        <p:spPr>
          <a:xfrm>
            <a:off x="2915256" y="3215499"/>
            <a:ext cx="63315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Corde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5C4601E3-24F9-A62F-BE91-52F3A7AA8ABC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3548413" y="3353999"/>
            <a:ext cx="274743" cy="55554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72E36D-D58A-2C4E-5157-8C5E862E339F}"/>
              </a:ext>
            </a:extLst>
          </p:cNvPr>
          <p:cNvGrpSpPr/>
          <p:nvPr/>
        </p:nvGrpSpPr>
        <p:grpSpPr>
          <a:xfrm>
            <a:off x="4778695" y="3501662"/>
            <a:ext cx="2135121" cy="629737"/>
            <a:chOff x="5078985" y="3438238"/>
            <a:chExt cx="2135121" cy="629737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A20091A-6EF5-C33A-4F95-0F78B87AD696}"/>
                </a:ext>
              </a:extLst>
            </p:cNvPr>
            <p:cNvGrpSpPr/>
            <p:nvPr/>
          </p:nvGrpSpPr>
          <p:grpSpPr>
            <a:xfrm>
              <a:off x="5124704" y="3442378"/>
              <a:ext cx="2048256" cy="625597"/>
              <a:chOff x="5205984" y="3429000"/>
              <a:chExt cx="2048256" cy="62559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D5641F9-42A6-2E4C-5D2B-D7A32DF0A9CE}"/>
                  </a:ext>
                </a:extLst>
              </p:cNvPr>
              <p:cNvSpPr/>
              <p:nvPr/>
            </p:nvSpPr>
            <p:spPr>
              <a:xfrm>
                <a:off x="5205984" y="3429000"/>
                <a:ext cx="2048256" cy="625597"/>
              </a:xfrm>
              <a:prstGeom prst="rect">
                <a:avLst/>
              </a:prstGeom>
              <a:noFill/>
              <a:ln>
                <a:solidFill>
                  <a:srgbClr val="CC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7BCA6D6-FA50-EFA5-4B75-CAFA4DAFA90B}"/>
                  </a:ext>
                </a:extLst>
              </p:cNvPr>
              <p:cNvCxnSpPr/>
              <p:nvPr/>
            </p:nvCxnSpPr>
            <p:spPr>
              <a:xfrm>
                <a:off x="52669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BB44C34-2501-5A10-4D85-F1320D220AB0}"/>
                  </a:ext>
                </a:extLst>
              </p:cNvPr>
              <p:cNvCxnSpPr/>
              <p:nvPr/>
            </p:nvCxnSpPr>
            <p:spPr>
              <a:xfrm>
                <a:off x="53355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8718BAD-4933-19D1-2602-8C1E8D28BDC7}"/>
                  </a:ext>
                </a:extLst>
              </p:cNvPr>
              <p:cNvCxnSpPr/>
              <p:nvPr/>
            </p:nvCxnSpPr>
            <p:spPr>
              <a:xfrm>
                <a:off x="54041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5E5B4F9-1682-621C-8932-0D82AA051B04}"/>
                  </a:ext>
                </a:extLst>
              </p:cNvPr>
              <p:cNvCxnSpPr/>
              <p:nvPr/>
            </p:nvCxnSpPr>
            <p:spPr>
              <a:xfrm>
                <a:off x="54726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D1FC2046-A10A-A239-837E-B3C1448C4739}"/>
                  </a:ext>
                </a:extLst>
              </p:cNvPr>
              <p:cNvCxnSpPr/>
              <p:nvPr/>
            </p:nvCxnSpPr>
            <p:spPr>
              <a:xfrm>
                <a:off x="554126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9545EB58-6B3E-ADE6-5D07-FFAEC90D6B41}"/>
                  </a:ext>
                </a:extLst>
              </p:cNvPr>
              <p:cNvCxnSpPr/>
              <p:nvPr/>
            </p:nvCxnSpPr>
            <p:spPr>
              <a:xfrm>
                <a:off x="56098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A34E0D56-FEC1-ACF2-6516-1C56632D26C4}"/>
                  </a:ext>
                </a:extLst>
              </p:cNvPr>
              <p:cNvCxnSpPr/>
              <p:nvPr/>
            </p:nvCxnSpPr>
            <p:spPr>
              <a:xfrm>
                <a:off x="56784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C0082EA4-1935-7DF2-7139-8589A77F029C}"/>
                  </a:ext>
                </a:extLst>
              </p:cNvPr>
              <p:cNvCxnSpPr/>
              <p:nvPr/>
            </p:nvCxnSpPr>
            <p:spPr>
              <a:xfrm>
                <a:off x="57470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C1C035C-E55E-713D-3674-18CC91ABD1EA}"/>
                  </a:ext>
                </a:extLst>
              </p:cNvPr>
              <p:cNvCxnSpPr/>
              <p:nvPr/>
            </p:nvCxnSpPr>
            <p:spPr>
              <a:xfrm>
                <a:off x="58155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A75AFDAB-11D3-08B6-CDF8-705FD8EE15CB}"/>
                  </a:ext>
                </a:extLst>
              </p:cNvPr>
              <p:cNvCxnSpPr/>
              <p:nvPr/>
            </p:nvCxnSpPr>
            <p:spPr>
              <a:xfrm>
                <a:off x="588416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152A6491-E4D7-3AE3-F625-BF1B3662247B}"/>
                  </a:ext>
                </a:extLst>
              </p:cNvPr>
              <p:cNvCxnSpPr/>
              <p:nvPr/>
            </p:nvCxnSpPr>
            <p:spPr>
              <a:xfrm>
                <a:off x="59527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FA71BBA-56FD-D6F5-8C2E-C9B38C947427}"/>
                  </a:ext>
                </a:extLst>
              </p:cNvPr>
              <p:cNvCxnSpPr/>
              <p:nvPr/>
            </p:nvCxnSpPr>
            <p:spPr>
              <a:xfrm>
                <a:off x="60213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CB8FEA4-281B-31C7-3CC4-59CB3161D44E}"/>
                  </a:ext>
                </a:extLst>
              </p:cNvPr>
              <p:cNvCxnSpPr/>
              <p:nvPr/>
            </p:nvCxnSpPr>
            <p:spPr>
              <a:xfrm>
                <a:off x="60899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EB90DCCC-197F-EF67-8290-90442B465B6C}"/>
                  </a:ext>
                </a:extLst>
              </p:cNvPr>
              <p:cNvCxnSpPr/>
              <p:nvPr/>
            </p:nvCxnSpPr>
            <p:spPr>
              <a:xfrm>
                <a:off x="61584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87DEE52-196E-B69B-36CC-77B215C5C301}"/>
                  </a:ext>
                </a:extLst>
              </p:cNvPr>
              <p:cNvCxnSpPr/>
              <p:nvPr/>
            </p:nvCxnSpPr>
            <p:spPr>
              <a:xfrm>
                <a:off x="622706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F9296B7A-D2A4-D503-79C6-C0E64498F45F}"/>
                  </a:ext>
                </a:extLst>
              </p:cNvPr>
              <p:cNvCxnSpPr/>
              <p:nvPr/>
            </p:nvCxnSpPr>
            <p:spPr>
              <a:xfrm>
                <a:off x="62956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95273B0C-F241-C902-A950-29BCE45AB6E9}"/>
                  </a:ext>
                </a:extLst>
              </p:cNvPr>
              <p:cNvCxnSpPr/>
              <p:nvPr/>
            </p:nvCxnSpPr>
            <p:spPr>
              <a:xfrm>
                <a:off x="63642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ED61A98E-A6BF-314A-05F2-FDFFDC51B34A}"/>
                  </a:ext>
                </a:extLst>
              </p:cNvPr>
              <p:cNvCxnSpPr/>
              <p:nvPr/>
            </p:nvCxnSpPr>
            <p:spPr>
              <a:xfrm>
                <a:off x="64328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D495FD4F-D8FF-48A8-5F8E-E5E6DA59F281}"/>
                  </a:ext>
                </a:extLst>
              </p:cNvPr>
              <p:cNvCxnSpPr/>
              <p:nvPr/>
            </p:nvCxnSpPr>
            <p:spPr>
              <a:xfrm>
                <a:off x="65013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E946B897-4B27-9830-EAD8-894B33710AF4}"/>
                  </a:ext>
                </a:extLst>
              </p:cNvPr>
              <p:cNvCxnSpPr/>
              <p:nvPr/>
            </p:nvCxnSpPr>
            <p:spPr>
              <a:xfrm>
                <a:off x="656996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2B3B631C-3DC2-7F5F-A7D2-98C6FB8A216C}"/>
                  </a:ext>
                </a:extLst>
              </p:cNvPr>
              <p:cNvCxnSpPr/>
              <p:nvPr/>
            </p:nvCxnSpPr>
            <p:spPr>
              <a:xfrm>
                <a:off x="66385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A77017C1-FBC9-0B24-8E96-E3ED9C5FD252}"/>
                  </a:ext>
                </a:extLst>
              </p:cNvPr>
              <p:cNvCxnSpPr/>
              <p:nvPr/>
            </p:nvCxnSpPr>
            <p:spPr>
              <a:xfrm>
                <a:off x="67071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1AB3D7CC-0305-D1DF-248B-896469D9D308}"/>
                  </a:ext>
                </a:extLst>
              </p:cNvPr>
              <p:cNvCxnSpPr/>
              <p:nvPr/>
            </p:nvCxnSpPr>
            <p:spPr>
              <a:xfrm>
                <a:off x="67757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497B74A8-C0A9-5ECA-0608-C5BD1B68E181}"/>
                  </a:ext>
                </a:extLst>
              </p:cNvPr>
              <p:cNvCxnSpPr/>
              <p:nvPr/>
            </p:nvCxnSpPr>
            <p:spPr>
              <a:xfrm>
                <a:off x="68442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802F808E-0E0C-04CA-EF72-B66A3F57A46A}"/>
                  </a:ext>
                </a:extLst>
              </p:cNvPr>
              <p:cNvCxnSpPr/>
              <p:nvPr/>
            </p:nvCxnSpPr>
            <p:spPr>
              <a:xfrm>
                <a:off x="691286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A5C3CB3-9D59-26D5-E456-480C6441B435}"/>
                  </a:ext>
                </a:extLst>
              </p:cNvPr>
              <p:cNvCxnSpPr/>
              <p:nvPr/>
            </p:nvCxnSpPr>
            <p:spPr>
              <a:xfrm>
                <a:off x="698144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629026B8-0C84-795A-579D-34DE3065D072}"/>
                  </a:ext>
                </a:extLst>
              </p:cNvPr>
              <p:cNvCxnSpPr/>
              <p:nvPr/>
            </p:nvCxnSpPr>
            <p:spPr>
              <a:xfrm>
                <a:off x="705002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121D27E3-AA11-F47D-AD64-D347D1A06A22}"/>
                  </a:ext>
                </a:extLst>
              </p:cNvPr>
              <p:cNvCxnSpPr/>
              <p:nvPr/>
            </p:nvCxnSpPr>
            <p:spPr>
              <a:xfrm>
                <a:off x="711860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1C1DA948-BE52-D302-FCD3-6861CAA51B59}"/>
                  </a:ext>
                </a:extLst>
              </p:cNvPr>
              <p:cNvCxnSpPr/>
              <p:nvPr/>
            </p:nvCxnSpPr>
            <p:spPr>
              <a:xfrm>
                <a:off x="7187184" y="3429000"/>
                <a:ext cx="0" cy="625597"/>
              </a:xfrm>
              <a:prstGeom prst="line">
                <a:avLst/>
              </a:prstGeom>
              <a:ln>
                <a:solidFill>
                  <a:srgbClr val="CC66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415404AF-8EEE-2A2D-AEE0-E2FF969232E3}"/>
                </a:ext>
              </a:extLst>
            </p:cNvPr>
            <p:cNvSpPr/>
            <p:nvPr/>
          </p:nvSpPr>
          <p:spPr>
            <a:xfrm>
              <a:off x="5078985" y="3442378"/>
              <a:ext cx="45719" cy="625596"/>
            </a:xfrm>
            <a:prstGeom prst="ellipse">
              <a:avLst/>
            </a:prstGeom>
            <a:noFill/>
            <a:ln>
              <a:solidFill>
                <a:srgbClr val="CC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080355E-C4E7-5A7F-5B28-2AD79FE35BD1}"/>
                </a:ext>
              </a:extLst>
            </p:cNvPr>
            <p:cNvSpPr/>
            <p:nvPr/>
          </p:nvSpPr>
          <p:spPr>
            <a:xfrm>
              <a:off x="7168387" y="3438238"/>
              <a:ext cx="45719" cy="625596"/>
            </a:xfrm>
            <a:prstGeom prst="ellipse">
              <a:avLst/>
            </a:prstGeom>
            <a:noFill/>
            <a:ln>
              <a:solidFill>
                <a:srgbClr val="CC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7D8F0541-B0BA-087C-E4D1-2B08EE802126}"/>
              </a:ext>
            </a:extLst>
          </p:cNvPr>
          <p:cNvSpPr/>
          <p:nvPr/>
        </p:nvSpPr>
        <p:spPr>
          <a:xfrm>
            <a:off x="8002344" y="3959008"/>
            <a:ext cx="540000" cy="540000"/>
          </a:xfrm>
          <a:prstGeom prst="ellipse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700" b="1" dirty="0"/>
              <a:t>GBF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6F2A4EF-9A7B-297A-7010-1AFC3F346D8D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6805614" y="4223154"/>
            <a:ext cx="1196730" cy="585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F4BA373-66AB-2FA5-AECF-1552E6700C65}"/>
              </a:ext>
            </a:extLst>
          </p:cNvPr>
          <p:cNvCxnSpPr>
            <a:cxnSpLocks/>
          </p:cNvCxnSpPr>
          <p:nvPr/>
        </p:nvCxnSpPr>
        <p:spPr>
          <a:xfrm>
            <a:off x="4824414" y="4269578"/>
            <a:ext cx="317687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EBA7383-320D-3F62-6B39-857E0B6C5672}"/>
              </a:ext>
            </a:extLst>
          </p:cNvPr>
          <p:cNvCxnSpPr>
            <a:cxnSpLocks/>
          </p:cNvCxnSpPr>
          <p:nvPr/>
        </p:nvCxnSpPr>
        <p:spPr>
          <a:xfrm>
            <a:off x="6805614" y="4135147"/>
            <a:ext cx="0" cy="8800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CEA523CD-D1A1-73C7-58D9-454F5C9856BE}"/>
              </a:ext>
            </a:extLst>
          </p:cNvPr>
          <p:cNvCxnSpPr>
            <a:cxnSpLocks/>
          </p:cNvCxnSpPr>
          <p:nvPr/>
        </p:nvCxnSpPr>
        <p:spPr>
          <a:xfrm flipV="1">
            <a:off x="4824414" y="4135146"/>
            <a:ext cx="0" cy="1344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50440993-1AF9-653B-32E9-C0229A64D937}"/>
              </a:ext>
            </a:extLst>
          </p:cNvPr>
          <p:cNvSpPr txBox="1"/>
          <p:nvPr/>
        </p:nvSpPr>
        <p:spPr>
          <a:xfrm>
            <a:off x="3661157" y="2986131"/>
            <a:ext cx="9421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Solénoïde</a:t>
            </a:r>
          </a:p>
        </p:txBody>
      </p: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79EAF782-C496-FE9F-24AB-1DBC5C6352DB}"/>
              </a:ext>
            </a:extLst>
          </p:cNvPr>
          <p:cNvCxnSpPr>
            <a:cxnSpLocks/>
            <a:stCxn id="94" idx="2"/>
            <a:endCxn id="28" idx="0"/>
          </p:cNvCxnSpPr>
          <p:nvPr/>
        </p:nvCxnSpPr>
        <p:spPr>
          <a:xfrm rot="16200000" flipH="1">
            <a:off x="4345555" y="3049802"/>
            <a:ext cx="242672" cy="669327"/>
          </a:xfrm>
          <a:prstGeom prst="bentConnector3">
            <a:avLst>
              <a:gd name="adj1" fmla="val 10128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252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6FC30-AAA2-E5BB-32E0-683CC058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7C011195-2549-BCE2-65E7-95D97701B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D27B990-34B8-0612-B00F-135A3864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DCD4202-BEB8-74F4-5148-FD85D148C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12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6465F9-2328-58C8-82DC-3D4C33494CAC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6118C6D-1578-28CB-51EF-9F9921702B38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27CD10-7EEF-021B-45BD-839A366C0544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Sources &amp; Bibliographie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2768E8-3415-4446-BB84-549A102258DE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FE077D-2C94-B4B1-D675-115CAB645DBB}"/>
              </a:ext>
            </a:extLst>
          </p:cNvPr>
          <p:cNvSpPr txBox="1"/>
          <p:nvPr/>
        </p:nvSpPr>
        <p:spPr>
          <a:xfrm>
            <a:off x="345439" y="1254482"/>
            <a:ext cx="849111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/>
              <a:t>[1] </a:t>
            </a:r>
            <a:r>
              <a:rPr lang="fr-FR" sz="1200" dirty="0"/>
              <a:t>P. </a:t>
            </a:r>
            <a:r>
              <a:rPr lang="fr-FR" sz="1200" dirty="0" err="1"/>
              <a:t>Perov</a:t>
            </a:r>
            <a:r>
              <a:rPr lang="fr-FR" sz="1200" dirty="0"/>
              <a:t>, W. Johnson, and N. </a:t>
            </a:r>
            <a:r>
              <a:rPr lang="fr-FR" sz="1200" dirty="0" err="1"/>
              <a:t>Perova</a:t>
            </a:r>
            <a:r>
              <a:rPr lang="fr-FR" sz="1200" dirty="0"/>
              <a:t>-Mello, "The </a:t>
            </a:r>
            <a:r>
              <a:rPr lang="fr-FR" sz="1200" dirty="0" err="1"/>
              <a:t>physics</a:t>
            </a:r>
            <a:r>
              <a:rPr lang="fr-FR" sz="1200" dirty="0"/>
              <a:t> of </a:t>
            </a:r>
            <a:r>
              <a:rPr lang="fr-FR" sz="1200" dirty="0" err="1"/>
              <a:t>guitar</a:t>
            </a:r>
            <a:r>
              <a:rPr lang="fr-FR" sz="1200" dirty="0"/>
              <a:t> string vibrations," </a:t>
            </a:r>
            <a:r>
              <a:rPr lang="fr-FR" sz="1200" i="1" dirty="0"/>
              <a:t>American Journal of </a:t>
            </a:r>
            <a:r>
              <a:rPr lang="fr-FR" sz="1200" i="1" dirty="0" err="1"/>
              <a:t>Physics</a:t>
            </a:r>
            <a:r>
              <a:rPr lang="fr-FR" sz="1200" dirty="0"/>
              <a:t>, vol. 84, no. 1, pp. 38–43, Jan. 2016.</a:t>
            </a:r>
          </a:p>
          <a:p>
            <a:r>
              <a:rPr lang="fr-FR" sz="1200" b="1" dirty="0"/>
              <a:t>[2] </a:t>
            </a:r>
            <a:r>
              <a:rPr lang="fr-FR" sz="1200" dirty="0"/>
              <a:t>T. Ray, J. </a:t>
            </a:r>
            <a:r>
              <a:rPr lang="fr-FR" sz="1200" dirty="0" err="1"/>
              <a:t>Kaljun</a:t>
            </a:r>
            <a:r>
              <a:rPr lang="fr-FR" sz="1200" dirty="0"/>
              <a:t>, and B. </a:t>
            </a:r>
            <a:r>
              <a:rPr lang="fr-FR" sz="1200" dirty="0" err="1"/>
              <a:t>Dolsak</a:t>
            </a:r>
            <a:r>
              <a:rPr lang="fr-FR" sz="1200" dirty="0"/>
              <a:t>, "</a:t>
            </a:r>
            <a:r>
              <a:rPr lang="fr-FR" sz="1200" dirty="0" err="1"/>
              <a:t>Numerical</a:t>
            </a:r>
            <a:r>
              <a:rPr lang="fr-FR" sz="1200" dirty="0"/>
              <a:t> model application to </a:t>
            </a:r>
            <a:r>
              <a:rPr lang="fr-FR" sz="1200" dirty="0" err="1"/>
              <a:t>predict</a:t>
            </a:r>
            <a:r>
              <a:rPr lang="fr-FR" sz="1200" dirty="0"/>
              <a:t> the </a:t>
            </a:r>
            <a:r>
              <a:rPr lang="fr-FR" sz="1200" dirty="0" err="1"/>
              <a:t>sound</a:t>
            </a:r>
            <a:r>
              <a:rPr lang="fr-FR" sz="1200" dirty="0"/>
              <a:t> </a:t>
            </a:r>
            <a:r>
              <a:rPr lang="fr-FR" sz="1200" dirty="0" err="1"/>
              <a:t>quality</a:t>
            </a:r>
            <a:r>
              <a:rPr lang="fr-FR" sz="1200" dirty="0"/>
              <a:t> of an instrument," </a:t>
            </a:r>
            <a:r>
              <a:rPr lang="fr-FR" sz="1200" dirty="0" err="1"/>
              <a:t>University</a:t>
            </a:r>
            <a:r>
              <a:rPr lang="fr-FR" sz="1200" dirty="0"/>
              <a:t> of Maribor, </a:t>
            </a:r>
            <a:r>
              <a:rPr lang="fr-FR" sz="1200" dirty="0" err="1"/>
              <a:t>Faculty</a:t>
            </a:r>
            <a:r>
              <a:rPr lang="fr-FR" sz="1200" dirty="0"/>
              <a:t> of </a:t>
            </a:r>
            <a:r>
              <a:rPr lang="fr-FR" sz="1200" dirty="0" err="1"/>
              <a:t>Mechanical</a:t>
            </a:r>
            <a:r>
              <a:rPr lang="fr-FR" sz="1200" dirty="0"/>
              <a:t> Engineering, </a:t>
            </a:r>
            <a:r>
              <a:rPr lang="fr-FR" sz="1200" dirty="0" err="1"/>
              <a:t>Slovenia</a:t>
            </a:r>
            <a:r>
              <a:rPr lang="fr-FR" sz="1200" dirty="0"/>
              <a:t>, 2020. </a:t>
            </a:r>
            <a:r>
              <a:rPr lang="fr-FR" sz="1200" i="1" dirty="0"/>
              <a:t>(Année 2020 présumée, car manquante.)</a:t>
            </a:r>
            <a:endParaRPr lang="fr-FR" sz="1200" dirty="0"/>
          </a:p>
          <a:p>
            <a:r>
              <a:rPr lang="fr-FR" sz="1200" b="1" dirty="0"/>
              <a:t>[3] </a:t>
            </a:r>
            <a:r>
              <a:rPr lang="fr-FR" sz="1200" dirty="0"/>
              <a:t>C. </a:t>
            </a:r>
            <a:r>
              <a:rPr lang="fr-FR" sz="1200" dirty="0" err="1"/>
              <a:t>Issanchou</a:t>
            </a:r>
            <a:r>
              <a:rPr lang="fr-FR" sz="1200" dirty="0"/>
              <a:t>, J.-L. Le </a:t>
            </a:r>
            <a:r>
              <a:rPr lang="fr-FR" sz="1200" dirty="0" err="1"/>
              <a:t>Carrou</a:t>
            </a:r>
            <a:r>
              <a:rPr lang="fr-FR" sz="1200" dirty="0"/>
              <a:t>, C. </a:t>
            </a:r>
            <a:r>
              <a:rPr lang="fr-FR" sz="1200" dirty="0" err="1"/>
              <a:t>Touzé</a:t>
            </a:r>
            <a:r>
              <a:rPr lang="fr-FR" sz="1200" dirty="0"/>
              <a:t>, and O. </a:t>
            </a:r>
            <a:r>
              <a:rPr lang="fr-FR" sz="1200" dirty="0" err="1"/>
              <a:t>Doaré</a:t>
            </a:r>
            <a:r>
              <a:rPr lang="fr-FR" sz="1200" dirty="0"/>
              <a:t>, "Étude du contact corde / frette," </a:t>
            </a:r>
            <a:r>
              <a:rPr lang="fr-FR" sz="1200" b="1" dirty="0"/>
              <a:t>in</a:t>
            </a:r>
            <a:r>
              <a:rPr lang="fr-FR" sz="1200" dirty="0"/>
              <a:t> </a:t>
            </a:r>
            <a:r>
              <a:rPr lang="fr-FR" sz="1200" i="1" dirty="0" err="1"/>
              <a:t>Proceedings</a:t>
            </a:r>
            <a:r>
              <a:rPr lang="fr-FR" sz="1200" i="1" dirty="0"/>
              <a:t> of XXIXème Congrès Français de Mécanique (CFM)</a:t>
            </a:r>
            <a:r>
              <a:rPr lang="fr-FR" sz="1200" dirty="0"/>
              <a:t>, Brest, France, 2015. </a:t>
            </a:r>
            <a:r>
              <a:rPr lang="fr-FR" sz="1200" i="1" dirty="0"/>
              <a:t>(Titre de la conférence et lieu ajoutés pour se conformer au format IEEE Conférence.)</a:t>
            </a:r>
            <a:endParaRPr lang="fr-FR" sz="1200" dirty="0"/>
          </a:p>
          <a:p>
            <a:r>
              <a:rPr lang="fr-FR" sz="1200" b="1" dirty="0"/>
              <a:t>[4] </a:t>
            </a:r>
            <a:r>
              <a:rPr lang="fr-FR" sz="1200" dirty="0"/>
              <a:t>Q. </a:t>
            </a:r>
            <a:r>
              <a:rPr lang="fr-FR" sz="1200" dirty="0" err="1"/>
              <a:t>Leclère</a:t>
            </a:r>
            <a:r>
              <a:rPr lang="fr-FR" sz="1200" dirty="0"/>
              <a:t>, J.-L. Le </a:t>
            </a:r>
            <a:r>
              <a:rPr lang="fr-FR" sz="1200" dirty="0" err="1"/>
              <a:t>Carrou</a:t>
            </a:r>
            <a:r>
              <a:rPr lang="fr-FR" sz="1200" dirty="0"/>
              <a:t>, and P.-A. </a:t>
            </a:r>
            <a:r>
              <a:rPr lang="fr-FR" sz="1200" dirty="0" err="1"/>
              <a:t>Roiron</a:t>
            </a:r>
            <a:r>
              <a:rPr lang="fr-FR" sz="1200" dirty="0"/>
              <a:t>, "Caractérisation expérimentale de la réponse d'une corde vibrante sollicitée par un plectre," </a:t>
            </a:r>
            <a:r>
              <a:rPr lang="fr-FR" sz="1200" b="1" dirty="0"/>
              <a:t>in</a:t>
            </a:r>
            <a:r>
              <a:rPr lang="fr-FR" sz="1200" dirty="0"/>
              <a:t> </a:t>
            </a:r>
            <a:r>
              <a:rPr lang="fr-FR" sz="1200" i="1" dirty="0"/>
              <a:t>Actes du </a:t>
            </a:r>
            <a:r>
              <a:rPr lang="fr-FR" sz="1200" i="1" dirty="0" err="1"/>
              <a:t>XXXIVème</a:t>
            </a:r>
            <a:r>
              <a:rPr lang="fr-FR" sz="1200" i="1" dirty="0"/>
              <a:t> Congrès Français d’Acoustique</a:t>
            </a:r>
            <a:r>
              <a:rPr lang="fr-FR" sz="1200" dirty="0"/>
              <a:t>, Lyon, France, 2016. </a:t>
            </a:r>
            <a:r>
              <a:rPr lang="fr-FR" sz="1200" i="1" dirty="0"/>
              <a:t>(Titre de la conférence et année 2016 ajoutés pour se conformer au format IEEE Conférence.)</a:t>
            </a:r>
            <a:endParaRPr lang="fr-FR" sz="1200" dirty="0"/>
          </a:p>
          <a:p>
            <a:r>
              <a:rPr lang="fr-FR" sz="1200" b="1" dirty="0"/>
              <a:t>[5] </a:t>
            </a:r>
            <a:r>
              <a:rPr lang="fr-FR" sz="1200" dirty="0"/>
              <a:t>"Thomann Online Music Store," Thomann, </a:t>
            </a:r>
            <a:r>
              <a:rPr lang="fr-FR" sz="1200" b="1" dirty="0"/>
              <a:t>[En ligne]</a:t>
            </a:r>
            <a:r>
              <a:rPr lang="fr-FR" sz="1200" dirty="0"/>
              <a:t>. Disponible sur : </a:t>
            </a:r>
            <a:r>
              <a:rPr lang="fr-FR" sz="1200" dirty="0">
                <a:hlinkClick r:id="rId2"/>
              </a:rPr>
              <a:t>https://www.thomann.de</a:t>
            </a:r>
            <a:r>
              <a:rPr lang="fr-FR" sz="1200" dirty="0"/>
              <a:t>. (Consulté le : date).</a:t>
            </a:r>
          </a:p>
          <a:p>
            <a:r>
              <a:rPr lang="fr-FR" sz="1200" b="1" dirty="0"/>
              <a:t>[6] </a:t>
            </a:r>
            <a:r>
              <a:rPr lang="fr-FR" sz="1200" dirty="0"/>
              <a:t>S. W. Duncan, "Interview </a:t>
            </a:r>
            <a:r>
              <a:rPr lang="fr-FR" sz="1200" dirty="0" err="1"/>
              <a:t>With</a:t>
            </a:r>
            <a:r>
              <a:rPr lang="fr-FR" sz="1200" dirty="0"/>
              <a:t> Seth Lover," Seymour Duncan, </a:t>
            </a:r>
            <a:r>
              <a:rPr lang="fr-FR" sz="1200" b="1" dirty="0"/>
              <a:t>[En ligne]</a:t>
            </a:r>
            <a:r>
              <a:rPr lang="fr-FR" sz="1200" dirty="0"/>
              <a:t>. Disponible sur : </a:t>
            </a:r>
            <a:r>
              <a:rPr lang="fr-FR" sz="1200" dirty="0">
                <a:hlinkClick r:id="rId3"/>
              </a:rPr>
              <a:t>https://www.seymourduncan.com</a:t>
            </a:r>
            <a:r>
              <a:rPr lang="fr-FR" sz="1200" dirty="0"/>
              <a:t>. (Consulté le : date).</a:t>
            </a:r>
          </a:p>
          <a:p>
            <a:r>
              <a:rPr lang="fr-FR" sz="1200" b="1" dirty="0"/>
              <a:t>[7] </a:t>
            </a:r>
            <a:r>
              <a:rPr lang="fr-FR" sz="1200" dirty="0" err="1"/>
              <a:t>JessaScience</a:t>
            </a:r>
            <a:r>
              <a:rPr lang="fr-FR" sz="1200" dirty="0"/>
              <a:t>, "</a:t>
            </a:r>
            <a:r>
              <a:rPr lang="fr-FR" sz="1200" dirty="0" err="1"/>
              <a:t>Measuring</a:t>
            </a:r>
            <a:r>
              <a:rPr lang="fr-FR" sz="1200" dirty="0"/>
              <a:t> Pickup </a:t>
            </a:r>
            <a:r>
              <a:rPr lang="fr-FR" sz="1200" dirty="0" err="1"/>
              <a:t>Impedance</a:t>
            </a:r>
            <a:r>
              <a:rPr lang="fr-FR" sz="1200" dirty="0"/>
              <a:t> </a:t>
            </a:r>
            <a:r>
              <a:rPr lang="fr-FR" sz="1200" dirty="0" err="1"/>
              <a:t>with</a:t>
            </a:r>
            <a:r>
              <a:rPr lang="fr-FR" sz="1200" dirty="0"/>
              <a:t> </a:t>
            </a:r>
            <a:r>
              <a:rPr lang="fr-FR" sz="1200" dirty="0" err="1"/>
              <a:t>Digilent</a:t>
            </a:r>
            <a:r>
              <a:rPr lang="fr-FR" sz="1200" dirty="0"/>
              <a:t> </a:t>
            </a:r>
            <a:r>
              <a:rPr lang="fr-FR" sz="1200" dirty="0" err="1"/>
              <a:t>Analog</a:t>
            </a:r>
            <a:r>
              <a:rPr lang="fr-FR" sz="1200" dirty="0"/>
              <a:t> Discovery," https://www.google.com/search?q=JessaScience.com, </a:t>
            </a:r>
            <a:r>
              <a:rPr lang="fr-FR" sz="1200" b="1" dirty="0"/>
              <a:t>[En ligne]</a:t>
            </a:r>
            <a:r>
              <a:rPr lang="fr-FR" sz="1200" dirty="0"/>
              <a:t>. Disponible sur : </a:t>
            </a:r>
            <a:r>
              <a:rPr lang="fr-FR" sz="1200" dirty="0">
                <a:hlinkClick r:id="rId4"/>
              </a:rPr>
              <a:t>https://www.jensign.com</a:t>
            </a:r>
            <a:r>
              <a:rPr lang="fr-FR" sz="1200" dirty="0"/>
              <a:t>. (Consulté le : date).</a:t>
            </a:r>
          </a:p>
          <a:p>
            <a:r>
              <a:rPr lang="fr-FR" sz="1200" b="1" dirty="0"/>
              <a:t>[8] </a:t>
            </a:r>
            <a:r>
              <a:rPr lang="fr-FR" sz="1200" dirty="0"/>
              <a:t>H. </a:t>
            </a:r>
            <a:r>
              <a:rPr lang="fr-FR" sz="1200" dirty="0" err="1"/>
              <a:t>Munguía</a:t>
            </a:r>
            <a:r>
              <a:rPr lang="fr-FR" sz="1200" dirty="0"/>
              <a:t> Aguilar </a:t>
            </a:r>
            <a:r>
              <a:rPr lang="fr-FR" sz="1200" i="1" dirty="0"/>
              <a:t>et al.</a:t>
            </a:r>
            <a:r>
              <a:rPr lang="fr-FR" sz="1200" dirty="0"/>
              <a:t>, "</a:t>
            </a:r>
            <a:r>
              <a:rPr lang="fr-FR" sz="1200" dirty="0" err="1"/>
              <a:t>Using</a:t>
            </a:r>
            <a:r>
              <a:rPr lang="fr-FR" sz="1200" dirty="0"/>
              <a:t> an </a:t>
            </a:r>
            <a:r>
              <a:rPr lang="fr-FR" sz="1200" dirty="0" err="1"/>
              <a:t>electric</a:t>
            </a:r>
            <a:r>
              <a:rPr lang="fr-FR" sz="1200" dirty="0"/>
              <a:t> </a:t>
            </a:r>
            <a:r>
              <a:rPr lang="fr-FR" sz="1200" dirty="0" err="1"/>
              <a:t>guitar</a:t>
            </a:r>
            <a:r>
              <a:rPr lang="fr-FR" sz="1200" dirty="0"/>
              <a:t> pickup to </a:t>
            </a:r>
            <a:r>
              <a:rPr lang="fr-FR" sz="1200" dirty="0" err="1"/>
              <a:t>analyze</a:t>
            </a:r>
            <a:r>
              <a:rPr lang="fr-FR" sz="1200" dirty="0"/>
              <a:t> bar vibrations," </a:t>
            </a:r>
            <a:r>
              <a:rPr lang="fr-FR" sz="1200" i="1" dirty="0" err="1"/>
              <a:t>Physics</a:t>
            </a:r>
            <a:r>
              <a:rPr lang="fr-FR" sz="1200" i="1" dirty="0"/>
              <a:t> Education</a:t>
            </a:r>
            <a:r>
              <a:rPr lang="fr-FR" sz="1200" dirty="0"/>
              <a:t>, vol. 54, no. 2, Art. no. 025018, 2019.</a:t>
            </a:r>
          </a:p>
          <a:p>
            <a:r>
              <a:rPr lang="fr-FR" sz="1200" b="1" dirty="0"/>
              <a:t>[9] </a:t>
            </a:r>
            <a:r>
              <a:rPr lang="fr-FR" sz="1200" dirty="0"/>
              <a:t>R. </a:t>
            </a:r>
            <a:r>
              <a:rPr lang="fr-FR" sz="1200" dirty="0" err="1"/>
              <a:t>Giampiccolo</a:t>
            </a:r>
            <a:r>
              <a:rPr lang="fr-FR" sz="1200" dirty="0"/>
              <a:t>, A. </a:t>
            </a:r>
            <a:r>
              <a:rPr lang="fr-FR" sz="1200" dirty="0" err="1"/>
              <a:t>Bernardini</a:t>
            </a:r>
            <a:r>
              <a:rPr lang="fr-FR" sz="1200" dirty="0"/>
              <a:t>, and A. </a:t>
            </a:r>
            <a:r>
              <a:rPr lang="fr-FR" sz="1200" dirty="0" err="1"/>
              <a:t>Sarti</a:t>
            </a:r>
            <a:r>
              <a:rPr lang="fr-FR" sz="1200" dirty="0"/>
              <a:t>, "</a:t>
            </a:r>
            <a:r>
              <a:rPr lang="fr-FR" sz="1200" dirty="0" err="1"/>
              <a:t>Virtualization</a:t>
            </a:r>
            <a:r>
              <a:rPr lang="fr-FR" sz="1200" dirty="0"/>
              <a:t> of Guitar Pickups </a:t>
            </a:r>
            <a:r>
              <a:rPr lang="fr-FR" sz="1200" dirty="0" err="1"/>
              <a:t>Through</a:t>
            </a:r>
            <a:r>
              <a:rPr lang="fr-FR" sz="1200" dirty="0"/>
              <a:t> Circuit Inversion," </a:t>
            </a:r>
            <a:r>
              <a:rPr lang="fr-FR" sz="1200" i="1" dirty="0"/>
              <a:t>IEEE Signal Processing </a:t>
            </a:r>
            <a:r>
              <a:rPr lang="fr-FR" sz="1200" i="1" dirty="0" err="1"/>
              <a:t>Letters</a:t>
            </a:r>
            <a:r>
              <a:rPr lang="fr-FR" sz="1200" dirty="0"/>
              <a:t>, vol. 30, pp. 458–462, 2023.</a:t>
            </a:r>
          </a:p>
          <a:p>
            <a:endParaRPr lang="en-US" sz="12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3B07A5-1F32-4DE7-8794-4D603A659294}"/>
              </a:ext>
            </a:extLst>
          </p:cNvPr>
          <p:cNvSpPr txBox="1"/>
          <p:nvPr/>
        </p:nvSpPr>
        <p:spPr>
          <a:xfrm>
            <a:off x="5641341" y="5675286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Remerciements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82DCB6-C103-387D-73AD-CBCEA5C064A5}"/>
              </a:ext>
            </a:extLst>
          </p:cNvPr>
          <p:cNvSpPr txBox="1"/>
          <p:nvPr/>
        </p:nvSpPr>
        <p:spPr>
          <a:xfrm>
            <a:off x="3881227" y="5130828"/>
            <a:ext cx="8491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/>
              <a:t>Art Music Store</a:t>
            </a:r>
            <a:r>
              <a:rPr lang="fr-FR" sz="1200" dirty="0"/>
              <a:t>,</a:t>
            </a:r>
            <a:r>
              <a:rPr lang="fr-FR" sz="1200" b="1" dirty="0"/>
              <a:t> </a:t>
            </a:r>
            <a:r>
              <a:rPr lang="fr-FR" sz="1200" dirty="0"/>
              <a:t>3800, Grenoble, Place Victor Hugo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1" dirty="0"/>
              <a:t>Menuiserie Paradis</a:t>
            </a:r>
            <a:r>
              <a:rPr lang="fr-FR" sz="1200" dirty="0"/>
              <a:t>, 38590, Brézins, Rue des Caillères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6309016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7EEA9-F7B8-9D5F-AC77-42444A77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0697540-CBC1-7307-57A5-D4FD6B78E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12AD455C-4E0F-8C44-FB73-C500A0B30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CCE99780-CA7B-47C1-ABE2-119498B51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13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3A568D-A22D-99BA-EE74-88DC5BA3799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F5695410-0F63-6315-9F97-C9017F7BE1F2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44EA3F-0ED5-07EF-A5BD-494C702F369B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1 : Loi d’induction de Faraday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CF56A8-C29C-5426-89FC-284E560D8A86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0E1D4B-FF0A-ADB0-43F0-458577E9DE7F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029F39-5C02-3985-AF5F-A28D263A7881}"/>
              </a:ext>
            </a:extLst>
          </p:cNvPr>
          <p:cNvGrpSpPr/>
          <p:nvPr/>
        </p:nvGrpSpPr>
        <p:grpSpPr>
          <a:xfrm rot="10800000">
            <a:off x="-736802" y="1802750"/>
            <a:ext cx="4973727" cy="2925771"/>
            <a:chOff x="4696904" y="1390254"/>
            <a:chExt cx="4973727" cy="2925771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3A4741D-B170-2F09-583D-545C54E14DE0}"/>
                </a:ext>
              </a:extLst>
            </p:cNvPr>
            <p:cNvGrpSpPr/>
            <p:nvPr/>
          </p:nvGrpSpPr>
          <p:grpSpPr>
            <a:xfrm>
              <a:off x="5907188" y="1390254"/>
              <a:ext cx="2527760" cy="2925771"/>
              <a:chOff x="5907188" y="1390254"/>
              <a:chExt cx="2527760" cy="2925771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821CFDF9-4291-8D12-74B3-B173DE76F8DE}"/>
                  </a:ext>
                </a:extLst>
              </p:cNvPr>
              <p:cNvGrpSpPr/>
              <p:nvPr/>
            </p:nvGrpSpPr>
            <p:grpSpPr>
              <a:xfrm rot="16200000">
                <a:off x="6409476" y="1925906"/>
                <a:ext cx="1526968" cy="455664"/>
                <a:chOff x="1549400" y="1947332"/>
                <a:chExt cx="2430478" cy="455664"/>
              </a:xfrm>
            </p:grpSpPr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109894D-0C13-D7BC-0A38-126F9177B79E}"/>
                    </a:ext>
                  </a:extLst>
                </p:cNvPr>
                <p:cNvSpPr/>
                <p:nvPr/>
              </p:nvSpPr>
              <p:spPr>
                <a:xfrm>
                  <a:off x="1549400" y="1947333"/>
                  <a:ext cx="1215239" cy="45566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N</a:t>
                  </a:r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CA38F9B1-D91D-1218-899D-63801034424A}"/>
                    </a:ext>
                  </a:extLst>
                </p:cNvPr>
                <p:cNvSpPr/>
                <p:nvPr/>
              </p:nvSpPr>
              <p:spPr>
                <a:xfrm>
                  <a:off x="2764639" y="1947332"/>
                  <a:ext cx="1215239" cy="4556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S</a:t>
                  </a:r>
                </a:p>
              </p:txBody>
            </p:sp>
          </p:grp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EFA7991-B1FD-4D9F-E2A8-E8EE349CA2DE}"/>
                  </a:ext>
                </a:extLst>
              </p:cNvPr>
              <p:cNvSpPr/>
              <p:nvPr/>
            </p:nvSpPr>
            <p:spPr>
              <a:xfrm>
                <a:off x="5991859" y="3157260"/>
                <a:ext cx="2362200" cy="52493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F4AE618D-44F2-E55D-1043-667FB8FBF8FA}"/>
                  </a:ext>
                </a:extLst>
              </p:cNvPr>
              <p:cNvSpPr/>
              <p:nvPr/>
            </p:nvSpPr>
            <p:spPr>
              <a:xfrm rot="5400000">
                <a:off x="5166741" y="2301751"/>
                <a:ext cx="2672806" cy="1191911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9572B0B0-2176-7203-972E-1EA06FB2A7CD}"/>
                  </a:ext>
                </a:extLst>
              </p:cNvPr>
              <p:cNvSpPr/>
              <p:nvPr/>
            </p:nvSpPr>
            <p:spPr>
              <a:xfrm rot="5400000" flipV="1">
                <a:off x="6501124" y="2298382"/>
                <a:ext cx="2675737" cy="1191910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FDDF69DD-1E42-2112-9BF5-84E28D6B5F92}"/>
                  </a:ext>
                </a:extLst>
              </p:cNvPr>
              <p:cNvCxnSpPr>
                <a:cxnSpLocks/>
                <a:stCxn id="42" idx="1"/>
              </p:cNvCxnSpPr>
              <p:nvPr/>
            </p:nvCxnSpPr>
            <p:spPr>
              <a:xfrm rot="10800000" flipH="1" flipV="1">
                <a:off x="7172960" y="2917222"/>
                <a:ext cx="19314" cy="1398803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7205DBE-459C-B395-3584-9F4722AB65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281" y="348529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E82847AF-498C-DF5E-BDE4-017FDB6B1D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8365" y="347529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5F6D1BD-9F89-FCC2-B040-CD22C7FB6A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2350" y="3419726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150BE16-5E9F-407A-16A7-6130EBF540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7753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CA8DA61-3CB2-1EF9-0F7D-89B45934CB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6598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B967B8D-E992-37D1-73EF-496B4779BD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7808" y="3354064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3B2475F-F2A5-6B66-44F9-7385BA187E3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0913" y="336532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863F86B7-F05C-00CA-4D2F-CC9B3737F5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1355" y="337532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C4675CC6-5BA0-23F3-5EA6-AB7ADCC403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73" y="3431062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39CC67-64C7-AF1A-9F7A-208E6F904B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4797" y="3378283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C9386F2B-937C-216F-8A7D-DB7A20EB35C8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fr-FR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27" name="TextBox 1026">
                    <a:extLst>
                      <a:ext uri="{FF2B5EF4-FFF2-40B4-BE49-F238E27FC236}">
                        <a16:creationId xmlns:a16="http://schemas.microsoft.com/office/drawing/2014/main" id="{38FD531E-F5DC-BB2B-7744-9747DCF9AB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25000" r="-19444" b="-980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5D0BAF00-F5A2-ADBD-073E-C00978D6471C}"/>
                </a:ext>
              </a:extLst>
            </p:cNvPr>
            <p:cNvSpPr/>
            <p:nvPr/>
          </p:nvSpPr>
          <p:spPr>
            <a:xfrm rot="5400000">
              <a:off x="4612238" y="1705432"/>
              <a:ext cx="2509909" cy="2340577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29A901C5-9433-402F-B6E7-920E3568775F}"/>
                </a:ext>
              </a:extLst>
            </p:cNvPr>
            <p:cNvSpPr/>
            <p:nvPr/>
          </p:nvSpPr>
          <p:spPr>
            <a:xfrm rot="5400000" flipV="1">
              <a:off x="7234576" y="1694620"/>
              <a:ext cx="2509909" cy="2362201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809D01-A231-5948-E676-FC31A5CC2883}"/>
                  </a:ext>
                </a:extLst>
              </p:cNvPr>
              <p:cNvSpPr txBox="1"/>
              <p:nvPr/>
            </p:nvSpPr>
            <p:spPr>
              <a:xfrm>
                <a:off x="6802056" y="4611352"/>
                <a:ext cx="1329690" cy="525913"/>
              </a:xfrm>
              <a:prstGeom prst="rect">
                <a:avLst/>
              </a:prstGeom>
              <a:noFill/>
              <a:ln w="19050">
                <a:solidFill>
                  <a:srgbClr val="C00000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num>
                        <m:den>
                          <m:r>
                            <a:rPr lang="fr-FR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6809D01-A231-5948-E676-FC31A5CC2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2056" y="4611352"/>
                <a:ext cx="1329690" cy="5259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E6379458-06A2-8BE6-84DA-CDDF9B5A55A1}"/>
              </a:ext>
            </a:extLst>
          </p:cNvPr>
          <p:cNvGrpSpPr/>
          <p:nvPr/>
        </p:nvGrpSpPr>
        <p:grpSpPr>
          <a:xfrm rot="10800000">
            <a:off x="2222427" y="1802749"/>
            <a:ext cx="4744887" cy="2939324"/>
            <a:chOff x="4696904" y="1390254"/>
            <a:chExt cx="4973727" cy="3336602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66DA6C7-65F1-7B57-BA30-F55D1109FDA7}"/>
                </a:ext>
              </a:extLst>
            </p:cNvPr>
            <p:cNvGrpSpPr/>
            <p:nvPr/>
          </p:nvGrpSpPr>
          <p:grpSpPr>
            <a:xfrm>
              <a:off x="5837879" y="1390254"/>
              <a:ext cx="2597068" cy="3336602"/>
              <a:chOff x="5837879" y="1390254"/>
              <a:chExt cx="2597068" cy="3336602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C5A41D1F-96FD-ABAF-2D61-59961D5F60C8}"/>
                  </a:ext>
                </a:extLst>
              </p:cNvPr>
              <p:cNvGrpSpPr/>
              <p:nvPr/>
            </p:nvGrpSpPr>
            <p:grpSpPr>
              <a:xfrm rot="16200000">
                <a:off x="6409476" y="1925906"/>
                <a:ext cx="1526968" cy="455664"/>
                <a:chOff x="1549400" y="1947332"/>
                <a:chExt cx="2430478" cy="455664"/>
              </a:xfrm>
            </p:grpSpPr>
            <p:sp>
              <p:nvSpPr>
                <p:cNvPr id="68" name="Rectangle 67">
                  <a:extLst>
                    <a:ext uri="{FF2B5EF4-FFF2-40B4-BE49-F238E27FC236}">
                      <a16:creationId xmlns:a16="http://schemas.microsoft.com/office/drawing/2014/main" id="{A4AB24D2-E5CC-651D-CBD4-6E4E03DBFC19}"/>
                    </a:ext>
                  </a:extLst>
                </p:cNvPr>
                <p:cNvSpPr/>
                <p:nvPr/>
              </p:nvSpPr>
              <p:spPr>
                <a:xfrm>
                  <a:off x="1549400" y="1947333"/>
                  <a:ext cx="1215239" cy="455663"/>
                </a:xfrm>
                <a:prstGeom prst="rect">
                  <a:avLst/>
                </a:prstGeom>
                <a:solidFill>
                  <a:srgbClr val="C0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N</a:t>
                  </a:r>
                </a:p>
              </p:txBody>
            </p:sp>
            <p:sp>
              <p:nvSpPr>
                <p:cNvPr id="69" name="Rectangle 68">
                  <a:extLst>
                    <a:ext uri="{FF2B5EF4-FFF2-40B4-BE49-F238E27FC236}">
                      <a16:creationId xmlns:a16="http://schemas.microsoft.com/office/drawing/2014/main" id="{402E2B5F-45EC-5E56-4C43-1E1AD9649537}"/>
                    </a:ext>
                  </a:extLst>
                </p:cNvPr>
                <p:cNvSpPr/>
                <p:nvPr/>
              </p:nvSpPr>
              <p:spPr>
                <a:xfrm>
                  <a:off x="2764639" y="1947332"/>
                  <a:ext cx="1215239" cy="455663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fr-FR" dirty="0"/>
                    <a:t>S</a:t>
                  </a:r>
                </a:p>
              </p:txBody>
            </p:sp>
          </p:grp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AB23C8A-12E2-A70F-DA1F-5F7A290E69D8}"/>
                  </a:ext>
                </a:extLst>
              </p:cNvPr>
              <p:cNvSpPr/>
              <p:nvPr/>
            </p:nvSpPr>
            <p:spPr>
              <a:xfrm>
                <a:off x="5974194" y="4064200"/>
                <a:ext cx="2362200" cy="524933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18C1FC13-5AA2-560D-DD00-4E43B2CA7F47}"/>
                  </a:ext>
                </a:extLst>
              </p:cNvPr>
              <p:cNvSpPr/>
              <p:nvPr/>
            </p:nvSpPr>
            <p:spPr>
              <a:xfrm rot="5400000">
                <a:off x="5128641" y="2300660"/>
                <a:ext cx="2749012" cy="1191911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Arc 51">
                <a:extLst>
                  <a:ext uri="{FF2B5EF4-FFF2-40B4-BE49-F238E27FC236}">
                    <a16:creationId xmlns:a16="http://schemas.microsoft.com/office/drawing/2014/main" id="{B2322817-EDBD-2DC7-B5B5-7D90D12FBA8A}"/>
                  </a:ext>
                </a:extLst>
              </p:cNvPr>
              <p:cNvSpPr/>
              <p:nvPr/>
            </p:nvSpPr>
            <p:spPr>
              <a:xfrm rot="5400000" flipV="1">
                <a:off x="6480374" y="2301307"/>
                <a:ext cx="2717236" cy="1191910"/>
              </a:xfrm>
              <a:prstGeom prst="arc">
                <a:avLst>
                  <a:gd name="adj1" fmla="val 16315962"/>
                  <a:gd name="adj2" fmla="val 21273773"/>
                </a:avLst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7D2797B2-7C00-FB64-3F35-4B733C60B4BC}"/>
                  </a:ext>
                </a:extLst>
              </p:cNvPr>
              <p:cNvCxnSpPr>
                <a:cxnSpLocks/>
                <a:stCxn id="68" idx="1"/>
              </p:cNvCxnSpPr>
              <p:nvPr/>
            </p:nvCxnSpPr>
            <p:spPr>
              <a:xfrm rot="10800000" flipH="1" flipV="1">
                <a:off x="7172960" y="2917222"/>
                <a:ext cx="842" cy="1475009"/>
              </a:xfrm>
              <a:prstGeom prst="line">
                <a:avLst/>
              </a:prstGeom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1967282-0FD1-2B99-0A9F-12EB732A8BA6}"/>
                  </a:ext>
                </a:extLst>
              </p:cNvPr>
              <p:cNvSpPr txBox="1"/>
              <p:nvPr/>
            </p:nvSpPr>
            <p:spPr>
              <a:xfrm rot="10800000">
                <a:off x="5837879" y="4357524"/>
                <a:ext cx="2726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b="1" dirty="0">
                    <a:solidFill>
                      <a:srgbClr val="C00000"/>
                    </a:solidFill>
                  </a:rPr>
                  <a:t>i</a:t>
                </a:r>
              </a:p>
            </p:txBody>
          </p: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A0C68269-9448-F8FA-F1B2-4684A925FF31}"/>
                  </a:ext>
                </a:extLst>
              </p:cNvPr>
              <p:cNvCxnSpPr>
                <a:cxnSpLocks/>
                <a:endCxn id="50" idx="3"/>
              </p:cNvCxnSpPr>
              <p:nvPr/>
            </p:nvCxnSpPr>
            <p:spPr>
              <a:xfrm flipV="1">
                <a:off x="6154535" y="4512258"/>
                <a:ext cx="165595" cy="37229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ACF4A742-FFB2-EA95-12B9-60EED3BA4CBC}"/>
                  </a:ext>
                </a:extLst>
              </p:cNvPr>
              <p:cNvCxnSpPr>
                <a:cxnSpLocks/>
                <a:stCxn id="50" idx="3"/>
              </p:cNvCxnSpPr>
              <p:nvPr/>
            </p:nvCxnSpPr>
            <p:spPr>
              <a:xfrm flipH="1" flipV="1">
                <a:off x="6256062" y="4392230"/>
                <a:ext cx="64068" cy="120028"/>
              </a:xfrm>
              <a:prstGeom prst="line">
                <a:avLst/>
              </a:prstGeom>
              <a:ln w="1905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0D6708DB-8DD5-1664-B357-BD630BD0EB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26281" y="348529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C897620C-1260-B939-E21B-D505923541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78365" y="347529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72E4FD29-97F3-8025-A398-8E33D4BBBA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2350" y="3419726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EB34D579-0D90-49AF-EB49-36B656F65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37753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AF05426E-36B0-A234-10C7-460D1B0BA4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06598" y="3414727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B4FAABA4-1527-1FDF-36E6-8CC489C59C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427808" y="3354064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200C5091-6592-C43E-7830-CB28A68888D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20913" y="3365322"/>
                <a:ext cx="53817" cy="69408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E2932CA7-7A48-C6E0-39CC-B823923189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71355" y="3375320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7D9F166-CCCC-C2E3-61BC-825383407E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57773" y="3431062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4E4DA187-A8B1-5C37-3CB8-F84175BF78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74797" y="3378283"/>
                <a:ext cx="55137" cy="59410"/>
              </a:xfrm>
              <a:prstGeom prst="line">
                <a:avLst/>
              </a:prstGeom>
              <a:ln/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>
                    <a:extLst>
                      <a:ext uri="{FF2B5EF4-FFF2-40B4-BE49-F238E27FC236}">
                        <a16:creationId xmlns:a16="http://schemas.microsoft.com/office/drawing/2014/main" id="{F74C7FF2-F223-3375-DFB5-85944DE2C6A7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fr-FR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fr-FR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056" name="TextBox 1055">
                    <a:extLst>
                      <a:ext uri="{FF2B5EF4-FFF2-40B4-BE49-F238E27FC236}">
                        <a16:creationId xmlns:a16="http://schemas.microsoft.com/office/drawing/2014/main" id="{F7E63660-0DD0-CEC0-8FAF-7979B94659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8025141" y="3698653"/>
                    <a:ext cx="222625" cy="31059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5714" r="-22857" b="-24444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BC829507-AA5C-C0B3-B29F-46A9EA5EBA49}"/>
                </a:ext>
              </a:extLst>
            </p:cNvPr>
            <p:cNvSpPr/>
            <p:nvPr/>
          </p:nvSpPr>
          <p:spPr>
            <a:xfrm rot="5400000">
              <a:off x="4612238" y="1705432"/>
              <a:ext cx="2509909" cy="2340577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F6686F3D-53BD-B64B-E53B-5C8C11606DED}"/>
                </a:ext>
              </a:extLst>
            </p:cNvPr>
            <p:cNvSpPr/>
            <p:nvPr/>
          </p:nvSpPr>
          <p:spPr>
            <a:xfrm rot="5400000" flipV="1">
              <a:off x="7234576" y="1694620"/>
              <a:ext cx="2509909" cy="2362201"/>
            </a:xfrm>
            <a:prstGeom prst="arc">
              <a:avLst>
                <a:gd name="adj1" fmla="val 16315962"/>
                <a:gd name="adj2" fmla="val 21273773"/>
              </a:avLst>
            </a:prstGeom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CEAE1717-2D77-09AF-B9F7-AFBE8B19269C}"/>
              </a:ext>
            </a:extLst>
          </p:cNvPr>
          <p:cNvCxnSpPr/>
          <p:nvPr/>
        </p:nvCxnSpPr>
        <p:spPr>
          <a:xfrm>
            <a:off x="2710866" y="4268850"/>
            <a:ext cx="86896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B13798B-711E-BD04-CAB9-6C762668F066}"/>
              </a:ext>
            </a:extLst>
          </p:cNvPr>
          <p:cNvSpPr txBox="1"/>
          <p:nvPr/>
        </p:nvSpPr>
        <p:spPr>
          <a:xfrm>
            <a:off x="6116245" y="1648429"/>
            <a:ext cx="27013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/>
              <a:t>Dans un circuit fermé conducteur, une variation de flux magnétique entraine la formation d’un courant induit</a:t>
            </a:r>
          </a:p>
          <a:p>
            <a:pPr algn="ctr"/>
            <a:endParaRPr lang="fr-FR" sz="1600" dirty="0"/>
          </a:p>
          <a:p>
            <a:pPr algn="ctr"/>
            <a:endParaRPr lang="fr-FR" sz="1600" dirty="0"/>
          </a:p>
          <a:p>
            <a:pPr algn="ctr"/>
            <a:r>
              <a:rPr lang="fr-FR" sz="1600" dirty="0"/>
              <a:t>L’effet de la F.E.M induite est tel qu’il s’oppose à la variation de flux</a:t>
            </a:r>
          </a:p>
        </p:txBody>
      </p:sp>
    </p:spTree>
    <p:extLst>
      <p:ext uri="{BB962C8B-B14F-4D97-AF65-F5344CB8AC3E}">
        <p14:creationId xmlns:p14="http://schemas.microsoft.com/office/powerpoint/2010/main" val="3010136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5F2D0-380E-9F8B-EAB7-F239559D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410E9A24-B484-295A-C630-F6DE6A33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7083A4E-2E4A-99E1-8563-6734096B4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A39197A-E1E0-DE57-ABEA-CF1EC7363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14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89EBA-FB81-9346-F14B-289AA14F6937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822B8513-685B-5D00-3E76-767B4A734F7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BE10D5-B238-9259-C2A5-819981B66C6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2 : Démonstration Modèle 1 (Micro Simple) </a:t>
            </a:r>
            <a:r>
              <a:rPr lang="fr-FR" sz="1000" i="1" dirty="0"/>
              <a:t>cf. Source [1] </a:t>
            </a:r>
            <a:endParaRPr lang="fr-FR" sz="2000" i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1D93A8-3068-FD13-67A6-BED55AE652CC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95B142-67A4-A817-F539-9E5FF0838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933" y="4427234"/>
            <a:ext cx="4020249" cy="14098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 fixé de chaque coté, le déplacement transversal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200" dirty="0"/>
                  <a:t> est régit par l’équation différentielle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r>
                  <a:rPr lang="fr-FR" sz="1200" dirty="0"/>
                  <a:t> la vitesse de l’onde,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la tension de la corde et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fr-FR" sz="1200" dirty="0"/>
                  <a:t> la masse linéique de la corde.</a:t>
                </a:r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 err="1"/>
                  <a:t>ème</a:t>
                </a:r>
                <a:r>
                  <a:rPr lang="fr-FR" sz="1200" dirty="0"/>
                  <a:t>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3D16238-4EA7-7517-C0A6-5F60945ECE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blipFill>
                <a:blip r:embed="rId3"/>
                <a:stretch>
                  <a:fillRect t="-141" b="-29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/>
              <p:nvPr/>
            </p:nvSpPr>
            <p:spPr>
              <a:xfrm>
                <a:off x="4521182" y="1232452"/>
                <a:ext cx="4121885" cy="51948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200" dirty="0"/>
                  <a:t> on a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 on obtient 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la loi d’induction de Faraday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fr-FR" sz="12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f>
                        <m:f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𝑚𝑖𝑐𝑟𝑜</m:t>
                                  </m:r>
                                </m:sub>
                              </m:sSub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func>
                            <m:funcPr>
                              <m:ctrlP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20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20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2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1C732B-CC1E-0649-36C3-A4BA70BB7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182" y="1232452"/>
                <a:ext cx="4121885" cy="5194820"/>
              </a:xfrm>
              <a:prstGeom prst="rect">
                <a:avLst/>
              </a:prstGeom>
              <a:blipFill>
                <a:blip r:embed="rId4"/>
                <a:stretch>
                  <a:fillRect l="-148" t="-117" b="-91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7D0EC3-584D-8431-D1DA-D93C4A505153}"/>
                  </a:ext>
                </a:extLst>
              </p:cNvPr>
              <p:cNvSpPr txBox="1"/>
              <p:nvPr/>
            </p:nvSpPr>
            <p:spPr>
              <a:xfrm>
                <a:off x="1554367" y="5573503"/>
                <a:ext cx="195695" cy="18466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C7D0EC3-584D-8431-D1DA-D93C4A505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367" y="5573503"/>
                <a:ext cx="195695" cy="184666"/>
              </a:xfrm>
              <a:prstGeom prst="rect">
                <a:avLst/>
              </a:prstGeom>
              <a:blipFill>
                <a:blip r:embed="rId5"/>
                <a:stretch>
                  <a:fillRect l="-9375" r="-3125" b="-129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6690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F11F5-E24D-9411-5E6C-12A018130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1A41EE07-4006-7CB8-085E-290BB2BBF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038707BA-0D24-7AAE-1AD8-828D7EE84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2453AC4-1208-D410-96BF-4082CAF2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15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14B9FA-87FC-D467-19FB-B9E4D845B0C0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4B13F1CA-BB66-383D-CEB1-8E16B8422B53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82BD2-8E79-25C3-CD5A-92EC04FFFA25}"/>
              </a:ext>
            </a:extLst>
          </p:cNvPr>
          <p:cNvSpPr txBox="1"/>
          <p:nvPr/>
        </p:nvSpPr>
        <p:spPr>
          <a:xfrm>
            <a:off x="345439" y="721360"/>
            <a:ext cx="8063923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3 : Démonstration Modèle 2 (Humbucker) </a:t>
            </a:r>
            <a:r>
              <a:rPr lang="fr-FR" sz="1000" i="1" dirty="0"/>
              <a:t>cf. Source [1]</a:t>
            </a:r>
            <a:r>
              <a:rPr lang="fr-FR" sz="1000" b="1" dirty="0"/>
              <a:t> </a:t>
            </a:r>
            <a:endParaRPr lang="fr-FR" sz="20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48EC05-3337-D2C1-4786-E33CB2A751D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D93710-B14B-B3AE-EC83-DF8CF40D553A}"/>
                  </a:ext>
                </a:extLst>
              </p:cNvPr>
              <p:cNvSpPr txBox="1"/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noFill/>
            </p:spPr>
            <p:txBody>
              <a:bodyPr wrap="square" numCol="3" rtlCol="0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 fixé de chaque coté, le déplacement transversal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200" dirty="0"/>
                  <a:t> est régit par l’équation différentielle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</m:rad>
                  </m:oMath>
                </a14:m>
                <a:r>
                  <a:rPr lang="fr-FR" sz="1200" dirty="0"/>
                  <a:t> la vitesse de l’onde,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fr-FR" sz="1200" dirty="0"/>
                  <a:t> la tension de la corde et </a:t>
                </a:r>
                <a14:m>
                  <m:oMath xmlns:m="http://schemas.openxmlformats.org/officeDocument/2006/math">
                    <m:r>
                      <a:rPr lang="fr-FR" sz="1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fr-FR" sz="1200" dirty="0"/>
                  <a:t> la masse linéique de la corde.</a:t>
                </a:r>
              </a:p>
              <a:p>
                <a:r>
                  <a:rPr lang="fr-FR" sz="1200" dirty="0"/>
                  <a:t>Avec des conditions initiales telle 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, 0</m:t>
                        </m:r>
                      </m:e>
                    </m:d>
                  </m:oMath>
                </a14:m>
                <a:r>
                  <a:rPr lang="fr-FR" sz="1200" dirty="0"/>
                  <a:t> soit la forme initiale de la corde, on a alors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𝑣𝑡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fr-FR" sz="1200" dirty="0"/>
                  <a:t> l’amplitude de l’harmonique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fr-FR" sz="1200" dirty="0" err="1"/>
                  <a:t>ème</a:t>
                </a:r>
                <a:r>
                  <a:rPr lang="fr-FR" sz="1200" dirty="0"/>
                  <a:t> et peut être calculer par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DD93710-B14B-B3AE-EC83-DF8CF40D5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933" y="1232452"/>
                <a:ext cx="4020250" cy="4322402"/>
              </a:xfrm>
              <a:prstGeom prst="rect">
                <a:avLst/>
              </a:prstGeom>
              <a:blipFill>
                <a:blip r:embed="rId3"/>
                <a:stretch>
                  <a:fillRect t="-141" b="-296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44700D-4EE4-A8FA-DE2E-020E3F4F0936}"/>
                  </a:ext>
                </a:extLst>
              </p:cNvPr>
              <p:cNvSpPr txBox="1"/>
              <p:nvPr/>
            </p:nvSpPr>
            <p:spPr>
              <a:xfrm>
                <a:off x="4521182" y="1232452"/>
                <a:ext cx="4121885" cy="5669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200" dirty="0"/>
                  <a:t>Pour une corde de longueur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fr-FR" sz="1200" dirty="0"/>
                  <a:t>, tiré à la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sz="1200" dirty="0"/>
                  <a:t> d’une distance </a:t>
                </a:r>
                <a14:m>
                  <m:oMath xmlns:m="http://schemas.openxmlformats.org/officeDocument/2006/math"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fr-FR" sz="1200" dirty="0"/>
                  <a:t> on a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, 0</m:t>
                          </m:r>
                        </m:e>
                      </m:d>
                      <m:r>
                        <a:rPr lang="fr-FR" sz="12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fr-F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fr-F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 0≤</m:t>
                              </m:r>
                              <m:r>
                                <a:rPr lang="fr-FR" sz="12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f>
                                <m:fPr>
                                  <m:ctrlP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Ainsi on obtient que 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func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nary>
                        <m:nary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3"/>
                                </m:r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𝐵𝑛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func>
                            <m:func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1200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num>
                        <m:den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1 −</m:t>
                              </m:r>
                              <m:f>
                                <m:fPr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p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²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Avec la loi d’induction de Faraday et sachant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fr-F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fr-FR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fr-FR" sz="1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2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i="1">
                          <a:latin typeface="Cambria Math" panose="02040503050406030204" pitchFamily="18" charset="0"/>
                        </a:rPr>
                        <m:t>ⅇ</m:t>
                      </m:r>
                      <m:d>
                        <m:dPr>
                          <m:ctrlPr>
                            <a:rPr lang="fr-FR" sz="12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</m:t>
                      </m:r>
                      <m:f>
                        <m:f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fr-F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fr-F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 lang="fr-FR" sz="1200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</m:e>
                        <m:sub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fr-FR" sz="1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200" dirty="0"/>
              </a:p>
              <a:p>
                <a:endParaRPr lang="fr-FR" sz="1200" dirty="0"/>
              </a:p>
              <a:p>
                <a:r>
                  <a:rPr lang="fr-FR" sz="1200" dirty="0"/>
                  <a:t>D’où la relation :</a:t>
                </a:r>
              </a:p>
              <a:p>
                <a:endParaRPr lang="fr-F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fr-FR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𝑁𝑆</m:t>
                      </m:r>
                      <m:f>
                        <m:fPr>
                          <m:ctrl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num>
                        <m:den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𝑑𝑦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[−</m:t>
                              </m:r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func>
                            <m:funcPr>
                              <m:ctrlP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105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unc>
                            <m:funcPr>
                              <m:ctrlP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func>
                                <m:func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fr-FR" sz="105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f>
                                    <m:fPr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num>
                                    <m:den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den>
                                  </m:f>
                                  <m:sSub>
                                    <m:sSubPr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))</m:t>
                                  </m:r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fr-FR" sz="105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fr-FR" sz="1050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f>
                                <m:fPr>
                                  <m:ctrlP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fr-FR" sz="1050" i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fr-FR" sz="105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rad>
                                </m:den>
                              </m:f>
                            </m:e>
                          </m:func>
                          <m:r>
                            <a:rPr lang="fr-F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>
                  <a:solidFill>
                    <a:srgbClr val="C00000"/>
                  </a:solidFill>
                </a:endParaRPr>
              </a:p>
              <a:p>
                <a:endParaRPr lang="fr-FR" sz="1200" dirty="0"/>
              </a:p>
              <a:p>
                <a:endParaRPr lang="fr-FR" sz="1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744700D-4EE4-A8FA-DE2E-020E3F4F0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182" y="1232452"/>
                <a:ext cx="4121885" cy="5669822"/>
              </a:xfrm>
              <a:prstGeom prst="rect">
                <a:avLst/>
              </a:prstGeom>
              <a:blipFill>
                <a:blip r:embed="rId4"/>
                <a:stretch>
                  <a:fillRect l="-148" t="-108" b="-290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DDB0982-D568-E0DB-7268-2E6FF24BB807}"/>
              </a:ext>
            </a:extLst>
          </p:cNvPr>
          <p:cNvGrpSpPr/>
          <p:nvPr/>
        </p:nvGrpSpPr>
        <p:grpSpPr>
          <a:xfrm>
            <a:off x="500933" y="4427234"/>
            <a:ext cx="4020249" cy="1409897"/>
            <a:chOff x="500933" y="4427234"/>
            <a:chExt cx="4020249" cy="14098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E60AA5F-DDF2-AEC4-B3B6-6DAAC74094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0933" y="4427234"/>
              <a:ext cx="4020249" cy="140989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CCDF0E6-3584-AC38-6324-40DDB4A24BD0}"/>
                    </a:ext>
                  </a:extLst>
                </p:cNvPr>
                <p:cNvSpPr txBox="1"/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fr-FR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fr-FR" sz="1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CCDF0E6-3584-AC38-6324-40DDB4A24B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54367" y="5573503"/>
                  <a:ext cx="195695" cy="184666"/>
                </a:xfrm>
                <a:prstGeom prst="rect">
                  <a:avLst/>
                </a:prstGeom>
                <a:blipFill>
                  <a:blip r:embed="rId6"/>
                  <a:stretch>
                    <a:fillRect l="-9375" r="-3125" b="-1290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921523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8AAD9-A422-7202-0B30-0D28B5E9C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6D1B4FF1-9E06-8C21-3237-980566602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D1FF31C7-6DE8-9F8E-C316-27342893D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78E00E3-9107-F660-4465-7D796FF2A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16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6B6054-7546-BF4C-05E8-838799AD94F9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D889E58-42C8-3971-7404-080199592D5B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322EC-5E0A-C386-1A8F-6C04DB50602F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4 : Code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7FDBA9-87D9-FF36-0C64-B77D97DFCB74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204532C9-1EF7-26FA-8D12-D5A9A1630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D8540D2-C725-B0BB-1BF7-09FC759E0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390254"/>
            <a:ext cx="5207927" cy="47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95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40A2A-7071-F548-F81F-86380B803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D032448-6661-352B-8786-FC31BF0A8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F795F251-374C-C686-449F-6F0DAD2B0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498B23BB-2456-5685-9000-0ECD3D81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17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25B0FB-54E0-7FCC-E77B-BCEDFCAD791F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05E4EC44-7568-94E7-9F7F-E5B30C3A7E41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E37733-838B-FF25-7E43-BB25FDB5C02A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4 : Code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44D5DA-C64D-E1A5-2EB2-782D622281D2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3C42F3D4-B48D-7327-159D-F50F8D6F3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E68EE13-F8A1-01AB-DBAB-CDF7217533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1" y="1390254"/>
            <a:ext cx="6763026" cy="473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72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DA1ED-5E1C-91E2-1968-994BBA09B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B6333519-33CA-D22E-D002-FA24EF5F1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810D22E1-9D8F-9490-CBD0-36DC188AB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22602ACB-7E7C-4A67-12A6-7D0ADA250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18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FDE90F-CF5A-06AB-A228-DA1353D592FC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A0A9A78-7498-701D-64A0-C32D92C38B97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27B5CF-CB3D-B19E-C5F6-28AF8FAAE0BD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4 : Code Python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EAEA16-6028-A3C5-F558-A1790DB52AE3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9D7D0A7E-B2E5-FE97-64D0-87B7C0ED7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2AA327-1F26-0751-84B3-07668685C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524178"/>
            <a:ext cx="5636389" cy="270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04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A0D83-3D06-9CFF-78D4-0445EAD3A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1">
            <a:extLst>
              <a:ext uri="{FF2B5EF4-FFF2-40B4-BE49-F238E27FC236}">
                <a16:creationId xmlns:a16="http://schemas.microsoft.com/office/drawing/2014/main" id="{39F907FA-CED1-54E9-17E7-416C91EE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859C1-8EE1-4062-8A80-955144FCA279}" type="datetimeyyyy">
              <a:rPr lang="fr-FR" smtClean="0"/>
              <a:t>2025</a:t>
            </a:fld>
            <a:endParaRPr lang="fr-FR" dirty="0"/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433C6B84-846B-2215-13B3-782CBD08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Christophe Morel - PTSI Lycée F. Buisson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B88646EA-FF63-7E24-3792-C56BC14E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462E3A-2F72-4E26-BAEE-59263817CA39}" type="slidenum">
              <a:rPr lang="fr-FR" smtClean="0"/>
              <a:t>19</a:t>
            </a:fld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E3D7A7-AC51-8A50-88FE-7A809CDB3BF1}"/>
              </a:ext>
            </a:extLst>
          </p:cNvPr>
          <p:cNvSpPr/>
          <p:nvPr/>
        </p:nvSpPr>
        <p:spPr>
          <a:xfrm>
            <a:off x="0" y="-4624"/>
            <a:ext cx="9144000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7DF6B46-A7D2-9FF3-D8B4-09037F978036}"/>
              </a:ext>
            </a:extLst>
          </p:cNvPr>
          <p:cNvSpPr txBox="1">
            <a:spLocks/>
          </p:cNvSpPr>
          <p:nvPr/>
        </p:nvSpPr>
        <p:spPr>
          <a:xfrm>
            <a:off x="1447764" y="41413"/>
            <a:ext cx="62484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T.I.P.E. Loi d’induction de faraday : Le fonctionnement d’une guitare électrique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C9D4E-A510-2975-30A6-4A399BB51973}"/>
              </a:ext>
            </a:extLst>
          </p:cNvPr>
          <p:cNvSpPr txBox="1"/>
          <p:nvPr/>
        </p:nvSpPr>
        <p:spPr>
          <a:xfrm>
            <a:off x="345440" y="721360"/>
            <a:ext cx="6827520" cy="4001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2000" b="1" dirty="0"/>
              <a:t>Annexe 4 : Code Python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C5C503-F3FC-7353-B31B-042B3CC23495}"/>
              </a:ext>
            </a:extLst>
          </p:cNvPr>
          <p:cNvSpPr/>
          <p:nvPr/>
        </p:nvSpPr>
        <p:spPr>
          <a:xfrm>
            <a:off x="326443" y="4232756"/>
            <a:ext cx="8491114" cy="1944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Picture 2" descr="Python Logo PNG Transparent – Brands Logos">
            <a:extLst>
              <a:ext uri="{FF2B5EF4-FFF2-40B4-BE49-F238E27FC236}">
                <a16:creationId xmlns:a16="http://schemas.microsoft.com/office/drawing/2014/main" id="{EE492694-F03C-B441-C89A-2A70AC5EC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090" y="617474"/>
            <a:ext cx="910546" cy="90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728432D-6DCE-EC69-3F72-111012C12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390254"/>
            <a:ext cx="5022631" cy="474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469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92842E-33D7-43D3-4A8A-6B3D6EB081C3}"/>
              </a:ext>
            </a:extLst>
          </p:cNvPr>
          <p:cNvSpPr/>
          <p:nvPr/>
        </p:nvSpPr>
        <p:spPr>
          <a:xfrm>
            <a:off x="-63611" y="-33793"/>
            <a:ext cx="9271221" cy="69255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b="1" dirty="0"/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425971105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1902</Words>
  <Application>Microsoft Office PowerPoint</Application>
  <PresentationFormat>On-screen Show (4:3)</PresentationFormat>
  <Paragraphs>299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Arial Black</vt:lpstr>
      <vt:lpstr>Calibri</vt:lpstr>
      <vt:lpstr>Cambria Math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163</cp:revision>
  <dcterms:created xsi:type="dcterms:W3CDTF">2025-06-09T15:35:56Z</dcterms:created>
  <dcterms:modified xsi:type="dcterms:W3CDTF">2025-10-31T18:55:08Z</dcterms:modified>
</cp:coreProperties>
</file>