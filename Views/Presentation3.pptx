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8"/>
  </p:notesMasterIdLst>
  <p:sldIdLst>
    <p:sldId id="256" r:id="rId2"/>
    <p:sldId id="265" r:id="rId3"/>
    <p:sldId id="278" r:id="rId4"/>
    <p:sldId id="289" r:id="rId5"/>
    <p:sldId id="295" r:id="rId6"/>
    <p:sldId id="281" r:id="rId7"/>
    <p:sldId id="283" r:id="rId8"/>
    <p:sldId id="296" r:id="rId9"/>
    <p:sldId id="297" r:id="rId10"/>
    <p:sldId id="298" r:id="rId11"/>
    <p:sldId id="301" r:id="rId12"/>
    <p:sldId id="311" r:id="rId13"/>
    <p:sldId id="285" r:id="rId14"/>
    <p:sldId id="303" r:id="rId15"/>
    <p:sldId id="271" r:id="rId16"/>
    <p:sldId id="302" r:id="rId17"/>
    <p:sldId id="272" r:id="rId18"/>
    <p:sldId id="277" r:id="rId19"/>
    <p:sldId id="304" r:id="rId20"/>
    <p:sldId id="305" r:id="rId21"/>
    <p:sldId id="275" r:id="rId22"/>
    <p:sldId id="306" r:id="rId23"/>
    <p:sldId id="307" r:id="rId24"/>
    <p:sldId id="308" r:id="rId25"/>
    <p:sldId id="309" r:id="rId26"/>
    <p:sldId id="310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>
        <p:scale>
          <a:sx n="90" d="100"/>
          <a:sy n="90" d="100"/>
        </p:scale>
        <p:origin x="1373" y="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01/11/2025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4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3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0.png"/><Relationship Id="rId7" Type="http://schemas.openxmlformats.org/officeDocument/2006/relationships/image" Target="../media/image15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openxmlformats.org/officeDocument/2006/relationships/image" Target="../media/image14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141.png"/><Relationship Id="rId7" Type="http://schemas.openxmlformats.org/officeDocument/2006/relationships/image" Target="../media/image14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0.png"/><Relationship Id="rId4" Type="http://schemas.openxmlformats.org/officeDocument/2006/relationships/image" Target="../media/image161.png"/><Relationship Id="rId9" Type="http://schemas.openxmlformats.org/officeDocument/2006/relationships/image" Target="../media/image1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thomann.de/" TargetMode="External"/><Relationship Id="rId4" Type="http://schemas.openxmlformats.org/officeDocument/2006/relationships/hyperlink" Target="https://www.jensign.com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0.png"/><Relationship Id="rId7" Type="http://schemas.openxmlformats.org/officeDocument/2006/relationships/image" Target="../media/image3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2.png"/><Relationship Id="rId7" Type="http://schemas.openxmlformats.org/officeDocument/2006/relationships/image" Target="../media/image3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l’amplitude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117D65C-7CC4-2723-3268-C42CB747B7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65" y="3761948"/>
            <a:ext cx="3580049" cy="237469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7F389BB-5765-5057-0E2A-5287D0B36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666" y="1068388"/>
            <a:ext cx="3275246" cy="248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6"/>
          <a:stretch>
            <a:fillRect/>
          </a:stretch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=4755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0F88A1-E4DF-4196-E16A-92C2C9FDD3A7}"/>
                  </a:ext>
                </a:extLst>
              </p:cNvPr>
              <p:cNvSpPr txBox="1"/>
              <p:nvPr/>
            </p:nvSpPr>
            <p:spPr>
              <a:xfrm>
                <a:off x="4147425" y="543054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0F88A1-E4DF-4196-E16A-92C2C9FDD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425" y="5430548"/>
                <a:ext cx="2379468" cy="7527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4695637-20E7-2963-CDD3-67AA3DA098E8}"/>
                  </a:ext>
                </a:extLst>
              </p:cNvPr>
              <p:cNvSpPr txBox="1"/>
              <p:nvPr/>
            </p:nvSpPr>
            <p:spPr>
              <a:xfrm>
                <a:off x="2357613" y="5579237"/>
                <a:ext cx="1982290" cy="4598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4695637-20E7-2963-CDD3-67AA3DA09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7613" y="5579237"/>
                <a:ext cx="1982290" cy="459869"/>
              </a:xfrm>
              <a:prstGeom prst="rect">
                <a:avLst/>
              </a:prstGeom>
              <a:blipFill>
                <a:blip r:embed="rId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8CF9B9-B67D-8875-0408-FEA4A312EA4B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8CF9B9-B67D-8875-0408-FEA4A312E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4053802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4053802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D2D306D-3216-4C85-B874-8EA67DF9E853}"/>
                  </a:ext>
                </a:extLst>
              </p:cNvPr>
              <p:cNvSpPr txBox="1"/>
              <p:nvPr/>
            </p:nvSpPr>
            <p:spPr>
              <a:xfrm>
                <a:off x="4572000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D2D306D-3216-4C85-B874-8EA67DF9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5432818"/>
                <a:ext cx="2379468" cy="7527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D4695E-1632-F53E-514F-3D3E84FA92F3}"/>
                  </a:ext>
                </a:extLst>
              </p:cNvPr>
              <p:cNvSpPr txBox="1"/>
              <p:nvPr/>
            </p:nvSpPr>
            <p:spPr>
              <a:xfrm>
                <a:off x="1447764" y="5511911"/>
                <a:ext cx="3076873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f>
                            <m:f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ad>
                                <m:radPr>
                                  <m:degHide m:val="on"/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ad>
                                <m:radPr>
                                  <m:degHide m:val="on"/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rad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D4695E-1632-F53E-514F-3D3E84FA9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764" y="5511911"/>
                <a:ext cx="3076873" cy="5945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CDB66-F23A-FC24-7FB0-02266FD8FB58}"/>
                  </a:ext>
                </a:extLst>
              </p:cNvPr>
              <p:cNvSpPr txBox="1"/>
              <p:nvPr/>
            </p:nvSpPr>
            <p:spPr>
              <a:xfrm>
                <a:off x="6506502" y="5439262"/>
                <a:ext cx="2379468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CDB66-F23A-FC24-7FB0-02266FD8F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6502" y="5439262"/>
                <a:ext cx="2379468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6DB72-DB08-FA1F-70A3-81C7AA4B1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708A14-7AD8-F906-9428-55AA733330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2E3EBF-83CF-CDAB-6E81-3F5619A03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2C509BE-47CE-CB4E-000E-B6A2469EF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5E222B1-ADC7-D7FE-D74A-FE5F72B6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976040-3426-383D-7370-6C008C2818B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79C7B5A-3DE1-8202-E607-0ABC8D3D8DE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E03D6B-CAB7-46D7-8378-CCB85960F286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 (Corde seule)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84167BCF-6F35-D8AA-74C8-D3F4C965A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E0DB4A8-59EC-8216-2D89-B4DF0C640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914" y="1234435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010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C545A-D149-E80D-15C9-5FE1F68B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F700D01-327A-5AB2-E6FB-09B1F24738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40C8D6-C983-6464-4CC2-373E546D3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BED4395-4C4A-3DEC-4676-F46F06B13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03759B-2FEA-F199-966D-F24779AB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EE80DA-3061-594A-1544-4DAC935A60B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73874F8-92B7-C0B4-4E7A-E1A5E7F235B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857C63-E5E7-E917-DE9E-1DE51C3EF0A8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 (Champ parasite)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CA1CD7DA-6770-C48E-6DAA-ECBDB763F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3CB08E-CF23-B092-69E4-F392B405CA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914" y="1234435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40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 (Corde + parasite)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2" t="9050" r="35733" b="15377"/>
          <a:stretch>
            <a:fillRect/>
          </a:stretch>
        </p:blipFill>
        <p:spPr>
          <a:xfrm>
            <a:off x="6484584" y="391500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16" t="10927" r="35870" b="15443"/>
          <a:stretch>
            <a:fillRect/>
          </a:stretch>
        </p:blipFill>
        <p:spPr>
          <a:xfrm>
            <a:off x="6484584" y="139025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290254"/>
            <a:ext cx="371869" cy="1093098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52100" y="4082520"/>
            <a:ext cx="1093098" cy="37186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09104-889E-FEED-38F6-C3620D742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F59EE9-5541-3C35-D9F3-4286FB3CB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456BA52-60DE-BBCD-33A6-948F7C0B3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D1A7DA8-31DF-35B6-F503-F848EFFA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81309A-E7A7-6863-5C96-5E4ED1E2F76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6180FF7-3A39-B8EC-A752-BDE9EB41E26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EF125-1D42-4832-0684-54400434880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9B12CB-DF61-CDB0-E7B9-3D2385D235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B89B2-1B31-E264-13DF-C63CCFCF8423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4B47CDC-1B76-BC91-7731-95B6DDAED5B8}"/>
              </a:ext>
            </a:extLst>
          </p:cNvPr>
          <p:cNvGrpSpPr/>
          <p:nvPr/>
        </p:nvGrpSpPr>
        <p:grpSpPr>
          <a:xfrm>
            <a:off x="492975" y="1259649"/>
            <a:ext cx="7975162" cy="2927068"/>
            <a:chOff x="492975" y="1259649"/>
            <a:chExt cx="7975162" cy="2927068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D5A20B-B049-2879-C37F-CAC15A6A672B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119D559-C6E2-BA2F-449E-816D84158164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498DA7-3338-5409-5681-101EDFAF005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ED359E7-849E-BD8C-61EE-C0140C4AC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8033BC9-9F5E-C3E2-1B06-02C39D176A13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15C2591-2043-BF16-CB74-7452B5776708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9BCDF8A8-7F99-8FE8-7BF1-C7A885BD7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6C49802-C0CE-B8D9-AD7F-9896EB2DC0D8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F249FEC-4DC7-E7B1-3BB0-5E512CD709F8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F74190D-EDC1-FC59-7AFE-028F03D1C459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C5F835B-5BF8-5BF0-AEB2-FF7AF0A5327C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F6162052-4E00-A39D-4D71-FAAE73C7123A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02494E8-39D4-CDA4-FA5E-D322184DCC1A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3FFBDF89-1E85-7858-3857-95316B055C8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7960931-404D-C970-FA3A-E573D2742DF7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9121BD0-04BE-0472-5174-2D2B3AF73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253BEC2-243B-01FE-1C2F-EA6E1851A799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0D40CC0E-7C6E-4436-BCF7-36F35FBDC27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1E8292C-D33F-C603-6C6A-181728421FE5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9F1AB57-8C60-ECC6-BC6A-53120F3E2CAD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150104C-0626-A8EC-9C02-A84F715983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E19A105-E66C-8954-82F4-D3612B63C69F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224F511-B992-A9BE-5C02-6DC13F1AC8BC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D008927-9DF2-9DB5-BE45-1FAF44624EC6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CB59CC3-6CE0-0CFB-3BC1-D9CC8EF26893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73D432-B5CD-F70F-2425-FB14F234EF97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F02E2F6-7461-C568-DF59-D7E040D83DD7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4FF988A3-4B06-6E2E-639F-64E1F6F38285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50CFC299-348E-F330-9452-E7ABBDC72C03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6BFEC6A8-37CA-DDB2-34B3-EAC758DD7C81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70D80F-2229-FD27-3AD5-7187F59B005E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A5361A9F-4CAF-2A70-9164-246E5EDA2109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0843E1A7-D5D9-9271-804D-43BF5EF7399A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125C70E4-D44E-FE81-2FAC-CF8D1C57ACE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432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84765-5894-8CC8-303C-ADAA4CFF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95038D2-4793-2D6D-E7EE-AED98E6D0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88CB7A3-A7AC-6F87-1DC2-8DC7EC063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36ECDC7-487F-939D-7A92-84F22DFE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D3E981-369E-684E-83B4-2FEA29A4EAD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457BAC-AC8C-5010-1E29-5509087D2B4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B99E34-6928-D6A4-E886-C3C70D4D928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6632F-9154-9B58-7CAA-95E7E6ABA2C7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3B017C7-5AE3-67C5-4B52-7D07DDBBB4E9}"/>
              </a:ext>
            </a:extLst>
          </p:cNvPr>
          <p:cNvGrpSpPr/>
          <p:nvPr/>
        </p:nvGrpSpPr>
        <p:grpSpPr>
          <a:xfrm>
            <a:off x="492975" y="1259649"/>
            <a:ext cx="8049369" cy="3239359"/>
            <a:chOff x="492975" y="1259649"/>
            <a:chExt cx="8049369" cy="3239359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D44BAF1-ED95-2AE0-4741-B870742D63AE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4445B1F-7F4B-929D-852E-C4CC735F867F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66108D0-AB28-C372-C33F-9BCB677A77B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DC01244-87DC-5E3F-2B64-F23428E95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BE8B673-200E-195A-00C5-D9D0A66639C7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09ED06E-50AB-DDEF-5598-DA325C1F6FF7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0DF6654C-CBD1-6556-BA18-1C940905A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72E5EAA-1B3C-7A1C-9FB4-B2AD7EFC4C17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D4DC10-63A3-469D-A94C-9EB8972FFC5F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BD2D331-7B78-3629-00BA-6645A6147AD7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150FDC8-5870-0CF1-51FF-C401CA483F06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CC16D5E-221F-21C3-AC59-8DBA8031A23F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55B7405-4DF4-095B-0FA9-B3EFE7557045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9D3C339-9B9C-280D-0F40-EC917F044496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1486EB0-0D0B-8958-5905-68AA13DE42F8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0756577-0321-22B1-E4B5-C73A623AC834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40798BB-6454-B514-907C-F098EC49B74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A500742-0E21-0B1F-4139-36DD2315F908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12042ED1-D8A5-D6CA-9ABA-81BC0AA78046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638109D-4F19-E80F-1BE5-BE320C4AD93B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B7CE8E2-BE27-EA7C-786B-A2D3BEF526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21AFEC0-C15F-EDAF-D3CD-E9CA1803B3EE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07AC3D74-1B99-2A9F-0F70-7334A5E5A4AF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5B617B6-1494-C294-9287-9D5835E5AF15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E96F94-DE17-9425-E478-BB63E0DEBD99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9BD377-5E1F-20F0-E82D-B1869232C333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83555BA-3574-E5E2-1D96-6BBF3F582FBC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1A318D3-D710-4EC3-037E-0E73F9189039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3BA8D0EA-EC8E-3F19-6246-1D42CDD73009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C274247C-D906-9B23-21F1-2EE1985F6860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AA86542A-3169-7113-A44E-D9FAC6B6848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7C26DD00-4B34-7016-6AC6-71FB94B52C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3E6ED65-3FC3-90CA-31FD-2B16EA3FB47B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5C4601E3-24F9-A62F-BE91-52F3A7AA8ABC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A72E36D-D58A-2C4E-5157-8C5E862E339F}"/>
                </a:ext>
              </a:extLst>
            </p:cNvPr>
            <p:cNvGrpSpPr/>
            <p:nvPr/>
          </p:nvGrpSpPr>
          <p:grpSpPr>
            <a:xfrm>
              <a:off x="4778695" y="3501662"/>
              <a:ext cx="2135121" cy="629737"/>
              <a:chOff x="5078985" y="3438238"/>
              <a:chExt cx="2135121" cy="62973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A20091A-6EF5-C33A-4F95-0F78B87AD696}"/>
                  </a:ext>
                </a:extLst>
              </p:cNvPr>
              <p:cNvGrpSpPr/>
              <p:nvPr/>
            </p:nvGrpSpPr>
            <p:grpSpPr>
              <a:xfrm>
                <a:off x="5124704" y="3442378"/>
                <a:ext cx="2048256" cy="625597"/>
                <a:chOff x="5205984" y="3429000"/>
                <a:chExt cx="2048256" cy="625597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D5641F9-42A6-2E4C-5D2B-D7A32DF0A9CE}"/>
                    </a:ext>
                  </a:extLst>
                </p:cNvPr>
                <p:cNvSpPr/>
                <p:nvPr/>
              </p:nvSpPr>
              <p:spPr>
                <a:xfrm>
                  <a:off x="5205984" y="3429000"/>
                  <a:ext cx="2048256" cy="625597"/>
                </a:xfrm>
                <a:prstGeom prst="rect">
                  <a:avLst/>
                </a:prstGeom>
                <a:noFill/>
                <a:ln>
                  <a:solidFill>
                    <a:srgbClr val="CC66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57BCA6D6-FA50-EFA5-4B75-CAFA4DAFA90B}"/>
                    </a:ext>
                  </a:extLst>
                </p:cNvPr>
                <p:cNvCxnSpPr/>
                <p:nvPr/>
              </p:nvCxnSpPr>
              <p:spPr>
                <a:xfrm>
                  <a:off x="52669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ABB44C34-2501-5A10-4D85-F1320D220AB0}"/>
                    </a:ext>
                  </a:extLst>
                </p:cNvPr>
                <p:cNvCxnSpPr/>
                <p:nvPr/>
              </p:nvCxnSpPr>
              <p:spPr>
                <a:xfrm>
                  <a:off x="53355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A8718BAD-4933-19D1-2602-8C1E8D28BDC7}"/>
                    </a:ext>
                  </a:extLst>
                </p:cNvPr>
                <p:cNvCxnSpPr/>
                <p:nvPr/>
              </p:nvCxnSpPr>
              <p:spPr>
                <a:xfrm>
                  <a:off x="54041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5E5B4F9-1682-621C-8932-0D82AA051B04}"/>
                    </a:ext>
                  </a:extLst>
                </p:cNvPr>
                <p:cNvCxnSpPr/>
                <p:nvPr/>
              </p:nvCxnSpPr>
              <p:spPr>
                <a:xfrm>
                  <a:off x="54726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D1FC2046-A10A-A239-837E-B3C1448C4739}"/>
                    </a:ext>
                  </a:extLst>
                </p:cNvPr>
                <p:cNvCxnSpPr/>
                <p:nvPr/>
              </p:nvCxnSpPr>
              <p:spPr>
                <a:xfrm>
                  <a:off x="55412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545EB58-6B3E-ADE6-5D07-FFAEC90D6B41}"/>
                    </a:ext>
                  </a:extLst>
                </p:cNvPr>
                <p:cNvCxnSpPr/>
                <p:nvPr/>
              </p:nvCxnSpPr>
              <p:spPr>
                <a:xfrm>
                  <a:off x="56098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A34E0D56-FEC1-ACF2-6516-1C56632D26C4}"/>
                    </a:ext>
                  </a:extLst>
                </p:cNvPr>
                <p:cNvCxnSpPr/>
                <p:nvPr/>
              </p:nvCxnSpPr>
              <p:spPr>
                <a:xfrm>
                  <a:off x="56784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C0082EA4-1935-7DF2-7139-8589A77F029C}"/>
                    </a:ext>
                  </a:extLst>
                </p:cNvPr>
                <p:cNvCxnSpPr/>
                <p:nvPr/>
              </p:nvCxnSpPr>
              <p:spPr>
                <a:xfrm>
                  <a:off x="57470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EC1C035C-E55E-713D-3674-18CC91ABD1EA}"/>
                    </a:ext>
                  </a:extLst>
                </p:cNvPr>
                <p:cNvCxnSpPr/>
                <p:nvPr/>
              </p:nvCxnSpPr>
              <p:spPr>
                <a:xfrm>
                  <a:off x="58155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75AFDAB-11D3-08B6-CDF8-705FD8EE15CB}"/>
                    </a:ext>
                  </a:extLst>
                </p:cNvPr>
                <p:cNvCxnSpPr/>
                <p:nvPr/>
              </p:nvCxnSpPr>
              <p:spPr>
                <a:xfrm>
                  <a:off x="58841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52A6491-E4D7-3AE3-F625-BF1B3662247B}"/>
                    </a:ext>
                  </a:extLst>
                </p:cNvPr>
                <p:cNvCxnSpPr/>
                <p:nvPr/>
              </p:nvCxnSpPr>
              <p:spPr>
                <a:xfrm>
                  <a:off x="59527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FA71BBA-56FD-D6F5-8C2E-C9B38C947427}"/>
                    </a:ext>
                  </a:extLst>
                </p:cNvPr>
                <p:cNvCxnSpPr/>
                <p:nvPr/>
              </p:nvCxnSpPr>
              <p:spPr>
                <a:xfrm>
                  <a:off x="60213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2CB8FEA4-281B-31C7-3CC4-59CB3161D44E}"/>
                    </a:ext>
                  </a:extLst>
                </p:cNvPr>
                <p:cNvCxnSpPr/>
                <p:nvPr/>
              </p:nvCxnSpPr>
              <p:spPr>
                <a:xfrm>
                  <a:off x="60899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EB90DCCC-197F-EF67-8290-90442B465B6C}"/>
                    </a:ext>
                  </a:extLst>
                </p:cNvPr>
                <p:cNvCxnSpPr/>
                <p:nvPr/>
              </p:nvCxnSpPr>
              <p:spPr>
                <a:xfrm>
                  <a:off x="61584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E87DEE52-196E-B69B-36CC-77B215C5C301}"/>
                    </a:ext>
                  </a:extLst>
                </p:cNvPr>
                <p:cNvCxnSpPr/>
                <p:nvPr/>
              </p:nvCxnSpPr>
              <p:spPr>
                <a:xfrm>
                  <a:off x="62270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F9296B7A-D2A4-D503-79C6-C0E64498F45F}"/>
                    </a:ext>
                  </a:extLst>
                </p:cNvPr>
                <p:cNvCxnSpPr/>
                <p:nvPr/>
              </p:nvCxnSpPr>
              <p:spPr>
                <a:xfrm>
                  <a:off x="62956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5273B0C-F241-C902-A950-29BCE45AB6E9}"/>
                    </a:ext>
                  </a:extLst>
                </p:cNvPr>
                <p:cNvCxnSpPr/>
                <p:nvPr/>
              </p:nvCxnSpPr>
              <p:spPr>
                <a:xfrm>
                  <a:off x="63642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D61A98E-A6BF-314A-05F2-FDFFDC51B34A}"/>
                    </a:ext>
                  </a:extLst>
                </p:cNvPr>
                <p:cNvCxnSpPr/>
                <p:nvPr/>
              </p:nvCxnSpPr>
              <p:spPr>
                <a:xfrm>
                  <a:off x="64328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D495FD4F-D8FF-48A8-5F8E-E5E6DA59F281}"/>
                    </a:ext>
                  </a:extLst>
                </p:cNvPr>
                <p:cNvCxnSpPr/>
                <p:nvPr/>
              </p:nvCxnSpPr>
              <p:spPr>
                <a:xfrm>
                  <a:off x="65013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E946B897-4B27-9830-EAD8-894B33710AF4}"/>
                    </a:ext>
                  </a:extLst>
                </p:cNvPr>
                <p:cNvCxnSpPr/>
                <p:nvPr/>
              </p:nvCxnSpPr>
              <p:spPr>
                <a:xfrm>
                  <a:off x="65699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2B3B631C-3DC2-7F5F-A7D2-98C6FB8A216C}"/>
                    </a:ext>
                  </a:extLst>
                </p:cNvPr>
                <p:cNvCxnSpPr/>
                <p:nvPr/>
              </p:nvCxnSpPr>
              <p:spPr>
                <a:xfrm>
                  <a:off x="66385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77017C1-FBC9-0B24-8E96-E3ED9C5FD252}"/>
                    </a:ext>
                  </a:extLst>
                </p:cNvPr>
                <p:cNvCxnSpPr/>
                <p:nvPr/>
              </p:nvCxnSpPr>
              <p:spPr>
                <a:xfrm>
                  <a:off x="67071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1AB3D7CC-0305-D1DF-248B-896469D9D308}"/>
                    </a:ext>
                  </a:extLst>
                </p:cNvPr>
                <p:cNvCxnSpPr/>
                <p:nvPr/>
              </p:nvCxnSpPr>
              <p:spPr>
                <a:xfrm>
                  <a:off x="67757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97B74A8-C0A9-5ECA-0608-C5BD1B68E181}"/>
                    </a:ext>
                  </a:extLst>
                </p:cNvPr>
                <p:cNvCxnSpPr/>
                <p:nvPr/>
              </p:nvCxnSpPr>
              <p:spPr>
                <a:xfrm>
                  <a:off x="68442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802F808E-0E0C-04CA-EF72-B66A3F57A46A}"/>
                    </a:ext>
                  </a:extLst>
                </p:cNvPr>
                <p:cNvCxnSpPr/>
                <p:nvPr/>
              </p:nvCxnSpPr>
              <p:spPr>
                <a:xfrm>
                  <a:off x="69128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5A5C3CB3-9D59-26D5-E456-480C6441B435}"/>
                    </a:ext>
                  </a:extLst>
                </p:cNvPr>
                <p:cNvCxnSpPr/>
                <p:nvPr/>
              </p:nvCxnSpPr>
              <p:spPr>
                <a:xfrm>
                  <a:off x="69814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629026B8-0C84-795A-579D-34DE3065D072}"/>
                    </a:ext>
                  </a:extLst>
                </p:cNvPr>
                <p:cNvCxnSpPr/>
                <p:nvPr/>
              </p:nvCxnSpPr>
              <p:spPr>
                <a:xfrm>
                  <a:off x="70500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21D27E3-AA11-F47D-AD64-D347D1A06A22}"/>
                    </a:ext>
                  </a:extLst>
                </p:cNvPr>
                <p:cNvCxnSpPr/>
                <p:nvPr/>
              </p:nvCxnSpPr>
              <p:spPr>
                <a:xfrm>
                  <a:off x="71186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C1DA948-BE52-D302-FCD3-6861CAA51B59}"/>
                    </a:ext>
                  </a:extLst>
                </p:cNvPr>
                <p:cNvCxnSpPr/>
                <p:nvPr/>
              </p:nvCxnSpPr>
              <p:spPr>
                <a:xfrm>
                  <a:off x="71871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15404AF-8EEE-2A2D-AEE0-E2FF969232E3}"/>
                  </a:ext>
                </a:extLst>
              </p:cNvPr>
              <p:cNvSpPr/>
              <p:nvPr/>
            </p:nvSpPr>
            <p:spPr>
              <a:xfrm>
                <a:off x="5078985" y="344237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0080355E-C4E7-5A7F-5B28-2AD79FE35BD1}"/>
                  </a:ext>
                </a:extLst>
              </p:cNvPr>
              <p:cNvSpPr/>
              <p:nvPr/>
            </p:nvSpPr>
            <p:spPr>
              <a:xfrm>
                <a:off x="7168387" y="343823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D8F0541-B0BA-087C-E4D1-2B08EE802126}"/>
                </a:ext>
              </a:extLst>
            </p:cNvPr>
            <p:cNvSpPr/>
            <p:nvPr/>
          </p:nvSpPr>
          <p:spPr>
            <a:xfrm>
              <a:off x="8002344" y="3959008"/>
              <a:ext cx="540000" cy="540000"/>
            </a:xfrm>
            <a:prstGeom prst="ellipse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700" b="1" dirty="0"/>
                <a:t>GBF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6F2A4EF-9A7B-297A-7010-1AFC3F346D8D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 flipV="1">
              <a:off x="6805614" y="4223154"/>
              <a:ext cx="1196730" cy="585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F4BA373-66AB-2FA5-AECF-1552E6700C65}"/>
                </a:ext>
              </a:extLst>
            </p:cNvPr>
            <p:cNvCxnSpPr>
              <a:cxnSpLocks/>
            </p:cNvCxnSpPr>
            <p:nvPr/>
          </p:nvCxnSpPr>
          <p:spPr>
            <a:xfrm>
              <a:off x="4824414" y="4269578"/>
              <a:ext cx="3176873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EBA7383-320D-3F62-6B39-857E0B6C5672}"/>
                </a:ext>
              </a:extLst>
            </p:cNvPr>
            <p:cNvCxnSpPr>
              <a:cxnSpLocks/>
            </p:cNvCxnSpPr>
            <p:nvPr/>
          </p:nvCxnSpPr>
          <p:spPr>
            <a:xfrm>
              <a:off x="6805614" y="4135147"/>
              <a:ext cx="0" cy="88007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EA523CD-D1A1-73C7-58D9-454F5C9856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24414" y="4135146"/>
              <a:ext cx="0" cy="1344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0440993-1AF9-653B-32E9-C0229A64D937}"/>
                </a:ext>
              </a:extLst>
            </p:cNvPr>
            <p:cNvSpPr txBox="1"/>
            <p:nvPr/>
          </p:nvSpPr>
          <p:spPr>
            <a:xfrm>
              <a:off x="3661157" y="2986131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Solénoïde</a:t>
              </a:r>
            </a:p>
          </p:txBody>
        </p:sp>
        <p:cxnSp>
          <p:nvCxnSpPr>
            <p:cNvPr id="96" name="Connector: Elbow 95">
              <a:extLst>
                <a:ext uri="{FF2B5EF4-FFF2-40B4-BE49-F238E27FC236}">
                  <a16:creationId xmlns:a16="http://schemas.microsoft.com/office/drawing/2014/main" id="{79EAF782-C496-FE9F-24AB-1DBC5C6352DB}"/>
                </a:ext>
              </a:extLst>
            </p:cNvPr>
            <p:cNvCxnSpPr>
              <a:cxnSpLocks/>
              <a:stCxn id="94" idx="2"/>
              <a:endCxn id="28" idx="0"/>
            </p:cNvCxnSpPr>
            <p:nvPr/>
          </p:nvCxnSpPr>
          <p:spPr>
            <a:xfrm rot="16200000" flipH="1">
              <a:off x="4345555" y="3049802"/>
              <a:ext cx="242672" cy="669327"/>
            </a:xfrm>
            <a:prstGeom prst="bentConnector3">
              <a:avLst>
                <a:gd name="adj1" fmla="val 10128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BCB1884-E8AE-E280-F4D7-10D20688CC98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</p:spTree>
    <p:extLst>
      <p:ext uri="{BB962C8B-B14F-4D97-AF65-F5344CB8AC3E}">
        <p14:creationId xmlns:p14="http://schemas.microsoft.com/office/powerpoint/2010/main" val="3492252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BAD1879-C817-63AA-6631-18CA13614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002" y="718898"/>
            <a:ext cx="4027555" cy="162376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40085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contrôler l’intensité et la fréquence du champ parasite 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/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Théorème d’Ampère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𝒏𝑰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𝒕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blipFill>
                <a:blip r:embed="rId3"/>
                <a:stretch>
                  <a:fillRect l="-349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généré par le Solénoïde</a:t>
                </a:r>
              </a:p>
            </p:txBody>
          </p:sp>
        </mc:Choice>
        <mc:Fallback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blipFill>
                <a:blip r:embed="rId4"/>
                <a:stretch>
                  <a:fillRect l="-349" b="-33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6015061" y="2608726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On obtient alors la relation 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6026435" y="3038430"/>
                <a:ext cx="2938240" cy="56714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𝐺𝐵𝐹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𝑓𝐿</m:t>
                          </m:r>
                        </m:den>
                      </m:f>
                      <m:func>
                        <m:func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435" y="3038430"/>
                <a:ext cx="2938240" cy="5671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 </a:t>
            </a:r>
            <a:r>
              <a:rPr lang="fr-FR" sz="1200" dirty="0"/>
              <a:t>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r>
              <a:rPr lang="fr-FR" sz="1200" b="1" dirty="0"/>
              <a:t>[En ligne]</a:t>
            </a:r>
            <a:r>
              <a:rPr lang="fr-FR" sz="1200" dirty="0"/>
              <a:t>. Disponible sur : </a:t>
            </a:r>
            <a:r>
              <a:rPr lang="fr-FR" sz="1200" dirty="0">
                <a:hlinkClick r:id="rId3"/>
              </a:rPr>
              <a:t>https://www.seymourduncan.com</a:t>
            </a:r>
            <a:r>
              <a:rPr lang="fr-FR" sz="1200" dirty="0"/>
              <a:t>.</a:t>
            </a:r>
            <a:endParaRPr lang="fr-FR" sz="1200" b="1" dirty="0"/>
          </a:p>
          <a:p>
            <a:endParaRPr lang="fr-FR" sz="1200" b="1" dirty="0"/>
          </a:p>
          <a:p>
            <a:r>
              <a:rPr lang="fr-FR" sz="1200" b="1" dirty="0"/>
              <a:t>[2] </a:t>
            </a:r>
            <a:r>
              <a:rPr lang="fr-FR" sz="1200" dirty="0" err="1"/>
              <a:t>JessaScience</a:t>
            </a:r>
            <a:r>
              <a:rPr lang="fr-FR" sz="1200" dirty="0"/>
              <a:t>, "</a:t>
            </a:r>
            <a:r>
              <a:rPr lang="fr-FR" sz="1200" dirty="0" err="1"/>
              <a:t>Measuring</a:t>
            </a:r>
            <a:r>
              <a:rPr lang="fr-FR" sz="1200" dirty="0"/>
              <a:t> Pickup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with</a:t>
            </a:r>
            <a:r>
              <a:rPr lang="fr-FR" sz="1200" dirty="0"/>
              <a:t> </a:t>
            </a:r>
            <a:r>
              <a:rPr lang="fr-FR" sz="1200" dirty="0" err="1"/>
              <a:t>Digilent</a:t>
            </a:r>
            <a:r>
              <a:rPr lang="fr-FR" sz="1200" dirty="0"/>
              <a:t> </a:t>
            </a:r>
            <a:r>
              <a:rPr lang="fr-FR" sz="1200" dirty="0" err="1"/>
              <a:t>Analog</a:t>
            </a:r>
            <a:r>
              <a:rPr lang="fr-FR" sz="1200" dirty="0"/>
              <a:t> Discovery," </a:t>
            </a:r>
            <a:r>
              <a:rPr lang="fr-FR" sz="1200" b="1" dirty="0"/>
              <a:t>[En ligne]</a:t>
            </a:r>
            <a:r>
              <a:rPr lang="fr-FR" sz="1200" dirty="0"/>
              <a:t>. Disponible sur : </a:t>
            </a:r>
            <a:r>
              <a:rPr lang="fr-FR" sz="1200" dirty="0">
                <a:hlinkClick r:id="rId4"/>
              </a:rPr>
              <a:t>https://www.jensign.com</a:t>
            </a:r>
            <a:r>
              <a:rPr lang="fr-FR" sz="1200" dirty="0"/>
              <a:t>.</a:t>
            </a:r>
            <a:endParaRPr lang="fr-FR" sz="1200" b="1" dirty="0"/>
          </a:p>
          <a:p>
            <a:endParaRPr lang="fr-FR" sz="1200" b="1" dirty="0"/>
          </a:p>
          <a:p>
            <a:r>
              <a:rPr lang="fr-FR" sz="1200" b="1" dirty="0"/>
              <a:t>[3] </a:t>
            </a:r>
            <a:r>
              <a:rPr lang="fr-FR" sz="1200" dirty="0"/>
              <a:t>P. </a:t>
            </a:r>
            <a:r>
              <a:rPr lang="fr-FR" sz="1200" dirty="0" err="1"/>
              <a:t>Perov</a:t>
            </a:r>
            <a:r>
              <a:rPr lang="fr-FR" sz="1200" dirty="0"/>
              <a:t>, W. Johnson, and N. </a:t>
            </a:r>
            <a:r>
              <a:rPr lang="fr-FR" sz="1200" dirty="0" err="1"/>
              <a:t>Perova</a:t>
            </a:r>
            <a:r>
              <a:rPr lang="fr-FR" sz="1200" dirty="0"/>
              <a:t>-Mello, "The </a:t>
            </a:r>
            <a:r>
              <a:rPr lang="fr-FR" sz="1200" dirty="0" err="1"/>
              <a:t>physics</a:t>
            </a:r>
            <a:r>
              <a:rPr lang="fr-FR" sz="1200" dirty="0"/>
              <a:t> of </a:t>
            </a:r>
            <a:r>
              <a:rPr lang="fr-FR" sz="1200" dirty="0" err="1"/>
              <a:t>guitar</a:t>
            </a:r>
            <a:r>
              <a:rPr lang="fr-FR" sz="1200" dirty="0"/>
              <a:t> string vibrations," </a:t>
            </a:r>
            <a:r>
              <a:rPr lang="fr-FR" sz="1200" i="1" dirty="0"/>
              <a:t>American Journal of </a:t>
            </a:r>
            <a:r>
              <a:rPr lang="fr-FR" sz="1200" i="1" dirty="0" err="1"/>
              <a:t>Physics</a:t>
            </a:r>
            <a:r>
              <a:rPr lang="fr-FR" sz="1200" dirty="0"/>
              <a:t>, vol. 84, no. 1, pp. 38–43, Jan. 2016.</a:t>
            </a:r>
          </a:p>
          <a:p>
            <a:endParaRPr lang="fr-FR" sz="1200" dirty="0"/>
          </a:p>
          <a:p>
            <a:r>
              <a:rPr lang="fr-FR" sz="1200" b="1" dirty="0"/>
              <a:t>[4] </a:t>
            </a:r>
            <a:r>
              <a:rPr lang="fr-FR" sz="1200" dirty="0"/>
              <a:t>T. Ray, J. </a:t>
            </a:r>
            <a:r>
              <a:rPr lang="fr-FR" sz="1200" dirty="0" err="1"/>
              <a:t>Kaljun</a:t>
            </a:r>
            <a:r>
              <a:rPr lang="fr-FR" sz="1200" dirty="0"/>
              <a:t>, and B. </a:t>
            </a:r>
            <a:r>
              <a:rPr lang="fr-FR" sz="1200" dirty="0" err="1"/>
              <a:t>Dolsak</a:t>
            </a:r>
            <a:r>
              <a:rPr lang="fr-FR" sz="1200" dirty="0"/>
              <a:t>, "</a:t>
            </a:r>
            <a:r>
              <a:rPr lang="fr-FR" sz="1200" dirty="0" err="1"/>
              <a:t>Numerical</a:t>
            </a:r>
            <a:r>
              <a:rPr lang="fr-FR" sz="1200" dirty="0"/>
              <a:t> model application to </a:t>
            </a:r>
            <a:r>
              <a:rPr lang="fr-FR" sz="1200" dirty="0" err="1"/>
              <a:t>predict</a:t>
            </a:r>
            <a:r>
              <a:rPr lang="fr-FR" sz="1200" dirty="0"/>
              <a:t> the </a:t>
            </a:r>
            <a:r>
              <a:rPr lang="fr-FR" sz="1200" dirty="0" err="1"/>
              <a:t>sound</a:t>
            </a:r>
            <a:r>
              <a:rPr lang="fr-FR" sz="1200" dirty="0"/>
              <a:t> </a:t>
            </a:r>
            <a:r>
              <a:rPr lang="fr-FR" sz="1200" dirty="0" err="1"/>
              <a:t>quality</a:t>
            </a:r>
            <a:r>
              <a:rPr lang="fr-FR" sz="1200" dirty="0"/>
              <a:t> of an instrument," </a:t>
            </a:r>
            <a:r>
              <a:rPr lang="fr-FR" sz="1200" dirty="0" err="1"/>
              <a:t>University</a:t>
            </a:r>
            <a:r>
              <a:rPr lang="fr-FR" sz="1200" dirty="0"/>
              <a:t> of Maribor, </a:t>
            </a:r>
            <a:r>
              <a:rPr lang="fr-FR" sz="1200" dirty="0" err="1"/>
              <a:t>Faculty</a:t>
            </a:r>
            <a:r>
              <a:rPr lang="fr-FR" sz="1200" dirty="0"/>
              <a:t> of </a:t>
            </a:r>
            <a:r>
              <a:rPr lang="fr-FR" sz="1200" dirty="0" err="1"/>
              <a:t>Mechanical</a:t>
            </a:r>
            <a:r>
              <a:rPr lang="fr-FR" sz="1200" dirty="0"/>
              <a:t> Engineering, </a:t>
            </a:r>
            <a:r>
              <a:rPr lang="fr-FR" sz="1200" dirty="0" err="1"/>
              <a:t>Slovenia</a:t>
            </a:r>
            <a:r>
              <a:rPr lang="fr-FR" sz="1200" dirty="0"/>
              <a:t>, 2000..</a:t>
            </a:r>
            <a:endParaRPr lang="fr-FR" sz="1200" i="1" dirty="0"/>
          </a:p>
          <a:p>
            <a:endParaRPr lang="fr-FR" sz="1200" dirty="0"/>
          </a:p>
          <a:p>
            <a:r>
              <a:rPr lang="fr-FR" sz="1200" b="1" dirty="0"/>
              <a:t>[5] </a:t>
            </a:r>
            <a:r>
              <a:rPr lang="fr-FR" sz="1200" dirty="0"/>
              <a:t>"Thomann Online Music Store," Thomann, </a:t>
            </a:r>
            <a:r>
              <a:rPr lang="fr-FR" sz="1200" b="1" dirty="0"/>
              <a:t>[En ligne]</a:t>
            </a:r>
            <a:r>
              <a:rPr lang="fr-FR" sz="1200" dirty="0"/>
              <a:t>. Disponible sur : </a:t>
            </a:r>
            <a:r>
              <a:rPr lang="fr-FR" sz="1200" dirty="0">
                <a:hlinkClick r:id="rId5"/>
              </a:rPr>
              <a:t>https://www.thomann.de</a:t>
            </a:r>
            <a:r>
              <a:rPr lang="fr-FR" sz="1200" dirty="0"/>
              <a:t>.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r>
              <a:rPr lang="fr-FR" sz="1200" b="1" dirty="0"/>
              <a:t>[7] </a:t>
            </a:r>
            <a:r>
              <a:rPr lang="fr-FR" sz="1200" dirty="0"/>
              <a:t>H. </a:t>
            </a:r>
            <a:r>
              <a:rPr lang="fr-FR" sz="1200" dirty="0" err="1"/>
              <a:t>Munguía</a:t>
            </a:r>
            <a:r>
              <a:rPr lang="fr-FR" sz="1200" dirty="0"/>
              <a:t> Aguilar </a:t>
            </a:r>
            <a:r>
              <a:rPr lang="fr-FR" sz="1200" i="1" dirty="0"/>
              <a:t>et al.</a:t>
            </a:r>
            <a:r>
              <a:rPr lang="fr-FR" sz="1200" dirty="0"/>
              <a:t>, "</a:t>
            </a:r>
            <a:r>
              <a:rPr lang="fr-FR" sz="1200" dirty="0" err="1"/>
              <a:t>Using</a:t>
            </a:r>
            <a:r>
              <a:rPr lang="fr-FR" sz="1200" dirty="0"/>
              <a:t> an </a:t>
            </a:r>
            <a:r>
              <a:rPr lang="fr-FR" sz="1200" dirty="0" err="1"/>
              <a:t>electric</a:t>
            </a:r>
            <a:r>
              <a:rPr lang="fr-FR" sz="1200" dirty="0"/>
              <a:t> </a:t>
            </a:r>
            <a:r>
              <a:rPr lang="fr-FR" sz="1200" dirty="0" err="1"/>
              <a:t>guitar</a:t>
            </a:r>
            <a:r>
              <a:rPr lang="fr-FR" sz="1200" dirty="0"/>
              <a:t> pickup to </a:t>
            </a:r>
            <a:r>
              <a:rPr lang="fr-FR" sz="1200" dirty="0" err="1"/>
              <a:t>analyze</a:t>
            </a:r>
            <a:r>
              <a:rPr lang="fr-FR" sz="1200" dirty="0"/>
              <a:t> bar vibrations," </a:t>
            </a:r>
            <a:r>
              <a:rPr lang="fr-FR" sz="1200" i="1" dirty="0" err="1"/>
              <a:t>Physics</a:t>
            </a:r>
            <a:r>
              <a:rPr lang="fr-FR" sz="1200" i="1" dirty="0"/>
              <a:t> Education</a:t>
            </a:r>
            <a:r>
              <a:rPr lang="fr-FR" sz="1200" dirty="0"/>
              <a:t>, vol. 54, no. 2, Art. no. 025018, 2019.</a:t>
            </a:r>
          </a:p>
          <a:p>
            <a:endParaRPr lang="fr-FR" sz="1200" dirty="0"/>
          </a:p>
          <a:p>
            <a:r>
              <a:rPr lang="fr-FR" sz="1200" b="1" dirty="0"/>
              <a:t>[8] </a:t>
            </a:r>
            <a:r>
              <a:rPr lang="fr-FR" sz="1200" dirty="0"/>
              <a:t>R. </a:t>
            </a:r>
            <a:r>
              <a:rPr lang="fr-FR" sz="1200" dirty="0" err="1"/>
              <a:t>Giampiccolo</a:t>
            </a:r>
            <a:r>
              <a:rPr lang="fr-FR" sz="1200" dirty="0"/>
              <a:t>, A. </a:t>
            </a:r>
            <a:r>
              <a:rPr lang="fr-FR" sz="1200" dirty="0" err="1"/>
              <a:t>Bernardini</a:t>
            </a:r>
            <a:r>
              <a:rPr lang="fr-FR" sz="1200" dirty="0"/>
              <a:t>, and A. </a:t>
            </a:r>
            <a:r>
              <a:rPr lang="fr-FR" sz="1200" dirty="0" err="1"/>
              <a:t>Sarti</a:t>
            </a:r>
            <a:r>
              <a:rPr lang="fr-FR" sz="1200" dirty="0"/>
              <a:t>, "</a:t>
            </a:r>
            <a:r>
              <a:rPr lang="fr-FR" sz="1200" dirty="0" err="1"/>
              <a:t>Virtualization</a:t>
            </a:r>
            <a:r>
              <a:rPr lang="fr-FR" sz="1200" dirty="0"/>
              <a:t> of Guitar Pickups </a:t>
            </a:r>
            <a:r>
              <a:rPr lang="fr-FR" sz="1200" dirty="0" err="1"/>
              <a:t>Through</a:t>
            </a:r>
            <a:r>
              <a:rPr lang="fr-FR" sz="1200" dirty="0"/>
              <a:t> Circuit Inversion," </a:t>
            </a:r>
            <a:r>
              <a:rPr lang="fr-FR" sz="1200" i="1" dirty="0"/>
              <a:t>IEEE Signal Processing </a:t>
            </a:r>
            <a:r>
              <a:rPr lang="fr-FR" sz="1200" i="1" dirty="0" err="1"/>
              <a:t>Letters</a:t>
            </a:r>
            <a:r>
              <a:rPr lang="fr-FR" sz="1200" dirty="0"/>
              <a:t>, vol. 30, pp. 458–462, 2023.</a:t>
            </a:r>
          </a:p>
          <a:p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est petit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2375</Words>
  <Application>Microsoft Office PowerPoint</Application>
  <PresentationFormat>On-screen Show (4:3)</PresentationFormat>
  <Paragraphs>400</Paragraphs>
  <Slides>26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213</cp:revision>
  <dcterms:created xsi:type="dcterms:W3CDTF">2025-06-09T15:35:56Z</dcterms:created>
  <dcterms:modified xsi:type="dcterms:W3CDTF">2025-11-01T13:54:55Z</dcterms:modified>
</cp:coreProperties>
</file>