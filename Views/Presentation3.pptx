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27"/>
  </p:notesMasterIdLst>
  <p:sldIdLst>
    <p:sldId id="256" r:id="rId2"/>
    <p:sldId id="265" r:id="rId3"/>
    <p:sldId id="278" r:id="rId4"/>
    <p:sldId id="289" r:id="rId5"/>
    <p:sldId id="295" r:id="rId6"/>
    <p:sldId id="281" r:id="rId7"/>
    <p:sldId id="297" r:id="rId8"/>
    <p:sldId id="313" r:id="rId9"/>
    <p:sldId id="311" r:id="rId10"/>
    <p:sldId id="315" r:id="rId11"/>
    <p:sldId id="285" r:id="rId12"/>
    <p:sldId id="303" r:id="rId13"/>
    <p:sldId id="271" r:id="rId14"/>
    <p:sldId id="302" r:id="rId15"/>
    <p:sldId id="272" r:id="rId16"/>
    <p:sldId id="277" r:id="rId17"/>
    <p:sldId id="304" r:id="rId18"/>
    <p:sldId id="305" r:id="rId19"/>
    <p:sldId id="275" r:id="rId20"/>
    <p:sldId id="306" r:id="rId21"/>
    <p:sldId id="307" r:id="rId22"/>
    <p:sldId id="308" r:id="rId23"/>
    <p:sldId id="309" r:id="rId24"/>
    <p:sldId id="310" r:id="rId25"/>
    <p:sldId id="312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591" autoAdjust="0"/>
    <p:restoredTop sz="94660"/>
  </p:normalViewPr>
  <p:slideViewPr>
    <p:cSldViewPr snapToGrid="0">
      <p:cViewPr>
        <p:scale>
          <a:sx n="90" d="100"/>
          <a:sy n="90" d="100"/>
        </p:scale>
        <p:origin x="1373" y="2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C7C724F-4508-4890-B18E-3F5BB1B02F24}" type="datetimeFigureOut">
              <a:rPr lang="fr-FR" smtClean="0"/>
              <a:t>10/11/2025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2.wd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microsoft.com/office/2007/relationships/hdphoto" Target="../media/hdphoto4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microsoft.com/office/2007/relationships/hdphoto" Target="../media/hdphoto3.wdp"/><Relationship Id="rId10" Type="http://schemas.openxmlformats.org/officeDocument/2006/relationships/image" Target="../media/image11.png"/><Relationship Id="rId4" Type="http://schemas.openxmlformats.org/officeDocument/2006/relationships/image" Target="../media/image7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12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11" Type="http://schemas.openxmlformats.org/officeDocument/2006/relationships/image" Target="../media/image16.png"/><Relationship Id="rId5" Type="http://schemas.openxmlformats.org/officeDocument/2006/relationships/image" Target="../media/image14.png"/><Relationship Id="rId10" Type="http://schemas.openxmlformats.org/officeDocument/2006/relationships/image" Target="../media/image15.png"/><Relationship Id="rId9" Type="http://schemas.openxmlformats.org/officeDocument/2006/relationships/image" Target="../media/image1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41.png"/><Relationship Id="rId7" Type="http://schemas.openxmlformats.org/officeDocument/2006/relationships/image" Target="../media/image3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0.png"/><Relationship Id="rId5" Type="http://schemas.openxmlformats.org/officeDocument/2006/relationships/image" Target="../media/image160.png"/><Relationship Id="rId10" Type="http://schemas.openxmlformats.org/officeDocument/2006/relationships/image" Target="../media/image17.png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8.png"/><Relationship Id="rId7" Type="http://schemas.openxmlformats.org/officeDocument/2006/relationships/image" Target="../media/image3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jpeg"/><Relationship Id="rId10" Type="http://schemas.openxmlformats.org/officeDocument/2006/relationships/image" Target="../media/image33.png"/><Relationship Id="rId9" Type="http://schemas.openxmlformats.org/officeDocument/2006/relationships/image" Target="../media/image32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microsoft.com/office/2007/relationships/hdphoto" Target="../media/hdphoto5.wdp"/><Relationship Id="rId7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svg"/><Relationship Id="rId11" Type="http://schemas.openxmlformats.org/officeDocument/2006/relationships/image" Target="../media/image40.svg"/><Relationship Id="rId5" Type="http://schemas.openxmlformats.org/officeDocument/2006/relationships/image" Target="../media/image31.png"/><Relationship Id="rId10" Type="http://schemas.openxmlformats.org/officeDocument/2006/relationships/image" Target="../media/image39.png"/><Relationship Id="rId4" Type="http://schemas.openxmlformats.org/officeDocument/2006/relationships/image" Target="../media/image36.png"/><Relationship Id="rId9" Type="http://schemas.openxmlformats.org/officeDocument/2006/relationships/image" Target="../media/image14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</a:t>
            </a:fld>
            <a:endParaRPr lang="fr-FR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 </a:t>
            </a:r>
            <a:r>
              <a:rPr lang="fr-FR" sz="1000" i="1" dirty="0"/>
              <a:t>cf. [1]</a:t>
            </a:r>
            <a:endParaRPr lang="fr-FR" sz="2000" b="1" dirty="0">
              <a:latin typeface="+mj-lt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/>
          <p:nvPr/>
        </p:nvGrpSpPr>
        <p:grpSpPr>
          <a:xfrm>
            <a:off x="406695" y="1450258"/>
            <a:ext cx="4437385" cy="3965686"/>
            <a:chOff x="-34756" y="1586102"/>
            <a:chExt cx="4437385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37385" cy="3960146"/>
              <a:chOff x="-34756" y="1586102"/>
              <a:chExt cx="4437385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64639" y="2136281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2873204"/>
                <a:ext cx="1316875" cy="1241596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52943" y="3223152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C117D65C-7CC4-2723-3268-C42CB747B7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1265" y="3761948"/>
            <a:ext cx="3580049" cy="237469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7F389BB-5765-5057-0E2A-5287D0B3676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harpenSoften amount="50000"/>
                    </a14:imgEffect>
                    <a14:imgEffect>
                      <a14:saturation sat="2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3666" y="1068388"/>
            <a:ext cx="3275246" cy="248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795297"/>
              </p:ext>
            </p:extLst>
          </p:nvPr>
        </p:nvGraphicFramePr>
        <p:xfrm>
          <a:off x="449950" y="1397000"/>
          <a:ext cx="4122050" cy="4159732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79866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Schéma électrique équivalent </a:t>
            </a:r>
            <a:r>
              <a:rPr lang="fr-FR" sz="1000" i="1" dirty="0"/>
              <a:t>cf. [2]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733701" y="1888380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B2EB7E-9F06-B1BC-4FA0-FDE9EFB3D1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904"/>
          <a:stretch>
            <a:fillRect/>
          </a:stretch>
        </p:blipFill>
        <p:spPr>
          <a:xfrm>
            <a:off x="2764639" y="1460911"/>
            <a:ext cx="1723885" cy="1968405"/>
          </a:xfrm>
          <a:prstGeom prst="rect">
            <a:avLst/>
          </a:prstGeom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733701" y="3832677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FC7DE1E-590A-AE5F-9184-B5DB7DD3D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611"/>
          <a:stretch>
            <a:fillRect/>
          </a:stretch>
        </p:blipFill>
        <p:spPr>
          <a:xfrm>
            <a:off x="2563942" y="3599295"/>
            <a:ext cx="1937551" cy="179779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7" y="4939979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/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200" b="1" dirty="0"/>
                  <a:t>Notations :</a:t>
                </a:r>
              </a:p>
              <a:p>
                <a:endParaRPr lang="fr-FR" sz="1200" b="1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FEM totale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Tension de sortie du micro</a:t>
                </a:r>
              </a:p>
            </p:txBody>
          </p:sp>
        </mc:Choice>
        <mc:Fallback xmlns=""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94CF1AC-DF2F-FA91-9E80-3DF00A7ACD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0262" y="5382267"/>
                <a:ext cx="3838298" cy="837655"/>
              </a:xfrm>
              <a:prstGeom prst="rect">
                <a:avLst/>
              </a:prstGeom>
              <a:blipFill>
                <a:blip r:embed="rId9"/>
                <a:stretch>
                  <a:fillRect b="-209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63" b="2663"/>
          <a:stretch/>
        </p:blipFill>
        <p:spPr>
          <a:xfrm>
            <a:off x="4695507" y="1397000"/>
            <a:ext cx="4006341" cy="284472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ad>
                          <m:radPr>
                            <m:degHide m:val="on"/>
                            <m:ctrlPr>
                              <a:rPr lang="fr-FR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a:rPr lang="fr-FR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rad>
                      </m:den>
                    </m:f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=4755 </m:t>
                    </m:r>
                  </m:oMath>
                </a14:m>
                <a:r>
                  <a:rPr lang="fr-FR" sz="1600" dirty="0"/>
                  <a:t>Hz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966" y="4272247"/>
                <a:ext cx="3846097" cy="493918"/>
              </a:xfrm>
              <a:prstGeom prst="rect">
                <a:avLst/>
              </a:prstGeom>
              <a:blipFill>
                <a:blip r:embed="rId11"/>
                <a:stretch>
                  <a:fillRect l="-9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1A1FD-A6FC-C7C2-DE37-662B2CD31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55E5BE-58A7-022E-6167-8A7B7F9B025C}"/>
              </a:ext>
            </a:extLst>
          </p:cNvPr>
          <p:cNvSpPr txBox="1"/>
          <p:nvPr/>
        </p:nvSpPr>
        <p:spPr>
          <a:xfrm>
            <a:off x="473803" y="5624506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E3A72F7-049B-A3CC-1B2E-02529849B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D52B121-9E62-729F-B3D5-86BB1018D8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3D1EFD-9144-A6ED-4EF0-340A2FFA4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A028266-1353-9D29-9412-6AFD6644D1A2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BADD112-3E65-EB14-379D-D522541DFA3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86FB64-1820-E8EA-22F7-D3261EDD1A9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Modélisation : Force électromotrice FEM du micro </a:t>
            </a:r>
            <a:r>
              <a:rPr lang="fr-FR" sz="1000" i="1" dirty="0"/>
              <a:t>cf. [3]</a:t>
            </a:r>
            <a:r>
              <a:rPr lang="fr-FR" sz="1000" b="1" dirty="0">
                <a:latin typeface="+mj-lt"/>
              </a:rPr>
              <a:t> </a:t>
            </a:r>
            <a:endParaRPr lang="fr-FR" sz="2000" b="1" dirty="0">
              <a:latin typeface="+mj-lt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D469900-7C91-746A-DF9C-76998DDDDC23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938429-08DD-9D34-7052-F2B1EFB35D6A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4FFBD4-8ECC-17F0-456E-3092458D7F36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500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9D75804-48F9-1952-9D77-3AA86B74616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2"/>
                <a:stretch>
                  <a:fillRect l="-21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D6AA2C2-FEF5-1C9F-ACB5-B77E215F98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/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D32275D-B666-AD1E-6020-ABBAE6A2C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313" y="4663973"/>
                <a:ext cx="3508525" cy="6721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48E630A-12F5-32F1-CC8A-2622DB0C99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2CF629CA-DDF5-5C23-1162-F3F0C74C233A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C1AEE0C-A67A-1330-96A5-6065DC1AB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FB0AD10-B999-2905-1B3A-F6ADE2E9CD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9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33AE80-0E4F-B0C2-86DD-BF163C681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88D5ABB-BB13-05D1-3C4D-3FBE5898CB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BE447B67-2FAC-0F5A-5AF0-9FF27C011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45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010F-DF56-9432-02C2-D32A27367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F2B52F-25EC-86A1-1982-155B9932D89D}"/>
              </a:ext>
            </a:extLst>
          </p:cNvPr>
          <p:cNvGrpSpPr/>
          <p:nvPr/>
        </p:nvGrpSpPr>
        <p:grpSpPr>
          <a:xfrm>
            <a:off x="6381742" y="4607133"/>
            <a:ext cx="2559322" cy="779089"/>
            <a:chOff x="500933" y="4427234"/>
            <a:chExt cx="4020249" cy="140989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D64B9D5-3565-3841-03E8-FE52034EEE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D62C09A-D914-3D01-F179-A659E59888E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35000" r="-45000" b="-1187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D9F0C0B-1CCE-1701-4564-9070DD87E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6F42ED7-BDC4-FA14-71AC-33563D8EF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576DF31-6CF8-BA8E-5EFA-8E5389ACB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2B99EE-5C41-4EA9-BB98-7ED5E47D8DC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ADF3B29-6309-63E4-DAC0-4D3C3D7A4D7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A1B16E-6C41-9660-8DE9-A37A0AB7E175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Force électromotrice FEM du micro </a:t>
            </a:r>
            <a:r>
              <a:rPr lang="fr-FR" sz="1000" i="1" dirty="0"/>
              <a:t>cf. [3]</a:t>
            </a:r>
            <a:endParaRPr lang="fr-FR" sz="20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760DBF-34A0-70F3-18A5-EAC89983029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0F6DBD-695B-4189-F38D-DDC03E7AACDF}"/>
              </a:ext>
            </a:extLst>
          </p:cNvPr>
          <p:cNvSpPr/>
          <p:nvPr/>
        </p:nvSpPr>
        <p:spPr>
          <a:xfrm>
            <a:off x="462440" y="1303261"/>
            <a:ext cx="4496905" cy="1376329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Tension de sortie semblable à la fem totale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7D3140-8ECA-CFC1-FF10-11A7070E2C1E}"/>
              </a:ext>
            </a:extLst>
          </p:cNvPr>
          <p:cNvSpPr txBox="1"/>
          <p:nvPr/>
        </p:nvSpPr>
        <p:spPr>
          <a:xfrm>
            <a:off x="462440" y="4840431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On a donc 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/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d>
                        <m:d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6A9F52FB-8CC9-7E9F-BC07-904E55692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158" y="4663973"/>
                <a:ext cx="3508525" cy="67217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/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sortie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Masse linéique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Tension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nd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6A25780-A78E-0C68-4708-9ED7CF9A0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811320"/>
                <a:ext cx="8498610" cy="1720924"/>
              </a:xfrm>
              <a:prstGeom prst="rect">
                <a:avLst/>
              </a:prstGeom>
              <a:blipFill>
                <a:blip r:embed="rId5"/>
                <a:stretch>
                  <a:fillRect l="-214" b="-2083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/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Lois et principes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Loi d’induction de Faraday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𝒆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6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𝑵</m:t>
                      </m:r>
                      <m:f>
                        <m:fPr>
                          <m:ctrlP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  <m:sSub>
                            <m:sSubPr>
                              <m:ctrlP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𝝓</m:t>
                              </m:r>
                            </m:e>
                            <m:sub>
                              <m:r>
                                <a:rPr lang="fr-FR" sz="1600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𝑩</m:t>
                              </m:r>
                            </m:sub>
                          </m:sSub>
                        </m:num>
                        <m:den>
                          <m:r>
                            <a:rPr lang="fr-FR" sz="16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𝒅𝒕</m:t>
                          </m:r>
                        </m:den>
                      </m:f>
                    </m:oMath>
                  </m:oMathPara>
                </a14:m>
                <a:endParaRPr lang="fr-FR" sz="16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C94340E-38F0-066F-1B5E-DC334FAA03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8473" y="1298671"/>
                <a:ext cx="3842591" cy="1380920"/>
              </a:xfrm>
              <a:prstGeom prst="rect">
                <a:avLst/>
              </a:prstGeom>
              <a:blipFill>
                <a:blip r:embed="rId6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9F03902F-5230-DAFD-040F-91D8B468A007}"/>
              </a:ext>
            </a:extLst>
          </p:cNvPr>
          <p:cNvSpPr txBox="1"/>
          <p:nvPr/>
        </p:nvSpPr>
        <p:spPr>
          <a:xfrm>
            <a:off x="449950" y="5624506"/>
            <a:ext cx="32871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3979BD0-56F0-2C0D-9A37-AD6D904E5BD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/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AE6162E-05C8-0C1E-19EC-515BA5DC5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16039" y="5432818"/>
                <a:ext cx="2379468" cy="75270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/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6B9BAC-E8A2-23E0-E979-ED68A0748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126" y="5573575"/>
                <a:ext cx="3111070" cy="47333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/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</m:rad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ad>
                            <m:radPr>
                              <m:degHide m:val="on"/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BD3F0E5-E075-F41B-58E4-F75CD96D2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2963" y="5512603"/>
                <a:ext cx="1094650" cy="59452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7787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F6789-59FF-E98B-2D7A-EBFD30DD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1E4409E-BB69-4F05-6959-05D93C0C0B5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DD9EB35-CDF2-F204-61ED-05869E8CC0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0B72086-A9D3-5116-8808-12F97B9B0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7556C1-23EF-8984-6FB4-443D96D8B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7A26979-A461-22EA-6FB4-E3B3CD3EA87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2E6AD15-042F-0495-9070-FD814AE938F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4D8CA-1D55-AAC7-9336-A28353BB32A3}"/>
              </a:ext>
            </a:extLst>
          </p:cNvPr>
          <p:cNvSpPr txBox="1"/>
          <p:nvPr/>
        </p:nvSpPr>
        <p:spPr>
          <a:xfrm>
            <a:off x="345439" y="721360"/>
            <a:ext cx="8063923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Modélisation : Comparaison des micros</a:t>
            </a:r>
          </a:p>
        </p:txBody>
      </p:sp>
      <p:pic>
        <p:nvPicPr>
          <p:cNvPr id="8194" name="Picture 2" descr="Python Logo PNG Transparent – Brands Logos">
            <a:extLst>
              <a:ext uri="{FF2B5EF4-FFF2-40B4-BE49-F238E27FC236}">
                <a16:creationId xmlns:a16="http://schemas.microsoft.com/office/drawing/2014/main" id="{2A3B655F-4B4E-D5F2-9497-C1A6F9AC2E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1299243-B977-7C36-755B-17DA59A1FB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54435" y="1142995"/>
            <a:ext cx="5486411" cy="45720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0646073-17FF-0865-43FA-5D4154632D24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12088" r="12500" b="11288"/>
          <a:stretch>
            <a:fillRect/>
          </a:stretch>
        </p:blipFill>
        <p:spPr>
          <a:xfrm>
            <a:off x="6484584" y="4132580"/>
            <a:ext cx="1800000" cy="144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825D287-A038-C682-34C3-045C19CF5CF4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00" t="9689" r="12500" b="10815"/>
          <a:stretch>
            <a:fillRect/>
          </a:stretch>
        </p:blipFill>
        <p:spPr>
          <a:xfrm>
            <a:off x="6484584" y="1564641"/>
            <a:ext cx="1800000" cy="1440000"/>
          </a:xfrm>
          <a:prstGeom prst="rect">
            <a:avLst/>
          </a:prstGeom>
          <a:ln w="381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C57B18AB-7581-5E60-7446-58AA5F41399C}"/>
              </a:ext>
            </a:extLst>
          </p:cNvPr>
          <p:cNvSpPr txBox="1"/>
          <p:nvPr/>
        </p:nvSpPr>
        <p:spPr>
          <a:xfrm>
            <a:off x="5285779" y="3383352"/>
            <a:ext cx="165387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Champ Parasite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5BB33DB7-7AA2-E232-24A7-9C4016C67B9F}"/>
              </a:ext>
            </a:extLst>
          </p:cNvPr>
          <p:cNvCxnSpPr>
            <a:cxnSpLocks/>
            <a:stCxn id="18" idx="1"/>
            <a:endCxn id="23" idx="0"/>
          </p:cNvCxnSpPr>
          <p:nvPr/>
        </p:nvCxnSpPr>
        <p:spPr>
          <a:xfrm rot="10800000" flipV="1">
            <a:off x="6112716" y="2284640"/>
            <a:ext cx="371869" cy="1098711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A807D5F6-2DF7-0611-96D1-33B56DCB6524}"/>
              </a:ext>
            </a:extLst>
          </p:cNvPr>
          <p:cNvCxnSpPr>
            <a:cxnSpLocks/>
            <a:stCxn id="23" idx="2"/>
            <a:endCxn id="15" idx="1"/>
          </p:cNvCxnSpPr>
          <p:nvPr/>
        </p:nvCxnSpPr>
        <p:spPr>
          <a:xfrm rot="16200000" flipH="1">
            <a:off x="5733312" y="4101308"/>
            <a:ext cx="1130674" cy="371869"/>
          </a:xfrm>
          <a:prstGeom prst="curved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15447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Montage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10" r="28000"/>
          <a:stretch>
            <a:fillRect/>
          </a:stretch>
        </p:blipFill>
        <p:spPr>
          <a:xfrm rot="5400000">
            <a:off x="3336154" y="628547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241673" y="3568131"/>
            <a:ext cx="8797190" cy="2512959"/>
            <a:chOff x="276877" y="1673758"/>
            <a:chExt cx="8590177" cy="2512959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435622"/>
              <a:ext cx="1238" cy="7678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12" y="2491842"/>
              <a:ext cx="0" cy="469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7737734" y="2253471"/>
              <a:ext cx="1129320" cy="476742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0" y="3075480"/>
              <a:ext cx="1" cy="467778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7" name="Graphic 136" descr="Laptop with solid fill">
              <a:extLst>
                <a:ext uri="{FF2B5EF4-FFF2-40B4-BE49-F238E27FC236}">
                  <a16:creationId xmlns:a16="http://schemas.microsoft.com/office/drawing/2014/main" id="{79B305CE-629B-98B7-421B-51DD5D142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35320" y="2310473"/>
              <a:ext cx="1135578" cy="1020236"/>
            </a:xfrm>
            <a:prstGeom prst="rect">
              <a:avLst/>
            </a:prstGeom>
          </p:spPr>
        </p:pic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Rectangle 138">
              <a:extLst>
                <a:ext uri="{FF2B5EF4-FFF2-40B4-BE49-F238E27FC236}">
                  <a16:creationId xmlns:a16="http://schemas.microsoft.com/office/drawing/2014/main" id="{CF6166E1-55B3-82A6-027C-BD79359D9375}"/>
                </a:ext>
              </a:extLst>
            </p:cNvPr>
            <p:cNvSpPr/>
            <p:nvPr/>
          </p:nvSpPr>
          <p:spPr>
            <a:xfrm>
              <a:off x="3372405" y="2927901"/>
              <a:ext cx="328056" cy="295158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  <a:stCxn id="139" idx="3"/>
            </p:cNvCxnSpPr>
            <p:nvPr/>
          </p:nvCxnSpPr>
          <p:spPr>
            <a:xfrm>
              <a:off x="3700461" y="3075480"/>
              <a:ext cx="4601934" cy="2104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 flipH="1">
              <a:off x="8302395" y="2730213"/>
              <a:ext cx="0" cy="366311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03880" y="3201475"/>
              <a:ext cx="4682062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3700461" y="2961823"/>
              <a:ext cx="4521751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5AC185E0-3895-49B5-69F3-576E14AAA351}"/>
                </a:ext>
              </a:extLst>
            </p:cNvPr>
            <p:cNvCxnSpPr>
              <a:cxnSpLocks/>
              <a:stCxn id="139" idx="1"/>
            </p:cNvCxnSpPr>
            <p:nvPr/>
          </p:nvCxnSpPr>
          <p:spPr>
            <a:xfrm flipH="1">
              <a:off x="2841714" y="3075480"/>
              <a:ext cx="53069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E0A235A3-1DD3-69E0-A93E-D490EAC68998}"/>
                </a:ext>
              </a:extLst>
            </p:cNvPr>
            <p:cNvSpPr txBox="1"/>
            <p:nvPr/>
          </p:nvSpPr>
          <p:spPr>
            <a:xfrm>
              <a:off x="2076228" y="2207578"/>
              <a:ext cx="453763" cy="261610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fr-FR" sz="1100" dirty="0"/>
                <a:t>PC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B3B3ADA7-B948-2104-7DE5-3E6A332C712D}"/>
                </a:ext>
              </a:extLst>
            </p:cNvPr>
            <p:cNvSpPr txBox="1"/>
            <p:nvPr/>
          </p:nvSpPr>
          <p:spPr>
            <a:xfrm>
              <a:off x="2890931" y="2438627"/>
              <a:ext cx="1291003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Carte acquisition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C19550B-C868-D23F-A849-C3A81B7D19F6}"/>
                </a:ext>
              </a:extLst>
            </p:cNvPr>
            <p:cNvSpPr txBox="1"/>
            <p:nvPr/>
          </p:nvSpPr>
          <p:spPr>
            <a:xfrm>
              <a:off x="276877" y="3062976"/>
              <a:ext cx="942141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Mécanique</a:t>
              </a:r>
            </a:p>
          </p:txBody>
        </p:sp>
        <p:cxnSp>
          <p:nvCxnSpPr>
            <p:cNvPr id="158" name="Connector: Elbow 157">
              <a:extLst>
                <a:ext uri="{FF2B5EF4-FFF2-40B4-BE49-F238E27FC236}">
                  <a16:creationId xmlns:a16="http://schemas.microsoft.com/office/drawing/2014/main" id="{18D70CF5-02D8-B0D6-6C69-D686208FF3DF}"/>
                </a:ext>
              </a:extLst>
            </p:cNvPr>
            <p:cNvCxnSpPr>
              <a:cxnSpLocks/>
              <a:stCxn id="157" idx="2"/>
            </p:cNvCxnSpPr>
            <p:nvPr/>
          </p:nvCxnSpPr>
          <p:spPr>
            <a:xfrm rot="16200000" flipH="1">
              <a:off x="912189" y="3175733"/>
              <a:ext cx="530115" cy="858599"/>
            </a:xfrm>
            <a:prstGeom prst="bentConnector2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1008410" y="1673758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241672" y="2161710"/>
            <a:ext cx="1156536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2"/>
          </p:cNvCxnSpPr>
          <p:nvPr/>
        </p:nvCxnSpPr>
        <p:spPr>
          <a:xfrm rot="5400000" flipH="1" flipV="1">
            <a:off x="2927948" y="2309642"/>
            <a:ext cx="176907" cy="2337765"/>
          </a:xfrm>
          <a:prstGeom prst="bentConnector4">
            <a:avLst>
              <a:gd name="adj1" fmla="val -129220"/>
              <a:gd name="adj2" fmla="val 392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05677" y="328997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4E4437-19EA-66BF-BA5A-9EE6F1672D84}"/>
              </a:ext>
            </a:extLst>
          </p:cNvPr>
          <p:cNvSpPr txBox="1"/>
          <p:nvPr/>
        </p:nvSpPr>
        <p:spPr>
          <a:xfrm flipH="1">
            <a:off x="595630" y="2827750"/>
            <a:ext cx="1017089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Bloc Vibrato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E0CF213E-008E-4A8D-6501-BDD398F5D32B}"/>
              </a:ext>
            </a:extLst>
          </p:cNvPr>
          <p:cNvCxnSpPr>
            <a:cxnSpLocks/>
            <a:stCxn id="19" idx="2"/>
          </p:cNvCxnSpPr>
          <p:nvPr/>
        </p:nvCxnSpPr>
        <p:spPr>
          <a:xfrm rot="5400000">
            <a:off x="-229984" y="3098063"/>
            <a:ext cx="1709278" cy="390570"/>
          </a:xfrm>
          <a:prstGeom prst="bentConnector3">
            <a:avLst>
              <a:gd name="adj1" fmla="val 13716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3D7372AD-B6DB-EDF0-672C-2C3172AF5ADF}"/>
              </a:ext>
            </a:extLst>
          </p:cNvPr>
          <p:cNvCxnSpPr>
            <a:cxnSpLocks/>
            <a:stCxn id="19" idx="2"/>
          </p:cNvCxnSpPr>
          <p:nvPr/>
        </p:nvCxnSpPr>
        <p:spPr>
          <a:xfrm rot="5400000" flipH="1" flipV="1">
            <a:off x="1650967" y="1242167"/>
            <a:ext cx="365515" cy="2027570"/>
          </a:xfrm>
          <a:prstGeom prst="bentConnector4">
            <a:avLst>
              <a:gd name="adj1" fmla="val -62542"/>
              <a:gd name="adj2" fmla="val 6426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D4737D24-5716-EBA7-B930-2476D73A35C3}"/>
              </a:ext>
            </a:extLst>
          </p:cNvPr>
          <p:cNvCxnSpPr>
            <a:cxnSpLocks/>
            <a:stCxn id="26" idx="2"/>
          </p:cNvCxnSpPr>
          <p:nvPr/>
        </p:nvCxnSpPr>
        <p:spPr>
          <a:xfrm rot="16200000" flipH="1">
            <a:off x="2368016" y="1840907"/>
            <a:ext cx="73450" cy="2601134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F434FD5D-93F6-642D-A37C-351B8EAF0B65}"/>
              </a:ext>
            </a:extLst>
          </p:cNvPr>
          <p:cNvCxnSpPr>
            <a:cxnSpLocks/>
            <a:stCxn id="26" idx="2"/>
          </p:cNvCxnSpPr>
          <p:nvPr/>
        </p:nvCxnSpPr>
        <p:spPr>
          <a:xfrm rot="16200000" flipH="1">
            <a:off x="422265" y="3786658"/>
            <a:ext cx="2340950" cy="977132"/>
          </a:xfrm>
          <a:prstGeom prst="bentConnector3">
            <a:avLst>
              <a:gd name="adj1" fmla="val 3981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325767" y="4088730"/>
            <a:ext cx="1960625" cy="917119"/>
          </a:xfrm>
          <a:prstGeom prst="bentConnector3">
            <a:avLst>
              <a:gd name="adj1" fmla="val 1187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 flipH="1" flipV="1">
            <a:off x="3642795" y="3578854"/>
            <a:ext cx="701647" cy="905165"/>
          </a:xfrm>
          <a:prstGeom prst="bentConnector4">
            <a:avLst>
              <a:gd name="adj1" fmla="val -32580"/>
              <a:gd name="adj2" fmla="val 100095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6484423" y="4339284"/>
            <a:ext cx="1975225" cy="986917"/>
          </a:xfrm>
          <a:prstGeom prst="bentConnector3">
            <a:avLst>
              <a:gd name="adj1" fmla="val 72946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6747383" y="2627020"/>
            <a:ext cx="12700" cy="2436220"/>
          </a:xfrm>
          <a:prstGeom prst="bentConnector4">
            <a:avLst>
              <a:gd name="adj1" fmla="val 1200000"/>
              <a:gd name="adj2" fmla="val 2443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</a:t>
            </a:r>
            <a:r>
              <a:rPr lang="fr-FR" sz="1000" i="1" dirty="0"/>
              <a:t>cf. [4], [5]</a:t>
            </a:r>
            <a:endParaRPr lang="fr-FR" sz="2000" b="1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Permittivité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Expérimentation : Résultats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EAEA15F-90E5-7E89-2B99-1E62239052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50"/>
                    </a14:imgEffect>
                    <a14:imgEffect>
                      <a14:brightnessContrast contrast="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236" y="2378273"/>
            <a:ext cx="3803452" cy="2880000"/>
          </a:xfrm>
          <a:prstGeom prst="rect">
            <a:avLst/>
          </a:prstGeom>
          <a:ln>
            <a:solidFill>
              <a:schemeClr val="tx1"/>
            </a:solidFill>
          </a:ln>
          <a:effectLst>
            <a:softEdge rad="3175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819" y="2378273"/>
            <a:ext cx="3784945" cy="283870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8" name="Graphic 17" descr="Right pointing backhand index with solid fill">
            <a:extLst>
              <a:ext uri="{FF2B5EF4-FFF2-40B4-BE49-F238E27FC236}">
                <a16:creationId xmlns:a16="http://schemas.microsoft.com/office/drawing/2014/main" id="{C36FC19D-66E8-2448-5190-B6C0C4AB40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7236" y="5776640"/>
            <a:ext cx="360000" cy="3600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4259024-A7F2-48A1-4831-F42943EFB322}"/>
              </a:ext>
            </a:extLst>
          </p:cNvPr>
          <p:cNvSpPr txBox="1"/>
          <p:nvPr/>
        </p:nvSpPr>
        <p:spPr>
          <a:xfrm>
            <a:off x="859341" y="5633474"/>
            <a:ext cx="33613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Comparer avec Micro Simple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Expérience avec champ parasite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fr-FR" sz="1200" dirty="0"/>
              <a:t>Comprendre l’Origine des écart Th VS </a:t>
            </a:r>
            <a:r>
              <a:rPr lang="fr-FR" sz="1200" dirty="0" err="1"/>
              <a:t>Exp</a:t>
            </a:r>
            <a:endParaRPr lang="fr-FR" sz="1200" dirty="0"/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34312658-7780-93C5-4649-74867AA9FE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902881"/>
              </p:ext>
            </p:extLst>
          </p:nvPr>
        </p:nvGraphicFramePr>
        <p:xfrm>
          <a:off x="417236" y="1169114"/>
          <a:ext cx="3545544" cy="902106"/>
        </p:xfrm>
        <a:graphic>
          <a:graphicData uri="http://schemas.openxmlformats.org/drawingml/2006/table">
            <a:tbl>
              <a:tblPr firstRow="1" firstCol="1" bandRow="1">
                <a:tableStyleId>{21E4AEA4-8DFA-4A89-87EB-49C32662AFE0}</a:tableStyleId>
              </a:tblPr>
              <a:tblGrid>
                <a:gridCol w="1546736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954157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  <a:gridCol w="1044651">
                  <a:extLst>
                    <a:ext uri="{9D8B030D-6E8A-4147-A177-3AD203B41FA5}">
                      <a16:colId xmlns:a16="http://schemas.microsoft.com/office/drawing/2014/main" val="2289157586"/>
                    </a:ext>
                  </a:extLst>
                </a:gridCol>
              </a:tblGrid>
              <a:tr h="300702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SingleCoil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Humbucker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465885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seule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300702">
                <a:tc>
                  <a:txBody>
                    <a:bodyPr/>
                    <a:lstStyle/>
                    <a:p>
                      <a:r>
                        <a:rPr lang="fr-FR" sz="1200" dirty="0"/>
                        <a:t>Corde + Parasite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32" name="Graphic 31" descr="Checkmark with solid fill">
            <a:extLst>
              <a:ext uri="{FF2B5EF4-FFF2-40B4-BE49-F238E27FC236}">
                <a16:creationId xmlns:a16="http://schemas.microsoft.com/office/drawing/2014/main" id="{BD4CE6ED-3933-6033-3C61-2E11FC402E1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287870" y="1476167"/>
            <a:ext cx="288000" cy="288000"/>
          </a:xfrm>
          <a:prstGeom prst="rect">
            <a:avLst/>
          </a:prstGeom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D7137CF5-0677-230A-0BF6-28C8E9EEA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4758276"/>
              </p:ext>
            </p:extLst>
          </p:nvPr>
        </p:nvGraphicFramePr>
        <p:xfrm>
          <a:off x="4739040" y="1145148"/>
          <a:ext cx="3545543" cy="908253"/>
        </p:xfrm>
        <a:graphic>
          <a:graphicData uri="http://schemas.openxmlformats.org/drawingml/2006/table">
            <a:tbl>
              <a:tblPr firstCol="1" bandRow="1">
                <a:tableStyleId>{00A15C55-8517-42AA-B614-E9B94910E393}</a:tableStyleId>
              </a:tblPr>
              <a:tblGrid>
                <a:gridCol w="917354">
                  <a:extLst>
                    <a:ext uri="{9D8B030D-6E8A-4147-A177-3AD203B41FA5}">
                      <a16:colId xmlns:a16="http://schemas.microsoft.com/office/drawing/2014/main" val="629167038"/>
                    </a:ext>
                  </a:extLst>
                </a:gridCol>
                <a:gridCol w="2628189">
                  <a:extLst>
                    <a:ext uri="{9D8B030D-6E8A-4147-A177-3AD203B41FA5}">
                      <a16:colId xmlns:a16="http://schemas.microsoft.com/office/drawing/2014/main" val="746650096"/>
                    </a:ext>
                  </a:extLst>
                </a:gridCol>
              </a:tblGrid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Période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fr-FR" sz="1200" dirty="0"/>
                        <a:t>Même amplitude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2286478"/>
                  </a:ext>
                </a:extLst>
              </a:tr>
              <a:tr h="451053"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fr-FR" sz="1200" dirty="0"/>
                        <a:t>Harmonique Différentes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864783"/>
                  </a:ext>
                </a:extLst>
              </a:tr>
            </a:tbl>
          </a:graphicData>
        </a:graphic>
      </p:graphicFrame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7DA843A0-347E-FF8C-9B9C-C631DD7F52F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79076" y="1217409"/>
            <a:ext cx="360000" cy="360000"/>
          </a:xfrm>
          <a:prstGeom prst="rect">
            <a:avLst/>
          </a:prstGeom>
        </p:spPr>
      </p:pic>
      <p:pic>
        <p:nvPicPr>
          <p:cNvPr id="15" name="Graphic 14" descr="Close with solid fill">
            <a:extLst>
              <a:ext uri="{FF2B5EF4-FFF2-40B4-BE49-F238E27FC236}">
                <a16:creationId xmlns:a16="http://schemas.microsoft.com/office/drawing/2014/main" id="{A490BCE1-4DBF-98D0-CD8A-8FB86D8798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79076" y="1650884"/>
            <a:ext cx="360000" cy="360000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435742" y="5258273"/>
            <a:ext cx="3766439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Résultats Expérimentaux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41819" y="5258273"/>
            <a:ext cx="3784945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Résultats Théorique</a:t>
            </a:r>
          </a:p>
        </p:txBody>
      </p:sp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D92842E-33D7-43D3-4A8A-6B3D6EB081C3}"/>
              </a:ext>
            </a:extLst>
          </p:cNvPr>
          <p:cNvSpPr/>
          <p:nvPr/>
        </p:nvSpPr>
        <p:spPr>
          <a:xfrm>
            <a:off x="-63611" y="-33793"/>
            <a:ext cx="9271221" cy="692558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b="1" dirty="0"/>
              <a:t>FIN</a:t>
            </a:r>
          </a:p>
        </p:txBody>
      </p:sp>
    </p:spTree>
    <p:extLst>
      <p:ext uri="{BB962C8B-B14F-4D97-AF65-F5344CB8AC3E}">
        <p14:creationId xmlns:p14="http://schemas.microsoft.com/office/powerpoint/2010/main" val="4259711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390254"/>
            <a:ext cx="8472118" cy="477053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fréquentielle, Diagramme de Bode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Appel des fonctions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Réponse temporelle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 :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[1]</a:t>
            </a:r>
            <a:r>
              <a:rPr lang="fr-FR" sz="1200" dirty="0"/>
              <a:t> Matthew Hill. “The hidden history of the electric guitar.” Benoît Navarret, Marc Battier, Philippe Bruguière, Philippe Gonin. ‘’Quand la guitare [s’]électrise!’’, Sorbonne Université Presses, pp.33-61, 2022.</a:t>
            </a:r>
          </a:p>
          <a:p>
            <a:endParaRPr lang="fr-FR" sz="1200" b="1" dirty="0"/>
          </a:p>
          <a:p>
            <a:r>
              <a:rPr lang="fr-FR" sz="1200" b="1" dirty="0"/>
              <a:t>[2]</a:t>
            </a:r>
            <a:r>
              <a:rPr lang="fr-FR" sz="1200" dirty="0"/>
              <a:t> Rickenbacker, “Rickenbacker Legacy”, Rickenbacker, </a:t>
            </a:r>
            <a:br>
              <a:rPr lang="fr-FR" sz="1200" dirty="0"/>
            </a:br>
            <a:r>
              <a:rPr lang="fr-FR" sz="1200" dirty="0"/>
              <a:t>[En ligne]. Disponible sur : https://www.rickenbacker.com/legacy/ </a:t>
            </a:r>
          </a:p>
          <a:p>
            <a:endParaRPr lang="fr-FR" sz="1200" b="1" dirty="0"/>
          </a:p>
          <a:p>
            <a:r>
              <a:rPr lang="fr-FR" sz="1200" b="1" dirty="0"/>
              <a:t>[3]</a:t>
            </a:r>
            <a:r>
              <a:rPr lang="fr-FR" sz="1200" dirty="0"/>
              <a:t> S. W. Duncan, "Interview </a:t>
            </a:r>
            <a:r>
              <a:rPr lang="fr-FR" sz="1200" dirty="0" err="1"/>
              <a:t>With</a:t>
            </a:r>
            <a:r>
              <a:rPr lang="fr-FR" sz="1200" dirty="0"/>
              <a:t> Seth Lover," Seymour Duncan, </a:t>
            </a:r>
            <a:br>
              <a:rPr lang="fr-FR" sz="1200" dirty="0"/>
            </a:br>
            <a:r>
              <a:rPr lang="fr-FR" sz="1200" dirty="0"/>
              <a:t>[En ligne]. Disponible sur : https://www.seymourduncan.com/blog/latest-updates/seymour-w-duncans-interview-with-seth-lover</a:t>
            </a:r>
          </a:p>
          <a:p>
            <a:endParaRPr lang="fr-FR" sz="1200" b="1" dirty="0"/>
          </a:p>
          <a:p>
            <a:r>
              <a:rPr lang="fr-FR" sz="1200" b="1" dirty="0"/>
              <a:t>[4]</a:t>
            </a:r>
            <a:r>
              <a:rPr lang="fr-FR" sz="1200" dirty="0"/>
              <a:t> Larry, ‘’How to </a:t>
            </a:r>
            <a:r>
              <a:rPr lang="fr-FR" sz="1200" dirty="0" err="1"/>
              <a:t>prevent</a:t>
            </a:r>
            <a:r>
              <a:rPr lang="fr-FR" sz="1200" dirty="0"/>
              <a:t> </a:t>
            </a:r>
            <a:r>
              <a:rPr lang="fr-FR" sz="1200" dirty="0" err="1"/>
              <a:t>humming</a:t>
            </a:r>
            <a:r>
              <a:rPr lang="fr-FR" sz="1200" dirty="0"/>
              <a:t> and noise in a guitar </a:t>
            </a:r>
            <a:r>
              <a:rPr lang="fr-FR" sz="1200" dirty="0" err="1"/>
              <a:t>amp</a:t>
            </a:r>
            <a:r>
              <a:rPr lang="fr-FR" sz="1200" dirty="0"/>
              <a:t>’’, Thomann, </a:t>
            </a:r>
            <a:br>
              <a:rPr lang="fr-FR" sz="1200" dirty="0"/>
            </a:br>
            <a:r>
              <a:rPr lang="fr-FR" sz="1200" dirty="0"/>
              <a:t>[En ligne]. Disponible sur : https://www.thomann.de/blog/en/learn/how-to-prevent-humming-and-noise-in-a-guitar-amp/</a:t>
            </a:r>
          </a:p>
          <a:p>
            <a:endParaRPr lang="en-GB" sz="1200" b="1" dirty="0"/>
          </a:p>
          <a:p>
            <a:r>
              <a:rPr lang="en-GB" sz="1200" b="1" dirty="0"/>
              <a:t>[5]</a:t>
            </a:r>
            <a:r>
              <a:rPr lang="en-GB" sz="1200" dirty="0"/>
              <a:t> Dan Carson. ‘’ Investigation of the Electromagnetic Properties of Electric Guitar Pickups”. University of Illinois at Urbana-Champaign. USA. 2009</a:t>
            </a:r>
            <a:endParaRPr lang="fr-FR" sz="1200" dirty="0"/>
          </a:p>
          <a:p>
            <a:endParaRPr lang="en-GB" sz="1200" b="1" dirty="0"/>
          </a:p>
          <a:p>
            <a:r>
              <a:rPr lang="en-GB" sz="1200" b="1" dirty="0"/>
              <a:t>[6] </a:t>
            </a:r>
            <a:r>
              <a:rPr lang="en-GB" sz="1200" dirty="0"/>
              <a:t>P. Perov, W. Johnson, and N. Perova-Mello, "The physics of guitar string vibrations," </a:t>
            </a:r>
            <a:r>
              <a:rPr lang="en-GB" sz="1200" i="1" dirty="0"/>
              <a:t>American Journal of Physics</a:t>
            </a:r>
            <a:r>
              <a:rPr lang="en-GB" sz="1200" dirty="0"/>
              <a:t>, vol. 84, no. 1, pp. 38–43, Jan. 2016.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 :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345440" y="1390254"/>
            <a:ext cx="84721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Art Music Store</a:t>
            </a:r>
            <a:r>
              <a:rPr lang="fr-FR" sz="1200" dirty="0"/>
              <a:t>,</a:t>
            </a:r>
            <a:r>
              <a:rPr lang="fr-FR" sz="1200" b="1" dirty="0"/>
              <a:t> </a:t>
            </a:r>
            <a:r>
              <a:rPr lang="fr-FR" sz="12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200" b="1" dirty="0"/>
              <a:t>Menuiserie Paradis</a:t>
            </a:r>
            <a:r>
              <a:rPr lang="fr-FR" sz="12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 :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16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: Modèle Théorique (Micro Simple)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17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: Modèle Théorique (Micro Humbucker) </a:t>
            </a:r>
            <a:r>
              <a:rPr lang="fr-FR" sz="1000" i="1" dirty="0"/>
              <a:t>cf. Source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18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: Modèle Théorique (Action d’un champ parasite)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étudie un champ parasite d’amplitude B0, de fréquence f et de gradient alpha régie par l’équation: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Pour un micro SingleCoil :</a:t>
                </a:r>
              </a:p>
              <a:p>
                <a:r>
                  <a:rPr lang="fr-FR" sz="1200" dirty="0"/>
                  <a:t>En supposant que la variation de flux est principalement due au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r>
                  <a:rPr lang="fr-FR" sz="12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Pour un micro Humbucker :</a:t>
                </a:r>
              </a:p>
              <a:p>
                <a:r>
                  <a:rPr lang="fr-FR" sz="1200" dirty="0"/>
                  <a:t>Par Linéarité de la dérivée,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839658"/>
              </a:xfrm>
              <a:prstGeom prst="rect">
                <a:avLst/>
              </a:prstGeom>
              <a:blipFill>
                <a:blip r:embed="rId2"/>
                <a:stretch>
                  <a:fillRect t="-1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32805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sub>
                                  </m:s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d>
                        <m:dPr>
                          <m:begChr m:val="|"/>
                          <m:endChr m:val="|"/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2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2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2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200" dirty="0"/>
                  <a:t>D’où l’efficacité du Humbucker </a:t>
                </a: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3280578"/>
              </a:xfrm>
              <a:prstGeom prst="rect">
                <a:avLst/>
              </a:prstGeom>
              <a:blipFill>
                <a:blip r:embed="rId3"/>
                <a:stretch>
                  <a:fillRect t="-372" r="-592" b="-37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19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: Réponse Fréquentielle, Diagramme de Bode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347671"/>
            <a:ext cx="3464559" cy="3331307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3209" r="6447" b="40000"/>
          <a:stretch>
            <a:fillRect/>
          </a:stretch>
        </p:blipFill>
        <p:spPr>
          <a:xfrm>
            <a:off x="345440" y="1121469"/>
            <a:ext cx="3464560" cy="510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6" t="5102" r="6085" b="6102"/>
          <a:stretch>
            <a:fillRect/>
          </a:stretch>
        </p:blipFill>
        <p:spPr>
          <a:xfrm>
            <a:off x="326443" y="1018602"/>
            <a:ext cx="4230077" cy="5118038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20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5.2.1 : Modèle Théorique (Initialisation)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21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5.2.2 : Modèle Théorique (Fonctions)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5" t="5928" r="5745" b="7790"/>
          <a:stretch>
            <a:fillRect/>
          </a:stretch>
        </p:blipFill>
        <p:spPr>
          <a:xfrm>
            <a:off x="345440" y="1121471"/>
            <a:ext cx="4449197" cy="506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22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5.2.3 : Modèle Théorique (Appel des Fonctions)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41" t="7270" r="6741" b="8518"/>
          <a:stretch>
            <a:fillRect/>
          </a:stretch>
        </p:blipFill>
        <p:spPr>
          <a:xfrm>
            <a:off x="345440" y="1070826"/>
            <a:ext cx="5620204" cy="519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23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5.2.4 : Modèle Théorique (FFT)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96" t="4682" r="5568" b="7161"/>
          <a:stretch>
            <a:fillRect/>
          </a:stretch>
        </p:blipFill>
        <p:spPr>
          <a:xfrm>
            <a:off x="345440" y="1028493"/>
            <a:ext cx="4317555" cy="5279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24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5.2.5 : Modèle Théorique (Affichage des Courbes)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85F0D8E-06F2-8ABF-D1D8-0C31EF3D3C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61055" r="6559" b="5806"/>
          <a:stretch>
            <a:fillRect/>
          </a:stretch>
        </p:blipFill>
        <p:spPr>
          <a:xfrm>
            <a:off x="5167482" y="1324675"/>
            <a:ext cx="3650075" cy="2915860"/>
          </a:xfrm>
          <a:prstGeom prst="rect">
            <a:avLst/>
          </a:prstGeom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F9E3DB4-BB7D-BE22-C6A0-237A072679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" t="3086" r="6559" b="38512"/>
          <a:stretch>
            <a:fillRect/>
          </a:stretch>
        </p:blipFill>
        <p:spPr>
          <a:xfrm>
            <a:off x="345440" y="1108696"/>
            <a:ext cx="3644769" cy="5131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0F449-F12E-20C8-C0D1-634A3CB8B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2ABB287-8726-E900-C580-068711EB80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F859C1-8EE1-4062-8A80-955144FCA27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A79F1EC-C59B-2BC9-C9CA-8510A7409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8D6DB69-B932-38DD-65FC-02CC12E35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25</a:t>
            </a:fld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5469CF-57F9-C58F-E156-BA22C2D6F76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C17A12-03C7-373B-4860-B9427BD2E3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DE121C-455F-0535-DE45-4973F50C5F73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6.1 : Dimensionnement du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FAC69F-A984-5869-DBA0-BD5CC24ECB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6B66E-47C6-441C-F4F4-3C3CF30499D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431726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On considère un Solénoïde à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 spires par mètre reliées à un GBF délivrant une tension sinusoïdale d’équation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 avec la Loi d’Ampère on a la relation : </a:t>
                </a:r>
              </a:p>
              <a:p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𝐵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200" dirty="0"/>
                  <a:t>	(1)</a:t>
                </a:r>
              </a:p>
              <a:p>
                <a:endParaRPr lang="fr-FR" sz="1200" dirty="0"/>
              </a:p>
              <a:p>
                <a:r>
                  <a:rPr lang="fr-FR" sz="1200" dirty="0"/>
                  <a:t>Or, on peut calculer l’intensité traversant le Solénoïde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𝐿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𝑑𝑖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box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box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func>
                            <m:func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r>
                        <a:rPr lang="fr-FR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 on injecte dans (1) :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A86B66E-47C6-441C-F4F4-3C3CF30499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431726"/>
              </a:xfrm>
              <a:prstGeom prst="rect">
                <a:avLst/>
              </a:prstGeom>
              <a:blipFill>
                <a:blip r:embed="rId2"/>
                <a:stretch>
                  <a:fillRect t="-13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B7894F-28BB-24A0-1546-72B7EE250F65}"/>
                  </a:ext>
                </a:extLst>
              </p:cNvPr>
              <p:cNvSpPr txBox="1"/>
              <p:nvPr/>
            </p:nvSpPr>
            <p:spPr>
              <a:xfrm>
                <a:off x="4695673" y="1232452"/>
                <a:ext cx="4121884" cy="291573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Maintenant, on peut donc poser :</a:t>
                </a:r>
              </a:p>
              <a:p>
                <a:pPr algn="ctr"/>
                <a:endParaRPr lang="fr-FR" sz="12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Ainsi, en rajoutant le terme empirique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 : </a:t>
                </a:r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>
                  <a:solidFill>
                    <a:srgbClr val="C00000"/>
                  </a:solidFill>
                </a:endParaRPr>
              </a:p>
              <a:p>
                <a:r>
                  <a:rPr lang="fr-FR" sz="1200" dirty="0"/>
                  <a:t>On veut maintenant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</m:oMath>
                </a14:m>
                <a:r>
                  <a:rPr lang="fr-FR" sz="1200" dirty="0"/>
                  <a:t>, ainsi on choisi arbitrairement :</a:t>
                </a:r>
              </a:p>
              <a:p>
                <a:endParaRPr lang="fr-FR" sz="1200" dirty="0"/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12 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fr-FR" sz="1200" b="0" dirty="0"/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20 000 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200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fr-FR" sz="1200" dirty="0"/>
                  <a:t> </a:t>
                </a:r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0,1 </m:t>
                    </m:r>
                    <m:r>
                      <m:rPr>
                        <m:nor/>
                      </m:rPr>
                      <a:rPr lang="fr-FR" sz="1200" b="0" i="0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endParaRPr lang="fr-FR" sz="1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AB7894F-28BB-24A0-1546-72B7EE250F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5673" y="1232452"/>
                <a:ext cx="4121884" cy="2915735"/>
              </a:xfrm>
              <a:prstGeom prst="rect">
                <a:avLst/>
              </a:prstGeom>
              <a:blipFill>
                <a:blip r:embed="rId3"/>
                <a:stretch>
                  <a:fillRect t="-2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6004443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2462</Words>
  <Application>Microsoft Office PowerPoint</Application>
  <PresentationFormat>On-screen Show (4:3)</PresentationFormat>
  <Paragraphs>404</Paragraphs>
  <Slides>25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245</cp:revision>
  <dcterms:created xsi:type="dcterms:W3CDTF">2025-06-09T15:35:56Z</dcterms:created>
  <dcterms:modified xsi:type="dcterms:W3CDTF">2025-11-10T22:13:24Z</dcterms:modified>
</cp:coreProperties>
</file>