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2"/>
  </p:notesMasterIdLst>
  <p:sldIdLst>
    <p:sldId id="256" r:id="rId2"/>
    <p:sldId id="265" r:id="rId3"/>
    <p:sldId id="278" r:id="rId4"/>
    <p:sldId id="289" r:id="rId5"/>
    <p:sldId id="295" r:id="rId6"/>
    <p:sldId id="281" r:id="rId7"/>
    <p:sldId id="283" r:id="rId8"/>
    <p:sldId id="296" r:id="rId9"/>
    <p:sldId id="297" r:id="rId10"/>
    <p:sldId id="298" r:id="rId11"/>
    <p:sldId id="300" r:id="rId12"/>
    <p:sldId id="271" r:id="rId13"/>
    <p:sldId id="272" r:id="rId14"/>
    <p:sldId id="277" r:id="rId15"/>
    <p:sldId id="287" r:id="rId16"/>
    <p:sldId id="275" r:id="rId17"/>
    <p:sldId id="292" r:id="rId18"/>
    <p:sldId id="293" r:id="rId19"/>
    <p:sldId id="286" r:id="rId20"/>
    <p:sldId id="28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06/10/2025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13.png"/><Relationship Id="rId4" Type="http://schemas.openxmlformats.org/officeDocument/2006/relationships/image" Target="../media/image100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141.png"/><Relationship Id="rId7" Type="http://schemas.openxmlformats.org/officeDocument/2006/relationships/image" Target="../media/image14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" TargetMode="External"/><Relationship Id="rId2" Type="http://schemas.openxmlformats.org/officeDocument/2006/relationships/hyperlink" Target="https://www.thomann.de/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jensign.com/Discovery/Pickup/index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0.png"/><Relationship Id="rId4" Type="http://schemas.openxmlformats.org/officeDocument/2006/relationships/image" Target="../media/image20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1.png"/><Relationship Id="rId5" Type="http://schemas.openxmlformats.org/officeDocument/2006/relationships/image" Target="../media/image14.png"/><Relationship Id="rId4" Type="http://schemas.openxmlformats.org/officeDocument/2006/relationships/image" Target="../media/image2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l’amplitude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 </a:t>
            </a:r>
            <a:r>
              <a:rPr lang="fr-FR" dirty="0" err="1"/>
              <a:t>Coil</a:t>
            </a:r>
            <a:r>
              <a:rPr lang="fr-FR" dirty="0"/>
              <a:t>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 err="1"/>
              <a:t>Humbucker</a:t>
            </a:r>
            <a:r>
              <a:rPr lang="fr-FR" dirty="0"/>
              <a:t>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737343" cy="4279165"/>
            <a:chOff x="-34756" y="1586102"/>
            <a:chExt cx="4737343" cy="4279165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>
                      <a:lumMod val="50000"/>
                    </a:schemeClr>
                  </a:solidFill>
                </a:rPr>
                <a:t>Source image : Ibanez.com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107C41-0105-178A-FD27-7A8169B1D63D}"/>
                </a:ext>
              </a:extLst>
            </p:cNvPr>
            <p:cNvSpPr txBox="1"/>
            <p:nvPr/>
          </p:nvSpPr>
          <p:spPr>
            <a:xfrm>
              <a:off x="2421650" y="5588268"/>
              <a:ext cx="228093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>
                      <a:lumMod val="50000"/>
                    </a:schemeClr>
                  </a:solidFill>
                </a:rPr>
                <a:t>Source image : zonagitar.net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722B83-45F3-5744-53DC-A62D4D10B97F}"/>
              </a:ext>
            </a:extLst>
          </p:cNvPr>
          <p:cNvGrpSpPr/>
          <p:nvPr/>
        </p:nvGrpSpPr>
        <p:grpSpPr>
          <a:xfrm>
            <a:off x="5332797" y="1183684"/>
            <a:ext cx="3253774" cy="2467030"/>
            <a:chOff x="5667169" y="1186325"/>
            <a:chExt cx="3253774" cy="246703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31DA7C6-3177-5DAE-EA3B-CBADF68E4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67169" y="1244713"/>
              <a:ext cx="2880000" cy="240864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DD1E2B4-4DC4-BFF8-BCFA-2B72083095DB}"/>
                </a:ext>
              </a:extLst>
            </p:cNvPr>
            <p:cNvSpPr txBox="1"/>
            <p:nvPr/>
          </p:nvSpPr>
          <p:spPr>
            <a:xfrm>
              <a:off x="7961130" y="1186325"/>
              <a:ext cx="7761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Corde</a:t>
              </a:r>
              <a:endParaRPr lang="fr-FR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F622751-A6D0-42C3-28B3-F68D18C67F78}"/>
                </a:ext>
              </a:extLst>
            </p:cNvPr>
            <p:cNvSpPr txBox="1"/>
            <p:nvPr/>
          </p:nvSpPr>
          <p:spPr>
            <a:xfrm>
              <a:off x="7961130" y="1634635"/>
              <a:ext cx="88036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Aimant</a:t>
              </a:r>
              <a:endParaRPr lang="fr-FR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DA263E-0590-99A6-59B0-5A7FFF31BF9B}"/>
                </a:ext>
              </a:extLst>
            </p:cNvPr>
            <p:cNvSpPr txBox="1"/>
            <p:nvPr/>
          </p:nvSpPr>
          <p:spPr>
            <a:xfrm>
              <a:off x="8042176" y="2534650"/>
              <a:ext cx="878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Bobine</a:t>
              </a:r>
              <a:endParaRPr lang="fr-FR" b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8859890-BEA0-2A6D-B83D-F447B7BF2099}"/>
              </a:ext>
            </a:extLst>
          </p:cNvPr>
          <p:cNvGrpSpPr/>
          <p:nvPr/>
        </p:nvGrpSpPr>
        <p:grpSpPr>
          <a:xfrm>
            <a:off x="5030505" y="3629305"/>
            <a:ext cx="3556066" cy="2358182"/>
            <a:chOff x="5460435" y="3589841"/>
            <a:chExt cx="3556066" cy="235818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B0AA049-23B8-B6FC-3C64-5926BB74B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60435" y="3668769"/>
              <a:ext cx="2880000" cy="2279254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1465CF-7C7E-9F23-FE0D-44E273ADDF05}"/>
                </a:ext>
              </a:extLst>
            </p:cNvPr>
            <p:cNvSpPr txBox="1"/>
            <p:nvPr/>
          </p:nvSpPr>
          <p:spPr>
            <a:xfrm>
              <a:off x="7917353" y="3589841"/>
              <a:ext cx="7761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Corde</a:t>
              </a:r>
              <a:endParaRPr lang="fr-FR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713B603-29FF-1082-A698-6D63F694086E}"/>
                </a:ext>
              </a:extLst>
            </p:cNvPr>
            <p:cNvSpPr txBox="1"/>
            <p:nvPr/>
          </p:nvSpPr>
          <p:spPr>
            <a:xfrm>
              <a:off x="8020906" y="4022548"/>
              <a:ext cx="88036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Aimant</a:t>
              </a:r>
              <a:endParaRPr lang="fr-FR" b="1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F1D9EF-CD58-7C8B-9033-3D57E532EBBC}"/>
                </a:ext>
              </a:extLst>
            </p:cNvPr>
            <p:cNvSpPr txBox="1"/>
            <p:nvPr/>
          </p:nvSpPr>
          <p:spPr>
            <a:xfrm>
              <a:off x="8137734" y="4869662"/>
              <a:ext cx="878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b="1" dirty="0"/>
                <a:t>Bobine</a:t>
              </a:r>
              <a:endParaRPr lang="fr-FR" b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81155CB-43FA-DD8B-DCA9-43F02CC7E1E4}"/>
              </a:ext>
            </a:extLst>
          </p:cNvPr>
          <p:cNvSpPr txBox="1"/>
          <p:nvPr/>
        </p:nvSpPr>
        <p:spPr>
          <a:xfrm>
            <a:off x="2914580" y="3457318"/>
            <a:ext cx="22809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>
                    <a:lumMod val="50000"/>
                  </a:schemeClr>
                </a:solidFill>
              </a:rPr>
              <a:t>Source image : zonagitar.net</a:t>
            </a:r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</a:t>
            </a: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E207542-9DA0-28A0-B390-D52D35F7089A}"/>
              </a:ext>
            </a:extLst>
          </p:cNvPr>
          <p:cNvSpPr txBox="1"/>
          <p:nvPr/>
        </p:nvSpPr>
        <p:spPr>
          <a:xfrm>
            <a:off x="449951" y="5642115"/>
            <a:ext cx="2057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Source image : zonagitar.net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237119B-1DF1-C2FC-F71B-79302244948A}"/>
              </a:ext>
            </a:extLst>
          </p:cNvPr>
          <p:cNvSpPr txBox="1"/>
          <p:nvPr/>
        </p:nvSpPr>
        <p:spPr>
          <a:xfrm>
            <a:off x="4855751" y="4417981"/>
            <a:ext cx="38460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fera l’hypothèse 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EBB517F-560A-DA35-F53F-D72908A2CC59}"/>
                  </a:ext>
                </a:extLst>
              </p:cNvPr>
              <p:cNvSpPr txBox="1"/>
              <p:nvPr/>
            </p:nvSpPr>
            <p:spPr>
              <a:xfrm>
                <a:off x="7425344" y="4433151"/>
                <a:ext cx="1174489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EBB517F-560A-DA35-F53F-D72908A2C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344" y="4433151"/>
                <a:ext cx="1174489" cy="276999"/>
              </a:xfrm>
              <a:prstGeom prst="rect">
                <a:avLst/>
              </a:prstGeom>
              <a:blipFill>
                <a:blip r:embed="rId8"/>
                <a:stretch>
                  <a:fillRect l="-1531" r="-5102" b="-2857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4855751" y="4982341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5751" y="4982341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6"/>
          <a:stretch>
            <a:fillRect/>
          </a:stretch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0F88A1-E4DF-4196-E16A-92C2C9FDD3A7}"/>
                  </a:ext>
                </a:extLst>
              </p:cNvPr>
              <p:cNvSpPr txBox="1"/>
              <p:nvPr/>
            </p:nvSpPr>
            <p:spPr>
              <a:xfrm>
                <a:off x="3574794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0F88A1-E4DF-4196-E16A-92C2C9FDD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4794" y="5432818"/>
                <a:ext cx="2379468" cy="7527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59949" cy="72224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59949" cy="722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4695637-20E7-2963-CDD3-67AA3DA098E8}"/>
                  </a:ext>
                </a:extLst>
              </p:cNvPr>
              <p:cNvSpPr txBox="1"/>
              <p:nvPr/>
            </p:nvSpPr>
            <p:spPr>
              <a:xfrm>
                <a:off x="1325453" y="5511911"/>
                <a:ext cx="198229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rad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4695637-20E7-2963-CDD3-67AA3DA09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453" y="5511911"/>
                <a:ext cx="1982290" cy="59452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686522" cy="72224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686522" cy="7222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D2D306D-3216-4C85-B874-8EA67DF9E853}"/>
                  </a:ext>
                </a:extLst>
              </p:cNvPr>
              <p:cNvSpPr txBox="1"/>
              <p:nvPr/>
            </p:nvSpPr>
            <p:spPr>
              <a:xfrm>
                <a:off x="4572000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D2D306D-3216-4C85-B874-8EA67DF9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432818"/>
                <a:ext cx="2379468" cy="7527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D4695E-1632-F53E-514F-3D3E84FA92F3}"/>
                  </a:ext>
                </a:extLst>
              </p:cNvPr>
              <p:cNvSpPr txBox="1"/>
              <p:nvPr/>
            </p:nvSpPr>
            <p:spPr>
              <a:xfrm>
                <a:off x="1447764" y="5511911"/>
                <a:ext cx="3076873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f>
                            <m:f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ad>
                                <m:radPr>
                                  <m:degHide m:val="on"/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rad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D4695E-1632-F53E-514F-3D3E84FA9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764" y="5511911"/>
                <a:ext cx="3076873" cy="5945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6DB72-DB08-FA1F-70A3-81C7AA4B1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708A14-7AD8-F906-9428-55AA733330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2E3EBF-83CF-CDAB-6E81-3F5619A03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2C509BE-47CE-CB4E-000E-B6A2469EF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5E222B1-ADC7-D7FE-D74A-FE5F72B6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976040-3426-383D-7370-6C008C2818B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79C7B5A-3DE1-8202-E607-0ABC8D3D8DE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E03D6B-CAB7-46D7-8378-CCB85960F286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(Corde seule)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84167BCF-6F35-D8AA-74C8-D3F4C965A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25CEFE-1823-A9E8-6FFA-C635ED1EE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39" y="1808502"/>
            <a:ext cx="5304374" cy="3978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7CF42E-30D2-CB51-D06D-C0F791BD4F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11" t="9302" r="15020" b="13950"/>
          <a:stretch>
            <a:fillRect/>
          </a:stretch>
        </p:blipFill>
        <p:spPr>
          <a:xfrm>
            <a:off x="6170208" y="1998242"/>
            <a:ext cx="2160000" cy="2160000"/>
          </a:xfrm>
          <a:prstGeom prst="rect">
            <a:avLst/>
          </a:prstGeom>
          <a:solidFill>
            <a:srgbClr val="000000">
              <a:shade val="95000"/>
            </a:srgbClr>
          </a:solidFill>
          <a:ln w="381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A1A0EA52-31ED-CB98-879C-ABFDA7F4D923}"/>
              </a:ext>
            </a:extLst>
          </p:cNvPr>
          <p:cNvCxnSpPr>
            <a:cxnSpLocks/>
            <a:stCxn id="17" idx="2"/>
            <a:endCxn id="11" idx="2"/>
          </p:cNvCxnSpPr>
          <p:nvPr/>
        </p:nvCxnSpPr>
        <p:spPr>
          <a:xfrm rot="5400000" flipH="1" flipV="1">
            <a:off x="5237086" y="3171128"/>
            <a:ext cx="1026008" cy="3000235"/>
          </a:xfrm>
          <a:prstGeom prst="curvedConnector3">
            <a:avLst>
              <a:gd name="adj1" fmla="val -2228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B964F98-5918-5181-3402-647627634AF4}"/>
              </a:ext>
            </a:extLst>
          </p:cNvPr>
          <p:cNvSpPr/>
          <p:nvPr/>
        </p:nvSpPr>
        <p:spPr>
          <a:xfrm>
            <a:off x="3927945" y="2242268"/>
            <a:ext cx="644056" cy="2941982"/>
          </a:xfrm>
          <a:prstGeom prst="rect">
            <a:avLst/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3010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C545A-D149-E80D-15C9-5FE1F68B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F700D01-327A-5AB2-E6FB-09B1F24738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40C8D6-C983-6464-4CC2-373E546D3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BED4395-4C4A-3DEC-4676-F46F06B13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03759B-2FEA-F199-966D-F24779AB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EE80DA-3061-594A-1544-4DAC935A60B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73874F8-92B7-C0B4-4E7A-E1A5E7F235B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275BA5-A143-E0A8-B1FD-EEAE550CA4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6932" y="1325239"/>
            <a:ext cx="6248472" cy="46863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857C63-E5E7-E917-DE9E-1DE51C3EF0A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(Champ parasite)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CA1CD7DA-6770-C48E-6DAA-ECBDB763F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9540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 (Corde + parasite)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3552811-F479-F545-99E7-467AF3F94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8104" y="3429000"/>
            <a:ext cx="3836942" cy="270764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4AD04D4C-C0B9-F7D9-83A7-93464B0334E0}"/>
              </a:ext>
            </a:extLst>
          </p:cNvPr>
          <p:cNvGrpSpPr/>
          <p:nvPr/>
        </p:nvGrpSpPr>
        <p:grpSpPr>
          <a:xfrm>
            <a:off x="359725" y="1604733"/>
            <a:ext cx="4815097" cy="3611322"/>
            <a:chOff x="362607" y="1604733"/>
            <a:chExt cx="5232047" cy="397828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445F650-9350-E19B-7B37-75B564649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2607" y="1604733"/>
              <a:ext cx="5232047" cy="397828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EB83F2-A07C-395D-CB28-5FA0648AC1CD}"/>
                </a:ext>
              </a:extLst>
            </p:cNvPr>
            <p:cNvSpPr/>
            <p:nvPr/>
          </p:nvSpPr>
          <p:spPr>
            <a:xfrm>
              <a:off x="3881120" y="2038499"/>
              <a:ext cx="644056" cy="2941982"/>
            </a:xfrm>
            <a:prstGeom prst="rect">
              <a:avLst/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26509A36-2478-6FFB-2B7A-9D55399A235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54" t="7476" r="13866" b="12081"/>
          <a:stretch>
            <a:fillRect/>
          </a:stretch>
        </p:blipFill>
        <p:spPr>
          <a:xfrm>
            <a:off x="5927528" y="1354022"/>
            <a:ext cx="1800000" cy="1800000"/>
          </a:xfrm>
          <a:prstGeom prst="rect">
            <a:avLst/>
          </a:prstGeom>
          <a:solidFill>
            <a:srgbClr val="000000">
              <a:shade val="95000"/>
            </a:srgbClr>
          </a:solidFill>
          <a:ln w="381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7E0B9A3-1292-B63F-DAAC-6489834BA374}"/>
              </a:ext>
            </a:extLst>
          </p:cNvPr>
          <p:cNvCxnSpPr>
            <a:cxnSpLocks/>
          </p:cNvCxnSpPr>
          <p:nvPr/>
        </p:nvCxnSpPr>
        <p:spPr>
          <a:xfrm flipV="1">
            <a:off x="4217668" y="1604733"/>
            <a:ext cx="1682764" cy="59547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9104-889E-FEED-38F6-C3620D742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F59EE9-5541-3C35-D9F3-4286FB3C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456BA52-60DE-BBCD-33A6-948F7C0B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D1A7DA8-31DF-35B6-F503-F848EFFA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81309A-E7A7-6863-5C96-5E4ED1E2F76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6180FF7-3A39-B8EC-A752-BDE9EB41E26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F125-1D42-4832-0684-54400434880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B12CB-DF61-CDB0-E7B9-3D2385D235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6E47E-10D0-EAA6-08EB-4DB3E60BB44C}"/>
              </a:ext>
            </a:extLst>
          </p:cNvPr>
          <p:cNvSpPr txBox="1"/>
          <p:nvPr/>
        </p:nvSpPr>
        <p:spPr>
          <a:xfrm>
            <a:off x="452411" y="1241427"/>
            <a:ext cx="3030260" cy="480131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Matériel :</a:t>
            </a:r>
          </a:p>
          <a:p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u="sng" dirty="0"/>
              <a:t>Déjà possédé :</a:t>
            </a:r>
          </a:p>
          <a:p>
            <a:endParaRPr lang="fr-FR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Corde Métallique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Mécaniques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Micros (Simple &amp; Double)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Ordinateur Portable</a:t>
            </a:r>
          </a:p>
          <a:p>
            <a:r>
              <a:rPr lang="fr-FR" b="1" dirty="0"/>
              <a:t> </a:t>
            </a:r>
          </a:p>
          <a:p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u="sng" dirty="0"/>
              <a:t>Reste à trouver :</a:t>
            </a:r>
          </a:p>
          <a:p>
            <a:endParaRPr lang="fr-FR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Système d’excitation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Solénoïde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Carte d’acquisition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Oscilloscope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B89B2-1B31-E264-13DF-C63CCFCF8423}"/>
              </a:ext>
            </a:extLst>
          </p:cNvPr>
          <p:cNvSpPr txBox="1"/>
          <p:nvPr/>
        </p:nvSpPr>
        <p:spPr>
          <a:xfrm>
            <a:off x="3759200" y="4565413"/>
            <a:ext cx="506454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1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D359E7-849E-BD8C-61EE-C0140C4AC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421" y="2951290"/>
            <a:ext cx="5628641" cy="816991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8033BC9-9F5E-C3E2-1B06-02C39D176A13}"/>
              </a:ext>
            </a:extLst>
          </p:cNvPr>
          <p:cNvCxnSpPr>
            <a:cxnSpLocks/>
          </p:cNvCxnSpPr>
          <p:nvPr/>
        </p:nvCxnSpPr>
        <p:spPr>
          <a:xfrm>
            <a:off x="7684805" y="2502535"/>
            <a:ext cx="0" cy="61404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F498DA7-3338-5409-5681-101EDFAF0052}"/>
              </a:ext>
            </a:extLst>
          </p:cNvPr>
          <p:cNvSpPr/>
          <p:nvPr/>
        </p:nvSpPr>
        <p:spPr>
          <a:xfrm>
            <a:off x="6775443" y="1390254"/>
            <a:ext cx="1841586" cy="734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15C2591-2043-BF16-CB74-7452B5776708}"/>
              </a:ext>
            </a:extLst>
          </p:cNvPr>
          <p:cNvSpPr/>
          <p:nvPr/>
        </p:nvSpPr>
        <p:spPr>
          <a:xfrm>
            <a:off x="6775443" y="1534517"/>
            <a:ext cx="1841585" cy="477163"/>
          </a:xfrm>
          <a:custGeom>
            <a:avLst/>
            <a:gdLst>
              <a:gd name="connsiteX0" fmla="*/ 0 w 1875580"/>
              <a:gd name="connsiteY0" fmla="*/ 477163 h 477163"/>
              <a:gd name="connsiteX1" fmla="*/ 198782 w 1875580"/>
              <a:gd name="connsiteY1" fmla="*/ 23939 h 477163"/>
              <a:gd name="connsiteX2" fmla="*/ 421419 w 1875580"/>
              <a:gd name="connsiteY2" fmla="*/ 405601 h 477163"/>
              <a:gd name="connsiteX3" fmla="*/ 588396 w 1875580"/>
              <a:gd name="connsiteY3" fmla="*/ 8036 h 477163"/>
              <a:gd name="connsiteX4" fmla="*/ 779228 w 1875580"/>
              <a:gd name="connsiteY4" fmla="*/ 373796 h 477163"/>
              <a:gd name="connsiteX5" fmla="*/ 930302 w 1875580"/>
              <a:gd name="connsiteY5" fmla="*/ 85 h 477163"/>
              <a:gd name="connsiteX6" fmla="*/ 1160890 w 1875580"/>
              <a:gd name="connsiteY6" fmla="*/ 413553 h 477163"/>
              <a:gd name="connsiteX7" fmla="*/ 1264257 w 1875580"/>
              <a:gd name="connsiteY7" fmla="*/ 8036 h 477163"/>
              <a:gd name="connsiteX8" fmla="*/ 1478942 w 1875580"/>
              <a:gd name="connsiteY8" fmla="*/ 389699 h 477163"/>
              <a:gd name="connsiteX9" fmla="*/ 1574358 w 1875580"/>
              <a:gd name="connsiteY9" fmla="*/ 8036 h 477163"/>
              <a:gd name="connsiteX10" fmla="*/ 1741335 w 1875580"/>
              <a:gd name="connsiteY10" fmla="*/ 373796 h 477163"/>
              <a:gd name="connsiteX11" fmla="*/ 1852654 w 1875580"/>
              <a:gd name="connsiteY11" fmla="*/ 206819 h 477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75580" h="477163">
                <a:moveTo>
                  <a:pt x="0" y="477163"/>
                </a:moveTo>
                <a:cubicBezTo>
                  <a:pt x="64273" y="256514"/>
                  <a:pt x="128546" y="35866"/>
                  <a:pt x="198782" y="23939"/>
                </a:cubicBezTo>
                <a:cubicBezTo>
                  <a:pt x="269018" y="12012"/>
                  <a:pt x="356483" y="408251"/>
                  <a:pt x="421419" y="405601"/>
                </a:cubicBezTo>
                <a:cubicBezTo>
                  <a:pt x="486355" y="402950"/>
                  <a:pt x="528761" y="13337"/>
                  <a:pt x="588396" y="8036"/>
                </a:cubicBezTo>
                <a:cubicBezTo>
                  <a:pt x="648031" y="2735"/>
                  <a:pt x="722244" y="375121"/>
                  <a:pt x="779228" y="373796"/>
                </a:cubicBezTo>
                <a:cubicBezTo>
                  <a:pt x="836212" y="372471"/>
                  <a:pt x="866692" y="-6541"/>
                  <a:pt x="930302" y="85"/>
                </a:cubicBezTo>
                <a:cubicBezTo>
                  <a:pt x="993912" y="6711"/>
                  <a:pt x="1105231" y="412228"/>
                  <a:pt x="1160890" y="413553"/>
                </a:cubicBezTo>
                <a:cubicBezTo>
                  <a:pt x="1216549" y="414878"/>
                  <a:pt x="1211248" y="12012"/>
                  <a:pt x="1264257" y="8036"/>
                </a:cubicBezTo>
                <a:cubicBezTo>
                  <a:pt x="1317266" y="4060"/>
                  <a:pt x="1427259" y="389699"/>
                  <a:pt x="1478942" y="389699"/>
                </a:cubicBezTo>
                <a:cubicBezTo>
                  <a:pt x="1530625" y="389699"/>
                  <a:pt x="1530626" y="10686"/>
                  <a:pt x="1574358" y="8036"/>
                </a:cubicBezTo>
                <a:cubicBezTo>
                  <a:pt x="1618090" y="5386"/>
                  <a:pt x="1694952" y="340665"/>
                  <a:pt x="1741335" y="373796"/>
                </a:cubicBezTo>
                <a:cubicBezTo>
                  <a:pt x="1787718" y="406927"/>
                  <a:pt x="1930842" y="164412"/>
                  <a:pt x="1852654" y="206819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Graphic 18" descr="Laptop with solid fill">
            <a:extLst>
              <a:ext uri="{FF2B5EF4-FFF2-40B4-BE49-F238E27FC236}">
                <a16:creationId xmlns:a16="http://schemas.microsoft.com/office/drawing/2014/main" id="{9BCDF8A8-7F99-8FE8-7BF1-C7A885BD71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4657" y="1305513"/>
            <a:ext cx="914400" cy="914400"/>
          </a:xfrm>
          <a:prstGeom prst="rect">
            <a:avLst/>
          </a:prstGeom>
        </p:spPr>
      </p:pic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C49802-C0CE-B8D9-AD7F-9896EB2DC0D8}"/>
              </a:ext>
            </a:extLst>
          </p:cNvPr>
          <p:cNvCxnSpPr>
            <a:cxnSpLocks/>
          </p:cNvCxnSpPr>
          <p:nvPr/>
        </p:nvCxnSpPr>
        <p:spPr>
          <a:xfrm>
            <a:off x="7752080" y="2551734"/>
            <a:ext cx="0" cy="5648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F249FEC-4DC7-E7B1-3BB0-5E512CD709F8}"/>
              </a:ext>
            </a:extLst>
          </p:cNvPr>
          <p:cNvSpPr/>
          <p:nvPr/>
        </p:nvSpPr>
        <p:spPr>
          <a:xfrm>
            <a:off x="5425440" y="1757506"/>
            <a:ext cx="264160" cy="26453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F74190D-EDC1-FC59-7AFE-028F03D1C459}"/>
              </a:ext>
            </a:extLst>
          </p:cNvPr>
          <p:cNvCxnSpPr>
            <a:stCxn id="20" idx="3"/>
          </p:cNvCxnSpPr>
          <p:nvPr/>
        </p:nvCxnSpPr>
        <p:spPr>
          <a:xfrm flipV="1">
            <a:off x="5689600" y="1889775"/>
            <a:ext cx="436880" cy="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C5F835B-5BF8-5BF0-AEB2-FF7AF0A5327C}"/>
              </a:ext>
            </a:extLst>
          </p:cNvPr>
          <p:cNvCxnSpPr>
            <a:cxnSpLocks/>
          </p:cNvCxnSpPr>
          <p:nvPr/>
        </p:nvCxnSpPr>
        <p:spPr>
          <a:xfrm>
            <a:off x="6126480" y="1889775"/>
            <a:ext cx="0" cy="59942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6162052-4E00-A39D-4D71-FAAE73C7123A}"/>
              </a:ext>
            </a:extLst>
          </p:cNvPr>
          <p:cNvCxnSpPr>
            <a:cxnSpLocks/>
          </p:cNvCxnSpPr>
          <p:nvPr/>
        </p:nvCxnSpPr>
        <p:spPr>
          <a:xfrm>
            <a:off x="6126480" y="2489200"/>
            <a:ext cx="1558325" cy="2056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02494E8-39D4-CDA4-FA5E-D322184DCC1A}"/>
              </a:ext>
            </a:extLst>
          </p:cNvPr>
          <p:cNvCxnSpPr>
            <a:cxnSpLocks/>
          </p:cNvCxnSpPr>
          <p:nvPr/>
        </p:nvCxnSpPr>
        <p:spPr>
          <a:xfrm>
            <a:off x="6914561" y="2124758"/>
            <a:ext cx="0" cy="37472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FBDF89-1E85-7858-3857-95316B055C8D}"/>
              </a:ext>
            </a:extLst>
          </p:cNvPr>
          <p:cNvCxnSpPr>
            <a:cxnSpLocks/>
          </p:cNvCxnSpPr>
          <p:nvPr/>
        </p:nvCxnSpPr>
        <p:spPr>
          <a:xfrm>
            <a:off x="5689600" y="1836896"/>
            <a:ext cx="51184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7960931-404D-C970-FA3A-E573D2742DF7}"/>
              </a:ext>
            </a:extLst>
          </p:cNvPr>
          <p:cNvCxnSpPr>
            <a:cxnSpLocks/>
          </p:cNvCxnSpPr>
          <p:nvPr/>
        </p:nvCxnSpPr>
        <p:spPr>
          <a:xfrm>
            <a:off x="7885465" y="2452537"/>
            <a:ext cx="0" cy="67127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9121BD0-04BE-0472-5174-2D2B3AF73D8C}"/>
              </a:ext>
            </a:extLst>
          </p:cNvPr>
          <p:cNvCxnSpPr>
            <a:cxnSpLocks/>
          </p:cNvCxnSpPr>
          <p:nvPr/>
        </p:nvCxnSpPr>
        <p:spPr>
          <a:xfrm>
            <a:off x="6201445" y="1836896"/>
            <a:ext cx="0" cy="59488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253BEC2-243B-01FE-1C2F-EA6E1851A799}"/>
              </a:ext>
            </a:extLst>
          </p:cNvPr>
          <p:cNvCxnSpPr>
            <a:cxnSpLocks/>
          </p:cNvCxnSpPr>
          <p:nvPr/>
        </p:nvCxnSpPr>
        <p:spPr>
          <a:xfrm>
            <a:off x="6201444" y="2431780"/>
            <a:ext cx="1691964" cy="2075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8D5A20B-B049-2879-C37F-CAC15A6A672B}"/>
              </a:ext>
            </a:extLst>
          </p:cNvPr>
          <p:cNvCxnSpPr>
            <a:cxnSpLocks/>
          </p:cNvCxnSpPr>
          <p:nvPr/>
        </p:nvCxnSpPr>
        <p:spPr>
          <a:xfrm>
            <a:off x="7044136" y="2134338"/>
            <a:ext cx="3290" cy="30782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D40CC0E-7C6E-4436-BCF7-36F35FBDC27D}"/>
              </a:ext>
            </a:extLst>
          </p:cNvPr>
          <p:cNvCxnSpPr>
            <a:cxnSpLocks/>
          </p:cNvCxnSpPr>
          <p:nvPr/>
        </p:nvCxnSpPr>
        <p:spPr>
          <a:xfrm>
            <a:off x="5689600" y="1942654"/>
            <a:ext cx="3530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21E8292C-D33F-C603-6C6A-181728421FE5}"/>
              </a:ext>
            </a:extLst>
          </p:cNvPr>
          <p:cNvCxnSpPr>
            <a:cxnSpLocks/>
          </p:cNvCxnSpPr>
          <p:nvPr/>
        </p:nvCxnSpPr>
        <p:spPr>
          <a:xfrm>
            <a:off x="6042660" y="1942654"/>
            <a:ext cx="0" cy="6094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9F1AB57-8C60-ECC6-BC6A-53120F3E2CAD}"/>
              </a:ext>
            </a:extLst>
          </p:cNvPr>
          <p:cNvCxnSpPr>
            <a:cxnSpLocks/>
          </p:cNvCxnSpPr>
          <p:nvPr/>
        </p:nvCxnSpPr>
        <p:spPr>
          <a:xfrm>
            <a:off x="6048001" y="2541803"/>
            <a:ext cx="1704079" cy="1683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119D559-C6E2-BA2F-449E-816D84158164}"/>
              </a:ext>
            </a:extLst>
          </p:cNvPr>
          <p:cNvCxnSpPr>
            <a:cxnSpLocks/>
          </p:cNvCxnSpPr>
          <p:nvPr/>
        </p:nvCxnSpPr>
        <p:spPr>
          <a:xfrm>
            <a:off x="7159671" y="2124758"/>
            <a:ext cx="2540" cy="4338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150104C-0626-A8EC-9C02-A84F715983B8}"/>
              </a:ext>
            </a:extLst>
          </p:cNvPr>
          <p:cNvCxnSpPr>
            <a:cxnSpLocks/>
          </p:cNvCxnSpPr>
          <p:nvPr/>
        </p:nvCxnSpPr>
        <p:spPr>
          <a:xfrm flipH="1">
            <a:off x="5102860" y="1988836"/>
            <a:ext cx="3225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BE19A105-E66C-8954-82F4-D3612B63C69F}"/>
              </a:ext>
            </a:extLst>
          </p:cNvPr>
          <p:cNvSpPr txBox="1"/>
          <p:nvPr/>
        </p:nvSpPr>
        <p:spPr>
          <a:xfrm>
            <a:off x="4472477" y="2059735"/>
            <a:ext cx="398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PC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224F511-B992-A9BE-5C02-6DC13F1AC8BC}"/>
              </a:ext>
            </a:extLst>
          </p:cNvPr>
          <p:cNvSpPr txBox="1"/>
          <p:nvPr/>
        </p:nvSpPr>
        <p:spPr>
          <a:xfrm>
            <a:off x="4963117" y="1473942"/>
            <a:ext cx="1328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D008927-9DF2-9DB5-BE45-1FAF44624EC6}"/>
              </a:ext>
            </a:extLst>
          </p:cNvPr>
          <p:cNvSpPr txBox="1"/>
          <p:nvPr/>
        </p:nvSpPr>
        <p:spPr>
          <a:xfrm>
            <a:off x="6999717" y="1069866"/>
            <a:ext cx="1328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</p:spTree>
    <p:extLst>
      <p:ext uri="{BB962C8B-B14F-4D97-AF65-F5344CB8AC3E}">
        <p14:creationId xmlns:p14="http://schemas.microsoft.com/office/powerpoint/2010/main" val="2397432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C5E6-0DE1-4F1C-6F44-3FB16C6D9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FE16BF0-5CAC-E27D-2BCA-C7ECB900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D8848-C6E0-0932-C016-8417CD84F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8DFD7F1-F1BC-C854-C94A-8AED674D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52021D-76B4-A12E-592D-D2F8076D4D8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2191DD-FD6C-D2E8-D7D5-F517800D6FC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92E44C-346A-328C-2F65-C1AA752EFAE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D5999F-74D6-8034-1956-8C86720C2FF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BE6537-99FB-9A80-B717-CE3001CCA985}"/>
              </a:ext>
            </a:extLst>
          </p:cNvPr>
          <p:cNvSpPr txBox="1"/>
          <p:nvPr/>
        </p:nvSpPr>
        <p:spPr>
          <a:xfrm>
            <a:off x="452411" y="1241427"/>
            <a:ext cx="3030260" cy="480131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Matériel :</a:t>
            </a:r>
          </a:p>
          <a:p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u="sng" dirty="0"/>
              <a:t>Déjà possédé :</a:t>
            </a:r>
          </a:p>
          <a:p>
            <a:endParaRPr lang="fr-FR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Corde Métallique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Mécaniques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Micros (Simple &amp; Double)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Ordinateur Portable</a:t>
            </a:r>
          </a:p>
          <a:p>
            <a:r>
              <a:rPr lang="fr-FR" b="1" dirty="0"/>
              <a:t> </a:t>
            </a:r>
          </a:p>
          <a:p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u="sng" dirty="0"/>
              <a:t>Reste à trouver :</a:t>
            </a:r>
          </a:p>
          <a:p>
            <a:endParaRPr lang="fr-FR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Système d’excitation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Solénoïde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Carte d’acquisition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Oscilloscope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E3331A-21AD-415B-5CCD-8DDBAF25B1BD}"/>
              </a:ext>
            </a:extLst>
          </p:cNvPr>
          <p:cNvSpPr txBox="1"/>
          <p:nvPr/>
        </p:nvSpPr>
        <p:spPr>
          <a:xfrm>
            <a:off x="3759200" y="4565413"/>
            <a:ext cx="506454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1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A7D672-DB9E-6FA4-2544-BDB36C527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421" y="2951290"/>
            <a:ext cx="5628641" cy="816991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703E7DF-C581-8ECA-6134-BEB0EE50D07B}"/>
              </a:ext>
            </a:extLst>
          </p:cNvPr>
          <p:cNvCxnSpPr>
            <a:cxnSpLocks/>
          </p:cNvCxnSpPr>
          <p:nvPr/>
        </p:nvCxnSpPr>
        <p:spPr>
          <a:xfrm>
            <a:off x="7684805" y="2502535"/>
            <a:ext cx="0" cy="61404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3116245-F618-0625-394A-CE37C22D5A73}"/>
              </a:ext>
            </a:extLst>
          </p:cNvPr>
          <p:cNvSpPr/>
          <p:nvPr/>
        </p:nvSpPr>
        <p:spPr>
          <a:xfrm>
            <a:off x="6775443" y="1390254"/>
            <a:ext cx="1841586" cy="734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070ED70-041D-8735-EE73-DC8C6A1843A2}"/>
              </a:ext>
            </a:extLst>
          </p:cNvPr>
          <p:cNvSpPr/>
          <p:nvPr/>
        </p:nvSpPr>
        <p:spPr>
          <a:xfrm>
            <a:off x="6775443" y="1534517"/>
            <a:ext cx="1841585" cy="477163"/>
          </a:xfrm>
          <a:custGeom>
            <a:avLst/>
            <a:gdLst>
              <a:gd name="connsiteX0" fmla="*/ 0 w 1875580"/>
              <a:gd name="connsiteY0" fmla="*/ 477163 h 477163"/>
              <a:gd name="connsiteX1" fmla="*/ 198782 w 1875580"/>
              <a:gd name="connsiteY1" fmla="*/ 23939 h 477163"/>
              <a:gd name="connsiteX2" fmla="*/ 421419 w 1875580"/>
              <a:gd name="connsiteY2" fmla="*/ 405601 h 477163"/>
              <a:gd name="connsiteX3" fmla="*/ 588396 w 1875580"/>
              <a:gd name="connsiteY3" fmla="*/ 8036 h 477163"/>
              <a:gd name="connsiteX4" fmla="*/ 779228 w 1875580"/>
              <a:gd name="connsiteY4" fmla="*/ 373796 h 477163"/>
              <a:gd name="connsiteX5" fmla="*/ 930302 w 1875580"/>
              <a:gd name="connsiteY5" fmla="*/ 85 h 477163"/>
              <a:gd name="connsiteX6" fmla="*/ 1160890 w 1875580"/>
              <a:gd name="connsiteY6" fmla="*/ 413553 h 477163"/>
              <a:gd name="connsiteX7" fmla="*/ 1264257 w 1875580"/>
              <a:gd name="connsiteY7" fmla="*/ 8036 h 477163"/>
              <a:gd name="connsiteX8" fmla="*/ 1478942 w 1875580"/>
              <a:gd name="connsiteY8" fmla="*/ 389699 h 477163"/>
              <a:gd name="connsiteX9" fmla="*/ 1574358 w 1875580"/>
              <a:gd name="connsiteY9" fmla="*/ 8036 h 477163"/>
              <a:gd name="connsiteX10" fmla="*/ 1741335 w 1875580"/>
              <a:gd name="connsiteY10" fmla="*/ 373796 h 477163"/>
              <a:gd name="connsiteX11" fmla="*/ 1852654 w 1875580"/>
              <a:gd name="connsiteY11" fmla="*/ 206819 h 477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75580" h="477163">
                <a:moveTo>
                  <a:pt x="0" y="477163"/>
                </a:moveTo>
                <a:cubicBezTo>
                  <a:pt x="64273" y="256514"/>
                  <a:pt x="128546" y="35866"/>
                  <a:pt x="198782" y="23939"/>
                </a:cubicBezTo>
                <a:cubicBezTo>
                  <a:pt x="269018" y="12012"/>
                  <a:pt x="356483" y="408251"/>
                  <a:pt x="421419" y="405601"/>
                </a:cubicBezTo>
                <a:cubicBezTo>
                  <a:pt x="486355" y="402950"/>
                  <a:pt x="528761" y="13337"/>
                  <a:pt x="588396" y="8036"/>
                </a:cubicBezTo>
                <a:cubicBezTo>
                  <a:pt x="648031" y="2735"/>
                  <a:pt x="722244" y="375121"/>
                  <a:pt x="779228" y="373796"/>
                </a:cubicBezTo>
                <a:cubicBezTo>
                  <a:pt x="836212" y="372471"/>
                  <a:pt x="866692" y="-6541"/>
                  <a:pt x="930302" y="85"/>
                </a:cubicBezTo>
                <a:cubicBezTo>
                  <a:pt x="993912" y="6711"/>
                  <a:pt x="1105231" y="412228"/>
                  <a:pt x="1160890" y="413553"/>
                </a:cubicBezTo>
                <a:cubicBezTo>
                  <a:pt x="1216549" y="414878"/>
                  <a:pt x="1211248" y="12012"/>
                  <a:pt x="1264257" y="8036"/>
                </a:cubicBezTo>
                <a:cubicBezTo>
                  <a:pt x="1317266" y="4060"/>
                  <a:pt x="1427259" y="389699"/>
                  <a:pt x="1478942" y="389699"/>
                </a:cubicBezTo>
                <a:cubicBezTo>
                  <a:pt x="1530625" y="389699"/>
                  <a:pt x="1530626" y="10686"/>
                  <a:pt x="1574358" y="8036"/>
                </a:cubicBezTo>
                <a:cubicBezTo>
                  <a:pt x="1618090" y="5386"/>
                  <a:pt x="1694952" y="340665"/>
                  <a:pt x="1741335" y="373796"/>
                </a:cubicBezTo>
                <a:cubicBezTo>
                  <a:pt x="1787718" y="406927"/>
                  <a:pt x="1930842" y="164412"/>
                  <a:pt x="1852654" y="206819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Graphic 18" descr="Laptop with solid fill">
            <a:extLst>
              <a:ext uri="{FF2B5EF4-FFF2-40B4-BE49-F238E27FC236}">
                <a16:creationId xmlns:a16="http://schemas.microsoft.com/office/drawing/2014/main" id="{1475BB62-8833-C74B-33F3-5FF5E6BC8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4657" y="1305513"/>
            <a:ext cx="914400" cy="914400"/>
          </a:xfrm>
          <a:prstGeom prst="rect">
            <a:avLst/>
          </a:prstGeom>
        </p:spPr>
      </p:pic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DB22A42-8AE1-16F0-3819-E6BDA471ADB7}"/>
              </a:ext>
            </a:extLst>
          </p:cNvPr>
          <p:cNvCxnSpPr>
            <a:cxnSpLocks/>
          </p:cNvCxnSpPr>
          <p:nvPr/>
        </p:nvCxnSpPr>
        <p:spPr>
          <a:xfrm>
            <a:off x="7752080" y="2551734"/>
            <a:ext cx="0" cy="5648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463684D-63E0-72BE-8912-85CC2694CE45}"/>
              </a:ext>
            </a:extLst>
          </p:cNvPr>
          <p:cNvSpPr/>
          <p:nvPr/>
        </p:nvSpPr>
        <p:spPr>
          <a:xfrm>
            <a:off x="5425440" y="1757506"/>
            <a:ext cx="264160" cy="26453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200402-FF58-CD75-C6BE-09AAABD735E7}"/>
              </a:ext>
            </a:extLst>
          </p:cNvPr>
          <p:cNvGrpSpPr/>
          <p:nvPr/>
        </p:nvGrpSpPr>
        <p:grpSpPr>
          <a:xfrm>
            <a:off x="6849792" y="3032198"/>
            <a:ext cx="2135121" cy="629737"/>
            <a:chOff x="5078985" y="3438238"/>
            <a:chExt cx="2135121" cy="629737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AD45FAD-CA9A-7A67-1473-B08926A9FC10}"/>
                </a:ext>
              </a:extLst>
            </p:cNvPr>
            <p:cNvGrpSpPr/>
            <p:nvPr/>
          </p:nvGrpSpPr>
          <p:grpSpPr>
            <a:xfrm>
              <a:off x="5124704" y="3442378"/>
              <a:ext cx="2048256" cy="625597"/>
              <a:chOff x="5205984" y="3429000"/>
              <a:chExt cx="2048256" cy="625597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32FB9EC-FB62-0BBE-3635-833EE85C04B4}"/>
                  </a:ext>
                </a:extLst>
              </p:cNvPr>
              <p:cNvSpPr/>
              <p:nvPr/>
            </p:nvSpPr>
            <p:spPr>
              <a:xfrm>
                <a:off x="5205984" y="3429000"/>
                <a:ext cx="2048256" cy="625597"/>
              </a:xfrm>
              <a:prstGeom prst="rect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F4CE526B-C7B7-5965-8A5B-23CEC40E11DD}"/>
                  </a:ext>
                </a:extLst>
              </p:cNvPr>
              <p:cNvCxnSpPr/>
              <p:nvPr/>
            </p:nvCxnSpPr>
            <p:spPr>
              <a:xfrm>
                <a:off x="52669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40A5E00-828F-9433-84B2-94C228A8E334}"/>
                  </a:ext>
                </a:extLst>
              </p:cNvPr>
              <p:cNvCxnSpPr/>
              <p:nvPr/>
            </p:nvCxnSpPr>
            <p:spPr>
              <a:xfrm>
                <a:off x="53355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7323253-CAAB-84B6-3CE1-A355AA5AF0E6}"/>
                  </a:ext>
                </a:extLst>
              </p:cNvPr>
              <p:cNvCxnSpPr/>
              <p:nvPr/>
            </p:nvCxnSpPr>
            <p:spPr>
              <a:xfrm>
                <a:off x="54041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FCA6A60-9717-FA4E-FDD2-7FFA543287BB}"/>
                  </a:ext>
                </a:extLst>
              </p:cNvPr>
              <p:cNvCxnSpPr/>
              <p:nvPr/>
            </p:nvCxnSpPr>
            <p:spPr>
              <a:xfrm>
                <a:off x="54726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FB0CE6BC-88EC-65BD-D78A-0A52A691C584}"/>
                  </a:ext>
                </a:extLst>
              </p:cNvPr>
              <p:cNvCxnSpPr/>
              <p:nvPr/>
            </p:nvCxnSpPr>
            <p:spPr>
              <a:xfrm>
                <a:off x="554126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9FC59CD-F71E-3DE2-1263-A0F6EAFC6246}"/>
                  </a:ext>
                </a:extLst>
              </p:cNvPr>
              <p:cNvCxnSpPr/>
              <p:nvPr/>
            </p:nvCxnSpPr>
            <p:spPr>
              <a:xfrm>
                <a:off x="56098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5181CDB-38F1-E9C9-0231-02972CAB93CA}"/>
                  </a:ext>
                </a:extLst>
              </p:cNvPr>
              <p:cNvCxnSpPr/>
              <p:nvPr/>
            </p:nvCxnSpPr>
            <p:spPr>
              <a:xfrm>
                <a:off x="56784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219ED1D8-B1A8-65CD-3B7D-20E3C10663B8}"/>
                  </a:ext>
                </a:extLst>
              </p:cNvPr>
              <p:cNvCxnSpPr/>
              <p:nvPr/>
            </p:nvCxnSpPr>
            <p:spPr>
              <a:xfrm>
                <a:off x="57470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0FBF310-A56E-711D-12C1-CB788ACED06C}"/>
                  </a:ext>
                </a:extLst>
              </p:cNvPr>
              <p:cNvCxnSpPr/>
              <p:nvPr/>
            </p:nvCxnSpPr>
            <p:spPr>
              <a:xfrm>
                <a:off x="58155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33F292D-BD97-5B44-B7B8-223F65EBBB2A}"/>
                  </a:ext>
                </a:extLst>
              </p:cNvPr>
              <p:cNvCxnSpPr/>
              <p:nvPr/>
            </p:nvCxnSpPr>
            <p:spPr>
              <a:xfrm>
                <a:off x="588416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94E6A3B-0D79-176E-9CB2-5FED00B887FC}"/>
                  </a:ext>
                </a:extLst>
              </p:cNvPr>
              <p:cNvCxnSpPr/>
              <p:nvPr/>
            </p:nvCxnSpPr>
            <p:spPr>
              <a:xfrm>
                <a:off x="59527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E7ED7BD-4003-C50B-C269-3AC26B61DD09}"/>
                  </a:ext>
                </a:extLst>
              </p:cNvPr>
              <p:cNvCxnSpPr/>
              <p:nvPr/>
            </p:nvCxnSpPr>
            <p:spPr>
              <a:xfrm>
                <a:off x="60213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21AB024A-C405-9FD0-2A21-44470537A5ED}"/>
                  </a:ext>
                </a:extLst>
              </p:cNvPr>
              <p:cNvCxnSpPr/>
              <p:nvPr/>
            </p:nvCxnSpPr>
            <p:spPr>
              <a:xfrm>
                <a:off x="60899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2E512DD-0CBB-21B0-325D-00607F2FF849}"/>
                  </a:ext>
                </a:extLst>
              </p:cNvPr>
              <p:cNvCxnSpPr/>
              <p:nvPr/>
            </p:nvCxnSpPr>
            <p:spPr>
              <a:xfrm>
                <a:off x="61584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A820C23E-FFBE-CF0A-93B9-B1BE951C4FFB}"/>
                  </a:ext>
                </a:extLst>
              </p:cNvPr>
              <p:cNvCxnSpPr/>
              <p:nvPr/>
            </p:nvCxnSpPr>
            <p:spPr>
              <a:xfrm>
                <a:off x="622706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725A34C0-D060-C509-6C1C-EA74031011A1}"/>
                  </a:ext>
                </a:extLst>
              </p:cNvPr>
              <p:cNvCxnSpPr/>
              <p:nvPr/>
            </p:nvCxnSpPr>
            <p:spPr>
              <a:xfrm>
                <a:off x="62956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5391525B-2552-AB02-F8CD-E31001DD1B89}"/>
                  </a:ext>
                </a:extLst>
              </p:cNvPr>
              <p:cNvCxnSpPr/>
              <p:nvPr/>
            </p:nvCxnSpPr>
            <p:spPr>
              <a:xfrm>
                <a:off x="63642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77B0E3F-2996-2B13-3735-BBE87172035D}"/>
                  </a:ext>
                </a:extLst>
              </p:cNvPr>
              <p:cNvCxnSpPr/>
              <p:nvPr/>
            </p:nvCxnSpPr>
            <p:spPr>
              <a:xfrm>
                <a:off x="64328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AE3A217-3914-51BE-7A90-C1F74E328B78}"/>
                  </a:ext>
                </a:extLst>
              </p:cNvPr>
              <p:cNvCxnSpPr/>
              <p:nvPr/>
            </p:nvCxnSpPr>
            <p:spPr>
              <a:xfrm>
                <a:off x="65013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55ECD927-C128-FE8B-D8F2-8043127DB835}"/>
                  </a:ext>
                </a:extLst>
              </p:cNvPr>
              <p:cNvCxnSpPr/>
              <p:nvPr/>
            </p:nvCxnSpPr>
            <p:spPr>
              <a:xfrm>
                <a:off x="656996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5C9FBE32-B648-7DB5-26F0-742B6359F4EB}"/>
                  </a:ext>
                </a:extLst>
              </p:cNvPr>
              <p:cNvCxnSpPr/>
              <p:nvPr/>
            </p:nvCxnSpPr>
            <p:spPr>
              <a:xfrm>
                <a:off x="66385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D85C51F-3A18-DBA6-0908-F257DB50DE18}"/>
                  </a:ext>
                </a:extLst>
              </p:cNvPr>
              <p:cNvCxnSpPr/>
              <p:nvPr/>
            </p:nvCxnSpPr>
            <p:spPr>
              <a:xfrm>
                <a:off x="67071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ADD1E8E0-DFA7-B96A-F04E-7CE07E6EAF48}"/>
                  </a:ext>
                </a:extLst>
              </p:cNvPr>
              <p:cNvCxnSpPr/>
              <p:nvPr/>
            </p:nvCxnSpPr>
            <p:spPr>
              <a:xfrm>
                <a:off x="67757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11CF5D5-BABC-698C-FD1A-55F6A77B321E}"/>
                  </a:ext>
                </a:extLst>
              </p:cNvPr>
              <p:cNvCxnSpPr/>
              <p:nvPr/>
            </p:nvCxnSpPr>
            <p:spPr>
              <a:xfrm>
                <a:off x="68442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6F71AAEA-7784-BF18-F1B2-BC990DBB99D7}"/>
                  </a:ext>
                </a:extLst>
              </p:cNvPr>
              <p:cNvCxnSpPr/>
              <p:nvPr/>
            </p:nvCxnSpPr>
            <p:spPr>
              <a:xfrm>
                <a:off x="691286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0B9C6918-EA6A-3B33-B71B-E22469F76D3F}"/>
                  </a:ext>
                </a:extLst>
              </p:cNvPr>
              <p:cNvCxnSpPr/>
              <p:nvPr/>
            </p:nvCxnSpPr>
            <p:spPr>
              <a:xfrm>
                <a:off x="698144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9E844B00-B8E6-1118-2EFA-42388EA2BEC8}"/>
                  </a:ext>
                </a:extLst>
              </p:cNvPr>
              <p:cNvCxnSpPr/>
              <p:nvPr/>
            </p:nvCxnSpPr>
            <p:spPr>
              <a:xfrm>
                <a:off x="705002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B7A4179-2DC9-4AD2-FA4B-BC7F3BEB1833}"/>
                  </a:ext>
                </a:extLst>
              </p:cNvPr>
              <p:cNvCxnSpPr/>
              <p:nvPr/>
            </p:nvCxnSpPr>
            <p:spPr>
              <a:xfrm>
                <a:off x="711860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5A8B308-F48D-C1B0-DC2C-656534FEEA2C}"/>
                  </a:ext>
                </a:extLst>
              </p:cNvPr>
              <p:cNvCxnSpPr/>
              <p:nvPr/>
            </p:nvCxnSpPr>
            <p:spPr>
              <a:xfrm>
                <a:off x="7187184" y="3429000"/>
                <a:ext cx="0" cy="625597"/>
              </a:xfrm>
              <a:prstGeom prst="line">
                <a:avLst/>
              </a:prstGeom>
              <a:ln>
                <a:solidFill>
                  <a:srgbClr val="CC66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77CF9E1-8ECE-CEAD-4418-DAA01C8560FB}"/>
                </a:ext>
              </a:extLst>
            </p:cNvPr>
            <p:cNvSpPr/>
            <p:nvPr/>
          </p:nvSpPr>
          <p:spPr>
            <a:xfrm>
              <a:off x="5078985" y="3442378"/>
              <a:ext cx="45719" cy="625596"/>
            </a:xfrm>
            <a:prstGeom prst="ellipse">
              <a:avLst/>
            </a:prstGeom>
            <a:noFill/>
            <a:ln>
              <a:solidFill>
                <a:srgbClr val="CC6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E93250B-D5A9-89D5-0D61-8CCA23667EB5}"/>
                </a:ext>
              </a:extLst>
            </p:cNvPr>
            <p:cNvSpPr/>
            <p:nvPr/>
          </p:nvSpPr>
          <p:spPr>
            <a:xfrm>
              <a:off x="7168387" y="3438238"/>
              <a:ext cx="45719" cy="625596"/>
            </a:xfrm>
            <a:prstGeom prst="ellipse">
              <a:avLst/>
            </a:prstGeom>
            <a:noFill/>
            <a:ln>
              <a:solidFill>
                <a:srgbClr val="CC6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30619061-DE82-FF4E-31BD-5B2B89D30BC8}"/>
              </a:ext>
            </a:extLst>
          </p:cNvPr>
          <p:cNvSpPr/>
          <p:nvPr/>
        </p:nvSpPr>
        <p:spPr>
          <a:xfrm>
            <a:off x="4913057" y="3742170"/>
            <a:ext cx="540000" cy="540000"/>
          </a:xfrm>
          <a:prstGeom prst="ellipse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700" b="1" dirty="0"/>
              <a:t>GBF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9F7618B-D6AE-3FB6-F8B6-CF92EA427779}"/>
              </a:ext>
            </a:extLst>
          </p:cNvPr>
          <p:cNvCxnSpPr>
            <a:stCxn id="4" idx="6"/>
          </p:cNvCxnSpPr>
          <p:nvPr/>
        </p:nvCxnSpPr>
        <p:spPr>
          <a:xfrm>
            <a:off x="5453057" y="4012170"/>
            <a:ext cx="144245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335F79-FF09-C52A-FFC4-CBB7D46008FB}"/>
              </a:ext>
            </a:extLst>
          </p:cNvPr>
          <p:cNvCxnSpPr>
            <a:cxnSpLocks/>
          </p:cNvCxnSpPr>
          <p:nvPr/>
        </p:nvCxnSpPr>
        <p:spPr>
          <a:xfrm flipV="1">
            <a:off x="6887139" y="3657794"/>
            <a:ext cx="2277" cy="35437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89060DD-04B9-A3D8-F6F2-13FB97FF8149}"/>
              </a:ext>
            </a:extLst>
          </p:cNvPr>
          <p:cNvCxnSpPr>
            <a:cxnSpLocks/>
          </p:cNvCxnSpPr>
          <p:nvPr/>
        </p:nvCxnSpPr>
        <p:spPr>
          <a:xfrm>
            <a:off x="5453057" y="4038840"/>
            <a:ext cx="350688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57B2373-93B5-C448-D418-D627D4348FE0}"/>
              </a:ext>
            </a:extLst>
          </p:cNvPr>
          <p:cNvCxnSpPr>
            <a:cxnSpLocks/>
            <a:endCxn id="56" idx="4"/>
          </p:cNvCxnSpPr>
          <p:nvPr/>
        </p:nvCxnSpPr>
        <p:spPr>
          <a:xfrm flipV="1">
            <a:off x="8959938" y="3657794"/>
            <a:ext cx="2116" cy="3810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9526FF-5DD6-F3EB-E786-284298492EE8}"/>
              </a:ext>
            </a:extLst>
          </p:cNvPr>
          <p:cNvCxnSpPr>
            <a:stCxn id="20" idx="3"/>
          </p:cNvCxnSpPr>
          <p:nvPr/>
        </p:nvCxnSpPr>
        <p:spPr>
          <a:xfrm flipV="1">
            <a:off x="5689600" y="1889775"/>
            <a:ext cx="436880" cy="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2D4097B-8585-0567-481D-39D0CD35E883}"/>
              </a:ext>
            </a:extLst>
          </p:cNvPr>
          <p:cNvCxnSpPr>
            <a:cxnSpLocks/>
          </p:cNvCxnSpPr>
          <p:nvPr/>
        </p:nvCxnSpPr>
        <p:spPr>
          <a:xfrm>
            <a:off x="6126480" y="1889775"/>
            <a:ext cx="0" cy="59942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81531F3-F4E5-8012-D987-237A398B5D5F}"/>
              </a:ext>
            </a:extLst>
          </p:cNvPr>
          <p:cNvCxnSpPr>
            <a:cxnSpLocks/>
          </p:cNvCxnSpPr>
          <p:nvPr/>
        </p:nvCxnSpPr>
        <p:spPr>
          <a:xfrm>
            <a:off x="6126480" y="2489200"/>
            <a:ext cx="1558325" cy="2056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1564213-6302-4937-77BB-1A3B21E95F2E}"/>
              </a:ext>
            </a:extLst>
          </p:cNvPr>
          <p:cNvCxnSpPr>
            <a:cxnSpLocks/>
          </p:cNvCxnSpPr>
          <p:nvPr/>
        </p:nvCxnSpPr>
        <p:spPr>
          <a:xfrm>
            <a:off x="6914561" y="2124758"/>
            <a:ext cx="0" cy="37472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C9288F7-64DE-7D75-EFB0-2FC3D12D0895}"/>
              </a:ext>
            </a:extLst>
          </p:cNvPr>
          <p:cNvCxnSpPr>
            <a:cxnSpLocks/>
          </p:cNvCxnSpPr>
          <p:nvPr/>
        </p:nvCxnSpPr>
        <p:spPr>
          <a:xfrm>
            <a:off x="5689600" y="1836896"/>
            <a:ext cx="51184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B031C1A-3E84-1AB0-C7BA-D77F142B8BE8}"/>
              </a:ext>
            </a:extLst>
          </p:cNvPr>
          <p:cNvCxnSpPr>
            <a:cxnSpLocks/>
          </p:cNvCxnSpPr>
          <p:nvPr/>
        </p:nvCxnSpPr>
        <p:spPr>
          <a:xfrm>
            <a:off x="7885465" y="2452537"/>
            <a:ext cx="0" cy="67127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3659638-109D-3E3A-F406-3E1BFCBB6422}"/>
              </a:ext>
            </a:extLst>
          </p:cNvPr>
          <p:cNvCxnSpPr>
            <a:cxnSpLocks/>
          </p:cNvCxnSpPr>
          <p:nvPr/>
        </p:nvCxnSpPr>
        <p:spPr>
          <a:xfrm>
            <a:off x="6201445" y="1836896"/>
            <a:ext cx="0" cy="59488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0859230-5D7E-699B-A84F-1B5304068FA8}"/>
              </a:ext>
            </a:extLst>
          </p:cNvPr>
          <p:cNvCxnSpPr>
            <a:cxnSpLocks/>
          </p:cNvCxnSpPr>
          <p:nvPr/>
        </p:nvCxnSpPr>
        <p:spPr>
          <a:xfrm>
            <a:off x="6201444" y="2431780"/>
            <a:ext cx="1691964" cy="2075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19C40D7-35A4-8C21-B2D8-101FE563A7EA}"/>
              </a:ext>
            </a:extLst>
          </p:cNvPr>
          <p:cNvCxnSpPr>
            <a:cxnSpLocks/>
          </p:cNvCxnSpPr>
          <p:nvPr/>
        </p:nvCxnSpPr>
        <p:spPr>
          <a:xfrm>
            <a:off x="7044136" y="2134338"/>
            <a:ext cx="3290" cy="30782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853CCC1-C170-8C6E-BFF1-1CB34AC117C7}"/>
              </a:ext>
            </a:extLst>
          </p:cNvPr>
          <p:cNvCxnSpPr>
            <a:cxnSpLocks/>
          </p:cNvCxnSpPr>
          <p:nvPr/>
        </p:nvCxnSpPr>
        <p:spPr>
          <a:xfrm>
            <a:off x="5689600" y="1942654"/>
            <a:ext cx="3530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FFEE373-16D8-7AAA-3C79-94BDEC026060}"/>
              </a:ext>
            </a:extLst>
          </p:cNvPr>
          <p:cNvCxnSpPr>
            <a:cxnSpLocks/>
          </p:cNvCxnSpPr>
          <p:nvPr/>
        </p:nvCxnSpPr>
        <p:spPr>
          <a:xfrm>
            <a:off x="6042660" y="1942654"/>
            <a:ext cx="0" cy="6094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24C8C20-D7AC-07FF-17E7-CD7B19CEDAED}"/>
              </a:ext>
            </a:extLst>
          </p:cNvPr>
          <p:cNvCxnSpPr>
            <a:cxnSpLocks/>
          </p:cNvCxnSpPr>
          <p:nvPr/>
        </p:nvCxnSpPr>
        <p:spPr>
          <a:xfrm>
            <a:off x="6048001" y="2541803"/>
            <a:ext cx="1704079" cy="1683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8DE69F6-73CC-7C59-8557-533E17BFCC89}"/>
              </a:ext>
            </a:extLst>
          </p:cNvPr>
          <p:cNvCxnSpPr>
            <a:cxnSpLocks/>
          </p:cNvCxnSpPr>
          <p:nvPr/>
        </p:nvCxnSpPr>
        <p:spPr>
          <a:xfrm>
            <a:off x="7159671" y="2124758"/>
            <a:ext cx="2540" cy="4338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3066ADC-9E10-FB4B-BC6C-535BD1320A69}"/>
              </a:ext>
            </a:extLst>
          </p:cNvPr>
          <p:cNvCxnSpPr>
            <a:cxnSpLocks/>
          </p:cNvCxnSpPr>
          <p:nvPr/>
        </p:nvCxnSpPr>
        <p:spPr>
          <a:xfrm flipH="1">
            <a:off x="5102860" y="1988836"/>
            <a:ext cx="3225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BEF864ED-6C29-D104-EB65-54C09B62328E}"/>
              </a:ext>
            </a:extLst>
          </p:cNvPr>
          <p:cNvSpPr txBox="1"/>
          <p:nvPr/>
        </p:nvSpPr>
        <p:spPr>
          <a:xfrm>
            <a:off x="4472477" y="2059735"/>
            <a:ext cx="398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PC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F0EEDB0-A4AC-132C-CFBA-4F005C4A6C77}"/>
              </a:ext>
            </a:extLst>
          </p:cNvPr>
          <p:cNvSpPr txBox="1"/>
          <p:nvPr/>
        </p:nvSpPr>
        <p:spPr>
          <a:xfrm>
            <a:off x="4963117" y="1473942"/>
            <a:ext cx="1328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5F5B949-65BA-01E9-A90A-A16A8CFB32F2}"/>
              </a:ext>
            </a:extLst>
          </p:cNvPr>
          <p:cNvSpPr txBox="1"/>
          <p:nvPr/>
        </p:nvSpPr>
        <p:spPr>
          <a:xfrm>
            <a:off x="6999717" y="1069866"/>
            <a:ext cx="1328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</p:spTree>
    <p:extLst>
      <p:ext uri="{BB962C8B-B14F-4D97-AF65-F5344CB8AC3E}">
        <p14:creationId xmlns:p14="http://schemas.microsoft.com/office/powerpoint/2010/main" val="1782830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 </a:t>
            </a:r>
            <a:r>
              <a:rPr lang="fr-FR" sz="1200" dirty="0"/>
              <a:t>P. </a:t>
            </a:r>
            <a:r>
              <a:rPr lang="fr-FR" sz="1200" dirty="0" err="1"/>
              <a:t>Perov</a:t>
            </a:r>
            <a:r>
              <a:rPr lang="fr-FR" sz="1200" dirty="0"/>
              <a:t>, W. Johnson, and N. </a:t>
            </a:r>
            <a:r>
              <a:rPr lang="fr-FR" sz="1200" dirty="0" err="1"/>
              <a:t>Perova</a:t>
            </a:r>
            <a:r>
              <a:rPr lang="fr-FR" sz="1200" dirty="0"/>
              <a:t>-Mello, "The </a:t>
            </a:r>
            <a:r>
              <a:rPr lang="fr-FR" sz="1200" dirty="0" err="1"/>
              <a:t>physics</a:t>
            </a:r>
            <a:r>
              <a:rPr lang="fr-FR" sz="1200" dirty="0"/>
              <a:t> of </a:t>
            </a:r>
            <a:r>
              <a:rPr lang="fr-FR" sz="1200" dirty="0" err="1"/>
              <a:t>guitar</a:t>
            </a:r>
            <a:r>
              <a:rPr lang="fr-FR" sz="1200" dirty="0"/>
              <a:t> string vibrations," </a:t>
            </a:r>
            <a:r>
              <a:rPr lang="fr-FR" sz="1200" i="1" dirty="0"/>
              <a:t>American Journal of </a:t>
            </a:r>
            <a:r>
              <a:rPr lang="fr-FR" sz="1200" i="1" dirty="0" err="1"/>
              <a:t>Physics</a:t>
            </a:r>
            <a:r>
              <a:rPr lang="fr-FR" sz="1200" dirty="0"/>
              <a:t>, vol. 84, pp. 38–43, 2016.</a:t>
            </a:r>
          </a:p>
          <a:p>
            <a:r>
              <a:rPr lang="fr-FR" sz="1200" b="1" dirty="0"/>
              <a:t>[2] </a:t>
            </a:r>
            <a:r>
              <a:rPr lang="fr-FR" sz="1200" dirty="0"/>
              <a:t>T. Ray, J. </a:t>
            </a:r>
            <a:r>
              <a:rPr lang="fr-FR" sz="1200" dirty="0" err="1"/>
              <a:t>Kaljun</a:t>
            </a:r>
            <a:r>
              <a:rPr lang="fr-FR" sz="1200" dirty="0"/>
              <a:t>, and B. </a:t>
            </a:r>
            <a:r>
              <a:rPr lang="fr-FR" sz="1200" dirty="0" err="1"/>
              <a:t>Dolsak</a:t>
            </a:r>
            <a:r>
              <a:rPr lang="fr-FR" sz="1200" dirty="0"/>
              <a:t>, "</a:t>
            </a:r>
            <a:r>
              <a:rPr lang="fr-FR" sz="1200" dirty="0" err="1"/>
              <a:t>Numerical</a:t>
            </a:r>
            <a:r>
              <a:rPr lang="fr-FR" sz="1200" dirty="0"/>
              <a:t> model application to </a:t>
            </a:r>
            <a:r>
              <a:rPr lang="fr-FR" sz="1200" dirty="0" err="1"/>
              <a:t>predict</a:t>
            </a:r>
            <a:r>
              <a:rPr lang="fr-FR" sz="1200" dirty="0"/>
              <a:t> the </a:t>
            </a:r>
            <a:r>
              <a:rPr lang="fr-FR" sz="1200" dirty="0" err="1"/>
              <a:t>sound</a:t>
            </a:r>
            <a:r>
              <a:rPr lang="fr-FR" sz="1200" dirty="0"/>
              <a:t> </a:t>
            </a:r>
            <a:r>
              <a:rPr lang="fr-FR" sz="1200" dirty="0" err="1"/>
              <a:t>quality</a:t>
            </a:r>
            <a:r>
              <a:rPr lang="fr-FR" sz="1200" dirty="0"/>
              <a:t> of an instrument," </a:t>
            </a:r>
            <a:r>
              <a:rPr lang="fr-FR" sz="1200" i="1" dirty="0" err="1"/>
              <a:t>University</a:t>
            </a:r>
            <a:r>
              <a:rPr lang="fr-FR" sz="1200" i="1" dirty="0"/>
              <a:t> of Maribor, </a:t>
            </a:r>
            <a:r>
              <a:rPr lang="fr-FR" sz="1200" i="1" dirty="0" err="1"/>
              <a:t>Faculty</a:t>
            </a:r>
            <a:r>
              <a:rPr lang="fr-FR" sz="1200" i="1" dirty="0"/>
              <a:t> of </a:t>
            </a:r>
            <a:r>
              <a:rPr lang="fr-FR" sz="1200" i="1" dirty="0" err="1"/>
              <a:t>Mechanical</a:t>
            </a:r>
            <a:r>
              <a:rPr lang="fr-FR" sz="1200" i="1" dirty="0"/>
              <a:t> Engineering</a:t>
            </a:r>
            <a:r>
              <a:rPr lang="fr-FR" sz="1200" dirty="0"/>
              <a:t>, </a:t>
            </a:r>
            <a:r>
              <a:rPr lang="fr-FR" sz="1200" dirty="0" err="1"/>
              <a:t>Slovenia</a:t>
            </a:r>
            <a:r>
              <a:rPr lang="fr-FR" sz="1200" dirty="0"/>
              <a:t>.</a:t>
            </a:r>
          </a:p>
          <a:p>
            <a:r>
              <a:rPr lang="fr-FR" sz="1200" b="1" dirty="0"/>
              <a:t>[3] </a:t>
            </a:r>
            <a:r>
              <a:rPr lang="fr-FR" sz="1200" dirty="0"/>
              <a:t>C. </a:t>
            </a:r>
            <a:r>
              <a:rPr lang="fr-FR" sz="1200" dirty="0" err="1"/>
              <a:t>Issanchou</a:t>
            </a:r>
            <a:r>
              <a:rPr lang="fr-FR" sz="1200" dirty="0"/>
              <a:t>, J.-L. Le </a:t>
            </a:r>
            <a:r>
              <a:rPr lang="fr-FR" sz="1200" dirty="0" err="1"/>
              <a:t>Carrou</a:t>
            </a:r>
            <a:r>
              <a:rPr lang="fr-FR" sz="1200" dirty="0"/>
              <a:t>, C. </a:t>
            </a:r>
            <a:r>
              <a:rPr lang="fr-FR" sz="1200" dirty="0" err="1"/>
              <a:t>Touzé</a:t>
            </a:r>
            <a:r>
              <a:rPr lang="fr-FR" sz="1200" dirty="0"/>
              <a:t>, and O. </a:t>
            </a:r>
            <a:r>
              <a:rPr lang="fr-FR" sz="1200" dirty="0" err="1"/>
              <a:t>Doaré</a:t>
            </a:r>
            <a:r>
              <a:rPr lang="fr-FR" sz="1200" dirty="0"/>
              <a:t>, "Étude du contact corde / frette," 2015.</a:t>
            </a:r>
          </a:p>
          <a:p>
            <a:r>
              <a:rPr lang="fr-FR" sz="1200" b="1" dirty="0"/>
              <a:t>[4] </a:t>
            </a:r>
            <a:r>
              <a:rPr lang="fr-FR" sz="1200" dirty="0"/>
              <a:t>Q. </a:t>
            </a:r>
            <a:r>
              <a:rPr lang="fr-FR" sz="1200" dirty="0" err="1"/>
              <a:t>Leclère</a:t>
            </a:r>
            <a:r>
              <a:rPr lang="fr-FR" sz="1200" dirty="0"/>
              <a:t>, J.-L. Le </a:t>
            </a:r>
            <a:r>
              <a:rPr lang="fr-FR" sz="1200" dirty="0" err="1"/>
              <a:t>Carrou</a:t>
            </a:r>
            <a:r>
              <a:rPr lang="fr-FR" sz="1200" dirty="0"/>
              <a:t>, and P.-A. </a:t>
            </a:r>
            <a:r>
              <a:rPr lang="fr-FR" sz="1200" dirty="0" err="1"/>
              <a:t>Roiron</a:t>
            </a:r>
            <a:r>
              <a:rPr lang="fr-FR" sz="1200" dirty="0"/>
              <a:t>, "Caractérisation expérimentale de la réponse d'une corde vibrante sollicitée par un plectre."</a:t>
            </a:r>
          </a:p>
          <a:p>
            <a:r>
              <a:rPr lang="fr-FR" sz="1200" b="1" dirty="0"/>
              <a:t>[5] </a:t>
            </a:r>
            <a:r>
              <a:rPr lang="fr-FR" sz="1200" dirty="0"/>
              <a:t>Thomann, "Thomann Online Music Store.’’ [Online]. </a:t>
            </a:r>
            <a:r>
              <a:rPr lang="fr-FR" sz="1200" dirty="0" err="1"/>
              <a:t>Available</a:t>
            </a:r>
            <a:r>
              <a:rPr lang="fr-FR" sz="1200" dirty="0"/>
              <a:t>: </a:t>
            </a:r>
            <a:r>
              <a:rPr lang="fr-FR" sz="1200" dirty="0">
                <a:hlinkClick r:id="rId2"/>
              </a:rPr>
              <a:t>https://www.thomann.de</a:t>
            </a:r>
            <a:endParaRPr lang="fr-FR" sz="1200" dirty="0"/>
          </a:p>
          <a:p>
            <a:r>
              <a:rPr lang="fr-FR" sz="1200" b="1" dirty="0"/>
              <a:t>[6] </a:t>
            </a:r>
            <a:r>
              <a:rPr lang="fr-FR" sz="1200" dirty="0"/>
              <a:t>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Lover.’’ [Online]. </a:t>
            </a:r>
            <a:r>
              <a:rPr lang="fr-FR" sz="1200" dirty="0" err="1"/>
              <a:t>Available</a:t>
            </a:r>
            <a:r>
              <a:rPr lang="fr-FR" sz="1200" dirty="0"/>
              <a:t>: </a:t>
            </a:r>
            <a:r>
              <a:rPr lang="fr-FR" sz="1200" dirty="0">
                <a:hlinkClick r:id="rId3"/>
              </a:rPr>
              <a:t>https://www.seymourduncan.com</a:t>
            </a:r>
            <a:endParaRPr lang="fr-FR" sz="1200" dirty="0"/>
          </a:p>
          <a:p>
            <a:r>
              <a:rPr lang="fr-FR" sz="1200" b="1" dirty="0"/>
              <a:t>[7] </a:t>
            </a:r>
            <a:r>
              <a:rPr lang="fr-FR" sz="1200" dirty="0" err="1"/>
              <a:t>JavaScience</a:t>
            </a:r>
            <a:r>
              <a:rPr lang="fr-FR" sz="1200" dirty="0"/>
              <a:t>, "</a:t>
            </a:r>
            <a:r>
              <a:rPr lang="en-US" sz="1200" dirty="0"/>
              <a:t>Measuring Pickup Impedance with </a:t>
            </a:r>
            <a:r>
              <a:rPr lang="en-US" sz="1200" dirty="0" err="1"/>
              <a:t>Digilent</a:t>
            </a:r>
            <a:r>
              <a:rPr lang="en-US" sz="1200" dirty="0"/>
              <a:t> Analog Discovery</a:t>
            </a:r>
            <a:r>
              <a:rPr lang="fr-FR" sz="1200" dirty="0"/>
              <a:t>’’ [Online]. </a:t>
            </a:r>
            <a:r>
              <a:rPr lang="fr-FR" sz="1200" dirty="0" err="1"/>
              <a:t>Available</a:t>
            </a:r>
            <a:r>
              <a:rPr lang="fr-FR" sz="1200" dirty="0"/>
              <a:t>: </a:t>
            </a:r>
            <a:r>
              <a:rPr lang="fr-FR" sz="1200" dirty="0">
                <a:hlinkClick r:id="rId4"/>
              </a:rPr>
              <a:t>https://www.jensign.com</a:t>
            </a:r>
            <a:endParaRPr lang="fr-F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3B07A5-1F32-4DE7-8794-4D603A659294}"/>
              </a:ext>
            </a:extLst>
          </p:cNvPr>
          <p:cNvSpPr txBox="1"/>
          <p:nvPr/>
        </p:nvSpPr>
        <p:spPr>
          <a:xfrm>
            <a:off x="345440" y="412994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Remerciements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82DCB6-C103-387D-73AD-CBCEA5C064A5}"/>
              </a:ext>
            </a:extLst>
          </p:cNvPr>
          <p:cNvSpPr txBox="1"/>
          <p:nvPr/>
        </p:nvSpPr>
        <p:spPr>
          <a:xfrm>
            <a:off x="307447" y="4484497"/>
            <a:ext cx="8491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1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2 : Démonstration Modèle 1 (Micro Simple)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95B142-67A4-A817-F539-9E5FF0838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3" y="4427234"/>
            <a:ext cx="4020249" cy="1409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020250" cy="432240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 fixé de chaque coté, le déplacement transversal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 est régit par l’équation différentielle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r>
                  <a:rPr lang="fr-FR" sz="1200" dirty="0"/>
                  <a:t> la vitesse de l’onde,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la tension de la corde et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fr-FR" sz="1200" dirty="0"/>
                  <a:t> la masse linéique de la corde.</a:t>
                </a:r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 err="1"/>
                  <a:t>ème</a:t>
                </a:r>
                <a:r>
                  <a:rPr lang="fr-FR" sz="1200" dirty="0"/>
                  <a:t>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020250" cy="4322402"/>
              </a:xfrm>
              <a:prstGeom prst="rect">
                <a:avLst/>
              </a:prstGeom>
              <a:blipFill>
                <a:blip r:embed="rId3"/>
                <a:stretch>
                  <a:fillRect t="-141" b="-296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521182" y="1232452"/>
                <a:ext cx="4121885" cy="5194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 0≤</m:t>
                              </m:r>
                              <m: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obtient 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la loi d’induction de Faraday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𝑚𝑖𝑐𝑟𝑜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182" y="1232452"/>
                <a:ext cx="4121885" cy="5194820"/>
              </a:xfrm>
              <a:prstGeom prst="rect">
                <a:avLst/>
              </a:prstGeom>
              <a:blipFill>
                <a:blip r:embed="rId4"/>
                <a:stretch>
                  <a:fillRect l="-148" t="-117" b="-91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7D0EC3-584D-8431-D1DA-D93C4A505153}"/>
                  </a:ext>
                </a:extLst>
              </p:cNvPr>
              <p:cNvSpPr txBox="1"/>
              <p:nvPr/>
            </p:nvSpPr>
            <p:spPr>
              <a:xfrm>
                <a:off x="1554367" y="5573503"/>
                <a:ext cx="195695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7D0EC3-584D-8431-D1DA-D93C4A505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367" y="5573503"/>
                <a:ext cx="195695" cy="184666"/>
              </a:xfrm>
              <a:prstGeom prst="rect">
                <a:avLst/>
              </a:prstGeom>
              <a:blipFill>
                <a:blip r:embed="rId5"/>
                <a:stretch>
                  <a:fillRect l="-9375" r="-3125" b="-129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F11F5-E24D-9411-5E6C-12A018130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41EE07-4006-7CB8-085E-290BB2BBF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38707BA-0D24-7AAE-1AD8-828D7EE84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2453AC4-1208-D410-96BF-4082CAF2D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B9FA-87FC-D467-19FB-B9E4D845B0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B13F1CA-BB66-383D-CEB1-8E16B8422B5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782BD2-8E79-25C3-CD5A-92EC04FFFA2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3 : Démonstration Modèle 2 (</a:t>
            </a:r>
            <a:r>
              <a:rPr lang="fr-FR" sz="2000" b="1" dirty="0" err="1"/>
              <a:t>Humbucker</a:t>
            </a:r>
            <a:r>
              <a:rPr lang="fr-FR" sz="2000" b="1" dirty="0"/>
              <a:t>) </a:t>
            </a:r>
            <a:r>
              <a:rPr lang="fr-FR" sz="1000" i="1" dirty="0"/>
              <a:t>cf. Source [1]</a:t>
            </a:r>
            <a:r>
              <a:rPr lang="fr-FR" sz="1000" b="1" dirty="0"/>
              <a:t> 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48EC05-3337-D2C1-4786-E33CB2A751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D93710-B14B-B3AE-EC83-DF8CF40D553A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020250" cy="432240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 fixé de chaque coté, le déplacement transversal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 est régit par l’équation différentielle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r>
                  <a:rPr lang="fr-FR" sz="1200" dirty="0"/>
                  <a:t> la vitesse de l’onde,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la tension de la corde et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fr-FR" sz="1200" dirty="0"/>
                  <a:t> la masse linéique de la corde.</a:t>
                </a:r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 err="1"/>
                  <a:t>ème</a:t>
                </a:r>
                <a:r>
                  <a:rPr lang="fr-FR" sz="1200" dirty="0"/>
                  <a:t>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D93710-B14B-B3AE-EC83-DF8CF40D5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020250" cy="4322402"/>
              </a:xfrm>
              <a:prstGeom prst="rect">
                <a:avLst/>
              </a:prstGeom>
              <a:blipFill>
                <a:blip r:embed="rId3"/>
                <a:stretch>
                  <a:fillRect t="-141" b="-296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44700D-4EE4-A8FA-DE2E-020E3F4F0936}"/>
                  </a:ext>
                </a:extLst>
              </p:cNvPr>
              <p:cNvSpPr txBox="1"/>
              <p:nvPr/>
            </p:nvSpPr>
            <p:spPr>
              <a:xfrm>
                <a:off x="4521182" y="1232452"/>
                <a:ext cx="4121885" cy="56698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 0≤</m:t>
                              </m:r>
                              <m: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obtient 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la loi d’induction de Faraday et sachant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44700D-4EE4-A8FA-DE2E-020E3F4F0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182" y="1232452"/>
                <a:ext cx="4121885" cy="5669822"/>
              </a:xfrm>
              <a:prstGeom prst="rect">
                <a:avLst/>
              </a:prstGeom>
              <a:blipFill>
                <a:blip r:embed="rId4"/>
                <a:stretch>
                  <a:fillRect l="-148" t="-108" b="-29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DDB0982-D568-E0DB-7268-2E6FF24BB807}"/>
              </a:ext>
            </a:extLst>
          </p:cNvPr>
          <p:cNvGrpSpPr/>
          <p:nvPr/>
        </p:nvGrpSpPr>
        <p:grpSpPr>
          <a:xfrm>
            <a:off x="500933" y="4427234"/>
            <a:ext cx="4020249" cy="1409897"/>
            <a:chOff x="500933" y="4427234"/>
            <a:chExt cx="4020249" cy="1409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E60AA5F-DDF2-AEC4-B3B6-6DAAC74094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CCDF0E6-3584-AC38-6324-40DDB4A24BD0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CCDF0E6-3584-AC38-6324-40DDB4A24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9375" r="-3125" b="-129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92152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4 : Code Python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D8540D2-C725-B0BB-1BF7-09FC759E0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1390254"/>
            <a:ext cx="5207927" cy="474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40A2A-7071-F548-F81F-86380B803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032448-6661-352B-8786-FC31BF0A8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795F251-374C-C686-449F-6F0DAD2B0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98B23BB-2456-5685-9000-0ECD3D81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25B0FB-54E0-7FCC-E77B-BCEDFCAD791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5E4EC44-7568-94E7-9F7F-E5B30C3A7E4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37733-838B-FF25-7E43-BB25FDB5C02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4 : Code Python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44D5DA-C64D-E1A5-2EB2-782D622281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3C42F3D4-B48D-7327-159D-F50F8D6F3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68EE13-F8A1-01AB-DBAB-CDF721753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1" y="1390254"/>
            <a:ext cx="6763026" cy="473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7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DA1ED-5E1C-91E2-1968-994BBA0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6333519-33CA-D22E-D002-FA24EF5F1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0D22E1-9D8F-9490-CBD0-36DC188AB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2602ACB-7E7C-4A67-12A6-7D0ADA25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FDE90F-CF5A-06AB-A228-DA1353D592F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0A9A78-7498-701D-64A0-C32D92C38B9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27B5CF-CB3D-B19E-C5F6-28AF8FAAE0B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4 : Code Python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EAEA16-6028-A3C5-F558-A1790DB52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9D7D0A7E-B2E5-FE97-64D0-87B7C0ED78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2AA327-1F26-0751-84B3-07668685C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1524178"/>
            <a:ext cx="5636389" cy="2708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0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A0D83-3D06-9CFF-78D4-0445EAD3A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9F907FA-CED1-54E9-17E7-416C91EE6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3C6B84-846B-2215-13B3-782CBD08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88646EA-FF63-7E24-3792-C56BC14EB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E3D7A7-AC51-8A50-88FE-7A809CDB3BF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7DF6B46-A7D2-9FF3-D8B4-09037F9780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0C9D4E-A510-2975-30A6-4A399BB5197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 4 : Code Python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C5C503-F3FC-7353-B31B-042B3CC2349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EE492694-F03C-B441-C89A-2A70AC5EC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728432D-6DCE-EC69-3F72-111012C12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" y="1390254"/>
            <a:ext cx="5022631" cy="474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469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1727</Words>
  <Application>Microsoft Office PowerPoint</Application>
  <PresentationFormat>On-screen Show (4:3)</PresentationFormat>
  <Paragraphs>301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147</cp:revision>
  <dcterms:created xsi:type="dcterms:W3CDTF">2025-06-09T15:35:56Z</dcterms:created>
  <dcterms:modified xsi:type="dcterms:W3CDTF">2025-10-06T20:39:56Z</dcterms:modified>
</cp:coreProperties>
</file>