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7"/>
  </p:notesMasterIdLst>
  <p:sldIdLst>
    <p:sldId id="256" r:id="rId2"/>
    <p:sldId id="265" r:id="rId3"/>
    <p:sldId id="278" r:id="rId4"/>
    <p:sldId id="289" r:id="rId5"/>
    <p:sldId id="295" r:id="rId6"/>
    <p:sldId id="281" r:id="rId7"/>
    <p:sldId id="297" r:id="rId8"/>
    <p:sldId id="298" r:id="rId9"/>
    <p:sldId id="301" r:id="rId10"/>
    <p:sldId id="311" r:id="rId11"/>
    <p:sldId id="285" r:id="rId12"/>
    <p:sldId id="303" r:id="rId13"/>
    <p:sldId id="271" r:id="rId14"/>
    <p:sldId id="302" r:id="rId15"/>
    <p:sldId id="272" r:id="rId16"/>
    <p:sldId id="277" r:id="rId17"/>
    <p:sldId id="304" r:id="rId18"/>
    <p:sldId id="305" r:id="rId19"/>
    <p:sldId id="275" r:id="rId20"/>
    <p:sldId id="306" r:id="rId21"/>
    <p:sldId id="307" r:id="rId22"/>
    <p:sldId id="308" r:id="rId23"/>
    <p:sldId id="309" r:id="rId24"/>
    <p:sldId id="310" r:id="rId25"/>
    <p:sldId id="312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microsoft.com/office/2007/relationships/hdphoto" Target="../media/hdphoto4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microsoft.com/office/2007/relationships/hdphoto" Target="../media/hdphoto3.wdp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9" Type="http://schemas.openxmlformats.org/officeDocument/2006/relationships/image" Target="../media/image1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41.png"/><Relationship Id="rId7" Type="http://schemas.openxmlformats.org/officeDocument/2006/relationships/image" Target="../media/image3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160.png"/><Relationship Id="rId10" Type="http://schemas.openxmlformats.org/officeDocument/2006/relationships/image" Target="../media/image17.png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7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thomann.de/" TargetMode="External"/><Relationship Id="rId4" Type="http://schemas.openxmlformats.org/officeDocument/2006/relationships/hyperlink" Target="https://www.jensign.com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2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</a:t>
            </a:fld>
            <a:endParaRPr lang="fr-FR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l’amplitude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 </a:t>
            </a:r>
            <a:r>
              <a:rPr lang="fr-FR" sz="1000" i="1" dirty="0"/>
              <a:t>cf. [1]</a:t>
            </a:r>
            <a:endParaRPr lang="fr-FR" sz="2000" b="1" dirty="0">
              <a:latin typeface="+mj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437385" cy="3965686"/>
            <a:chOff x="-34756" y="1586102"/>
            <a:chExt cx="4437385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C117D65C-7CC4-2723-3268-C42CB747B7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1265" y="3761948"/>
            <a:ext cx="3580049" cy="237469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7F389BB-5765-5057-0E2A-5287D0B367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3666" y="1068388"/>
            <a:ext cx="3275246" cy="248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Schéma électrique équivalent </a:t>
            </a:r>
            <a:r>
              <a:rPr lang="fr-FR" sz="1000" i="1" dirty="0"/>
              <a:t>cf. [2]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6"/>
          <a:stretch>
            <a:fillRect/>
          </a:stretch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ad>
                          <m:radPr>
                            <m:degHide m:val="on"/>
                            <m:ctrlPr>
                              <a:rPr lang="fr-F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=4755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blipFill>
                <a:blip r:embed="rId11"/>
                <a:stretch>
                  <a:fillRect l="-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A1FD-A6FC-C7C2-DE37-662B2CD3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55E5BE-58A7-022E-6167-8A7B7F9B025C}"/>
              </a:ext>
            </a:extLst>
          </p:cNvPr>
          <p:cNvSpPr txBox="1"/>
          <p:nvPr/>
        </p:nvSpPr>
        <p:spPr>
          <a:xfrm>
            <a:off x="473803" y="5624506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E3A72F7-049B-A3CC-1B2E-02529849B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D52B121-9E62-729F-B3D5-86BB1018D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3D1EFD-9144-A6ED-4EF0-340A2FFA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28266-1353-9D29-9412-6AFD6644D1A2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ADD112-3E65-EB14-379D-D522541DFA3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6FB64-1820-E8EA-22F7-D3261EDD1A9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 </a:t>
            </a:r>
            <a:r>
              <a:rPr lang="fr-FR" sz="1000" i="1" dirty="0"/>
              <a:t>cf. [3]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69900-7C91-746A-DF9C-76998DDDDC23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38429-08DD-9D34-7052-F2B1EFB35D6A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4FFBD4-8ECC-17F0-456E-3092458D7F36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5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2"/>
                <a:stretch>
                  <a:fillRect l="-2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/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48E630A-12F5-32F1-CC8A-2622DB0C99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CF629CA-DDF5-5C23-1162-F3F0C74C233A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C1AEE0C-A67A-1330-96A5-6065DC1AB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45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010F-DF56-9432-02C2-D32A2736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F2B52F-25EC-86A1-1982-155B9932D89D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D64B9D5-3565-3841-03E8-FE52034EE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D9F0C0B-1CCE-1701-4564-9070DD87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6F42ED7-BDC4-FA14-71AC-33563D8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576DF31-6CF8-BA8E-5EFA-8E5389AC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B99EE-5C41-4EA9-BB98-7ED5E47D8D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DF3B29-6309-63E4-DAC0-4D3C3D7A4D7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1B16E-6C41-9660-8DE9-A37A0AB7E175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Force électromotrice FEM du micro </a:t>
            </a:r>
            <a:r>
              <a:rPr lang="fr-FR" sz="1000" i="1" dirty="0"/>
              <a:t>cf. [3]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60DBF-34A0-70F3-18A5-EAC89983029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0F6DBD-695B-4189-F38D-DDC03E7AACDF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D3140-8ECA-CFC1-FF10-11A7070E2C1E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/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nd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5"/>
                <a:stretch>
                  <a:fillRect l="-214"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6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F03902F-5230-DAFD-040F-91D8B468A007}"/>
              </a:ext>
            </a:extLst>
          </p:cNvPr>
          <p:cNvSpPr txBox="1"/>
          <p:nvPr/>
        </p:nvSpPr>
        <p:spPr>
          <a:xfrm>
            <a:off x="449950" y="5624506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3979BD0-56F0-2C0D-9A37-AD6D904E5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78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299243-B977-7C36-755B-17DA59A1FB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35" y="1142995"/>
            <a:ext cx="5486411" cy="45720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646073-17FF-0865-43FA-5D4154632D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2" t="9050" r="35733" b="15377"/>
          <a:stretch>
            <a:fillRect/>
          </a:stretch>
        </p:blipFill>
        <p:spPr>
          <a:xfrm>
            <a:off x="6484584" y="3915004"/>
            <a:ext cx="1800000" cy="180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25D287-A038-C682-34C3-045C19CF5C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16" t="10927" r="35870" b="15443"/>
          <a:stretch>
            <a:fillRect/>
          </a:stretch>
        </p:blipFill>
        <p:spPr>
          <a:xfrm>
            <a:off x="6484584" y="1390254"/>
            <a:ext cx="1800000" cy="180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57B18AB-7581-5E60-7446-58AA5F41399C}"/>
              </a:ext>
            </a:extLst>
          </p:cNvPr>
          <p:cNvSpPr txBox="1"/>
          <p:nvPr/>
        </p:nvSpPr>
        <p:spPr>
          <a:xfrm>
            <a:off x="5285779" y="3383352"/>
            <a:ext cx="165387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Champ Parasite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BB33DB7-7AA2-E232-24A7-9C4016C67B9F}"/>
              </a:ext>
            </a:extLst>
          </p:cNvPr>
          <p:cNvCxnSpPr>
            <a:cxnSpLocks/>
            <a:stCxn id="18" idx="1"/>
            <a:endCxn id="23" idx="0"/>
          </p:cNvCxnSpPr>
          <p:nvPr/>
        </p:nvCxnSpPr>
        <p:spPr>
          <a:xfrm rot="10800000" flipV="1">
            <a:off x="6112716" y="2290254"/>
            <a:ext cx="371869" cy="1093098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807D5F6-2DF7-0611-96D1-33B56DCB6524}"/>
              </a:ext>
            </a:extLst>
          </p:cNvPr>
          <p:cNvCxnSpPr>
            <a:cxnSpLocks/>
            <a:stCxn id="23" idx="2"/>
            <a:endCxn id="15" idx="1"/>
          </p:cNvCxnSpPr>
          <p:nvPr/>
        </p:nvCxnSpPr>
        <p:spPr>
          <a:xfrm rot="16200000" flipH="1">
            <a:off x="5752100" y="4082520"/>
            <a:ext cx="1093098" cy="371869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09104-889E-FEED-38F6-C3620D742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F59EE9-5541-3C35-D9F3-4286FB3CB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456BA52-60DE-BBCD-33A6-948F7C0B3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D1A7DA8-31DF-35B6-F503-F848EFFAA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81309A-E7A7-6863-5C96-5E4ED1E2F76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6180FF7-3A39-B8EC-A752-BDE9EB41E26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7EF125-1D42-4832-0684-54400434880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9B12CB-DF61-CDB0-E7B9-3D2385D235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9B89B2-1B31-E264-13DF-C63CCFCF8423}"/>
              </a:ext>
            </a:extLst>
          </p:cNvPr>
          <p:cNvSpPr txBox="1"/>
          <p:nvPr/>
        </p:nvSpPr>
        <p:spPr>
          <a:xfrm>
            <a:off x="345440" y="4565413"/>
            <a:ext cx="8478303" cy="1477328"/>
          </a:xfrm>
          <a:prstGeom prst="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numCol="3" rtlCol="0">
            <a:spAutoFit/>
          </a:bodyPr>
          <a:lstStyle/>
          <a:p>
            <a:r>
              <a:rPr lang="fr-FR" b="1" dirty="0"/>
              <a:t>Paramètres variables :</a:t>
            </a:r>
          </a:p>
          <a:p>
            <a:endParaRPr lang="fr-F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Type de micro utilisé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Intensité &amp; Fréquence du champ parasite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Tension de la corde (Note jouée)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4B47CDC-1B76-BC91-7731-95B6DDAED5B8}"/>
              </a:ext>
            </a:extLst>
          </p:cNvPr>
          <p:cNvGrpSpPr/>
          <p:nvPr/>
        </p:nvGrpSpPr>
        <p:grpSpPr>
          <a:xfrm>
            <a:off x="492975" y="1259649"/>
            <a:ext cx="7975162" cy="2927068"/>
            <a:chOff x="492975" y="1259649"/>
            <a:chExt cx="7975162" cy="2927068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D5A20B-B049-2879-C37F-CAC15A6A672B}"/>
                </a:ext>
              </a:extLst>
            </p:cNvPr>
            <p:cNvCxnSpPr>
              <a:cxnSpLocks/>
            </p:cNvCxnSpPr>
            <p:nvPr/>
          </p:nvCxnSpPr>
          <p:spPr>
            <a:xfrm>
              <a:off x="5398701" y="2432915"/>
              <a:ext cx="1" cy="3578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119D559-C6E2-BA2F-449E-816D84158164}"/>
                </a:ext>
              </a:extLst>
            </p:cNvPr>
            <p:cNvCxnSpPr>
              <a:cxnSpLocks/>
            </p:cNvCxnSpPr>
            <p:nvPr/>
          </p:nvCxnSpPr>
          <p:spPr>
            <a:xfrm>
              <a:off x="5147721" y="2427245"/>
              <a:ext cx="3154" cy="48410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F498DA7-3338-5409-5681-101EDFAF0052}"/>
                </a:ext>
              </a:extLst>
            </p:cNvPr>
            <p:cNvSpPr/>
            <p:nvPr/>
          </p:nvSpPr>
          <p:spPr>
            <a:xfrm>
              <a:off x="5060930" y="1617120"/>
              <a:ext cx="2287034" cy="81951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ED359E7-849E-BD8C-61EE-C0140C4AC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8033BC9-9F5E-C3E2-1B06-02C39D176A13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2858141"/>
              <a:ext cx="0" cy="68511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15C2591-2043-BF16-CB74-7452B5776708}"/>
                </a:ext>
              </a:extLst>
            </p:cNvPr>
            <p:cNvSpPr/>
            <p:nvPr/>
          </p:nvSpPr>
          <p:spPr>
            <a:xfrm>
              <a:off x="5060930" y="1778081"/>
              <a:ext cx="2287034" cy="532392"/>
            </a:xfrm>
            <a:custGeom>
              <a:avLst/>
              <a:gdLst>
                <a:gd name="connsiteX0" fmla="*/ 0 w 1875580"/>
                <a:gd name="connsiteY0" fmla="*/ 477163 h 477163"/>
                <a:gd name="connsiteX1" fmla="*/ 198782 w 1875580"/>
                <a:gd name="connsiteY1" fmla="*/ 23939 h 477163"/>
                <a:gd name="connsiteX2" fmla="*/ 421419 w 1875580"/>
                <a:gd name="connsiteY2" fmla="*/ 405601 h 477163"/>
                <a:gd name="connsiteX3" fmla="*/ 588396 w 1875580"/>
                <a:gd name="connsiteY3" fmla="*/ 8036 h 477163"/>
                <a:gd name="connsiteX4" fmla="*/ 779228 w 1875580"/>
                <a:gd name="connsiteY4" fmla="*/ 373796 h 477163"/>
                <a:gd name="connsiteX5" fmla="*/ 930302 w 1875580"/>
                <a:gd name="connsiteY5" fmla="*/ 85 h 477163"/>
                <a:gd name="connsiteX6" fmla="*/ 1160890 w 1875580"/>
                <a:gd name="connsiteY6" fmla="*/ 413553 h 477163"/>
                <a:gd name="connsiteX7" fmla="*/ 1264257 w 1875580"/>
                <a:gd name="connsiteY7" fmla="*/ 8036 h 477163"/>
                <a:gd name="connsiteX8" fmla="*/ 1478942 w 1875580"/>
                <a:gd name="connsiteY8" fmla="*/ 389699 h 477163"/>
                <a:gd name="connsiteX9" fmla="*/ 1574358 w 1875580"/>
                <a:gd name="connsiteY9" fmla="*/ 8036 h 477163"/>
                <a:gd name="connsiteX10" fmla="*/ 1741335 w 1875580"/>
                <a:gd name="connsiteY10" fmla="*/ 373796 h 477163"/>
                <a:gd name="connsiteX11" fmla="*/ 1852654 w 1875580"/>
                <a:gd name="connsiteY11" fmla="*/ 206819 h 47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75580" h="477163">
                  <a:moveTo>
                    <a:pt x="0" y="477163"/>
                  </a:moveTo>
                  <a:cubicBezTo>
                    <a:pt x="64273" y="256514"/>
                    <a:pt x="128546" y="35866"/>
                    <a:pt x="198782" y="23939"/>
                  </a:cubicBezTo>
                  <a:cubicBezTo>
                    <a:pt x="269018" y="12012"/>
                    <a:pt x="356483" y="408251"/>
                    <a:pt x="421419" y="405601"/>
                  </a:cubicBezTo>
                  <a:cubicBezTo>
                    <a:pt x="486355" y="402950"/>
                    <a:pt x="528761" y="13337"/>
                    <a:pt x="588396" y="8036"/>
                  </a:cubicBezTo>
                  <a:cubicBezTo>
                    <a:pt x="648031" y="2735"/>
                    <a:pt x="722244" y="375121"/>
                    <a:pt x="779228" y="373796"/>
                  </a:cubicBezTo>
                  <a:cubicBezTo>
                    <a:pt x="836212" y="372471"/>
                    <a:pt x="866692" y="-6541"/>
                    <a:pt x="930302" y="85"/>
                  </a:cubicBezTo>
                  <a:cubicBezTo>
                    <a:pt x="993912" y="6711"/>
                    <a:pt x="1105231" y="412228"/>
                    <a:pt x="1160890" y="413553"/>
                  </a:cubicBezTo>
                  <a:cubicBezTo>
                    <a:pt x="1216549" y="414878"/>
                    <a:pt x="1211248" y="12012"/>
                    <a:pt x="1264257" y="8036"/>
                  </a:cubicBezTo>
                  <a:cubicBezTo>
                    <a:pt x="1317266" y="4060"/>
                    <a:pt x="1427259" y="389699"/>
                    <a:pt x="1478942" y="389699"/>
                  </a:cubicBezTo>
                  <a:cubicBezTo>
                    <a:pt x="1530625" y="389699"/>
                    <a:pt x="1530626" y="10686"/>
                    <a:pt x="1574358" y="8036"/>
                  </a:cubicBezTo>
                  <a:cubicBezTo>
                    <a:pt x="1618090" y="5386"/>
                    <a:pt x="1694952" y="340665"/>
                    <a:pt x="1741335" y="373796"/>
                  </a:cubicBezTo>
                  <a:cubicBezTo>
                    <a:pt x="1787718" y="406927"/>
                    <a:pt x="1930842" y="164412"/>
                    <a:pt x="1852654" y="206819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" name="Graphic 18" descr="Laptop with solid fill">
              <a:extLst>
                <a:ext uri="{FF2B5EF4-FFF2-40B4-BE49-F238E27FC236}">
                  <a16:creationId xmlns:a16="http://schemas.microsoft.com/office/drawing/2014/main" id="{9BCDF8A8-7F99-8FE8-7BF1-C7A885BD71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80735" y="1522571"/>
              <a:ext cx="1135578" cy="1020236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16C49802-C0CE-B8D9-AD7F-9896EB2DC0D8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13035"/>
              <a:ext cx="0" cy="630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F249FEC-4DC7-E7B1-3BB0-5E512CD709F8}"/>
                </a:ext>
              </a:extLst>
            </p:cNvPr>
            <p:cNvSpPr/>
            <p:nvPr/>
          </p:nvSpPr>
          <p:spPr>
            <a:xfrm>
              <a:off x="3384385" y="2026879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F74190D-EDC1-FC59-7AFE-028F03D1C459}"/>
                </a:ext>
              </a:extLst>
            </p:cNvPr>
            <p:cNvCxnSpPr>
              <a:stCxn id="20" idx="3"/>
            </p:cNvCxnSpPr>
            <p:nvPr/>
          </p:nvCxnSpPr>
          <p:spPr>
            <a:xfrm flipV="1">
              <a:off x="3712441" y="2174458"/>
              <a:ext cx="542554" cy="1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C5F835B-5BF8-5BF0-AEB2-FF7AF0A5327C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174458"/>
              <a:ext cx="0" cy="668805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F6162052-4E00-A39D-4D71-FAAE73C7123A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843263"/>
              <a:ext cx="1935257" cy="22946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02494E8-39D4-CDA4-FA5E-D322184DCC1A}"/>
                </a:ext>
              </a:extLst>
            </p:cNvPr>
            <p:cNvCxnSpPr>
              <a:cxnSpLocks/>
            </p:cNvCxnSpPr>
            <p:nvPr/>
          </p:nvCxnSpPr>
          <p:spPr>
            <a:xfrm>
              <a:off x="5233699" y="2436639"/>
              <a:ext cx="0" cy="41809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3FFBDF89-1E85-7858-3857-95316B055C8D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115458"/>
              <a:ext cx="63565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7960931-404D-C970-FA3A-E573D2742DF7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2802356"/>
              <a:ext cx="0" cy="7489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9121BD0-04BE-0472-5174-2D2B3AF73D8C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2" y="2115458"/>
              <a:ext cx="0" cy="663738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253BEC2-243B-01FE-1C2F-EA6E1851A799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1" y="2779197"/>
              <a:ext cx="2101221" cy="231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0D40CC0E-7C6E-4436-BCF7-36F35FBDC27D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233457"/>
              <a:ext cx="438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21E8292C-D33F-C603-6C6A-181728421FE5}"/>
                </a:ext>
              </a:extLst>
            </p:cNvPr>
            <p:cNvCxnSpPr>
              <a:cxnSpLocks/>
            </p:cNvCxnSpPr>
            <p:nvPr/>
          </p:nvCxnSpPr>
          <p:spPr>
            <a:xfrm>
              <a:off x="4150900" y="2233457"/>
              <a:ext cx="0" cy="6799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9F1AB57-8C60-ECC6-BC6A-53120F3E2CAD}"/>
                </a:ext>
              </a:extLst>
            </p:cNvPr>
            <p:cNvCxnSpPr>
              <a:cxnSpLocks/>
            </p:cNvCxnSpPr>
            <p:nvPr/>
          </p:nvCxnSpPr>
          <p:spPr>
            <a:xfrm>
              <a:off x="4157533" y="2901954"/>
              <a:ext cx="2116266" cy="18787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150104C-0626-A8EC-9C02-A84F715983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3779" y="2284984"/>
              <a:ext cx="400607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E19A105-E66C-8954-82F4-D3612B63C69F}"/>
                </a:ext>
              </a:extLst>
            </p:cNvPr>
            <p:cNvSpPr txBox="1"/>
            <p:nvPr/>
          </p:nvSpPr>
          <p:spPr>
            <a:xfrm>
              <a:off x="2200917" y="2364090"/>
              <a:ext cx="494729" cy="291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224F511-B992-A9BE-5C02-6DC13F1AC8BC}"/>
                </a:ext>
              </a:extLst>
            </p:cNvPr>
            <p:cNvSpPr txBox="1"/>
            <p:nvPr/>
          </p:nvSpPr>
          <p:spPr>
            <a:xfrm>
              <a:off x="2810234" y="1710494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D008927-9DF2-9DB5-BE45-1FAF44624EC6}"/>
                </a:ext>
              </a:extLst>
            </p:cNvPr>
            <p:cNvSpPr txBox="1"/>
            <p:nvPr/>
          </p:nvSpPr>
          <p:spPr>
            <a:xfrm>
              <a:off x="5339452" y="1259649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Oscilloscope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CB59CC3-6CE0-0CFB-3BC1-D9CC8EF26893}"/>
                </a:ext>
              </a:extLst>
            </p:cNvPr>
            <p:cNvSpPr txBox="1"/>
            <p:nvPr/>
          </p:nvSpPr>
          <p:spPr>
            <a:xfrm>
              <a:off x="7412937" y="3221774"/>
              <a:ext cx="104965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Bloc Vibrato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73D432-B5CD-F70F-2425-FB14F234EF97}"/>
                </a:ext>
              </a:extLst>
            </p:cNvPr>
            <p:cNvSpPr txBox="1"/>
            <p:nvPr/>
          </p:nvSpPr>
          <p:spPr>
            <a:xfrm>
              <a:off x="7171997" y="2945096"/>
              <a:ext cx="12961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F02E2F6-7461-C568-DF59-D7E040D83DD7}"/>
                </a:ext>
              </a:extLst>
            </p:cNvPr>
            <p:cNvSpPr txBox="1"/>
            <p:nvPr/>
          </p:nvSpPr>
          <p:spPr>
            <a:xfrm>
              <a:off x="492975" y="3022345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4FF988A3-4B06-6E2E-639F-64E1F6F38285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rot="16200000" flipH="1">
              <a:off x="939847" y="3323543"/>
              <a:ext cx="685116" cy="636718"/>
            </a:xfrm>
            <a:prstGeom prst="bentConnector3">
              <a:avLst>
                <a:gd name="adj1" fmla="val 9990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50CFC299-348E-F330-9452-E7ABBDC72C03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rot="10800000" flipV="1">
              <a:off x="6468437" y="3083596"/>
              <a:ext cx="703561" cy="67191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6BFEC6A8-37CA-DDB2-34B3-EAC758DD7C81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rot="10800000" flipV="1">
              <a:off x="7046595" y="3360274"/>
              <a:ext cx="366342" cy="247808"/>
            </a:xfrm>
            <a:prstGeom prst="bentConnector3">
              <a:avLst>
                <a:gd name="adj1" fmla="val 9992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A70D80F-2229-FD27-3AD5-7187F59B005E}"/>
                </a:ext>
              </a:extLst>
            </p:cNvPr>
            <p:cNvSpPr txBox="1"/>
            <p:nvPr/>
          </p:nvSpPr>
          <p:spPr>
            <a:xfrm>
              <a:off x="2915256" y="3215499"/>
              <a:ext cx="63315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A5361A9F-4CAF-2A70-9164-246E5EDA2109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>
              <a:off x="3548413" y="3353999"/>
              <a:ext cx="274743" cy="5555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0843E1A7-D5D9-9271-804D-43BF5EF7399A}"/>
                </a:ext>
              </a:extLst>
            </p:cNvPr>
            <p:cNvSpPr txBox="1"/>
            <p:nvPr/>
          </p:nvSpPr>
          <p:spPr>
            <a:xfrm>
              <a:off x="4645725" y="3092763"/>
              <a:ext cx="165395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125C70E4-D44E-FE81-2FAC-CF8D1C57ACE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567470" y="3274992"/>
              <a:ext cx="345520" cy="53505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7432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84765-5894-8CC8-303C-ADAA4CFF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95038D2-4793-2D6D-E7EE-AED98E6D0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88CB7A3-A7AC-6F87-1DC2-8DC7EC063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36ECDC7-487F-939D-7A92-84F22DFE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D3E981-369E-684E-83B4-2FEA29A4EAD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457BAC-AC8C-5010-1E29-5509087D2B4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B99E34-6928-D6A4-E886-C3C70D4D928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B6632F-9154-9B58-7CAA-95E7E6ABA2C7}"/>
              </a:ext>
            </a:extLst>
          </p:cNvPr>
          <p:cNvSpPr txBox="1"/>
          <p:nvPr/>
        </p:nvSpPr>
        <p:spPr>
          <a:xfrm>
            <a:off x="345440" y="4565413"/>
            <a:ext cx="8478303" cy="1477328"/>
          </a:xfrm>
          <a:prstGeom prst="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numCol="3" rtlCol="0">
            <a:spAutoFit/>
          </a:bodyPr>
          <a:lstStyle/>
          <a:p>
            <a:r>
              <a:rPr lang="fr-FR" b="1" dirty="0"/>
              <a:t>Paramètres variables :</a:t>
            </a:r>
          </a:p>
          <a:p>
            <a:endParaRPr lang="fr-F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Type de micro utilisé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Intensité &amp; Fréquence du champ parasite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Tension de la corde (Note jouée)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3B017C7-5AE3-67C5-4B52-7D07DDBBB4E9}"/>
              </a:ext>
            </a:extLst>
          </p:cNvPr>
          <p:cNvGrpSpPr/>
          <p:nvPr/>
        </p:nvGrpSpPr>
        <p:grpSpPr>
          <a:xfrm>
            <a:off x="492975" y="1259649"/>
            <a:ext cx="8049369" cy="3239359"/>
            <a:chOff x="492975" y="1259649"/>
            <a:chExt cx="8049369" cy="3239359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D44BAF1-ED95-2AE0-4741-B870742D63AE}"/>
                </a:ext>
              </a:extLst>
            </p:cNvPr>
            <p:cNvCxnSpPr>
              <a:cxnSpLocks/>
            </p:cNvCxnSpPr>
            <p:nvPr/>
          </p:nvCxnSpPr>
          <p:spPr>
            <a:xfrm>
              <a:off x="5398701" y="2432915"/>
              <a:ext cx="1" cy="3578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4445B1F-7F4B-929D-852E-C4CC735F867F}"/>
                </a:ext>
              </a:extLst>
            </p:cNvPr>
            <p:cNvCxnSpPr>
              <a:cxnSpLocks/>
            </p:cNvCxnSpPr>
            <p:nvPr/>
          </p:nvCxnSpPr>
          <p:spPr>
            <a:xfrm>
              <a:off x="5147721" y="2427245"/>
              <a:ext cx="3154" cy="48410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66108D0-AB28-C372-C33F-9BCB677A77B2}"/>
                </a:ext>
              </a:extLst>
            </p:cNvPr>
            <p:cNvSpPr/>
            <p:nvPr/>
          </p:nvSpPr>
          <p:spPr>
            <a:xfrm>
              <a:off x="5060930" y="1617120"/>
              <a:ext cx="2287034" cy="81951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DC01244-87DC-5E3F-2B64-F23428E952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EBE8B673-200E-195A-00C5-D9D0A66639C7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2858141"/>
              <a:ext cx="0" cy="68511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09ED06E-50AB-DDEF-5598-DA325C1F6FF7}"/>
                </a:ext>
              </a:extLst>
            </p:cNvPr>
            <p:cNvSpPr/>
            <p:nvPr/>
          </p:nvSpPr>
          <p:spPr>
            <a:xfrm>
              <a:off x="5060930" y="1778081"/>
              <a:ext cx="2287034" cy="532392"/>
            </a:xfrm>
            <a:custGeom>
              <a:avLst/>
              <a:gdLst>
                <a:gd name="connsiteX0" fmla="*/ 0 w 1875580"/>
                <a:gd name="connsiteY0" fmla="*/ 477163 h 477163"/>
                <a:gd name="connsiteX1" fmla="*/ 198782 w 1875580"/>
                <a:gd name="connsiteY1" fmla="*/ 23939 h 477163"/>
                <a:gd name="connsiteX2" fmla="*/ 421419 w 1875580"/>
                <a:gd name="connsiteY2" fmla="*/ 405601 h 477163"/>
                <a:gd name="connsiteX3" fmla="*/ 588396 w 1875580"/>
                <a:gd name="connsiteY3" fmla="*/ 8036 h 477163"/>
                <a:gd name="connsiteX4" fmla="*/ 779228 w 1875580"/>
                <a:gd name="connsiteY4" fmla="*/ 373796 h 477163"/>
                <a:gd name="connsiteX5" fmla="*/ 930302 w 1875580"/>
                <a:gd name="connsiteY5" fmla="*/ 85 h 477163"/>
                <a:gd name="connsiteX6" fmla="*/ 1160890 w 1875580"/>
                <a:gd name="connsiteY6" fmla="*/ 413553 h 477163"/>
                <a:gd name="connsiteX7" fmla="*/ 1264257 w 1875580"/>
                <a:gd name="connsiteY7" fmla="*/ 8036 h 477163"/>
                <a:gd name="connsiteX8" fmla="*/ 1478942 w 1875580"/>
                <a:gd name="connsiteY8" fmla="*/ 389699 h 477163"/>
                <a:gd name="connsiteX9" fmla="*/ 1574358 w 1875580"/>
                <a:gd name="connsiteY9" fmla="*/ 8036 h 477163"/>
                <a:gd name="connsiteX10" fmla="*/ 1741335 w 1875580"/>
                <a:gd name="connsiteY10" fmla="*/ 373796 h 477163"/>
                <a:gd name="connsiteX11" fmla="*/ 1852654 w 1875580"/>
                <a:gd name="connsiteY11" fmla="*/ 206819 h 47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75580" h="477163">
                  <a:moveTo>
                    <a:pt x="0" y="477163"/>
                  </a:moveTo>
                  <a:cubicBezTo>
                    <a:pt x="64273" y="256514"/>
                    <a:pt x="128546" y="35866"/>
                    <a:pt x="198782" y="23939"/>
                  </a:cubicBezTo>
                  <a:cubicBezTo>
                    <a:pt x="269018" y="12012"/>
                    <a:pt x="356483" y="408251"/>
                    <a:pt x="421419" y="405601"/>
                  </a:cubicBezTo>
                  <a:cubicBezTo>
                    <a:pt x="486355" y="402950"/>
                    <a:pt x="528761" y="13337"/>
                    <a:pt x="588396" y="8036"/>
                  </a:cubicBezTo>
                  <a:cubicBezTo>
                    <a:pt x="648031" y="2735"/>
                    <a:pt x="722244" y="375121"/>
                    <a:pt x="779228" y="373796"/>
                  </a:cubicBezTo>
                  <a:cubicBezTo>
                    <a:pt x="836212" y="372471"/>
                    <a:pt x="866692" y="-6541"/>
                    <a:pt x="930302" y="85"/>
                  </a:cubicBezTo>
                  <a:cubicBezTo>
                    <a:pt x="993912" y="6711"/>
                    <a:pt x="1105231" y="412228"/>
                    <a:pt x="1160890" y="413553"/>
                  </a:cubicBezTo>
                  <a:cubicBezTo>
                    <a:pt x="1216549" y="414878"/>
                    <a:pt x="1211248" y="12012"/>
                    <a:pt x="1264257" y="8036"/>
                  </a:cubicBezTo>
                  <a:cubicBezTo>
                    <a:pt x="1317266" y="4060"/>
                    <a:pt x="1427259" y="389699"/>
                    <a:pt x="1478942" y="389699"/>
                  </a:cubicBezTo>
                  <a:cubicBezTo>
                    <a:pt x="1530625" y="389699"/>
                    <a:pt x="1530626" y="10686"/>
                    <a:pt x="1574358" y="8036"/>
                  </a:cubicBezTo>
                  <a:cubicBezTo>
                    <a:pt x="1618090" y="5386"/>
                    <a:pt x="1694952" y="340665"/>
                    <a:pt x="1741335" y="373796"/>
                  </a:cubicBezTo>
                  <a:cubicBezTo>
                    <a:pt x="1787718" y="406927"/>
                    <a:pt x="1930842" y="164412"/>
                    <a:pt x="1852654" y="206819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" name="Graphic 18" descr="Laptop with solid fill">
              <a:extLst>
                <a:ext uri="{FF2B5EF4-FFF2-40B4-BE49-F238E27FC236}">
                  <a16:creationId xmlns:a16="http://schemas.microsoft.com/office/drawing/2014/main" id="{0DF6654C-CBD1-6556-BA18-1C940905A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80735" y="1522571"/>
              <a:ext cx="1135578" cy="1020236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072E5EAA-1B3C-7A1C-9FB4-B2AD7EFC4C17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13035"/>
              <a:ext cx="0" cy="630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D4DC10-63A3-469D-A94C-9EB8972FFC5F}"/>
                </a:ext>
              </a:extLst>
            </p:cNvPr>
            <p:cNvSpPr/>
            <p:nvPr/>
          </p:nvSpPr>
          <p:spPr>
            <a:xfrm>
              <a:off x="3384385" y="2026879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BD2D331-7B78-3629-00BA-6645A6147AD7}"/>
                </a:ext>
              </a:extLst>
            </p:cNvPr>
            <p:cNvCxnSpPr>
              <a:stCxn id="20" idx="3"/>
            </p:cNvCxnSpPr>
            <p:nvPr/>
          </p:nvCxnSpPr>
          <p:spPr>
            <a:xfrm flipV="1">
              <a:off x="3712441" y="2174458"/>
              <a:ext cx="542554" cy="1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3150FDC8-5870-0CF1-51FF-C401CA483F06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174458"/>
              <a:ext cx="0" cy="668805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CC16D5E-221F-21C3-AC59-8DBA8031A23F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843263"/>
              <a:ext cx="1935257" cy="22946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55B7405-4DF4-095B-0FA9-B3EFE7557045}"/>
                </a:ext>
              </a:extLst>
            </p:cNvPr>
            <p:cNvCxnSpPr>
              <a:cxnSpLocks/>
            </p:cNvCxnSpPr>
            <p:nvPr/>
          </p:nvCxnSpPr>
          <p:spPr>
            <a:xfrm>
              <a:off x="5233699" y="2436639"/>
              <a:ext cx="0" cy="41809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9D3C339-9B9C-280D-0F40-EC917F044496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115458"/>
              <a:ext cx="63565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1486EB0-0D0B-8958-5905-68AA13DE42F8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2802356"/>
              <a:ext cx="0" cy="7489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0756577-0321-22B1-E4B5-C73A623AC834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2" y="2115458"/>
              <a:ext cx="0" cy="663738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E40798BB-6454-B514-907C-F098EC49B74C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1" y="2779197"/>
              <a:ext cx="2101221" cy="231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FA500742-0E21-0B1F-4139-36DD2315F908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233457"/>
              <a:ext cx="438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12042ED1-D8A5-D6CA-9ABA-81BC0AA78046}"/>
                </a:ext>
              </a:extLst>
            </p:cNvPr>
            <p:cNvCxnSpPr>
              <a:cxnSpLocks/>
            </p:cNvCxnSpPr>
            <p:nvPr/>
          </p:nvCxnSpPr>
          <p:spPr>
            <a:xfrm>
              <a:off x="4150900" y="2233457"/>
              <a:ext cx="0" cy="6799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1638109D-4F19-E80F-1BE5-BE320C4AD93B}"/>
                </a:ext>
              </a:extLst>
            </p:cNvPr>
            <p:cNvCxnSpPr>
              <a:cxnSpLocks/>
            </p:cNvCxnSpPr>
            <p:nvPr/>
          </p:nvCxnSpPr>
          <p:spPr>
            <a:xfrm>
              <a:off x="4157533" y="2901954"/>
              <a:ext cx="2116266" cy="18787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B7CE8E2-BE27-EA7C-786B-A2D3BEF526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3779" y="2284984"/>
              <a:ext cx="400607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21AFEC0-C15F-EDAF-D3CD-E9CA1803B3EE}"/>
                </a:ext>
              </a:extLst>
            </p:cNvPr>
            <p:cNvSpPr txBox="1"/>
            <p:nvPr/>
          </p:nvSpPr>
          <p:spPr>
            <a:xfrm>
              <a:off x="2200917" y="2364090"/>
              <a:ext cx="494729" cy="291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07AC3D74-1B99-2A9F-0F70-7334A5E5A4AF}"/>
                </a:ext>
              </a:extLst>
            </p:cNvPr>
            <p:cNvSpPr txBox="1"/>
            <p:nvPr/>
          </p:nvSpPr>
          <p:spPr>
            <a:xfrm>
              <a:off x="2810234" y="1710494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5B617B6-1494-C294-9287-9D5835E5AF15}"/>
                </a:ext>
              </a:extLst>
            </p:cNvPr>
            <p:cNvSpPr txBox="1"/>
            <p:nvPr/>
          </p:nvSpPr>
          <p:spPr>
            <a:xfrm>
              <a:off x="5339452" y="1259649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Oscilloscope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E96F94-DE17-9425-E478-BB63E0DEBD99}"/>
                </a:ext>
              </a:extLst>
            </p:cNvPr>
            <p:cNvSpPr txBox="1"/>
            <p:nvPr/>
          </p:nvSpPr>
          <p:spPr>
            <a:xfrm>
              <a:off x="7412937" y="3221774"/>
              <a:ext cx="104965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Bloc Vibrato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9BD377-5E1F-20F0-E82D-B1869232C333}"/>
                </a:ext>
              </a:extLst>
            </p:cNvPr>
            <p:cNvSpPr txBox="1"/>
            <p:nvPr/>
          </p:nvSpPr>
          <p:spPr>
            <a:xfrm>
              <a:off x="7171997" y="2945096"/>
              <a:ext cx="12961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83555BA-3574-E5E2-1D96-6BBF3F582FBC}"/>
                </a:ext>
              </a:extLst>
            </p:cNvPr>
            <p:cNvSpPr txBox="1"/>
            <p:nvPr/>
          </p:nvSpPr>
          <p:spPr>
            <a:xfrm>
              <a:off x="4645725" y="3092763"/>
              <a:ext cx="165395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1A318D3-D710-4EC3-037E-0E73F9189039}"/>
                </a:ext>
              </a:extLst>
            </p:cNvPr>
            <p:cNvSpPr txBox="1"/>
            <p:nvPr/>
          </p:nvSpPr>
          <p:spPr>
            <a:xfrm>
              <a:off x="492975" y="3022345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3BA8D0EA-EC8E-3F19-6246-1D42CDD73009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rot="16200000" flipH="1">
              <a:off x="939847" y="3323543"/>
              <a:ext cx="685116" cy="636718"/>
            </a:xfrm>
            <a:prstGeom prst="bentConnector3">
              <a:avLst>
                <a:gd name="adj1" fmla="val 9990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C274247C-D906-9B23-21F1-2EE1985F6860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rot="16200000" flipH="1">
              <a:off x="5567470" y="3274992"/>
              <a:ext cx="345520" cy="53505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AA86542A-3169-7113-A44E-D9FAC6B6848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rot="10800000" flipV="1">
              <a:off x="6468437" y="3083596"/>
              <a:ext cx="703561" cy="67191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7C26DD00-4B34-7016-6AC6-71FB94B52C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rot="10800000" flipV="1">
              <a:off x="7046595" y="3360274"/>
              <a:ext cx="366342" cy="247808"/>
            </a:xfrm>
            <a:prstGeom prst="bentConnector3">
              <a:avLst>
                <a:gd name="adj1" fmla="val 9992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73E6ED65-3FC3-90CA-31FD-2B16EA3FB47B}"/>
                </a:ext>
              </a:extLst>
            </p:cNvPr>
            <p:cNvSpPr txBox="1"/>
            <p:nvPr/>
          </p:nvSpPr>
          <p:spPr>
            <a:xfrm>
              <a:off x="2915256" y="3215499"/>
              <a:ext cx="63315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5C4601E3-24F9-A62F-BE91-52F3A7AA8ABC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>
              <a:off x="3548413" y="3353999"/>
              <a:ext cx="274743" cy="5555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A72E36D-D58A-2C4E-5157-8C5E862E339F}"/>
                </a:ext>
              </a:extLst>
            </p:cNvPr>
            <p:cNvGrpSpPr/>
            <p:nvPr/>
          </p:nvGrpSpPr>
          <p:grpSpPr>
            <a:xfrm>
              <a:off x="4778695" y="3501662"/>
              <a:ext cx="2135121" cy="629737"/>
              <a:chOff x="5078985" y="3438238"/>
              <a:chExt cx="2135121" cy="62973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BA20091A-6EF5-C33A-4F95-0F78B87AD696}"/>
                  </a:ext>
                </a:extLst>
              </p:cNvPr>
              <p:cNvGrpSpPr/>
              <p:nvPr/>
            </p:nvGrpSpPr>
            <p:grpSpPr>
              <a:xfrm>
                <a:off x="5124704" y="3442378"/>
                <a:ext cx="2048256" cy="625597"/>
                <a:chOff x="5205984" y="3429000"/>
                <a:chExt cx="2048256" cy="625597"/>
              </a:xfrm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D5641F9-42A6-2E4C-5D2B-D7A32DF0A9CE}"/>
                    </a:ext>
                  </a:extLst>
                </p:cNvPr>
                <p:cNvSpPr/>
                <p:nvPr/>
              </p:nvSpPr>
              <p:spPr>
                <a:xfrm>
                  <a:off x="5205984" y="3429000"/>
                  <a:ext cx="2048256" cy="625597"/>
                </a:xfrm>
                <a:prstGeom prst="rect">
                  <a:avLst/>
                </a:prstGeom>
                <a:noFill/>
                <a:ln>
                  <a:solidFill>
                    <a:srgbClr val="CC66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57BCA6D6-FA50-EFA5-4B75-CAFA4DAFA90B}"/>
                    </a:ext>
                  </a:extLst>
                </p:cNvPr>
                <p:cNvCxnSpPr/>
                <p:nvPr/>
              </p:nvCxnSpPr>
              <p:spPr>
                <a:xfrm>
                  <a:off x="52669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ABB44C34-2501-5A10-4D85-F1320D220AB0}"/>
                    </a:ext>
                  </a:extLst>
                </p:cNvPr>
                <p:cNvCxnSpPr/>
                <p:nvPr/>
              </p:nvCxnSpPr>
              <p:spPr>
                <a:xfrm>
                  <a:off x="53355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A8718BAD-4933-19D1-2602-8C1E8D28BDC7}"/>
                    </a:ext>
                  </a:extLst>
                </p:cNvPr>
                <p:cNvCxnSpPr/>
                <p:nvPr/>
              </p:nvCxnSpPr>
              <p:spPr>
                <a:xfrm>
                  <a:off x="54041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5E5B4F9-1682-621C-8932-0D82AA051B04}"/>
                    </a:ext>
                  </a:extLst>
                </p:cNvPr>
                <p:cNvCxnSpPr/>
                <p:nvPr/>
              </p:nvCxnSpPr>
              <p:spPr>
                <a:xfrm>
                  <a:off x="54726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D1FC2046-A10A-A239-837E-B3C1448C4739}"/>
                    </a:ext>
                  </a:extLst>
                </p:cNvPr>
                <p:cNvCxnSpPr/>
                <p:nvPr/>
              </p:nvCxnSpPr>
              <p:spPr>
                <a:xfrm>
                  <a:off x="55412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545EB58-6B3E-ADE6-5D07-FFAEC90D6B41}"/>
                    </a:ext>
                  </a:extLst>
                </p:cNvPr>
                <p:cNvCxnSpPr/>
                <p:nvPr/>
              </p:nvCxnSpPr>
              <p:spPr>
                <a:xfrm>
                  <a:off x="56098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A34E0D56-FEC1-ACF2-6516-1C56632D26C4}"/>
                    </a:ext>
                  </a:extLst>
                </p:cNvPr>
                <p:cNvCxnSpPr/>
                <p:nvPr/>
              </p:nvCxnSpPr>
              <p:spPr>
                <a:xfrm>
                  <a:off x="56784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C0082EA4-1935-7DF2-7139-8589A77F029C}"/>
                    </a:ext>
                  </a:extLst>
                </p:cNvPr>
                <p:cNvCxnSpPr/>
                <p:nvPr/>
              </p:nvCxnSpPr>
              <p:spPr>
                <a:xfrm>
                  <a:off x="57470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EC1C035C-E55E-713D-3674-18CC91ABD1EA}"/>
                    </a:ext>
                  </a:extLst>
                </p:cNvPr>
                <p:cNvCxnSpPr/>
                <p:nvPr/>
              </p:nvCxnSpPr>
              <p:spPr>
                <a:xfrm>
                  <a:off x="58155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A75AFDAB-11D3-08B6-CDF8-705FD8EE15CB}"/>
                    </a:ext>
                  </a:extLst>
                </p:cNvPr>
                <p:cNvCxnSpPr/>
                <p:nvPr/>
              </p:nvCxnSpPr>
              <p:spPr>
                <a:xfrm>
                  <a:off x="58841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52A6491-E4D7-3AE3-F625-BF1B3662247B}"/>
                    </a:ext>
                  </a:extLst>
                </p:cNvPr>
                <p:cNvCxnSpPr/>
                <p:nvPr/>
              </p:nvCxnSpPr>
              <p:spPr>
                <a:xfrm>
                  <a:off x="59527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FA71BBA-56FD-D6F5-8C2E-C9B38C947427}"/>
                    </a:ext>
                  </a:extLst>
                </p:cNvPr>
                <p:cNvCxnSpPr/>
                <p:nvPr/>
              </p:nvCxnSpPr>
              <p:spPr>
                <a:xfrm>
                  <a:off x="60213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2CB8FEA4-281B-31C7-3CC4-59CB3161D44E}"/>
                    </a:ext>
                  </a:extLst>
                </p:cNvPr>
                <p:cNvCxnSpPr/>
                <p:nvPr/>
              </p:nvCxnSpPr>
              <p:spPr>
                <a:xfrm>
                  <a:off x="60899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EB90DCCC-197F-EF67-8290-90442B465B6C}"/>
                    </a:ext>
                  </a:extLst>
                </p:cNvPr>
                <p:cNvCxnSpPr/>
                <p:nvPr/>
              </p:nvCxnSpPr>
              <p:spPr>
                <a:xfrm>
                  <a:off x="61584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E87DEE52-196E-B69B-36CC-77B215C5C301}"/>
                    </a:ext>
                  </a:extLst>
                </p:cNvPr>
                <p:cNvCxnSpPr/>
                <p:nvPr/>
              </p:nvCxnSpPr>
              <p:spPr>
                <a:xfrm>
                  <a:off x="62270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F9296B7A-D2A4-D503-79C6-C0E64498F45F}"/>
                    </a:ext>
                  </a:extLst>
                </p:cNvPr>
                <p:cNvCxnSpPr/>
                <p:nvPr/>
              </p:nvCxnSpPr>
              <p:spPr>
                <a:xfrm>
                  <a:off x="62956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5273B0C-F241-C902-A950-29BCE45AB6E9}"/>
                    </a:ext>
                  </a:extLst>
                </p:cNvPr>
                <p:cNvCxnSpPr/>
                <p:nvPr/>
              </p:nvCxnSpPr>
              <p:spPr>
                <a:xfrm>
                  <a:off x="63642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D61A98E-A6BF-314A-05F2-FDFFDC51B34A}"/>
                    </a:ext>
                  </a:extLst>
                </p:cNvPr>
                <p:cNvCxnSpPr/>
                <p:nvPr/>
              </p:nvCxnSpPr>
              <p:spPr>
                <a:xfrm>
                  <a:off x="64328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D495FD4F-D8FF-48A8-5F8E-E5E6DA59F281}"/>
                    </a:ext>
                  </a:extLst>
                </p:cNvPr>
                <p:cNvCxnSpPr/>
                <p:nvPr/>
              </p:nvCxnSpPr>
              <p:spPr>
                <a:xfrm>
                  <a:off x="65013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E946B897-4B27-9830-EAD8-894B33710AF4}"/>
                    </a:ext>
                  </a:extLst>
                </p:cNvPr>
                <p:cNvCxnSpPr/>
                <p:nvPr/>
              </p:nvCxnSpPr>
              <p:spPr>
                <a:xfrm>
                  <a:off x="65699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2B3B631C-3DC2-7F5F-A7D2-98C6FB8A216C}"/>
                    </a:ext>
                  </a:extLst>
                </p:cNvPr>
                <p:cNvCxnSpPr/>
                <p:nvPr/>
              </p:nvCxnSpPr>
              <p:spPr>
                <a:xfrm>
                  <a:off x="66385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77017C1-FBC9-0B24-8E96-E3ED9C5FD252}"/>
                    </a:ext>
                  </a:extLst>
                </p:cNvPr>
                <p:cNvCxnSpPr/>
                <p:nvPr/>
              </p:nvCxnSpPr>
              <p:spPr>
                <a:xfrm>
                  <a:off x="67071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1AB3D7CC-0305-D1DF-248B-896469D9D308}"/>
                    </a:ext>
                  </a:extLst>
                </p:cNvPr>
                <p:cNvCxnSpPr/>
                <p:nvPr/>
              </p:nvCxnSpPr>
              <p:spPr>
                <a:xfrm>
                  <a:off x="67757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97B74A8-C0A9-5ECA-0608-C5BD1B68E181}"/>
                    </a:ext>
                  </a:extLst>
                </p:cNvPr>
                <p:cNvCxnSpPr/>
                <p:nvPr/>
              </p:nvCxnSpPr>
              <p:spPr>
                <a:xfrm>
                  <a:off x="68442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802F808E-0E0C-04CA-EF72-B66A3F57A46A}"/>
                    </a:ext>
                  </a:extLst>
                </p:cNvPr>
                <p:cNvCxnSpPr/>
                <p:nvPr/>
              </p:nvCxnSpPr>
              <p:spPr>
                <a:xfrm>
                  <a:off x="69128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5A5C3CB3-9D59-26D5-E456-480C6441B435}"/>
                    </a:ext>
                  </a:extLst>
                </p:cNvPr>
                <p:cNvCxnSpPr/>
                <p:nvPr/>
              </p:nvCxnSpPr>
              <p:spPr>
                <a:xfrm>
                  <a:off x="69814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629026B8-0C84-795A-579D-34DE3065D072}"/>
                    </a:ext>
                  </a:extLst>
                </p:cNvPr>
                <p:cNvCxnSpPr/>
                <p:nvPr/>
              </p:nvCxnSpPr>
              <p:spPr>
                <a:xfrm>
                  <a:off x="70500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121D27E3-AA11-F47D-AD64-D347D1A06A22}"/>
                    </a:ext>
                  </a:extLst>
                </p:cNvPr>
                <p:cNvCxnSpPr/>
                <p:nvPr/>
              </p:nvCxnSpPr>
              <p:spPr>
                <a:xfrm>
                  <a:off x="71186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C1DA948-BE52-D302-FCD3-6861CAA51B59}"/>
                    </a:ext>
                  </a:extLst>
                </p:cNvPr>
                <p:cNvCxnSpPr/>
                <p:nvPr/>
              </p:nvCxnSpPr>
              <p:spPr>
                <a:xfrm>
                  <a:off x="71871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15404AF-8EEE-2A2D-AEE0-E2FF969232E3}"/>
                  </a:ext>
                </a:extLst>
              </p:cNvPr>
              <p:cNvSpPr/>
              <p:nvPr/>
            </p:nvSpPr>
            <p:spPr>
              <a:xfrm>
                <a:off x="5078985" y="3442378"/>
                <a:ext cx="45719" cy="625596"/>
              </a:xfrm>
              <a:prstGeom prst="ellipse">
                <a:avLst/>
              </a:prstGeom>
              <a:noFill/>
              <a:ln>
                <a:solidFill>
                  <a:srgbClr val="CC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0080355E-C4E7-5A7F-5B28-2AD79FE35BD1}"/>
                  </a:ext>
                </a:extLst>
              </p:cNvPr>
              <p:cNvSpPr/>
              <p:nvPr/>
            </p:nvSpPr>
            <p:spPr>
              <a:xfrm>
                <a:off x="7168387" y="3438238"/>
                <a:ext cx="45719" cy="625596"/>
              </a:xfrm>
              <a:prstGeom prst="ellipse">
                <a:avLst/>
              </a:prstGeom>
              <a:noFill/>
              <a:ln>
                <a:solidFill>
                  <a:srgbClr val="CC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D8F0541-B0BA-087C-E4D1-2B08EE802126}"/>
                </a:ext>
              </a:extLst>
            </p:cNvPr>
            <p:cNvSpPr/>
            <p:nvPr/>
          </p:nvSpPr>
          <p:spPr>
            <a:xfrm>
              <a:off x="8002344" y="3959008"/>
              <a:ext cx="540000" cy="540000"/>
            </a:xfrm>
            <a:prstGeom prst="ellipse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700" b="1" dirty="0"/>
                <a:t>GBF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6F2A4EF-9A7B-297A-7010-1AFC3F346D8D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flipH="1" flipV="1">
              <a:off x="6805614" y="4223154"/>
              <a:ext cx="1196730" cy="585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F4BA373-66AB-2FA5-AECF-1552E6700C65}"/>
                </a:ext>
              </a:extLst>
            </p:cNvPr>
            <p:cNvCxnSpPr>
              <a:cxnSpLocks/>
            </p:cNvCxnSpPr>
            <p:nvPr/>
          </p:nvCxnSpPr>
          <p:spPr>
            <a:xfrm>
              <a:off x="4824414" y="4269578"/>
              <a:ext cx="3176873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4EBA7383-320D-3F62-6B39-857E0B6C5672}"/>
                </a:ext>
              </a:extLst>
            </p:cNvPr>
            <p:cNvCxnSpPr>
              <a:cxnSpLocks/>
            </p:cNvCxnSpPr>
            <p:nvPr/>
          </p:nvCxnSpPr>
          <p:spPr>
            <a:xfrm>
              <a:off x="6805614" y="4135147"/>
              <a:ext cx="0" cy="88007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EA523CD-D1A1-73C7-58D9-454F5C9856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24414" y="4135146"/>
              <a:ext cx="0" cy="1344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0440993-1AF9-653B-32E9-C0229A64D937}"/>
                </a:ext>
              </a:extLst>
            </p:cNvPr>
            <p:cNvSpPr txBox="1"/>
            <p:nvPr/>
          </p:nvSpPr>
          <p:spPr>
            <a:xfrm>
              <a:off x="3661157" y="2986131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Solénoïde</a:t>
              </a:r>
            </a:p>
          </p:txBody>
        </p:sp>
        <p:cxnSp>
          <p:nvCxnSpPr>
            <p:cNvPr id="96" name="Connector: Elbow 95">
              <a:extLst>
                <a:ext uri="{FF2B5EF4-FFF2-40B4-BE49-F238E27FC236}">
                  <a16:creationId xmlns:a16="http://schemas.microsoft.com/office/drawing/2014/main" id="{79EAF782-C496-FE9F-24AB-1DBC5C6352DB}"/>
                </a:ext>
              </a:extLst>
            </p:cNvPr>
            <p:cNvCxnSpPr>
              <a:cxnSpLocks/>
              <a:stCxn id="94" idx="2"/>
              <a:endCxn id="28" idx="0"/>
            </p:cNvCxnSpPr>
            <p:nvPr/>
          </p:nvCxnSpPr>
          <p:spPr>
            <a:xfrm rot="16200000" flipH="1">
              <a:off x="4345555" y="3049802"/>
              <a:ext cx="242672" cy="669327"/>
            </a:xfrm>
            <a:prstGeom prst="bentConnector3">
              <a:avLst>
                <a:gd name="adj1" fmla="val 101287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BCB1884-E8AE-E280-F4D7-10D20688CC98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</p:spTree>
    <p:extLst>
      <p:ext uri="{BB962C8B-B14F-4D97-AF65-F5344CB8AC3E}">
        <p14:creationId xmlns:p14="http://schemas.microsoft.com/office/powerpoint/2010/main" val="3492252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BAD1879-C817-63AA-6631-18CA13614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0002" y="718898"/>
            <a:ext cx="4027555" cy="162376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40085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contrôler l’intensité et la fréquence du champ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ECEDDEF-3F87-ABFA-D021-6B452B66BBAE}"/>
                  </a:ext>
                </a:extLst>
              </p:cNvPr>
              <p:cNvSpPr/>
              <p:nvPr/>
            </p:nvSpPr>
            <p:spPr>
              <a:xfrm>
                <a:off x="345439" y="4375217"/>
                <a:ext cx="5208692" cy="164923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Théorème d’Ampère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𝒏𝑰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𝒕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ECEDDEF-3F87-ABFA-D021-6B452B66BB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375217"/>
                <a:ext cx="5208692" cy="1649231"/>
              </a:xfrm>
              <a:prstGeom prst="rect">
                <a:avLst/>
              </a:prstGeom>
              <a:blipFill>
                <a:blip r:embed="rId3"/>
                <a:stretch>
                  <a:fillRect l="-349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368129"/>
                <a:ext cx="5208693" cy="18034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𝐺𝐵𝐹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Solénoïde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du Solénoïde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Permittivité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généré par le Solénoïde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368129"/>
                <a:ext cx="5208693" cy="1803400"/>
              </a:xfrm>
              <a:prstGeom prst="rect">
                <a:avLst/>
              </a:prstGeom>
              <a:blipFill>
                <a:blip r:embed="rId4"/>
                <a:stretch>
                  <a:fillRect l="-349" b="-33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5910424" y="4494038"/>
            <a:ext cx="28205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Avec le Théorème d’Ampère, on obtient alors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5956223" y="5145617"/>
                <a:ext cx="2938240" cy="56714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𝐺𝐵𝐹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𝑓𝐿</m:t>
                          </m:r>
                        </m:den>
                      </m:f>
                      <m:func>
                        <m:func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6223" y="5145617"/>
                <a:ext cx="2938240" cy="5671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07886" y="3949599"/>
                <a:ext cx="2649772" cy="4517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sSub>
                                <m:sSubPr>
                                  <m:ctrlP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886" y="3949599"/>
                <a:ext cx="2649772" cy="451790"/>
              </a:xfrm>
              <a:prstGeom prst="rect">
                <a:avLst/>
              </a:prstGeom>
              <a:blipFill>
                <a:blip r:embed="rId7"/>
                <a:stretch>
                  <a:fillRect b="-67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300686"/>
            <a:ext cx="28205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le Solénoïde est : </a:t>
            </a:r>
          </a:p>
        </p:txBody>
      </p: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2842E-33D7-43D3-4A8A-6B3D6EB081C3}"/>
              </a:ext>
            </a:extLst>
          </p:cNvPr>
          <p:cNvSpPr/>
          <p:nvPr/>
        </p:nvSpPr>
        <p:spPr>
          <a:xfrm>
            <a:off x="-63611" y="-33793"/>
            <a:ext cx="9271221" cy="69255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b="1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4259711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Réponse fréquentielle, Diagramme de Bode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Modèle Théorique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Initialisation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Fonctions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Appel des fonctions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FFT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Réponse temporelle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 :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 </a:t>
            </a:r>
            <a:r>
              <a:rPr lang="fr-FR" sz="1200" dirty="0"/>
              <a:t>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r>
              <a:rPr lang="fr-FR" sz="1200" b="1" dirty="0"/>
              <a:t>[En ligne]</a:t>
            </a:r>
            <a:r>
              <a:rPr lang="fr-FR" sz="1200" dirty="0"/>
              <a:t>. Disponible sur : </a:t>
            </a:r>
            <a:r>
              <a:rPr lang="fr-FR" sz="1200" dirty="0">
                <a:hlinkClick r:id="rId3"/>
              </a:rPr>
              <a:t>https://www.seymourduncan.com</a:t>
            </a:r>
            <a:r>
              <a:rPr lang="fr-FR" sz="1200" dirty="0"/>
              <a:t>.</a:t>
            </a:r>
            <a:endParaRPr lang="fr-FR" sz="1200" b="1" dirty="0"/>
          </a:p>
          <a:p>
            <a:endParaRPr lang="fr-FR" sz="1200" b="1" dirty="0"/>
          </a:p>
          <a:p>
            <a:r>
              <a:rPr lang="fr-FR" sz="1200" b="1" dirty="0"/>
              <a:t>[2] </a:t>
            </a:r>
            <a:r>
              <a:rPr lang="fr-FR" sz="1200" dirty="0" err="1"/>
              <a:t>JessaScience</a:t>
            </a:r>
            <a:r>
              <a:rPr lang="fr-FR" sz="1200" dirty="0"/>
              <a:t>, "</a:t>
            </a:r>
            <a:r>
              <a:rPr lang="fr-FR" sz="1200" dirty="0" err="1"/>
              <a:t>Measuring</a:t>
            </a:r>
            <a:r>
              <a:rPr lang="fr-FR" sz="1200" dirty="0"/>
              <a:t> Pickup </a:t>
            </a:r>
            <a:r>
              <a:rPr lang="fr-FR" sz="1200" dirty="0" err="1"/>
              <a:t>Impedance</a:t>
            </a:r>
            <a:r>
              <a:rPr lang="fr-FR" sz="1200" dirty="0"/>
              <a:t> </a:t>
            </a:r>
            <a:r>
              <a:rPr lang="fr-FR" sz="1200" dirty="0" err="1"/>
              <a:t>with</a:t>
            </a:r>
            <a:r>
              <a:rPr lang="fr-FR" sz="1200" dirty="0"/>
              <a:t> </a:t>
            </a:r>
            <a:r>
              <a:rPr lang="fr-FR" sz="1200" dirty="0" err="1"/>
              <a:t>Digilent</a:t>
            </a:r>
            <a:r>
              <a:rPr lang="fr-FR" sz="1200" dirty="0"/>
              <a:t> </a:t>
            </a:r>
            <a:r>
              <a:rPr lang="fr-FR" sz="1200" dirty="0" err="1"/>
              <a:t>Analog</a:t>
            </a:r>
            <a:r>
              <a:rPr lang="fr-FR" sz="1200" dirty="0"/>
              <a:t> Discovery," </a:t>
            </a:r>
            <a:r>
              <a:rPr lang="fr-FR" sz="1200" b="1" dirty="0"/>
              <a:t>[En ligne]</a:t>
            </a:r>
            <a:r>
              <a:rPr lang="fr-FR" sz="1200" dirty="0"/>
              <a:t>. Disponible sur : </a:t>
            </a:r>
            <a:r>
              <a:rPr lang="fr-FR" sz="1200" dirty="0">
                <a:hlinkClick r:id="rId4"/>
              </a:rPr>
              <a:t>https://www.jensign.com</a:t>
            </a:r>
            <a:r>
              <a:rPr lang="fr-FR" sz="1200" dirty="0"/>
              <a:t>.</a:t>
            </a:r>
            <a:endParaRPr lang="fr-FR" sz="1200" b="1" dirty="0"/>
          </a:p>
          <a:p>
            <a:endParaRPr lang="fr-FR" sz="1200" b="1" dirty="0"/>
          </a:p>
          <a:p>
            <a:r>
              <a:rPr lang="fr-FR" sz="1200" b="1" dirty="0"/>
              <a:t>[3] </a:t>
            </a:r>
            <a:r>
              <a:rPr lang="fr-FR" sz="1200" dirty="0"/>
              <a:t>P. </a:t>
            </a:r>
            <a:r>
              <a:rPr lang="fr-FR" sz="1200" dirty="0" err="1"/>
              <a:t>Perov</a:t>
            </a:r>
            <a:r>
              <a:rPr lang="fr-FR" sz="1200" dirty="0"/>
              <a:t>, W. Johnson, and N. </a:t>
            </a:r>
            <a:r>
              <a:rPr lang="fr-FR" sz="1200" dirty="0" err="1"/>
              <a:t>Perova</a:t>
            </a:r>
            <a:r>
              <a:rPr lang="fr-FR" sz="1200" dirty="0"/>
              <a:t>-Mello, "The </a:t>
            </a:r>
            <a:r>
              <a:rPr lang="fr-FR" sz="1200" dirty="0" err="1"/>
              <a:t>physics</a:t>
            </a:r>
            <a:r>
              <a:rPr lang="fr-FR" sz="1200" dirty="0"/>
              <a:t> of </a:t>
            </a:r>
            <a:r>
              <a:rPr lang="fr-FR" sz="1200" dirty="0" err="1"/>
              <a:t>guitar</a:t>
            </a:r>
            <a:r>
              <a:rPr lang="fr-FR" sz="1200" dirty="0"/>
              <a:t> string vibrations," </a:t>
            </a:r>
            <a:r>
              <a:rPr lang="fr-FR" sz="1200" i="1" dirty="0"/>
              <a:t>American Journal of </a:t>
            </a:r>
            <a:r>
              <a:rPr lang="fr-FR" sz="1200" i="1" dirty="0" err="1"/>
              <a:t>Physics</a:t>
            </a:r>
            <a:r>
              <a:rPr lang="fr-FR" sz="1200" dirty="0"/>
              <a:t>, vol. 84, no. 1, pp. 38–43, Jan. 2016.</a:t>
            </a:r>
          </a:p>
          <a:p>
            <a:endParaRPr lang="fr-FR" sz="1200" dirty="0"/>
          </a:p>
          <a:p>
            <a:r>
              <a:rPr lang="fr-FR" sz="1200" b="1" dirty="0"/>
              <a:t>[4] </a:t>
            </a:r>
            <a:r>
              <a:rPr lang="fr-FR" sz="1200" dirty="0"/>
              <a:t>T. Ray, J. </a:t>
            </a:r>
            <a:r>
              <a:rPr lang="fr-FR" sz="1200" dirty="0" err="1"/>
              <a:t>Kaljun</a:t>
            </a:r>
            <a:r>
              <a:rPr lang="fr-FR" sz="1200" dirty="0"/>
              <a:t>, and B. </a:t>
            </a:r>
            <a:r>
              <a:rPr lang="fr-FR" sz="1200" dirty="0" err="1"/>
              <a:t>Dolsak</a:t>
            </a:r>
            <a:r>
              <a:rPr lang="fr-FR" sz="1200" dirty="0"/>
              <a:t>, "</a:t>
            </a:r>
            <a:r>
              <a:rPr lang="fr-FR" sz="1200" dirty="0" err="1"/>
              <a:t>Numerical</a:t>
            </a:r>
            <a:r>
              <a:rPr lang="fr-FR" sz="1200" dirty="0"/>
              <a:t> model application to </a:t>
            </a:r>
            <a:r>
              <a:rPr lang="fr-FR" sz="1200" dirty="0" err="1"/>
              <a:t>predict</a:t>
            </a:r>
            <a:r>
              <a:rPr lang="fr-FR" sz="1200" dirty="0"/>
              <a:t> the </a:t>
            </a:r>
            <a:r>
              <a:rPr lang="fr-FR" sz="1200" dirty="0" err="1"/>
              <a:t>sound</a:t>
            </a:r>
            <a:r>
              <a:rPr lang="fr-FR" sz="1200" dirty="0"/>
              <a:t> </a:t>
            </a:r>
            <a:r>
              <a:rPr lang="fr-FR" sz="1200" dirty="0" err="1"/>
              <a:t>quality</a:t>
            </a:r>
            <a:r>
              <a:rPr lang="fr-FR" sz="1200" dirty="0"/>
              <a:t> of an instrument," </a:t>
            </a:r>
            <a:r>
              <a:rPr lang="fr-FR" sz="1200" dirty="0" err="1"/>
              <a:t>University</a:t>
            </a:r>
            <a:r>
              <a:rPr lang="fr-FR" sz="1200" dirty="0"/>
              <a:t> of Maribor, </a:t>
            </a:r>
            <a:r>
              <a:rPr lang="fr-FR" sz="1200" dirty="0" err="1"/>
              <a:t>Faculty</a:t>
            </a:r>
            <a:r>
              <a:rPr lang="fr-FR" sz="1200" dirty="0"/>
              <a:t> of </a:t>
            </a:r>
            <a:r>
              <a:rPr lang="fr-FR" sz="1200" dirty="0" err="1"/>
              <a:t>Mechanical</a:t>
            </a:r>
            <a:r>
              <a:rPr lang="fr-FR" sz="1200" dirty="0"/>
              <a:t> Engineering, </a:t>
            </a:r>
            <a:r>
              <a:rPr lang="fr-FR" sz="1200" dirty="0" err="1"/>
              <a:t>Slovenia</a:t>
            </a:r>
            <a:r>
              <a:rPr lang="fr-FR" sz="1200" dirty="0"/>
              <a:t>, 2000..</a:t>
            </a:r>
            <a:endParaRPr lang="fr-FR" sz="1200" i="1" dirty="0"/>
          </a:p>
          <a:p>
            <a:endParaRPr lang="fr-FR" sz="1200" dirty="0"/>
          </a:p>
          <a:p>
            <a:r>
              <a:rPr lang="fr-FR" sz="1200" b="1" dirty="0"/>
              <a:t>[5] </a:t>
            </a:r>
            <a:r>
              <a:rPr lang="fr-FR" sz="1200" dirty="0"/>
              <a:t>"Thomann Online Music Store," Thomann, </a:t>
            </a:r>
            <a:r>
              <a:rPr lang="fr-FR" sz="1200" b="1" dirty="0"/>
              <a:t>[En ligne]</a:t>
            </a:r>
            <a:r>
              <a:rPr lang="fr-FR" sz="1200" dirty="0"/>
              <a:t>. Disponible sur : </a:t>
            </a:r>
            <a:r>
              <a:rPr lang="fr-FR" sz="1200" dirty="0">
                <a:hlinkClick r:id="rId5"/>
              </a:rPr>
              <a:t>https://www.thomann.de</a:t>
            </a:r>
            <a:r>
              <a:rPr lang="fr-FR" sz="1200" dirty="0"/>
              <a:t>.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r>
              <a:rPr lang="fr-FR" sz="1200" b="1" dirty="0"/>
              <a:t>[7] </a:t>
            </a:r>
            <a:r>
              <a:rPr lang="fr-FR" sz="1200" dirty="0"/>
              <a:t>H. </a:t>
            </a:r>
            <a:r>
              <a:rPr lang="fr-FR" sz="1200" dirty="0" err="1"/>
              <a:t>Munguía</a:t>
            </a:r>
            <a:r>
              <a:rPr lang="fr-FR" sz="1200" dirty="0"/>
              <a:t> Aguilar </a:t>
            </a:r>
            <a:r>
              <a:rPr lang="fr-FR" sz="1200" i="1" dirty="0"/>
              <a:t>et al.</a:t>
            </a:r>
            <a:r>
              <a:rPr lang="fr-FR" sz="1200" dirty="0"/>
              <a:t>, "</a:t>
            </a:r>
            <a:r>
              <a:rPr lang="fr-FR" sz="1200" dirty="0" err="1"/>
              <a:t>Using</a:t>
            </a:r>
            <a:r>
              <a:rPr lang="fr-FR" sz="1200" dirty="0"/>
              <a:t> an </a:t>
            </a:r>
            <a:r>
              <a:rPr lang="fr-FR" sz="1200" dirty="0" err="1"/>
              <a:t>electric</a:t>
            </a:r>
            <a:r>
              <a:rPr lang="fr-FR" sz="1200" dirty="0"/>
              <a:t> </a:t>
            </a:r>
            <a:r>
              <a:rPr lang="fr-FR" sz="1200" dirty="0" err="1"/>
              <a:t>guitar</a:t>
            </a:r>
            <a:r>
              <a:rPr lang="fr-FR" sz="1200" dirty="0"/>
              <a:t> pickup to </a:t>
            </a:r>
            <a:r>
              <a:rPr lang="fr-FR" sz="1200" dirty="0" err="1"/>
              <a:t>analyze</a:t>
            </a:r>
            <a:r>
              <a:rPr lang="fr-FR" sz="1200" dirty="0"/>
              <a:t> bar vibrations," </a:t>
            </a:r>
            <a:r>
              <a:rPr lang="fr-FR" sz="1200" i="1" dirty="0" err="1"/>
              <a:t>Physics</a:t>
            </a:r>
            <a:r>
              <a:rPr lang="fr-FR" sz="1200" i="1" dirty="0"/>
              <a:t> Education</a:t>
            </a:r>
            <a:r>
              <a:rPr lang="fr-FR" sz="1200" dirty="0"/>
              <a:t>, vol. 54, no. 2, Art. no. 025018, 2019.</a:t>
            </a:r>
          </a:p>
          <a:p>
            <a:endParaRPr lang="fr-FR" sz="1200" dirty="0"/>
          </a:p>
          <a:p>
            <a:r>
              <a:rPr lang="fr-FR" sz="1200" b="1" dirty="0"/>
              <a:t>[8] </a:t>
            </a:r>
            <a:r>
              <a:rPr lang="fr-FR" sz="1200" dirty="0"/>
              <a:t>R. </a:t>
            </a:r>
            <a:r>
              <a:rPr lang="fr-FR" sz="1200" dirty="0" err="1"/>
              <a:t>Giampiccolo</a:t>
            </a:r>
            <a:r>
              <a:rPr lang="fr-FR" sz="1200" dirty="0"/>
              <a:t>, A. </a:t>
            </a:r>
            <a:r>
              <a:rPr lang="fr-FR" sz="1200" dirty="0" err="1"/>
              <a:t>Bernardini</a:t>
            </a:r>
            <a:r>
              <a:rPr lang="fr-FR" sz="1200" dirty="0"/>
              <a:t>, and A. </a:t>
            </a:r>
            <a:r>
              <a:rPr lang="fr-FR" sz="1200" dirty="0" err="1"/>
              <a:t>Sarti</a:t>
            </a:r>
            <a:r>
              <a:rPr lang="fr-FR" sz="1200" dirty="0"/>
              <a:t>, "</a:t>
            </a:r>
            <a:r>
              <a:rPr lang="fr-FR" sz="1200" dirty="0" err="1"/>
              <a:t>Virtualization</a:t>
            </a:r>
            <a:r>
              <a:rPr lang="fr-FR" sz="1200" dirty="0"/>
              <a:t> of Guitar Pickups </a:t>
            </a:r>
            <a:r>
              <a:rPr lang="fr-FR" sz="1200" dirty="0" err="1"/>
              <a:t>Through</a:t>
            </a:r>
            <a:r>
              <a:rPr lang="fr-FR" sz="1200" dirty="0"/>
              <a:t> Circuit Inversion," </a:t>
            </a:r>
            <a:r>
              <a:rPr lang="fr-FR" sz="1200" i="1" dirty="0"/>
              <a:t>IEEE Signal Processing </a:t>
            </a:r>
            <a:r>
              <a:rPr lang="fr-FR" sz="1200" i="1" dirty="0" err="1"/>
              <a:t>Letters</a:t>
            </a:r>
            <a:r>
              <a:rPr lang="fr-FR" sz="1200" dirty="0"/>
              <a:t>, vol. 30, pp. 458–462, 2023.</a:t>
            </a:r>
          </a:p>
          <a:p>
            <a:endParaRPr lang="en-US" sz="1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 :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345440" y="1390254"/>
            <a:ext cx="8472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Art Music Store</a:t>
            </a:r>
            <a:r>
              <a:rPr lang="fr-FR" sz="1200" dirty="0"/>
              <a:t>,</a:t>
            </a:r>
            <a:r>
              <a:rPr lang="fr-FR" sz="1200" b="1" dirty="0"/>
              <a:t> </a:t>
            </a:r>
            <a:r>
              <a:rPr lang="fr-FR" sz="12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Menuiserie Paradis</a:t>
            </a:r>
            <a:r>
              <a:rPr lang="fr-FR" sz="12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 :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: Modèle Théorique (Micro Simple)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: Modèle Théorique (Micro Humbucker) </a:t>
            </a:r>
            <a:r>
              <a:rPr lang="fr-FR" sz="1000" i="1" dirty="0"/>
              <a:t>cf. Source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: Modèle Théorique (Action d’un champ parasite)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étudie un champ parasite d’amplitude B0, de fréquence f et de gradient alpha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Pour un micro SingleCoil :</a:t>
                </a:r>
              </a:p>
              <a:p>
                <a:r>
                  <a:rPr lang="fr-FR" sz="1200" dirty="0"/>
                  <a:t>En supposant que la variation de flux est principalement due au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Pour un micro Humbucker :</a:t>
                </a:r>
              </a:p>
              <a:p>
                <a:r>
                  <a:rPr lang="fr-FR" sz="1200" dirty="0"/>
                  <a:t>Par Linéarité de la dérivée,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blipFill>
                <a:blip r:embed="rId2"/>
                <a:stretch>
                  <a:fillRect t="-1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30644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est petit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3064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: Réponse Fréquentielle, Diagramme de Bode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347671"/>
            <a:ext cx="3464559" cy="3331307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3209" r="6447" b="40000"/>
          <a:stretch>
            <a:fillRect/>
          </a:stretch>
        </p:blipFill>
        <p:spPr>
          <a:xfrm>
            <a:off x="345440" y="1121469"/>
            <a:ext cx="3464560" cy="510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6" t="5102" r="6085" b="6102"/>
          <a:stretch>
            <a:fillRect/>
          </a:stretch>
        </p:blipFill>
        <p:spPr>
          <a:xfrm>
            <a:off x="326443" y="1018602"/>
            <a:ext cx="4230077" cy="5118038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5.2.1 : Modèle Théorique (Initialisation)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5.2.2 : Modèle Théorique (Fonctions)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5" t="5928" r="5745" b="7790"/>
          <a:stretch>
            <a:fillRect/>
          </a:stretch>
        </p:blipFill>
        <p:spPr>
          <a:xfrm>
            <a:off x="345440" y="1121471"/>
            <a:ext cx="4449197" cy="506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5.2.3 : Modèle Théorique (Appel des 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1" t="7270" r="6741" b="8518"/>
          <a:stretch>
            <a:fillRect/>
          </a:stretch>
        </p:blipFill>
        <p:spPr>
          <a:xfrm>
            <a:off x="345440" y="1070826"/>
            <a:ext cx="5620204" cy="519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5.2.4 : Modèle Théorique (FFT)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6" t="4682" r="5568" b="7161"/>
          <a:stretch>
            <a:fillRect/>
          </a:stretch>
        </p:blipFill>
        <p:spPr>
          <a:xfrm>
            <a:off x="345440" y="1028493"/>
            <a:ext cx="4317555" cy="527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5.2.5 : Modèle Théorique (Affichage des Courbes)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5F0D8E-06F2-8ABF-D1D8-0C31EF3D3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61055" r="6559" b="5806"/>
          <a:stretch>
            <a:fillRect/>
          </a:stretch>
        </p:blipFill>
        <p:spPr>
          <a:xfrm>
            <a:off x="5167482" y="1324675"/>
            <a:ext cx="3650075" cy="291586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9E3DB4-BB7D-BE22-C6A0-237A072679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3086" r="6559" b="38512"/>
          <a:stretch>
            <a:fillRect/>
          </a:stretch>
        </p:blipFill>
        <p:spPr>
          <a:xfrm>
            <a:off x="345440" y="1108696"/>
            <a:ext cx="3644769" cy="51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0F449-F12E-20C8-C0D1-634A3CB8B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2ABB287-8726-E900-C580-068711EB8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A79F1EC-C59B-2BC9-C9CA-8510A7409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8D6DB69-B932-38DD-65FC-02CC12E35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5469CF-57F9-C58F-E156-BA22C2D6F76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C17A12-03C7-373B-4860-B9427BD2E3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DE121C-455F-0535-DE45-4973F50C5F73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6.1 : Dimensionnement du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FAC69F-A984-5869-DBA0-BD5CC24ECB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considère un Solénoïde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 spires par mètre reliées à un GBF délivrant une tension sinusoïdale d’équation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avec la Loi d’Ampère on a la relation : </a:t>
                </a:r>
              </a:p>
              <a:p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200" dirty="0"/>
                  <a:t>	(1)</a:t>
                </a:r>
              </a:p>
              <a:p>
                <a:endParaRPr lang="fr-FR" sz="1200" dirty="0"/>
              </a:p>
              <a:p>
                <a:r>
                  <a:rPr lang="fr-FR" sz="1200" dirty="0"/>
                  <a:t>Or, on peut calculer l’intensité traversant le Solénoïde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unc>
                            <m:func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on injecte dans (1) :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blipFill>
                <a:blip r:embed="rId2"/>
                <a:stretch>
                  <a:fillRect t="-1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/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Maintenant, on peut donc poser 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Ainsi, en rajoutant le terme empirique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: 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>
                  <a:solidFill>
                    <a:srgbClr val="C00000"/>
                  </a:solidFill>
                </a:endParaRPr>
              </a:p>
              <a:p>
                <a:r>
                  <a:rPr lang="fr-FR" sz="1200" dirty="0"/>
                  <a:t>On veut maintenant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r>
                  <a:rPr lang="fr-FR" sz="1200" dirty="0"/>
                  <a:t>, ainsi on choisi arbitrairement :</a:t>
                </a:r>
              </a:p>
              <a:p>
                <a:endParaRPr lang="fr-FR" sz="120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12 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fr-FR" sz="1200" b="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20 000 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fr-FR" sz="1200" dirty="0"/>
                  <a:t> </a:t>
                </a:r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0,1 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blipFill>
                <a:blip r:embed="rId3"/>
                <a:stretch>
                  <a:fillRect t="-2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004443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2520</Words>
  <Application>Microsoft Office PowerPoint</Application>
  <PresentationFormat>On-screen Show (4:3)</PresentationFormat>
  <Paragraphs>429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222</cp:revision>
  <dcterms:created xsi:type="dcterms:W3CDTF">2025-06-09T15:35:56Z</dcterms:created>
  <dcterms:modified xsi:type="dcterms:W3CDTF">2025-11-03T10:22:36Z</dcterms:modified>
</cp:coreProperties>
</file>